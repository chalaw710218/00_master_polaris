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25" r:id="rId3"/>
    <p:sldId id="308" r:id="rId4"/>
    <p:sldId id="309" r:id="rId5"/>
    <p:sldId id="326" r:id="rId6"/>
    <p:sldId id="327" r:id="rId7"/>
    <p:sldId id="310" r:id="rId8"/>
    <p:sldId id="312" r:id="rId9"/>
    <p:sldId id="288" r:id="rId10"/>
    <p:sldId id="305" r:id="rId11"/>
    <p:sldId id="328" r:id="rId12"/>
    <p:sldId id="311" r:id="rId13"/>
    <p:sldId id="329" r:id="rId14"/>
    <p:sldId id="306" r:id="rId15"/>
    <p:sldId id="331" r:id="rId16"/>
    <p:sldId id="332" r:id="rId17"/>
    <p:sldId id="333" r:id="rId18"/>
    <p:sldId id="334" r:id="rId19"/>
    <p:sldId id="335" r:id="rId20"/>
    <p:sldId id="290" r:id="rId21"/>
    <p:sldId id="291" r:id="rId22"/>
    <p:sldId id="292" r:id="rId23"/>
    <p:sldId id="293" r:id="rId24"/>
    <p:sldId id="337" r:id="rId25"/>
    <p:sldId id="303" r:id="rId26"/>
    <p:sldId id="338" r:id="rId27"/>
    <p:sldId id="339" r:id="rId28"/>
    <p:sldId id="340" r:id="rId29"/>
    <p:sldId id="294" r:id="rId30"/>
    <p:sldId id="341" r:id="rId31"/>
    <p:sldId id="295" r:id="rId32"/>
    <p:sldId id="330" r:id="rId33"/>
    <p:sldId id="283" r:id="rId34"/>
    <p:sldId id="281" r:id="rId35"/>
    <p:sldId id="267" r:id="rId36"/>
    <p:sldId id="285" r:id="rId37"/>
    <p:sldId id="300" r:id="rId38"/>
    <p:sldId id="297" r:id="rId39"/>
    <p:sldId id="301" r:id="rId40"/>
    <p:sldId id="313" r:id="rId41"/>
    <p:sldId id="317" r:id="rId42"/>
    <p:sldId id="316" r:id="rId43"/>
    <p:sldId id="315" r:id="rId44"/>
    <p:sldId id="320" r:id="rId45"/>
    <p:sldId id="319" r:id="rId46"/>
    <p:sldId id="318" r:id="rId47"/>
    <p:sldId id="314" r:id="rId48"/>
    <p:sldId id="322" r:id="rId49"/>
    <p:sldId id="321" r:id="rId50"/>
    <p:sldId id="324" r:id="rId51"/>
    <p:sldId id="342" r:id="rId52"/>
    <p:sldId id="276" r:id="rId53"/>
  </p:sldIdLst>
  <p:sldSz cx="9144000" cy="6858000" type="screen4x3"/>
  <p:notesSz cx="10020300" cy="688816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17" d="100"/>
          <a:sy n="117" d="100"/>
        </p:scale>
        <p:origin x="-1464" y="2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SimSun"/>
                <a:cs typeface="SimSu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SimSun"/>
                <a:cs typeface="SimSu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SimSun"/>
                <a:cs typeface="SimSu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SimSun"/>
                <a:cs typeface="SimSu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8"/>
          </a:xfrm>
          <a:prstGeom prst="rect">
            <a:avLst/>
          </a:prstGeom>
        </p:spPr>
      </p:pic>
      <p:sp>
        <p:nvSpPr>
          <p:cNvPr id="2" name="Holder 2"/>
          <p:cNvSpPr>
            <a:spLocks noGrp="1"/>
          </p:cNvSpPr>
          <p:nvPr>
            <p:ph type="title"/>
          </p:nvPr>
        </p:nvSpPr>
        <p:spPr>
          <a:xfrm>
            <a:off x="3997833" y="364997"/>
            <a:ext cx="1148333" cy="696594"/>
          </a:xfrm>
          <a:prstGeom prst="rect">
            <a:avLst/>
          </a:prstGeom>
        </p:spPr>
        <p:txBody>
          <a:bodyPr wrap="square" lIns="0" tIns="0" rIns="0" bIns="0">
            <a:spAutoFit/>
          </a:bodyPr>
          <a:lstStyle>
            <a:lvl1pPr>
              <a:defRPr sz="4400" b="0" i="0">
                <a:solidFill>
                  <a:schemeClr val="tx1"/>
                </a:solidFill>
                <a:latin typeface="SimSun"/>
                <a:cs typeface="SimSun"/>
              </a:defRPr>
            </a:lvl1pPr>
          </a:lstStyle>
          <a:p>
            <a:endParaRPr/>
          </a:p>
        </p:txBody>
      </p:sp>
      <p:sp>
        <p:nvSpPr>
          <p:cNvPr id="3" name="Holder 3"/>
          <p:cNvSpPr>
            <a:spLocks noGrp="1"/>
          </p:cNvSpPr>
          <p:nvPr>
            <p:ph type="body" idx="1"/>
          </p:nvPr>
        </p:nvSpPr>
        <p:spPr>
          <a:xfrm>
            <a:off x="78739" y="3210729"/>
            <a:ext cx="7950200" cy="2315845"/>
          </a:xfrm>
          <a:prstGeom prst="rect">
            <a:avLst/>
          </a:prstGeom>
        </p:spPr>
        <p:txBody>
          <a:bodyPr wrap="square" lIns="0" tIns="0" rIns="0" bIns="0">
            <a:spAutoFit/>
          </a:bodyPr>
          <a:lstStyle>
            <a:lvl1pPr>
              <a:defRPr sz="2800" b="0" i="0">
                <a:solidFill>
                  <a:schemeClr val="tx1"/>
                </a:solidFill>
                <a:latin typeface="SimSun"/>
                <a:cs typeface="SimSu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www.facebook.com/khvolunteercenter" TargetMode="External"/><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124200" y="5045324"/>
            <a:ext cx="5029200" cy="566822"/>
          </a:xfrm>
          <a:prstGeom prst="rect">
            <a:avLst/>
          </a:prstGeom>
        </p:spPr>
        <p:txBody>
          <a:bodyPr vert="horz" wrap="square" lIns="0" tIns="12700" rIns="0" bIns="0" rtlCol="0">
            <a:spAutoFit/>
          </a:bodyPr>
          <a:lstStyle/>
          <a:p>
            <a:pPr marL="12700">
              <a:lnSpc>
                <a:spcPct val="100000"/>
              </a:lnSpc>
              <a:spcBef>
                <a:spcPts val="100"/>
              </a:spcBef>
            </a:pPr>
            <a:r>
              <a:rPr lang="zh-TW" altLang="en-US" sz="3600" spc="-5" dirty="0" smtClean="0">
                <a:latin typeface="標楷體" panose="03000509000000000000" pitchFamily="65" charset="-120"/>
                <a:ea typeface="標楷體" panose="03000509000000000000" pitchFamily="65" charset="-120"/>
                <a:cs typeface="SimSun"/>
              </a:rPr>
              <a:t>               </a:t>
            </a:r>
            <a:r>
              <a:rPr sz="3600" spc="-5" dirty="0" err="1" smtClean="0">
                <a:latin typeface="標楷體" panose="03000509000000000000" pitchFamily="65" charset="-120"/>
                <a:ea typeface="標楷體" panose="03000509000000000000" pitchFamily="65" charset="-120"/>
                <a:cs typeface="SimSun"/>
              </a:rPr>
              <a:t>謝東宏</a:t>
            </a:r>
            <a:endParaRPr sz="3600" dirty="0">
              <a:latin typeface="標楷體" panose="03000509000000000000" pitchFamily="65" charset="-120"/>
              <a:ea typeface="標楷體" panose="03000509000000000000" pitchFamily="65" charset="-120"/>
              <a:cs typeface="SimSun"/>
            </a:endParaRPr>
          </a:p>
        </p:txBody>
      </p:sp>
      <p:sp>
        <p:nvSpPr>
          <p:cNvPr id="2" name="矩形 1"/>
          <p:cNvSpPr/>
          <p:nvPr/>
        </p:nvSpPr>
        <p:spPr>
          <a:xfrm>
            <a:off x="2381717" y="2560864"/>
            <a:ext cx="4134466" cy="1446550"/>
          </a:xfrm>
          <a:prstGeom prst="rect">
            <a:avLst/>
          </a:prstGeom>
        </p:spPr>
        <p:txBody>
          <a:bodyPr wrap="none">
            <a:spAutoFit/>
          </a:bodyPr>
          <a:lstStyle/>
          <a:p>
            <a:pPr algn="ctr"/>
            <a:r>
              <a:rPr lang="zh-TW" altLang="en-US" sz="4400" dirty="0" smtClean="0">
                <a:latin typeface="標楷體" panose="03000509000000000000" pitchFamily="65" charset="-120"/>
                <a:ea typeface="標楷體" panose="03000509000000000000" pitchFamily="65" charset="-120"/>
              </a:rPr>
              <a:t>時間銀行</a:t>
            </a:r>
            <a:endParaRPr lang="en-US" altLang="zh-TW" sz="4400" dirty="0" smtClean="0">
              <a:latin typeface="標楷體" panose="03000509000000000000" pitchFamily="65" charset="-120"/>
              <a:ea typeface="標楷體" panose="03000509000000000000" pitchFamily="65" charset="-120"/>
            </a:endParaRPr>
          </a:p>
          <a:p>
            <a:pPr algn="ctr"/>
            <a:r>
              <a:rPr lang="zh-TW" altLang="en-US" sz="4400" dirty="0">
                <a:latin typeface="標楷體" panose="03000509000000000000" pitchFamily="65" charset="-120"/>
                <a:ea typeface="標楷體" panose="03000509000000000000" pitchFamily="65" charset="-120"/>
              </a:rPr>
              <a:t>社區發展新趨勢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676400" y="1600200"/>
            <a:ext cx="5867400" cy="5416868"/>
          </a:xfrm>
        </p:spPr>
        <p:txBody>
          <a:bodyPr/>
          <a:lstStyle/>
          <a:p>
            <a:r>
              <a:rPr lang="zh-TW" altLang="en-US" dirty="0" smtClean="0">
                <a:latin typeface="標楷體" panose="03000509000000000000" pitchFamily="65" charset="-120"/>
                <a:ea typeface="標楷體" panose="03000509000000000000" pitchFamily="65" charset="-120"/>
              </a:rPr>
              <a:t>核心內涵</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黃金十五年</a:t>
            </a:r>
            <a:r>
              <a:rPr lang="en-US" altLang="zh-TW" dirty="0" smtClean="0">
                <a:latin typeface="標楷體" panose="03000509000000000000" pitchFamily="65" charset="-120"/>
                <a:ea typeface="標楷體" panose="03000509000000000000" pitchFamily="65" charset="-120"/>
              </a:rPr>
              <a:t/>
            </a:r>
            <a:br>
              <a:rPr lang="en-US" altLang="zh-TW" dirty="0" smtClean="0">
                <a:latin typeface="標楷體" panose="03000509000000000000" pitchFamily="65" charset="-120"/>
                <a:ea typeface="標楷體" panose="03000509000000000000" pitchFamily="65" charset="-120"/>
              </a:rPr>
            </a:br>
            <a:r>
              <a:rPr lang="zh-TW" altLang="en-US" dirty="0">
                <a:latin typeface="標楷體" panose="03000509000000000000" pitchFamily="65" charset="-120"/>
                <a:ea typeface="標楷體" panose="03000509000000000000" pitchFamily="65" charset="-120"/>
              </a:rPr>
              <a:t>執行</a:t>
            </a:r>
            <a:r>
              <a:rPr lang="zh-TW" altLang="en-US" dirty="0" smtClean="0">
                <a:latin typeface="標楷體" panose="03000509000000000000" pitchFamily="65" charset="-120"/>
                <a:ea typeface="標楷體" panose="03000509000000000000" pitchFamily="65" charset="-120"/>
              </a:rPr>
              <a:t>策略</a:t>
            </a:r>
            <a:r>
              <a:rPr lang="en-US" altLang="zh-TW" dirty="0" smtClean="0">
                <a:latin typeface="標楷體" panose="03000509000000000000" pitchFamily="65" charset="-120"/>
                <a:ea typeface="標楷體" panose="03000509000000000000" pitchFamily="65" charset="-120"/>
              </a:rPr>
              <a:t>:</a:t>
            </a:r>
            <a:br>
              <a:rPr lang="en-US" altLang="zh-TW" dirty="0" smtClean="0">
                <a:latin typeface="標楷體" panose="03000509000000000000" pitchFamily="65" charset="-120"/>
                <a:ea typeface="標楷體" panose="03000509000000000000" pitchFamily="65" charset="-120"/>
              </a:rPr>
            </a:br>
            <a:r>
              <a:rPr lang="en-US" altLang="zh-TW" dirty="0" smtClean="0">
                <a:latin typeface="標楷體" panose="03000509000000000000" pitchFamily="65" charset="-120"/>
                <a:ea typeface="標楷體" panose="03000509000000000000" pitchFamily="65" charset="-120"/>
              </a:rPr>
              <a:t>1.</a:t>
            </a:r>
            <a:r>
              <a:rPr lang="zh-TW" altLang="en-US" dirty="0" smtClean="0">
                <a:latin typeface="標楷體" panose="03000509000000000000" pitchFamily="65" charset="-120"/>
                <a:ea typeface="標楷體" panose="03000509000000000000" pitchFamily="65" charset="-120"/>
              </a:rPr>
              <a:t>以專長</a:t>
            </a:r>
            <a:r>
              <a:rPr lang="zh-TW" altLang="en-US" dirty="0" smtClean="0">
                <a:solidFill>
                  <a:srgbClr val="FF0000"/>
                </a:solidFill>
                <a:latin typeface="標楷體" panose="03000509000000000000" pitchFamily="65" charset="-120"/>
                <a:ea typeface="標楷體" panose="03000509000000000000" pitchFamily="65" charset="-120"/>
              </a:rPr>
              <a:t>分享</a:t>
            </a:r>
            <a:r>
              <a:rPr lang="zh-TW" altLang="en-US" dirty="0" smtClean="0">
                <a:latin typeface="標楷體" panose="03000509000000000000" pitchFamily="65" charset="-120"/>
                <a:ea typeface="標楷體" panose="03000509000000000000" pitchFamily="65" charset="-120"/>
              </a:rPr>
              <a:t> 再創價值</a:t>
            </a:r>
            <a:r>
              <a:rPr lang="en-US" altLang="zh-TW" dirty="0" smtClean="0">
                <a:latin typeface="標楷體" panose="03000509000000000000" pitchFamily="65" charset="-120"/>
                <a:ea typeface="標楷體" panose="03000509000000000000" pitchFamily="65" charset="-120"/>
              </a:rPr>
              <a:t/>
            </a:r>
            <a:br>
              <a:rPr lang="en-US" altLang="zh-TW" dirty="0" smtClean="0">
                <a:latin typeface="標楷體" panose="03000509000000000000" pitchFamily="65" charset="-120"/>
                <a:ea typeface="標楷體" panose="03000509000000000000" pitchFamily="65" charset="-120"/>
              </a:rPr>
            </a:br>
            <a:r>
              <a:rPr lang="zh-TW" altLang="en-US" dirty="0">
                <a:latin typeface="標楷體" panose="03000509000000000000" pitchFamily="65" charset="-120"/>
                <a:ea typeface="標楷體" panose="03000509000000000000" pitchFamily="65" charset="-120"/>
              </a:rPr>
              <a:t> </a:t>
            </a:r>
            <a:r>
              <a:rPr lang="zh-TW" altLang="en-US" dirty="0" smtClean="0">
                <a:latin typeface="標楷體" panose="03000509000000000000" pitchFamily="65" charset="-120"/>
                <a:ea typeface="標楷體" panose="03000509000000000000" pitchFamily="65" charset="-120"/>
              </a:rPr>
              <a:t>   </a:t>
            </a:r>
            <a:r>
              <a:rPr lang="en-US" altLang="zh-TW" dirty="0" smtClean="0">
                <a:latin typeface="標楷體" panose="03000509000000000000" pitchFamily="65" charset="-120"/>
                <a:ea typeface="標楷體" panose="03000509000000000000" pitchFamily="65" charset="-120"/>
              </a:rPr>
              <a:t>(</a:t>
            </a:r>
            <a:r>
              <a:rPr lang="zh-TW" altLang="en-US">
                <a:latin typeface="標楷體" panose="03000509000000000000" pitchFamily="65" charset="-120"/>
                <a:ea typeface="標楷體" panose="03000509000000000000" pitchFamily="65" charset="-120"/>
              </a:rPr>
              <a:t>當下</a:t>
            </a:r>
            <a:r>
              <a:rPr lang="zh-TW" altLang="en-US" smtClean="0">
                <a:latin typeface="標楷體" panose="03000509000000000000" pitchFamily="65" charset="-120"/>
                <a:ea typeface="標楷體" panose="03000509000000000000" pitchFamily="65" charset="-120"/>
              </a:rPr>
              <a:t>新</a:t>
            </a:r>
            <a:r>
              <a:rPr lang="zh-TW" altLang="en-US" dirty="0" smtClean="0">
                <a:latin typeface="標楷體" panose="03000509000000000000" pitchFamily="65" charset="-120"/>
                <a:ea typeface="標楷體" panose="03000509000000000000" pitchFamily="65" charset="-120"/>
              </a:rPr>
              <a:t>生活</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 </a:t>
            </a:r>
            <a:r>
              <a:rPr lang="en-US" altLang="zh-TW" dirty="0" smtClean="0">
                <a:latin typeface="標楷體" panose="03000509000000000000" pitchFamily="65" charset="-120"/>
                <a:ea typeface="標楷體" panose="03000509000000000000" pitchFamily="65" charset="-120"/>
              </a:rPr>
              <a:t/>
            </a:r>
            <a:br>
              <a:rPr lang="en-US" altLang="zh-TW" dirty="0" smtClean="0">
                <a:latin typeface="標楷體" panose="03000509000000000000" pitchFamily="65" charset="-120"/>
                <a:ea typeface="標楷體" panose="03000509000000000000" pitchFamily="65" charset="-120"/>
              </a:rPr>
            </a:br>
            <a:r>
              <a:rPr lang="en-US" altLang="zh-TW" dirty="0" smtClean="0">
                <a:latin typeface="標楷體" panose="03000509000000000000" pitchFamily="65" charset="-120"/>
                <a:ea typeface="標楷體" panose="03000509000000000000" pitchFamily="65" charset="-120"/>
              </a:rPr>
              <a:t>2.</a:t>
            </a:r>
            <a:r>
              <a:rPr lang="zh-TW" altLang="en-US" dirty="0" smtClean="0">
                <a:latin typeface="標楷體" panose="03000509000000000000" pitchFamily="65" charset="-120"/>
                <a:ea typeface="標楷體" panose="03000509000000000000" pitchFamily="65" charset="-120"/>
              </a:rPr>
              <a:t>以興趣</a:t>
            </a:r>
            <a:r>
              <a:rPr lang="zh-TW" altLang="en-US" dirty="0" smtClean="0">
                <a:solidFill>
                  <a:srgbClr val="FF0000"/>
                </a:solidFill>
                <a:latin typeface="標楷體" panose="03000509000000000000" pitchFamily="65" charset="-120"/>
                <a:ea typeface="標楷體" panose="03000509000000000000" pitchFamily="65" charset="-120"/>
              </a:rPr>
              <a:t>陪伴</a:t>
            </a:r>
            <a:r>
              <a:rPr lang="zh-TW" altLang="en-US" dirty="0" smtClean="0">
                <a:latin typeface="標楷體" panose="03000509000000000000" pitchFamily="65" charset="-120"/>
                <a:ea typeface="標楷體" panose="03000509000000000000" pitchFamily="65" charset="-120"/>
              </a:rPr>
              <a:t> 共老共好</a:t>
            </a:r>
            <a:r>
              <a:rPr lang="en-US" altLang="zh-TW" dirty="0" smtClean="0">
                <a:latin typeface="標楷體" panose="03000509000000000000" pitchFamily="65" charset="-120"/>
                <a:ea typeface="標楷體" panose="03000509000000000000" pitchFamily="65" charset="-120"/>
              </a:rPr>
              <a:t/>
            </a:r>
            <a:br>
              <a:rPr lang="en-US" altLang="zh-TW" dirty="0" smtClean="0">
                <a:latin typeface="標楷體" panose="03000509000000000000" pitchFamily="65" charset="-120"/>
                <a:ea typeface="標楷體" panose="03000509000000000000" pitchFamily="65" charset="-120"/>
              </a:rPr>
            </a:br>
            <a:r>
              <a:rPr lang="zh-TW" altLang="en-US" dirty="0">
                <a:latin typeface="標楷體" panose="03000509000000000000" pitchFamily="65" charset="-120"/>
                <a:ea typeface="標楷體" panose="03000509000000000000" pitchFamily="65" charset="-120"/>
              </a:rPr>
              <a:t> </a:t>
            </a:r>
            <a:r>
              <a:rPr lang="zh-TW" altLang="en-US" dirty="0" smtClean="0">
                <a:latin typeface="標楷體" panose="03000509000000000000" pitchFamily="65" charset="-120"/>
                <a:ea typeface="標楷體" panose="03000509000000000000" pitchFamily="65" charset="-120"/>
              </a:rPr>
              <a:t>   </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減少不自信</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
            </a:r>
            <a:br>
              <a:rPr lang="en-US" altLang="zh-TW" dirty="0">
                <a:latin typeface="標楷體" panose="03000509000000000000" pitchFamily="65" charset="-120"/>
                <a:ea typeface="標楷體" panose="03000509000000000000" pitchFamily="65" charset="-120"/>
              </a:rPr>
            </a:br>
            <a:r>
              <a:rPr lang="en-US" altLang="zh-TW" dirty="0" smtClean="0">
                <a:latin typeface="標楷體" panose="03000509000000000000" pitchFamily="65" charset="-120"/>
                <a:ea typeface="標楷體" panose="03000509000000000000" pitchFamily="65" charset="-120"/>
              </a:rPr>
              <a:t/>
            </a:r>
            <a:br>
              <a:rPr lang="en-US" altLang="zh-TW" dirty="0" smtClean="0">
                <a:latin typeface="標楷體" panose="03000509000000000000" pitchFamily="65" charset="-120"/>
                <a:ea typeface="標楷體" panose="03000509000000000000" pitchFamily="65" charset="-120"/>
              </a:rPr>
            </a:b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989053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8372" y="389331"/>
            <a:ext cx="7568565" cy="697230"/>
          </a:xfrm>
          <a:prstGeom prst="rect">
            <a:avLst/>
          </a:prstGeom>
        </p:spPr>
        <p:txBody>
          <a:bodyPr vert="horz" wrap="square" lIns="0" tIns="13335" rIns="0" bIns="0" rtlCol="0">
            <a:spAutoFit/>
          </a:bodyPr>
          <a:lstStyle/>
          <a:p>
            <a:pPr marL="12700">
              <a:lnSpc>
                <a:spcPct val="100000"/>
              </a:lnSpc>
              <a:spcBef>
                <a:spcPts val="105"/>
              </a:spcBef>
            </a:pPr>
            <a:r>
              <a:rPr spc="5" dirty="0">
                <a:latin typeface="標楷體" panose="03000509000000000000" pitchFamily="65" charset="-120"/>
                <a:ea typeface="標楷體" panose="03000509000000000000" pitchFamily="65" charset="-120"/>
              </a:rPr>
              <a:t>這些年</a:t>
            </a:r>
            <a:r>
              <a:rPr spc="-20" dirty="0">
                <a:latin typeface="標楷體" panose="03000509000000000000" pitchFamily="65" charset="-120"/>
                <a:ea typeface="標楷體" panose="03000509000000000000" pitchFamily="65" charset="-120"/>
              </a:rPr>
              <a:t>台</a:t>
            </a:r>
            <a:r>
              <a:rPr spc="5" dirty="0">
                <a:latin typeface="標楷體" panose="03000509000000000000" pitchFamily="65" charset="-120"/>
                <a:ea typeface="標楷體" panose="03000509000000000000" pitchFamily="65" charset="-120"/>
              </a:rPr>
              <a:t>灣為何</a:t>
            </a:r>
            <a:r>
              <a:rPr spc="-20" dirty="0">
                <a:latin typeface="標楷體" panose="03000509000000000000" pitchFamily="65" charset="-120"/>
                <a:ea typeface="標楷體" panose="03000509000000000000" pitchFamily="65" charset="-120"/>
              </a:rPr>
              <a:t>興</a:t>
            </a:r>
            <a:r>
              <a:rPr spc="5" dirty="0">
                <a:latin typeface="標楷體" panose="03000509000000000000" pitchFamily="65" charset="-120"/>
                <a:ea typeface="標楷體" panose="03000509000000000000" pitchFamily="65" charset="-120"/>
              </a:rPr>
              <a:t>起時間</a:t>
            </a:r>
            <a:r>
              <a:rPr spc="-20" dirty="0">
                <a:latin typeface="標楷體" panose="03000509000000000000" pitchFamily="65" charset="-120"/>
                <a:ea typeface="標楷體" panose="03000509000000000000" pitchFamily="65" charset="-120"/>
              </a:rPr>
              <a:t>銀</a:t>
            </a:r>
            <a:r>
              <a:rPr spc="-25" dirty="0">
                <a:latin typeface="標楷體" panose="03000509000000000000" pitchFamily="65" charset="-120"/>
                <a:ea typeface="標楷體" panose="03000509000000000000" pitchFamily="65" charset="-120"/>
              </a:rPr>
              <a:t>行</a:t>
            </a:r>
            <a:r>
              <a:rPr dirty="0">
                <a:latin typeface="標楷體" panose="03000509000000000000" pitchFamily="65" charset="-120"/>
                <a:ea typeface="標楷體" panose="03000509000000000000" pitchFamily="65" charset="-120"/>
              </a:rPr>
              <a:t>?</a:t>
            </a:r>
          </a:p>
        </p:txBody>
      </p:sp>
      <p:pic>
        <p:nvPicPr>
          <p:cNvPr id="3" name="object 3"/>
          <p:cNvPicPr/>
          <p:nvPr/>
        </p:nvPicPr>
        <p:blipFill>
          <a:blip r:embed="rId2" cstate="print"/>
          <a:stretch>
            <a:fillRect/>
          </a:stretch>
        </p:blipFill>
        <p:spPr>
          <a:xfrm>
            <a:off x="539546" y="1196797"/>
            <a:ext cx="8352917" cy="5472557"/>
          </a:xfrm>
          <a:prstGeom prst="rect">
            <a:avLst/>
          </a:prstGeom>
        </p:spPr>
      </p:pic>
      <p:sp>
        <p:nvSpPr>
          <p:cNvPr id="4" name="object 4"/>
          <p:cNvSpPr txBox="1"/>
          <p:nvPr/>
        </p:nvSpPr>
        <p:spPr>
          <a:xfrm>
            <a:off x="827582" y="4653089"/>
            <a:ext cx="2088514" cy="1754505"/>
          </a:xfrm>
          <a:prstGeom prst="rect">
            <a:avLst/>
          </a:prstGeom>
          <a:solidFill>
            <a:srgbClr val="FFFF00"/>
          </a:solidFill>
        </p:spPr>
        <p:txBody>
          <a:bodyPr vert="horz" wrap="square" lIns="0" tIns="28575" rIns="0" bIns="0" rtlCol="0">
            <a:spAutoFit/>
          </a:bodyPr>
          <a:lstStyle/>
          <a:p>
            <a:pPr marL="91440" marR="159385" algn="just">
              <a:lnSpc>
                <a:spcPct val="100000"/>
              </a:lnSpc>
              <a:spcBef>
                <a:spcPts val="225"/>
              </a:spcBef>
            </a:pPr>
            <a:r>
              <a:rPr sz="3600" dirty="0">
                <a:latin typeface="SimSun"/>
                <a:cs typeface="SimSun"/>
              </a:rPr>
              <a:t>尋</a:t>
            </a:r>
            <a:r>
              <a:rPr sz="3600" spc="-5" dirty="0">
                <a:latin typeface="SimSun"/>
                <a:cs typeface="SimSun"/>
              </a:rPr>
              <a:t>找</a:t>
            </a:r>
            <a:r>
              <a:rPr sz="3600" dirty="0">
                <a:latin typeface="SimSun"/>
                <a:cs typeface="SimSun"/>
              </a:rPr>
              <a:t>(超) </a:t>
            </a:r>
            <a:r>
              <a:rPr sz="3600" spc="-5" dirty="0">
                <a:latin typeface="SimSun"/>
                <a:cs typeface="SimSun"/>
              </a:rPr>
              <a:t>高齡社會 </a:t>
            </a:r>
            <a:r>
              <a:rPr sz="3600" dirty="0">
                <a:latin typeface="SimSun"/>
                <a:cs typeface="SimSun"/>
              </a:rPr>
              <a:t>的解方</a:t>
            </a:r>
            <a:endParaRPr sz="3600">
              <a:latin typeface="SimSun"/>
              <a:cs typeface="SimSun"/>
            </a:endParaRPr>
          </a:p>
        </p:txBody>
      </p:sp>
      <p:sp>
        <p:nvSpPr>
          <p:cNvPr id="5" name="object 2"/>
          <p:cNvSpPr txBox="1">
            <a:spLocks/>
          </p:cNvSpPr>
          <p:nvPr/>
        </p:nvSpPr>
        <p:spPr>
          <a:xfrm>
            <a:off x="8164" y="0"/>
            <a:ext cx="609600" cy="1367682"/>
          </a:xfrm>
          <a:prstGeom prst="rect">
            <a:avLst/>
          </a:prstGeom>
          <a:solidFill>
            <a:schemeClr val="accent6">
              <a:lumMod val="60000"/>
              <a:lumOff val="40000"/>
            </a:schemeClr>
          </a:solidFill>
        </p:spPr>
        <p:txBody>
          <a:bodyPr vert="horz" wrap="square" lIns="0" tIns="13335" rIns="0" bIns="0" rtlCol="0">
            <a:spAutoFit/>
          </a:bodyPr>
          <a:lstStyle>
            <a:lvl1pPr>
              <a:defRPr sz="4400" b="0" i="0">
                <a:solidFill>
                  <a:schemeClr val="tx1"/>
                </a:solidFill>
                <a:latin typeface="SimSun"/>
                <a:ea typeface="+mj-ea"/>
                <a:cs typeface="SimSun"/>
              </a:defRPr>
            </a:lvl1pPr>
          </a:lstStyle>
          <a:p>
            <a:pPr marL="12700">
              <a:spcBef>
                <a:spcPts val="105"/>
              </a:spcBef>
            </a:pPr>
            <a:r>
              <a:rPr lang="zh-TW" altLang="en-US" kern="0" spc="5" dirty="0">
                <a:latin typeface="標楷體" panose="03000509000000000000" pitchFamily="65" charset="-120"/>
                <a:ea typeface="標楷體" panose="03000509000000000000" pitchFamily="65" charset="-120"/>
              </a:rPr>
              <a:t>緣起</a:t>
            </a:r>
            <a:endParaRPr lang="en-US" altLang="zh-TW" kern="0" spc="5" dirty="0" smtClean="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764345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7743" y="228600"/>
            <a:ext cx="6731000" cy="696595"/>
          </a:xfrm>
          <a:prstGeom prst="rect">
            <a:avLst/>
          </a:prstGeom>
        </p:spPr>
        <p:txBody>
          <a:bodyPr vert="horz" wrap="square" lIns="0" tIns="12700" rIns="0" bIns="0" rtlCol="0">
            <a:spAutoFit/>
          </a:bodyPr>
          <a:lstStyle/>
          <a:p>
            <a:pPr marL="12700">
              <a:lnSpc>
                <a:spcPct val="100000"/>
              </a:lnSpc>
              <a:spcBef>
                <a:spcPts val="100"/>
              </a:spcBef>
            </a:pPr>
            <a:r>
              <a:rPr lang="zh-TW" altLang="en-US" dirty="0" smtClean="0">
                <a:latin typeface="標楷體" panose="03000509000000000000" pitchFamily="65" charset="-120"/>
                <a:ea typeface="標楷體" panose="03000509000000000000" pitchFamily="65" charset="-120"/>
              </a:rPr>
              <a:t>猜猜 台灣人的平均壽命</a:t>
            </a:r>
            <a:r>
              <a:rPr lang="en-US" altLang="zh-TW" dirty="0" smtClean="0">
                <a:latin typeface="標楷體" panose="03000509000000000000" pitchFamily="65" charset="-120"/>
                <a:ea typeface="標楷體" panose="03000509000000000000" pitchFamily="65" charset="-120"/>
              </a:rPr>
              <a:t>?</a:t>
            </a:r>
            <a:endParaRPr dirty="0">
              <a:latin typeface="標楷體" panose="03000509000000000000" pitchFamily="65" charset="-120"/>
              <a:ea typeface="標楷體" panose="03000509000000000000" pitchFamily="65" charset="-120"/>
            </a:endParaRPr>
          </a:p>
        </p:txBody>
      </p:sp>
      <p:pic>
        <p:nvPicPr>
          <p:cNvPr id="6" name="object 6"/>
          <p:cNvPicPr/>
          <p:nvPr/>
        </p:nvPicPr>
        <p:blipFill>
          <a:blip r:embed="rId2" cstate="print"/>
          <a:stretch>
            <a:fillRect/>
          </a:stretch>
        </p:blipFill>
        <p:spPr>
          <a:xfrm>
            <a:off x="1115618" y="1484757"/>
            <a:ext cx="7067677" cy="2016252"/>
          </a:xfrm>
          <a:prstGeom prst="rect">
            <a:avLst/>
          </a:prstGeom>
        </p:spPr>
      </p:pic>
      <p:pic>
        <p:nvPicPr>
          <p:cNvPr id="7" name="object 7"/>
          <p:cNvPicPr/>
          <p:nvPr/>
        </p:nvPicPr>
        <p:blipFill>
          <a:blip r:embed="rId3" cstate="print"/>
          <a:stretch>
            <a:fillRect/>
          </a:stretch>
        </p:blipFill>
        <p:spPr>
          <a:xfrm>
            <a:off x="1392300" y="3645001"/>
            <a:ext cx="3672459" cy="2080514"/>
          </a:xfrm>
          <a:prstGeom prst="rect">
            <a:avLst/>
          </a:prstGeom>
        </p:spPr>
      </p:pic>
      <p:sp>
        <p:nvSpPr>
          <p:cNvPr id="8" name="object 8"/>
          <p:cNvSpPr txBox="1"/>
          <p:nvPr/>
        </p:nvSpPr>
        <p:spPr>
          <a:xfrm>
            <a:off x="5086984" y="3645027"/>
            <a:ext cx="2736850" cy="1934184"/>
          </a:xfrm>
          <a:prstGeom prst="rect">
            <a:avLst/>
          </a:prstGeom>
          <a:solidFill>
            <a:srgbClr val="FFC000"/>
          </a:solidFill>
        </p:spPr>
        <p:txBody>
          <a:bodyPr vert="horz" wrap="square" lIns="0" tIns="28575" rIns="0" bIns="0" rtlCol="0">
            <a:spAutoFit/>
          </a:bodyPr>
          <a:lstStyle/>
          <a:p>
            <a:pPr marL="92075">
              <a:lnSpc>
                <a:spcPct val="100000"/>
              </a:lnSpc>
              <a:spcBef>
                <a:spcPts val="225"/>
              </a:spcBef>
            </a:pPr>
            <a:r>
              <a:rPr sz="3600" dirty="0">
                <a:latin typeface="標楷體" panose="03000509000000000000" pitchFamily="65" charset="-120"/>
                <a:ea typeface="標楷體" panose="03000509000000000000" pitchFamily="65" charset="-120"/>
                <a:cs typeface="SimSun"/>
              </a:rPr>
              <a:t>比</a:t>
            </a:r>
            <a:r>
              <a:rPr sz="3600" spc="-5" dirty="0">
                <a:latin typeface="標楷體" panose="03000509000000000000" pitchFamily="65" charset="-120"/>
                <a:ea typeface="標楷體" panose="03000509000000000000" pitchFamily="65" charset="-120"/>
                <a:cs typeface="SimSun"/>
              </a:rPr>
              <a:t>起</a:t>
            </a:r>
            <a:r>
              <a:rPr sz="3600" dirty="0">
                <a:latin typeface="標楷體" panose="03000509000000000000" pitchFamily="65" charset="-120"/>
                <a:ea typeface="標楷體" panose="03000509000000000000" pitchFamily="65" charset="-120"/>
                <a:cs typeface="SimSun"/>
              </a:rPr>
              <a:t>10年前</a:t>
            </a:r>
          </a:p>
          <a:p>
            <a:pPr marL="320675" marR="348615" indent="-228600">
              <a:lnSpc>
                <a:spcPct val="127800"/>
              </a:lnSpc>
              <a:tabLst>
                <a:tab pos="1920875" algn="l"/>
              </a:tabLst>
            </a:pPr>
            <a:r>
              <a:rPr sz="3600" dirty="0">
                <a:latin typeface="標楷體" panose="03000509000000000000" pitchFamily="65" charset="-120"/>
                <a:ea typeface="標楷體" panose="03000509000000000000" pitchFamily="65" charset="-120"/>
                <a:cs typeface="SimSun"/>
              </a:rPr>
              <a:t>台灣人增壽 多活</a:t>
            </a:r>
            <a:r>
              <a:rPr sz="3600" spc="-5" dirty="0">
                <a:latin typeface="標楷體" panose="03000509000000000000" pitchFamily="65" charset="-120"/>
                <a:ea typeface="標楷體" panose="03000509000000000000" pitchFamily="65" charset="-120"/>
                <a:cs typeface="SimSun"/>
              </a:rPr>
              <a:t> </a:t>
            </a:r>
            <a:r>
              <a:rPr sz="3600" dirty="0">
                <a:latin typeface="標楷體" panose="03000509000000000000" pitchFamily="65" charset="-120"/>
                <a:ea typeface="標楷體" panose="03000509000000000000" pitchFamily="65" charset="-120"/>
                <a:cs typeface="SimSun"/>
              </a:rPr>
              <a:t>2	歲</a:t>
            </a:r>
          </a:p>
        </p:txBody>
      </p:sp>
    </p:spTree>
    <p:extLst>
      <p:ext uri="{BB962C8B-B14F-4D97-AF65-F5344CB8AC3E}">
        <p14:creationId xmlns:p14="http://schemas.microsoft.com/office/powerpoint/2010/main" val="3938375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9144000" cy="6800850"/>
          </a:xfrm>
          <a:prstGeom prst="rect">
            <a:avLst/>
          </a:prstGeom>
        </p:spPr>
      </p:pic>
    </p:spTree>
    <p:extLst>
      <p:ext uri="{BB962C8B-B14F-4D97-AF65-F5344CB8AC3E}">
        <p14:creationId xmlns:p14="http://schemas.microsoft.com/office/powerpoint/2010/main" val="308191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9144000" cy="6800850"/>
          </a:xfrm>
          <a:prstGeom prst="rect">
            <a:avLst/>
          </a:prstGeom>
        </p:spPr>
      </p:pic>
    </p:spTree>
    <p:extLst>
      <p:ext uri="{BB962C8B-B14F-4D97-AF65-F5344CB8AC3E}">
        <p14:creationId xmlns:p14="http://schemas.microsoft.com/office/powerpoint/2010/main" val="2443480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87627" y="2204847"/>
            <a:ext cx="3655060" cy="1737995"/>
            <a:chOff x="1187627" y="2204847"/>
            <a:chExt cx="3655060" cy="1737995"/>
          </a:xfrm>
        </p:grpSpPr>
        <p:pic>
          <p:nvPicPr>
            <p:cNvPr id="3" name="object 3"/>
            <p:cNvPicPr/>
            <p:nvPr/>
          </p:nvPicPr>
          <p:blipFill>
            <a:blip r:embed="rId2" cstate="print"/>
            <a:stretch>
              <a:fillRect/>
            </a:stretch>
          </p:blipFill>
          <p:spPr>
            <a:xfrm>
              <a:off x="1259636" y="2204847"/>
              <a:ext cx="1981200" cy="914400"/>
            </a:xfrm>
            <a:prstGeom prst="rect">
              <a:avLst/>
            </a:prstGeom>
          </p:spPr>
        </p:pic>
        <p:pic>
          <p:nvPicPr>
            <p:cNvPr id="4" name="object 4"/>
            <p:cNvPicPr/>
            <p:nvPr/>
          </p:nvPicPr>
          <p:blipFill>
            <a:blip r:embed="rId3" cstate="print"/>
            <a:stretch>
              <a:fillRect/>
            </a:stretch>
          </p:blipFill>
          <p:spPr>
            <a:xfrm>
              <a:off x="1187627" y="3069005"/>
              <a:ext cx="3654933" cy="873582"/>
            </a:xfrm>
            <a:prstGeom prst="rect">
              <a:avLst/>
            </a:prstGeom>
          </p:spPr>
        </p:pic>
      </p:grpSp>
      <p:pic>
        <p:nvPicPr>
          <p:cNvPr id="5" name="object 5"/>
          <p:cNvPicPr/>
          <p:nvPr/>
        </p:nvPicPr>
        <p:blipFill>
          <a:blip r:embed="rId4" cstate="print"/>
          <a:stretch>
            <a:fillRect/>
          </a:stretch>
        </p:blipFill>
        <p:spPr>
          <a:xfrm>
            <a:off x="5220080" y="1484757"/>
            <a:ext cx="2456053" cy="3463671"/>
          </a:xfrm>
          <a:prstGeom prst="rect">
            <a:avLst/>
          </a:prstGeom>
        </p:spPr>
      </p:pic>
      <p:sp>
        <p:nvSpPr>
          <p:cNvPr id="6" name="object 6"/>
          <p:cNvSpPr/>
          <p:nvPr/>
        </p:nvSpPr>
        <p:spPr>
          <a:xfrm>
            <a:off x="1403603" y="5301208"/>
            <a:ext cx="7740650" cy="1200785"/>
          </a:xfrm>
          <a:custGeom>
            <a:avLst/>
            <a:gdLst/>
            <a:ahLst/>
            <a:cxnLst/>
            <a:rect l="l" t="t" r="r" b="b"/>
            <a:pathLst>
              <a:path w="7740650" h="1200785">
                <a:moveTo>
                  <a:pt x="7740396" y="0"/>
                </a:moveTo>
                <a:lnTo>
                  <a:pt x="0" y="0"/>
                </a:lnTo>
                <a:lnTo>
                  <a:pt x="0" y="1200327"/>
                </a:lnTo>
                <a:lnTo>
                  <a:pt x="7740396" y="1200327"/>
                </a:lnTo>
                <a:lnTo>
                  <a:pt x="7740396" y="0"/>
                </a:lnTo>
                <a:close/>
              </a:path>
            </a:pathLst>
          </a:custGeom>
          <a:solidFill>
            <a:srgbClr val="FFFF00"/>
          </a:solidFill>
        </p:spPr>
        <p:txBody>
          <a:bodyPr wrap="square" lIns="0" tIns="0" rIns="0" bIns="0" rtlCol="0"/>
          <a:lstStyle/>
          <a:p>
            <a:endParaRPr/>
          </a:p>
        </p:txBody>
      </p:sp>
      <p:sp>
        <p:nvSpPr>
          <p:cNvPr id="7" name="object 7"/>
          <p:cNvSpPr txBox="1"/>
          <p:nvPr/>
        </p:nvSpPr>
        <p:spPr>
          <a:xfrm>
            <a:off x="1482597" y="5317337"/>
            <a:ext cx="7570470" cy="1120820"/>
          </a:xfrm>
          <a:prstGeom prst="rect">
            <a:avLst/>
          </a:prstGeom>
        </p:spPr>
        <p:txBody>
          <a:bodyPr vert="horz" wrap="square" lIns="0" tIns="12700" rIns="0" bIns="0" rtlCol="0">
            <a:spAutoFit/>
          </a:bodyPr>
          <a:lstStyle/>
          <a:p>
            <a:pPr marL="12700" marR="5080">
              <a:lnSpc>
                <a:spcPct val="100000"/>
              </a:lnSpc>
              <a:spcBef>
                <a:spcPts val="100"/>
              </a:spcBef>
            </a:pPr>
            <a:r>
              <a:rPr sz="3600" dirty="0">
                <a:latin typeface="標楷體" panose="03000509000000000000" pitchFamily="65" charset="-120"/>
                <a:ea typeface="標楷體" panose="03000509000000000000" pitchFamily="65" charset="-120"/>
                <a:cs typeface="SimSun"/>
              </a:rPr>
              <a:t>想知道</a:t>
            </a:r>
            <a:r>
              <a:rPr sz="3600" dirty="0">
                <a:solidFill>
                  <a:srgbClr val="C00000"/>
                </a:solidFill>
                <a:latin typeface="標楷體" panose="03000509000000000000" pitchFamily="65" charset="-120"/>
                <a:ea typeface="標楷體" panose="03000509000000000000" pitchFamily="65" charset="-120"/>
                <a:cs typeface="SimSun"/>
              </a:rPr>
              <a:t>瑞士</a:t>
            </a:r>
            <a:r>
              <a:rPr sz="3600" dirty="0">
                <a:latin typeface="標楷體" panose="03000509000000000000" pitchFamily="65" charset="-120"/>
                <a:ea typeface="標楷體" panose="03000509000000000000" pitchFamily="65" charset="-120"/>
                <a:cs typeface="SimSun"/>
              </a:rPr>
              <a:t>(還有其他國</a:t>
            </a:r>
            <a:r>
              <a:rPr sz="3600" spc="5" dirty="0">
                <a:latin typeface="標楷體" panose="03000509000000000000" pitchFamily="65" charset="-120"/>
                <a:ea typeface="標楷體" panose="03000509000000000000" pitchFamily="65" charset="-120"/>
                <a:cs typeface="SimSun"/>
              </a:rPr>
              <a:t>家</a:t>
            </a:r>
            <a:r>
              <a:rPr sz="3600" dirty="0">
                <a:latin typeface="標楷體" panose="03000509000000000000" pitchFamily="65" charset="-120"/>
                <a:ea typeface="標楷體" panose="03000509000000000000" pitchFamily="65" charset="-120"/>
                <a:cs typeface="SimSun"/>
              </a:rPr>
              <a:t>)的經驗嗎? </a:t>
            </a:r>
            <a:r>
              <a:rPr lang="zh-TW" altLang="en-US" sz="3600" spc="-5" dirty="0">
                <a:latin typeface="標楷體" panose="03000509000000000000" pitchFamily="65" charset="-120"/>
                <a:ea typeface="標楷體" panose="03000509000000000000" pitchFamily="65" charset="-120"/>
                <a:cs typeface="SimSun"/>
              </a:rPr>
              <a:t>可</a:t>
            </a:r>
            <a:r>
              <a:rPr sz="3600" spc="-5" dirty="0" err="1" smtClean="0">
                <a:latin typeface="標楷體" panose="03000509000000000000" pitchFamily="65" charset="-120"/>
                <a:ea typeface="標楷體" panose="03000509000000000000" pitchFamily="65" charset="-120"/>
                <a:cs typeface="SimSun"/>
              </a:rPr>
              <a:t>看看周傳久老師</a:t>
            </a:r>
            <a:r>
              <a:rPr sz="3600" dirty="0" err="1" smtClean="0">
                <a:latin typeface="標楷體" panose="03000509000000000000" pitchFamily="65" charset="-120"/>
                <a:ea typeface="標楷體" panose="03000509000000000000" pitchFamily="65" charset="-120"/>
                <a:cs typeface="SimSun"/>
              </a:rPr>
              <a:t>的</a:t>
            </a:r>
            <a:r>
              <a:rPr sz="3600" spc="-5" dirty="0" err="1" smtClean="0">
                <a:solidFill>
                  <a:srgbClr val="C00000"/>
                </a:solidFill>
                <a:latin typeface="標楷體" panose="03000509000000000000" pitchFamily="65" charset="-120"/>
                <a:ea typeface="標楷體" panose="03000509000000000000" pitchFamily="65" charset="-120"/>
                <a:cs typeface="SimSun"/>
              </a:rPr>
              <a:t>實地走</a:t>
            </a:r>
            <a:r>
              <a:rPr sz="3600" dirty="0" err="1" smtClean="0">
                <a:solidFill>
                  <a:srgbClr val="C00000"/>
                </a:solidFill>
                <a:latin typeface="標楷體" panose="03000509000000000000" pitchFamily="65" charset="-120"/>
                <a:ea typeface="標楷體" panose="03000509000000000000" pitchFamily="65" charset="-120"/>
                <a:cs typeface="SimSun"/>
              </a:rPr>
              <a:t>訪</a:t>
            </a:r>
            <a:r>
              <a:rPr sz="3600" spc="-5" dirty="0" err="1" smtClean="0">
                <a:latin typeface="標楷體" panose="03000509000000000000" pitchFamily="65" charset="-120"/>
                <a:ea typeface="標楷體" panose="03000509000000000000" pitchFamily="65" charset="-120"/>
                <a:cs typeface="SimSun"/>
              </a:rPr>
              <a:t>記錄</a:t>
            </a:r>
            <a:r>
              <a:rPr lang="zh-TW" altLang="en-US" sz="3600" spc="-5" dirty="0" smtClean="0">
                <a:latin typeface="標楷體" panose="03000509000000000000" pitchFamily="65" charset="-120"/>
                <a:ea typeface="標楷體" panose="03000509000000000000" pitchFamily="65" charset="-120"/>
                <a:cs typeface="SimSun"/>
              </a:rPr>
              <a:t> </a:t>
            </a:r>
            <a:r>
              <a:rPr sz="3600" dirty="0" smtClean="0">
                <a:latin typeface="標楷體" panose="03000509000000000000" pitchFamily="65" charset="-120"/>
                <a:ea typeface="標楷體" panose="03000509000000000000" pitchFamily="65" charset="-120"/>
                <a:cs typeface="SimSun"/>
              </a:rPr>
              <a:t>!</a:t>
            </a:r>
            <a:r>
              <a:rPr lang="zh-TW" altLang="en-US" sz="3600" dirty="0" smtClean="0">
                <a:latin typeface="標楷體" panose="03000509000000000000" pitchFamily="65" charset="-120"/>
                <a:ea typeface="標楷體" panose="03000509000000000000" pitchFamily="65" charset="-120"/>
                <a:cs typeface="SimSun"/>
              </a:rPr>
              <a:t> </a:t>
            </a:r>
            <a:endParaRPr sz="3600" dirty="0">
              <a:latin typeface="標楷體" panose="03000509000000000000" pitchFamily="65" charset="-120"/>
              <a:ea typeface="標楷體" panose="03000509000000000000" pitchFamily="65" charset="-120"/>
              <a:cs typeface="SimSun"/>
            </a:endParaRPr>
          </a:p>
        </p:txBody>
      </p:sp>
      <p:sp>
        <p:nvSpPr>
          <p:cNvPr id="9" name="object 9"/>
          <p:cNvSpPr txBox="1">
            <a:spLocks noGrp="1"/>
          </p:cNvSpPr>
          <p:nvPr>
            <p:ph type="title"/>
          </p:nvPr>
        </p:nvSpPr>
        <p:spPr>
          <a:xfrm>
            <a:off x="180023" y="317372"/>
            <a:ext cx="8544876" cy="689932"/>
          </a:xfrm>
          <a:prstGeom prst="rect">
            <a:avLst/>
          </a:prstGeom>
        </p:spPr>
        <p:txBody>
          <a:bodyPr vert="horz" wrap="square" lIns="0" tIns="12700" rIns="0" bIns="0" rtlCol="0">
            <a:spAutoFit/>
          </a:bodyPr>
          <a:lstStyle/>
          <a:p>
            <a:pPr marL="38100">
              <a:lnSpc>
                <a:spcPct val="100000"/>
              </a:lnSpc>
              <a:spcBef>
                <a:spcPts val="100"/>
              </a:spcBef>
            </a:pPr>
            <a:r>
              <a:rPr sz="4200" spc="-480" baseline="-29761" dirty="0" smtClean="0"/>
              <a:t> </a:t>
            </a:r>
            <a:r>
              <a:rPr sz="4400" dirty="0">
                <a:latin typeface="標楷體" panose="03000509000000000000" pitchFamily="65" charset="-120"/>
                <a:ea typeface="標楷體" panose="03000509000000000000" pitchFamily="65" charset="-120"/>
              </a:rPr>
              <a:t>一篇在</a:t>
            </a:r>
            <a:r>
              <a:rPr sz="4400" spc="-25" dirty="0">
                <a:latin typeface="標楷體" panose="03000509000000000000" pitchFamily="65" charset="-120"/>
                <a:ea typeface="標楷體" panose="03000509000000000000" pitchFamily="65" charset="-120"/>
              </a:rPr>
              <a:t>網</a:t>
            </a:r>
            <a:r>
              <a:rPr sz="4400" dirty="0">
                <a:latin typeface="標楷體" panose="03000509000000000000" pitchFamily="65" charset="-120"/>
                <a:ea typeface="標楷體" panose="03000509000000000000" pitchFamily="65" charset="-120"/>
              </a:rPr>
              <a:t>路被瘋</a:t>
            </a:r>
            <a:r>
              <a:rPr sz="4400" spc="-25" dirty="0">
                <a:latin typeface="標楷體" panose="03000509000000000000" pitchFamily="65" charset="-120"/>
                <a:ea typeface="標楷體" panose="03000509000000000000" pitchFamily="65" charset="-120"/>
              </a:rPr>
              <a:t>傳</a:t>
            </a:r>
            <a:r>
              <a:rPr sz="4400" dirty="0">
                <a:latin typeface="標楷體" panose="03000509000000000000" pitchFamily="65" charset="-120"/>
                <a:ea typeface="標楷體" panose="03000509000000000000" pitchFamily="65" charset="-120"/>
              </a:rPr>
              <a:t>的文</a:t>
            </a:r>
            <a:r>
              <a:rPr sz="4400" spc="-10" dirty="0">
                <a:latin typeface="標楷體" panose="03000509000000000000" pitchFamily="65" charset="-120"/>
                <a:ea typeface="標楷體" panose="03000509000000000000" pitchFamily="65" charset="-120"/>
              </a:rPr>
              <a:t>章,</a:t>
            </a:r>
            <a:r>
              <a:rPr sz="4400" dirty="0">
                <a:latin typeface="標楷體" panose="03000509000000000000" pitchFamily="65" charset="-120"/>
                <a:ea typeface="標楷體" panose="03000509000000000000" pitchFamily="65" charset="-120"/>
              </a:rPr>
              <a:t>引起…</a:t>
            </a:r>
          </a:p>
        </p:txBody>
      </p:sp>
    </p:spTree>
    <p:extLst>
      <p:ext uri="{BB962C8B-B14F-4D97-AF65-F5344CB8AC3E}">
        <p14:creationId xmlns:p14="http://schemas.microsoft.com/office/powerpoint/2010/main" val="988302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14272" y="1383042"/>
            <a:ext cx="3098292" cy="4392549"/>
          </a:xfrm>
          <a:prstGeom prst="rect">
            <a:avLst/>
          </a:prstGeom>
        </p:spPr>
      </p:pic>
      <p:sp>
        <p:nvSpPr>
          <p:cNvPr id="3" name="object 3"/>
          <p:cNvSpPr txBox="1"/>
          <p:nvPr/>
        </p:nvSpPr>
        <p:spPr>
          <a:xfrm>
            <a:off x="4795520" y="1330234"/>
            <a:ext cx="3225165" cy="4293870"/>
          </a:xfrm>
          <a:prstGeom prst="rect">
            <a:avLst/>
          </a:prstGeom>
        </p:spPr>
        <p:txBody>
          <a:bodyPr vert="horz" wrap="square" lIns="0" tIns="12065" rIns="0" bIns="0" rtlCol="0">
            <a:spAutoFit/>
          </a:bodyPr>
          <a:lstStyle/>
          <a:p>
            <a:pPr marL="12700" marR="5080">
              <a:lnSpc>
                <a:spcPct val="100000"/>
              </a:lnSpc>
              <a:spcBef>
                <a:spcPts val="95"/>
              </a:spcBef>
            </a:pPr>
            <a:r>
              <a:rPr sz="2800" dirty="0">
                <a:latin typeface="標楷體" panose="03000509000000000000" pitchFamily="65" charset="-120"/>
                <a:ea typeface="標楷體" panose="03000509000000000000" pitchFamily="65" charset="-120"/>
                <a:cs typeface="SimSun"/>
              </a:rPr>
              <a:t>平</a:t>
            </a:r>
            <a:r>
              <a:rPr sz="2800" spc="-10" dirty="0">
                <a:latin typeface="標楷體" panose="03000509000000000000" pitchFamily="65" charset="-120"/>
                <a:ea typeface="標楷體" panose="03000509000000000000" pitchFamily="65" charset="-120"/>
                <a:cs typeface="SimSun"/>
              </a:rPr>
              <a:t>均</a:t>
            </a:r>
            <a:r>
              <a:rPr sz="2800" b="1" spc="-335" dirty="0">
                <a:latin typeface="標楷體" panose="03000509000000000000" pitchFamily="65" charset="-120"/>
                <a:ea typeface="標楷體" panose="03000509000000000000" pitchFamily="65" charset="-120"/>
                <a:cs typeface="Microsoft YaHei UI"/>
              </a:rPr>
              <a:t>81</a:t>
            </a:r>
            <a:r>
              <a:rPr sz="2800" b="1" spc="-5" dirty="0">
                <a:latin typeface="標楷體" panose="03000509000000000000" pitchFamily="65" charset="-120"/>
                <a:ea typeface="標楷體" panose="03000509000000000000" pitchFamily="65" charset="-120"/>
                <a:cs typeface="Microsoft YaHei UI"/>
              </a:rPr>
              <a:t>歲的長</a:t>
            </a:r>
            <a:r>
              <a:rPr sz="2800" b="1" spc="5" dirty="0">
                <a:latin typeface="標楷體" panose="03000509000000000000" pitchFamily="65" charset="-120"/>
                <a:ea typeface="標楷體" panose="03000509000000000000" pitchFamily="65" charset="-120"/>
                <a:cs typeface="Microsoft YaHei UI"/>
              </a:rPr>
              <a:t>者</a:t>
            </a:r>
            <a:r>
              <a:rPr sz="2800" spc="-5" dirty="0">
                <a:latin typeface="標楷體" panose="03000509000000000000" pitchFamily="65" charset="-120"/>
                <a:ea typeface="標楷體" panose="03000509000000000000" pitchFamily="65" charset="-120"/>
                <a:cs typeface="SimSun"/>
              </a:rPr>
              <a:t>， </a:t>
            </a:r>
            <a:r>
              <a:rPr sz="2800" dirty="0">
                <a:latin typeface="標楷體" panose="03000509000000000000" pitchFamily="65" charset="-120"/>
                <a:ea typeface="標楷體" panose="03000509000000000000" pitchFamily="65" charset="-120"/>
                <a:cs typeface="SimSun"/>
              </a:rPr>
              <a:t> </a:t>
            </a:r>
            <a:r>
              <a:rPr sz="2800" spc="5" dirty="0">
                <a:latin typeface="標楷體" panose="03000509000000000000" pitchFamily="65" charset="-120"/>
                <a:ea typeface="標楷體" panose="03000509000000000000" pitchFamily="65" charset="-120"/>
                <a:cs typeface="SimSun"/>
              </a:rPr>
              <a:t>心</a:t>
            </a:r>
            <a:r>
              <a:rPr sz="2800" spc="-5" dirty="0">
                <a:latin typeface="標楷體" panose="03000509000000000000" pitchFamily="65" charset="-120"/>
                <a:ea typeface="標楷體" panose="03000509000000000000" pitchFamily="65" charset="-120"/>
                <a:cs typeface="SimSun"/>
              </a:rPr>
              <a:t>懷</a:t>
            </a:r>
            <a:r>
              <a:rPr sz="2800" b="1" spc="-325" dirty="0">
                <a:latin typeface="標楷體" panose="03000509000000000000" pitchFamily="65" charset="-120"/>
                <a:ea typeface="標楷體" panose="03000509000000000000" pitchFamily="65" charset="-120"/>
                <a:cs typeface="Microsoft YaHei UI"/>
              </a:rPr>
              <a:t>1</a:t>
            </a:r>
            <a:r>
              <a:rPr sz="2800" b="1" spc="-335" dirty="0">
                <a:latin typeface="標楷體" panose="03000509000000000000" pitchFamily="65" charset="-120"/>
                <a:ea typeface="標楷體" panose="03000509000000000000" pitchFamily="65" charset="-120"/>
                <a:cs typeface="Microsoft YaHei UI"/>
              </a:rPr>
              <a:t>8</a:t>
            </a:r>
            <a:r>
              <a:rPr sz="2800" b="1" spc="-5" dirty="0">
                <a:latin typeface="標楷體" panose="03000509000000000000" pitchFamily="65" charset="-120"/>
                <a:ea typeface="標楷體" panose="03000509000000000000" pitchFamily="65" charset="-120"/>
                <a:cs typeface="Microsoft YaHei UI"/>
              </a:rPr>
              <a:t>歲</a:t>
            </a:r>
            <a:r>
              <a:rPr sz="2800" b="1" dirty="0">
                <a:latin typeface="標楷體" panose="03000509000000000000" pitchFamily="65" charset="-120"/>
                <a:ea typeface="標楷體" panose="03000509000000000000" pitchFamily="65" charset="-120"/>
                <a:cs typeface="Microsoft YaHei UI"/>
              </a:rPr>
              <a:t>的</a:t>
            </a:r>
            <a:r>
              <a:rPr sz="2800" b="1" spc="-5" dirty="0">
                <a:latin typeface="標楷體" panose="03000509000000000000" pitchFamily="65" charset="-120"/>
                <a:ea typeface="標楷體" panose="03000509000000000000" pitchFamily="65" charset="-120"/>
                <a:cs typeface="Microsoft YaHei UI"/>
              </a:rPr>
              <a:t>騎士</a:t>
            </a:r>
            <a:r>
              <a:rPr sz="2800" b="1" dirty="0">
                <a:latin typeface="標楷體" panose="03000509000000000000" pitchFamily="65" charset="-120"/>
                <a:ea typeface="標楷體" panose="03000509000000000000" pitchFamily="65" charset="-120"/>
                <a:cs typeface="Microsoft YaHei UI"/>
              </a:rPr>
              <a:t>夢</a:t>
            </a:r>
            <a:r>
              <a:rPr sz="2800" spc="-5" dirty="0">
                <a:latin typeface="標楷體" panose="03000509000000000000" pitchFamily="65" charset="-120"/>
                <a:ea typeface="標楷體" panose="03000509000000000000" pitchFamily="65" charset="-120"/>
                <a:cs typeface="SimSun"/>
              </a:rPr>
              <a:t>。 </a:t>
            </a:r>
            <a:r>
              <a:rPr sz="2800" dirty="0">
                <a:latin typeface="標楷體" panose="03000509000000000000" pitchFamily="65" charset="-120"/>
                <a:ea typeface="標楷體" panose="03000509000000000000" pitchFamily="65" charset="-120"/>
                <a:cs typeface="SimSun"/>
              </a:rPr>
              <a:t>在</a:t>
            </a:r>
            <a:r>
              <a:rPr sz="2800" spc="-5" dirty="0">
                <a:latin typeface="標楷體" panose="03000509000000000000" pitchFamily="65" charset="-120"/>
                <a:ea typeface="標楷體" panose="03000509000000000000" pitchFamily="65" charset="-120"/>
                <a:cs typeface="SimSun"/>
              </a:rPr>
              <a:t>「弘道</a:t>
            </a:r>
            <a:r>
              <a:rPr sz="2800" dirty="0">
                <a:latin typeface="標楷體" panose="03000509000000000000" pitchFamily="65" charset="-120"/>
                <a:ea typeface="標楷體" panose="03000509000000000000" pitchFamily="65" charset="-120"/>
                <a:cs typeface="SimSun"/>
              </a:rPr>
              <a:t>老</a:t>
            </a:r>
            <a:r>
              <a:rPr sz="2800" spc="-5" dirty="0">
                <a:latin typeface="標楷體" panose="03000509000000000000" pitchFamily="65" charset="-120"/>
                <a:ea typeface="標楷體" panose="03000509000000000000" pitchFamily="65" charset="-120"/>
                <a:cs typeface="SimSun"/>
              </a:rPr>
              <a:t>人福利 </a:t>
            </a:r>
            <a:r>
              <a:rPr sz="2800" dirty="0">
                <a:latin typeface="標楷體" panose="03000509000000000000" pitchFamily="65" charset="-120"/>
                <a:ea typeface="標楷體" panose="03000509000000000000" pitchFamily="65" charset="-120"/>
                <a:cs typeface="SimSun"/>
              </a:rPr>
              <a:t> 基</a:t>
            </a:r>
            <a:r>
              <a:rPr sz="2800" spc="-5" dirty="0">
                <a:latin typeface="標楷體" panose="03000509000000000000" pitchFamily="65" charset="-120"/>
                <a:ea typeface="標楷體" panose="03000509000000000000" pitchFamily="65" charset="-120"/>
                <a:cs typeface="SimSun"/>
              </a:rPr>
              <a:t>金會」的計畫下， </a:t>
            </a:r>
            <a:r>
              <a:rPr sz="2800" spc="5" dirty="0">
                <a:latin typeface="標楷體" panose="03000509000000000000" pitchFamily="65" charset="-120"/>
                <a:ea typeface="標楷體" panose="03000509000000000000" pitchFamily="65" charset="-120"/>
                <a:cs typeface="SimSun"/>
              </a:rPr>
              <a:t>於</a:t>
            </a:r>
            <a:r>
              <a:rPr sz="2800" spc="-5" dirty="0">
                <a:latin typeface="標楷體" panose="03000509000000000000" pitchFamily="65" charset="-120"/>
                <a:ea typeface="標楷體" panose="03000509000000000000" pitchFamily="65" charset="-120"/>
                <a:cs typeface="SimSun"/>
              </a:rPr>
              <a:t>2007年</a:t>
            </a:r>
            <a:r>
              <a:rPr sz="2800" dirty="0">
                <a:latin typeface="標楷體" panose="03000509000000000000" pitchFamily="65" charset="-120"/>
                <a:ea typeface="標楷體" panose="03000509000000000000" pitchFamily="65" charset="-120"/>
                <a:cs typeface="SimSun"/>
              </a:rPr>
              <a:t>11</a:t>
            </a:r>
            <a:r>
              <a:rPr sz="2800" spc="-5" dirty="0">
                <a:latin typeface="標楷體" panose="03000509000000000000" pitchFamily="65" charset="-120"/>
                <a:ea typeface="標楷體" panose="03000509000000000000" pitchFamily="65" charset="-120"/>
                <a:cs typeface="SimSun"/>
              </a:rPr>
              <a:t>月13日 </a:t>
            </a:r>
            <a:r>
              <a:rPr sz="2800" dirty="0">
                <a:latin typeface="標楷體" panose="03000509000000000000" pitchFamily="65" charset="-120"/>
                <a:ea typeface="標楷體" panose="03000509000000000000" pitchFamily="65" charset="-120"/>
                <a:cs typeface="SimSun"/>
              </a:rPr>
              <a:t> 成</a:t>
            </a:r>
            <a:r>
              <a:rPr sz="2800" spc="-5" dirty="0">
                <a:latin typeface="標楷體" panose="03000509000000000000" pitchFamily="65" charset="-120"/>
                <a:ea typeface="標楷體" panose="03000509000000000000" pitchFamily="65" charset="-120"/>
                <a:cs typeface="SimSun"/>
              </a:rPr>
              <a:t>行，隊</a:t>
            </a:r>
            <a:r>
              <a:rPr sz="2800" dirty="0">
                <a:latin typeface="標楷體" panose="03000509000000000000" pitchFamily="65" charset="-120"/>
                <a:ea typeface="標楷體" panose="03000509000000000000" pitchFamily="65" charset="-120"/>
                <a:cs typeface="SimSun"/>
              </a:rPr>
              <a:t>伍</a:t>
            </a:r>
            <a:r>
              <a:rPr sz="2800" spc="-5" dirty="0">
                <a:latin typeface="標楷體" panose="03000509000000000000" pitchFamily="65" charset="-120"/>
                <a:ea typeface="標楷體" panose="03000509000000000000" pitchFamily="65" charset="-120"/>
                <a:cs typeface="SimSun"/>
              </a:rPr>
              <a:t>花費為 </a:t>
            </a:r>
            <a:r>
              <a:rPr sz="2800" dirty="0">
                <a:latin typeface="標楷體" panose="03000509000000000000" pitchFamily="65" charset="-120"/>
                <a:ea typeface="標楷體" panose="03000509000000000000" pitchFamily="65" charset="-120"/>
                <a:cs typeface="SimSun"/>
              </a:rPr>
              <a:t> 期</a:t>
            </a:r>
            <a:r>
              <a:rPr sz="2800" spc="-10" dirty="0">
                <a:latin typeface="標楷體" panose="03000509000000000000" pitchFamily="65" charset="-120"/>
                <a:ea typeface="標楷體" panose="03000509000000000000" pitchFamily="65" charset="-120"/>
                <a:cs typeface="SimSun"/>
              </a:rPr>
              <a:t>13</a:t>
            </a:r>
            <a:r>
              <a:rPr sz="2800" spc="-5" dirty="0">
                <a:latin typeface="標楷體" panose="03000509000000000000" pitchFamily="65" charset="-120"/>
                <a:ea typeface="標楷體" panose="03000509000000000000" pitchFamily="65" charset="-120"/>
                <a:cs typeface="SimSun"/>
              </a:rPr>
              <a:t>天的時間，終 </a:t>
            </a:r>
            <a:r>
              <a:rPr sz="2800" dirty="0">
                <a:latin typeface="標楷體" panose="03000509000000000000" pitchFamily="65" charset="-120"/>
                <a:ea typeface="標楷體" panose="03000509000000000000" pitchFamily="65" charset="-120"/>
                <a:cs typeface="SimSun"/>
              </a:rPr>
              <a:t> 於</a:t>
            </a:r>
            <a:r>
              <a:rPr sz="2800" spc="-5" dirty="0">
                <a:latin typeface="標楷體" panose="03000509000000000000" pitchFamily="65" charset="-120"/>
                <a:ea typeface="標楷體" panose="03000509000000000000" pitchFamily="65" charset="-120"/>
                <a:cs typeface="SimSun"/>
              </a:rPr>
              <a:t>完成了</a:t>
            </a:r>
            <a:r>
              <a:rPr sz="2800" dirty="0">
                <a:latin typeface="標楷體" panose="03000509000000000000" pitchFamily="65" charset="-120"/>
                <a:ea typeface="標楷體" panose="03000509000000000000" pitchFamily="65" charset="-120"/>
                <a:cs typeface="SimSun"/>
              </a:rPr>
              <a:t>這</a:t>
            </a:r>
            <a:r>
              <a:rPr sz="2800" spc="-5" dirty="0">
                <a:latin typeface="標楷體" panose="03000509000000000000" pitchFamily="65" charset="-120"/>
                <a:ea typeface="標楷體" panose="03000509000000000000" pitchFamily="65" charset="-120"/>
                <a:cs typeface="SimSun"/>
              </a:rPr>
              <a:t>個在眾 </a:t>
            </a:r>
            <a:r>
              <a:rPr sz="2800" dirty="0">
                <a:latin typeface="標楷體" panose="03000509000000000000" pitchFamily="65" charset="-120"/>
                <a:ea typeface="標楷體" panose="03000509000000000000" pitchFamily="65" charset="-120"/>
                <a:cs typeface="SimSun"/>
              </a:rPr>
              <a:t> 人</a:t>
            </a:r>
            <a:r>
              <a:rPr sz="2800" spc="-5" dirty="0">
                <a:latin typeface="標楷體" panose="03000509000000000000" pitchFamily="65" charset="-120"/>
                <a:ea typeface="標楷體" panose="03000509000000000000" pitchFamily="65" charset="-120"/>
                <a:cs typeface="SimSun"/>
              </a:rPr>
              <a:t>眼中「</a:t>
            </a:r>
            <a:r>
              <a:rPr sz="2800" dirty="0">
                <a:latin typeface="標楷體" panose="03000509000000000000" pitchFamily="65" charset="-120"/>
                <a:ea typeface="標楷體" panose="03000509000000000000" pitchFamily="65" charset="-120"/>
                <a:cs typeface="SimSun"/>
              </a:rPr>
              <a:t>不</a:t>
            </a:r>
            <a:r>
              <a:rPr sz="2800" spc="-5" dirty="0">
                <a:latin typeface="標楷體" panose="03000509000000000000" pitchFamily="65" charset="-120"/>
                <a:ea typeface="標楷體" panose="03000509000000000000" pitchFamily="65" charset="-120"/>
                <a:cs typeface="SimSun"/>
              </a:rPr>
              <a:t>可能完 </a:t>
            </a:r>
            <a:r>
              <a:rPr sz="2800" dirty="0">
                <a:latin typeface="標楷體" panose="03000509000000000000" pitchFamily="65" charset="-120"/>
                <a:ea typeface="標楷體" panose="03000509000000000000" pitchFamily="65" charset="-120"/>
                <a:cs typeface="SimSun"/>
              </a:rPr>
              <a:t> 成</a:t>
            </a:r>
            <a:r>
              <a:rPr sz="2800" spc="-5" dirty="0">
                <a:latin typeface="標楷體" panose="03000509000000000000" pitchFamily="65" charset="-120"/>
                <a:ea typeface="標楷體" panose="03000509000000000000" pitchFamily="65" charset="-120"/>
                <a:cs typeface="SimSun"/>
              </a:rPr>
              <a:t>的夢想」。</a:t>
            </a:r>
            <a:endParaRPr sz="2800" dirty="0">
              <a:latin typeface="標楷體" panose="03000509000000000000" pitchFamily="65" charset="-120"/>
              <a:ea typeface="標楷體" panose="03000509000000000000" pitchFamily="65" charset="-120"/>
              <a:cs typeface="SimSun"/>
            </a:endParaRPr>
          </a:p>
        </p:txBody>
      </p:sp>
      <p:pic>
        <p:nvPicPr>
          <p:cNvPr id="4" name="object 4"/>
          <p:cNvPicPr/>
          <p:nvPr/>
        </p:nvPicPr>
        <p:blipFill>
          <a:blip r:embed="rId3" cstate="print"/>
          <a:stretch>
            <a:fillRect/>
          </a:stretch>
        </p:blipFill>
        <p:spPr>
          <a:xfrm>
            <a:off x="4512564" y="219456"/>
            <a:ext cx="1173480" cy="1121664"/>
          </a:xfrm>
          <a:prstGeom prst="rect">
            <a:avLst/>
          </a:prstGeom>
        </p:spPr>
      </p:pic>
      <p:sp>
        <p:nvSpPr>
          <p:cNvPr id="5" name="object 5"/>
          <p:cNvSpPr txBox="1">
            <a:spLocks noGrp="1"/>
          </p:cNvSpPr>
          <p:nvPr>
            <p:ph type="title"/>
          </p:nvPr>
        </p:nvSpPr>
        <p:spPr>
          <a:xfrm>
            <a:off x="746861" y="350900"/>
            <a:ext cx="7651750" cy="635000"/>
          </a:xfrm>
          <a:prstGeom prst="rect">
            <a:avLst/>
          </a:prstGeom>
        </p:spPr>
        <p:txBody>
          <a:bodyPr vert="horz" wrap="square" lIns="0" tIns="12065" rIns="0" bIns="0" rtlCol="0">
            <a:spAutoFit/>
          </a:bodyPr>
          <a:lstStyle/>
          <a:p>
            <a:pPr marL="12700">
              <a:lnSpc>
                <a:spcPct val="100000"/>
              </a:lnSpc>
              <a:spcBef>
                <a:spcPts val="95"/>
              </a:spcBef>
            </a:pPr>
            <a:r>
              <a:rPr sz="4000" spc="5" dirty="0">
                <a:latin typeface="標楷體" panose="03000509000000000000" pitchFamily="65" charset="-120"/>
                <a:ea typeface="標楷體" panose="03000509000000000000" pitchFamily="65" charset="-120"/>
              </a:rPr>
              <a:t>從</a:t>
            </a:r>
            <a:r>
              <a:rPr sz="4000" spc="-10" dirty="0">
                <a:latin typeface="標楷體" panose="03000509000000000000" pitchFamily="65" charset="-120"/>
                <a:ea typeface="標楷體" panose="03000509000000000000" pitchFamily="65" charset="-120"/>
                <a:cs typeface="PMingLiU-ExtB"/>
              </a:rPr>
              <a:t>「</a:t>
            </a:r>
            <a:r>
              <a:rPr sz="4000" spc="5" dirty="0">
                <a:latin typeface="標楷體" panose="03000509000000000000" pitchFamily="65" charset="-120"/>
                <a:ea typeface="標楷體" panose="03000509000000000000" pitchFamily="65" charset="-120"/>
              </a:rPr>
              <a:t>退休</a:t>
            </a:r>
            <a:r>
              <a:rPr sz="4000" spc="-5" dirty="0">
                <a:latin typeface="標楷體" panose="03000509000000000000" pitchFamily="65" charset="-120"/>
                <a:ea typeface="標楷體" panose="03000509000000000000" pitchFamily="65" charset="-120"/>
                <a:cs typeface="PMingLiU-ExtB"/>
              </a:rPr>
              <a:t>」</a:t>
            </a:r>
            <a:r>
              <a:rPr sz="4000" spc="5" dirty="0">
                <a:latin typeface="標楷體" panose="03000509000000000000" pitchFamily="65" charset="-120"/>
                <a:ea typeface="標楷體" panose="03000509000000000000" pitchFamily="65" charset="-120"/>
              </a:rPr>
              <a:t>到</a:t>
            </a:r>
            <a:r>
              <a:rPr sz="4000" dirty="0">
                <a:latin typeface="標楷體" panose="03000509000000000000" pitchFamily="65" charset="-120"/>
                <a:ea typeface="標楷體" panose="03000509000000000000" pitchFamily="65" charset="-120"/>
              </a:rPr>
              <a:t>「</a:t>
            </a:r>
            <a:r>
              <a:rPr sz="4000" spc="-5" dirty="0">
                <a:latin typeface="標楷體" panose="03000509000000000000" pitchFamily="65" charset="-120"/>
                <a:ea typeface="標楷體" panose="03000509000000000000" pitchFamily="65" charset="-120"/>
              </a:rPr>
              <a:t>退</a:t>
            </a:r>
            <a:r>
              <a:rPr sz="4000" b="1" spc="5" dirty="0">
                <a:solidFill>
                  <a:srgbClr val="FF0000"/>
                </a:solidFill>
                <a:latin typeface="標楷體" panose="03000509000000000000" pitchFamily="65" charset="-120"/>
                <a:ea typeface="標楷體" panose="03000509000000000000" pitchFamily="65" charset="-120"/>
                <a:cs typeface="Microsoft YaHei UI"/>
              </a:rPr>
              <a:t>修</a:t>
            </a:r>
            <a:r>
              <a:rPr sz="4000" spc="-5" dirty="0">
                <a:latin typeface="標楷體" panose="03000509000000000000" pitchFamily="65" charset="-120"/>
                <a:ea typeface="標楷體" panose="03000509000000000000" pitchFamily="65" charset="-120"/>
              </a:rPr>
              <a:t>」</a:t>
            </a:r>
            <a:r>
              <a:rPr sz="4000" spc="5" dirty="0">
                <a:latin typeface="標楷體" panose="03000509000000000000" pitchFamily="65" charset="-120"/>
                <a:ea typeface="標楷體" panose="03000509000000000000" pitchFamily="65" charset="-120"/>
              </a:rPr>
              <a:t>的</a:t>
            </a:r>
            <a:r>
              <a:rPr sz="4000" spc="-5" dirty="0">
                <a:latin typeface="標楷體" panose="03000509000000000000" pitchFamily="65" charset="-120"/>
                <a:ea typeface="標楷體" panose="03000509000000000000" pitchFamily="65" charset="-120"/>
              </a:rPr>
              <a:t>黃金</a:t>
            </a:r>
            <a:r>
              <a:rPr sz="4000" spc="10" dirty="0">
                <a:latin typeface="標楷體" panose="03000509000000000000" pitchFamily="65" charset="-120"/>
                <a:ea typeface="標楷體" panose="03000509000000000000" pitchFamily="65" charset="-120"/>
              </a:rPr>
              <a:t>人</a:t>
            </a:r>
            <a:r>
              <a:rPr sz="4000" spc="-5" dirty="0">
                <a:latin typeface="標楷體" panose="03000509000000000000" pitchFamily="65" charset="-120"/>
                <a:ea typeface="標楷體" panose="03000509000000000000" pitchFamily="65" charset="-120"/>
              </a:rPr>
              <a:t>生</a:t>
            </a:r>
            <a:endParaRPr sz="4000" dirty="0">
              <a:latin typeface="標楷體" panose="03000509000000000000" pitchFamily="65" charset="-120"/>
              <a:ea typeface="標楷體" panose="03000509000000000000" pitchFamily="65" charset="-120"/>
              <a:cs typeface="Microsoft YaHei UI"/>
            </a:endParaRPr>
          </a:p>
        </p:txBody>
      </p:sp>
      <p:sp>
        <p:nvSpPr>
          <p:cNvPr id="7" name="object 6"/>
          <p:cNvSpPr/>
          <p:nvPr/>
        </p:nvSpPr>
        <p:spPr>
          <a:xfrm>
            <a:off x="1403603" y="5775591"/>
            <a:ext cx="6617082" cy="726402"/>
          </a:xfrm>
          <a:custGeom>
            <a:avLst/>
            <a:gdLst/>
            <a:ahLst/>
            <a:cxnLst/>
            <a:rect l="l" t="t" r="r" b="b"/>
            <a:pathLst>
              <a:path w="7740650" h="1200785">
                <a:moveTo>
                  <a:pt x="7740396" y="0"/>
                </a:moveTo>
                <a:lnTo>
                  <a:pt x="0" y="0"/>
                </a:lnTo>
                <a:lnTo>
                  <a:pt x="0" y="1200327"/>
                </a:lnTo>
                <a:lnTo>
                  <a:pt x="7740396" y="1200327"/>
                </a:lnTo>
                <a:lnTo>
                  <a:pt x="7740396" y="0"/>
                </a:lnTo>
                <a:close/>
              </a:path>
            </a:pathLst>
          </a:custGeom>
          <a:solidFill>
            <a:srgbClr val="FFFF00"/>
          </a:solidFill>
        </p:spPr>
        <p:txBody>
          <a:bodyPr wrap="square" lIns="0" tIns="0" rIns="0" bIns="0" rtlCol="0"/>
          <a:lstStyle/>
          <a:p>
            <a:r>
              <a:rPr lang="zh-TW" altLang="en-US" sz="4000" dirty="0" smtClean="0">
                <a:latin typeface="標楷體" panose="03000509000000000000" pitchFamily="65" charset="-120"/>
                <a:ea typeface="標楷體" panose="03000509000000000000" pitchFamily="65" charset="-120"/>
              </a:rPr>
              <a:t>「活躍老化 </a:t>
            </a:r>
            <a:r>
              <a:rPr lang="zh-TW" altLang="en-US" sz="4000" dirty="0">
                <a:latin typeface="標楷體" panose="03000509000000000000" pitchFamily="65" charset="-120"/>
                <a:ea typeface="標楷體" panose="03000509000000000000" pitchFamily="65" charset="-120"/>
              </a:rPr>
              <a:t>」</a:t>
            </a:r>
            <a:r>
              <a:rPr lang="zh-TW" altLang="en-US" sz="4000" dirty="0" smtClean="0">
                <a:latin typeface="標楷體" panose="03000509000000000000" pitchFamily="65" charset="-120"/>
                <a:ea typeface="標楷體" panose="03000509000000000000" pitchFamily="65" charset="-120"/>
              </a:rPr>
              <a:t>才是關鍵</a:t>
            </a:r>
            <a:r>
              <a:rPr lang="en-US" altLang="zh-TW" sz="4000" dirty="0" smtClean="0">
                <a:latin typeface="標楷體" panose="03000509000000000000" pitchFamily="65" charset="-120"/>
                <a:ea typeface="標楷體" panose="03000509000000000000" pitchFamily="65" charset="-120"/>
              </a:rPr>
              <a:t>!!!</a:t>
            </a:r>
            <a:endParaRPr sz="40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918750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a:spLocks noGrp="1"/>
          </p:cNvSpPr>
          <p:nvPr>
            <p:ph type="title"/>
          </p:nvPr>
        </p:nvSpPr>
        <p:spPr>
          <a:xfrm>
            <a:off x="798372" y="-76200"/>
            <a:ext cx="7568565" cy="1367682"/>
          </a:xfrm>
          <a:prstGeom prst="rect">
            <a:avLst/>
          </a:prstGeom>
        </p:spPr>
        <p:txBody>
          <a:bodyPr vert="horz" wrap="square" lIns="0" tIns="13335" rIns="0" bIns="0" rtlCol="0">
            <a:spAutoFit/>
          </a:bodyPr>
          <a:lstStyle/>
          <a:p>
            <a:pPr marL="12700">
              <a:lnSpc>
                <a:spcPct val="100000"/>
              </a:lnSpc>
              <a:spcBef>
                <a:spcPts val="105"/>
              </a:spcBef>
            </a:pPr>
            <a:r>
              <a:rPr lang="zh-TW" altLang="en-US" spc="5" dirty="0" smtClean="0">
                <a:latin typeface="標楷體" panose="03000509000000000000" pitchFamily="65" charset="-120"/>
                <a:ea typeface="標楷體" panose="03000509000000000000" pitchFamily="65" charset="-120"/>
              </a:rPr>
              <a:t>先來看看</a:t>
            </a:r>
            <a:r>
              <a:rPr lang="en-US" altLang="zh-TW" spc="5" dirty="0" smtClean="0">
                <a:latin typeface="標楷體" panose="03000509000000000000" pitchFamily="65" charset="-120"/>
                <a:ea typeface="標楷體" panose="03000509000000000000" pitchFamily="65" charset="-120"/>
              </a:rPr>
              <a:t>113</a:t>
            </a:r>
            <a:r>
              <a:rPr lang="zh-TW" altLang="en-US" spc="5" dirty="0" smtClean="0">
                <a:latin typeface="標楷體" panose="03000509000000000000" pitchFamily="65" charset="-120"/>
                <a:ea typeface="標楷體" panose="03000509000000000000" pitchFamily="65" charset="-120"/>
              </a:rPr>
              <a:t>年社工師高考作文題目所提到的時間銀行</a:t>
            </a:r>
            <a:endParaRPr dirty="0">
              <a:latin typeface="標楷體" panose="03000509000000000000" pitchFamily="65" charset="-120"/>
              <a:ea typeface="標楷體" panose="03000509000000000000" pitchFamily="65" charset="-12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524001"/>
            <a:ext cx="7134225" cy="4038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object 2"/>
          <p:cNvSpPr txBox="1">
            <a:spLocks/>
          </p:cNvSpPr>
          <p:nvPr/>
        </p:nvSpPr>
        <p:spPr>
          <a:xfrm>
            <a:off x="8164" y="0"/>
            <a:ext cx="609600" cy="2070439"/>
          </a:xfrm>
          <a:prstGeom prst="rect">
            <a:avLst/>
          </a:prstGeom>
          <a:solidFill>
            <a:schemeClr val="accent6">
              <a:lumMod val="60000"/>
              <a:lumOff val="40000"/>
            </a:schemeClr>
          </a:solidFill>
        </p:spPr>
        <p:txBody>
          <a:bodyPr vert="horz" wrap="square" lIns="0" tIns="13335" rIns="0" bIns="0" rtlCol="0">
            <a:spAutoFit/>
          </a:bodyPr>
          <a:lstStyle>
            <a:lvl1pPr>
              <a:defRPr sz="4400" b="0" i="0">
                <a:solidFill>
                  <a:schemeClr val="tx1"/>
                </a:solidFill>
                <a:latin typeface="SimSun"/>
                <a:ea typeface="+mj-ea"/>
                <a:cs typeface="SimSun"/>
              </a:defRPr>
            </a:lvl1pPr>
          </a:lstStyle>
          <a:p>
            <a:pPr marL="12700">
              <a:spcBef>
                <a:spcPts val="105"/>
              </a:spcBef>
            </a:pPr>
            <a:r>
              <a:rPr lang="zh-TW" altLang="en-US" kern="0" spc="5" dirty="0" smtClean="0">
                <a:latin typeface="標楷體" panose="03000509000000000000" pitchFamily="65" charset="-120"/>
                <a:ea typeface="標楷體" panose="03000509000000000000" pitchFamily="65" charset="-120"/>
              </a:rPr>
              <a:t>概</a:t>
            </a:r>
            <a:endParaRPr lang="en-US" altLang="zh-TW" kern="0" spc="5" dirty="0" smtClean="0">
              <a:latin typeface="標楷體" panose="03000509000000000000" pitchFamily="65" charset="-120"/>
              <a:ea typeface="標楷體" panose="03000509000000000000" pitchFamily="65" charset="-120"/>
            </a:endParaRPr>
          </a:p>
          <a:p>
            <a:pPr marL="12700">
              <a:spcBef>
                <a:spcPts val="105"/>
              </a:spcBef>
            </a:pPr>
            <a:r>
              <a:rPr lang="zh-TW" altLang="en-US" kern="0" spc="5" dirty="0" smtClean="0">
                <a:latin typeface="標楷體" panose="03000509000000000000" pitchFamily="65" charset="-120"/>
                <a:ea typeface="標楷體" panose="03000509000000000000" pitchFamily="65" charset="-120"/>
              </a:rPr>
              <a:t>念</a:t>
            </a:r>
            <a:endParaRPr lang="en-US" altLang="zh-TW" kern="0" spc="5" dirty="0" smtClean="0">
              <a:latin typeface="標楷體" panose="03000509000000000000" pitchFamily="65" charset="-120"/>
              <a:ea typeface="標楷體" panose="03000509000000000000" pitchFamily="65" charset="-120"/>
            </a:endParaRPr>
          </a:p>
          <a:p>
            <a:pPr marL="12700">
              <a:spcBef>
                <a:spcPts val="105"/>
              </a:spcBef>
            </a:pPr>
            <a:r>
              <a:rPr lang="zh-TW" altLang="en-US" kern="0" spc="5" dirty="0" smtClean="0">
                <a:latin typeface="標楷體" panose="03000509000000000000" pitchFamily="65" charset="-120"/>
                <a:ea typeface="標楷體" panose="03000509000000000000" pitchFamily="65" charset="-120"/>
              </a:rPr>
              <a:t>篇</a:t>
            </a:r>
            <a:endParaRPr lang="zh-TW" altLang="en-US" kern="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873296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62000" y="304800"/>
            <a:ext cx="7086600" cy="677108"/>
          </a:xfrm>
        </p:spPr>
        <p:txBody>
          <a:bodyPr/>
          <a:lstStyle/>
          <a:p>
            <a:r>
              <a:rPr lang="zh-TW" altLang="en-US" dirty="0" smtClean="0">
                <a:latin typeface="標楷體" panose="03000509000000000000" pitchFamily="65" charset="-120"/>
                <a:ea typeface="標楷體" panose="03000509000000000000" pitchFamily="65" charset="-120"/>
              </a:rPr>
              <a:t>前面這</a:t>
            </a:r>
            <a:r>
              <a:rPr lang="zh-TW" altLang="en-US" dirty="0">
                <a:latin typeface="標楷體" panose="03000509000000000000" pitchFamily="65" charset="-120"/>
                <a:ea typeface="標楷體" panose="03000509000000000000" pitchFamily="65" charset="-120"/>
              </a:rPr>
              <a:t>段</a:t>
            </a:r>
            <a:r>
              <a:rPr lang="zh-TW" altLang="en-US" dirty="0" smtClean="0">
                <a:latin typeface="標楷體" panose="03000509000000000000" pitchFamily="65" charset="-120"/>
                <a:ea typeface="標楷體" panose="03000509000000000000" pitchFamily="65" charset="-120"/>
              </a:rPr>
              <a:t>文字</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我們看到了</a:t>
            </a:r>
            <a:r>
              <a:rPr lang="en-US" altLang="zh-TW" dirty="0" smtClean="0">
                <a:latin typeface="標楷體" panose="03000509000000000000" pitchFamily="65" charset="-120"/>
                <a:ea typeface="標楷體" panose="03000509000000000000" pitchFamily="65" charset="-120"/>
              </a:rPr>
              <a:t>?</a:t>
            </a:r>
            <a:endParaRPr lang="zh-TW" altLang="en-US" dirty="0">
              <a:latin typeface="標楷體" panose="03000509000000000000" pitchFamily="65" charset="-120"/>
              <a:ea typeface="標楷體" panose="03000509000000000000" pitchFamily="65" charset="-120"/>
            </a:endParaRPr>
          </a:p>
        </p:txBody>
      </p:sp>
      <p:sp>
        <p:nvSpPr>
          <p:cNvPr id="3" name="文字版面配置區 2"/>
          <p:cNvSpPr txBox="1">
            <a:spLocks/>
          </p:cNvSpPr>
          <p:nvPr/>
        </p:nvSpPr>
        <p:spPr>
          <a:xfrm>
            <a:off x="914400" y="1583872"/>
            <a:ext cx="7391400" cy="4062651"/>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altLang="zh-TW" sz="4400" kern="0" dirty="0" smtClean="0">
                <a:solidFill>
                  <a:sysClr val="windowText" lastClr="000000"/>
                </a:solidFill>
                <a:latin typeface="標楷體" panose="03000509000000000000" pitchFamily="65" charset="-120"/>
                <a:ea typeface="標楷體" panose="03000509000000000000" pitchFamily="65" charset="-120"/>
              </a:rPr>
              <a:t>1.</a:t>
            </a:r>
            <a:r>
              <a:rPr lang="zh-TW" altLang="en-US" sz="4400" kern="0" dirty="0" smtClean="0">
                <a:solidFill>
                  <a:sysClr val="windowText" lastClr="000000"/>
                </a:solidFill>
                <a:latin typeface="標楷體" panose="03000509000000000000" pitchFamily="65" charset="-120"/>
                <a:ea typeface="標楷體" panose="03000509000000000000" pitchFamily="65" charset="-120"/>
              </a:rPr>
              <a:t>儲存</a:t>
            </a:r>
            <a:r>
              <a:rPr lang="zh-TW" altLang="en-US" sz="4400" u="sng" kern="0" dirty="0" smtClean="0">
                <a:solidFill>
                  <a:sysClr val="windowText" lastClr="000000"/>
                </a:solidFill>
                <a:latin typeface="標楷體" panose="03000509000000000000" pitchFamily="65" charset="-120"/>
                <a:ea typeface="標楷體" panose="03000509000000000000" pitchFamily="65" charset="-120"/>
              </a:rPr>
              <a:t>照顧老人</a:t>
            </a:r>
            <a:r>
              <a:rPr lang="zh-TW" altLang="en-US" sz="4400" kern="0" dirty="0" smtClean="0">
                <a:solidFill>
                  <a:sysClr val="windowText" lastClr="000000"/>
                </a:solidFill>
                <a:latin typeface="標楷體" panose="03000509000000000000" pitchFamily="65" charset="-120"/>
                <a:ea typeface="標楷體" panose="03000509000000000000" pitchFamily="65" charset="-120"/>
              </a:rPr>
              <a:t>的</a:t>
            </a:r>
            <a:r>
              <a:rPr lang="zh-TW" altLang="en-US" sz="4400" u="sng" kern="0" dirty="0" smtClean="0">
                <a:solidFill>
                  <a:sysClr val="windowText" lastClr="000000"/>
                </a:solidFill>
                <a:latin typeface="標楷體" panose="03000509000000000000" pitchFamily="65" charset="-120"/>
                <a:ea typeface="標楷體" panose="03000509000000000000" pitchFamily="65" charset="-120"/>
              </a:rPr>
              <a:t>時間</a:t>
            </a:r>
            <a:endParaRPr lang="en-US" altLang="zh-TW" sz="4400" u="sng" kern="0" dirty="0" smtClean="0">
              <a:solidFill>
                <a:sysClr val="windowText" lastClr="000000"/>
              </a:solidFill>
              <a:latin typeface="標楷體" panose="03000509000000000000" pitchFamily="65" charset="-120"/>
              <a:ea typeface="標楷體" panose="03000509000000000000" pitchFamily="65" charset="-120"/>
            </a:endParaRPr>
          </a:p>
          <a:p>
            <a:r>
              <a:rPr lang="zh-TW" altLang="en-US" sz="4400" kern="0" dirty="0">
                <a:solidFill>
                  <a:sysClr val="windowText" lastClr="000000"/>
                </a:solidFill>
                <a:latin typeface="標楷體" panose="03000509000000000000" pitchFamily="65" charset="-120"/>
                <a:ea typeface="標楷體" panose="03000509000000000000" pitchFamily="65" charset="-120"/>
              </a:rPr>
              <a:t> </a:t>
            </a:r>
            <a:r>
              <a:rPr lang="zh-TW" altLang="en-US" sz="4400" kern="0" dirty="0" smtClean="0">
                <a:solidFill>
                  <a:sysClr val="windowText" lastClr="000000"/>
                </a:solidFill>
                <a:latin typeface="標楷體" panose="03000509000000000000" pitchFamily="65" charset="-120"/>
                <a:ea typeface="標楷體" panose="03000509000000000000" pitchFamily="65" charset="-120"/>
              </a:rPr>
              <a:t>     執行內容  </a:t>
            </a:r>
            <a:r>
              <a:rPr lang="zh-TW" altLang="en-US" sz="4400" b="1" kern="0" dirty="0" smtClean="0">
                <a:solidFill>
                  <a:srgbClr val="FF0000"/>
                </a:solidFill>
                <a:latin typeface="標楷體" panose="03000509000000000000" pitchFamily="65" charset="-120"/>
                <a:ea typeface="標楷體" panose="03000509000000000000" pitchFamily="65" charset="-120"/>
              </a:rPr>
              <a:t>計算單位</a:t>
            </a:r>
            <a:endParaRPr lang="en-US" altLang="zh-TW" sz="4400" b="1" kern="0" dirty="0" smtClean="0">
              <a:solidFill>
                <a:srgbClr val="FF0000"/>
              </a:solidFill>
              <a:latin typeface="標楷體" panose="03000509000000000000" pitchFamily="65" charset="-120"/>
              <a:ea typeface="標楷體" panose="03000509000000000000" pitchFamily="65" charset="-120"/>
            </a:endParaRPr>
          </a:p>
          <a:p>
            <a:r>
              <a:rPr lang="en-US" altLang="zh-TW" sz="4400" kern="0" dirty="0" smtClean="0">
                <a:solidFill>
                  <a:sysClr val="windowText" lastClr="000000"/>
                </a:solidFill>
                <a:latin typeface="標楷體" panose="03000509000000000000" pitchFamily="65" charset="-120"/>
                <a:ea typeface="標楷體" panose="03000509000000000000" pitchFamily="65" charset="-120"/>
              </a:rPr>
              <a:t>2.</a:t>
            </a:r>
            <a:r>
              <a:rPr lang="zh-TW" altLang="en-US" sz="4400" kern="0" dirty="0" smtClean="0">
                <a:solidFill>
                  <a:sysClr val="windowText" lastClr="000000"/>
                </a:solidFill>
                <a:latin typeface="標楷體" panose="03000509000000000000" pitchFamily="65" charset="-120"/>
                <a:ea typeface="標楷體" panose="03000509000000000000" pitchFamily="65" charset="-120"/>
              </a:rPr>
              <a:t>服務時數先儲存再領取</a:t>
            </a:r>
            <a:endParaRPr lang="en-US" altLang="zh-TW" sz="4400" kern="0" dirty="0" smtClean="0">
              <a:solidFill>
                <a:sysClr val="windowText" lastClr="000000"/>
              </a:solidFill>
              <a:latin typeface="標楷體" panose="03000509000000000000" pitchFamily="65" charset="-120"/>
              <a:ea typeface="標楷體" panose="03000509000000000000" pitchFamily="65" charset="-120"/>
            </a:endParaRPr>
          </a:p>
          <a:p>
            <a:endParaRPr lang="en-US" altLang="zh-TW" sz="4400" kern="0" dirty="0">
              <a:solidFill>
                <a:sysClr val="windowText" lastClr="000000"/>
              </a:solidFill>
              <a:latin typeface="標楷體" panose="03000509000000000000" pitchFamily="65" charset="-120"/>
              <a:ea typeface="標楷體" panose="03000509000000000000" pitchFamily="65" charset="-120"/>
            </a:endParaRPr>
          </a:p>
          <a:p>
            <a:r>
              <a:rPr lang="en-US" altLang="zh-TW" sz="4400" kern="0" dirty="0" smtClean="0">
                <a:solidFill>
                  <a:sysClr val="windowText" lastClr="000000"/>
                </a:solidFill>
                <a:latin typeface="標楷體" panose="03000509000000000000" pitchFamily="65" charset="-120"/>
                <a:ea typeface="標楷體" panose="03000509000000000000" pitchFamily="65" charset="-120"/>
              </a:rPr>
              <a:t>3.</a:t>
            </a:r>
            <a:r>
              <a:rPr lang="zh-TW" altLang="en-US" sz="4400" kern="0" dirty="0" smtClean="0">
                <a:solidFill>
                  <a:sysClr val="windowText" lastClr="000000"/>
                </a:solidFill>
                <a:latin typeface="標楷體" panose="03000509000000000000" pitchFamily="65" charset="-120"/>
                <a:ea typeface="標楷體" panose="03000509000000000000" pitchFamily="65" charset="-120"/>
              </a:rPr>
              <a:t>有一個媒合的</a:t>
            </a:r>
            <a:r>
              <a:rPr lang="zh-TW" altLang="en-US" sz="4400" b="1" u="sng" kern="0" dirty="0" smtClean="0">
                <a:solidFill>
                  <a:srgbClr val="FF0000"/>
                </a:solidFill>
                <a:latin typeface="標楷體" panose="03000509000000000000" pitchFamily="65" charset="-120"/>
                <a:ea typeface="標楷體" panose="03000509000000000000" pitchFamily="65" charset="-120"/>
              </a:rPr>
              <a:t>機制</a:t>
            </a:r>
            <a:r>
              <a:rPr lang="en-US" altLang="zh-TW" sz="4400" kern="0" dirty="0" smtClean="0">
                <a:solidFill>
                  <a:sysClr val="windowText" lastClr="000000"/>
                </a:solidFill>
                <a:latin typeface="標楷體" panose="03000509000000000000" pitchFamily="65" charset="-120"/>
                <a:ea typeface="標楷體" panose="03000509000000000000" pitchFamily="65" charset="-120"/>
              </a:rPr>
              <a:t>(</a:t>
            </a:r>
            <a:r>
              <a:rPr lang="zh-TW" altLang="en-US" sz="4400" kern="0" dirty="0" smtClean="0">
                <a:solidFill>
                  <a:sysClr val="windowText" lastClr="000000"/>
                </a:solidFill>
                <a:latin typeface="標楷體" panose="03000509000000000000" pitchFamily="65" charset="-120"/>
                <a:ea typeface="標楷體" panose="03000509000000000000" pitchFamily="65" charset="-120"/>
              </a:rPr>
              <a:t>銀行</a:t>
            </a:r>
            <a:r>
              <a:rPr lang="en-US" altLang="zh-TW" sz="4400" kern="0" dirty="0" smtClean="0">
                <a:solidFill>
                  <a:sysClr val="windowText" lastClr="000000"/>
                </a:solidFill>
                <a:latin typeface="標楷體" panose="03000509000000000000" pitchFamily="65" charset="-120"/>
                <a:ea typeface="標楷體" panose="03000509000000000000" pitchFamily="65" charset="-120"/>
              </a:rPr>
              <a:t>)</a:t>
            </a:r>
          </a:p>
          <a:p>
            <a:r>
              <a:rPr lang="zh-TW" altLang="en-US" sz="4400" kern="0" dirty="0">
                <a:solidFill>
                  <a:sysClr val="windowText" lastClr="000000"/>
                </a:solidFill>
                <a:latin typeface="標楷體" panose="03000509000000000000" pitchFamily="65" charset="-120"/>
                <a:ea typeface="標楷體" panose="03000509000000000000" pitchFamily="65" charset="-120"/>
              </a:rPr>
              <a:t> </a:t>
            </a:r>
            <a:r>
              <a:rPr lang="zh-TW" altLang="en-US" sz="4400" kern="0" dirty="0" smtClean="0">
                <a:solidFill>
                  <a:sysClr val="windowText" lastClr="000000"/>
                </a:solidFill>
                <a:latin typeface="標楷體" panose="03000509000000000000" pitchFamily="65" charset="-120"/>
                <a:ea typeface="標楷體" panose="03000509000000000000" pitchFamily="65" charset="-120"/>
              </a:rPr>
              <a:t> </a:t>
            </a:r>
            <a:r>
              <a:rPr lang="en-US" altLang="zh-TW" sz="4400" kern="0" dirty="0" smtClean="0">
                <a:solidFill>
                  <a:sysClr val="windowText" lastClr="000000"/>
                </a:solidFill>
                <a:latin typeface="標楷體" panose="03000509000000000000" pitchFamily="65" charset="-120"/>
                <a:ea typeface="標楷體" panose="03000509000000000000" pitchFamily="65" charset="-120"/>
              </a:rPr>
              <a:t>(</a:t>
            </a:r>
            <a:r>
              <a:rPr lang="zh-TW" altLang="en-US" sz="4400" kern="0" dirty="0" smtClean="0">
                <a:solidFill>
                  <a:sysClr val="windowText" lastClr="000000"/>
                </a:solidFill>
                <a:latin typeface="標楷體" panose="03000509000000000000" pitchFamily="65" charset="-120"/>
                <a:ea typeface="標楷體" panose="03000509000000000000" pitchFamily="65" charset="-120"/>
              </a:rPr>
              <a:t>消費者與經營者的心態</a:t>
            </a:r>
            <a:r>
              <a:rPr lang="en-US" altLang="zh-TW" sz="4400" kern="0" dirty="0" smtClean="0">
                <a:solidFill>
                  <a:sysClr val="windowText" lastClr="000000"/>
                </a:solidFill>
                <a:latin typeface="標楷體" panose="03000509000000000000" pitchFamily="65" charset="-120"/>
                <a:ea typeface="標楷體" panose="03000509000000000000" pitchFamily="65" charset="-120"/>
              </a:rPr>
              <a:t>?)</a:t>
            </a:r>
            <a:r>
              <a:rPr lang="zh-TW" altLang="en-US" sz="4400" kern="0" dirty="0" smtClean="0">
                <a:solidFill>
                  <a:sysClr val="windowText" lastClr="000000"/>
                </a:solidFill>
                <a:latin typeface="標楷體" panose="03000509000000000000" pitchFamily="65" charset="-120"/>
                <a:ea typeface="標楷體" panose="03000509000000000000" pitchFamily="65" charset="-120"/>
              </a:rPr>
              <a:t>   </a:t>
            </a:r>
            <a:r>
              <a:rPr lang="zh-TW" altLang="en-US" sz="4800" kern="0" dirty="0" smtClean="0">
                <a:solidFill>
                  <a:sysClr val="windowText" lastClr="000000"/>
                </a:solidFill>
                <a:latin typeface="標楷體" panose="03000509000000000000" pitchFamily="65" charset="-120"/>
                <a:ea typeface="標楷體" panose="03000509000000000000" pitchFamily="65" charset="-120"/>
              </a:rPr>
              <a:t> </a:t>
            </a:r>
            <a:endParaRPr lang="en-US" altLang="zh-TW" sz="4800" kern="0" dirty="0" smtClean="0">
              <a:solidFill>
                <a:sysClr val="windowText" lastClr="0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795363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9144000" cy="6800850"/>
          </a:xfrm>
          <a:prstGeom prst="rect">
            <a:avLst/>
          </a:prstGeom>
        </p:spPr>
      </p:pic>
    </p:spTree>
    <p:extLst>
      <p:ext uri="{BB962C8B-B14F-4D97-AF65-F5344CB8AC3E}">
        <p14:creationId xmlns:p14="http://schemas.microsoft.com/office/powerpoint/2010/main" val="1158927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85800" y="76200"/>
            <a:ext cx="7848600" cy="1107996"/>
          </a:xfrm>
        </p:spPr>
        <p:txBody>
          <a:bodyPr/>
          <a:lstStyle/>
          <a:p>
            <a:r>
              <a:rPr lang="zh-TW" altLang="en-US" sz="3600" dirty="0" smtClean="0">
                <a:latin typeface="標楷體" panose="03000509000000000000" pitchFamily="65" charset="-120"/>
                <a:ea typeface="標楷體" panose="03000509000000000000" pitchFamily="65" charset="-120"/>
              </a:rPr>
              <a:t>衛生福利部</a:t>
            </a:r>
            <a:r>
              <a:rPr lang="en-US" altLang="zh-TW" sz="3600" dirty="0" smtClean="0">
                <a:latin typeface="標楷體" panose="03000509000000000000" pitchFamily="65" charset="-120"/>
                <a:ea typeface="標楷體" panose="03000509000000000000" pitchFamily="65" charset="-120"/>
              </a:rPr>
              <a:t/>
            </a:r>
            <a:br>
              <a:rPr lang="en-US" altLang="zh-TW" sz="3600" dirty="0" smtClean="0">
                <a:latin typeface="標楷體" panose="03000509000000000000" pitchFamily="65" charset="-120"/>
                <a:ea typeface="標楷體" panose="03000509000000000000" pitchFamily="65" charset="-120"/>
              </a:rPr>
            </a:br>
            <a:r>
              <a:rPr lang="en-US" altLang="zh-TW" sz="3600" dirty="0" smtClean="0">
                <a:latin typeface="標楷體" panose="03000509000000000000" pitchFamily="65" charset="-120"/>
                <a:ea typeface="標楷體" panose="03000509000000000000" pitchFamily="65" charset="-120"/>
              </a:rPr>
              <a:t>113 </a:t>
            </a:r>
            <a:r>
              <a:rPr lang="zh-TW" altLang="en-US" sz="3600" dirty="0">
                <a:latin typeface="標楷體" panose="03000509000000000000" pitchFamily="65" charset="-120"/>
                <a:ea typeface="標楷體" panose="03000509000000000000" pitchFamily="65" charset="-120"/>
              </a:rPr>
              <a:t>年時間銀行多元培力精進補助計畫 </a:t>
            </a:r>
          </a:p>
        </p:txBody>
      </p:sp>
      <p:sp>
        <p:nvSpPr>
          <p:cNvPr id="3" name="矩形 2"/>
          <p:cNvSpPr/>
          <p:nvPr/>
        </p:nvSpPr>
        <p:spPr>
          <a:xfrm>
            <a:off x="1205593" y="1600200"/>
            <a:ext cx="6871607" cy="3539430"/>
          </a:xfrm>
          <a:prstGeom prst="rect">
            <a:avLst/>
          </a:prstGeom>
        </p:spPr>
        <p:txBody>
          <a:bodyPr wrap="square">
            <a:spAutoFit/>
          </a:bodyPr>
          <a:lstStyle/>
          <a:p>
            <a:r>
              <a:rPr lang="zh-TW" altLang="en-US" sz="3200" dirty="0" smtClean="0">
                <a:latin typeface="標楷體" panose="03000509000000000000" pitchFamily="65" charset="-120"/>
                <a:ea typeface="標楷體" panose="03000509000000000000" pitchFamily="65" charset="-120"/>
              </a:rPr>
              <a:t>本</a:t>
            </a:r>
            <a:r>
              <a:rPr lang="zh-TW" altLang="en-US" sz="3200" dirty="0">
                <a:latin typeface="標楷體" panose="03000509000000000000" pitchFamily="65" charset="-120"/>
                <a:ea typeface="標楷體" panose="03000509000000000000" pitchFamily="65" charset="-120"/>
              </a:rPr>
              <a:t>計畫鼓勵民間辦理時間銀行方案，惟團體</a:t>
            </a:r>
            <a:r>
              <a:rPr lang="zh-TW" altLang="en-US" sz="3200" b="1" dirty="0">
                <a:solidFill>
                  <a:srgbClr val="C00000"/>
                </a:solidFill>
                <a:latin typeface="標楷體" panose="03000509000000000000" pitchFamily="65" charset="-120"/>
                <a:ea typeface="標楷體" panose="03000509000000000000" pitchFamily="65" charset="-120"/>
              </a:rPr>
              <a:t>交換標</a:t>
            </a:r>
            <a:r>
              <a:rPr lang="zh-TW" altLang="en-US" sz="3200" b="1" dirty="0" smtClean="0">
                <a:solidFill>
                  <a:srgbClr val="C00000"/>
                </a:solidFill>
                <a:latin typeface="標楷體" panose="03000509000000000000" pitchFamily="65" charset="-120"/>
                <a:ea typeface="標楷體" panose="03000509000000000000" pitchFamily="65" charset="-120"/>
              </a:rPr>
              <a:t>的</a:t>
            </a:r>
            <a:r>
              <a:rPr lang="zh-TW" altLang="en-US" sz="3200" dirty="0" smtClean="0">
                <a:latin typeface="標楷體" panose="03000509000000000000" pitchFamily="65" charset="-120"/>
                <a:ea typeface="標楷體" panose="03000509000000000000" pitchFamily="65" charset="-120"/>
              </a:rPr>
              <a:t>之多</a:t>
            </a:r>
            <a:r>
              <a:rPr lang="zh-TW" altLang="en-US" sz="3200" dirty="0">
                <a:latin typeface="標楷體" panose="03000509000000000000" pitchFamily="65" charset="-120"/>
                <a:ea typeface="標楷體" panose="03000509000000000000" pitchFamily="65" charset="-120"/>
              </a:rPr>
              <a:t>元設計必須建立在互助互惠之核心價值上，並推動</a:t>
            </a:r>
            <a:r>
              <a:rPr lang="zh-TW" altLang="en-US" sz="3200" b="1" dirty="0">
                <a:solidFill>
                  <a:srgbClr val="C00000"/>
                </a:solidFill>
                <a:latin typeface="標楷體" panose="03000509000000000000" pitchFamily="65" charset="-120"/>
                <a:ea typeface="標楷體" panose="03000509000000000000" pitchFamily="65" charset="-120"/>
              </a:rPr>
              <a:t>團體</a:t>
            </a:r>
            <a:r>
              <a:rPr lang="zh-TW" altLang="en-US" sz="3200" b="1" dirty="0" smtClean="0">
                <a:solidFill>
                  <a:srgbClr val="C00000"/>
                </a:solidFill>
                <a:latin typeface="標楷體" panose="03000509000000000000" pitchFamily="65" charset="-120"/>
                <a:ea typeface="標楷體" panose="03000509000000000000" pitchFamily="65" charset="-120"/>
              </a:rPr>
              <a:t>會員</a:t>
            </a:r>
            <a:r>
              <a:rPr lang="zh-TW" altLang="en-US" sz="3200" b="1" dirty="0">
                <a:solidFill>
                  <a:srgbClr val="C00000"/>
                </a:solidFill>
                <a:latin typeface="標楷體" panose="03000509000000000000" pitchFamily="65" charset="-120"/>
                <a:ea typeface="標楷體" panose="03000509000000000000" pitchFamily="65" charset="-120"/>
              </a:rPr>
              <a:t>制</a:t>
            </a:r>
            <a:r>
              <a:rPr lang="zh-TW" altLang="en-US" sz="3200" dirty="0">
                <a:latin typeface="標楷體" panose="03000509000000000000" pitchFamily="65" charset="-120"/>
                <a:ea typeface="標楷體" panose="03000509000000000000" pitchFamily="65" charset="-120"/>
              </a:rPr>
              <a:t>，以</a:t>
            </a:r>
            <a:r>
              <a:rPr lang="zh-TW" altLang="en-US" sz="3200" b="1" dirty="0">
                <a:solidFill>
                  <a:srgbClr val="C00000"/>
                </a:solidFill>
                <a:latin typeface="標楷體" panose="03000509000000000000" pitchFamily="65" charset="-120"/>
                <a:ea typeface="標楷體" panose="03000509000000000000" pitchFamily="65" charset="-120"/>
              </a:rPr>
              <a:t>區隔志願服務</a:t>
            </a:r>
            <a:r>
              <a:rPr lang="zh-TW" altLang="en-US" sz="3200" dirty="0">
                <a:latin typeface="標楷體" panose="03000509000000000000" pitchFamily="65" charset="-120"/>
                <a:ea typeface="標楷體" panose="03000509000000000000" pitchFamily="65" charset="-120"/>
              </a:rPr>
              <a:t>，另須結合雲端與數位科技，</a:t>
            </a:r>
            <a:r>
              <a:rPr lang="zh-TW" altLang="en-US" sz="3200" b="1" dirty="0">
                <a:solidFill>
                  <a:srgbClr val="C00000"/>
                </a:solidFill>
                <a:latin typeface="標楷體" panose="03000509000000000000" pitchFamily="65" charset="-120"/>
                <a:ea typeface="標楷體" panose="03000509000000000000" pitchFamily="65" charset="-120"/>
              </a:rPr>
              <a:t>強化及</a:t>
            </a:r>
            <a:r>
              <a:rPr lang="zh-TW" altLang="en-US" sz="3200" b="1" dirty="0" smtClean="0">
                <a:solidFill>
                  <a:srgbClr val="C00000"/>
                </a:solidFill>
                <a:latin typeface="標楷體" panose="03000509000000000000" pitchFamily="65" charset="-120"/>
                <a:ea typeface="標楷體" panose="03000509000000000000" pitchFamily="65" charset="-120"/>
              </a:rPr>
              <a:t>培訓</a:t>
            </a:r>
            <a:r>
              <a:rPr lang="zh-TW" altLang="en-US" sz="3200" b="1" dirty="0">
                <a:solidFill>
                  <a:srgbClr val="C00000"/>
                </a:solidFill>
                <a:latin typeface="標楷體" panose="03000509000000000000" pitchFamily="65" charset="-120"/>
                <a:ea typeface="標楷體" panose="03000509000000000000" pitchFamily="65" charset="-120"/>
              </a:rPr>
              <a:t>參與會員之相關技能</a:t>
            </a:r>
            <a:r>
              <a:rPr lang="zh-TW" altLang="en-US" sz="3200" dirty="0">
                <a:latin typeface="標楷體" panose="03000509000000000000" pitchFamily="65" charset="-120"/>
                <a:ea typeface="標楷體" panose="03000509000000000000" pitchFamily="65" charset="-120"/>
              </a:rPr>
              <a:t>，以利跨世代非工作人力產生循環</a:t>
            </a:r>
            <a:r>
              <a:rPr lang="zh-TW" altLang="en-US" sz="3200" dirty="0" smtClean="0">
                <a:latin typeface="標楷體" panose="03000509000000000000" pitchFamily="65" charset="-120"/>
                <a:ea typeface="標楷體" panose="03000509000000000000" pitchFamily="65" charset="-120"/>
              </a:rPr>
              <a:t>互惠效果</a:t>
            </a:r>
            <a:r>
              <a:rPr lang="zh-TW" altLang="en-US" sz="3200" dirty="0">
                <a:latin typeface="標楷體" panose="03000509000000000000" pitchFamily="65" charset="-120"/>
                <a:ea typeface="標楷體" panose="03000509000000000000" pitchFamily="65" charset="-120"/>
              </a:rPr>
              <a:t>。</a:t>
            </a:r>
          </a:p>
        </p:txBody>
      </p:sp>
    </p:spTree>
    <p:extLst>
      <p:ext uri="{BB962C8B-B14F-4D97-AF65-F5344CB8AC3E}">
        <p14:creationId xmlns:p14="http://schemas.microsoft.com/office/powerpoint/2010/main" val="2686520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9144000" cy="6800850"/>
          </a:xfrm>
          <a:prstGeom prst="rect">
            <a:avLst/>
          </a:prstGeom>
        </p:spPr>
      </p:pic>
    </p:spTree>
    <p:extLst>
      <p:ext uri="{BB962C8B-B14F-4D97-AF65-F5344CB8AC3E}">
        <p14:creationId xmlns:p14="http://schemas.microsoft.com/office/powerpoint/2010/main" val="2964458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49248" y="1487227"/>
            <a:ext cx="7389495" cy="4033027"/>
          </a:xfrm>
          <a:prstGeom prst="rect">
            <a:avLst/>
          </a:prstGeom>
        </p:spPr>
        <p:txBody>
          <a:bodyPr vert="horz" wrap="square" lIns="0" tIns="12700" rIns="0" bIns="0" rtlCol="0">
            <a:spAutoFit/>
          </a:bodyPr>
          <a:lstStyle/>
          <a:p>
            <a:pPr marL="471170" marR="963930" indent="-471170">
              <a:lnSpc>
                <a:spcPct val="121700"/>
              </a:lnSpc>
              <a:spcBef>
                <a:spcPts val="100"/>
              </a:spcBef>
              <a:buSzPct val="97222"/>
              <a:buAutoNum type="arabicPeriod"/>
              <a:tabLst>
                <a:tab pos="471170" algn="l"/>
              </a:tabLst>
            </a:pPr>
            <a:r>
              <a:rPr sz="3600" dirty="0" err="1" smtClean="0">
                <a:latin typeface="標楷體" panose="03000509000000000000" pitchFamily="65" charset="-120"/>
                <a:ea typeface="標楷體" panose="03000509000000000000" pitchFamily="65" charset="-120"/>
                <a:cs typeface="SimSun"/>
              </a:rPr>
              <a:t>儲存與領取的不是「時間</a:t>
            </a:r>
            <a:r>
              <a:rPr sz="3600" dirty="0" smtClean="0">
                <a:latin typeface="標楷體" panose="03000509000000000000" pitchFamily="65" charset="-120"/>
                <a:ea typeface="標楷體" panose="03000509000000000000" pitchFamily="65" charset="-120"/>
                <a:cs typeface="SimSun"/>
              </a:rPr>
              <a:t>」， </a:t>
            </a:r>
            <a:r>
              <a:rPr sz="3600" dirty="0" err="1" smtClean="0">
                <a:latin typeface="標楷體" panose="03000509000000000000" pitchFamily="65" charset="-120"/>
                <a:ea typeface="標楷體" panose="03000509000000000000" pitchFamily="65" charset="-120"/>
                <a:cs typeface="SimSun"/>
              </a:rPr>
              <a:t>而是</a:t>
            </a:r>
            <a:r>
              <a:rPr sz="3600" spc="-5" dirty="0" err="1" smtClean="0">
                <a:latin typeface="標楷體" panose="03000509000000000000" pitchFamily="65" charset="-120"/>
                <a:ea typeface="標楷體" panose="03000509000000000000" pitchFamily="65" charset="-120"/>
                <a:cs typeface="SimSun"/>
              </a:rPr>
              <a:t>「</a:t>
            </a:r>
            <a:r>
              <a:rPr sz="3600" dirty="0" err="1" smtClean="0">
                <a:solidFill>
                  <a:srgbClr val="C00000"/>
                </a:solidFill>
                <a:latin typeface="標楷體" panose="03000509000000000000" pitchFamily="65" charset="-120"/>
                <a:ea typeface="標楷體" panose="03000509000000000000" pitchFamily="65" charset="-120"/>
                <a:cs typeface="SimSun"/>
              </a:rPr>
              <a:t>服</a:t>
            </a:r>
            <a:r>
              <a:rPr sz="3600" spc="-5" dirty="0" err="1" smtClean="0">
                <a:solidFill>
                  <a:srgbClr val="C00000"/>
                </a:solidFill>
                <a:latin typeface="標楷體" panose="03000509000000000000" pitchFamily="65" charset="-120"/>
                <a:ea typeface="標楷體" panose="03000509000000000000" pitchFamily="65" charset="-120"/>
                <a:cs typeface="SimSun"/>
              </a:rPr>
              <a:t>務</a:t>
            </a:r>
            <a:r>
              <a:rPr sz="3600" dirty="0" smtClean="0">
                <a:latin typeface="標楷體" panose="03000509000000000000" pitchFamily="65" charset="-120"/>
                <a:ea typeface="標楷體" panose="03000509000000000000" pitchFamily="65" charset="-120"/>
                <a:cs typeface="SimSun"/>
              </a:rPr>
              <a:t>(</a:t>
            </a:r>
            <a:r>
              <a:rPr sz="3600" dirty="0" err="1" smtClean="0">
                <a:latin typeface="標楷體" panose="03000509000000000000" pitchFamily="65" charset="-120"/>
                <a:ea typeface="標楷體" panose="03000509000000000000" pitchFamily="65" charset="-120"/>
                <a:cs typeface="SimSun"/>
              </a:rPr>
              <a:t>助人行</a:t>
            </a:r>
            <a:r>
              <a:rPr sz="3600" spc="-10" dirty="0" err="1" smtClean="0">
                <a:latin typeface="標楷體" panose="03000509000000000000" pitchFamily="65" charset="-120"/>
                <a:ea typeface="標楷體" panose="03000509000000000000" pitchFamily="65" charset="-120"/>
                <a:cs typeface="SimSun"/>
              </a:rPr>
              <a:t>為</a:t>
            </a:r>
            <a:r>
              <a:rPr sz="3600" dirty="0" smtClean="0">
                <a:latin typeface="標楷體" panose="03000509000000000000" pitchFamily="65" charset="-120"/>
                <a:ea typeface="標楷體" panose="03000509000000000000" pitchFamily="65" charset="-120"/>
                <a:cs typeface="SimSun"/>
              </a:rPr>
              <a:t>)」。</a:t>
            </a:r>
          </a:p>
          <a:p>
            <a:pPr marL="513715" marR="5080" indent="-457200">
              <a:lnSpc>
                <a:spcPct val="120000"/>
              </a:lnSpc>
              <a:buSzPct val="97222"/>
              <a:buAutoNum type="arabicPeriod"/>
              <a:tabLst>
                <a:tab pos="514984" algn="l"/>
              </a:tabLst>
            </a:pPr>
            <a:r>
              <a:rPr sz="3600" dirty="0" err="1" smtClean="0">
                <a:latin typeface="標楷體" panose="03000509000000000000" pitchFamily="65" charset="-120"/>
                <a:ea typeface="標楷體" panose="03000509000000000000" pitchFamily="65" charset="-120"/>
                <a:cs typeface="SimSun"/>
              </a:rPr>
              <a:t>能領取的內容，只會是</a:t>
            </a:r>
            <a:r>
              <a:rPr lang="zh-TW" altLang="en-US" sz="3600" dirty="0" smtClean="0">
                <a:latin typeface="標楷體" panose="03000509000000000000" pitchFamily="65" charset="-120"/>
                <a:ea typeface="標楷體" panose="03000509000000000000" pitchFamily="65" charset="-120"/>
                <a:cs typeface="SimSun"/>
              </a:rPr>
              <a:t>其他</a:t>
            </a:r>
            <a:r>
              <a:rPr lang="zh-TW" altLang="en-US" sz="3600" b="1" dirty="0" smtClean="0">
                <a:solidFill>
                  <a:srgbClr val="FF0000"/>
                </a:solidFill>
                <a:latin typeface="標楷體" panose="03000509000000000000" pitchFamily="65" charset="-120"/>
                <a:ea typeface="標楷體" panose="03000509000000000000" pitchFamily="65" charset="-120"/>
                <a:cs typeface="SimSun"/>
              </a:rPr>
              <a:t>會員</a:t>
            </a:r>
            <a:r>
              <a:rPr sz="3600" dirty="0" err="1" smtClean="0">
                <a:latin typeface="標楷體" panose="03000509000000000000" pitchFamily="65" charset="-120"/>
                <a:ea typeface="標楷體" panose="03000509000000000000" pitchFamily="65" charset="-120"/>
                <a:cs typeface="SimSun"/>
              </a:rPr>
              <a:t>願意跟</a:t>
            </a:r>
            <a:r>
              <a:rPr sz="3600" dirty="0" smtClean="0">
                <a:latin typeface="標楷體" panose="03000509000000000000" pitchFamily="65" charset="-120"/>
                <a:ea typeface="標楷體" panose="03000509000000000000" pitchFamily="65" charset="-120"/>
                <a:cs typeface="SimSun"/>
              </a:rPr>
              <a:t> </a:t>
            </a:r>
            <a:r>
              <a:rPr sz="3600" dirty="0" err="1" smtClean="0">
                <a:latin typeface="標楷體" panose="03000509000000000000" pitchFamily="65" charset="-120"/>
                <a:ea typeface="標楷體" panose="03000509000000000000" pitchFamily="65" charset="-120"/>
                <a:cs typeface="SimSun"/>
              </a:rPr>
              <a:t>你「換」的服務</a:t>
            </a:r>
            <a:r>
              <a:rPr lang="en-US" altLang="zh-TW" sz="3600" dirty="0" smtClean="0">
                <a:latin typeface="標楷體" panose="03000509000000000000" pitchFamily="65" charset="-120"/>
                <a:ea typeface="標楷體" panose="03000509000000000000" pitchFamily="65" charset="-120"/>
                <a:cs typeface="SimSun"/>
              </a:rPr>
              <a:t>(</a:t>
            </a:r>
            <a:r>
              <a:rPr lang="zh-TW" altLang="en-US" sz="3600" dirty="0" smtClean="0">
                <a:latin typeface="標楷體" panose="03000509000000000000" pitchFamily="65" charset="-120"/>
                <a:ea typeface="標楷體" panose="03000509000000000000" pitchFamily="65" charset="-120"/>
                <a:cs typeface="SimSun"/>
              </a:rPr>
              <a:t>群</a:t>
            </a:r>
            <a:r>
              <a:rPr lang="en-US" altLang="zh-TW" sz="3600" dirty="0" smtClean="0">
                <a:latin typeface="標楷體" panose="03000509000000000000" pitchFamily="65" charset="-120"/>
                <a:ea typeface="標楷體" panose="03000509000000000000" pitchFamily="65" charset="-120"/>
                <a:cs typeface="SimSun"/>
              </a:rPr>
              <a:t>)</a:t>
            </a:r>
            <a:r>
              <a:rPr sz="3600" dirty="0" smtClean="0">
                <a:latin typeface="標楷體" panose="03000509000000000000" pitchFamily="65" charset="-120"/>
                <a:ea typeface="標楷體" panose="03000509000000000000" pitchFamily="65" charset="-120"/>
                <a:cs typeface="SimSun"/>
              </a:rPr>
              <a:t>。</a:t>
            </a:r>
          </a:p>
          <a:p>
            <a:pPr marL="514350" indent="-458470">
              <a:lnSpc>
                <a:spcPct val="100000"/>
              </a:lnSpc>
              <a:spcBef>
                <a:spcPts val="869"/>
              </a:spcBef>
              <a:buSzPct val="97222"/>
              <a:buAutoNum type="arabicPeriod"/>
              <a:tabLst>
                <a:tab pos="514984" algn="l"/>
              </a:tabLst>
            </a:pPr>
            <a:r>
              <a:rPr lang="zh-TW" altLang="en-US" sz="3600" dirty="0">
                <a:latin typeface="標楷體" panose="03000509000000000000" pitchFamily="65" charset="-120"/>
                <a:ea typeface="標楷體" panose="03000509000000000000" pitchFamily="65" charset="-120"/>
                <a:cs typeface="SimSun"/>
              </a:rPr>
              <a:t>不管怎麼存 你的</a:t>
            </a:r>
            <a:r>
              <a:rPr lang="en-US" altLang="zh-TW" sz="3600" dirty="0">
                <a:latin typeface="標楷體" panose="03000509000000000000" pitchFamily="65" charset="-120"/>
                <a:ea typeface="標楷體" panose="03000509000000000000" pitchFamily="65" charset="-120"/>
                <a:cs typeface="SimSun"/>
              </a:rPr>
              <a:t>1</a:t>
            </a:r>
            <a:r>
              <a:rPr lang="zh-TW" altLang="en-US" sz="3600" dirty="0">
                <a:latin typeface="標楷體" panose="03000509000000000000" pitchFamily="65" charset="-120"/>
                <a:ea typeface="標楷體" panose="03000509000000000000" pitchFamily="65" charset="-120"/>
                <a:cs typeface="SimSun"/>
              </a:rPr>
              <a:t>天還是</a:t>
            </a:r>
            <a:r>
              <a:rPr lang="en-US" altLang="zh-TW" sz="3600" dirty="0">
                <a:latin typeface="標楷體" panose="03000509000000000000" pitchFamily="65" charset="-120"/>
                <a:ea typeface="標楷體" panose="03000509000000000000" pitchFamily="65" charset="-120"/>
                <a:cs typeface="SimSun"/>
              </a:rPr>
              <a:t>24</a:t>
            </a:r>
            <a:r>
              <a:rPr lang="zh-TW" altLang="en-US" sz="3600" dirty="0" smtClean="0">
                <a:latin typeface="標楷體" panose="03000509000000000000" pitchFamily="65" charset="-120"/>
                <a:ea typeface="標楷體" panose="03000509000000000000" pitchFamily="65" charset="-120"/>
                <a:cs typeface="SimSun"/>
              </a:rPr>
              <a:t>小時</a:t>
            </a:r>
            <a:r>
              <a:rPr sz="3600" dirty="0" smtClean="0">
                <a:latin typeface="標楷體" panose="03000509000000000000" pitchFamily="65" charset="-120"/>
                <a:ea typeface="標楷體" panose="03000509000000000000" pitchFamily="65" charset="-120"/>
                <a:cs typeface="SimSun"/>
              </a:rPr>
              <a:t>。</a:t>
            </a:r>
            <a:endParaRPr lang="en-US" sz="3600" dirty="0" smtClean="0">
              <a:latin typeface="標楷體" panose="03000509000000000000" pitchFamily="65" charset="-120"/>
              <a:ea typeface="標楷體" panose="03000509000000000000" pitchFamily="65" charset="-120"/>
              <a:cs typeface="SimSun"/>
            </a:endParaRPr>
          </a:p>
          <a:p>
            <a:pPr marL="55880">
              <a:lnSpc>
                <a:spcPct val="100000"/>
              </a:lnSpc>
              <a:spcBef>
                <a:spcPts val="869"/>
              </a:spcBef>
              <a:buSzPct val="97222"/>
              <a:tabLst>
                <a:tab pos="514984" algn="l"/>
              </a:tabLst>
            </a:pPr>
            <a:r>
              <a:rPr lang="zh-TW" altLang="en-US" sz="3600" dirty="0">
                <a:latin typeface="標楷體" panose="03000509000000000000" pitchFamily="65" charset="-120"/>
                <a:ea typeface="標楷體" panose="03000509000000000000" pitchFamily="65" charset="-120"/>
                <a:cs typeface="SimSun"/>
              </a:rPr>
              <a:t> </a:t>
            </a:r>
            <a:r>
              <a:rPr lang="zh-TW" altLang="en-US" sz="3600" dirty="0" smtClean="0">
                <a:latin typeface="標楷體" panose="03000509000000000000" pitchFamily="65" charset="-120"/>
                <a:ea typeface="標楷體" panose="03000509000000000000" pitchFamily="65" charset="-120"/>
                <a:cs typeface="SimSun"/>
              </a:rPr>
              <a:t> 重點在每一刻 活出自己的價值</a:t>
            </a:r>
            <a:r>
              <a:rPr lang="en-US" altLang="zh-TW" sz="3600" dirty="0" smtClean="0">
                <a:latin typeface="標楷體" panose="03000509000000000000" pitchFamily="65" charset="-120"/>
                <a:ea typeface="標楷體" panose="03000509000000000000" pitchFamily="65" charset="-120"/>
                <a:cs typeface="SimSun"/>
              </a:rPr>
              <a:t>!</a:t>
            </a:r>
            <a:endParaRPr sz="3600" dirty="0">
              <a:latin typeface="標楷體" panose="03000509000000000000" pitchFamily="65" charset="-120"/>
              <a:ea typeface="標楷體" panose="03000509000000000000" pitchFamily="65" charset="-120"/>
              <a:cs typeface="SimSun"/>
            </a:endParaRPr>
          </a:p>
        </p:txBody>
      </p:sp>
      <p:sp>
        <p:nvSpPr>
          <p:cNvPr id="4" name="object 4"/>
          <p:cNvSpPr/>
          <p:nvPr/>
        </p:nvSpPr>
        <p:spPr>
          <a:xfrm>
            <a:off x="0" y="692658"/>
            <a:ext cx="360045" cy="3108960"/>
          </a:xfrm>
          <a:custGeom>
            <a:avLst/>
            <a:gdLst/>
            <a:ahLst/>
            <a:cxnLst/>
            <a:rect l="l" t="t" r="r" b="b"/>
            <a:pathLst>
              <a:path w="360045" h="3108960">
                <a:moveTo>
                  <a:pt x="360045" y="0"/>
                </a:moveTo>
                <a:lnTo>
                  <a:pt x="0" y="0"/>
                </a:lnTo>
                <a:lnTo>
                  <a:pt x="0" y="3108579"/>
                </a:lnTo>
                <a:lnTo>
                  <a:pt x="360045" y="3108579"/>
                </a:lnTo>
                <a:lnTo>
                  <a:pt x="360045" y="0"/>
                </a:lnTo>
                <a:close/>
              </a:path>
            </a:pathLst>
          </a:custGeom>
          <a:solidFill>
            <a:srgbClr val="00AF50"/>
          </a:solidFill>
        </p:spPr>
        <p:txBody>
          <a:bodyPr wrap="square" lIns="0" tIns="0" rIns="0" bIns="0" rtlCol="0"/>
          <a:lstStyle/>
          <a:p>
            <a:endParaRPr/>
          </a:p>
        </p:txBody>
      </p:sp>
      <p:sp>
        <p:nvSpPr>
          <p:cNvPr id="5" name="object 5"/>
          <p:cNvSpPr txBox="1">
            <a:spLocks noGrp="1"/>
          </p:cNvSpPr>
          <p:nvPr>
            <p:ph type="title"/>
          </p:nvPr>
        </p:nvSpPr>
        <p:spPr>
          <a:xfrm>
            <a:off x="518160" y="375158"/>
            <a:ext cx="8230234" cy="635000"/>
          </a:xfrm>
          <a:prstGeom prst="rect">
            <a:avLst/>
          </a:prstGeom>
        </p:spPr>
        <p:txBody>
          <a:bodyPr vert="horz" wrap="square" lIns="0" tIns="12065" rIns="0" bIns="0" rtlCol="0">
            <a:spAutoFit/>
          </a:bodyPr>
          <a:lstStyle/>
          <a:p>
            <a:pPr marL="38100">
              <a:lnSpc>
                <a:spcPct val="100000"/>
              </a:lnSpc>
              <a:spcBef>
                <a:spcPts val="95"/>
              </a:spcBef>
            </a:pPr>
            <a:r>
              <a:rPr sz="4200" spc="-60" baseline="-24801" dirty="0" smtClean="0"/>
              <a:t> </a:t>
            </a:r>
            <a:r>
              <a:rPr sz="4000" spc="5" dirty="0">
                <a:latin typeface="標楷體" panose="03000509000000000000" pitchFamily="65" charset="-120"/>
                <a:ea typeface="標楷體" panose="03000509000000000000" pitchFamily="65" charset="-120"/>
              </a:rPr>
              <a:t>時</a:t>
            </a:r>
            <a:r>
              <a:rPr sz="4000" spc="-5" dirty="0">
                <a:latin typeface="標楷體" panose="03000509000000000000" pitchFamily="65" charset="-120"/>
                <a:ea typeface="標楷體" panose="03000509000000000000" pitchFamily="65" charset="-120"/>
              </a:rPr>
              <a:t>間銀</a:t>
            </a:r>
            <a:r>
              <a:rPr sz="4000" spc="10" dirty="0">
                <a:latin typeface="標楷體" panose="03000509000000000000" pitchFamily="65" charset="-120"/>
                <a:ea typeface="標楷體" panose="03000509000000000000" pitchFamily="65" charset="-120"/>
              </a:rPr>
              <a:t>行</a:t>
            </a:r>
            <a:r>
              <a:rPr sz="4000" spc="-10" dirty="0">
                <a:latin typeface="標楷體" panose="03000509000000000000" pitchFamily="65" charset="-120"/>
                <a:ea typeface="標楷體" panose="03000509000000000000" pitchFamily="65" charset="-120"/>
              </a:rPr>
              <a:t>的</a:t>
            </a:r>
            <a:r>
              <a:rPr sz="4000" spc="-15" dirty="0">
                <a:latin typeface="標楷體" panose="03000509000000000000" pitchFamily="65" charset="-120"/>
                <a:ea typeface="標楷體" panose="03000509000000000000" pitchFamily="65" charset="-120"/>
              </a:rPr>
              <a:t>3</a:t>
            </a:r>
            <a:r>
              <a:rPr sz="4000" spc="5" dirty="0">
                <a:latin typeface="標楷體" panose="03000509000000000000" pitchFamily="65" charset="-120"/>
                <a:ea typeface="標楷體" panose="03000509000000000000" pitchFamily="65" charset="-120"/>
              </a:rPr>
              <a:t>個</a:t>
            </a:r>
            <a:r>
              <a:rPr sz="4000" spc="-5" dirty="0">
                <a:latin typeface="標楷體" panose="03000509000000000000" pitchFamily="65" charset="-120"/>
                <a:ea typeface="標楷體" panose="03000509000000000000" pitchFamily="65" charset="-120"/>
              </a:rPr>
              <a:t>操作</a:t>
            </a:r>
            <a:r>
              <a:rPr sz="4000" spc="10" dirty="0">
                <a:latin typeface="標楷體" panose="03000509000000000000" pitchFamily="65" charset="-120"/>
                <a:ea typeface="標楷體" panose="03000509000000000000" pitchFamily="65" charset="-120"/>
              </a:rPr>
              <a:t>概</a:t>
            </a:r>
            <a:r>
              <a:rPr sz="4000" spc="-5" dirty="0">
                <a:latin typeface="標楷體" panose="03000509000000000000" pitchFamily="65" charset="-120"/>
                <a:ea typeface="標楷體" panose="03000509000000000000" pitchFamily="65" charset="-120"/>
              </a:rPr>
              <a:t>念</a:t>
            </a:r>
            <a:r>
              <a:rPr sz="4000" spc="-50" dirty="0">
                <a:latin typeface="標楷體" panose="03000509000000000000" pitchFamily="65" charset="-120"/>
                <a:ea typeface="標楷體" panose="03000509000000000000" pitchFamily="65" charset="-120"/>
              </a:rPr>
              <a:t> </a:t>
            </a:r>
            <a:r>
              <a:rPr sz="4000" spc="5" dirty="0">
                <a:latin typeface="標楷體" panose="03000509000000000000" pitchFamily="65" charset="-120"/>
                <a:ea typeface="標楷體" panose="03000509000000000000" pitchFamily="65" charset="-120"/>
              </a:rPr>
              <a:t>很</a:t>
            </a:r>
            <a:r>
              <a:rPr sz="4000" spc="-5" dirty="0">
                <a:latin typeface="標楷體" panose="03000509000000000000" pitchFamily="65" charset="-120"/>
                <a:ea typeface="標楷體" panose="03000509000000000000" pitchFamily="65" charset="-120"/>
              </a:rPr>
              <a:t>重要</a:t>
            </a:r>
            <a:r>
              <a:rPr sz="4000" dirty="0">
                <a:latin typeface="標楷體" panose="03000509000000000000" pitchFamily="65" charset="-120"/>
                <a:ea typeface="標楷體" panose="03000509000000000000" pitchFamily="65" charset="-120"/>
              </a:rPr>
              <a:t>x3</a:t>
            </a:r>
          </a:p>
        </p:txBody>
      </p:sp>
    </p:spTree>
    <p:extLst>
      <p:ext uri="{BB962C8B-B14F-4D97-AF65-F5344CB8AC3E}">
        <p14:creationId xmlns:p14="http://schemas.microsoft.com/office/powerpoint/2010/main" val="3302583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6576" y="1274594"/>
            <a:ext cx="7848600" cy="4348626"/>
          </a:xfrm>
          <a:prstGeom prst="rect">
            <a:avLst/>
          </a:prstGeom>
        </p:spPr>
        <p:txBody>
          <a:bodyPr vert="horz" wrap="square" lIns="0" tIns="97790" rIns="0" bIns="0" rtlCol="0">
            <a:spAutoFit/>
          </a:bodyPr>
          <a:lstStyle/>
          <a:p>
            <a:pPr marL="368935" indent="-356870">
              <a:lnSpc>
                <a:spcPct val="100000"/>
              </a:lnSpc>
              <a:spcBef>
                <a:spcPts val="675"/>
              </a:spcBef>
              <a:buSzPct val="96428"/>
              <a:buAutoNum type="arabicPeriod"/>
              <a:tabLst>
                <a:tab pos="369570" algn="l"/>
              </a:tabLst>
            </a:pPr>
            <a:r>
              <a:rPr sz="2800" spc="-10" dirty="0" err="1" smtClean="0">
                <a:latin typeface="標楷體" panose="03000509000000000000" pitchFamily="65" charset="-120"/>
                <a:ea typeface="標楷體" panose="03000509000000000000" pitchFamily="65" charset="-120"/>
                <a:cs typeface="SimSun"/>
              </a:rPr>
              <a:t>尊</a:t>
            </a:r>
            <a:r>
              <a:rPr sz="2800" dirty="0" err="1" smtClean="0">
                <a:latin typeface="標楷體" panose="03000509000000000000" pitchFamily="65" charset="-120"/>
                <a:ea typeface="標楷體" panose="03000509000000000000" pitchFamily="65" charset="-120"/>
                <a:cs typeface="SimSun"/>
              </a:rPr>
              <a:t>重</a:t>
            </a:r>
            <a:r>
              <a:rPr sz="2800" spc="-5" dirty="0">
                <a:latin typeface="標楷體" panose="03000509000000000000" pitchFamily="65" charset="-120"/>
                <a:ea typeface="標楷體" panose="03000509000000000000" pitchFamily="65" charset="-120"/>
                <a:cs typeface="SimSun"/>
              </a:rPr>
              <a:t>:</a:t>
            </a:r>
            <a:r>
              <a:rPr sz="2800" spc="-55" dirty="0">
                <a:latin typeface="標楷體" panose="03000509000000000000" pitchFamily="65" charset="-120"/>
                <a:ea typeface="標楷體" panose="03000509000000000000" pitchFamily="65" charset="-120"/>
                <a:cs typeface="SimSun"/>
              </a:rPr>
              <a:t> </a:t>
            </a:r>
            <a:r>
              <a:rPr sz="2800" dirty="0">
                <a:latin typeface="標楷體" panose="03000509000000000000" pitchFamily="65" charset="-120"/>
                <a:ea typeface="標楷體" panose="03000509000000000000" pitchFamily="65" charset="-120"/>
                <a:cs typeface="SimSun"/>
              </a:rPr>
              <a:t>尊</a:t>
            </a:r>
            <a:r>
              <a:rPr sz="2800" spc="-5" dirty="0">
                <a:latin typeface="標楷體" panose="03000509000000000000" pitchFamily="65" charset="-120"/>
                <a:ea typeface="標楷體" panose="03000509000000000000" pitchFamily="65" charset="-120"/>
                <a:cs typeface="SimSun"/>
              </a:rPr>
              <a:t>重</a:t>
            </a:r>
            <a:r>
              <a:rPr sz="2800" spc="-5" dirty="0">
                <a:solidFill>
                  <a:srgbClr val="C00000"/>
                </a:solidFill>
                <a:latin typeface="標楷體" panose="03000509000000000000" pitchFamily="65" charset="-120"/>
                <a:ea typeface="標楷體" panose="03000509000000000000" pitchFamily="65" charset="-120"/>
                <a:cs typeface="SimSun"/>
              </a:rPr>
              <a:t>任何人現有的價</a:t>
            </a:r>
            <a:r>
              <a:rPr sz="2800" dirty="0">
                <a:solidFill>
                  <a:srgbClr val="C00000"/>
                </a:solidFill>
                <a:latin typeface="標楷體" panose="03000509000000000000" pitchFamily="65" charset="-120"/>
                <a:ea typeface="標楷體" panose="03000509000000000000" pitchFamily="65" charset="-120"/>
                <a:cs typeface="SimSun"/>
              </a:rPr>
              <a:t>值</a:t>
            </a:r>
            <a:r>
              <a:rPr sz="2800" spc="-5" dirty="0">
                <a:latin typeface="標楷體" panose="03000509000000000000" pitchFamily="65" charset="-120"/>
                <a:ea typeface="標楷體" panose="03000509000000000000" pitchFamily="65" charset="-120"/>
                <a:cs typeface="SimSun"/>
              </a:rPr>
              <a:t>。</a:t>
            </a:r>
            <a:endParaRPr sz="2800" dirty="0">
              <a:latin typeface="標楷體" panose="03000509000000000000" pitchFamily="65" charset="-120"/>
              <a:ea typeface="標楷體" panose="03000509000000000000" pitchFamily="65" charset="-120"/>
              <a:cs typeface="SimSun"/>
            </a:endParaRPr>
          </a:p>
          <a:p>
            <a:pPr marL="355600" marR="363855" indent="-342900">
              <a:lnSpc>
                <a:spcPct val="100000"/>
              </a:lnSpc>
              <a:spcBef>
                <a:spcPts val="670"/>
              </a:spcBef>
              <a:buSzPct val="96428"/>
              <a:buAutoNum type="arabicPeriod"/>
              <a:tabLst>
                <a:tab pos="369570" algn="l"/>
              </a:tabLst>
            </a:pPr>
            <a:r>
              <a:rPr sz="2800" spc="-5" dirty="0">
                <a:latin typeface="標楷體" panose="03000509000000000000" pitchFamily="65" charset="-120"/>
                <a:ea typeface="標楷體" panose="03000509000000000000" pitchFamily="65" charset="-120"/>
                <a:cs typeface="SimSun"/>
              </a:rPr>
              <a:t>互助互</a:t>
            </a:r>
            <a:r>
              <a:rPr sz="2800" spc="10" dirty="0">
                <a:latin typeface="標楷體" panose="03000509000000000000" pitchFamily="65" charset="-120"/>
                <a:ea typeface="標楷體" panose="03000509000000000000" pitchFamily="65" charset="-120"/>
                <a:cs typeface="SimSun"/>
              </a:rPr>
              <a:t>惠</a:t>
            </a:r>
            <a:r>
              <a:rPr sz="2800" spc="-5" dirty="0">
                <a:latin typeface="標楷體" panose="03000509000000000000" pitchFamily="65" charset="-120"/>
                <a:ea typeface="標楷體" panose="03000509000000000000" pitchFamily="65" charset="-120"/>
                <a:cs typeface="SimSun"/>
              </a:rPr>
              <a:t>:</a:t>
            </a:r>
            <a:r>
              <a:rPr sz="2800" spc="-85" dirty="0">
                <a:latin typeface="標楷體" panose="03000509000000000000" pitchFamily="65" charset="-120"/>
                <a:ea typeface="標楷體" panose="03000509000000000000" pitchFamily="65" charset="-120"/>
                <a:cs typeface="SimSun"/>
              </a:rPr>
              <a:t> </a:t>
            </a:r>
            <a:r>
              <a:rPr sz="2800" spc="-5" dirty="0">
                <a:latin typeface="標楷體" panose="03000509000000000000" pitchFamily="65" charset="-120"/>
                <a:ea typeface="標楷體" panose="03000509000000000000" pitchFamily="65" charset="-120"/>
                <a:cs typeface="SimSun"/>
              </a:rPr>
              <a:t>幫助</a:t>
            </a:r>
            <a:r>
              <a:rPr sz="2800" dirty="0">
                <a:latin typeface="標楷體" panose="03000509000000000000" pitchFamily="65" charset="-120"/>
                <a:ea typeface="標楷體" panose="03000509000000000000" pitchFamily="65" charset="-120"/>
                <a:cs typeface="SimSun"/>
              </a:rPr>
              <a:t>是</a:t>
            </a:r>
            <a:r>
              <a:rPr sz="2800" spc="-5" dirty="0">
                <a:latin typeface="標楷體" panose="03000509000000000000" pitchFamily="65" charset="-120"/>
                <a:ea typeface="標楷體" panose="03000509000000000000" pitchFamily="65" charset="-120"/>
                <a:cs typeface="SimSun"/>
              </a:rPr>
              <a:t>雙向的</a:t>
            </a:r>
            <a:r>
              <a:rPr sz="2800" dirty="0">
                <a:latin typeface="標楷體" panose="03000509000000000000" pitchFamily="65" charset="-120"/>
                <a:ea typeface="標楷體" panose="03000509000000000000" pitchFamily="65" charset="-120"/>
                <a:cs typeface="SimSun"/>
              </a:rPr>
              <a:t>意</a:t>
            </a:r>
            <a:r>
              <a:rPr sz="2800" spc="-5" dirty="0">
                <a:latin typeface="標楷體" panose="03000509000000000000" pitchFamily="65" charset="-120"/>
                <a:ea typeface="標楷體" panose="03000509000000000000" pitchFamily="65" charset="-120"/>
                <a:cs typeface="SimSun"/>
              </a:rPr>
              <a:t>涵，施</a:t>
            </a:r>
            <a:r>
              <a:rPr sz="2800" dirty="0">
                <a:latin typeface="標楷體" panose="03000509000000000000" pitchFamily="65" charset="-120"/>
                <a:ea typeface="標楷體" panose="03000509000000000000" pitchFamily="65" charset="-120"/>
                <a:cs typeface="SimSun"/>
              </a:rPr>
              <a:t>予</a:t>
            </a:r>
            <a:r>
              <a:rPr sz="2800" spc="-5" dirty="0">
                <a:latin typeface="標楷體" panose="03000509000000000000" pitchFamily="65" charset="-120"/>
                <a:ea typeface="標楷體" panose="03000509000000000000" pitchFamily="65" charset="-120"/>
                <a:cs typeface="SimSun"/>
              </a:rPr>
              <a:t>者與受助 </a:t>
            </a:r>
            <a:r>
              <a:rPr sz="2800" dirty="0">
                <a:latin typeface="標楷體" panose="03000509000000000000" pitchFamily="65" charset="-120"/>
                <a:ea typeface="標楷體" panose="03000509000000000000" pitchFamily="65" charset="-120"/>
                <a:cs typeface="SimSun"/>
              </a:rPr>
              <a:t>者</a:t>
            </a:r>
            <a:r>
              <a:rPr sz="2800" spc="-5" dirty="0">
                <a:latin typeface="標楷體" panose="03000509000000000000" pitchFamily="65" charset="-120"/>
                <a:ea typeface="標楷體" panose="03000509000000000000" pitchFamily="65" charset="-120"/>
                <a:cs typeface="SimSun"/>
              </a:rPr>
              <a:t>都應出</a:t>
            </a:r>
            <a:r>
              <a:rPr sz="2800" dirty="0">
                <a:latin typeface="標楷體" panose="03000509000000000000" pitchFamily="65" charset="-120"/>
                <a:ea typeface="標楷體" panose="03000509000000000000" pitchFamily="65" charset="-120"/>
                <a:cs typeface="SimSun"/>
              </a:rPr>
              <a:t>一</a:t>
            </a:r>
            <a:r>
              <a:rPr sz="2800" spc="-5" dirty="0">
                <a:latin typeface="標楷體" panose="03000509000000000000" pitchFamily="65" charset="-120"/>
                <a:ea typeface="標楷體" panose="03000509000000000000" pitchFamily="65" charset="-120"/>
                <a:cs typeface="SimSun"/>
              </a:rPr>
              <a:t>份力，</a:t>
            </a:r>
            <a:r>
              <a:rPr sz="2800" dirty="0">
                <a:latin typeface="標楷體" panose="03000509000000000000" pitchFamily="65" charset="-120"/>
                <a:ea typeface="標楷體" panose="03000509000000000000" pitchFamily="65" charset="-120"/>
                <a:cs typeface="SimSun"/>
              </a:rPr>
              <a:t>建</a:t>
            </a:r>
            <a:r>
              <a:rPr sz="2800" spc="-5" dirty="0">
                <a:latin typeface="標楷體" panose="03000509000000000000" pitchFamily="65" charset="-120"/>
                <a:ea typeface="標楷體" panose="03000509000000000000" pitchFamily="65" charset="-120"/>
                <a:cs typeface="SimSun"/>
              </a:rPr>
              <a:t>立一個</a:t>
            </a:r>
            <a:r>
              <a:rPr sz="2800" dirty="0">
                <a:latin typeface="標楷體" panose="03000509000000000000" pitchFamily="65" charset="-120"/>
                <a:ea typeface="標楷體" panose="03000509000000000000" pitchFamily="65" charset="-120"/>
                <a:cs typeface="SimSun"/>
              </a:rPr>
              <a:t>共</a:t>
            </a:r>
            <a:r>
              <a:rPr sz="2800" spc="-5" dirty="0">
                <a:latin typeface="標楷體" panose="03000509000000000000" pitchFamily="65" charset="-120"/>
                <a:ea typeface="標楷體" panose="03000509000000000000" pitchFamily="65" charset="-120"/>
                <a:cs typeface="SimSun"/>
              </a:rPr>
              <a:t>同互助</a:t>
            </a:r>
            <a:r>
              <a:rPr sz="2800" dirty="0">
                <a:latin typeface="標楷體" panose="03000509000000000000" pitchFamily="65" charset="-120"/>
                <a:ea typeface="標楷體" panose="03000509000000000000" pitchFamily="65" charset="-120"/>
                <a:cs typeface="SimSun"/>
              </a:rPr>
              <a:t>的</a:t>
            </a:r>
            <a:r>
              <a:rPr sz="2800" spc="-5" dirty="0">
                <a:latin typeface="標楷體" panose="03000509000000000000" pitchFamily="65" charset="-120"/>
                <a:ea typeface="標楷體" panose="03000509000000000000" pitchFamily="65" charset="-120"/>
                <a:cs typeface="SimSun"/>
              </a:rPr>
              <a:t>世界。</a:t>
            </a:r>
            <a:endParaRPr sz="2800" dirty="0">
              <a:latin typeface="標楷體" panose="03000509000000000000" pitchFamily="65" charset="-120"/>
              <a:ea typeface="標楷體" panose="03000509000000000000" pitchFamily="65" charset="-120"/>
              <a:cs typeface="SimSun"/>
            </a:endParaRPr>
          </a:p>
          <a:p>
            <a:pPr marL="355600" marR="363855" indent="-342900">
              <a:lnSpc>
                <a:spcPct val="100000"/>
              </a:lnSpc>
              <a:spcBef>
                <a:spcPts val="675"/>
              </a:spcBef>
              <a:buSzPct val="96428"/>
              <a:buAutoNum type="arabicPeriod"/>
              <a:tabLst>
                <a:tab pos="369570" algn="l"/>
              </a:tabLst>
            </a:pPr>
            <a:r>
              <a:rPr sz="2800" spc="-5" dirty="0">
                <a:latin typeface="標楷體" panose="03000509000000000000" pitchFamily="65" charset="-120"/>
                <a:ea typeface="標楷體" panose="03000509000000000000" pitchFamily="65" charset="-120"/>
                <a:cs typeface="SimSun"/>
              </a:rPr>
              <a:t>社會網</a:t>
            </a:r>
            <a:r>
              <a:rPr sz="2800" spc="10" dirty="0">
                <a:latin typeface="標楷體" panose="03000509000000000000" pitchFamily="65" charset="-120"/>
                <a:ea typeface="標楷體" panose="03000509000000000000" pitchFamily="65" charset="-120"/>
                <a:cs typeface="SimSun"/>
              </a:rPr>
              <a:t>路</a:t>
            </a:r>
            <a:r>
              <a:rPr sz="2800" spc="-5" dirty="0">
                <a:latin typeface="標楷體" panose="03000509000000000000" pitchFamily="65" charset="-120"/>
                <a:ea typeface="標楷體" panose="03000509000000000000" pitchFamily="65" charset="-120"/>
                <a:cs typeface="SimSun"/>
              </a:rPr>
              <a:t>:</a:t>
            </a:r>
            <a:r>
              <a:rPr sz="2800" spc="-85" dirty="0">
                <a:latin typeface="標楷體" panose="03000509000000000000" pitchFamily="65" charset="-120"/>
                <a:ea typeface="標楷體" panose="03000509000000000000" pitchFamily="65" charset="-120"/>
                <a:cs typeface="SimSun"/>
              </a:rPr>
              <a:t> </a:t>
            </a:r>
            <a:r>
              <a:rPr sz="2800" spc="-5" dirty="0">
                <a:latin typeface="標楷體" panose="03000509000000000000" pitchFamily="65" charset="-120"/>
                <a:ea typeface="標楷體" panose="03000509000000000000" pitchFamily="65" charset="-120"/>
                <a:cs typeface="SimSun"/>
              </a:rPr>
              <a:t>通過</a:t>
            </a:r>
            <a:r>
              <a:rPr sz="2800" dirty="0">
                <a:latin typeface="標楷體" panose="03000509000000000000" pitchFamily="65" charset="-120"/>
                <a:ea typeface="標楷體" panose="03000509000000000000" pitchFamily="65" charset="-120"/>
                <a:cs typeface="SimSun"/>
              </a:rPr>
              <a:t>時</a:t>
            </a:r>
            <a:r>
              <a:rPr sz="2800" spc="-5" dirty="0">
                <a:latin typeface="標楷體" panose="03000509000000000000" pitchFamily="65" charset="-120"/>
                <a:ea typeface="標楷體" panose="03000509000000000000" pitchFamily="65" charset="-120"/>
                <a:cs typeface="SimSun"/>
              </a:rPr>
              <a:t>間銀行</a:t>
            </a:r>
            <a:r>
              <a:rPr sz="2800" dirty="0">
                <a:latin typeface="標楷體" panose="03000509000000000000" pitchFamily="65" charset="-120"/>
                <a:ea typeface="標楷體" panose="03000509000000000000" pitchFamily="65" charset="-120"/>
                <a:cs typeface="SimSun"/>
              </a:rPr>
              <a:t>，</a:t>
            </a:r>
            <a:r>
              <a:rPr sz="2800" spc="-5" dirty="0">
                <a:latin typeface="標楷體" panose="03000509000000000000" pitchFamily="65" charset="-120"/>
                <a:ea typeface="標楷體" panose="03000509000000000000" pitchFamily="65" charset="-120"/>
                <a:cs typeface="SimSun"/>
              </a:rPr>
              <a:t>我們可</a:t>
            </a:r>
            <a:r>
              <a:rPr sz="2800" dirty="0">
                <a:latin typeface="標楷體" panose="03000509000000000000" pitchFamily="65" charset="-120"/>
                <a:ea typeface="標楷體" panose="03000509000000000000" pitchFamily="65" charset="-120"/>
                <a:cs typeface="SimSun"/>
              </a:rPr>
              <a:t>以</a:t>
            </a:r>
            <a:r>
              <a:rPr sz="2800" spc="-5" dirty="0">
                <a:latin typeface="標楷體" panose="03000509000000000000" pitchFamily="65" charset="-120"/>
                <a:ea typeface="標楷體" panose="03000509000000000000" pitchFamily="65" charset="-120"/>
                <a:cs typeface="SimSun"/>
              </a:rPr>
              <a:t>建立一個 </a:t>
            </a:r>
            <a:r>
              <a:rPr sz="2800" dirty="0">
                <a:latin typeface="標楷體" panose="03000509000000000000" pitchFamily="65" charset="-120"/>
                <a:ea typeface="標楷體" panose="03000509000000000000" pitchFamily="65" charset="-120"/>
                <a:cs typeface="SimSun"/>
              </a:rPr>
              <a:t>更</a:t>
            </a:r>
            <a:r>
              <a:rPr sz="2800" spc="-5" dirty="0">
                <a:latin typeface="標楷體" panose="03000509000000000000" pitchFamily="65" charset="-120"/>
                <a:ea typeface="標楷體" panose="03000509000000000000" pitchFamily="65" charset="-120"/>
                <a:cs typeface="SimSun"/>
              </a:rPr>
              <a:t>緊密的</a:t>
            </a:r>
            <a:r>
              <a:rPr sz="2800" dirty="0">
                <a:latin typeface="標楷體" panose="03000509000000000000" pitchFamily="65" charset="-120"/>
                <a:ea typeface="標楷體" panose="03000509000000000000" pitchFamily="65" charset="-120"/>
                <a:cs typeface="SimSun"/>
              </a:rPr>
              <a:t>社</a:t>
            </a:r>
            <a:r>
              <a:rPr sz="2800" spc="-5" dirty="0">
                <a:latin typeface="標楷體" panose="03000509000000000000" pitchFamily="65" charset="-120"/>
                <a:ea typeface="標楷體" panose="03000509000000000000" pitchFamily="65" charset="-120"/>
                <a:cs typeface="SimSun"/>
              </a:rPr>
              <a:t>會連結。</a:t>
            </a:r>
            <a:endParaRPr sz="2800" dirty="0">
              <a:latin typeface="標楷體" panose="03000509000000000000" pitchFamily="65" charset="-120"/>
              <a:ea typeface="標楷體" panose="03000509000000000000" pitchFamily="65" charset="-120"/>
              <a:cs typeface="SimSun"/>
            </a:endParaRPr>
          </a:p>
          <a:p>
            <a:pPr marL="368935" indent="-356870">
              <a:lnSpc>
                <a:spcPct val="100000"/>
              </a:lnSpc>
              <a:spcBef>
                <a:spcPts val="770"/>
              </a:spcBef>
              <a:buSzPct val="96428"/>
              <a:buAutoNum type="arabicPeriod"/>
              <a:tabLst>
                <a:tab pos="369570" algn="l"/>
              </a:tabLst>
            </a:pPr>
            <a:r>
              <a:rPr lang="zh-TW" altLang="en-US" sz="2800" spc="-5" dirty="0" smtClean="0">
                <a:latin typeface="標楷體" panose="03000509000000000000" pitchFamily="65" charset="-120"/>
                <a:ea typeface="標楷體" panose="03000509000000000000" pitchFamily="65" charset="-120"/>
                <a:cs typeface="SimSun"/>
              </a:rPr>
              <a:t>資</a:t>
            </a:r>
            <a:r>
              <a:rPr lang="zh-TW" altLang="en-US" sz="2800" spc="5" dirty="0" smtClean="0">
                <a:latin typeface="標楷體" panose="03000509000000000000" pitchFamily="65" charset="-120"/>
                <a:ea typeface="標楷體" panose="03000509000000000000" pitchFamily="65" charset="-120"/>
                <a:cs typeface="SimSun"/>
              </a:rPr>
              <a:t>產</a:t>
            </a:r>
            <a:r>
              <a:rPr lang="en-US" altLang="zh-TW" sz="2800" spc="-5" dirty="0" smtClean="0">
                <a:latin typeface="標楷體" panose="03000509000000000000" pitchFamily="65" charset="-120"/>
                <a:ea typeface="標楷體" panose="03000509000000000000" pitchFamily="65" charset="-120"/>
                <a:cs typeface="SimSun"/>
              </a:rPr>
              <a:t>:</a:t>
            </a:r>
            <a:r>
              <a:rPr lang="zh-TW" altLang="en-US" sz="2800" spc="-65" dirty="0" smtClean="0">
                <a:latin typeface="標楷體" panose="03000509000000000000" pitchFamily="65" charset="-120"/>
                <a:ea typeface="標楷體" panose="03000509000000000000" pitchFamily="65" charset="-120"/>
                <a:cs typeface="SimSun"/>
              </a:rPr>
              <a:t> </a:t>
            </a:r>
            <a:r>
              <a:rPr lang="zh-TW" altLang="en-US" sz="2800" dirty="0" smtClean="0">
                <a:latin typeface="標楷體" panose="03000509000000000000" pitchFamily="65" charset="-120"/>
                <a:ea typeface="標楷體" panose="03000509000000000000" pitchFamily="65" charset="-120"/>
                <a:cs typeface="SimSun"/>
              </a:rPr>
              <a:t>每</a:t>
            </a:r>
            <a:r>
              <a:rPr lang="zh-TW" altLang="en-US" sz="2800" spc="-5" dirty="0" smtClean="0">
                <a:latin typeface="標楷體" panose="03000509000000000000" pitchFamily="65" charset="-120"/>
                <a:ea typeface="標楷體" panose="03000509000000000000" pitchFamily="65" charset="-120"/>
                <a:cs typeface="SimSun"/>
              </a:rPr>
              <a:t>個人都</a:t>
            </a:r>
            <a:r>
              <a:rPr lang="zh-TW" altLang="en-US" sz="2800" dirty="0" smtClean="0">
                <a:latin typeface="標楷體" panose="03000509000000000000" pitchFamily="65" charset="-120"/>
                <a:ea typeface="標楷體" panose="03000509000000000000" pitchFamily="65" charset="-120"/>
                <a:cs typeface="SimSun"/>
              </a:rPr>
              <a:t>有</a:t>
            </a:r>
            <a:r>
              <a:rPr lang="zh-TW" altLang="en-US" sz="2800" spc="-5" dirty="0" smtClean="0">
                <a:latin typeface="標楷體" panose="03000509000000000000" pitchFamily="65" charset="-120"/>
                <a:ea typeface="標楷體" panose="03000509000000000000" pitchFamily="65" charset="-120"/>
                <a:cs typeface="SimSun"/>
              </a:rPr>
              <a:t>與他人</a:t>
            </a:r>
            <a:r>
              <a:rPr lang="zh-TW" altLang="en-US" sz="2800" dirty="0" smtClean="0">
                <a:latin typeface="標楷體" panose="03000509000000000000" pitchFamily="65" charset="-120"/>
                <a:ea typeface="標楷體" panose="03000509000000000000" pitchFamily="65" charset="-120"/>
                <a:cs typeface="SimSun"/>
              </a:rPr>
              <a:t>分</a:t>
            </a:r>
            <a:r>
              <a:rPr lang="zh-TW" altLang="en-US" sz="2800" spc="-5" dirty="0" smtClean="0">
                <a:latin typeface="標楷體" panose="03000509000000000000" pitchFamily="65" charset="-120"/>
                <a:ea typeface="標楷體" panose="03000509000000000000" pitchFamily="65" charset="-120"/>
                <a:cs typeface="SimSun"/>
              </a:rPr>
              <a:t>享的價</a:t>
            </a:r>
            <a:r>
              <a:rPr lang="zh-TW" altLang="en-US" sz="2800" dirty="0" smtClean="0">
                <a:latin typeface="標楷體" panose="03000509000000000000" pitchFamily="65" charset="-120"/>
                <a:ea typeface="標楷體" panose="03000509000000000000" pitchFamily="65" charset="-120"/>
                <a:cs typeface="SimSun"/>
              </a:rPr>
              <a:t>值</a:t>
            </a:r>
            <a:r>
              <a:rPr lang="zh-TW" altLang="en-US" sz="2800" spc="-5" dirty="0" smtClean="0">
                <a:latin typeface="標楷體" panose="03000509000000000000" pitchFamily="65" charset="-120"/>
                <a:ea typeface="標楷體" panose="03000509000000000000" pitchFamily="65" charset="-120"/>
                <a:cs typeface="SimSun"/>
              </a:rPr>
              <a:t>。</a:t>
            </a:r>
            <a:endParaRPr lang="zh-TW" altLang="en-US" sz="2800" dirty="0" smtClean="0">
              <a:latin typeface="標楷體" panose="03000509000000000000" pitchFamily="65" charset="-120"/>
              <a:ea typeface="標楷體" panose="03000509000000000000" pitchFamily="65" charset="-120"/>
              <a:cs typeface="SimSun"/>
            </a:endParaRPr>
          </a:p>
          <a:p>
            <a:pPr marL="355600" marR="5080" indent="-342900">
              <a:lnSpc>
                <a:spcPct val="100000"/>
              </a:lnSpc>
              <a:spcBef>
                <a:spcPts val="675"/>
              </a:spcBef>
              <a:buSzPct val="96428"/>
              <a:buAutoNum type="arabicPeriod"/>
              <a:tabLst>
                <a:tab pos="369570" algn="l"/>
              </a:tabLst>
            </a:pPr>
            <a:r>
              <a:rPr sz="2800" spc="-5" dirty="0" err="1" smtClean="0">
                <a:latin typeface="標楷體" panose="03000509000000000000" pitchFamily="65" charset="-120"/>
                <a:ea typeface="標楷體" panose="03000509000000000000" pitchFamily="65" charset="-120"/>
                <a:cs typeface="SimSun"/>
              </a:rPr>
              <a:t>重新定義工</a:t>
            </a:r>
            <a:r>
              <a:rPr sz="2800" spc="5" dirty="0" err="1" smtClean="0">
                <a:latin typeface="標楷體" panose="03000509000000000000" pitchFamily="65" charset="-120"/>
                <a:ea typeface="標楷體" panose="03000509000000000000" pitchFamily="65" charset="-120"/>
                <a:cs typeface="SimSun"/>
              </a:rPr>
              <a:t>作</a:t>
            </a:r>
            <a:r>
              <a:rPr sz="2800" spc="-5" dirty="0">
                <a:latin typeface="標楷體" panose="03000509000000000000" pitchFamily="65" charset="-120"/>
                <a:ea typeface="標楷體" panose="03000509000000000000" pitchFamily="65" charset="-120"/>
                <a:cs typeface="SimSun"/>
              </a:rPr>
              <a:t>:</a:t>
            </a:r>
            <a:r>
              <a:rPr sz="2800" spc="-50" dirty="0">
                <a:latin typeface="標楷體" panose="03000509000000000000" pitchFamily="65" charset="-120"/>
                <a:ea typeface="標楷體" panose="03000509000000000000" pitchFamily="65" charset="-120"/>
                <a:cs typeface="SimSun"/>
              </a:rPr>
              <a:t> </a:t>
            </a:r>
            <a:r>
              <a:rPr sz="2800" b="1" dirty="0">
                <a:latin typeface="標楷體" panose="03000509000000000000" pitchFamily="65" charset="-120"/>
                <a:ea typeface="標楷體" panose="03000509000000000000" pitchFamily="65" charset="-120"/>
                <a:cs typeface="Microsoft YaHei UI"/>
              </a:rPr>
              <a:t>任</a:t>
            </a:r>
            <a:r>
              <a:rPr sz="2800" b="1" spc="-10" dirty="0">
                <a:latin typeface="標楷體" panose="03000509000000000000" pitchFamily="65" charset="-120"/>
                <a:ea typeface="標楷體" panose="03000509000000000000" pitchFamily="65" charset="-120"/>
                <a:cs typeface="Microsoft YaHei UI"/>
              </a:rPr>
              <a:t>何</a:t>
            </a:r>
            <a:r>
              <a:rPr sz="2800" b="1" spc="-5" dirty="0">
                <a:solidFill>
                  <a:srgbClr val="C00000"/>
                </a:solidFill>
                <a:latin typeface="標楷體" panose="03000509000000000000" pitchFamily="65" charset="-120"/>
                <a:ea typeface="標楷體" panose="03000509000000000000" pitchFamily="65" charset="-120"/>
                <a:cs typeface="Microsoft YaHei UI"/>
              </a:rPr>
              <a:t>很難創造利潤的「工作</a:t>
            </a:r>
            <a:r>
              <a:rPr sz="2800" b="1" spc="5" dirty="0">
                <a:solidFill>
                  <a:srgbClr val="C00000"/>
                </a:solidFill>
                <a:latin typeface="標楷體" panose="03000509000000000000" pitchFamily="65" charset="-120"/>
                <a:ea typeface="標楷體" panose="03000509000000000000" pitchFamily="65" charset="-120"/>
                <a:cs typeface="Microsoft YaHei UI"/>
              </a:rPr>
              <a:t>」</a:t>
            </a:r>
            <a:r>
              <a:rPr sz="2800" b="1" spc="-5" dirty="0">
                <a:latin typeface="標楷體" panose="03000509000000000000" pitchFamily="65" charset="-120"/>
                <a:ea typeface="標楷體" panose="03000509000000000000" pitchFamily="65" charset="-120"/>
                <a:cs typeface="Microsoft YaHei UI"/>
              </a:rPr>
              <a:t>， </a:t>
            </a:r>
            <a:r>
              <a:rPr sz="2800" b="1" spc="-819" dirty="0">
                <a:latin typeface="標楷體" panose="03000509000000000000" pitchFamily="65" charset="-120"/>
                <a:ea typeface="標楷體" panose="03000509000000000000" pitchFamily="65" charset="-120"/>
                <a:cs typeface="Microsoft YaHei UI"/>
              </a:rPr>
              <a:t> </a:t>
            </a:r>
            <a:r>
              <a:rPr sz="2800" b="1" spc="5" dirty="0">
                <a:latin typeface="標楷體" panose="03000509000000000000" pitchFamily="65" charset="-120"/>
                <a:ea typeface="標楷體" panose="03000509000000000000" pitchFamily="65" charset="-120"/>
                <a:cs typeface="Microsoft YaHei UI"/>
              </a:rPr>
              <a:t>如</a:t>
            </a:r>
            <a:r>
              <a:rPr sz="2800" b="1" spc="585" dirty="0">
                <a:latin typeface="標楷體" panose="03000509000000000000" pitchFamily="65" charset="-120"/>
                <a:ea typeface="標楷體" panose="03000509000000000000" pitchFamily="65" charset="-120"/>
                <a:cs typeface="Microsoft YaHei UI"/>
              </a:rPr>
              <a:t>:</a:t>
            </a:r>
            <a:r>
              <a:rPr sz="2800" b="1" dirty="0">
                <a:latin typeface="標楷體" panose="03000509000000000000" pitchFamily="65" charset="-120"/>
                <a:ea typeface="標楷體" panose="03000509000000000000" pitchFamily="65" charset="-120"/>
                <a:cs typeface="Microsoft YaHei UI"/>
              </a:rPr>
              <a:t>健</a:t>
            </a:r>
            <a:r>
              <a:rPr sz="2800" b="1" spc="-5" dirty="0">
                <a:latin typeface="標楷體" panose="03000509000000000000" pitchFamily="65" charset="-120"/>
                <a:ea typeface="標楷體" panose="03000509000000000000" pitchFamily="65" charset="-120"/>
                <a:cs typeface="Microsoft YaHei UI"/>
              </a:rPr>
              <a:t>全</a:t>
            </a:r>
            <a:r>
              <a:rPr sz="2800" b="1" dirty="0">
                <a:latin typeface="標楷體" panose="03000509000000000000" pitchFamily="65" charset="-120"/>
                <a:ea typeface="標楷體" panose="03000509000000000000" pitchFamily="65" charset="-120"/>
                <a:cs typeface="Microsoft YaHei UI"/>
              </a:rPr>
              <a:t>家</a:t>
            </a:r>
            <a:r>
              <a:rPr sz="2800" b="1" spc="-5" dirty="0">
                <a:latin typeface="標楷體" panose="03000509000000000000" pitchFamily="65" charset="-120"/>
                <a:ea typeface="標楷體" panose="03000509000000000000" pitchFamily="65" charset="-120"/>
                <a:cs typeface="Microsoft YaHei UI"/>
              </a:rPr>
              <a:t>庭、振</a:t>
            </a:r>
            <a:r>
              <a:rPr sz="2800" b="1" dirty="0">
                <a:latin typeface="標楷體" panose="03000509000000000000" pitchFamily="65" charset="-120"/>
                <a:ea typeface="標楷體" panose="03000509000000000000" pitchFamily="65" charset="-120"/>
                <a:cs typeface="Microsoft YaHei UI"/>
              </a:rPr>
              <a:t>興</a:t>
            </a:r>
            <a:r>
              <a:rPr sz="2800" b="1" spc="-5" dirty="0">
                <a:latin typeface="標楷體" panose="03000509000000000000" pitchFamily="65" charset="-120"/>
                <a:ea typeface="標楷體" panose="03000509000000000000" pitchFamily="65" charset="-120"/>
                <a:cs typeface="Microsoft YaHei UI"/>
              </a:rPr>
              <a:t>社區、</a:t>
            </a:r>
            <a:r>
              <a:rPr sz="2800" b="1" dirty="0">
                <a:latin typeface="標楷體" panose="03000509000000000000" pitchFamily="65" charset="-120"/>
                <a:ea typeface="標楷體" panose="03000509000000000000" pitchFamily="65" charset="-120"/>
                <a:cs typeface="Microsoft YaHei UI"/>
              </a:rPr>
              <a:t>促</a:t>
            </a:r>
            <a:r>
              <a:rPr sz="2800" b="1" spc="-5" dirty="0">
                <a:latin typeface="標楷體" panose="03000509000000000000" pitchFamily="65" charset="-120"/>
                <a:ea typeface="標楷體" panose="03000509000000000000" pitchFamily="65" charset="-120"/>
                <a:cs typeface="Microsoft YaHei UI"/>
              </a:rPr>
              <a:t>進社會</a:t>
            </a:r>
            <a:r>
              <a:rPr sz="2800" b="1" dirty="0">
                <a:latin typeface="標楷體" panose="03000509000000000000" pitchFamily="65" charset="-120"/>
                <a:ea typeface="標楷體" panose="03000509000000000000" pitchFamily="65" charset="-120"/>
                <a:cs typeface="Microsoft YaHei UI"/>
              </a:rPr>
              <a:t>正</a:t>
            </a:r>
            <a:r>
              <a:rPr sz="2800" b="1" spc="-5" dirty="0">
                <a:latin typeface="標楷體" panose="03000509000000000000" pitchFamily="65" charset="-120"/>
                <a:ea typeface="標楷體" panose="03000509000000000000" pitchFamily="65" charset="-120"/>
                <a:cs typeface="Microsoft YaHei UI"/>
              </a:rPr>
              <a:t>義等，都 </a:t>
            </a:r>
            <a:r>
              <a:rPr sz="2800" b="1" dirty="0">
                <a:latin typeface="標楷體" panose="03000509000000000000" pitchFamily="65" charset="-120"/>
                <a:ea typeface="標楷體" panose="03000509000000000000" pitchFamily="65" charset="-120"/>
                <a:cs typeface="Microsoft YaHei UI"/>
              </a:rPr>
              <a:t>應</a:t>
            </a:r>
            <a:r>
              <a:rPr sz="2800" b="1" spc="-5" dirty="0">
                <a:latin typeface="標楷體" panose="03000509000000000000" pitchFamily="65" charset="-120"/>
                <a:ea typeface="標楷體" panose="03000509000000000000" pitchFamily="65" charset="-120"/>
                <a:cs typeface="Microsoft YaHei UI"/>
              </a:rPr>
              <a:t>該被賦</a:t>
            </a:r>
            <a:r>
              <a:rPr sz="2800" b="1" dirty="0">
                <a:latin typeface="標楷體" panose="03000509000000000000" pitchFamily="65" charset="-120"/>
                <a:ea typeface="標楷體" panose="03000509000000000000" pitchFamily="65" charset="-120"/>
                <a:cs typeface="Microsoft YaHei UI"/>
              </a:rPr>
              <a:t>予</a:t>
            </a:r>
            <a:r>
              <a:rPr sz="2800" b="1" spc="-5" dirty="0">
                <a:latin typeface="標楷體" panose="03000509000000000000" pitchFamily="65" charset="-120"/>
                <a:ea typeface="標楷體" panose="03000509000000000000" pitchFamily="65" charset="-120"/>
                <a:cs typeface="Microsoft YaHei UI"/>
              </a:rPr>
              <a:t>價值。</a:t>
            </a:r>
            <a:endParaRPr sz="2800" dirty="0">
              <a:latin typeface="標楷體" panose="03000509000000000000" pitchFamily="65" charset="-120"/>
              <a:ea typeface="標楷體" panose="03000509000000000000" pitchFamily="65" charset="-120"/>
              <a:cs typeface="Microsoft YaHei UI"/>
            </a:endParaRPr>
          </a:p>
        </p:txBody>
      </p:sp>
      <p:sp>
        <p:nvSpPr>
          <p:cNvPr id="3" name="object 3"/>
          <p:cNvSpPr txBox="1">
            <a:spLocks noGrp="1"/>
          </p:cNvSpPr>
          <p:nvPr>
            <p:ph type="title"/>
          </p:nvPr>
        </p:nvSpPr>
        <p:spPr>
          <a:xfrm>
            <a:off x="0" y="457200"/>
            <a:ext cx="8991599" cy="624915"/>
          </a:xfrm>
          <a:prstGeom prst="rect">
            <a:avLst/>
          </a:prstGeom>
        </p:spPr>
        <p:txBody>
          <a:bodyPr vert="horz" wrap="square" lIns="0" tIns="3175" rIns="0" bIns="0" rtlCol="0">
            <a:spAutoFit/>
          </a:bodyPr>
          <a:lstStyle/>
          <a:p>
            <a:pPr marL="2454275" marR="5080" indent="-2442210">
              <a:lnSpc>
                <a:spcPct val="101499"/>
              </a:lnSpc>
              <a:spcBef>
                <a:spcPts val="25"/>
              </a:spcBef>
            </a:pPr>
            <a:r>
              <a:rPr sz="3600" b="1" spc="-30" dirty="0" smtClean="0">
                <a:latin typeface="標楷體" panose="03000509000000000000" pitchFamily="65" charset="-120"/>
                <a:ea typeface="標楷體" panose="03000509000000000000" pitchFamily="65" charset="-120"/>
                <a:cs typeface="Calibri"/>
              </a:rPr>
              <a:t>Edgar</a:t>
            </a:r>
            <a:r>
              <a:rPr sz="3600" b="1" spc="-15" dirty="0" smtClean="0">
                <a:latin typeface="標楷體" panose="03000509000000000000" pitchFamily="65" charset="-120"/>
                <a:ea typeface="標楷體" panose="03000509000000000000" pitchFamily="65" charset="-120"/>
                <a:cs typeface="Calibri"/>
              </a:rPr>
              <a:t> </a:t>
            </a:r>
            <a:r>
              <a:rPr sz="3600" b="1" spc="-10" dirty="0" err="1" smtClean="0">
                <a:latin typeface="標楷體" panose="03000509000000000000" pitchFamily="65" charset="-120"/>
                <a:ea typeface="標楷體" panose="03000509000000000000" pitchFamily="65" charset="-120"/>
                <a:cs typeface="Calibri"/>
              </a:rPr>
              <a:t>S.</a:t>
            </a:r>
            <a:r>
              <a:rPr sz="3600" b="1" spc="-15" dirty="0" err="1" smtClean="0">
                <a:latin typeface="標楷體" panose="03000509000000000000" pitchFamily="65" charset="-120"/>
                <a:ea typeface="標楷體" panose="03000509000000000000" pitchFamily="65" charset="-120"/>
                <a:cs typeface="Calibri"/>
              </a:rPr>
              <a:t>Cahn</a:t>
            </a:r>
            <a:r>
              <a:rPr sz="4000" spc="5" dirty="0" err="1" smtClean="0">
                <a:latin typeface="標楷體" panose="03000509000000000000" pitchFamily="65" charset="-120"/>
                <a:ea typeface="標楷體" panose="03000509000000000000" pitchFamily="65" charset="-120"/>
              </a:rPr>
              <a:t>創辦時間銀行的</a:t>
            </a:r>
            <a:r>
              <a:rPr sz="4000" spc="-5" dirty="0" err="1" smtClean="0">
                <a:latin typeface="標楷體" panose="03000509000000000000" pitchFamily="65" charset="-120"/>
                <a:ea typeface="標楷體" panose="03000509000000000000" pitchFamily="65" charset="-120"/>
              </a:rPr>
              <a:t>概念</a:t>
            </a:r>
            <a:r>
              <a:rPr sz="4000" dirty="0">
                <a:latin typeface="標楷體" panose="03000509000000000000" pitchFamily="65" charset="-120"/>
                <a:ea typeface="標楷體" panose="03000509000000000000" pitchFamily="65" charset="-120"/>
              </a:rPr>
              <a:t>(</a:t>
            </a:r>
            <a:r>
              <a:rPr sz="4000" spc="-5" dirty="0">
                <a:latin typeface="標楷體" panose="03000509000000000000" pitchFamily="65" charset="-120"/>
                <a:ea typeface="標楷體" panose="03000509000000000000" pitchFamily="65" charset="-120"/>
              </a:rPr>
              <a:t>初</a:t>
            </a:r>
            <a:r>
              <a:rPr sz="4000" dirty="0">
                <a:latin typeface="標楷體" panose="03000509000000000000" pitchFamily="65" charset="-120"/>
                <a:ea typeface="標楷體" panose="03000509000000000000" pitchFamily="65" charset="-120"/>
              </a:rPr>
              <a:t>衷</a:t>
            </a:r>
            <a:r>
              <a:rPr sz="4000" spc="-5" dirty="0">
                <a:latin typeface="標楷體" panose="03000509000000000000" pitchFamily="65" charset="-120"/>
                <a:ea typeface="標楷體" panose="03000509000000000000" pitchFamily="65" charset="-120"/>
              </a:rPr>
              <a:t>)</a:t>
            </a:r>
            <a:endParaRPr sz="4000" dirty="0">
              <a:latin typeface="標楷體" panose="03000509000000000000" pitchFamily="65" charset="-120"/>
              <a:ea typeface="標楷體" panose="03000509000000000000" pitchFamily="65" charset="-120"/>
              <a:cs typeface="Calibri"/>
            </a:endParaRPr>
          </a:p>
        </p:txBody>
      </p:sp>
      <p:sp>
        <p:nvSpPr>
          <p:cNvPr id="4" name="object 4"/>
          <p:cNvSpPr/>
          <p:nvPr/>
        </p:nvSpPr>
        <p:spPr>
          <a:xfrm>
            <a:off x="1547622" y="5562600"/>
            <a:ext cx="7200900" cy="1196975"/>
          </a:xfrm>
          <a:custGeom>
            <a:avLst/>
            <a:gdLst/>
            <a:ahLst/>
            <a:cxnLst/>
            <a:rect l="l" t="t" r="r" b="b"/>
            <a:pathLst>
              <a:path w="7200900" h="1196975">
                <a:moveTo>
                  <a:pt x="7200773" y="0"/>
                </a:moveTo>
                <a:lnTo>
                  <a:pt x="0" y="0"/>
                </a:lnTo>
                <a:lnTo>
                  <a:pt x="0" y="1196748"/>
                </a:lnTo>
                <a:lnTo>
                  <a:pt x="7200773" y="1196748"/>
                </a:lnTo>
                <a:lnTo>
                  <a:pt x="7200773" y="0"/>
                </a:lnTo>
                <a:close/>
              </a:path>
            </a:pathLst>
          </a:custGeom>
          <a:solidFill>
            <a:srgbClr val="FFFF00"/>
          </a:solidFill>
        </p:spPr>
        <p:txBody>
          <a:bodyPr wrap="square" lIns="0" tIns="0" rIns="0" bIns="0" rtlCol="0"/>
          <a:lstStyle/>
          <a:p>
            <a:endParaRPr/>
          </a:p>
        </p:txBody>
      </p:sp>
      <p:sp>
        <p:nvSpPr>
          <p:cNvPr id="5" name="object 5"/>
          <p:cNvSpPr txBox="1"/>
          <p:nvPr/>
        </p:nvSpPr>
        <p:spPr>
          <a:xfrm>
            <a:off x="1626870" y="5562600"/>
            <a:ext cx="6656070" cy="1123315"/>
          </a:xfrm>
          <a:prstGeom prst="rect">
            <a:avLst/>
          </a:prstGeom>
        </p:spPr>
        <p:txBody>
          <a:bodyPr vert="horz" wrap="square" lIns="0" tIns="12700" rIns="0" bIns="0" rtlCol="0">
            <a:spAutoFit/>
          </a:bodyPr>
          <a:lstStyle/>
          <a:p>
            <a:pPr marL="12700" marR="5080">
              <a:lnSpc>
                <a:spcPct val="100000"/>
              </a:lnSpc>
              <a:spcBef>
                <a:spcPts val="100"/>
              </a:spcBef>
            </a:pPr>
            <a:r>
              <a:rPr sz="3600" spc="-5" dirty="0" err="1" smtClean="0">
                <a:latin typeface="標楷體" panose="03000509000000000000" pitchFamily="65" charset="-120"/>
                <a:ea typeface="標楷體" panose="03000509000000000000" pitchFamily="65" charset="-120"/>
                <a:cs typeface="SimSun"/>
              </a:rPr>
              <a:t>使用時間貨幣</a:t>
            </a:r>
            <a:r>
              <a:rPr sz="3600" dirty="0" err="1" smtClean="0">
                <a:latin typeface="標楷體" panose="03000509000000000000" pitchFamily="65" charset="-120"/>
                <a:ea typeface="標楷體" panose="03000509000000000000" pitchFamily="65" charset="-120"/>
                <a:cs typeface="SimSun"/>
              </a:rPr>
              <a:t>的</a:t>
            </a:r>
            <a:r>
              <a:rPr sz="3600" spc="-5" dirty="0" err="1" smtClean="0">
                <a:latin typeface="標楷體" panose="03000509000000000000" pitchFamily="65" charset="-120"/>
                <a:ea typeface="標楷體" panose="03000509000000000000" pitchFamily="65" charset="-120"/>
                <a:cs typeface="SimSun"/>
              </a:rPr>
              <a:t>原</a:t>
            </a:r>
            <a:r>
              <a:rPr sz="3600" dirty="0" err="1" smtClean="0">
                <a:latin typeface="標楷體" panose="03000509000000000000" pitchFamily="65" charset="-120"/>
                <a:ea typeface="標楷體" panose="03000509000000000000" pitchFamily="65" charset="-120"/>
                <a:cs typeface="SimSun"/>
              </a:rPr>
              <a:t>因</a:t>
            </a:r>
            <a:r>
              <a:rPr sz="3600" dirty="0">
                <a:latin typeface="標楷體" panose="03000509000000000000" pitchFamily="65" charset="-120"/>
                <a:ea typeface="標楷體" panose="03000509000000000000" pitchFamily="65" charset="-120"/>
                <a:cs typeface="SimSun"/>
              </a:rPr>
              <a:t>: 重視每一個人的價值與可能</a:t>
            </a:r>
            <a:r>
              <a:rPr sz="3600" spc="5" dirty="0">
                <a:latin typeface="標楷體" panose="03000509000000000000" pitchFamily="65" charset="-120"/>
                <a:ea typeface="標楷體" panose="03000509000000000000" pitchFamily="65" charset="-120"/>
                <a:cs typeface="SimSun"/>
              </a:rPr>
              <a:t>性</a:t>
            </a:r>
            <a:r>
              <a:rPr sz="3600" dirty="0">
                <a:latin typeface="標楷體" panose="03000509000000000000" pitchFamily="65" charset="-120"/>
                <a:ea typeface="標楷體" panose="03000509000000000000" pitchFamily="65" charset="-120"/>
                <a:cs typeface="SimSun"/>
              </a:rPr>
              <a:t>!!</a:t>
            </a:r>
          </a:p>
        </p:txBody>
      </p:sp>
    </p:spTree>
    <p:extLst>
      <p:ext uri="{BB962C8B-B14F-4D97-AF65-F5344CB8AC3E}">
        <p14:creationId xmlns:p14="http://schemas.microsoft.com/office/powerpoint/2010/main" val="2191194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39185" y="1411605"/>
            <a:ext cx="5360035" cy="1122680"/>
          </a:xfrm>
          <a:prstGeom prst="rect">
            <a:avLst/>
          </a:prstGeom>
        </p:spPr>
        <p:txBody>
          <a:bodyPr vert="horz" wrap="square" lIns="0" tIns="12700" rIns="0" bIns="0" rtlCol="0">
            <a:spAutoFit/>
          </a:bodyPr>
          <a:lstStyle/>
          <a:p>
            <a:pPr marL="12700" marR="5080">
              <a:lnSpc>
                <a:spcPct val="120000"/>
              </a:lnSpc>
              <a:spcBef>
                <a:spcPts val="100"/>
              </a:spcBef>
            </a:pPr>
            <a:r>
              <a:rPr sz="3000" dirty="0">
                <a:latin typeface="標楷體" panose="03000509000000000000" pitchFamily="65" charset="-120"/>
                <a:ea typeface="標楷體" panose="03000509000000000000" pitchFamily="65" charset="-120"/>
                <a:cs typeface="SimSun"/>
              </a:rPr>
              <a:t>1980年,提出時間銀行那</a:t>
            </a:r>
            <a:r>
              <a:rPr sz="3000" spc="5" dirty="0">
                <a:latin typeface="標楷體" panose="03000509000000000000" pitchFamily="65" charset="-120"/>
                <a:ea typeface="標楷體" panose="03000509000000000000" pitchFamily="65" charset="-120"/>
                <a:cs typeface="SimSun"/>
              </a:rPr>
              <a:t>年</a:t>
            </a:r>
            <a:r>
              <a:rPr sz="3000" dirty="0">
                <a:latin typeface="標楷體" panose="03000509000000000000" pitchFamily="65" charset="-120"/>
                <a:ea typeface="標楷體" panose="03000509000000000000" pitchFamily="65" charset="-120"/>
                <a:cs typeface="SimSun"/>
              </a:rPr>
              <a:t>,42 </a:t>
            </a:r>
            <a:r>
              <a:rPr sz="3000" spc="5" dirty="0">
                <a:latin typeface="標楷體" panose="03000509000000000000" pitchFamily="65" charset="-120"/>
                <a:ea typeface="標楷體" panose="03000509000000000000" pitchFamily="65" charset="-120"/>
                <a:cs typeface="SimSun"/>
              </a:rPr>
              <a:t> </a:t>
            </a:r>
            <a:r>
              <a:rPr sz="3000" dirty="0">
                <a:latin typeface="標楷體" panose="03000509000000000000" pitchFamily="65" charset="-120"/>
                <a:ea typeface="標楷體" panose="03000509000000000000" pitchFamily="65" charset="-120"/>
                <a:cs typeface="SimSun"/>
              </a:rPr>
              <a:t>年前…當年，他生了一場大</a:t>
            </a:r>
            <a:r>
              <a:rPr sz="3000" spc="5" dirty="0">
                <a:latin typeface="標楷體" panose="03000509000000000000" pitchFamily="65" charset="-120"/>
                <a:ea typeface="標楷體" panose="03000509000000000000" pitchFamily="65" charset="-120"/>
                <a:cs typeface="SimSun"/>
              </a:rPr>
              <a:t>病</a:t>
            </a:r>
            <a:r>
              <a:rPr sz="3000" dirty="0">
                <a:latin typeface="標楷體" panose="03000509000000000000" pitchFamily="65" charset="-120"/>
                <a:ea typeface="標楷體" panose="03000509000000000000" pitchFamily="65" charset="-120"/>
                <a:cs typeface="SimSun"/>
              </a:rPr>
              <a:t>…</a:t>
            </a:r>
          </a:p>
        </p:txBody>
      </p:sp>
      <p:sp>
        <p:nvSpPr>
          <p:cNvPr id="3" name="object 3"/>
          <p:cNvSpPr txBox="1"/>
          <p:nvPr/>
        </p:nvSpPr>
        <p:spPr>
          <a:xfrm>
            <a:off x="2971800" y="2640965"/>
            <a:ext cx="5359400" cy="2769235"/>
          </a:xfrm>
          <a:prstGeom prst="rect">
            <a:avLst/>
          </a:prstGeom>
        </p:spPr>
        <p:txBody>
          <a:bodyPr vert="horz" wrap="square" lIns="0" tIns="12700" rIns="0" bIns="0" rtlCol="0">
            <a:spAutoFit/>
          </a:bodyPr>
          <a:lstStyle/>
          <a:p>
            <a:pPr marL="12700" marR="5080" algn="just">
              <a:lnSpc>
                <a:spcPct val="120000"/>
              </a:lnSpc>
              <a:spcBef>
                <a:spcPts val="100"/>
              </a:spcBef>
            </a:pPr>
            <a:r>
              <a:rPr sz="3000" dirty="0">
                <a:latin typeface="標楷體" panose="03000509000000000000" pitchFamily="65" charset="-120"/>
                <a:ea typeface="標楷體" panose="03000509000000000000" pitchFamily="65" charset="-120"/>
                <a:cs typeface="SimSun"/>
              </a:rPr>
              <a:t>他的父親是一名律師和法學教授 </a:t>
            </a:r>
            <a:r>
              <a:rPr sz="3000" spc="-5" dirty="0">
                <a:latin typeface="標楷體" panose="03000509000000000000" pitchFamily="65" charset="-120"/>
                <a:ea typeface="標楷體" panose="03000509000000000000" pitchFamily="65" charset="-120"/>
                <a:cs typeface="SimSun"/>
              </a:rPr>
              <a:t>他本身更是一位傑出的法律教授 </a:t>
            </a:r>
            <a:r>
              <a:rPr sz="3000" dirty="0">
                <a:latin typeface="標楷體" panose="03000509000000000000" pitchFamily="65" charset="-120"/>
                <a:ea typeface="標楷體" panose="03000509000000000000" pitchFamily="65" charset="-120"/>
                <a:cs typeface="SimSun"/>
              </a:rPr>
              <a:t>他的妻子是非洲裔美國人，當時 他們跨越種族和膚色的婚姻並不 被社會大眾都接受…</a:t>
            </a:r>
          </a:p>
        </p:txBody>
      </p:sp>
      <p:sp>
        <p:nvSpPr>
          <p:cNvPr id="4" name="object 4"/>
          <p:cNvSpPr txBox="1">
            <a:spLocks noGrp="1"/>
          </p:cNvSpPr>
          <p:nvPr>
            <p:ph type="title"/>
          </p:nvPr>
        </p:nvSpPr>
        <p:spPr>
          <a:xfrm>
            <a:off x="762000" y="315848"/>
            <a:ext cx="7392009" cy="673902"/>
          </a:xfrm>
          <a:prstGeom prst="rect">
            <a:avLst/>
          </a:prstGeom>
        </p:spPr>
        <p:txBody>
          <a:bodyPr vert="horz" wrap="square" lIns="0" tIns="12065" rIns="0" bIns="0" rtlCol="0">
            <a:spAutoFit/>
          </a:bodyPr>
          <a:lstStyle/>
          <a:p>
            <a:pPr marL="12700">
              <a:lnSpc>
                <a:spcPct val="100000"/>
              </a:lnSpc>
              <a:spcBef>
                <a:spcPts val="95"/>
              </a:spcBef>
            </a:pPr>
            <a:r>
              <a:rPr sz="4300" spc="-5" dirty="0">
                <a:latin typeface="標楷體" panose="03000509000000000000" pitchFamily="65" charset="-120"/>
                <a:ea typeface="標楷體" panose="03000509000000000000" pitchFamily="65" charset="-120"/>
              </a:rPr>
              <a:t>回</a:t>
            </a:r>
            <a:r>
              <a:rPr sz="4300" spc="-10" dirty="0">
                <a:latin typeface="標楷體" panose="03000509000000000000" pitchFamily="65" charset="-120"/>
                <a:ea typeface="標楷體" panose="03000509000000000000" pitchFamily="65" charset="-120"/>
              </a:rPr>
              <a:t>顧</a:t>
            </a:r>
            <a:r>
              <a:rPr sz="4300" b="1" spc="-30" dirty="0">
                <a:latin typeface="標楷體" panose="03000509000000000000" pitchFamily="65" charset="-120"/>
                <a:ea typeface="標楷體" panose="03000509000000000000" pitchFamily="65" charset="-120"/>
                <a:cs typeface="Calibri"/>
              </a:rPr>
              <a:t>Edgar</a:t>
            </a:r>
            <a:r>
              <a:rPr sz="4300" b="1" spc="-20" dirty="0">
                <a:latin typeface="標楷體" panose="03000509000000000000" pitchFamily="65" charset="-120"/>
                <a:ea typeface="標楷體" panose="03000509000000000000" pitchFamily="65" charset="-120"/>
                <a:cs typeface="Calibri"/>
              </a:rPr>
              <a:t> </a:t>
            </a:r>
            <a:r>
              <a:rPr sz="4300" b="1" spc="-5" dirty="0">
                <a:latin typeface="標楷體" panose="03000509000000000000" pitchFamily="65" charset="-120"/>
                <a:ea typeface="標楷體" panose="03000509000000000000" pitchFamily="65" charset="-120"/>
                <a:cs typeface="Calibri"/>
              </a:rPr>
              <a:t>S.</a:t>
            </a:r>
            <a:r>
              <a:rPr sz="4300" b="1" spc="-15" dirty="0">
                <a:latin typeface="標楷體" panose="03000509000000000000" pitchFamily="65" charset="-120"/>
                <a:ea typeface="標楷體" panose="03000509000000000000" pitchFamily="65" charset="-120"/>
                <a:cs typeface="Calibri"/>
              </a:rPr>
              <a:t> </a:t>
            </a:r>
            <a:r>
              <a:rPr sz="4300" b="1" spc="-10" dirty="0">
                <a:latin typeface="標楷體" panose="03000509000000000000" pitchFamily="65" charset="-120"/>
                <a:ea typeface="標楷體" panose="03000509000000000000" pitchFamily="65" charset="-120"/>
                <a:cs typeface="Calibri"/>
              </a:rPr>
              <a:t>Cahn</a:t>
            </a:r>
            <a:r>
              <a:rPr sz="4300" spc="-5" dirty="0">
                <a:latin typeface="標楷體" panose="03000509000000000000" pitchFamily="65" charset="-120"/>
                <a:ea typeface="標楷體" panose="03000509000000000000" pitchFamily="65" charset="-120"/>
              </a:rPr>
              <a:t>的生命歷程</a:t>
            </a:r>
            <a:endParaRPr sz="4300" dirty="0">
              <a:latin typeface="標楷體" panose="03000509000000000000" pitchFamily="65" charset="-120"/>
              <a:ea typeface="標楷體" panose="03000509000000000000" pitchFamily="65" charset="-120"/>
              <a:cs typeface="Calibri"/>
            </a:endParaRPr>
          </a:p>
        </p:txBody>
      </p:sp>
      <p:pic>
        <p:nvPicPr>
          <p:cNvPr id="5" name="object 5"/>
          <p:cNvPicPr/>
          <p:nvPr/>
        </p:nvPicPr>
        <p:blipFill>
          <a:blip r:embed="rId2" cstate="print"/>
          <a:stretch>
            <a:fillRect/>
          </a:stretch>
        </p:blipFill>
        <p:spPr>
          <a:xfrm>
            <a:off x="539546" y="1484757"/>
            <a:ext cx="2376297" cy="3965448"/>
          </a:xfrm>
          <a:prstGeom prst="rect">
            <a:avLst/>
          </a:prstGeom>
        </p:spPr>
      </p:pic>
      <p:sp>
        <p:nvSpPr>
          <p:cNvPr id="6" name="object 6"/>
          <p:cNvSpPr/>
          <p:nvPr/>
        </p:nvSpPr>
        <p:spPr>
          <a:xfrm>
            <a:off x="1403603" y="6021285"/>
            <a:ext cx="7740650" cy="646430"/>
          </a:xfrm>
          <a:custGeom>
            <a:avLst/>
            <a:gdLst/>
            <a:ahLst/>
            <a:cxnLst/>
            <a:rect l="l" t="t" r="r" b="b"/>
            <a:pathLst>
              <a:path w="7740650" h="646429">
                <a:moveTo>
                  <a:pt x="7740396" y="0"/>
                </a:moveTo>
                <a:lnTo>
                  <a:pt x="0" y="0"/>
                </a:lnTo>
                <a:lnTo>
                  <a:pt x="0" y="646328"/>
                </a:lnTo>
                <a:lnTo>
                  <a:pt x="7740396" y="646328"/>
                </a:lnTo>
                <a:lnTo>
                  <a:pt x="7740396" y="0"/>
                </a:lnTo>
                <a:close/>
              </a:path>
            </a:pathLst>
          </a:custGeom>
          <a:solidFill>
            <a:srgbClr val="FFFF00"/>
          </a:solidFill>
        </p:spPr>
        <p:txBody>
          <a:bodyPr wrap="square" lIns="0" tIns="0" rIns="0" bIns="0" rtlCol="0"/>
          <a:lstStyle/>
          <a:p>
            <a:endParaRPr/>
          </a:p>
        </p:txBody>
      </p:sp>
      <p:sp>
        <p:nvSpPr>
          <p:cNvPr id="7" name="object 7"/>
          <p:cNvSpPr txBox="1"/>
          <p:nvPr/>
        </p:nvSpPr>
        <p:spPr>
          <a:xfrm>
            <a:off x="1482597" y="6037579"/>
            <a:ext cx="7570470" cy="574040"/>
          </a:xfrm>
          <a:prstGeom prst="rect">
            <a:avLst/>
          </a:prstGeom>
        </p:spPr>
        <p:txBody>
          <a:bodyPr vert="horz" wrap="square" lIns="0" tIns="12700" rIns="0" bIns="0" rtlCol="0">
            <a:spAutoFit/>
          </a:bodyPr>
          <a:lstStyle/>
          <a:p>
            <a:pPr marL="12700">
              <a:lnSpc>
                <a:spcPct val="100000"/>
              </a:lnSpc>
              <a:spcBef>
                <a:spcPts val="100"/>
              </a:spcBef>
            </a:pPr>
            <a:r>
              <a:rPr sz="3600" dirty="0">
                <a:latin typeface="標楷體" panose="03000509000000000000" pitchFamily="65" charset="-120"/>
                <a:ea typeface="標楷體" panose="03000509000000000000" pitchFamily="65" charset="-120"/>
                <a:cs typeface="SimSun"/>
              </a:rPr>
              <a:t>你能感受到他想要的那個美好社會</a:t>
            </a:r>
            <a:r>
              <a:rPr sz="3600" spc="10" dirty="0">
                <a:latin typeface="標楷體" panose="03000509000000000000" pitchFamily="65" charset="-120"/>
                <a:ea typeface="標楷體" panose="03000509000000000000" pitchFamily="65" charset="-120"/>
                <a:cs typeface="SimSun"/>
              </a:rPr>
              <a:t>嗎</a:t>
            </a:r>
            <a:r>
              <a:rPr sz="3600" dirty="0">
                <a:latin typeface="標楷體" panose="03000509000000000000" pitchFamily="65" charset="-120"/>
                <a:ea typeface="標楷體" panose="03000509000000000000" pitchFamily="65" charset="-120"/>
                <a:cs typeface="SimSun"/>
              </a:rPr>
              <a:t>?</a:t>
            </a:r>
          </a:p>
        </p:txBody>
      </p:sp>
    </p:spTree>
    <p:extLst>
      <p:ext uri="{BB962C8B-B14F-4D97-AF65-F5344CB8AC3E}">
        <p14:creationId xmlns:p14="http://schemas.microsoft.com/office/powerpoint/2010/main" val="4175536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1905000" y="2286000"/>
            <a:ext cx="5257800" cy="4062651"/>
          </a:xfrm>
        </p:spPr>
        <p:txBody>
          <a:bodyPr/>
          <a:lstStyle/>
          <a:p>
            <a:r>
              <a:rPr lang="zh-TW" altLang="en-US" sz="6600" dirty="0" smtClean="0">
                <a:latin typeface="標楷體" panose="03000509000000000000" pitchFamily="65" charset="-120"/>
                <a:ea typeface="標楷體" panose="03000509000000000000" pitchFamily="65" charset="-120"/>
              </a:rPr>
              <a:t>開發每個人的</a:t>
            </a:r>
            <a:endParaRPr lang="en-US" altLang="zh-TW" sz="6600" dirty="0" smtClean="0">
              <a:latin typeface="標楷體" panose="03000509000000000000" pitchFamily="65" charset="-120"/>
              <a:ea typeface="標楷體" panose="03000509000000000000" pitchFamily="65" charset="-120"/>
            </a:endParaRPr>
          </a:p>
          <a:p>
            <a:r>
              <a:rPr lang="zh-TW" altLang="en-US" sz="6600" dirty="0" smtClean="0">
                <a:latin typeface="標楷體" panose="03000509000000000000" pitchFamily="65" charset="-120"/>
                <a:ea typeface="標楷體" panose="03000509000000000000" pitchFamily="65" charset="-120"/>
              </a:rPr>
              <a:t>價值與可能性</a:t>
            </a:r>
            <a:endParaRPr lang="zh-TW" altLang="en-US" sz="66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919863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1066800" y="1447800"/>
            <a:ext cx="7950200" cy="4985980"/>
          </a:xfrm>
        </p:spPr>
        <p:txBody>
          <a:bodyPr/>
          <a:lstStyle/>
          <a:p>
            <a:r>
              <a:rPr lang="zh-TW" altLang="en-US" sz="3600" dirty="0">
                <a:latin typeface="標楷體" panose="03000509000000000000" pitchFamily="65" charset="-120"/>
                <a:ea typeface="標楷體" panose="03000509000000000000" pitchFamily="65" charset="-120"/>
              </a:rPr>
              <a:t>時間銀行</a:t>
            </a:r>
            <a:r>
              <a:rPr lang="zh-TW" altLang="en-US" sz="3600" dirty="0" smtClean="0">
                <a:latin typeface="標楷體" panose="03000509000000000000" pitchFamily="65" charset="-120"/>
                <a:ea typeface="標楷體" panose="03000509000000000000" pitchFamily="65" charset="-120"/>
              </a:rPr>
              <a:t>不僅僅是</a:t>
            </a:r>
            <a:r>
              <a:rPr lang="zh-TW" altLang="en-US" sz="3600" dirty="0">
                <a:latin typeface="標楷體" panose="03000509000000000000" pitchFamily="65" charset="-120"/>
                <a:ea typeface="標楷體" panose="03000509000000000000" pitchFamily="65" charset="-120"/>
              </a:rPr>
              <a:t>一套</a:t>
            </a:r>
            <a:r>
              <a:rPr lang="zh-TW" altLang="en-US" sz="3600" dirty="0" smtClean="0">
                <a:latin typeface="標楷體" panose="03000509000000000000" pitchFamily="65" charset="-120"/>
                <a:ea typeface="標楷體" panose="03000509000000000000" pitchFamily="65" charset="-120"/>
              </a:rPr>
              <a:t>計算</a:t>
            </a:r>
            <a:r>
              <a:rPr lang="zh-TW" altLang="en-US" sz="3600" dirty="0">
                <a:latin typeface="標楷體" panose="03000509000000000000" pitchFamily="65" charset="-120"/>
                <a:ea typeface="標楷體" panose="03000509000000000000" pitchFamily="65" charset="-120"/>
              </a:rPr>
              <a:t>服務</a:t>
            </a:r>
            <a:r>
              <a:rPr lang="zh-TW" altLang="en-US" sz="3600" dirty="0" smtClean="0">
                <a:latin typeface="標楷體" panose="03000509000000000000" pitchFamily="65" charset="-120"/>
                <a:ea typeface="標楷體" panose="03000509000000000000" pitchFamily="65" charset="-120"/>
              </a:rPr>
              <a:t>提存</a:t>
            </a:r>
            <a:endParaRPr lang="en-US" altLang="zh-TW" sz="3600" dirty="0" smtClean="0">
              <a:latin typeface="標楷體" panose="03000509000000000000" pitchFamily="65" charset="-120"/>
              <a:ea typeface="標楷體" panose="03000509000000000000" pitchFamily="65" charset="-120"/>
            </a:endParaRPr>
          </a:p>
          <a:p>
            <a:r>
              <a:rPr lang="zh-TW" altLang="en-US" sz="3600" dirty="0" smtClean="0">
                <a:latin typeface="標楷體" panose="03000509000000000000" pitchFamily="65" charset="-120"/>
                <a:ea typeface="標楷體" panose="03000509000000000000" pitchFamily="65" charset="-120"/>
              </a:rPr>
              <a:t>的記帳</a:t>
            </a:r>
            <a:r>
              <a:rPr lang="zh-TW" altLang="en-US" sz="3600" dirty="0">
                <a:latin typeface="標楷體" panose="03000509000000000000" pitchFamily="65" charset="-120"/>
                <a:ea typeface="標楷體" panose="03000509000000000000" pitchFamily="65" charset="-120"/>
              </a:rPr>
              <a:t>方式</a:t>
            </a:r>
            <a:r>
              <a:rPr lang="zh-TW" altLang="en-US" sz="3600" dirty="0" smtClean="0">
                <a:latin typeface="標楷體" panose="03000509000000000000" pitchFamily="65" charset="-120"/>
                <a:ea typeface="標楷體" panose="03000509000000000000" pitchFamily="65" charset="-120"/>
              </a:rPr>
              <a:t>，</a:t>
            </a:r>
            <a:endParaRPr lang="en-US" altLang="zh-TW" sz="3600" dirty="0" smtClean="0">
              <a:latin typeface="標楷體" panose="03000509000000000000" pitchFamily="65" charset="-120"/>
              <a:ea typeface="標楷體" panose="03000509000000000000" pitchFamily="65" charset="-120"/>
            </a:endParaRPr>
          </a:p>
          <a:p>
            <a:r>
              <a:rPr lang="zh-TW" altLang="en-US" sz="3600" dirty="0" smtClean="0">
                <a:latin typeface="標楷體" panose="03000509000000000000" pitchFamily="65" charset="-120"/>
                <a:ea typeface="標楷體" panose="03000509000000000000" pitchFamily="65" charset="-120"/>
              </a:rPr>
              <a:t>而是牽涉到我們如何看待</a:t>
            </a:r>
            <a:r>
              <a:rPr lang="zh-TW" altLang="en-US" sz="3600" dirty="0">
                <a:latin typeface="標楷體" panose="03000509000000000000" pitchFamily="65" charset="-120"/>
                <a:ea typeface="標楷體" panose="03000509000000000000" pitchFamily="65" charset="-120"/>
              </a:rPr>
              <a:t>「錢」</a:t>
            </a:r>
            <a:r>
              <a:rPr lang="zh-TW" altLang="en-US" sz="3600" dirty="0" smtClean="0">
                <a:latin typeface="標楷體" panose="03000509000000000000" pitchFamily="65" charset="-120"/>
                <a:ea typeface="標楷體" panose="03000509000000000000" pitchFamily="65" charset="-120"/>
              </a:rPr>
              <a:t>、</a:t>
            </a:r>
            <a:endParaRPr lang="en-US" altLang="zh-TW" sz="3600" dirty="0" smtClean="0">
              <a:latin typeface="標楷體" panose="03000509000000000000" pitchFamily="65" charset="-120"/>
              <a:ea typeface="標楷體" panose="03000509000000000000" pitchFamily="65" charset="-120"/>
            </a:endParaRPr>
          </a:p>
          <a:p>
            <a:r>
              <a:rPr lang="zh-TW" altLang="en-US" sz="3600" dirty="0" smtClean="0">
                <a:latin typeface="標楷體" panose="03000509000000000000" pitchFamily="65" charset="-120"/>
                <a:ea typeface="標楷體" panose="03000509000000000000" pitchFamily="65" charset="-120"/>
              </a:rPr>
              <a:t>如何</a:t>
            </a:r>
            <a:r>
              <a:rPr lang="zh-TW" altLang="en-US" sz="3600" dirty="0">
                <a:latin typeface="標楷體" panose="03000509000000000000" pitchFamily="65" charset="-120"/>
                <a:ea typeface="標楷體" panose="03000509000000000000" pitchFamily="65" charset="-120"/>
              </a:rPr>
              <a:t>看待「工作」</a:t>
            </a:r>
            <a:r>
              <a:rPr lang="zh-TW" altLang="en-US" sz="3600" dirty="0" smtClean="0">
                <a:latin typeface="標楷體" panose="03000509000000000000" pitchFamily="65" charset="-120"/>
                <a:ea typeface="標楷體" panose="03000509000000000000" pitchFamily="65" charset="-120"/>
              </a:rPr>
              <a:t>、</a:t>
            </a:r>
            <a:endParaRPr lang="en-US" altLang="zh-TW" sz="3600" dirty="0" smtClean="0">
              <a:latin typeface="標楷體" panose="03000509000000000000" pitchFamily="65" charset="-120"/>
              <a:ea typeface="標楷體" panose="03000509000000000000" pitchFamily="65" charset="-120"/>
            </a:endParaRPr>
          </a:p>
          <a:p>
            <a:r>
              <a:rPr lang="zh-TW" altLang="en-US" sz="3600" dirty="0">
                <a:latin typeface="標楷體" panose="03000509000000000000" pitchFamily="65" charset="-120"/>
                <a:ea typeface="標楷體" panose="03000509000000000000" pitchFamily="65" charset="-120"/>
              </a:rPr>
              <a:t>以及</a:t>
            </a:r>
            <a:r>
              <a:rPr lang="zh-TW" altLang="en-US" sz="3600" dirty="0" smtClean="0">
                <a:latin typeface="標楷體" panose="03000509000000000000" pitchFamily="65" charset="-120"/>
                <a:ea typeface="標楷體" panose="03000509000000000000" pitchFamily="65" charset="-120"/>
              </a:rPr>
              <a:t>如何</a:t>
            </a:r>
            <a:r>
              <a:rPr lang="zh-TW" altLang="en-US" sz="3600" dirty="0">
                <a:latin typeface="標楷體" panose="03000509000000000000" pitchFamily="65" charset="-120"/>
                <a:ea typeface="標楷體" panose="03000509000000000000" pitchFamily="65" charset="-120"/>
              </a:rPr>
              <a:t>看待</a:t>
            </a:r>
            <a:r>
              <a:rPr lang="zh-TW" altLang="en-US" sz="3600" dirty="0" smtClean="0">
                <a:latin typeface="標楷體" panose="03000509000000000000" pitchFamily="65" charset="-120"/>
                <a:ea typeface="標楷體" panose="03000509000000000000" pitchFamily="65" charset="-120"/>
              </a:rPr>
              <a:t>「</a:t>
            </a:r>
            <a:r>
              <a:rPr lang="zh-TW" altLang="en-US" sz="3600" dirty="0">
                <a:effectLst>
                  <a:outerShdw blurRad="38100" dist="38100" dir="2700000" algn="tl">
                    <a:srgbClr val="000000">
                      <a:alpha val="43137"/>
                    </a:srgbClr>
                  </a:outerShdw>
                </a:effectLst>
                <a:latin typeface="標楷體" panose="03000509000000000000" pitchFamily="65" charset="-120"/>
                <a:ea typeface="標楷體" panose="03000509000000000000" pitchFamily="65" charset="-120"/>
              </a:rPr>
              <a:t>社會階級</a:t>
            </a:r>
            <a:r>
              <a:rPr lang="zh-TW" altLang="en-US" sz="3600" dirty="0" smtClean="0">
                <a:latin typeface="標楷體" panose="03000509000000000000" pitchFamily="65" charset="-120"/>
                <a:ea typeface="標楷體" panose="03000509000000000000" pitchFamily="65" charset="-120"/>
              </a:rPr>
              <a:t>」</a:t>
            </a:r>
            <a:r>
              <a:rPr lang="zh-TW" altLang="en-US" sz="3600" dirty="0">
                <a:latin typeface="標楷體" panose="03000509000000000000" pitchFamily="65" charset="-120"/>
                <a:ea typeface="標楷體" panose="03000509000000000000" pitchFamily="65" charset="-120"/>
              </a:rPr>
              <a:t>，</a:t>
            </a:r>
            <a:endParaRPr lang="en-US" altLang="zh-TW" sz="3600" dirty="0" smtClean="0">
              <a:latin typeface="標楷體" panose="03000509000000000000" pitchFamily="65" charset="-120"/>
              <a:ea typeface="標楷體" panose="03000509000000000000" pitchFamily="65" charset="-120"/>
            </a:endParaRPr>
          </a:p>
          <a:p>
            <a:r>
              <a:rPr lang="zh-TW" altLang="en-US" sz="3600" dirty="0" smtClean="0">
                <a:latin typeface="標楷體" panose="03000509000000000000" pitchFamily="65" charset="-120"/>
                <a:ea typeface="標楷體" panose="03000509000000000000" pitchFamily="65" charset="-120"/>
              </a:rPr>
              <a:t>乃至迫使</a:t>
            </a:r>
            <a:r>
              <a:rPr lang="zh-TW" altLang="en-US" sz="3600" dirty="0">
                <a:latin typeface="標楷體" panose="03000509000000000000" pitchFamily="65" charset="-120"/>
                <a:ea typeface="標楷體" panose="03000509000000000000" pitchFamily="65" charset="-120"/>
              </a:rPr>
              <a:t>每</a:t>
            </a:r>
            <a:r>
              <a:rPr lang="zh-TW" altLang="en-US" sz="3600" dirty="0" smtClean="0">
                <a:latin typeface="標楷體" panose="03000509000000000000" pitchFamily="65" charset="-120"/>
                <a:ea typeface="標楷體" panose="03000509000000000000" pitchFamily="65" charset="-120"/>
              </a:rPr>
              <a:t>個人認真面對自己對生命</a:t>
            </a:r>
            <a:endParaRPr lang="en-US" altLang="zh-TW" sz="3600" dirty="0" smtClean="0">
              <a:latin typeface="標楷體" panose="03000509000000000000" pitchFamily="65" charset="-120"/>
              <a:ea typeface="標楷體" panose="03000509000000000000" pitchFamily="65" charset="-120"/>
            </a:endParaRPr>
          </a:p>
          <a:p>
            <a:r>
              <a:rPr lang="zh-TW" altLang="en-US" sz="3600" dirty="0" smtClean="0">
                <a:latin typeface="標楷體" panose="03000509000000000000" pitchFamily="65" charset="-120"/>
                <a:ea typeface="標楷體" panose="03000509000000000000" pitchFamily="65" charset="-120"/>
              </a:rPr>
              <a:t>追求與意義的反思</a:t>
            </a:r>
            <a:endParaRPr lang="en-US" altLang="zh-TW" sz="3600" dirty="0" smtClean="0">
              <a:latin typeface="標楷體" panose="03000509000000000000" pitchFamily="65" charset="-120"/>
              <a:ea typeface="標楷體" panose="03000509000000000000" pitchFamily="65" charset="-120"/>
            </a:endParaRPr>
          </a:p>
          <a:p>
            <a:r>
              <a:rPr lang="zh-TW" altLang="en-US" sz="3600" dirty="0">
                <a:latin typeface="標楷體" panose="03000509000000000000" pitchFamily="65" charset="-120"/>
                <a:ea typeface="標楷體" panose="03000509000000000000" pitchFamily="65" charset="-120"/>
              </a:rPr>
              <a:t> </a:t>
            </a:r>
            <a:r>
              <a:rPr lang="zh-TW" altLang="en-US" sz="3600" dirty="0" smtClean="0">
                <a:latin typeface="標楷體" panose="03000509000000000000" pitchFamily="65" charset="-120"/>
                <a:ea typeface="標楷體" panose="03000509000000000000" pitchFamily="65" charset="-120"/>
              </a:rPr>
              <a:t>                   修自 陳政智</a:t>
            </a:r>
            <a:endParaRPr lang="en-US" altLang="zh-TW" sz="3600" dirty="0" smtClean="0">
              <a:latin typeface="標楷體" panose="03000509000000000000" pitchFamily="65" charset="-120"/>
              <a:ea typeface="標楷體" panose="03000509000000000000" pitchFamily="65" charset="-120"/>
            </a:endParaRPr>
          </a:p>
          <a:p>
            <a:endParaRPr lang="zh-TW" altLang="en-US" sz="3600" dirty="0">
              <a:latin typeface="標楷體" panose="03000509000000000000" pitchFamily="65" charset="-120"/>
              <a:ea typeface="標楷體" panose="03000509000000000000" pitchFamily="65" charset="-120"/>
            </a:endParaRPr>
          </a:p>
        </p:txBody>
      </p:sp>
      <p:sp>
        <p:nvSpPr>
          <p:cNvPr id="4" name="object 4"/>
          <p:cNvSpPr txBox="1">
            <a:spLocks noGrp="1"/>
          </p:cNvSpPr>
          <p:nvPr>
            <p:ph type="title"/>
          </p:nvPr>
        </p:nvSpPr>
        <p:spPr>
          <a:xfrm>
            <a:off x="533400" y="315848"/>
            <a:ext cx="8229600" cy="673902"/>
          </a:xfrm>
          <a:prstGeom prst="rect">
            <a:avLst/>
          </a:prstGeom>
        </p:spPr>
        <p:txBody>
          <a:bodyPr vert="horz" wrap="square" lIns="0" tIns="12065" rIns="0" bIns="0" rtlCol="0">
            <a:spAutoFit/>
          </a:bodyPr>
          <a:lstStyle/>
          <a:p>
            <a:pPr marL="12700">
              <a:lnSpc>
                <a:spcPct val="100000"/>
              </a:lnSpc>
              <a:spcBef>
                <a:spcPts val="95"/>
              </a:spcBef>
            </a:pPr>
            <a:r>
              <a:rPr lang="zh-TW" altLang="en-US" sz="4300" spc="-5" dirty="0">
                <a:latin typeface="標楷體" panose="03000509000000000000" pitchFamily="65" charset="-120"/>
                <a:ea typeface="標楷體" panose="03000509000000000000" pitchFamily="65" charset="-120"/>
                <a:cs typeface="Calibri"/>
              </a:rPr>
              <a:t>為何要用時間貨幣取代金錢</a:t>
            </a:r>
            <a:r>
              <a:rPr lang="zh-TW" altLang="en-US" sz="4300" spc="-5" dirty="0" smtClean="0">
                <a:latin typeface="標楷體" panose="03000509000000000000" pitchFamily="65" charset="-120"/>
                <a:ea typeface="標楷體" panose="03000509000000000000" pitchFamily="65" charset="-120"/>
                <a:cs typeface="Calibri"/>
              </a:rPr>
              <a:t>貨幣</a:t>
            </a:r>
            <a:r>
              <a:rPr lang="en-US" altLang="zh-TW" sz="4300" spc="-5" dirty="0" smtClean="0">
                <a:latin typeface="標楷體" panose="03000509000000000000" pitchFamily="65" charset="-120"/>
                <a:ea typeface="標楷體" panose="03000509000000000000" pitchFamily="65" charset="-120"/>
                <a:cs typeface="Calibri"/>
              </a:rPr>
              <a:t>?</a:t>
            </a:r>
            <a:endParaRPr sz="4300" dirty="0">
              <a:latin typeface="標楷體" panose="03000509000000000000" pitchFamily="65" charset="-120"/>
              <a:ea typeface="標楷體" panose="03000509000000000000" pitchFamily="65" charset="-120"/>
              <a:cs typeface="Calibri"/>
            </a:endParaRPr>
          </a:p>
        </p:txBody>
      </p:sp>
    </p:spTree>
    <p:extLst>
      <p:ext uri="{BB962C8B-B14F-4D97-AF65-F5344CB8AC3E}">
        <p14:creationId xmlns:p14="http://schemas.microsoft.com/office/powerpoint/2010/main" val="1315020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9144000" cy="6800850"/>
          </a:xfrm>
          <a:prstGeom prst="rect">
            <a:avLst/>
          </a:prstGeom>
        </p:spPr>
      </p:pic>
    </p:spTree>
    <p:extLst>
      <p:ext uri="{BB962C8B-B14F-4D97-AF65-F5344CB8AC3E}">
        <p14:creationId xmlns:p14="http://schemas.microsoft.com/office/powerpoint/2010/main" val="4245417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371600"/>
            <a:ext cx="6096000" cy="4089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685800" y="48161"/>
            <a:ext cx="6858000" cy="1323439"/>
          </a:xfrm>
          <a:prstGeom prst="rect">
            <a:avLst/>
          </a:prstGeom>
        </p:spPr>
        <p:txBody>
          <a:bodyPr wrap="square">
            <a:spAutoFit/>
          </a:bodyPr>
          <a:lstStyle/>
          <a:p>
            <a:r>
              <a:rPr lang="zh-TW" altLang="en-US" sz="4000" dirty="0" smtClean="0">
                <a:latin typeface="標楷體" panose="03000509000000000000" pitchFamily="65" charset="-120"/>
                <a:ea typeface="標楷體" panose="03000509000000000000" pitchFamily="65" charset="-120"/>
              </a:rPr>
              <a:t>聖加侖市的推動經驗</a:t>
            </a:r>
            <a:endParaRPr lang="en-US" altLang="zh-TW" sz="4000" dirty="0" smtClean="0">
              <a:latin typeface="標楷體" panose="03000509000000000000" pitchFamily="65" charset="-120"/>
              <a:ea typeface="標楷體" panose="03000509000000000000" pitchFamily="65" charset="-120"/>
            </a:endParaRPr>
          </a:p>
          <a:p>
            <a:r>
              <a:rPr lang="en-US" altLang="zh-TW" sz="4000" dirty="0" smtClean="0"/>
              <a:t>https</a:t>
            </a:r>
            <a:r>
              <a:rPr lang="en-US" altLang="zh-TW" sz="4000" dirty="0"/>
              <a:t>://www.zeitvorsorge.ch/</a:t>
            </a:r>
            <a:endParaRPr lang="zh-TW" altLang="en-US" sz="4000" dirty="0"/>
          </a:p>
        </p:txBody>
      </p:sp>
    </p:spTree>
    <p:extLst>
      <p:ext uri="{BB962C8B-B14F-4D97-AF65-F5344CB8AC3E}">
        <p14:creationId xmlns:p14="http://schemas.microsoft.com/office/powerpoint/2010/main" val="2134993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447800"/>
            <a:ext cx="6686550" cy="4179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17346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71600"/>
            <a:ext cx="7295535"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04451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57200"/>
            <a:ext cx="8763000" cy="62423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4343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9144000" cy="6800850"/>
          </a:xfrm>
          <a:prstGeom prst="rect">
            <a:avLst/>
          </a:prstGeom>
        </p:spPr>
      </p:pic>
    </p:spTree>
    <p:extLst>
      <p:ext uri="{BB962C8B-B14F-4D97-AF65-F5344CB8AC3E}">
        <p14:creationId xmlns:p14="http://schemas.microsoft.com/office/powerpoint/2010/main" val="1750883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09600" y="457200"/>
            <a:ext cx="3581400" cy="707886"/>
          </a:xfrm>
          <a:prstGeom prst="rect">
            <a:avLst/>
          </a:prstGeom>
        </p:spPr>
        <p:txBody>
          <a:bodyPr wrap="square">
            <a:spAutoFit/>
          </a:bodyPr>
          <a:lstStyle/>
          <a:p>
            <a:r>
              <a:rPr lang="en-US" altLang="zh-TW" sz="4000" dirty="0"/>
              <a:t>https://nalc.jp/</a:t>
            </a:r>
            <a:endParaRPr lang="zh-TW" altLang="en-US" sz="4000"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0600" y="1905000"/>
            <a:ext cx="2819400"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95800" y="370098"/>
            <a:ext cx="4419600" cy="61069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762000" y="4800600"/>
            <a:ext cx="3429000" cy="523220"/>
          </a:xfrm>
          <a:prstGeom prst="rect">
            <a:avLst/>
          </a:prstGeom>
        </p:spPr>
        <p:txBody>
          <a:bodyPr wrap="square">
            <a:spAutoFit/>
          </a:bodyPr>
          <a:lstStyle/>
          <a:p>
            <a:r>
              <a:rPr lang="zh-TW" altLang="en-US" sz="2800" dirty="0">
                <a:latin typeface="標楷體" panose="03000509000000000000" pitchFamily="65" charset="-120"/>
                <a:ea typeface="標楷體" panose="03000509000000000000" pitchFamily="65" charset="-120"/>
              </a:rPr>
              <a:t>日本活力生活俱樂部</a:t>
            </a:r>
          </a:p>
        </p:txBody>
      </p:sp>
    </p:spTree>
    <p:extLst>
      <p:ext uri="{BB962C8B-B14F-4D97-AF65-F5344CB8AC3E}">
        <p14:creationId xmlns:p14="http://schemas.microsoft.com/office/powerpoint/2010/main" val="1463119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9144000" cy="6800850"/>
          </a:xfrm>
          <a:prstGeom prst="rect">
            <a:avLst/>
          </a:prstGeom>
        </p:spPr>
      </p:pic>
    </p:spTree>
    <p:extLst>
      <p:ext uri="{BB962C8B-B14F-4D97-AF65-F5344CB8AC3E}">
        <p14:creationId xmlns:p14="http://schemas.microsoft.com/office/powerpoint/2010/main" val="29295627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9144000" cy="6800850"/>
          </a:xfrm>
          <a:prstGeom prst="rect">
            <a:avLst/>
          </a:prstGeom>
        </p:spPr>
      </p:pic>
    </p:spTree>
    <p:extLst>
      <p:ext uri="{BB962C8B-B14F-4D97-AF65-F5344CB8AC3E}">
        <p14:creationId xmlns:p14="http://schemas.microsoft.com/office/powerpoint/2010/main" val="3762644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9144000" cy="6800850"/>
          </a:xfrm>
          <a:prstGeom prst="rect">
            <a:avLst/>
          </a:prstGeom>
        </p:spPr>
      </p:pic>
    </p:spTree>
    <p:extLst>
      <p:ext uri="{BB962C8B-B14F-4D97-AF65-F5344CB8AC3E}">
        <p14:creationId xmlns:p14="http://schemas.microsoft.com/office/powerpoint/2010/main" val="15950895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007" y="609600"/>
            <a:ext cx="8335993"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989012"/>
            <a:ext cx="4343399" cy="564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object 2"/>
          <p:cNvSpPr txBox="1">
            <a:spLocks noGrp="1"/>
          </p:cNvSpPr>
          <p:nvPr>
            <p:ph type="title"/>
          </p:nvPr>
        </p:nvSpPr>
        <p:spPr>
          <a:xfrm>
            <a:off x="228600" y="0"/>
            <a:ext cx="8839199" cy="567463"/>
          </a:xfrm>
          <a:prstGeom prst="rect">
            <a:avLst/>
          </a:prstGeom>
        </p:spPr>
        <p:txBody>
          <a:bodyPr vert="horz" wrap="square" lIns="0" tIns="13335" rIns="0" bIns="0" rtlCol="0">
            <a:spAutoFit/>
          </a:bodyPr>
          <a:lstStyle/>
          <a:p>
            <a:pPr marL="12700">
              <a:lnSpc>
                <a:spcPct val="100000"/>
              </a:lnSpc>
              <a:spcBef>
                <a:spcPts val="105"/>
              </a:spcBef>
            </a:pPr>
            <a:r>
              <a:rPr lang="zh-TW" altLang="en-US" sz="3600" spc="5" dirty="0" smtClean="0">
                <a:latin typeface="標楷體" panose="03000509000000000000" pitchFamily="65" charset="-120"/>
                <a:ea typeface="標楷體" panose="03000509000000000000" pitchFamily="65" charset="-120"/>
              </a:rPr>
              <a:t>台灣  弘</a:t>
            </a:r>
            <a:r>
              <a:rPr lang="zh-TW" altLang="en-US" sz="3600" spc="5" dirty="0">
                <a:latin typeface="標楷體" panose="03000509000000000000" pitchFamily="65" charset="-120"/>
                <a:ea typeface="標楷體" panose="03000509000000000000" pitchFamily="65" charset="-120"/>
              </a:rPr>
              <a:t>道</a:t>
            </a:r>
            <a:r>
              <a:rPr lang="zh-TW" altLang="en-US" sz="3600" spc="5" dirty="0" smtClean="0">
                <a:latin typeface="標楷體" panose="03000509000000000000" pitchFamily="65" charset="-120"/>
                <a:ea typeface="標楷體" panose="03000509000000000000" pitchFamily="65" charset="-120"/>
              </a:rPr>
              <a:t>基金會</a:t>
            </a:r>
            <a:r>
              <a:rPr lang="en-US" altLang="zh-TW" sz="3600" spc="5" dirty="0" smtClean="0">
                <a:latin typeface="標楷體" panose="03000509000000000000" pitchFamily="65" charset="-120"/>
                <a:ea typeface="標楷體" panose="03000509000000000000" pitchFamily="65" charset="-120"/>
              </a:rPr>
              <a:t>1995</a:t>
            </a:r>
            <a:r>
              <a:rPr lang="zh-TW" altLang="en-US" sz="3600" spc="5" dirty="0" smtClean="0">
                <a:latin typeface="標楷體" panose="03000509000000000000" pitchFamily="65" charset="-120"/>
                <a:ea typeface="標楷體" panose="03000509000000000000" pitchFamily="65" charset="-120"/>
              </a:rPr>
              <a:t>年至</a:t>
            </a:r>
            <a:r>
              <a:rPr lang="en-US" altLang="zh-TW" sz="3600" spc="5" smtClean="0">
                <a:latin typeface="標楷體" panose="03000509000000000000" pitchFamily="65" charset="-120"/>
                <a:ea typeface="標楷體" panose="03000509000000000000" pitchFamily="65" charset="-120"/>
              </a:rPr>
              <a:t>2023</a:t>
            </a:r>
            <a:r>
              <a:rPr lang="zh-TW" altLang="en-US" sz="3600" spc="5" dirty="0" smtClean="0">
                <a:latin typeface="標楷體" panose="03000509000000000000" pitchFamily="65" charset="-120"/>
                <a:ea typeface="標楷體" panose="03000509000000000000" pitchFamily="65" charset="-120"/>
              </a:rPr>
              <a:t>年的推動</a:t>
            </a:r>
            <a:endParaRPr sz="36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3030592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9144000" cy="6800850"/>
          </a:xfrm>
          <a:prstGeom prst="rect">
            <a:avLst/>
          </a:prstGeom>
        </p:spPr>
      </p:pic>
    </p:spTree>
    <p:extLst>
      <p:ext uri="{BB962C8B-B14F-4D97-AF65-F5344CB8AC3E}">
        <p14:creationId xmlns:p14="http://schemas.microsoft.com/office/powerpoint/2010/main" val="13064758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143000"/>
            <a:ext cx="8229600" cy="5185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object 2"/>
          <p:cNvSpPr txBox="1">
            <a:spLocks noGrp="1"/>
          </p:cNvSpPr>
          <p:nvPr>
            <p:ph type="title"/>
          </p:nvPr>
        </p:nvSpPr>
        <p:spPr>
          <a:xfrm>
            <a:off x="2514600" y="381000"/>
            <a:ext cx="3657600" cy="567463"/>
          </a:xfrm>
          <a:prstGeom prst="rect">
            <a:avLst/>
          </a:prstGeom>
        </p:spPr>
        <p:txBody>
          <a:bodyPr vert="horz" wrap="square" lIns="0" tIns="13335" rIns="0" bIns="0" rtlCol="0">
            <a:spAutoFit/>
          </a:bodyPr>
          <a:lstStyle/>
          <a:p>
            <a:pPr marL="12700">
              <a:lnSpc>
                <a:spcPct val="100000"/>
              </a:lnSpc>
              <a:spcBef>
                <a:spcPts val="105"/>
              </a:spcBef>
            </a:pPr>
            <a:r>
              <a:rPr lang="zh-TW" altLang="en-US" sz="3600" spc="5" dirty="0">
                <a:latin typeface="標楷體" panose="03000509000000000000" pitchFamily="65" charset="-120"/>
                <a:ea typeface="標楷體" panose="03000509000000000000" pitchFamily="65" charset="-120"/>
              </a:rPr>
              <a:t> </a:t>
            </a:r>
            <a:r>
              <a:rPr lang="zh-TW" altLang="en-US" sz="3600" spc="5" dirty="0" smtClean="0">
                <a:latin typeface="標楷體" panose="03000509000000000000" pitchFamily="65" charset="-120"/>
                <a:ea typeface="標楷體" panose="03000509000000000000" pitchFamily="65" charset="-120"/>
              </a:rPr>
              <a:t> 享好時間銀行</a:t>
            </a:r>
            <a:endParaRPr sz="36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499618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9144000" cy="6800850"/>
          </a:xfrm>
          <a:prstGeom prst="rect">
            <a:avLst/>
          </a:prstGeom>
        </p:spPr>
      </p:pic>
    </p:spTree>
    <p:extLst>
      <p:ext uri="{BB962C8B-B14F-4D97-AF65-F5344CB8AC3E}">
        <p14:creationId xmlns:p14="http://schemas.microsoft.com/office/powerpoint/2010/main" val="3419899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43000" y="1524000"/>
            <a:ext cx="7010400" cy="4401205"/>
          </a:xfrm>
          <a:prstGeom prst="rect">
            <a:avLst/>
          </a:prstGeom>
        </p:spPr>
        <p:txBody>
          <a:bodyPr wrap="square">
            <a:spAutoFit/>
          </a:bodyPr>
          <a:lstStyle/>
          <a:p>
            <a:r>
              <a:rPr lang="en-US" altLang="zh-TW" sz="2800" spc="-5" dirty="0" smtClean="0">
                <a:latin typeface="標楷體" panose="03000509000000000000" pitchFamily="65" charset="-120"/>
                <a:ea typeface="標楷體" panose="03000509000000000000" pitchFamily="65" charset="-120"/>
                <a:cs typeface="SimSun"/>
              </a:rPr>
              <a:t>‧</a:t>
            </a:r>
            <a:r>
              <a:rPr lang="zh-TW" altLang="en-US" sz="2800" spc="-5" dirty="0">
                <a:latin typeface="標楷體" panose="03000509000000000000" pitchFamily="65" charset="-120"/>
                <a:ea typeface="標楷體" panose="03000509000000000000" pitchFamily="65" charset="-120"/>
                <a:cs typeface="SimSun"/>
              </a:rPr>
              <a:t>社區</a:t>
            </a:r>
            <a:r>
              <a:rPr lang="zh-TW" altLang="en-US" sz="2800" spc="-5" dirty="0" smtClean="0">
                <a:latin typeface="標楷體" panose="03000509000000000000" pitchFamily="65" charset="-120"/>
                <a:ea typeface="標楷體" panose="03000509000000000000" pitchFamily="65" charset="-120"/>
                <a:cs typeface="SimSun"/>
              </a:rPr>
              <a:t>的民眾將</a:t>
            </a:r>
            <a:r>
              <a:rPr lang="zh-TW" altLang="en-US" sz="2800" spc="-5" dirty="0">
                <a:latin typeface="標楷體" panose="03000509000000000000" pitchFamily="65" charset="-120"/>
                <a:ea typeface="標楷體" panose="03000509000000000000" pitchFamily="65" charset="-120"/>
                <a:cs typeface="SimSun"/>
              </a:rPr>
              <a:t>彼此「能做的事」</a:t>
            </a:r>
            <a:r>
              <a:rPr lang="zh-TW" altLang="en-US" sz="2800" spc="-5" dirty="0" smtClean="0">
                <a:latin typeface="標楷體" panose="03000509000000000000" pitchFamily="65" charset="-120"/>
                <a:ea typeface="標楷體" panose="03000509000000000000" pitchFamily="65" charset="-120"/>
                <a:cs typeface="SimSun"/>
              </a:rPr>
              <a:t>、</a:t>
            </a:r>
            <a:endParaRPr lang="en-US" altLang="zh-TW" sz="2800" spc="-5" dirty="0" smtClean="0">
              <a:latin typeface="標楷體" panose="03000509000000000000" pitchFamily="65" charset="-120"/>
              <a:ea typeface="標楷體" panose="03000509000000000000" pitchFamily="65" charset="-120"/>
              <a:cs typeface="SimSun"/>
            </a:endParaRPr>
          </a:p>
          <a:p>
            <a:r>
              <a:rPr lang="zh-TW" altLang="en-US" sz="2800" spc="-5" dirty="0">
                <a:latin typeface="標楷體" panose="03000509000000000000" pitchFamily="65" charset="-120"/>
                <a:ea typeface="標楷體" panose="03000509000000000000" pitchFamily="65" charset="-120"/>
                <a:cs typeface="SimSun"/>
              </a:rPr>
              <a:t> </a:t>
            </a:r>
            <a:r>
              <a:rPr lang="zh-TW" altLang="en-US" sz="2800" spc="-5" dirty="0" smtClean="0">
                <a:latin typeface="標楷體" panose="03000509000000000000" pitchFamily="65" charset="-120"/>
                <a:ea typeface="標楷體" panose="03000509000000000000" pitchFamily="65" charset="-120"/>
                <a:cs typeface="SimSun"/>
              </a:rPr>
              <a:t> 「</a:t>
            </a:r>
            <a:r>
              <a:rPr lang="zh-TW" altLang="en-US" sz="2800" spc="-5" dirty="0">
                <a:latin typeface="標楷體" panose="03000509000000000000" pitchFamily="65" charset="-120"/>
                <a:ea typeface="標楷體" panose="03000509000000000000" pitchFamily="65" charset="-120"/>
                <a:cs typeface="SimSun"/>
              </a:rPr>
              <a:t>想請別人幫忙的事」互相提出及</a:t>
            </a:r>
            <a:r>
              <a:rPr lang="zh-TW" altLang="en-US" sz="2800" spc="-5" dirty="0" smtClean="0">
                <a:latin typeface="標楷體" panose="03000509000000000000" pitchFamily="65" charset="-120"/>
                <a:ea typeface="標楷體" panose="03000509000000000000" pitchFamily="65" charset="-120"/>
                <a:cs typeface="SimSun"/>
              </a:rPr>
              <a:t>交換</a:t>
            </a:r>
            <a:r>
              <a:rPr lang="zh-TW" altLang="en-US" sz="2800" spc="-5" dirty="0">
                <a:latin typeface="標楷體" panose="03000509000000000000" pitchFamily="65" charset="-120"/>
                <a:ea typeface="標楷體" panose="03000509000000000000" pitchFamily="65" charset="-120"/>
                <a:cs typeface="SimSun"/>
              </a:rPr>
              <a:t>時</a:t>
            </a:r>
            <a:r>
              <a:rPr lang="zh-TW" altLang="en-US" sz="2800" spc="-5" dirty="0" smtClean="0">
                <a:latin typeface="標楷體" panose="03000509000000000000" pitchFamily="65" charset="-120"/>
                <a:ea typeface="標楷體" panose="03000509000000000000" pitchFamily="65" charset="-120"/>
                <a:cs typeface="SimSun"/>
              </a:rPr>
              <a:t>，</a:t>
            </a:r>
            <a:endParaRPr lang="en-US" altLang="zh-TW" sz="2800" spc="-5" dirty="0" smtClean="0">
              <a:latin typeface="標楷體" panose="03000509000000000000" pitchFamily="65" charset="-120"/>
              <a:ea typeface="標楷體" panose="03000509000000000000" pitchFamily="65" charset="-120"/>
              <a:cs typeface="SimSun"/>
            </a:endParaRPr>
          </a:p>
          <a:p>
            <a:r>
              <a:rPr lang="en-US" altLang="zh-TW" sz="2800" spc="-5" dirty="0">
                <a:latin typeface="標楷體" panose="03000509000000000000" pitchFamily="65" charset="-120"/>
                <a:ea typeface="標楷體" panose="03000509000000000000" pitchFamily="65" charset="-120"/>
                <a:cs typeface="SimSun"/>
              </a:rPr>
              <a:t> </a:t>
            </a:r>
            <a:r>
              <a:rPr lang="en-US" altLang="zh-TW" sz="2800" spc="-5" dirty="0" smtClean="0">
                <a:latin typeface="標楷體" panose="03000509000000000000" pitchFamily="65" charset="-120"/>
                <a:ea typeface="標楷體" panose="03000509000000000000" pitchFamily="65" charset="-120"/>
                <a:cs typeface="SimSun"/>
              </a:rPr>
              <a:t> </a:t>
            </a:r>
            <a:r>
              <a:rPr lang="zh-TW" altLang="en-US" sz="2800" spc="-5" dirty="0" smtClean="0">
                <a:latin typeface="標楷體" panose="03000509000000000000" pitchFamily="65" charset="-120"/>
                <a:ea typeface="標楷體" panose="03000509000000000000" pitchFamily="65" charset="-120"/>
                <a:cs typeface="SimSun"/>
              </a:rPr>
              <a:t>在</a:t>
            </a:r>
            <a:r>
              <a:rPr lang="zh-TW" altLang="en-US" sz="2800" spc="-5" dirty="0">
                <a:latin typeface="標楷體" panose="03000509000000000000" pitchFamily="65" charset="-120"/>
                <a:ea typeface="標楷體" panose="03000509000000000000" pitchFamily="65" charset="-120"/>
                <a:cs typeface="SimSun"/>
              </a:rPr>
              <a:t>限定的地域中如「貨幣」</a:t>
            </a:r>
            <a:r>
              <a:rPr lang="zh-TW" altLang="en-US" sz="2800" spc="-5" dirty="0" smtClean="0">
                <a:latin typeface="標楷體" panose="03000509000000000000" pitchFamily="65" charset="-120"/>
                <a:ea typeface="標楷體" panose="03000509000000000000" pitchFamily="65" charset="-120"/>
                <a:cs typeface="SimSun"/>
              </a:rPr>
              <a:t>般的</a:t>
            </a:r>
            <a:r>
              <a:rPr lang="zh-TW" altLang="en-US" sz="2800" spc="-5" dirty="0">
                <a:latin typeface="標楷體" panose="03000509000000000000" pitchFamily="65" charset="-120"/>
                <a:ea typeface="標楷體" panose="03000509000000000000" pitchFamily="65" charset="-120"/>
                <a:cs typeface="SimSun"/>
              </a:rPr>
              <a:t>東西</a:t>
            </a:r>
            <a:r>
              <a:rPr lang="zh-TW" altLang="en-US" sz="2800" spc="-5" dirty="0" smtClean="0">
                <a:latin typeface="標楷體" panose="03000509000000000000" pitchFamily="65" charset="-120"/>
                <a:ea typeface="標楷體" panose="03000509000000000000" pitchFamily="65" charset="-120"/>
                <a:cs typeface="SimSun"/>
              </a:rPr>
              <a:t>做為</a:t>
            </a:r>
            <a:endParaRPr lang="en-US" altLang="zh-TW" sz="2800" spc="-5" dirty="0" smtClean="0">
              <a:latin typeface="標楷體" panose="03000509000000000000" pitchFamily="65" charset="-120"/>
              <a:ea typeface="標楷體" panose="03000509000000000000" pitchFamily="65" charset="-120"/>
              <a:cs typeface="SimSun"/>
            </a:endParaRPr>
          </a:p>
          <a:p>
            <a:r>
              <a:rPr lang="en-US" altLang="zh-TW" sz="2800" spc="-5" dirty="0">
                <a:latin typeface="標楷體" panose="03000509000000000000" pitchFamily="65" charset="-120"/>
                <a:ea typeface="標楷體" panose="03000509000000000000" pitchFamily="65" charset="-120"/>
                <a:cs typeface="SimSun"/>
              </a:rPr>
              <a:t> </a:t>
            </a:r>
            <a:r>
              <a:rPr lang="en-US" altLang="zh-TW" sz="2800" spc="-5" dirty="0" smtClean="0">
                <a:latin typeface="標楷體" panose="03000509000000000000" pitchFamily="65" charset="-120"/>
                <a:ea typeface="標楷體" panose="03000509000000000000" pitchFamily="65" charset="-120"/>
                <a:cs typeface="SimSun"/>
              </a:rPr>
              <a:t> </a:t>
            </a:r>
            <a:r>
              <a:rPr lang="zh-TW" altLang="en-US" sz="2800" spc="-5" dirty="0" smtClean="0">
                <a:latin typeface="標楷體" panose="03000509000000000000" pitchFamily="65" charset="-120"/>
                <a:ea typeface="標楷體" panose="03000509000000000000" pitchFamily="65" charset="-120"/>
                <a:cs typeface="SimSun"/>
              </a:rPr>
              <a:t>媒介</a:t>
            </a:r>
            <a:r>
              <a:rPr lang="zh-TW" altLang="en-US" sz="2800" spc="-5" dirty="0">
                <a:latin typeface="標楷體" panose="03000509000000000000" pitchFamily="65" charset="-120"/>
                <a:ea typeface="標楷體" panose="03000509000000000000" pitchFamily="65" charset="-120"/>
                <a:cs typeface="SimSun"/>
              </a:rPr>
              <a:t>來交換的介質</a:t>
            </a:r>
            <a:r>
              <a:rPr lang="zh-TW" altLang="en-US" sz="2800" spc="-5" dirty="0" smtClean="0">
                <a:latin typeface="標楷體" panose="03000509000000000000" pitchFamily="65" charset="-120"/>
                <a:ea typeface="標楷體" panose="03000509000000000000" pitchFamily="65" charset="-120"/>
                <a:cs typeface="SimSun"/>
              </a:rPr>
              <a:t>。</a:t>
            </a:r>
            <a:endParaRPr lang="zh-TW" altLang="en-US" sz="2800" spc="-5" dirty="0">
              <a:latin typeface="標楷體" panose="03000509000000000000" pitchFamily="65" charset="-120"/>
              <a:ea typeface="標楷體" panose="03000509000000000000" pitchFamily="65" charset="-120"/>
              <a:cs typeface="SimSun"/>
            </a:endParaRPr>
          </a:p>
          <a:p>
            <a:endParaRPr lang="en-US" altLang="zh-TW" sz="2800" spc="-5" dirty="0" smtClean="0">
              <a:latin typeface="標楷體" panose="03000509000000000000" pitchFamily="65" charset="-120"/>
              <a:ea typeface="標楷體" panose="03000509000000000000" pitchFamily="65" charset="-120"/>
              <a:cs typeface="SimSun"/>
            </a:endParaRPr>
          </a:p>
          <a:p>
            <a:r>
              <a:rPr lang="zh-TW" altLang="en-US" sz="2800" spc="-5" dirty="0" smtClean="0">
                <a:latin typeface="標楷體" panose="03000509000000000000" pitchFamily="65" charset="-120"/>
                <a:ea typeface="標楷體" panose="03000509000000000000" pitchFamily="65" charset="-120"/>
                <a:cs typeface="SimSun"/>
              </a:rPr>
              <a:t>  進而</a:t>
            </a:r>
            <a:r>
              <a:rPr lang="en-US" altLang="zh-TW" sz="2800" spc="-5" dirty="0" smtClean="0">
                <a:latin typeface="標楷體" panose="03000509000000000000" pitchFamily="65" charset="-120"/>
                <a:ea typeface="標楷體" panose="03000509000000000000" pitchFamily="65" charset="-120"/>
                <a:cs typeface="SimSun"/>
              </a:rPr>
              <a:t>:</a:t>
            </a:r>
            <a:endParaRPr lang="zh-TW" altLang="en-US" sz="2800" spc="-5" dirty="0">
              <a:latin typeface="標楷體" panose="03000509000000000000" pitchFamily="65" charset="-120"/>
              <a:ea typeface="標楷體" panose="03000509000000000000" pitchFamily="65" charset="-120"/>
              <a:cs typeface="SimSun"/>
            </a:endParaRPr>
          </a:p>
          <a:p>
            <a:r>
              <a:rPr lang="en-US" altLang="zh-TW" sz="2800" spc="-5" dirty="0">
                <a:latin typeface="標楷體" panose="03000509000000000000" pitchFamily="65" charset="-120"/>
                <a:ea typeface="標楷體" panose="03000509000000000000" pitchFamily="65" charset="-120"/>
                <a:cs typeface="SimSun"/>
              </a:rPr>
              <a:t>1.</a:t>
            </a:r>
            <a:r>
              <a:rPr lang="zh-TW" altLang="en-US" sz="2800" spc="-5" dirty="0" smtClean="0">
                <a:latin typeface="標楷體" panose="03000509000000000000" pitchFamily="65" charset="-120"/>
                <a:ea typeface="標楷體" panose="03000509000000000000" pitchFamily="65" charset="-120"/>
                <a:cs typeface="SimSun"/>
              </a:rPr>
              <a:t>振興社區</a:t>
            </a:r>
            <a:r>
              <a:rPr lang="zh-TW" altLang="en-US" sz="2800" spc="-5" dirty="0">
                <a:latin typeface="標楷體" panose="03000509000000000000" pitchFamily="65" charset="-120"/>
                <a:ea typeface="標楷體" panose="03000509000000000000" pitchFamily="65" charset="-120"/>
                <a:cs typeface="SimSun"/>
              </a:rPr>
              <a:t>產業</a:t>
            </a:r>
            <a:r>
              <a:rPr lang="zh-TW" altLang="en-US" sz="2800" spc="-5" dirty="0" smtClean="0">
                <a:latin typeface="標楷體" panose="03000509000000000000" pitchFamily="65" charset="-120"/>
                <a:ea typeface="標楷體" panose="03000509000000000000" pitchFamily="65" charset="-120"/>
                <a:cs typeface="SimSun"/>
              </a:rPr>
              <a:t>結行成市</a:t>
            </a:r>
            <a:r>
              <a:rPr lang="en-US" altLang="zh-TW" sz="2800" spc="-5" dirty="0" smtClean="0">
                <a:latin typeface="標楷體" panose="03000509000000000000" pitchFamily="65" charset="-120"/>
                <a:ea typeface="標楷體" panose="03000509000000000000" pitchFamily="65" charset="-120"/>
                <a:cs typeface="SimSun"/>
              </a:rPr>
              <a:t>/</a:t>
            </a:r>
          </a:p>
          <a:p>
            <a:r>
              <a:rPr lang="zh-TW" altLang="en-US" sz="2800" spc="-5" dirty="0">
                <a:latin typeface="標楷體" panose="03000509000000000000" pitchFamily="65" charset="-120"/>
                <a:ea typeface="標楷體" panose="03000509000000000000" pitchFamily="65" charset="-120"/>
                <a:cs typeface="SimSun"/>
              </a:rPr>
              <a:t> </a:t>
            </a:r>
            <a:r>
              <a:rPr lang="zh-TW" altLang="en-US" sz="2800" spc="-5" dirty="0" smtClean="0">
                <a:latin typeface="標楷體" panose="03000509000000000000" pitchFamily="65" charset="-120"/>
                <a:ea typeface="標楷體" panose="03000509000000000000" pitchFamily="65" charset="-120"/>
                <a:cs typeface="SimSun"/>
              </a:rPr>
              <a:t> 交換工的互助文化   </a:t>
            </a:r>
            <a:endParaRPr lang="zh-TW" altLang="en-US" sz="2800" spc="-5" dirty="0">
              <a:latin typeface="標楷體" panose="03000509000000000000" pitchFamily="65" charset="-120"/>
              <a:ea typeface="標楷體" panose="03000509000000000000" pitchFamily="65" charset="-120"/>
              <a:cs typeface="SimSun"/>
            </a:endParaRPr>
          </a:p>
          <a:p>
            <a:r>
              <a:rPr lang="en-US" altLang="zh-TW" sz="2800" spc="-5" dirty="0">
                <a:latin typeface="標楷體" panose="03000509000000000000" pitchFamily="65" charset="-120"/>
                <a:ea typeface="標楷體" panose="03000509000000000000" pitchFamily="65" charset="-120"/>
                <a:cs typeface="SimSun"/>
              </a:rPr>
              <a:t>2.</a:t>
            </a:r>
            <a:r>
              <a:rPr lang="zh-TW" altLang="en-US" sz="2800" spc="-5" dirty="0">
                <a:latin typeface="標楷體" panose="03000509000000000000" pitchFamily="65" charset="-120"/>
                <a:ea typeface="標楷體" panose="03000509000000000000" pitchFamily="65" charset="-120"/>
                <a:cs typeface="SimSun"/>
              </a:rPr>
              <a:t>振興社區經濟</a:t>
            </a:r>
          </a:p>
          <a:p>
            <a:endParaRPr lang="zh-TW" altLang="en-US" sz="2800" spc="-5" dirty="0">
              <a:latin typeface="標楷體" panose="03000509000000000000" pitchFamily="65" charset="-120"/>
              <a:ea typeface="標楷體" panose="03000509000000000000" pitchFamily="65" charset="-120"/>
              <a:cs typeface="SimSun"/>
            </a:endParaRPr>
          </a:p>
        </p:txBody>
      </p:sp>
      <p:sp>
        <p:nvSpPr>
          <p:cNvPr id="6" name="object 4"/>
          <p:cNvSpPr txBox="1">
            <a:spLocks noGrp="1"/>
          </p:cNvSpPr>
          <p:nvPr>
            <p:ph type="title"/>
          </p:nvPr>
        </p:nvSpPr>
        <p:spPr>
          <a:xfrm>
            <a:off x="1143000" y="315848"/>
            <a:ext cx="7011009" cy="673902"/>
          </a:xfrm>
          <a:prstGeom prst="rect">
            <a:avLst/>
          </a:prstGeom>
        </p:spPr>
        <p:txBody>
          <a:bodyPr vert="horz" wrap="square" lIns="0" tIns="12065" rIns="0" bIns="0" rtlCol="0">
            <a:spAutoFit/>
          </a:bodyPr>
          <a:lstStyle/>
          <a:p>
            <a:pPr marL="12700">
              <a:lnSpc>
                <a:spcPct val="100000"/>
              </a:lnSpc>
              <a:spcBef>
                <a:spcPts val="95"/>
              </a:spcBef>
            </a:pPr>
            <a:r>
              <a:rPr lang="zh-TW" altLang="en-US" sz="4300" spc="-5" dirty="0" smtClean="0">
                <a:latin typeface="標楷體" panose="03000509000000000000" pitchFamily="65" charset="-120"/>
                <a:ea typeface="標楷體" panose="03000509000000000000" pitchFamily="65" charset="-120"/>
                <a:cs typeface="Calibri"/>
              </a:rPr>
              <a:t>從</a:t>
            </a:r>
            <a:r>
              <a:rPr lang="zh-TW" altLang="en-US" sz="4300" spc="-5" dirty="0">
                <a:latin typeface="標楷體" panose="03000509000000000000" pitchFamily="65" charset="-120"/>
                <a:ea typeface="標楷體" panose="03000509000000000000" pitchFamily="65" charset="-120"/>
                <a:cs typeface="Calibri"/>
              </a:rPr>
              <a:t>社區發展</a:t>
            </a:r>
            <a:r>
              <a:rPr lang="zh-TW" altLang="en-US" sz="4300" spc="-5" dirty="0" smtClean="0">
                <a:latin typeface="標楷體" panose="03000509000000000000" pitchFamily="65" charset="-120"/>
                <a:ea typeface="標楷體" panose="03000509000000000000" pitchFamily="65" charset="-120"/>
                <a:cs typeface="Calibri"/>
              </a:rPr>
              <a:t>角度看時間銀行</a:t>
            </a:r>
            <a:endParaRPr sz="4300" dirty="0">
              <a:latin typeface="標楷體" panose="03000509000000000000" pitchFamily="65" charset="-120"/>
              <a:ea typeface="標楷體" panose="03000509000000000000" pitchFamily="65" charset="-120"/>
              <a:cs typeface="Calibri"/>
            </a:endParaRPr>
          </a:p>
        </p:txBody>
      </p:sp>
    </p:spTree>
    <p:extLst>
      <p:ext uri="{BB962C8B-B14F-4D97-AF65-F5344CB8AC3E}">
        <p14:creationId xmlns:p14="http://schemas.microsoft.com/office/powerpoint/2010/main" val="33410244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81000" y="457200"/>
            <a:ext cx="8402941" cy="707886"/>
          </a:xfrm>
          <a:prstGeom prst="rect">
            <a:avLst/>
          </a:prstGeom>
        </p:spPr>
        <p:txBody>
          <a:bodyPr wrap="none">
            <a:spAutoFit/>
          </a:bodyPr>
          <a:lstStyle/>
          <a:p>
            <a:r>
              <a:rPr lang="zh-TW" altLang="en-US" sz="4000" spc="5" dirty="0">
                <a:latin typeface="標楷體" panose="03000509000000000000" pitchFamily="65" charset="-120"/>
                <a:ea typeface="標楷體" panose="03000509000000000000" pitchFamily="65" charset="-120"/>
                <a:cs typeface="SimSun"/>
              </a:rPr>
              <a:t>時間</a:t>
            </a:r>
            <a:r>
              <a:rPr lang="zh-TW" altLang="en-US" sz="4000" spc="5" dirty="0" smtClean="0">
                <a:latin typeface="標楷體" panose="03000509000000000000" pitchFamily="65" charset="-120"/>
                <a:ea typeface="標楷體" panose="03000509000000000000" pitchFamily="65" charset="-120"/>
                <a:cs typeface="SimSun"/>
              </a:rPr>
              <a:t>銀行會員不是消費者</a:t>
            </a:r>
            <a:r>
              <a:rPr lang="en-US" altLang="zh-TW" sz="4000" spc="5" dirty="0" smtClean="0">
                <a:latin typeface="標楷體" panose="03000509000000000000" pitchFamily="65" charset="-120"/>
                <a:ea typeface="標楷體" panose="03000509000000000000" pitchFamily="65" charset="-120"/>
                <a:cs typeface="SimSun"/>
              </a:rPr>
              <a:t>,</a:t>
            </a:r>
            <a:r>
              <a:rPr lang="zh-TW" altLang="en-US" sz="4000" spc="5" dirty="0" smtClean="0">
                <a:latin typeface="標楷體" panose="03000509000000000000" pitchFamily="65" charset="-120"/>
                <a:ea typeface="標楷體" panose="03000509000000000000" pitchFamily="65" charset="-120"/>
                <a:cs typeface="SimSun"/>
              </a:rPr>
              <a:t>是經營者</a:t>
            </a:r>
            <a:r>
              <a:rPr lang="en-US" altLang="zh-TW" sz="4000" spc="5" dirty="0" smtClean="0">
                <a:latin typeface="標楷體" panose="03000509000000000000" pitchFamily="65" charset="-120"/>
                <a:ea typeface="標楷體" panose="03000509000000000000" pitchFamily="65" charset="-120"/>
                <a:cs typeface="SimSun"/>
              </a:rPr>
              <a:t>!</a:t>
            </a:r>
            <a:endParaRPr lang="zh-TW" altLang="en-US" sz="4000" spc="5" dirty="0">
              <a:latin typeface="標楷體" panose="03000509000000000000" pitchFamily="65" charset="-120"/>
              <a:ea typeface="標楷體" panose="03000509000000000000" pitchFamily="65" charset="-120"/>
              <a:cs typeface="SimSun"/>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71600"/>
            <a:ext cx="7145710"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25487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3132" y="245490"/>
            <a:ext cx="7847330" cy="696595"/>
          </a:xfrm>
          <a:prstGeom prst="rect">
            <a:avLst/>
          </a:prstGeom>
        </p:spPr>
        <p:txBody>
          <a:bodyPr vert="horz" wrap="square" lIns="0" tIns="12700" rIns="0" bIns="0" rtlCol="0">
            <a:spAutoFit/>
          </a:bodyPr>
          <a:lstStyle/>
          <a:p>
            <a:pPr marL="12700">
              <a:lnSpc>
                <a:spcPct val="100000"/>
              </a:lnSpc>
              <a:spcBef>
                <a:spcPts val="100"/>
              </a:spcBef>
            </a:pPr>
            <a:r>
              <a:rPr dirty="0">
                <a:latin typeface="標楷體" panose="03000509000000000000" pitchFamily="65" charset="-120"/>
                <a:ea typeface="標楷體" panose="03000509000000000000" pitchFamily="65" charset="-120"/>
              </a:rPr>
              <a:t>時間銀</a:t>
            </a:r>
            <a:r>
              <a:rPr spc="-25" dirty="0">
                <a:latin typeface="標楷體" panose="03000509000000000000" pitchFamily="65" charset="-120"/>
                <a:ea typeface="標楷體" panose="03000509000000000000" pitchFamily="65" charset="-120"/>
              </a:rPr>
              <a:t>行</a:t>
            </a:r>
            <a:r>
              <a:rPr dirty="0">
                <a:latin typeface="標楷體" panose="03000509000000000000" pitchFamily="65" charset="-120"/>
                <a:ea typeface="標楷體" panose="03000509000000000000" pitchFamily="65" charset="-120"/>
              </a:rPr>
              <a:t>推動關</a:t>
            </a:r>
            <a:r>
              <a:rPr spc="-25" dirty="0">
                <a:latin typeface="標楷體" panose="03000509000000000000" pitchFamily="65" charset="-120"/>
                <a:ea typeface="標楷體" panose="03000509000000000000" pitchFamily="65" charset="-120"/>
              </a:rPr>
              <a:t>鍵</a:t>
            </a:r>
            <a:r>
              <a:rPr dirty="0">
                <a:latin typeface="標楷體" panose="03000509000000000000" pitchFamily="65" charset="-120"/>
                <a:ea typeface="標楷體" panose="03000509000000000000" pitchFamily="65" charset="-120"/>
              </a:rPr>
              <a:t>影響因</a:t>
            </a:r>
            <a:r>
              <a:rPr spc="-25" dirty="0">
                <a:latin typeface="標楷體" panose="03000509000000000000" pitchFamily="65" charset="-120"/>
                <a:ea typeface="標楷體" panose="03000509000000000000" pitchFamily="65" charset="-120"/>
              </a:rPr>
              <a:t>素</a:t>
            </a:r>
            <a:r>
              <a:rPr dirty="0">
                <a:latin typeface="標楷體" panose="03000509000000000000" pitchFamily="65" charset="-120"/>
                <a:ea typeface="標楷體" panose="03000509000000000000" pitchFamily="65" charset="-120"/>
              </a:rPr>
              <a:t>探討</a:t>
            </a:r>
          </a:p>
        </p:txBody>
      </p:sp>
      <p:sp>
        <p:nvSpPr>
          <p:cNvPr id="3" name="object 3"/>
          <p:cNvSpPr/>
          <p:nvPr/>
        </p:nvSpPr>
        <p:spPr>
          <a:xfrm>
            <a:off x="0" y="692658"/>
            <a:ext cx="360045" cy="3108960"/>
          </a:xfrm>
          <a:custGeom>
            <a:avLst/>
            <a:gdLst/>
            <a:ahLst/>
            <a:cxnLst/>
            <a:rect l="l" t="t" r="r" b="b"/>
            <a:pathLst>
              <a:path w="360045" h="3108960">
                <a:moveTo>
                  <a:pt x="360045" y="0"/>
                </a:moveTo>
                <a:lnTo>
                  <a:pt x="0" y="0"/>
                </a:lnTo>
                <a:lnTo>
                  <a:pt x="0" y="3108579"/>
                </a:lnTo>
                <a:lnTo>
                  <a:pt x="360045" y="3108579"/>
                </a:lnTo>
                <a:lnTo>
                  <a:pt x="360045" y="0"/>
                </a:lnTo>
                <a:close/>
              </a:path>
            </a:pathLst>
          </a:custGeom>
          <a:solidFill>
            <a:srgbClr val="00AF50"/>
          </a:solidFill>
        </p:spPr>
        <p:txBody>
          <a:bodyPr wrap="square" lIns="0" tIns="0" rIns="0" bIns="0" rtlCol="0"/>
          <a:lstStyle/>
          <a:p>
            <a:endParaRPr/>
          </a:p>
        </p:txBody>
      </p:sp>
      <p:pic>
        <p:nvPicPr>
          <p:cNvPr id="10" name="object 10"/>
          <p:cNvPicPr/>
          <p:nvPr/>
        </p:nvPicPr>
        <p:blipFill>
          <a:blip r:embed="rId2" cstate="print"/>
          <a:stretch>
            <a:fillRect/>
          </a:stretch>
        </p:blipFill>
        <p:spPr>
          <a:xfrm>
            <a:off x="816610" y="1988820"/>
            <a:ext cx="4489069" cy="2808350"/>
          </a:xfrm>
          <a:prstGeom prst="rect">
            <a:avLst/>
          </a:prstGeom>
        </p:spPr>
      </p:pic>
      <p:sp>
        <p:nvSpPr>
          <p:cNvPr id="11" name="object 11"/>
          <p:cNvSpPr txBox="1"/>
          <p:nvPr/>
        </p:nvSpPr>
        <p:spPr>
          <a:xfrm>
            <a:off x="895603" y="4816220"/>
            <a:ext cx="4372610" cy="57404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Calibri"/>
                <a:cs typeface="Calibri"/>
              </a:rPr>
              <a:t>http</a:t>
            </a:r>
            <a:r>
              <a:rPr sz="1800" spc="-15" dirty="0">
                <a:latin typeface="Calibri"/>
                <a:cs typeface="Calibri"/>
                <a:hlinkClick r:id="rId3"/>
              </a:rPr>
              <a:t>s://w</a:t>
            </a:r>
            <a:r>
              <a:rPr sz="1800" spc="-15" dirty="0">
                <a:latin typeface="Calibri"/>
                <a:cs typeface="Calibri"/>
              </a:rPr>
              <a:t>ww.f</a:t>
            </a:r>
            <a:r>
              <a:rPr sz="1800" spc="-15" dirty="0">
                <a:latin typeface="Calibri"/>
                <a:cs typeface="Calibri"/>
                <a:hlinkClick r:id="rId3"/>
              </a:rPr>
              <a:t>acebook.com/khvolunteercenter</a:t>
            </a:r>
            <a:endParaRPr sz="1800">
              <a:latin typeface="Calibri"/>
              <a:cs typeface="Calibri"/>
            </a:endParaRPr>
          </a:p>
          <a:p>
            <a:pPr marL="12700">
              <a:lnSpc>
                <a:spcPct val="100000"/>
              </a:lnSpc>
            </a:pPr>
            <a:r>
              <a:rPr sz="1800" spc="-5" dirty="0">
                <a:latin typeface="Calibri"/>
                <a:cs typeface="Calibri"/>
              </a:rPr>
              <a:t>/videos/413255616841873</a:t>
            </a:r>
            <a:endParaRPr sz="1800">
              <a:latin typeface="Calibri"/>
              <a:cs typeface="Calibri"/>
            </a:endParaRPr>
          </a:p>
        </p:txBody>
      </p:sp>
      <p:sp>
        <p:nvSpPr>
          <p:cNvPr id="12" name="object 12"/>
          <p:cNvSpPr txBox="1"/>
          <p:nvPr/>
        </p:nvSpPr>
        <p:spPr>
          <a:xfrm>
            <a:off x="5385308" y="1906748"/>
            <a:ext cx="2871470" cy="2983509"/>
          </a:xfrm>
          <a:prstGeom prst="rect">
            <a:avLst/>
          </a:prstGeom>
        </p:spPr>
        <p:txBody>
          <a:bodyPr vert="horz" wrap="square" lIns="0" tIns="109855" rIns="0" bIns="0" rtlCol="0">
            <a:spAutoFit/>
          </a:bodyPr>
          <a:lstStyle/>
          <a:p>
            <a:pPr marL="421005" indent="-408305">
              <a:lnSpc>
                <a:spcPct val="100000"/>
              </a:lnSpc>
              <a:spcBef>
                <a:spcPts val="865"/>
              </a:spcBef>
              <a:buSzPct val="96875"/>
              <a:buAutoNum type="arabicPeriod"/>
              <a:tabLst>
                <a:tab pos="421005" algn="l"/>
              </a:tabLst>
            </a:pPr>
            <a:r>
              <a:rPr sz="3200" dirty="0">
                <a:latin typeface="標楷體" panose="03000509000000000000" pitchFamily="65" charset="-120"/>
                <a:ea typeface="標楷體" panose="03000509000000000000" pitchFamily="65" charset="-120"/>
                <a:cs typeface="SimSun"/>
              </a:rPr>
              <a:t>頂</a:t>
            </a:r>
            <a:r>
              <a:rPr sz="3200" spc="-15" dirty="0">
                <a:latin typeface="標楷體" panose="03000509000000000000" pitchFamily="65" charset="-120"/>
                <a:ea typeface="標楷體" panose="03000509000000000000" pitchFamily="65" charset="-120"/>
                <a:cs typeface="SimSun"/>
              </a:rPr>
              <a:t>層</a:t>
            </a:r>
            <a:r>
              <a:rPr sz="3200" dirty="0">
                <a:latin typeface="標楷體" panose="03000509000000000000" pitchFamily="65" charset="-120"/>
                <a:ea typeface="標楷體" panose="03000509000000000000" pitchFamily="65" charset="-120"/>
                <a:cs typeface="SimSun"/>
              </a:rPr>
              <a:t>設計</a:t>
            </a:r>
            <a:r>
              <a:rPr sz="3200" spc="-15" dirty="0">
                <a:latin typeface="標楷體" panose="03000509000000000000" pitchFamily="65" charset="-120"/>
                <a:ea typeface="標楷體" panose="03000509000000000000" pitchFamily="65" charset="-120"/>
                <a:cs typeface="SimSun"/>
              </a:rPr>
              <a:t>系</a:t>
            </a:r>
            <a:r>
              <a:rPr sz="3200" dirty="0">
                <a:latin typeface="標楷體" panose="03000509000000000000" pitchFamily="65" charset="-120"/>
                <a:ea typeface="標楷體" panose="03000509000000000000" pitchFamily="65" charset="-120"/>
                <a:cs typeface="SimSun"/>
              </a:rPr>
              <a:t>統</a:t>
            </a:r>
          </a:p>
          <a:p>
            <a:pPr marL="421005" indent="-408940">
              <a:lnSpc>
                <a:spcPct val="100000"/>
              </a:lnSpc>
              <a:spcBef>
                <a:spcPts val="770"/>
              </a:spcBef>
              <a:buSzPct val="96875"/>
              <a:buAutoNum type="arabicPeriod"/>
              <a:tabLst>
                <a:tab pos="421640" algn="l"/>
              </a:tabLst>
            </a:pPr>
            <a:r>
              <a:rPr sz="3200" spc="5" dirty="0">
                <a:latin typeface="標楷體" panose="03000509000000000000" pitchFamily="65" charset="-120"/>
                <a:ea typeface="標楷體" panose="03000509000000000000" pitchFamily="65" charset="-120"/>
                <a:cs typeface="SimSun"/>
              </a:rPr>
              <a:t>人</a:t>
            </a:r>
            <a:r>
              <a:rPr sz="3200" spc="-15" dirty="0">
                <a:latin typeface="標楷體" panose="03000509000000000000" pitchFamily="65" charset="-120"/>
                <a:ea typeface="標楷體" panose="03000509000000000000" pitchFamily="65" charset="-120"/>
                <a:cs typeface="SimSun"/>
              </a:rPr>
              <a:t>力</a:t>
            </a:r>
            <a:r>
              <a:rPr sz="3200" spc="5" dirty="0">
                <a:latin typeface="標楷體" panose="03000509000000000000" pitchFamily="65" charset="-120"/>
                <a:ea typeface="標楷體" panose="03000509000000000000" pitchFamily="65" charset="-120"/>
                <a:cs typeface="SimSun"/>
              </a:rPr>
              <a:t>資源</a:t>
            </a:r>
            <a:r>
              <a:rPr sz="3200" spc="-15" dirty="0">
                <a:latin typeface="標楷體" panose="03000509000000000000" pitchFamily="65" charset="-120"/>
                <a:ea typeface="標楷體" panose="03000509000000000000" pitchFamily="65" charset="-120"/>
                <a:cs typeface="SimSun"/>
              </a:rPr>
              <a:t>系</a:t>
            </a:r>
            <a:r>
              <a:rPr sz="3200" spc="5" dirty="0">
                <a:latin typeface="標楷體" panose="03000509000000000000" pitchFamily="65" charset="-120"/>
                <a:ea typeface="標楷體" panose="03000509000000000000" pitchFamily="65" charset="-120"/>
                <a:cs typeface="SimSun"/>
              </a:rPr>
              <a:t>統</a:t>
            </a:r>
            <a:endParaRPr sz="3200" dirty="0">
              <a:latin typeface="標楷體" panose="03000509000000000000" pitchFamily="65" charset="-120"/>
              <a:ea typeface="標楷體" panose="03000509000000000000" pitchFamily="65" charset="-120"/>
              <a:cs typeface="SimSun"/>
            </a:endParaRPr>
          </a:p>
          <a:p>
            <a:pPr marL="421005" indent="-408305">
              <a:lnSpc>
                <a:spcPct val="100000"/>
              </a:lnSpc>
              <a:spcBef>
                <a:spcPts val="770"/>
              </a:spcBef>
              <a:buSzPct val="96875"/>
              <a:buAutoNum type="arabicPeriod"/>
              <a:tabLst>
                <a:tab pos="421005" algn="l"/>
              </a:tabLst>
            </a:pPr>
            <a:r>
              <a:rPr sz="3200" dirty="0">
                <a:latin typeface="標楷體" panose="03000509000000000000" pitchFamily="65" charset="-120"/>
                <a:ea typeface="標楷體" panose="03000509000000000000" pitchFamily="65" charset="-120"/>
                <a:cs typeface="SimSun"/>
              </a:rPr>
              <a:t>價</a:t>
            </a:r>
            <a:r>
              <a:rPr sz="3200" spc="-15" dirty="0">
                <a:latin typeface="標楷體" panose="03000509000000000000" pitchFamily="65" charset="-120"/>
                <a:ea typeface="標楷體" panose="03000509000000000000" pitchFamily="65" charset="-120"/>
                <a:cs typeface="SimSun"/>
              </a:rPr>
              <a:t>值</a:t>
            </a:r>
            <a:r>
              <a:rPr sz="3200" dirty="0">
                <a:latin typeface="標楷體" panose="03000509000000000000" pitchFamily="65" charset="-120"/>
                <a:ea typeface="標楷體" panose="03000509000000000000" pitchFamily="65" charset="-120"/>
                <a:cs typeface="SimSun"/>
              </a:rPr>
              <a:t>認同</a:t>
            </a:r>
            <a:r>
              <a:rPr sz="3200" spc="-15" dirty="0">
                <a:latin typeface="標楷體" panose="03000509000000000000" pitchFamily="65" charset="-120"/>
                <a:ea typeface="標楷體" panose="03000509000000000000" pitchFamily="65" charset="-120"/>
                <a:cs typeface="SimSun"/>
              </a:rPr>
              <a:t>系</a:t>
            </a:r>
            <a:r>
              <a:rPr sz="3200" dirty="0">
                <a:latin typeface="標楷體" panose="03000509000000000000" pitchFamily="65" charset="-120"/>
                <a:ea typeface="標楷體" panose="03000509000000000000" pitchFamily="65" charset="-120"/>
                <a:cs typeface="SimSun"/>
              </a:rPr>
              <a:t>統</a:t>
            </a:r>
          </a:p>
          <a:p>
            <a:pPr marL="421005" indent="-408305">
              <a:lnSpc>
                <a:spcPct val="100000"/>
              </a:lnSpc>
              <a:spcBef>
                <a:spcPts val="770"/>
              </a:spcBef>
              <a:buSzPct val="96875"/>
              <a:buAutoNum type="arabicPeriod"/>
              <a:tabLst>
                <a:tab pos="421005" algn="l"/>
              </a:tabLst>
            </a:pPr>
            <a:r>
              <a:rPr sz="3200" dirty="0">
                <a:latin typeface="標楷體" panose="03000509000000000000" pitchFamily="65" charset="-120"/>
                <a:ea typeface="標楷體" panose="03000509000000000000" pitchFamily="65" charset="-120"/>
                <a:cs typeface="SimSun"/>
              </a:rPr>
              <a:t>特</a:t>
            </a:r>
            <a:r>
              <a:rPr sz="3200" spc="-15" dirty="0">
                <a:latin typeface="標楷體" panose="03000509000000000000" pitchFamily="65" charset="-120"/>
                <a:ea typeface="標楷體" panose="03000509000000000000" pitchFamily="65" charset="-120"/>
                <a:cs typeface="SimSun"/>
              </a:rPr>
              <a:t>色</a:t>
            </a:r>
            <a:r>
              <a:rPr sz="3200" dirty="0">
                <a:latin typeface="標楷體" panose="03000509000000000000" pitchFamily="65" charset="-120"/>
                <a:ea typeface="標楷體" panose="03000509000000000000" pitchFamily="65" charset="-120"/>
                <a:cs typeface="SimSun"/>
              </a:rPr>
              <a:t>營造</a:t>
            </a:r>
            <a:r>
              <a:rPr sz="3200" spc="-15" dirty="0">
                <a:latin typeface="標楷體" panose="03000509000000000000" pitchFamily="65" charset="-120"/>
                <a:ea typeface="標楷體" panose="03000509000000000000" pitchFamily="65" charset="-120"/>
                <a:cs typeface="SimSun"/>
              </a:rPr>
              <a:t>系</a:t>
            </a:r>
            <a:r>
              <a:rPr sz="3200" dirty="0">
                <a:latin typeface="標楷體" panose="03000509000000000000" pitchFamily="65" charset="-120"/>
                <a:ea typeface="標楷體" panose="03000509000000000000" pitchFamily="65" charset="-120"/>
                <a:cs typeface="SimSun"/>
              </a:rPr>
              <a:t>統</a:t>
            </a:r>
          </a:p>
          <a:p>
            <a:pPr marL="421005" indent="-408305">
              <a:lnSpc>
                <a:spcPct val="100000"/>
              </a:lnSpc>
              <a:spcBef>
                <a:spcPts val="765"/>
              </a:spcBef>
              <a:buSzPct val="96875"/>
              <a:buAutoNum type="arabicPeriod"/>
              <a:tabLst>
                <a:tab pos="421005" algn="l"/>
              </a:tabLst>
            </a:pPr>
            <a:r>
              <a:rPr sz="3200" dirty="0">
                <a:latin typeface="標楷體" panose="03000509000000000000" pitchFamily="65" charset="-120"/>
                <a:ea typeface="標楷體" panose="03000509000000000000" pitchFamily="65" charset="-120"/>
                <a:cs typeface="SimSun"/>
              </a:rPr>
              <a:t>行</a:t>
            </a:r>
            <a:r>
              <a:rPr sz="3200" spc="-15" dirty="0">
                <a:latin typeface="標楷體" panose="03000509000000000000" pitchFamily="65" charset="-120"/>
                <a:ea typeface="標楷體" panose="03000509000000000000" pitchFamily="65" charset="-120"/>
                <a:cs typeface="SimSun"/>
              </a:rPr>
              <a:t>銷</a:t>
            </a:r>
            <a:r>
              <a:rPr sz="3200" dirty="0">
                <a:latin typeface="標楷體" panose="03000509000000000000" pitchFamily="65" charset="-120"/>
                <a:ea typeface="標楷體" panose="03000509000000000000" pitchFamily="65" charset="-120"/>
                <a:cs typeface="SimSun"/>
              </a:rPr>
              <a:t>體驗</a:t>
            </a:r>
            <a:r>
              <a:rPr sz="3200" spc="-15" dirty="0">
                <a:latin typeface="標楷體" panose="03000509000000000000" pitchFamily="65" charset="-120"/>
                <a:ea typeface="標楷體" panose="03000509000000000000" pitchFamily="65" charset="-120"/>
                <a:cs typeface="SimSun"/>
              </a:rPr>
              <a:t>系</a:t>
            </a:r>
            <a:r>
              <a:rPr sz="3200" dirty="0">
                <a:latin typeface="標楷體" panose="03000509000000000000" pitchFamily="65" charset="-120"/>
                <a:ea typeface="標楷體" panose="03000509000000000000" pitchFamily="65" charset="-120"/>
                <a:cs typeface="SimSun"/>
              </a:rPr>
              <a:t>統</a:t>
            </a:r>
          </a:p>
        </p:txBody>
      </p:sp>
      <p:sp>
        <p:nvSpPr>
          <p:cNvPr id="13" name="object 13"/>
          <p:cNvSpPr txBox="1"/>
          <p:nvPr/>
        </p:nvSpPr>
        <p:spPr>
          <a:xfrm>
            <a:off x="1763648" y="5661253"/>
            <a:ext cx="6913245" cy="582852"/>
          </a:xfrm>
          <a:prstGeom prst="rect">
            <a:avLst/>
          </a:prstGeom>
          <a:solidFill>
            <a:srgbClr val="FFFF00"/>
          </a:solidFill>
        </p:spPr>
        <p:txBody>
          <a:bodyPr vert="horz" wrap="square" lIns="0" tIns="28575" rIns="0" bIns="0" rtlCol="0">
            <a:spAutoFit/>
          </a:bodyPr>
          <a:lstStyle/>
          <a:p>
            <a:pPr marL="91440">
              <a:lnSpc>
                <a:spcPct val="100000"/>
              </a:lnSpc>
              <a:spcBef>
                <a:spcPts val="225"/>
              </a:spcBef>
            </a:pPr>
            <a:r>
              <a:rPr sz="3600" spc="-5" dirty="0">
                <a:latin typeface="標楷體" panose="03000509000000000000" pitchFamily="65" charset="-120"/>
                <a:ea typeface="標楷體" panose="03000509000000000000" pitchFamily="65" charset="-120"/>
                <a:cs typeface="SimSun"/>
              </a:rPr>
              <a:t>「</a:t>
            </a:r>
            <a:r>
              <a:rPr sz="3600" b="1" dirty="0">
                <a:solidFill>
                  <a:srgbClr val="FF0000"/>
                </a:solidFill>
                <a:latin typeface="標楷體" panose="03000509000000000000" pitchFamily="65" charset="-120"/>
                <a:ea typeface="標楷體" panose="03000509000000000000" pitchFamily="65" charset="-120"/>
                <a:cs typeface="Microsoft YaHei UI"/>
              </a:rPr>
              <a:t>平</a:t>
            </a:r>
            <a:r>
              <a:rPr sz="3600" b="1" spc="-5" dirty="0">
                <a:solidFill>
                  <a:srgbClr val="FF0000"/>
                </a:solidFill>
                <a:latin typeface="標楷體" panose="03000509000000000000" pitchFamily="65" charset="-120"/>
                <a:ea typeface="標楷體" panose="03000509000000000000" pitchFamily="65" charset="-120"/>
                <a:cs typeface="Microsoft YaHei UI"/>
              </a:rPr>
              <a:t>衡</a:t>
            </a:r>
            <a:r>
              <a:rPr sz="3600" dirty="0">
                <a:latin typeface="標楷體" panose="03000509000000000000" pitchFamily="65" charset="-120"/>
                <a:ea typeface="標楷體" panose="03000509000000000000" pitchFamily="65" charset="-120"/>
                <a:cs typeface="SimSun"/>
              </a:rPr>
              <a:t>」是時間銀行營運的關</a:t>
            </a:r>
            <a:r>
              <a:rPr sz="3600" spc="-20" dirty="0">
                <a:latin typeface="標楷體" panose="03000509000000000000" pitchFamily="65" charset="-120"/>
                <a:ea typeface="標楷體" panose="03000509000000000000" pitchFamily="65" charset="-120"/>
                <a:cs typeface="SimSun"/>
              </a:rPr>
              <a:t>鍵</a:t>
            </a:r>
            <a:r>
              <a:rPr sz="3600" dirty="0">
                <a:latin typeface="標楷體" panose="03000509000000000000" pitchFamily="65" charset="-120"/>
                <a:ea typeface="標楷體" panose="03000509000000000000" pitchFamily="65" charset="-120"/>
                <a:cs typeface="SimSun"/>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1371599" y="1676401"/>
            <a:ext cx="6657339" cy="3262432"/>
          </a:xfrm>
        </p:spPr>
        <p:txBody>
          <a:bodyPr/>
          <a:lstStyle/>
          <a:p>
            <a:endParaRPr lang="en-US" altLang="zh-TW" sz="3200" kern="1200" spc="-15" dirty="0" smtClean="0">
              <a:latin typeface="標楷體" panose="03000509000000000000" pitchFamily="65" charset="-120"/>
              <a:ea typeface="標楷體" panose="03000509000000000000" pitchFamily="65" charset="-120"/>
            </a:endParaRPr>
          </a:p>
          <a:p>
            <a:r>
              <a:rPr lang="en-US" altLang="zh-TW" sz="3600" kern="1200" spc="-15" dirty="0" smtClean="0">
                <a:latin typeface="標楷體" panose="03000509000000000000" pitchFamily="65" charset="-120"/>
                <a:ea typeface="標楷體" panose="03000509000000000000" pitchFamily="65" charset="-120"/>
              </a:rPr>
              <a:t>1.</a:t>
            </a:r>
            <a:r>
              <a:rPr lang="zh-TW" altLang="en-US" sz="3600" kern="1200" spc="-15" dirty="0" smtClean="0">
                <a:latin typeface="標楷體" panose="03000509000000000000" pitchFamily="65" charset="-120"/>
                <a:ea typeface="標楷體" panose="03000509000000000000" pitchFamily="65" charset="-120"/>
              </a:rPr>
              <a:t>行善旅遊</a:t>
            </a:r>
            <a:endParaRPr lang="en-US" altLang="zh-TW" sz="3600" kern="1200" spc="-15" dirty="0" smtClean="0">
              <a:latin typeface="標楷體" panose="03000509000000000000" pitchFamily="65" charset="-120"/>
              <a:ea typeface="標楷體" panose="03000509000000000000" pitchFamily="65" charset="-120"/>
            </a:endParaRPr>
          </a:p>
          <a:p>
            <a:r>
              <a:rPr lang="en-US" altLang="zh-TW" sz="3600" kern="1200" spc="-15" dirty="0" smtClean="0">
                <a:latin typeface="標楷體" panose="03000509000000000000" pitchFamily="65" charset="-120"/>
                <a:ea typeface="標楷體" panose="03000509000000000000" pitchFamily="65" charset="-120"/>
              </a:rPr>
              <a:t>2.</a:t>
            </a:r>
            <a:r>
              <a:rPr lang="zh-TW" altLang="en-US" sz="3600" kern="1200" spc="-15" dirty="0" smtClean="0">
                <a:latin typeface="標楷體" panose="03000509000000000000" pitchFamily="65" charset="-120"/>
                <a:ea typeface="標楷體" panose="03000509000000000000" pitchFamily="65" charset="-120"/>
              </a:rPr>
              <a:t>節日特典</a:t>
            </a:r>
            <a:r>
              <a:rPr lang="en-US" altLang="zh-TW" sz="3600" kern="1200" spc="-15" dirty="0" smtClean="0">
                <a:latin typeface="標楷體" panose="03000509000000000000" pitchFamily="65" charset="-120"/>
                <a:ea typeface="標楷體" panose="03000509000000000000" pitchFamily="65" charset="-120"/>
              </a:rPr>
              <a:t>/</a:t>
            </a:r>
            <a:r>
              <a:rPr lang="zh-TW" altLang="en-US" sz="3600" kern="1200" spc="-15" dirty="0" smtClean="0">
                <a:latin typeface="標楷體" panose="03000509000000000000" pitchFamily="65" charset="-120"/>
                <a:ea typeface="標楷體" panose="03000509000000000000" pitchFamily="65" charset="-120"/>
              </a:rPr>
              <a:t>駐村達人</a:t>
            </a:r>
            <a:endParaRPr lang="en-US" altLang="zh-TW" sz="3600" kern="1200" spc="-15" dirty="0" smtClean="0">
              <a:latin typeface="標楷體" panose="03000509000000000000" pitchFamily="65" charset="-120"/>
              <a:ea typeface="標楷體" panose="03000509000000000000" pitchFamily="65" charset="-120"/>
            </a:endParaRPr>
          </a:p>
          <a:p>
            <a:r>
              <a:rPr lang="en-US" altLang="zh-TW" sz="3600" kern="1200" spc="-15" dirty="0" smtClean="0">
                <a:latin typeface="標楷體" panose="03000509000000000000" pitchFamily="65" charset="-120"/>
                <a:ea typeface="標楷體" panose="03000509000000000000" pitchFamily="65" charset="-120"/>
              </a:rPr>
              <a:t>3.</a:t>
            </a:r>
            <a:r>
              <a:rPr lang="zh-TW" altLang="en-US" sz="3600" kern="1200" spc="-15" dirty="0" smtClean="0">
                <a:latin typeface="標楷體" panose="03000509000000000000" pitchFamily="65" charset="-120"/>
                <a:ea typeface="標楷體" panose="03000509000000000000" pitchFamily="65" charset="-120"/>
              </a:rPr>
              <a:t>特色生活圈</a:t>
            </a:r>
            <a:endParaRPr lang="en-US" altLang="zh-TW" sz="3600" kern="1200" spc="-15" dirty="0" smtClean="0">
              <a:latin typeface="標楷體" panose="03000509000000000000" pitchFamily="65" charset="-120"/>
              <a:ea typeface="標楷體" panose="03000509000000000000" pitchFamily="65" charset="-120"/>
            </a:endParaRPr>
          </a:p>
          <a:p>
            <a:r>
              <a:rPr lang="en-US" altLang="zh-TW" sz="3600" kern="1200" spc="-15" dirty="0" smtClean="0">
                <a:latin typeface="標楷體" panose="03000509000000000000" pitchFamily="65" charset="-120"/>
                <a:ea typeface="標楷體" panose="03000509000000000000" pitchFamily="65" charset="-120"/>
              </a:rPr>
              <a:t>4.</a:t>
            </a:r>
          </a:p>
          <a:p>
            <a:r>
              <a:rPr lang="en-US" altLang="zh-TW" sz="3600" kern="1200" spc="-15" dirty="0" smtClean="0">
                <a:latin typeface="標楷體" panose="03000509000000000000" pitchFamily="65" charset="-120"/>
                <a:ea typeface="標楷體" panose="03000509000000000000" pitchFamily="65" charset="-120"/>
              </a:rPr>
              <a:t>5.  …</a:t>
            </a:r>
            <a:endParaRPr lang="zh-TW" altLang="en-US" sz="3600" kern="1200" spc="-15" dirty="0">
              <a:latin typeface="標楷體" panose="03000509000000000000" pitchFamily="65" charset="-120"/>
              <a:ea typeface="標楷體" panose="03000509000000000000" pitchFamily="65" charset="-120"/>
            </a:endParaRPr>
          </a:p>
        </p:txBody>
      </p:sp>
      <p:sp>
        <p:nvSpPr>
          <p:cNvPr id="4" name="object 2"/>
          <p:cNvSpPr txBox="1">
            <a:spLocks noGrp="1"/>
          </p:cNvSpPr>
          <p:nvPr>
            <p:ph type="title"/>
          </p:nvPr>
        </p:nvSpPr>
        <p:spPr>
          <a:xfrm>
            <a:off x="914400" y="228600"/>
            <a:ext cx="7675068" cy="689932"/>
          </a:xfrm>
          <a:prstGeom prst="rect">
            <a:avLst/>
          </a:prstGeom>
        </p:spPr>
        <p:txBody>
          <a:bodyPr vert="horz" wrap="square" lIns="0" tIns="12700" rIns="0" bIns="0" rtlCol="0">
            <a:spAutoFit/>
          </a:bodyPr>
          <a:lstStyle/>
          <a:p>
            <a:pPr marL="12700">
              <a:lnSpc>
                <a:spcPct val="100000"/>
              </a:lnSpc>
              <a:spcBef>
                <a:spcPts val="100"/>
              </a:spcBef>
            </a:pPr>
            <a:r>
              <a:rPr dirty="0" err="1" smtClean="0">
                <a:latin typeface="標楷體" panose="03000509000000000000" pitchFamily="65" charset="-120"/>
                <a:ea typeface="標楷體" panose="03000509000000000000" pitchFamily="65" charset="-120"/>
              </a:rPr>
              <a:t>時間銀</a:t>
            </a:r>
            <a:r>
              <a:rPr spc="-25" dirty="0" err="1" smtClean="0">
                <a:latin typeface="標楷體" panose="03000509000000000000" pitchFamily="65" charset="-120"/>
                <a:ea typeface="標楷體" panose="03000509000000000000" pitchFamily="65" charset="-120"/>
              </a:rPr>
              <a:t>行</a:t>
            </a:r>
            <a:r>
              <a:rPr lang="zh-TW" altLang="en-US" dirty="0">
                <a:latin typeface="標楷體" panose="03000509000000000000" pitchFamily="65" charset="-120"/>
                <a:ea typeface="標楷體" panose="03000509000000000000" pitchFamily="65" charset="-120"/>
              </a:rPr>
              <a:t>可能</a:t>
            </a:r>
            <a:r>
              <a:rPr lang="zh-TW" altLang="en-US" dirty="0" smtClean="0">
                <a:latin typeface="標楷體" panose="03000509000000000000" pitchFamily="65" charset="-120"/>
                <a:ea typeface="標楷體" panose="03000509000000000000" pitchFamily="65" charset="-120"/>
              </a:rPr>
              <a:t>的策略結合方向</a:t>
            </a:r>
            <a:endParaRPr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18109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1219200" y="1295400"/>
            <a:ext cx="6809739" cy="5909310"/>
          </a:xfrm>
        </p:spPr>
        <p:txBody>
          <a:bodyPr/>
          <a:lstStyle/>
          <a:p>
            <a:r>
              <a:rPr lang="en-US" altLang="zh-TW" sz="3200" kern="1200" spc="5" dirty="0">
                <a:latin typeface="標楷體" panose="03000509000000000000" pitchFamily="65" charset="-120"/>
                <a:ea typeface="標楷體" panose="03000509000000000000" pitchFamily="65" charset="-120"/>
              </a:rPr>
              <a:t>1</a:t>
            </a:r>
            <a:r>
              <a:rPr lang="en-US" altLang="zh-TW" sz="3200" kern="1200" spc="5" dirty="0" smtClean="0">
                <a:latin typeface="標楷體" panose="03000509000000000000" pitchFamily="65" charset="-120"/>
                <a:ea typeface="標楷體" panose="03000509000000000000" pitchFamily="65" charset="-120"/>
              </a:rPr>
              <a:t>.</a:t>
            </a:r>
            <a:r>
              <a:rPr lang="zh-TW" altLang="en-US" sz="3200" kern="1200" spc="5" dirty="0" smtClean="0">
                <a:latin typeface="標楷體" panose="03000509000000000000" pitchFamily="65" charset="-120"/>
                <a:ea typeface="標楷體" panose="03000509000000000000" pitchFamily="65" charset="-120"/>
              </a:rPr>
              <a:t>介紹其它時間銀行常見的服務項目</a:t>
            </a:r>
            <a:endParaRPr lang="en-US" altLang="zh-TW" sz="3200" kern="1200" spc="5" dirty="0" smtClean="0">
              <a:latin typeface="標楷體" panose="03000509000000000000" pitchFamily="65" charset="-120"/>
              <a:ea typeface="標楷體" panose="03000509000000000000" pitchFamily="65" charset="-120"/>
            </a:endParaRPr>
          </a:p>
          <a:p>
            <a:r>
              <a:rPr lang="en-US" altLang="zh-TW" sz="3200" kern="1200" spc="5" dirty="0" smtClean="0">
                <a:latin typeface="標楷體" panose="03000509000000000000" pitchFamily="65" charset="-120"/>
                <a:ea typeface="標楷體" panose="03000509000000000000" pitchFamily="65" charset="-120"/>
              </a:rPr>
              <a:t>2.</a:t>
            </a:r>
            <a:r>
              <a:rPr lang="zh-TW" altLang="en-US" sz="3200" kern="1200" spc="5" dirty="0" smtClean="0">
                <a:latin typeface="標楷體" panose="03000509000000000000" pitchFamily="65" charset="-120"/>
                <a:ea typeface="標楷體" panose="03000509000000000000" pitchFamily="65" charset="-120"/>
              </a:rPr>
              <a:t>每個人在紙卡上寫下</a:t>
            </a:r>
            <a:r>
              <a:rPr lang="en-US" altLang="zh-TW" sz="3200" kern="1200" spc="5" dirty="0" smtClean="0">
                <a:latin typeface="標楷體" panose="03000509000000000000" pitchFamily="65" charset="-120"/>
                <a:ea typeface="標楷體" panose="03000509000000000000" pitchFamily="65" charset="-120"/>
              </a:rPr>
              <a:t>3</a:t>
            </a:r>
            <a:r>
              <a:rPr lang="zh-TW" altLang="en-US" sz="3200" kern="1200" spc="5" dirty="0" smtClean="0">
                <a:latin typeface="標楷體" panose="03000509000000000000" pitchFamily="65" charset="-120"/>
                <a:ea typeface="標楷體" panose="03000509000000000000" pitchFamily="65" charset="-120"/>
              </a:rPr>
              <a:t>件自己願意且</a:t>
            </a:r>
            <a:endParaRPr lang="en-US" altLang="zh-TW" sz="3200" kern="1200" spc="5" dirty="0" smtClean="0">
              <a:latin typeface="標楷體" panose="03000509000000000000" pitchFamily="65" charset="-120"/>
              <a:ea typeface="標楷體" panose="03000509000000000000" pitchFamily="65" charset="-120"/>
            </a:endParaRPr>
          </a:p>
          <a:p>
            <a:r>
              <a:rPr lang="zh-TW" altLang="en-US" sz="3200" kern="1200" spc="5" dirty="0">
                <a:latin typeface="標楷體" panose="03000509000000000000" pitchFamily="65" charset="-120"/>
                <a:ea typeface="標楷體" panose="03000509000000000000" pitchFamily="65" charset="-120"/>
              </a:rPr>
              <a:t> </a:t>
            </a:r>
            <a:r>
              <a:rPr lang="zh-TW" altLang="en-US" sz="3200" kern="1200" spc="5" dirty="0" smtClean="0">
                <a:latin typeface="標楷體" panose="03000509000000000000" pitchFamily="65" charset="-120"/>
                <a:ea typeface="標楷體" panose="03000509000000000000" pitchFamily="65" charset="-120"/>
              </a:rPr>
              <a:t> 可以做的事</a:t>
            </a:r>
            <a:r>
              <a:rPr lang="en-US" altLang="zh-TW" sz="3200" kern="1200" spc="5" dirty="0" smtClean="0">
                <a:latin typeface="標楷體" panose="03000509000000000000" pitchFamily="65" charset="-120"/>
                <a:ea typeface="標楷體" panose="03000509000000000000" pitchFamily="65" charset="-120"/>
              </a:rPr>
              <a:t>(</a:t>
            </a:r>
            <a:r>
              <a:rPr lang="zh-TW" altLang="en-US" sz="3200" kern="1200" spc="5" dirty="0" smtClean="0">
                <a:latin typeface="標楷體" panose="03000509000000000000" pitchFamily="65" charset="-120"/>
                <a:ea typeface="標楷體" panose="03000509000000000000" pitchFamily="65" charset="-120"/>
              </a:rPr>
              <a:t>完成後收回主持人處</a:t>
            </a:r>
            <a:r>
              <a:rPr lang="en-US" altLang="zh-TW" sz="3200" kern="1200" spc="5" dirty="0" smtClean="0">
                <a:latin typeface="標楷體" panose="03000509000000000000" pitchFamily="65" charset="-120"/>
                <a:ea typeface="標楷體" panose="03000509000000000000" pitchFamily="65" charset="-120"/>
              </a:rPr>
              <a:t>)</a:t>
            </a:r>
          </a:p>
          <a:p>
            <a:r>
              <a:rPr lang="en-US" altLang="zh-TW" sz="3200" kern="1200" spc="5" dirty="0" smtClean="0">
                <a:latin typeface="標楷體" panose="03000509000000000000" pitchFamily="65" charset="-120"/>
                <a:ea typeface="標楷體" panose="03000509000000000000" pitchFamily="65" charset="-120"/>
              </a:rPr>
              <a:t>3.</a:t>
            </a:r>
            <a:r>
              <a:rPr lang="zh-TW" altLang="en-US" sz="3200" kern="1200" spc="5" dirty="0" smtClean="0">
                <a:latin typeface="標楷體" panose="03000509000000000000" pitchFamily="65" charset="-120"/>
                <a:ea typeface="標楷體" panose="03000509000000000000" pitchFamily="65" charset="-120"/>
              </a:rPr>
              <a:t>每個人在</a:t>
            </a:r>
            <a:r>
              <a:rPr lang="zh-TW" altLang="en-US" sz="3200" kern="1200" spc="5" dirty="0">
                <a:latin typeface="標楷體" panose="03000509000000000000" pitchFamily="65" charset="-120"/>
                <a:ea typeface="標楷體" panose="03000509000000000000" pitchFamily="65" charset="-120"/>
              </a:rPr>
              <a:t>另一張紙卡上寫下</a:t>
            </a:r>
            <a:r>
              <a:rPr lang="en-US" altLang="zh-TW" sz="3200" kern="1200" spc="5" dirty="0">
                <a:latin typeface="標楷體" panose="03000509000000000000" pitchFamily="65" charset="-120"/>
                <a:ea typeface="標楷體" panose="03000509000000000000" pitchFamily="65" charset="-120"/>
              </a:rPr>
              <a:t>3</a:t>
            </a:r>
            <a:r>
              <a:rPr lang="zh-TW" altLang="en-US" sz="3200" kern="1200" spc="5" dirty="0">
                <a:latin typeface="標楷體" panose="03000509000000000000" pitchFamily="65" charset="-120"/>
                <a:ea typeface="標楷體" panose="03000509000000000000" pitchFamily="65" charset="-120"/>
              </a:rPr>
              <a:t>件</a:t>
            </a:r>
            <a:r>
              <a:rPr lang="zh-TW" altLang="en-US" sz="3200" kern="1200" spc="5" dirty="0" smtClean="0">
                <a:latin typeface="標楷體" panose="03000509000000000000" pitchFamily="65" charset="-120"/>
                <a:ea typeface="標楷體" panose="03000509000000000000" pitchFamily="65" charset="-120"/>
              </a:rPr>
              <a:t>自己  </a:t>
            </a:r>
            <a:endParaRPr lang="en-US" altLang="zh-TW" sz="3200" kern="1200" spc="5" dirty="0" smtClean="0">
              <a:latin typeface="標楷體" panose="03000509000000000000" pitchFamily="65" charset="-120"/>
              <a:ea typeface="標楷體" panose="03000509000000000000" pitchFamily="65" charset="-120"/>
            </a:endParaRPr>
          </a:p>
          <a:p>
            <a:r>
              <a:rPr lang="zh-TW" altLang="en-US" sz="3200" kern="1200" spc="5" dirty="0">
                <a:latin typeface="標楷體" panose="03000509000000000000" pitchFamily="65" charset="-120"/>
                <a:ea typeface="標楷體" panose="03000509000000000000" pitchFamily="65" charset="-120"/>
              </a:rPr>
              <a:t> </a:t>
            </a:r>
            <a:r>
              <a:rPr lang="zh-TW" altLang="en-US" sz="3200" kern="1200" spc="5" dirty="0" smtClean="0">
                <a:latin typeface="標楷體" panose="03000509000000000000" pitchFamily="65" charset="-120"/>
                <a:ea typeface="標楷體" panose="03000509000000000000" pitchFamily="65" charset="-120"/>
              </a:rPr>
              <a:t> 希望有人為自己做</a:t>
            </a:r>
            <a:r>
              <a:rPr lang="zh-TW" altLang="en-US" sz="3200" kern="1200" spc="5" dirty="0">
                <a:latin typeface="標楷體" panose="03000509000000000000" pitchFamily="65" charset="-120"/>
                <a:ea typeface="標楷體" panose="03000509000000000000" pitchFamily="65" charset="-120"/>
              </a:rPr>
              <a:t>的</a:t>
            </a:r>
            <a:r>
              <a:rPr lang="zh-TW" altLang="en-US" sz="3200" kern="1200" spc="5" dirty="0" smtClean="0">
                <a:latin typeface="標楷體" panose="03000509000000000000" pitchFamily="65" charset="-120"/>
                <a:ea typeface="標楷體" panose="03000509000000000000" pitchFamily="65" charset="-120"/>
              </a:rPr>
              <a:t>事</a:t>
            </a:r>
            <a:endParaRPr lang="en-US" altLang="zh-TW" sz="3200" kern="1200" spc="5" dirty="0" smtClean="0">
              <a:latin typeface="標楷體" panose="03000509000000000000" pitchFamily="65" charset="-120"/>
              <a:ea typeface="標楷體" panose="03000509000000000000" pitchFamily="65" charset="-120"/>
            </a:endParaRPr>
          </a:p>
          <a:p>
            <a:r>
              <a:rPr lang="en-US" altLang="zh-TW" sz="3200" kern="1200" spc="5" dirty="0" smtClean="0">
                <a:latin typeface="標楷體" panose="03000509000000000000" pitchFamily="65" charset="-120"/>
                <a:ea typeface="標楷體" panose="03000509000000000000" pitchFamily="65" charset="-120"/>
              </a:rPr>
              <a:t>4.</a:t>
            </a:r>
            <a:r>
              <a:rPr lang="zh-TW" altLang="en-US" sz="3200" kern="1200" spc="5" dirty="0" smtClean="0">
                <a:latin typeface="標楷體" panose="03000509000000000000" pitchFamily="65" charset="-120"/>
                <a:ea typeface="標楷體" panose="03000509000000000000" pitchFamily="65" charset="-120"/>
              </a:rPr>
              <a:t>進行服務項目媒合或競拍</a:t>
            </a:r>
            <a:endParaRPr lang="en-US" altLang="zh-TW" sz="3200" kern="1200" spc="5" dirty="0" smtClean="0">
              <a:latin typeface="標楷體" panose="03000509000000000000" pitchFamily="65" charset="-120"/>
              <a:ea typeface="標楷體" panose="03000509000000000000" pitchFamily="65" charset="-120"/>
            </a:endParaRPr>
          </a:p>
          <a:p>
            <a:r>
              <a:rPr lang="en-US" altLang="zh-TW" sz="3200" kern="1200" spc="5" dirty="0" smtClean="0">
                <a:latin typeface="標楷體" panose="03000509000000000000" pitchFamily="65" charset="-120"/>
                <a:ea typeface="標楷體" panose="03000509000000000000" pitchFamily="65" charset="-120"/>
              </a:rPr>
              <a:t>5.</a:t>
            </a:r>
            <a:r>
              <a:rPr lang="zh-TW" altLang="en-US" sz="3200" kern="1200" spc="5" dirty="0" smtClean="0">
                <a:latin typeface="標楷體" panose="03000509000000000000" pitchFamily="65" charset="-120"/>
                <a:ea typeface="標楷體" panose="03000509000000000000" pitchFamily="65" charset="-120"/>
              </a:rPr>
              <a:t>針對沒人提供的項目討論培力或外</a:t>
            </a:r>
            <a:endParaRPr lang="en-US" altLang="zh-TW" sz="3200" kern="1200" spc="5" dirty="0" smtClean="0">
              <a:latin typeface="標楷體" panose="03000509000000000000" pitchFamily="65" charset="-120"/>
              <a:ea typeface="標楷體" panose="03000509000000000000" pitchFamily="65" charset="-120"/>
            </a:endParaRPr>
          </a:p>
          <a:p>
            <a:r>
              <a:rPr lang="zh-TW" altLang="en-US" sz="3200" kern="1200" spc="5" dirty="0">
                <a:latin typeface="標楷體" panose="03000509000000000000" pitchFamily="65" charset="-120"/>
                <a:ea typeface="標楷體" panose="03000509000000000000" pitchFamily="65" charset="-120"/>
              </a:rPr>
              <a:t> </a:t>
            </a:r>
            <a:r>
              <a:rPr lang="zh-TW" altLang="en-US" sz="3200" kern="1200" spc="5" dirty="0" smtClean="0">
                <a:latin typeface="標楷體" panose="03000509000000000000" pitchFamily="65" charset="-120"/>
                <a:ea typeface="標楷體" panose="03000509000000000000" pitchFamily="65" charset="-120"/>
              </a:rPr>
              <a:t> 部交換的可能性討論</a:t>
            </a:r>
            <a:endParaRPr lang="en-US" altLang="zh-TW" sz="3200" kern="1200" spc="5" dirty="0" smtClean="0">
              <a:latin typeface="標楷體" panose="03000509000000000000" pitchFamily="65" charset="-120"/>
              <a:ea typeface="標楷體" panose="03000509000000000000" pitchFamily="65" charset="-120"/>
            </a:endParaRPr>
          </a:p>
          <a:p>
            <a:r>
              <a:rPr lang="en-US" altLang="zh-TW" sz="3200" kern="1200" spc="5" dirty="0" smtClean="0">
                <a:latin typeface="標楷體" panose="03000509000000000000" pitchFamily="65" charset="-120"/>
                <a:ea typeface="標楷體" panose="03000509000000000000" pitchFamily="65" charset="-120"/>
              </a:rPr>
              <a:t>6.</a:t>
            </a:r>
            <a:r>
              <a:rPr lang="zh-TW" altLang="en-US" sz="3200" kern="1200" spc="5" dirty="0">
                <a:latin typeface="標楷體" panose="03000509000000000000" pitchFamily="65" charset="-120"/>
                <a:ea typeface="標楷體" panose="03000509000000000000" pitchFamily="65" charset="-120"/>
              </a:rPr>
              <a:t>哪些</a:t>
            </a:r>
            <a:r>
              <a:rPr lang="zh-TW" altLang="en-US" sz="3200" kern="1200" spc="5" dirty="0" smtClean="0">
                <a:latin typeface="標楷體" panose="03000509000000000000" pitchFamily="65" charset="-120"/>
                <a:ea typeface="標楷體" panose="03000509000000000000" pitchFamily="65" charset="-120"/>
              </a:rPr>
              <a:t>項目是既有勞動市場稀缺的</a:t>
            </a:r>
            <a:r>
              <a:rPr lang="en-US" altLang="zh-TW" sz="3200" kern="1200" spc="5" dirty="0" smtClean="0">
                <a:latin typeface="標楷體" panose="03000509000000000000" pitchFamily="65" charset="-120"/>
                <a:ea typeface="標楷體" panose="03000509000000000000" pitchFamily="65" charset="-120"/>
              </a:rPr>
              <a:t>?</a:t>
            </a:r>
            <a:endParaRPr lang="zh-TW" altLang="en-US" sz="3200" kern="1200" spc="5" dirty="0">
              <a:latin typeface="標楷體" panose="03000509000000000000" pitchFamily="65" charset="-120"/>
              <a:ea typeface="標楷體" panose="03000509000000000000" pitchFamily="65" charset="-120"/>
            </a:endParaRPr>
          </a:p>
          <a:p>
            <a:endParaRPr lang="en-US" altLang="zh-TW" sz="3200" kern="1200" spc="5" dirty="0" smtClean="0">
              <a:latin typeface="標楷體" panose="03000509000000000000" pitchFamily="65" charset="-120"/>
              <a:ea typeface="標楷體" panose="03000509000000000000" pitchFamily="65" charset="-120"/>
            </a:endParaRPr>
          </a:p>
          <a:p>
            <a:endParaRPr lang="en-US" altLang="zh-TW" sz="3200" kern="1200" spc="5" dirty="0" smtClean="0">
              <a:latin typeface="標楷體" panose="03000509000000000000" pitchFamily="65" charset="-120"/>
              <a:ea typeface="標楷體" panose="03000509000000000000" pitchFamily="65" charset="-120"/>
            </a:endParaRPr>
          </a:p>
          <a:p>
            <a:endParaRPr lang="zh-TW" altLang="en-US" sz="3200" kern="1200" spc="5" dirty="0">
              <a:latin typeface="標楷體" panose="03000509000000000000" pitchFamily="65" charset="-120"/>
              <a:ea typeface="標楷體" panose="03000509000000000000" pitchFamily="65" charset="-120"/>
            </a:endParaRPr>
          </a:p>
        </p:txBody>
      </p:sp>
      <p:sp>
        <p:nvSpPr>
          <p:cNvPr id="4" name="矩形 3"/>
          <p:cNvSpPr/>
          <p:nvPr/>
        </p:nvSpPr>
        <p:spPr>
          <a:xfrm>
            <a:off x="762000" y="340179"/>
            <a:ext cx="7118615" cy="707886"/>
          </a:xfrm>
          <a:prstGeom prst="rect">
            <a:avLst/>
          </a:prstGeom>
        </p:spPr>
        <p:txBody>
          <a:bodyPr wrap="none">
            <a:spAutoFit/>
          </a:bodyPr>
          <a:lstStyle/>
          <a:p>
            <a:r>
              <a:rPr lang="zh-TW" altLang="en-US" sz="4000" spc="5" dirty="0">
                <a:latin typeface="標楷體" panose="03000509000000000000" pitchFamily="65" charset="-120"/>
                <a:ea typeface="標楷體" panose="03000509000000000000" pitchFamily="65" charset="-120"/>
                <a:cs typeface="SimSun"/>
              </a:rPr>
              <a:t>帶領討論</a:t>
            </a:r>
            <a:r>
              <a:rPr lang="en-US" altLang="zh-TW" sz="4000" spc="5" dirty="0" smtClean="0">
                <a:latin typeface="標楷體" panose="03000509000000000000" pitchFamily="65" charset="-120"/>
                <a:ea typeface="標楷體" panose="03000509000000000000" pitchFamily="65" charset="-120"/>
                <a:cs typeface="SimSun"/>
              </a:rPr>
              <a:t>:</a:t>
            </a:r>
            <a:r>
              <a:rPr lang="zh-TW" altLang="en-US" sz="4000" spc="5" dirty="0" smtClean="0">
                <a:latin typeface="標楷體" panose="03000509000000000000" pitchFamily="65" charset="-120"/>
                <a:ea typeface="標楷體" panose="03000509000000000000" pitchFamily="65" charset="-120"/>
                <a:cs typeface="SimSun"/>
              </a:rPr>
              <a:t>服務項目開發與交換</a:t>
            </a:r>
            <a:endParaRPr lang="zh-TW" altLang="en-US" sz="4000" spc="5" dirty="0">
              <a:latin typeface="標楷體" panose="03000509000000000000" pitchFamily="65" charset="-120"/>
              <a:ea typeface="標楷體" panose="03000509000000000000" pitchFamily="65" charset="-120"/>
              <a:cs typeface="SimSun"/>
            </a:endParaRPr>
          </a:p>
        </p:txBody>
      </p:sp>
    </p:spTree>
    <p:extLst>
      <p:ext uri="{BB962C8B-B14F-4D97-AF65-F5344CB8AC3E}">
        <p14:creationId xmlns:p14="http://schemas.microsoft.com/office/powerpoint/2010/main" val="5201861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374580"/>
            <a:ext cx="1804987" cy="22830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762000" y="340179"/>
            <a:ext cx="7632218" cy="707886"/>
          </a:xfrm>
          <a:prstGeom prst="rect">
            <a:avLst/>
          </a:prstGeom>
        </p:spPr>
        <p:txBody>
          <a:bodyPr wrap="none">
            <a:spAutoFit/>
          </a:bodyPr>
          <a:lstStyle/>
          <a:p>
            <a:r>
              <a:rPr lang="zh-TW" altLang="en-US" sz="4000" spc="5" dirty="0">
                <a:latin typeface="標楷體" panose="03000509000000000000" pitchFamily="65" charset="-120"/>
                <a:ea typeface="標楷體" panose="03000509000000000000" pitchFamily="65" charset="-120"/>
                <a:cs typeface="SimSun"/>
              </a:rPr>
              <a:t>事件</a:t>
            </a:r>
            <a:r>
              <a:rPr lang="zh-TW" altLang="en-US" sz="4000" spc="5" dirty="0" smtClean="0">
                <a:latin typeface="標楷體" panose="03000509000000000000" pitchFamily="65" charset="-120"/>
                <a:ea typeface="標楷體" panose="03000509000000000000" pitchFamily="65" charset="-120"/>
                <a:cs typeface="SimSun"/>
              </a:rPr>
              <a:t>卡</a:t>
            </a:r>
            <a:r>
              <a:rPr lang="en-US" altLang="zh-TW" sz="4000" spc="5" dirty="0" smtClean="0">
                <a:latin typeface="標楷體" panose="03000509000000000000" pitchFamily="65" charset="-120"/>
                <a:ea typeface="標楷體" panose="03000509000000000000" pitchFamily="65" charset="-120"/>
                <a:cs typeface="SimSun"/>
              </a:rPr>
              <a:t>:</a:t>
            </a:r>
            <a:r>
              <a:rPr lang="zh-TW" altLang="en-US" sz="4000" spc="5" dirty="0" smtClean="0">
                <a:latin typeface="標楷體" panose="03000509000000000000" pitchFamily="65" charset="-120"/>
                <a:ea typeface="標楷體" panose="03000509000000000000" pitchFamily="65" charset="-120"/>
                <a:cs typeface="SimSun"/>
              </a:rPr>
              <a:t>外部影響因素與營運實務</a:t>
            </a:r>
            <a:endParaRPr lang="zh-TW" altLang="en-US" sz="4000" spc="5" dirty="0">
              <a:latin typeface="標楷體" panose="03000509000000000000" pitchFamily="65" charset="-120"/>
              <a:ea typeface="標楷體" panose="03000509000000000000" pitchFamily="65" charset="-120"/>
              <a:cs typeface="SimSun"/>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1" y="3701470"/>
            <a:ext cx="1804986" cy="2318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object 13"/>
          <p:cNvSpPr txBox="1"/>
          <p:nvPr/>
        </p:nvSpPr>
        <p:spPr>
          <a:xfrm>
            <a:off x="3505200" y="4015211"/>
            <a:ext cx="4191000" cy="1690847"/>
          </a:xfrm>
          <a:prstGeom prst="rect">
            <a:avLst/>
          </a:prstGeom>
          <a:solidFill>
            <a:srgbClr val="FFFF00"/>
          </a:solidFill>
        </p:spPr>
        <p:txBody>
          <a:bodyPr vert="horz" wrap="square" lIns="0" tIns="28575" rIns="0" bIns="0" rtlCol="0">
            <a:spAutoFit/>
          </a:bodyPr>
          <a:lstStyle/>
          <a:p>
            <a:pPr marL="91440">
              <a:lnSpc>
                <a:spcPct val="100000"/>
              </a:lnSpc>
              <a:spcBef>
                <a:spcPts val="225"/>
              </a:spcBef>
            </a:pPr>
            <a:r>
              <a:rPr lang="zh-TW" altLang="en-US" sz="3600" b="1" dirty="0" smtClean="0">
                <a:solidFill>
                  <a:srgbClr val="FF0000"/>
                </a:solidFill>
                <a:latin typeface="標楷體" panose="03000509000000000000" pitchFamily="65" charset="-120"/>
                <a:ea typeface="標楷體" panose="03000509000000000000" pitchFamily="65" charset="-120"/>
                <a:cs typeface="SimSun"/>
              </a:rPr>
              <a:t>管理者</a:t>
            </a:r>
            <a:r>
              <a:rPr lang="zh-TW" altLang="en-US" sz="3600" dirty="0" smtClean="0">
                <a:latin typeface="標楷體" panose="03000509000000000000" pitchFamily="65" charset="-120"/>
                <a:ea typeface="標楷體" panose="03000509000000000000" pitchFamily="65" charset="-120"/>
                <a:cs typeface="SimSun"/>
              </a:rPr>
              <a:t>的</a:t>
            </a:r>
            <a:r>
              <a:rPr lang="zh-TW" altLang="en-US" sz="3600" spc="-5" dirty="0">
                <a:latin typeface="標楷體" panose="03000509000000000000" pitchFamily="65" charset="-120"/>
                <a:ea typeface="標楷體" panose="03000509000000000000" pitchFamily="65" charset="-120"/>
                <a:cs typeface="SimSun"/>
              </a:rPr>
              <a:t>「</a:t>
            </a:r>
            <a:r>
              <a:rPr lang="zh-TW" altLang="en-US" sz="3600" dirty="0" smtClean="0">
                <a:latin typeface="標楷體" panose="03000509000000000000" pitchFamily="65" charset="-120"/>
                <a:ea typeface="標楷體" panose="03000509000000000000" pitchFamily="65" charset="-120"/>
                <a:cs typeface="SimSun"/>
              </a:rPr>
              <a:t>開發</a:t>
            </a:r>
            <a:r>
              <a:rPr lang="zh-TW" altLang="en-US" sz="3600" dirty="0">
                <a:latin typeface="標楷體" panose="03000509000000000000" pitchFamily="65" charset="-120"/>
                <a:ea typeface="標楷體" panose="03000509000000000000" pitchFamily="65" charset="-120"/>
                <a:cs typeface="SimSun"/>
              </a:rPr>
              <a:t>」與「協調」功能</a:t>
            </a:r>
            <a:r>
              <a:rPr lang="zh-TW" altLang="en-US" sz="3600" dirty="0" smtClean="0">
                <a:latin typeface="標楷體" panose="03000509000000000000" pitchFamily="65" charset="-120"/>
                <a:ea typeface="標楷體" panose="03000509000000000000" pitchFamily="65" charset="-120"/>
                <a:cs typeface="SimSun"/>
              </a:rPr>
              <a:t>極為重要</a:t>
            </a:r>
            <a:r>
              <a:rPr sz="3600" dirty="0" smtClean="0">
                <a:latin typeface="標楷體" panose="03000509000000000000" pitchFamily="65" charset="-120"/>
                <a:ea typeface="標楷體" panose="03000509000000000000" pitchFamily="65" charset="-120"/>
                <a:cs typeface="SimSun"/>
              </a:rPr>
              <a:t>!</a:t>
            </a:r>
            <a:endParaRPr sz="3600" dirty="0">
              <a:latin typeface="標楷體" panose="03000509000000000000" pitchFamily="65" charset="-120"/>
              <a:ea typeface="標楷體" panose="03000509000000000000" pitchFamily="65" charset="-120"/>
              <a:cs typeface="SimSun"/>
            </a:endParaRPr>
          </a:p>
        </p:txBody>
      </p:sp>
      <p:sp>
        <p:nvSpPr>
          <p:cNvPr id="8" name="object 13"/>
          <p:cNvSpPr txBox="1"/>
          <p:nvPr/>
        </p:nvSpPr>
        <p:spPr>
          <a:xfrm>
            <a:off x="3516086" y="1670666"/>
            <a:ext cx="4180114" cy="1690847"/>
          </a:xfrm>
          <a:prstGeom prst="rect">
            <a:avLst/>
          </a:prstGeom>
          <a:solidFill>
            <a:srgbClr val="FFFF00"/>
          </a:solidFill>
        </p:spPr>
        <p:txBody>
          <a:bodyPr vert="horz" wrap="square" lIns="0" tIns="28575" rIns="0" bIns="0" rtlCol="0">
            <a:spAutoFit/>
          </a:bodyPr>
          <a:lstStyle/>
          <a:p>
            <a:pPr marL="91440">
              <a:spcBef>
                <a:spcPts val="225"/>
              </a:spcBef>
            </a:pPr>
            <a:r>
              <a:rPr lang="zh-TW" altLang="en-US" sz="3600" dirty="0" smtClean="0">
                <a:latin typeface="標楷體" panose="03000509000000000000" pitchFamily="65" charset="-120"/>
                <a:ea typeface="標楷體" panose="03000509000000000000" pitchFamily="65" charset="-120"/>
                <a:cs typeface="SimSun"/>
              </a:rPr>
              <a:t>課程培訓建立會員  的正確態度</a:t>
            </a:r>
            <a:r>
              <a:rPr lang="en-US" altLang="zh-TW" sz="3600" dirty="0">
                <a:latin typeface="標楷體" panose="03000509000000000000" pitchFamily="65" charset="-120"/>
                <a:ea typeface="標楷體" panose="03000509000000000000" pitchFamily="65" charset="-120"/>
                <a:cs typeface="SimSun"/>
              </a:rPr>
              <a:t>:</a:t>
            </a:r>
            <a:r>
              <a:rPr lang="zh-TW" altLang="en-US" sz="3600" dirty="0" smtClean="0">
                <a:latin typeface="標楷體" panose="03000509000000000000" pitchFamily="65" charset="-120"/>
                <a:ea typeface="標楷體" panose="03000509000000000000" pitchFamily="65" charset="-120"/>
                <a:cs typeface="SimSun"/>
              </a:rPr>
              <a:t>活躍老化</a:t>
            </a:r>
            <a:r>
              <a:rPr lang="zh-TW" altLang="en-US" sz="3600" dirty="0" smtClean="0">
                <a:latin typeface="標楷體"/>
                <a:ea typeface="標楷體"/>
                <a:cs typeface="SimSun"/>
              </a:rPr>
              <a:t>、參與經營</a:t>
            </a:r>
            <a:r>
              <a:rPr lang="en-US" altLang="zh-TW" sz="3600" dirty="0">
                <a:latin typeface="標楷體" panose="03000509000000000000" pitchFamily="65" charset="-120"/>
                <a:ea typeface="標楷體" panose="03000509000000000000" pitchFamily="65" charset="-120"/>
                <a:cs typeface="SimSun"/>
              </a:rPr>
              <a:t>!</a:t>
            </a:r>
            <a:endParaRPr sz="3600" dirty="0">
              <a:latin typeface="標楷體" panose="03000509000000000000" pitchFamily="65" charset="-120"/>
              <a:ea typeface="標楷體" panose="03000509000000000000" pitchFamily="65" charset="-120"/>
              <a:cs typeface="SimSun"/>
            </a:endParaRPr>
          </a:p>
        </p:txBody>
      </p:sp>
    </p:spTree>
    <p:extLst>
      <p:ext uri="{BB962C8B-B14F-4D97-AF65-F5344CB8AC3E}">
        <p14:creationId xmlns:p14="http://schemas.microsoft.com/office/powerpoint/2010/main" val="41957878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1219200" y="1447801"/>
            <a:ext cx="6809739" cy="4343400"/>
          </a:xfrm>
        </p:spPr>
        <p:txBody>
          <a:bodyPr/>
          <a:lstStyle/>
          <a:p>
            <a:pPr>
              <a:spcBef>
                <a:spcPts val="600"/>
              </a:spcBef>
            </a:pPr>
            <a:r>
              <a:rPr lang="en-US" altLang="zh-TW" sz="3200" kern="1200" spc="5" dirty="0">
                <a:latin typeface="標楷體" panose="03000509000000000000" pitchFamily="65" charset="-120"/>
                <a:ea typeface="標楷體" panose="03000509000000000000" pitchFamily="65" charset="-120"/>
              </a:rPr>
              <a:t>1</a:t>
            </a:r>
            <a:r>
              <a:rPr lang="en-US" altLang="zh-TW" sz="3200" kern="1200" spc="5" dirty="0" smtClean="0">
                <a:latin typeface="標楷體" panose="03000509000000000000" pitchFamily="65" charset="-120"/>
                <a:ea typeface="標楷體" panose="03000509000000000000" pitchFamily="65" charset="-120"/>
              </a:rPr>
              <a:t>.</a:t>
            </a:r>
            <a:r>
              <a:rPr lang="zh-TW" altLang="en-US" sz="3200" kern="1200" spc="5" dirty="0" smtClean="0">
                <a:latin typeface="標楷體" panose="03000509000000000000" pitchFamily="65" charset="-120"/>
                <a:ea typeface="標楷體" panose="03000509000000000000" pitchFamily="65" charset="-120"/>
              </a:rPr>
              <a:t>籌備委員會</a:t>
            </a:r>
            <a:r>
              <a:rPr lang="en-US" altLang="zh-TW" sz="3200" kern="1200" spc="5" dirty="0" smtClean="0">
                <a:latin typeface="標楷體" panose="03000509000000000000" pitchFamily="65" charset="-120"/>
                <a:ea typeface="標楷體" panose="03000509000000000000" pitchFamily="65" charset="-120"/>
              </a:rPr>
              <a:t>(</a:t>
            </a:r>
            <a:r>
              <a:rPr lang="zh-TW" altLang="en-US" sz="3200" kern="1200" spc="5" dirty="0" smtClean="0">
                <a:latin typeface="標楷體" panose="03000509000000000000" pitchFamily="65" charset="-120"/>
                <a:ea typeface="標楷體" panose="03000509000000000000" pitchFamily="65" charset="-120"/>
              </a:rPr>
              <a:t>志工團隊</a:t>
            </a:r>
            <a:r>
              <a:rPr lang="en-US" altLang="zh-TW" sz="3200" kern="1200" spc="5" dirty="0" smtClean="0">
                <a:latin typeface="標楷體" panose="03000509000000000000" pitchFamily="65" charset="-120"/>
                <a:ea typeface="標楷體" panose="03000509000000000000" pitchFamily="65" charset="-120"/>
              </a:rPr>
              <a:t>)</a:t>
            </a:r>
            <a:r>
              <a:rPr lang="zh-TW" altLang="en-US" sz="3200" kern="1200" spc="5" dirty="0" smtClean="0">
                <a:latin typeface="標楷體" panose="03000509000000000000" pitchFamily="65" charset="-120"/>
                <a:ea typeface="標楷體" panose="03000509000000000000" pitchFamily="65" charset="-120"/>
              </a:rPr>
              <a:t>如何建立</a:t>
            </a:r>
            <a:r>
              <a:rPr lang="en-US" altLang="zh-TW" sz="3200" kern="1200" spc="5" dirty="0" smtClean="0">
                <a:latin typeface="標楷體" panose="03000509000000000000" pitchFamily="65" charset="-120"/>
                <a:ea typeface="標楷體" panose="03000509000000000000" pitchFamily="65" charset="-120"/>
              </a:rPr>
              <a:t>?</a:t>
            </a:r>
          </a:p>
          <a:p>
            <a:pPr>
              <a:spcBef>
                <a:spcPts val="600"/>
              </a:spcBef>
            </a:pPr>
            <a:r>
              <a:rPr lang="en-US" altLang="zh-TW" sz="3200" kern="1200" spc="5" dirty="0" smtClean="0">
                <a:latin typeface="標楷體" panose="03000509000000000000" pitchFamily="65" charset="-120"/>
                <a:ea typeface="標楷體" panose="03000509000000000000" pitchFamily="65" charset="-120"/>
              </a:rPr>
              <a:t>2.</a:t>
            </a:r>
            <a:r>
              <a:rPr lang="zh-TW" altLang="en-US" sz="3200" kern="1200" spc="5" dirty="0">
                <a:latin typeface="標楷體" panose="03000509000000000000" pitchFamily="65" charset="-120"/>
                <a:ea typeface="標楷體" panose="03000509000000000000" pitchFamily="65" charset="-120"/>
              </a:rPr>
              <a:t>確立與現有制度</a:t>
            </a:r>
            <a:r>
              <a:rPr lang="en-US" altLang="zh-TW" sz="3200" kern="1200" spc="5" dirty="0">
                <a:latin typeface="標楷體" panose="03000509000000000000" pitchFamily="65" charset="-120"/>
                <a:ea typeface="標楷體" panose="03000509000000000000" pitchFamily="65" charset="-120"/>
              </a:rPr>
              <a:t>(</a:t>
            </a:r>
            <a:r>
              <a:rPr lang="zh-TW" altLang="en-US" sz="3200" kern="1200" spc="5" dirty="0">
                <a:latin typeface="標楷體" panose="03000509000000000000" pitchFamily="65" charset="-120"/>
                <a:ea typeface="標楷體" panose="03000509000000000000" pitchFamily="65" charset="-120"/>
              </a:rPr>
              <a:t>長照</a:t>
            </a:r>
            <a:r>
              <a:rPr lang="zh-TW" altLang="en-US" sz="3200" kern="1200" spc="5" dirty="0">
                <a:latin typeface="標楷體"/>
                <a:ea typeface="標楷體"/>
              </a:rPr>
              <a:t>、志工</a:t>
            </a:r>
            <a:r>
              <a:rPr lang="en-US" altLang="zh-TW" sz="3200" kern="1200" spc="5" dirty="0">
                <a:latin typeface="標楷體" panose="03000509000000000000" pitchFamily="65" charset="-120"/>
                <a:ea typeface="標楷體" panose="03000509000000000000" pitchFamily="65" charset="-120"/>
              </a:rPr>
              <a:t>)</a:t>
            </a:r>
            <a:r>
              <a:rPr lang="zh-TW" altLang="en-US" sz="3200" kern="1200" spc="5" dirty="0">
                <a:latin typeface="標楷體" panose="03000509000000000000" pitchFamily="65" charset="-120"/>
                <a:ea typeface="標楷體" panose="03000509000000000000" pitchFamily="65" charset="-120"/>
              </a:rPr>
              <a:t>異同</a:t>
            </a:r>
            <a:endParaRPr lang="en-US" altLang="zh-TW" sz="3200" kern="1200" spc="5" dirty="0">
              <a:latin typeface="標楷體" panose="03000509000000000000" pitchFamily="65" charset="-120"/>
              <a:ea typeface="標楷體" panose="03000509000000000000" pitchFamily="65" charset="-120"/>
            </a:endParaRPr>
          </a:p>
          <a:p>
            <a:pPr>
              <a:spcBef>
                <a:spcPts val="600"/>
              </a:spcBef>
            </a:pPr>
            <a:r>
              <a:rPr lang="en-US" altLang="zh-TW" sz="3200" kern="1200" spc="5" dirty="0">
                <a:latin typeface="標楷體" panose="03000509000000000000" pitchFamily="65" charset="-120"/>
                <a:ea typeface="標楷體" panose="03000509000000000000" pitchFamily="65" charset="-120"/>
              </a:rPr>
              <a:t>3.</a:t>
            </a:r>
            <a:r>
              <a:rPr lang="zh-TW" altLang="en-US" sz="3200" kern="1200" spc="5" dirty="0" smtClean="0">
                <a:latin typeface="標楷體" panose="03000509000000000000" pitchFamily="65" charset="-120"/>
                <a:ea typeface="標楷體" panose="03000509000000000000" pitchFamily="65" charset="-120"/>
              </a:rPr>
              <a:t>發行準備</a:t>
            </a:r>
            <a:r>
              <a:rPr lang="en-US" altLang="zh-TW" sz="3200" kern="1200" spc="5" dirty="0" smtClean="0">
                <a:latin typeface="標楷體" panose="03000509000000000000" pitchFamily="65" charset="-120"/>
                <a:ea typeface="標楷體" panose="03000509000000000000" pitchFamily="65" charset="-120"/>
              </a:rPr>
              <a:t>/</a:t>
            </a:r>
            <a:r>
              <a:rPr lang="zh-TW" altLang="en-US" sz="3200" kern="1200" spc="5" dirty="0" smtClean="0">
                <a:latin typeface="標楷體" panose="03000509000000000000" pitchFamily="65" charset="-120"/>
                <a:ea typeface="標楷體" panose="03000509000000000000" pitchFamily="65" charset="-120"/>
              </a:rPr>
              <a:t>交換</a:t>
            </a:r>
            <a:r>
              <a:rPr lang="zh-TW" altLang="en-US" sz="3200" kern="1200" spc="5" dirty="0">
                <a:latin typeface="標楷體" panose="03000509000000000000" pitchFamily="65" charset="-120"/>
                <a:ea typeface="標楷體" panose="03000509000000000000" pitchFamily="65" charset="-120"/>
              </a:rPr>
              <a:t>保證制度如何建立</a:t>
            </a:r>
            <a:r>
              <a:rPr lang="en-US" altLang="zh-TW" sz="3200" kern="1200" spc="5" dirty="0">
                <a:latin typeface="標楷體" panose="03000509000000000000" pitchFamily="65" charset="-120"/>
                <a:ea typeface="標楷體" panose="03000509000000000000" pitchFamily="65" charset="-120"/>
              </a:rPr>
              <a:t>?</a:t>
            </a:r>
          </a:p>
          <a:p>
            <a:pPr>
              <a:spcBef>
                <a:spcPts val="600"/>
              </a:spcBef>
            </a:pPr>
            <a:r>
              <a:rPr lang="en-US" altLang="zh-TW" sz="3200" kern="1200" spc="5" dirty="0">
                <a:latin typeface="標楷體" panose="03000509000000000000" pitchFamily="65" charset="-120"/>
                <a:ea typeface="標楷體" panose="03000509000000000000" pitchFamily="65" charset="-120"/>
              </a:rPr>
              <a:t>4.</a:t>
            </a:r>
            <a:r>
              <a:rPr lang="zh-TW" altLang="en-US" sz="3200" kern="1200" spc="5" dirty="0" smtClean="0">
                <a:latin typeface="標楷體" panose="03000509000000000000" pitchFamily="65" charset="-120"/>
                <a:ea typeface="標楷體" panose="03000509000000000000" pitchFamily="65" charset="-120"/>
              </a:rPr>
              <a:t>管理</a:t>
            </a:r>
            <a:r>
              <a:rPr lang="zh-TW" altLang="en-US" sz="3200" kern="1200" spc="5" dirty="0">
                <a:latin typeface="標楷體" panose="03000509000000000000" pitchFamily="65" charset="-120"/>
                <a:ea typeface="標楷體" panose="03000509000000000000" pitchFamily="65" charset="-120"/>
              </a:rPr>
              <a:t>者的角色與功能</a:t>
            </a:r>
            <a:r>
              <a:rPr lang="en-US" altLang="zh-TW" sz="3200" kern="1200" spc="5" dirty="0" smtClean="0">
                <a:latin typeface="標楷體" panose="03000509000000000000" pitchFamily="65" charset="-120"/>
                <a:ea typeface="標楷體" panose="03000509000000000000" pitchFamily="65" charset="-120"/>
              </a:rPr>
              <a:t>?</a:t>
            </a:r>
          </a:p>
          <a:p>
            <a:pPr>
              <a:spcBef>
                <a:spcPts val="600"/>
              </a:spcBef>
            </a:pPr>
            <a:r>
              <a:rPr lang="en-US" altLang="zh-TW" sz="3200" kern="1200" spc="5" dirty="0">
                <a:latin typeface="標楷體" panose="03000509000000000000" pitchFamily="65" charset="-120"/>
                <a:ea typeface="標楷體" panose="03000509000000000000" pitchFamily="65" charset="-120"/>
              </a:rPr>
              <a:t>5</a:t>
            </a:r>
            <a:r>
              <a:rPr lang="en-US" altLang="zh-TW" sz="3200" kern="1200" spc="5" dirty="0" smtClean="0">
                <a:latin typeface="標楷體" panose="03000509000000000000" pitchFamily="65" charset="-120"/>
                <a:ea typeface="標楷體" panose="03000509000000000000" pitchFamily="65" charset="-120"/>
              </a:rPr>
              <a:t>.</a:t>
            </a:r>
            <a:r>
              <a:rPr lang="zh-TW" altLang="en-US" sz="3200" kern="1200" spc="5" dirty="0" smtClean="0">
                <a:latin typeface="標楷體" panose="03000509000000000000" pitchFamily="65" charset="-120"/>
                <a:ea typeface="標楷體" panose="03000509000000000000" pitchFamily="65" charset="-120"/>
              </a:rPr>
              <a:t>會員的權利與義務</a:t>
            </a:r>
            <a:r>
              <a:rPr lang="en-US" altLang="zh-TW" sz="3200" kern="1200" spc="5" dirty="0" smtClean="0">
                <a:latin typeface="標楷體" panose="03000509000000000000" pitchFamily="65" charset="-120"/>
                <a:ea typeface="標楷體" panose="03000509000000000000" pitchFamily="65" charset="-120"/>
              </a:rPr>
              <a:t>?</a:t>
            </a:r>
          </a:p>
          <a:p>
            <a:pPr>
              <a:spcBef>
                <a:spcPts val="600"/>
              </a:spcBef>
            </a:pPr>
            <a:r>
              <a:rPr lang="en-US" altLang="zh-TW" sz="3200" kern="1200" spc="5" dirty="0">
                <a:latin typeface="標楷體" panose="03000509000000000000" pitchFamily="65" charset="-120"/>
                <a:ea typeface="標楷體" panose="03000509000000000000" pitchFamily="65" charset="-120"/>
              </a:rPr>
              <a:t>6</a:t>
            </a:r>
            <a:r>
              <a:rPr lang="en-US" altLang="zh-TW" sz="3200" kern="1200" spc="5" dirty="0" smtClean="0">
                <a:latin typeface="標楷體" panose="03000509000000000000" pitchFamily="65" charset="-120"/>
                <a:ea typeface="標楷體" panose="03000509000000000000" pitchFamily="65" charset="-120"/>
              </a:rPr>
              <a:t>.</a:t>
            </a:r>
            <a:r>
              <a:rPr lang="zh-TW" altLang="en-US" sz="3200" kern="1200" spc="5" dirty="0" smtClean="0">
                <a:latin typeface="標楷體" panose="03000509000000000000" pitchFamily="65" charset="-120"/>
                <a:ea typeface="標楷體" panose="03000509000000000000" pitchFamily="65" charset="-120"/>
              </a:rPr>
              <a:t>雙方</a:t>
            </a:r>
            <a:r>
              <a:rPr lang="zh-TW" altLang="en-US" sz="3200" kern="1200" spc="5" dirty="0">
                <a:latin typeface="標楷體" panose="03000509000000000000" pitchFamily="65" charset="-120"/>
                <a:ea typeface="標楷體" panose="03000509000000000000" pitchFamily="65" charset="-120"/>
              </a:rPr>
              <a:t>評價制度的建立</a:t>
            </a:r>
            <a:r>
              <a:rPr lang="en-US" altLang="zh-TW" sz="3200" kern="1200" spc="5" dirty="0">
                <a:latin typeface="標楷體" panose="03000509000000000000" pitchFamily="65" charset="-120"/>
                <a:ea typeface="標楷體" panose="03000509000000000000" pitchFamily="65" charset="-120"/>
              </a:rPr>
              <a:t>?</a:t>
            </a:r>
            <a:r>
              <a:rPr lang="zh-TW" altLang="en-US" sz="3200" kern="1200" spc="5" dirty="0" smtClean="0">
                <a:latin typeface="標楷體" panose="03000509000000000000" pitchFamily="65" charset="-120"/>
                <a:ea typeface="標楷體" panose="03000509000000000000" pitchFamily="65" charset="-120"/>
              </a:rPr>
              <a:t> </a:t>
            </a:r>
            <a:endParaRPr lang="en-US" altLang="zh-TW" sz="3200" kern="1200" spc="5" dirty="0" smtClean="0">
              <a:latin typeface="標楷體" panose="03000509000000000000" pitchFamily="65" charset="-120"/>
              <a:ea typeface="標楷體" panose="03000509000000000000" pitchFamily="65" charset="-120"/>
            </a:endParaRPr>
          </a:p>
          <a:p>
            <a:pPr>
              <a:spcBef>
                <a:spcPts val="600"/>
              </a:spcBef>
            </a:pPr>
            <a:r>
              <a:rPr lang="en-US" altLang="zh-TW" sz="3200" kern="1200" spc="5" dirty="0">
                <a:latin typeface="標楷體" panose="03000509000000000000" pitchFamily="65" charset="-120"/>
                <a:ea typeface="標楷體" panose="03000509000000000000" pitchFamily="65" charset="-120"/>
              </a:rPr>
              <a:t>7</a:t>
            </a:r>
            <a:r>
              <a:rPr lang="en-US" altLang="zh-TW" sz="3200" kern="1200" spc="5" dirty="0" smtClean="0">
                <a:latin typeface="標楷體" panose="03000509000000000000" pitchFamily="65" charset="-120"/>
                <a:ea typeface="標楷體" panose="03000509000000000000" pitchFamily="65" charset="-120"/>
              </a:rPr>
              <a:t>.</a:t>
            </a:r>
            <a:r>
              <a:rPr lang="zh-TW" altLang="en-US" sz="3200" kern="1200" spc="5" dirty="0" smtClean="0">
                <a:latin typeface="標楷體" panose="03000509000000000000" pitchFamily="65" charset="-120"/>
                <a:ea typeface="標楷體" panose="03000509000000000000" pitchFamily="65" charset="-120"/>
              </a:rPr>
              <a:t>推廣行銷</a:t>
            </a:r>
            <a:r>
              <a:rPr lang="en-US" altLang="zh-TW" sz="3200" kern="1200" spc="5" dirty="0" smtClean="0">
                <a:latin typeface="標楷體" panose="03000509000000000000" pitchFamily="65" charset="-120"/>
                <a:ea typeface="標楷體" panose="03000509000000000000" pitchFamily="65" charset="-120"/>
              </a:rPr>
              <a:t>/</a:t>
            </a:r>
            <a:r>
              <a:rPr lang="zh-TW" altLang="en-US" sz="3200" kern="1200" spc="5" dirty="0" smtClean="0">
                <a:latin typeface="標楷體" panose="03000509000000000000" pitchFamily="65" charset="-120"/>
                <a:ea typeface="標楷體" panose="03000509000000000000" pitchFamily="65" charset="-120"/>
              </a:rPr>
              <a:t>試用方法</a:t>
            </a:r>
            <a:endParaRPr lang="en-US" altLang="zh-TW" sz="3200" kern="1200" spc="5" dirty="0" smtClean="0">
              <a:latin typeface="標楷體" panose="03000509000000000000" pitchFamily="65" charset="-120"/>
              <a:ea typeface="標楷體" panose="03000509000000000000" pitchFamily="65" charset="-120"/>
            </a:endParaRPr>
          </a:p>
          <a:p>
            <a:endParaRPr lang="en-US" altLang="zh-TW" sz="3200" kern="1200" spc="5" dirty="0" smtClean="0">
              <a:latin typeface="標楷體" panose="03000509000000000000" pitchFamily="65" charset="-120"/>
              <a:ea typeface="標楷體" panose="03000509000000000000" pitchFamily="65" charset="-120"/>
            </a:endParaRPr>
          </a:p>
          <a:p>
            <a:endParaRPr lang="zh-TW" altLang="en-US" sz="3200" kern="1200" spc="5" dirty="0">
              <a:latin typeface="標楷體" panose="03000509000000000000" pitchFamily="65" charset="-120"/>
              <a:ea typeface="標楷體" panose="03000509000000000000" pitchFamily="65" charset="-120"/>
            </a:endParaRPr>
          </a:p>
        </p:txBody>
      </p:sp>
      <p:sp>
        <p:nvSpPr>
          <p:cNvPr id="4" name="矩形 3"/>
          <p:cNvSpPr/>
          <p:nvPr/>
        </p:nvSpPr>
        <p:spPr>
          <a:xfrm>
            <a:off x="762000" y="340179"/>
            <a:ext cx="7118615" cy="707886"/>
          </a:xfrm>
          <a:prstGeom prst="rect">
            <a:avLst/>
          </a:prstGeom>
        </p:spPr>
        <p:txBody>
          <a:bodyPr wrap="none">
            <a:spAutoFit/>
          </a:bodyPr>
          <a:lstStyle/>
          <a:p>
            <a:r>
              <a:rPr lang="zh-TW" altLang="en-US" sz="4000" spc="5" dirty="0">
                <a:latin typeface="標楷體" panose="03000509000000000000" pitchFamily="65" charset="-120"/>
                <a:ea typeface="標楷體" panose="03000509000000000000" pitchFamily="65" charset="-120"/>
                <a:cs typeface="SimSun"/>
              </a:rPr>
              <a:t>帶領討論</a:t>
            </a:r>
            <a:r>
              <a:rPr lang="en-US" altLang="zh-TW" sz="4000" spc="5" dirty="0" smtClean="0">
                <a:latin typeface="標楷體" panose="03000509000000000000" pitchFamily="65" charset="-120"/>
                <a:ea typeface="標楷體" panose="03000509000000000000" pitchFamily="65" charset="-120"/>
                <a:cs typeface="SimSun"/>
              </a:rPr>
              <a:t>:</a:t>
            </a:r>
            <a:r>
              <a:rPr lang="zh-TW" altLang="en-US" sz="4000" spc="5" dirty="0" smtClean="0">
                <a:latin typeface="標楷體" panose="03000509000000000000" pitchFamily="65" charset="-120"/>
                <a:ea typeface="標楷體" panose="03000509000000000000" pitchFamily="65" charset="-120"/>
                <a:cs typeface="SimSun"/>
              </a:rPr>
              <a:t>營運過程的狀況預備</a:t>
            </a:r>
            <a:endParaRPr lang="zh-TW" altLang="en-US" sz="4000" spc="5" dirty="0">
              <a:latin typeface="標楷體" panose="03000509000000000000" pitchFamily="65" charset="-120"/>
              <a:ea typeface="標楷體" panose="03000509000000000000" pitchFamily="65" charset="-120"/>
              <a:cs typeface="SimSun"/>
            </a:endParaRPr>
          </a:p>
        </p:txBody>
      </p:sp>
    </p:spTree>
    <p:extLst>
      <p:ext uri="{BB962C8B-B14F-4D97-AF65-F5344CB8AC3E}">
        <p14:creationId xmlns:p14="http://schemas.microsoft.com/office/powerpoint/2010/main" val="6782296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1143000" y="1828800"/>
            <a:ext cx="7391400" cy="3447098"/>
          </a:xfrm>
        </p:spPr>
        <p:txBody>
          <a:bodyPr/>
          <a:lstStyle/>
          <a:p>
            <a:r>
              <a:rPr lang="zh-TW" altLang="en-US" sz="3200" kern="1200" spc="5" dirty="0">
                <a:latin typeface="標楷體" panose="03000509000000000000" pitchFamily="65" charset="-120"/>
                <a:ea typeface="標楷體" panose="03000509000000000000" pitchFamily="65" charset="-120"/>
              </a:rPr>
              <a:t>焦點團體工作坊規劃概述</a:t>
            </a:r>
          </a:p>
          <a:p>
            <a:r>
              <a:rPr lang="zh-TW" altLang="en-US" sz="3200" kern="1200" spc="5" dirty="0">
                <a:latin typeface="標楷體" panose="03000509000000000000" pitchFamily="65" charset="-120"/>
                <a:ea typeface="標楷體" panose="03000509000000000000" pitchFamily="65" charset="-120"/>
              </a:rPr>
              <a:t>這場工作坊旨在通過焦點團體討論的形式，收集社區成員對時間銀行的觀點、需求和期望，從而為社區推動時間銀行的設計和實施提供依據。工作坊將持續約</a:t>
            </a:r>
            <a:r>
              <a:rPr lang="en-US" altLang="zh-TW" sz="3200" kern="1200" spc="5" dirty="0">
                <a:latin typeface="標楷體" panose="03000509000000000000" pitchFamily="65" charset="-120"/>
                <a:ea typeface="標楷體" panose="03000509000000000000" pitchFamily="65" charset="-120"/>
              </a:rPr>
              <a:t>3</a:t>
            </a:r>
            <a:r>
              <a:rPr lang="zh-TW" altLang="en-US" sz="3200" kern="1200" spc="5" dirty="0">
                <a:latin typeface="標楷體" panose="03000509000000000000" pitchFamily="65" charset="-120"/>
                <a:ea typeface="標楷體" panose="03000509000000000000" pitchFamily="65" charset="-120"/>
              </a:rPr>
              <a:t>小時，並分為若干階段，每個階段有其特定的目標和操作細節。</a:t>
            </a:r>
          </a:p>
        </p:txBody>
      </p:sp>
      <p:sp>
        <p:nvSpPr>
          <p:cNvPr id="4" name="矩形 3"/>
          <p:cNvSpPr/>
          <p:nvPr/>
        </p:nvSpPr>
        <p:spPr>
          <a:xfrm>
            <a:off x="990600" y="-76200"/>
            <a:ext cx="6347892" cy="1323439"/>
          </a:xfrm>
          <a:prstGeom prst="rect">
            <a:avLst/>
          </a:prstGeom>
        </p:spPr>
        <p:txBody>
          <a:bodyPr wrap="none">
            <a:spAutoFit/>
          </a:bodyPr>
          <a:lstStyle/>
          <a:p>
            <a:r>
              <a:rPr lang="zh-TW" altLang="en-US" sz="4000" spc="5" dirty="0" smtClean="0">
                <a:latin typeface="標楷體" panose="03000509000000000000" pitchFamily="65" charset="-120"/>
                <a:ea typeface="標楷體" panose="03000509000000000000" pitchFamily="65" charset="-120"/>
              </a:rPr>
              <a:t>透過焦點</a:t>
            </a:r>
            <a:r>
              <a:rPr lang="zh-TW" altLang="en-US" sz="4000" spc="5" dirty="0">
                <a:latin typeface="標楷體" panose="03000509000000000000" pitchFamily="65" charset="-120"/>
                <a:ea typeface="標楷體" panose="03000509000000000000" pitchFamily="65" charset="-120"/>
              </a:rPr>
              <a:t>團體工作</a:t>
            </a:r>
            <a:r>
              <a:rPr lang="zh-TW" altLang="en-US" sz="4000" spc="5" dirty="0" smtClean="0">
                <a:latin typeface="標楷體" panose="03000509000000000000" pitchFamily="65" charset="-120"/>
                <a:ea typeface="標楷體" panose="03000509000000000000" pitchFamily="65" charset="-120"/>
              </a:rPr>
              <a:t>坊</a:t>
            </a:r>
            <a:endParaRPr lang="en-US" altLang="zh-TW" sz="4000" spc="5" dirty="0" smtClean="0">
              <a:latin typeface="標楷體" panose="03000509000000000000" pitchFamily="65" charset="-120"/>
              <a:ea typeface="標楷體" panose="03000509000000000000" pitchFamily="65" charset="-120"/>
            </a:endParaRPr>
          </a:p>
          <a:p>
            <a:r>
              <a:rPr lang="zh-TW" altLang="en-US" sz="4000" spc="5" dirty="0" smtClean="0">
                <a:latin typeface="標楷體" panose="03000509000000000000" pitchFamily="65" charset="-120"/>
                <a:ea typeface="標楷體" panose="03000509000000000000" pitchFamily="65" charset="-120"/>
              </a:rPr>
              <a:t>凝聚我們對時間銀行的共識</a:t>
            </a:r>
            <a:endParaRPr lang="zh-TW" altLang="en-US" sz="4000" spc="5" dirty="0">
              <a:latin typeface="標楷體" panose="03000509000000000000" pitchFamily="65" charset="-120"/>
              <a:ea typeface="標楷體" panose="03000509000000000000" pitchFamily="65" charset="-120"/>
            </a:endParaRPr>
          </a:p>
        </p:txBody>
      </p:sp>
      <p:sp>
        <p:nvSpPr>
          <p:cNvPr id="5" name="object 2"/>
          <p:cNvSpPr txBox="1">
            <a:spLocks/>
          </p:cNvSpPr>
          <p:nvPr/>
        </p:nvSpPr>
        <p:spPr>
          <a:xfrm>
            <a:off x="8164" y="0"/>
            <a:ext cx="609600" cy="2747547"/>
          </a:xfrm>
          <a:prstGeom prst="rect">
            <a:avLst/>
          </a:prstGeom>
          <a:solidFill>
            <a:schemeClr val="accent6">
              <a:lumMod val="60000"/>
              <a:lumOff val="40000"/>
            </a:schemeClr>
          </a:solidFill>
        </p:spPr>
        <p:txBody>
          <a:bodyPr vert="horz" wrap="square" lIns="0" tIns="13335" rIns="0" bIns="0" rtlCol="0">
            <a:spAutoFit/>
          </a:bodyPr>
          <a:lstStyle>
            <a:lvl1pPr>
              <a:defRPr sz="4400" b="0" i="0">
                <a:solidFill>
                  <a:schemeClr val="tx1"/>
                </a:solidFill>
                <a:latin typeface="SimSun"/>
                <a:ea typeface="+mj-ea"/>
                <a:cs typeface="SimSun"/>
              </a:defRPr>
            </a:lvl1pPr>
          </a:lstStyle>
          <a:p>
            <a:pPr marL="12700">
              <a:spcBef>
                <a:spcPts val="105"/>
              </a:spcBef>
            </a:pPr>
            <a:r>
              <a:rPr lang="zh-TW" altLang="en-US" kern="0" spc="5" dirty="0">
                <a:latin typeface="標楷體" panose="03000509000000000000" pitchFamily="65" charset="-120"/>
                <a:ea typeface="標楷體" panose="03000509000000000000" pitchFamily="65" charset="-120"/>
              </a:rPr>
              <a:t>操作</a:t>
            </a:r>
            <a:endParaRPr lang="en-US" altLang="zh-TW" kern="0" spc="5" dirty="0" smtClean="0">
              <a:latin typeface="標楷體" panose="03000509000000000000" pitchFamily="65" charset="-120"/>
              <a:ea typeface="標楷體" panose="03000509000000000000" pitchFamily="65" charset="-120"/>
            </a:endParaRPr>
          </a:p>
          <a:p>
            <a:pPr marL="12700">
              <a:spcBef>
                <a:spcPts val="105"/>
              </a:spcBef>
            </a:pPr>
            <a:r>
              <a:rPr lang="zh-TW" altLang="en-US" kern="0" spc="5" dirty="0" smtClean="0">
                <a:latin typeface="標楷體" panose="03000509000000000000" pitchFamily="65" charset="-120"/>
                <a:ea typeface="標楷體" panose="03000509000000000000" pitchFamily="65" charset="-120"/>
              </a:rPr>
              <a:t>篇</a:t>
            </a:r>
            <a:endParaRPr lang="en-US" altLang="zh-TW" kern="0" spc="5" dirty="0" smtClean="0">
              <a:latin typeface="標楷體" panose="03000509000000000000" pitchFamily="65" charset="-120"/>
              <a:ea typeface="標楷體" panose="03000509000000000000" pitchFamily="65" charset="-120"/>
            </a:endParaRPr>
          </a:p>
          <a:p>
            <a:pPr marL="12700">
              <a:spcBef>
                <a:spcPts val="105"/>
              </a:spcBef>
            </a:pPr>
            <a:r>
              <a:rPr lang="zh-TW" altLang="en-US" kern="0" spc="5" dirty="0" smtClean="0">
                <a:latin typeface="標楷體" panose="03000509000000000000" pitchFamily="65" charset="-120"/>
                <a:ea typeface="標楷體" panose="03000509000000000000" pitchFamily="65" charset="-120"/>
              </a:rPr>
              <a:t>二</a:t>
            </a:r>
            <a:endParaRPr lang="zh-TW" altLang="en-US" kern="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3091646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1066800" y="76200"/>
            <a:ext cx="7010400" cy="5416868"/>
          </a:xfrm>
        </p:spPr>
        <p:txBody>
          <a:bodyPr/>
          <a:lstStyle/>
          <a:p>
            <a:r>
              <a:rPr lang="en-US" altLang="zh-TW" sz="3200" kern="1200" spc="5" dirty="0">
                <a:latin typeface="標楷體" panose="03000509000000000000" pitchFamily="65" charset="-120"/>
                <a:ea typeface="標楷體" panose="03000509000000000000" pitchFamily="65" charset="-120"/>
              </a:rPr>
              <a:t>1. </a:t>
            </a:r>
            <a:r>
              <a:rPr lang="zh-TW" altLang="en-US" sz="3200" kern="1200" spc="5" dirty="0">
                <a:latin typeface="標楷體" panose="03000509000000000000" pitchFamily="65" charset="-120"/>
                <a:ea typeface="標楷體" panose="03000509000000000000" pitchFamily="65" charset="-120"/>
              </a:rPr>
              <a:t>工作坊準備階段（</a:t>
            </a:r>
            <a:r>
              <a:rPr lang="en-US" altLang="zh-TW" sz="3200" kern="1200" spc="5" dirty="0">
                <a:latin typeface="標楷體" panose="03000509000000000000" pitchFamily="65" charset="-120"/>
                <a:ea typeface="標楷體" panose="03000509000000000000" pitchFamily="65" charset="-120"/>
              </a:rPr>
              <a:t>30</a:t>
            </a:r>
            <a:r>
              <a:rPr lang="zh-TW" altLang="en-US" sz="3200" kern="1200" spc="5" dirty="0">
                <a:latin typeface="標楷體" panose="03000509000000000000" pitchFamily="65" charset="-120"/>
                <a:ea typeface="標楷體" panose="03000509000000000000" pitchFamily="65" charset="-120"/>
              </a:rPr>
              <a:t>分鐘）</a:t>
            </a:r>
          </a:p>
          <a:p>
            <a:r>
              <a:rPr lang="en-US" altLang="zh-TW" sz="3200" kern="1200" spc="5" dirty="0">
                <a:latin typeface="標楷體" panose="03000509000000000000" pitchFamily="65" charset="-120"/>
                <a:ea typeface="標楷體" panose="03000509000000000000" pitchFamily="65" charset="-120"/>
              </a:rPr>
              <a:t>1.1 </a:t>
            </a:r>
            <a:r>
              <a:rPr lang="zh-TW" altLang="en-US" sz="3200" kern="1200" spc="5" dirty="0">
                <a:latin typeface="標楷體" panose="03000509000000000000" pitchFamily="65" charset="-120"/>
                <a:ea typeface="標楷體" panose="03000509000000000000" pitchFamily="65" charset="-120"/>
              </a:rPr>
              <a:t>設定目標</a:t>
            </a:r>
          </a:p>
          <a:p>
            <a:endParaRPr lang="en-US" altLang="zh-TW" sz="3200" kern="1200" spc="5" dirty="0" smtClean="0">
              <a:latin typeface="標楷體" panose="03000509000000000000" pitchFamily="65" charset="-120"/>
              <a:ea typeface="標楷體" panose="03000509000000000000" pitchFamily="65" charset="-120"/>
            </a:endParaRPr>
          </a:p>
          <a:p>
            <a:endParaRPr lang="zh-TW" altLang="en-US" sz="3200" kern="1200" spc="5" dirty="0">
              <a:latin typeface="標楷體" panose="03000509000000000000" pitchFamily="65" charset="-120"/>
              <a:ea typeface="標楷體" panose="03000509000000000000" pitchFamily="65" charset="-120"/>
            </a:endParaRPr>
          </a:p>
          <a:p>
            <a:r>
              <a:rPr lang="zh-TW" altLang="en-US" sz="3200" kern="1200" spc="5" dirty="0">
                <a:latin typeface="標楷體" panose="03000509000000000000" pitchFamily="65" charset="-120"/>
                <a:ea typeface="標楷體" panose="03000509000000000000" pitchFamily="65" charset="-120"/>
              </a:rPr>
              <a:t>操作細節：明確這場工作坊的核心目標，如了解社區成員對時間銀行的需求、探索他們的動機和顧慮，或者收集對時間銀行運作模式的建議。</a:t>
            </a:r>
          </a:p>
          <a:p>
            <a:r>
              <a:rPr lang="zh-TW" altLang="en-US" sz="3200" kern="1200" spc="5" dirty="0">
                <a:latin typeface="標楷體" panose="03000509000000000000" pitchFamily="65" charset="-120"/>
                <a:ea typeface="標楷體" panose="03000509000000000000" pitchFamily="65" charset="-120"/>
              </a:rPr>
              <a:t>舉例：目標可以是「了解社區成員對時間銀行交換服務的首要需求」，「探討時間銀行可能遇到的障礙和解決方案」。</a:t>
            </a:r>
          </a:p>
        </p:txBody>
      </p:sp>
    </p:spTree>
    <p:extLst>
      <p:ext uri="{BB962C8B-B14F-4D97-AF65-F5344CB8AC3E}">
        <p14:creationId xmlns:p14="http://schemas.microsoft.com/office/powerpoint/2010/main" val="2333536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990600" y="457200"/>
            <a:ext cx="7391400" cy="4431983"/>
          </a:xfrm>
        </p:spPr>
        <p:txBody>
          <a:bodyPr/>
          <a:lstStyle/>
          <a:p>
            <a:r>
              <a:rPr lang="en-US" altLang="zh-TW" sz="3200" kern="1200" spc="5" dirty="0">
                <a:latin typeface="標楷體" panose="03000509000000000000" pitchFamily="65" charset="-120"/>
                <a:ea typeface="標楷體" panose="03000509000000000000" pitchFamily="65" charset="-120"/>
              </a:rPr>
              <a:t>1.2 </a:t>
            </a:r>
            <a:r>
              <a:rPr lang="zh-TW" altLang="en-US" sz="3200" kern="1200" spc="5" dirty="0">
                <a:latin typeface="標楷體" panose="03000509000000000000" pitchFamily="65" charset="-120"/>
                <a:ea typeface="標楷體" panose="03000509000000000000" pitchFamily="65" charset="-120"/>
              </a:rPr>
              <a:t>招募參與者</a:t>
            </a:r>
          </a:p>
          <a:p>
            <a:endParaRPr lang="en-US" altLang="zh-TW" sz="3200" kern="1200" spc="5" dirty="0" smtClean="0">
              <a:latin typeface="標楷體" panose="03000509000000000000" pitchFamily="65" charset="-120"/>
              <a:ea typeface="標楷體" panose="03000509000000000000" pitchFamily="65" charset="-120"/>
            </a:endParaRPr>
          </a:p>
          <a:p>
            <a:endParaRPr lang="zh-TW" altLang="en-US" sz="3200" kern="1200" spc="5" dirty="0">
              <a:latin typeface="標楷體" panose="03000509000000000000" pitchFamily="65" charset="-120"/>
              <a:ea typeface="標楷體" panose="03000509000000000000" pitchFamily="65" charset="-120"/>
            </a:endParaRPr>
          </a:p>
          <a:p>
            <a:r>
              <a:rPr lang="zh-TW" altLang="en-US" sz="3200" kern="1200" spc="5" dirty="0">
                <a:latin typeface="標楷體" panose="03000509000000000000" pitchFamily="65" charset="-120"/>
                <a:ea typeface="標楷體" panose="03000509000000000000" pitchFamily="65" charset="-120"/>
              </a:rPr>
              <a:t>操作細節：選擇來自不同背景的社區成員，確保討論的多樣性與代表性。參與者人數應控制在</a:t>
            </a:r>
            <a:r>
              <a:rPr lang="en-US" altLang="zh-TW" sz="3200" kern="1200" spc="5" dirty="0">
                <a:latin typeface="標楷體" panose="03000509000000000000" pitchFamily="65" charset="-120"/>
                <a:ea typeface="標楷體" panose="03000509000000000000" pitchFamily="65" charset="-120"/>
              </a:rPr>
              <a:t>8-10</a:t>
            </a:r>
            <a:r>
              <a:rPr lang="zh-TW" altLang="en-US" sz="3200" kern="1200" spc="5" dirty="0">
                <a:latin typeface="標楷體" panose="03000509000000000000" pitchFamily="65" charset="-120"/>
                <a:ea typeface="標楷體" panose="03000509000000000000" pitchFamily="65" charset="-120"/>
              </a:rPr>
              <a:t>人之間，以保證每個人都有機會發言。</a:t>
            </a:r>
          </a:p>
          <a:p>
            <a:r>
              <a:rPr lang="zh-TW" altLang="en-US" sz="3200" kern="1200" spc="5" dirty="0">
                <a:latin typeface="標楷體" panose="03000509000000000000" pitchFamily="65" charset="-120"/>
                <a:ea typeface="標楷體" panose="03000509000000000000" pitchFamily="65" charset="-120"/>
              </a:rPr>
              <a:t>舉例：招募對象包括年輕家長、退休人士、社區志願者等，每類人群</a:t>
            </a:r>
            <a:r>
              <a:rPr lang="en-US" altLang="zh-TW" sz="3200" kern="1200" spc="5" dirty="0">
                <a:latin typeface="標楷體" panose="03000509000000000000" pitchFamily="65" charset="-120"/>
                <a:ea typeface="標楷體" panose="03000509000000000000" pitchFamily="65" charset="-120"/>
              </a:rPr>
              <a:t>2-3</a:t>
            </a:r>
            <a:r>
              <a:rPr lang="zh-TW" altLang="en-US" sz="3200" kern="1200" spc="5" dirty="0">
                <a:latin typeface="標楷體" panose="03000509000000000000" pitchFamily="65" charset="-120"/>
                <a:ea typeface="標楷體" panose="03000509000000000000" pitchFamily="65" charset="-120"/>
              </a:rPr>
              <a:t>名。</a:t>
            </a:r>
          </a:p>
        </p:txBody>
      </p:sp>
    </p:spTree>
    <p:extLst>
      <p:ext uri="{BB962C8B-B14F-4D97-AF65-F5344CB8AC3E}">
        <p14:creationId xmlns:p14="http://schemas.microsoft.com/office/powerpoint/2010/main" val="4755720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1066800" y="381000"/>
            <a:ext cx="7086600" cy="5410200"/>
          </a:xfrm>
        </p:spPr>
        <p:txBody>
          <a:bodyPr/>
          <a:lstStyle/>
          <a:p>
            <a:r>
              <a:rPr lang="en-US" altLang="zh-TW" sz="3200" kern="1200" spc="5" dirty="0">
                <a:latin typeface="標楷體" panose="03000509000000000000" pitchFamily="65" charset="-120"/>
                <a:ea typeface="標楷體" panose="03000509000000000000" pitchFamily="65" charset="-120"/>
              </a:rPr>
              <a:t>1.3 </a:t>
            </a:r>
            <a:r>
              <a:rPr lang="zh-TW" altLang="en-US" sz="3200" kern="1200" spc="5" dirty="0">
                <a:latin typeface="標楷體" panose="03000509000000000000" pitchFamily="65" charset="-120"/>
                <a:ea typeface="標楷體" panose="03000509000000000000" pitchFamily="65" charset="-120"/>
              </a:rPr>
              <a:t>設計討論指南</a:t>
            </a:r>
          </a:p>
          <a:p>
            <a:endParaRPr lang="en-US" altLang="zh-TW" sz="3200" kern="1200" spc="5" dirty="0" smtClean="0">
              <a:latin typeface="標楷體" panose="03000509000000000000" pitchFamily="65" charset="-120"/>
              <a:ea typeface="標楷體" panose="03000509000000000000" pitchFamily="65" charset="-120"/>
            </a:endParaRPr>
          </a:p>
          <a:p>
            <a:endParaRPr lang="zh-TW" altLang="en-US" sz="3200" kern="1200" spc="5" dirty="0">
              <a:latin typeface="標楷體" panose="03000509000000000000" pitchFamily="65" charset="-120"/>
              <a:ea typeface="標楷體" panose="03000509000000000000" pitchFamily="65" charset="-120"/>
            </a:endParaRPr>
          </a:p>
          <a:p>
            <a:r>
              <a:rPr lang="zh-TW" altLang="en-US" sz="3200" kern="1200" spc="5" dirty="0">
                <a:latin typeface="標楷體" panose="03000509000000000000" pitchFamily="65" charset="-120"/>
                <a:ea typeface="標楷體" panose="03000509000000000000" pitchFamily="65" charset="-120"/>
              </a:rPr>
              <a:t>操作細節：編寫討論指南，包含</a:t>
            </a:r>
            <a:r>
              <a:rPr lang="en-US" altLang="zh-TW" sz="3200" kern="1200" spc="5" dirty="0">
                <a:latin typeface="標楷體" panose="03000509000000000000" pitchFamily="65" charset="-120"/>
                <a:ea typeface="標楷體" panose="03000509000000000000" pitchFamily="65" charset="-120"/>
              </a:rPr>
              <a:t>5-7</a:t>
            </a:r>
            <a:r>
              <a:rPr lang="zh-TW" altLang="en-US" sz="3200" kern="1200" spc="5" dirty="0">
                <a:latin typeface="標楷體" panose="03000509000000000000" pitchFamily="65" charset="-120"/>
                <a:ea typeface="標楷體" panose="03000509000000000000" pitchFamily="65" charset="-120"/>
              </a:rPr>
              <a:t>個核心問題，這些問題應該是開放式的，能夠引導參與者深入討論。</a:t>
            </a:r>
          </a:p>
          <a:p>
            <a:r>
              <a:rPr lang="zh-TW" altLang="en-US" sz="3200" kern="1200" spc="5" dirty="0">
                <a:latin typeface="標楷體" panose="03000509000000000000" pitchFamily="65" charset="-120"/>
                <a:ea typeface="標楷體" panose="03000509000000000000" pitchFamily="65" charset="-120"/>
              </a:rPr>
              <a:t>舉例：核心問題如「您如何看待社區內引入時間銀行的想法？」、「什麼樣的服務交換對您最有吸引力？」、「您認為推動時間銀行最大的挑戰是什麼？」</a:t>
            </a:r>
          </a:p>
        </p:txBody>
      </p:sp>
    </p:spTree>
    <p:extLst>
      <p:ext uri="{BB962C8B-B14F-4D97-AF65-F5344CB8AC3E}">
        <p14:creationId xmlns:p14="http://schemas.microsoft.com/office/powerpoint/2010/main" val="1021786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1066800" y="381000"/>
            <a:ext cx="6934200" cy="4924425"/>
          </a:xfrm>
        </p:spPr>
        <p:txBody>
          <a:bodyPr/>
          <a:lstStyle/>
          <a:p>
            <a:r>
              <a:rPr lang="en-US" altLang="zh-TW" sz="3200" kern="1200" spc="5" dirty="0">
                <a:latin typeface="標楷體" panose="03000509000000000000" pitchFamily="65" charset="-120"/>
                <a:ea typeface="標楷體" panose="03000509000000000000" pitchFamily="65" charset="-120"/>
              </a:rPr>
              <a:t>1.4 </a:t>
            </a:r>
            <a:r>
              <a:rPr lang="zh-TW" altLang="en-US" sz="3200" kern="1200" spc="5" dirty="0">
                <a:latin typeface="標楷體" panose="03000509000000000000" pitchFamily="65" charset="-120"/>
                <a:ea typeface="標楷體" panose="03000509000000000000" pitchFamily="65" charset="-120"/>
              </a:rPr>
              <a:t>場地與設備準備</a:t>
            </a:r>
          </a:p>
          <a:p>
            <a:endParaRPr lang="zh-TW" altLang="en-US" sz="3200" kern="1200" spc="5" dirty="0">
              <a:latin typeface="標楷體" panose="03000509000000000000" pitchFamily="65" charset="-120"/>
              <a:ea typeface="標楷體" panose="03000509000000000000" pitchFamily="65" charset="-120"/>
            </a:endParaRPr>
          </a:p>
          <a:p>
            <a:endParaRPr lang="en-US" altLang="zh-TW" sz="3200" kern="1200" spc="5" dirty="0" smtClean="0">
              <a:latin typeface="標楷體" panose="03000509000000000000" pitchFamily="65" charset="-120"/>
              <a:ea typeface="標楷體" panose="03000509000000000000" pitchFamily="65" charset="-120"/>
            </a:endParaRPr>
          </a:p>
          <a:p>
            <a:r>
              <a:rPr lang="zh-TW" altLang="en-US" sz="3200" kern="1200" spc="5" dirty="0" smtClean="0">
                <a:latin typeface="標楷體" panose="03000509000000000000" pitchFamily="65" charset="-120"/>
                <a:ea typeface="標楷體" panose="03000509000000000000" pitchFamily="65" charset="-120"/>
              </a:rPr>
              <a:t>操作</a:t>
            </a:r>
            <a:r>
              <a:rPr lang="zh-TW" altLang="en-US" sz="3200" kern="1200" spc="5" dirty="0">
                <a:latin typeface="標楷體" panose="03000509000000000000" pitchFamily="65" charset="-120"/>
                <a:ea typeface="標楷體" panose="03000509000000000000" pitchFamily="65" charset="-120"/>
              </a:rPr>
              <a:t>細節：選擇一個安靜、舒適的場地，佈置成便於參與者交流的圓形或</a:t>
            </a:r>
            <a:r>
              <a:rPr lang="en-US" altLang="zh-TW" sz="3200" kern="1200" spc="5" dirty="0">
                <a:latin typeface="標楷體" panose="03000509000000000000" pitchFamily="65" charset="-120"/>
                <a:ea typeface="標楷體" panose="03000509000000000000" pitchFamily="65" charset="-120"/>
              </a:rPr>
              <a:t>U</a:t>
            </a:r>
            <a:r>
              <a:rPr lang="zh-TW" altLang="en-US" sz="3200" kern="1200" spc="5" dirty="0">
                <a:latin typeface="標楷體" panose="03000509000000000000" pitchFamily="65" charset="-120"/>
                <a:ea typeface="標楷體" panose="03000509000000000000" pitchFamily="65" charset="-120"/>
              </a:rPr>
              <a:t>型座位安排。檢查錄音設備，準備好筆記本和必要的資料。</a:t>
            </a:r>
          </a:p>
          <a:p>
            <a:r>
              <a:rPr lang="zh-TW" altLang="en-US" sz="3200" kern="1200" spc="5" dirty="0">
                <a:latin typeface="標楷體" panose="03000509000000000000" pitchFamily="65" charset="-120"/>
                <a:ea typeface="標楷體" panose="03000509000000000000" pitchFamily="65" charset="-120"/>
              </a:rPr>
              <a:t>舉例：選擇社區中心的會議室，桌椅圍成</a:t>
            </a:r>
            <a:r>
              <a:rPr lang="en-US" altLang="zh-TW" sz="3200" kern="1200" spc="5" dirty="0">
                <a:latin typeface="標楷體" panose="03000509000000000000" pitchFamily="65" charset="-120"/>
                <a:ea typeface="標楷體" panose="03000509000000000000" pitchFamily="65" charset="-120"/>
              </a:rPr>
              <a:t>U</a:t>
            </a:r>
            <a:r>
              <a:rPr lang="zh-TW" altLang="en-US" sz="3200" kern="1200" spc="5" dirty="0">
                <a:latin typeface="標楷體" panose="03000509000000000000" pitchFamily="65" charset="-120"/>
                <a:ea typeface="標楷體" panose="03000509000000000000" pitchFamily="65" charset="-120"/>
              </a:rPr>
              <a:t>型，準備好投影設備以展示背景資料。</a:t>
            </a:r>
          </a:p>
        </p:txBody>
      </p:sp>
    </p:spTree>
    <p:extLst>
      <p:ext uri="{BB962C8B-B14F-4D97-AF65-F5344CB8AC3E}">
        <p14:creationId xmlns:p14="http://schemas.microsoft.com/office/powerpoint/2010/main" val="35911696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1219200" y="228600"/>
            <a:ext cx="7239000" cy="5416868"/>
          </a:xfrm>
        </p:spPr>
        <p:txBody>
          <a:bodyPr/>
          <a:lstStyle/>
          <a:p>
            <a:r>
              <a:rPr lang="en-US" altLang="zh-TW" sz="3200" kern="1200" spc="5" dirty="0">
                <a:latin typeface="標楷體" panose="03000509000000000000" pitchFamily="65" charset="-120"/>
                <a:ea typeface="標楷體" panose="03000509000000000000" pitchFamily="65" charset="-120"/>
              </a:rPr>
              <a:t>2. </a:t>
            </a:r>
            <a:r>
              <a:rPr lang="zh-TW" altLang="en-US" sz="3200" kern="1200" spc="5" dirty="0">
                <a:latin typeface="標楷體" panose="03000509000000000000" pitchFamily="65" charset="-120"/>
                <a:ea typeface="標楷體" panose="03000509000000000000" pitchFamily="65" charset="-120"/>
              </a:rPr>
              <a:t>工作坊進行階段（</a:t>
            </a:r>
            <a:r>
              <a:rPr lang="en-US" altLang="zh-TW" sz="3200" kern="1200" spc="5" dirty="0">
                <a:latin typeface="標楷體" panose="03000509000000000000" pitchFamily="65" charset="-120"/>
                <a:ea typeface="標楷體" panose="03000509000000000000" pitchFamily="65" charset="-120"/>
              </a:rPr>
              <a:t>2</a:t>
            </a:r>
            <a:r>
              <a:rPr lang="zh-TW" altLang="en-US" sz="3200" kern="1200" spc="5" dirty="0">
                <a:latin typeface="標楷體" panose="03000509000000000000" pitchFamily="65" charset="-120"/>
                <a:ea typeface="標楷體" panose="03000509000000000000" pitchFamily="65" charset="-120"/>
              </a:rPr>
              <a:t>小時）</a:t>
            </a:r>
          </a:p>
          <a:p>
            <a:r>
              <a:rPr lang="en-US" altLang="zh-TW" sz="3200" kern="1200" spc="5" dirty="0">
                <a:latin typeface="標楷體" panose="03000509000000000000" pitchFamily="65" charset="-120"/>
                <a:ea typeface="標楷體" panose="03000509000000000000" pitchFamily="65" charset="-120"/>
              </a:rPr>
              <a:t>2.1 </a:t>
            </a:r>
            <a:r>
              <a:rPr lang="zh-TW" altLang="en-US" sz="3200" kern="1200" spc="5" dirty="0">
                <a:latin typeface="標楷體" panose="03000509000000000000" pitchFamily="65" charset="-120"/>
                <a:ea typeface="標楷體" panose="03000509000000000000" pitchFamily="65" charset="-120"/>
              </a:rPr>
              <a:t>開場與介紹（</a:t>
            </a:r>
            <a:r>
              <a:rPr lang="en-US" altLang="zh-TW" sz="3200" kern="1200" spc="5" dirty="0">
                <a:latin typeface="標楷體" panose="03000509000000000000" pitchFamily="65" charset="-120"/>
                <a:ea typeface="標楷體" panose="03000509000000000000" pitchFamily="65" charset="-120"/>
              </a:rPr>
              <a:t>15</a:t>
            </a:r>
            <a:r>
              <a:rPr lang="zh-TW" altLang="en-US" sz="3200" kern="1200" spc="5" dirty="0">
                <a:latin typeface="標楷體" panose="03000509000000000000" pitchFamily="65" charset="-120"/>
                <a:ea typeface="標楷體" panose="03000509000000000000" pitchFamily="65" charset="-120"/>
              </a:rPr>
              <a:t>分鐘）</a:t>
            </a:r>
          </a:p>
          <a:p>
            <a:endParaRPr lang="zh-TW" altLang="en-US" sz="3200" kern="1200" spc="5" dirty="0">
              <a:latin typeface="標楷體" panose="03000509000000000000" pitchFamily="65" charset="-120"/>
              <a:ea typeface="標楷體" panose="03000509000000000000" pitchFamily="65" charset="-120"/>
            </a:endParaRPr>
          </a:p>
          <a:p>
            <a:endParaRPr lang="en-US" altLang="zh-TW" sz="3200" kern="1200" spc="5" dirty="0" smtClean="0">
              <a:latin typeface="標楷體" panose="03000509000000000000" pitchFamily="65" charset="-120"/>
              <a:ea typeface="標楷體" panose="03000509000000000000" pitchFamily="65" charset="-120"/>
            </a:endParaRPr>
          </a:p>
          <a:p>
            <a:r>
              <a:rPr lang="zh-TW" altLang="en-US" sz="3200" kern="1200" spc="5" dirty="0" smtClean="0">
                <a:latin typeface="標楷體" panose="03000509000000000000" pitchFamily="65" charset="-120"/>
                <a:ea typeface="標楷體" panose="03000509000000000000" pitchFamily="65" charset="-120"/>
              </a:rPr>
              <a:t>操作</a:t>
            </a:r>
            <a:r>
              <a:rPr lang="zh-TW" altLang="en-US" sz="3200" kern="1200" spc="5" dirty="0">
                <a:latin typeface="標楷體" panose="03000509000000000000" pitchFamily="65" charset="-120"/>
                <a:ea typeface="標楷體" panose="03000509000000000000" pitchFamily="65" charset="-120"/>
              </a:rPr>
              <a:t>細節：主持人簡短介紹自己和這場工作坊的目標，說明討論流程並強調討論</a:t>
            </a:r>
            <a:r>
              <a:rPr lang="zh-TW" altLang="en-US" sz="3200" kern="1200" spc="5" dirty="0" smtClean="0">
                <a:latin typeface="標楷體" panose="03000509000000000000" pitchFamily="65" charset="-120"/>
                <a:ea typeface="標楷體" panose="03000509000000000000" pitchFamily="65" charset="-120"/>
              </a:rPr>
              <a:t>的</a:t>
            </a:r>
            <a:r>
              <a:rPr lang="zh-TW" altLang="en-US" sz="3200" kern="1200" spc="5" dirty="0">
                <a:latin typeface="標楷體" panose="03000509000000000000" pitchFamily="65" charset="-120"/>
                <a:ea typeface="標楷體" panose="03000509000000000000" pitchFamily="65" charset="-120"/>
              </a:rPr>
              <a:t>肯定式探詢</a:t>
            </a:r>
            <a:r>
              <a:rPr lang="zh-TW" altLang="en-US" sz="3200" kern="1200" spc="5" dirty="0" smtClean="0">
                <a:latin typeface="標楷體" panose="03000509000000000000" pitchFamily="65" charset="-120"/>
                <a:ea typeface="標楷體" panose="03000509000000000000" pitchFamily="65" charset="-120"/>
              </a:rPr>
              <a:t>和尋求本質與關聯性的</a:t>
            </a:r>
            <a:r>
              <a:rPr lang="zh-TW" altLang="en-US" sz="3200" kern="1200" spc="5" dirty="0">
                <a:latin typeface="標楷體" panose="03000509000000000000" pitchFamily="65" charset="-120"/>
                <a:ea typeface="標楷體" panose="03000509000000000000" pitchFamily="65" charset="-120"/>
              </a:rPr>
              <a:t>原則。</a:t>
            </a:r>
          </a:p>
          <a:p>
            <a:r>
              <a:rPr lang="zh-TW" altLang="en-US" sz="3200" kern="1200" spc="5" dirty="0">
                <a:latin typeface="標楷體" panose="03000509000000000000" pitchFamily="65" charset="-120"/>
                <a:ea typeface="標楷體" panose="03000509000000000000" pitchFamily="65" charset="-120"/>
              </a:rPr>
              <a:t>舉例：主持人說明這次討論是為了更好地了解大家對時間銀行的需求和想法，鼓勵大家分享自己的經驗和建議。</a:t>
            </a:r>
          </a:p>
        </p:txBody>
      </p:sp>
    </p:spTree>
    <p:extLst>
      <p:ext uri="{BB962C8B-B14F-4D97-AF65-F5344CB8AC3E}">
        <p14:creationId xmlns:p14="http://schemas.microsoft.com/office/powerpoint/2010/main" val="33695250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965200" y="432911"/>
            <a:ext cx="7340600" cy="5663089"/>
          </a:xfrm>
        </p:spPr>
        <p:txBody>
          <a:bodyPr/>
          <a:lstStyle/>
          <a:p>
            <a:r>
              <a:rPr lang="en-US" altLang="zh-TW" sz="3200" kern="1200" spc="5" dirty="0">
                <a:latin typeface="標楷體" panose="03000509000000000000" pitchFamily="65" charset="-120"/>
                <a:ea typeface="標楷體" panose="03000509000000000000" pitchFamily="65" charset="-120"/>
              </a:rPr>
              <a:t>2.2 </a:t>
            </a:r>
            <a:r>
              <a:rPr lang="zh-TW" altLang="en-US" sz="3200" kern="1200" spc="5" dirty="0">
                <a:latin typeface="標楷體" panose="03000509000000000000" pitchFamily="65" charset="-120"/>
                <a:ea typeface="標楷體" panose="03000509000000000000" pitchFamily="65" charset="-120"/>
              </a:rPr>
              <a:t>核心討論（</a:t>
            </a:r>
            <a:r>
              <a:rPr lang="en-US" altLang="zh-TW" sz="3200" kern="1200" spc="5" dirty="0">
                <a:latin typeface="標楷體" panose="03000509000000000000" pitchFamily="65" charset="-120"/>
                <a:ea typeface="標楷體" panose="03000509000000000000" pitchFamily="65" charset="-120"/>
              </a:rPr>
              <a:t>90</a:t>
            </a:r>
            <a:r>
              <a:rPr lang="zh-TW" altLang="en-US" sz="3200" kern="1200" spc="5" dirty="0">
                <a:latin typeface="標楷體" panose="03000509000000000000" pitchFamily="65" charset="-120"/>
                <a:ea typeface="標楷體" panose="03000509000000000000" pitchFamily="65" charset="-120"/>
              </a:rPr>
              <a:t>分鐘）</a:t>
            </a:r>
          </a:p>
          <a:p>
            <a:endParaRPr lang="zh-TW" altLang="en-US" sz="3200" kern="1200" spc="5" dirty="0">
              <a:latin typeface="標楷體" panose="03000509000000000000" pitchFamily="65" charset="-120"/>
              <a:ea typeface="標楷體" panose="03000509000000000000" pitchFamily="65" charset="-120"/>
            </a:endParaRPr>
          </a:p>
          <a:p>
            <a:r>
              <a:rPr lang="zh-TW" altLang="en-US" sz="3200" kern="1200" spc="5" dirty="0">
                <a:latin typeface="標楷體" panose="03000509000000000000" pitchFamily="65" charset="-120"/>
                <a:ea typeface="標楷體" panose="03000509000000000000" pitchFamily="65" charset="-120"/>
              </a:rPr>
              <a:t>操作細節：主持人根據討論指南逐一引導核心問題的討論，確保每個人都有機會發言，同時控制討論的節奏和焦點。</a:t>
            </a:r>
          </a:p>
          <a:p>
            <a:r>
              <a:rPr lang="zh-TW" altLang="en-US" kern="1200" spc="5" dirty="0">
                <a:latin typeface="標楷體" panose="03000509000000000000" pitchFamily="65" charset="-120"/>
                <a:ea typeface="標楷體" panose="03000509000000000000" pitchFamily="65" charset="-120"/>
              </a:rPr>
              <a:t>舉例：</a:t>
            </a:r>
          </a:p>
          <a:p>
            <a:r>
              <a:rPr lang="zh-TW" altLang="en-US" kern="1200" spc="5" dirty="0">
                <a:latin typeface="標楷體" panose="03000509000000000000" pitchFamily="65" charset="-120"/>
                <a:ea typeface="標楷體" panose="03000509000000000000" pitchFamily="65" charset="-120"/>
              </a:rPr>
              <a:t>問題</a:t>
            </a:r>
            <a:r>
              <a:rPr lang="en-US" altLang="zh-TW" kern="1200" spc="5" dirty="0">
                <a:latin typeface="標楷體" panose="03000509000000000000" pitchFamily="65" charset="-120"/>
                <a:ea typeface="標楷體" panose="03000509000000000000" pitchFamily="65" charset="-120"/>
              </a:rPr>
              <a:t>1</a:t>
            </a:r>
            <a:r>
              <a:rPr lang="zh-TW" altLang="en-US" kern="1200" spc="5" dirty="0">
                <a:latin typeface="標楷體" panose="03000509000000000000" pitchFamily="65" charset="-120"/>
                <a:ea typeface="標楷體" panose="03000509000000000000" pitchFamily="65" charset="-120"/>
              </a:rPr>
              <a:t>：「您覺得社區中最需要什麼樣的服務交換？」</a:t>
            </a:r>
            <a:r>
              <a:rPr lang="en-US" altLang="zh-TW" kern="1200" spc="5" dirty="0">
                <a:latin typeface="標楷體" panose="03000509000000000000" pitchFamily="65" charset="-120"/>
                <a:ea typeface="標楷體" panose="03000509000000000000" pitchFamily="65" charset="-120"/>
              </a:rPr>
              <a:t>——</a:t>
            </a:r>
            <a:r>
              <a:rPr lang="zh-TW" altLang="en-US" kern="1200" spc="5" dirty="0">
                <a:latin typeface="標楷體" panose="03000509000000000000" pitchFamily="65" charset="-120"/>
                <a:ea typeface="標楷體" panose="03000509000000000000" pitchFamily="65" charset="-120"/>
              </a:rPr>
              <a:t>引導參與者分享</a:t>
            </a:r>
            <a:r>
              <a:rPr lang="zh-TW" altLang="en-US" dirty="0">
                <a:latin typeface="標楷體" panose="03000509000000000000" pitchFamily="65" charset="-120"/>
                <a:ea typeface="標楷體" panose="03000509000000000000" pitchFamily="65" charset="-120"/>
              </a:rPr>
              <a:t>他們的具體需求，</a:t>
            </a:r>
            <a:r>
              <a:rPr lang="zh-TW" altLang="en-US" kern="1200" spc="5" dirty="0">
                <a:latin typeface="標楷體" panose="03000509000000000000" pitchFamily="65" charset="-120"/>
                <a:ea typeface="標楷體" panose="03000509000000000000" pitchFamily="65" charset="-120"/>
              </a:rPr>
              <a:t>如陪伴老人、技術支持等。</a:t>
            </a:r>
          </a:p>
          <a:p>
            <a:r>
              <a:rPr lang="zh-TW" altLang="en-US" kern="1200" spc="5" dirty="0">
                <a:latin typeface="標楷體" panose="03000509000000000000" pitchFamily="65" charset="-120"/>
                <a:ea typeface="標楷體" panose="03000509000000000000" pitchFamily="65" charset="-120"/>
              </a:rPr>
              <a:t>問題</a:t>
            </a:r>
            <a:r>
              <a:rPr lang="en-US" altLang="zh-TW" kern="1200" spc="5" dirty="0">
                <a:latin typeface="標楷體" panose="03000509000000000000" pitchFamily="65" charset="-120"/>
                <a:ea typeface="標楷體" panose="03000509000000000000" pitchFamily="65" charset="-120"/>
              </a:rPr>
              <a:t>2</a:t>
            </a:r>
            <a:r>
              <a:rPr lang="zh-TW" altLang="en-US" kern="1200" spc="5" dirty="0">
                <a:latin typeface="標楷體" panose="03000509000000000000" pitchFamily="65" charset="-120"/>
                <a:ea typeface="標楷體" panose="03000509000000000000" pitchFamily="65" charset="-120"/>
              </a:rPr>
              <a:t>：「推動時間銀行可能遇到哪些挑戰？」</a:t>
            </a:r>
            <a:r>
              <a:rPr lang="en-US" altLang="zh-TW" kern="1200" spc="5" dirty="0">
                <a:latin typeface="標楷體" panose="03000509000000000000" pitchFamily="65" charset="-120"/>
                <a:ea typeface="標楷體" panose="03000509000000000000" pitchFamily="65" charset="-120"/>
              </a:rPr>
              <a:t>——</a:t>
            </a:r>
            <a:r>
              <a:rPr lang="zh-TW" altLang="en-US" kern="1200" spc="5" dirty="0">
                <a:latin typeface="標楷體" panose="03000509000000000000" pitchFamily="65" charset="-120"/>
                <a:ea typeface="標楷體" panose="03000509000000000000" pitchFamily="65" charset="-120"/>
              </a:rPr>
              <a:t>探討可能的障礙，如信任問題、時間管理困難等，並鼓勵參與者提出解決方案。</a:t>
            </a:r>
          </a:p>
        </p:txBody>
      </p:sp>
    </p:spTree>
    <p:extLst>
      <p:ext uri="{BB962C8B-B14F-4D97-AF65-F5344CB8AC3E}">
        <p14:creationId xmlns:p14="http://schemas.microsoft.com/office/powerpoint/2010/main" val="11896907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1066800" y="152400"/>
            <a:ext cx="7543800" cy="5416868"/>
          </a:xfrm>
        </p:spPr>
        <p:txBody>
          <a:bodyPr/>
          <a:lstStyle/>
          <a:p>
            <a:r>
              <a:rPr lang="en-US" altLang="zh-TW" sz="3200" kern="1200" spc="5" dirty="0">
                <a:latin typeface="標楷體" panose="03000509000000000000" pitchFamily="65" charset="-120"/>
                <a:ea typeface="標楷體" panose="03000509000000000000" pitchFamily="65" charset="-120"/>
              </a:rPr>
              <a:t>2.3 </a:t>
            </a:r>
            <a:r>
              <a:rPr lang="zh-TW" altLang="en-US" sz="3200" kern="1200" spc="5" dirty="0">
                <a:latin typeface="標楷體" panose="03000509000000000000" pitchFamily="65" charset="-120"/>
                <a:ea typeface="標楷體" panose="03000509000000000000" pitchFamily="65" charset="-120"/>
              </a:rPr>
              <a:t>總結與反饋（</a:t>
            </a:r>
            <a:r>
              <a:rPr lang="en-US" altLang="zh-TW" sz="3200" kern="1200" spc="5" dirty="0">
                <a:latin typeface="標楷體" panose="03000509000000000000" pitchFamily="65" charset="-120"/>
                <a:ea typeface="標楷體" panose="03000509000000000000" pitchFamily="65" charset="-120"/>
              </a:rPr>
              <a:t>15</a:t>
            </a:r>
            <a:r>
              <a:rPr lang="zh-TW" altLang="en-US" sz="3200" kern="1200" spc="5" dirty="0">
                <a:latin typeface="標楷體" panose="03000509000000000000" pitchFamily="65" charset="-120"/>
                <a:ea typeface="標楷體" panose="03000509000000000000" pitchFamily="65" charset="-120"/>
              </a:rPr>
              <a:t>分鐘）</a:t>
            </a:r>
          </a:p>
          <a:p>
            <a:endParaRPr lang="en-US" altLang="zh-TW" sz="3200" kern="1200" spc="5" dirty="0" smtClean="0">
              <a:latin typeface="標楷體" panose="03000509000000000000" pitchFamily="65" charset="-120"/>
              <a:ea typeface="標楷體" panose="03000509000000000000" pitchFamily="65" charset="-120"/>
            </a:endParaRPr>
          </a:p>
          <a:p>
            <a:endParaRPr lang="zh-TW" altLang="en-US" sz="3200" kern="1200" spc="5" dirty="0">
              <a:latin typeface="標楷體" panose="03000509000000000000" pitchFamily="65" charset="-120"/>
              <a:ea typeface="標楷體" panose="03000509000000000000" pitchFamily="65" charset="-120"/>
            </a:endParaRPr>
          </a:p>
          <a:p>
            <a:r>
              <a:rPr lang="zh-TW" altLang="en-US" sz="3200" kern="1200" spc="5" dirty="0">
                <a:latin typeface="標楷體" panose="03000509000000000000" pitchFamily="65" charset="-120"/>
                <a:ea typeface="標楷體" panose="03000509000000000000" pitchFamily="65" charset="-120"/>
              </a:rPr>
              <a:t>操作細節：主持人總結討論中的主要觀點和結論，詢問參與者是否有補充意見，並感謝他們的參與。收集即時反饋，了解他們對工作坊的感受和建議。</a:t>
            </a:r>
          </a:p>
          <a:p>
            <a:r>
              <a:rPr lang="zh-TW" altLang="en-US" sz="3200" kern="1200" spc="5" dirty="0">
                <a:latin typeface="標楷體" panose="03000509000000000000" pitchFamily="65" charset="-120"/>
                <a:ea typeface="標楷體" panose="03000509000000000000" pitchFamily="65" charset="-120"/>
              </a:rPr>
              <a:t>舉例：主持人總結時可以說：「今天大家提到的幾個重要點是</a:t>
            </a:r>
            <a:r>
              <a:rPr lang="en-US" altLang="zh-TW" sz="3200" kern="1200" spc="5" dirty="0">
                <a:latin typeface="標楷體" panose="03000509000000000000" pitchFamily="65" charset="-120"/>
                <a:ea typeface="標楷體" panose="03000509000000000000" pitchFamily="65" charset="-120"/>
              </a:rPr>
              <a:t>……</a:t>
            </a:r>
            <a:r>
              <a:rPr lang="zh-TW" altLang="en-US" sz="3200" kern="1200" spc="5" dirty="0">
                <a:latin typeface="標楷體" panose="03000509000000000000" pitchFamily="65" charset="-120"/>
                <a:ea typeface="標楷體" panose="03000509000000000000" pitchFamily="65" charset="-120"/>
              </a:rPr>
              <a:t>，這些對我們設計時間銀行的計劃非常有幫助，感謝大家的寶貴意見。」</a:t>
            </a:r>
          </a:p>
        </p:txBody>
      </p:sp>
    </p:spTree>
    <p:extLst>
      <p:ext uri="{BB962C8B-B14F-4D97-AF65-F5344CB8AC3E}">
        <p14:creationId xmlns:p14="http://schemas.microsoft.com/office/powerpoint/2010/main" val="14697581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990600" y="228600"/>
            <a:ext cx="7315200" cy="4924425"/>
          </a:xfrm>
        </p:spPr>
        <p:txBody>
          <a:bodyPr/>
          <a:lstStyle/>
          <a:p>
            <a:r>
              <a:rPr lang="en-US" altLang="zh-TW" sz="3200" kern="1200" spc="5" dirty="0">
                <a:latin typeface="標楷體" panose="03000509000000000000" pitchFamily="65" charset="-120"/>
                <a:ea typeface="標楷體" panose="03000509000000000000" pitchFamily="65" charset="-120"/>
              </a:rPr>
              <a:t>3. </a:t>
            </a:r>
            <a:r>
              <a:rPr lang="zh-TW" altLang="en-US" sz="3200" kern="1200" spc="5" dirty="0">
                <a:latin typeface="標楷體" panose="03000509000000000000" pitchFamily="65" charset="-120"/>
                <a:ea typeface="標楷體" panose="03000509000000000000" pitchFamily="65" charset="-120"/>
              </a:rPr>
              <a:t>工作坊結束階段（</a:t>
            </a:r>
            <a:r>
              <a:rPr lang="en-US" altLang="zh-TW" sz="3200" kern="1200" spc="5" dirty="0">
                <a:latin typeface="標楷體" panose="03000509000000000000" pitchFamily="65" charset="-120"/>
                <a:ea typeface="標楷體" panose="03000509000000000000" pitchFamily="65" charset="-120"/>
              </a:rPr>
              <a:t>30</a:t>
            </a:r>
            <a:r>
              <a:rPr lang="zh-TW" altLang="en-US" sz="3200" kern="1200" spc="5" dirty="0">
                <a:latin typeface="標楷體" panose="03000509000000000000" pitchFamily="65" charset="-120"/>
                <a:ea typeface="標楷體" panose="03000509000000000000" pitchFamily="65" charset="-120"/>
              </a:rPr>
              <a:t>分鐘）</a:t>
            </a:r>
          </a:p>
          <a:p>
            <a:r>
              <a:rPr lang="en-US" altLang="zh-TW" sz="3200" kern="1200" spc="5" dirty="0">
                <a:latin typeface="標楷體" panose="03000509000000000000" pitchFamily="65" charset="-120"/>
                <a:ea typeface="標楷體" panose="03000509000000000000" pitchFamily="65" charset="-120"/>
              </a:rPr>
              <a:t>3.1 </a:t>
            </a:r>
            <a:r>
              <a:rPr lang="zh-TW" altLang="en-US" sz="3200" kern="1200" spc="5" dirty="0">
                <a:latin typeface="標楷體" panose="03000509000000000000" pitchFamily="65" charset="-120"/>
                <a:ea typeface="標楷體" panose="03000509000000000000" pitchFamily="65" charset="-120"/>
              </a:rPr>
              <a:t>記錄與整理</a:t>
            </a:r>
          </a:p>
          <a:p>
            <a:endParaRPr lang="zh-TW" altLang="en-US" sz="3200" kern="1200" spc="5" dirty="0">
              <a:latin typeface="標楷體" panose="03000509000000000000" pitchFamily="65" charset="-120"/>
              <a:ea typeface="標楷體" panose="03000509000000000000" pitchFamily="65" charset="-120"/>
            </a:endParaRPr>
          </a:p>
          <a:p>
            <a:endParaRPr lang="en-US" altLang="zh-TW" sz="3200" kern="1200" spc="5" dirty="0" smtClean="0">
              <a:latin typeface="標楷體" panose="03000509000000000000" pitchFamily="65" charset="-120"/>
              <a:ea typeface="標楷體" panose="03000509000000000000" pitchFamily="65" charset="-120"/>
            </a:endParaRPr>
          </a:p>
          <a:p>
            <a:r>
              <a:rPr lang="zh-TW" altLang="en-US" sz="3200" kern="1200" spc="5" dirty="0" smtClean="0">
                <a:latin typeface="標楷體" panose="03000509000000000000" pitchFamily="65" charset="-120"/>
                <a:ea typeface="標楷體" panose="03000509000000000000" pitchFamily="65" charset="-120"/>
              </a:rPr>
              <a:t>操作</a:t>
            </a:r>
            <a:r>
              <a:rPr lang="zh-TW" altLang="en-US" sz="3200" kern="1200" spc="5" dirty="0">
                <a:latin typeface="標楷體" panose="03000509000000000000" pitchFamily="65" charset="-120"/>
                <a:ea typeface="標楷體" panose="03000509000000000000" pitchFamily="65" charset="-120"/>
              </a:rPr>
              <a:t>細節：在工作坊結束後，主持人和助理一起將討論過程中的關鍵觀點和意見進行整理，轉錄錄音，並提取關鍵詞和主題。</a:t>
            </a:r>
          </a:p>
          <a:p>
            <a:r>
              <a:rPr lang="zh-TW" altLang="en-US" sz="3200" kern="1200" spc="5" dirty="0">
                <a:latin typeface="標楷體" panose="03000509000000000000" pitchFamily="65" charset="-120"/>
                <a:ea typeface="標楷體" panose="03000509000000000000" pitchFamily="65" charset="-120"/>
              </a:rPr>
              <a:t>舉例：記錄下每個討論問題的主要答案，將相似的觀點歸類，並形成初步報告。</a:t>
            </a:r>
          </a:p>
        </p:txBody>
      </p:sp>
    </p:spTree>
    <p:extLst>
      <p:ext uri="{BB962C8B-B14F-4D97-AF65-F5344CB8AC3E}">
        <p14:creationId xmlns:p14="http://schemas.microsoft.com/office/powerpoint/2010/main" val="19721908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1066800" y="152400"/>
            <a:ext cx="7086600" cy="5416868"/>
          </a:xfrm>
        </p:spPr>
        <p:txBody>
          <a:bodyPr/>
          <a:lstStyle/>
          <a:p>
            <a:r>
              <a:rPr lang="en-US" altLang="zh-TW" sz="3200" kern="1200" spc="5" dirty="0">
                <a:latin typeface="標楷體" panose="03000509000000000000" pitchFamily="65" charset="-120"/>
                <a:ea typeface="標楷體" panose="03000509000000000000" pitchFamily="65" charset="-120"/>
              </a:rPr>
              <a:t>3.2 </a:t>
            </a:r>
            <a:r>
              <a:rPr lang="zh-TW" altLang="en-US" sz="3200" kern="1200" spc="5" dirty="0">
                <a:latin typeface="標楷體" panose="03000509000000000000" pitchFamily="65" charset="-120"/>
                <a:ea typeface="標楷體" panose="03000509000000000000" pitchFamily="65" charset="-120"/>
              </a:rPr>
              <a:t>討論結果報告</a:t>
            </a:r>
          </a:p>
          <a:p>
            <a:endParaRPr lang="zh-TW" altLang="en-US" sz="3200" kern="1200" spc="5" dirty="0">
              <a:latin typeface="標楷體" panose="03000509000000000000" pitchFamily="65" charset="-120"/>
              <a:ea typeface="標楷體" panose="03000509000000000000" pitchFamily="65" charset="-120"/>
            </a:endParaRPr>
          </a:p>
          <a:p>
            <a:endParaRPr lang="en-US" altLang="zh-TW" sz="3200" kern="1200" spc="5" dirty="0" smtClean="0">
              <a:latin typeface="標楷體" panose="03000509000000000000" pitchFamily="65" charset="-120"/>
              <a:ea typeface="標楷體" panose="03000509000000000000" pitchFamily="65" charset="-120"/>
            </a:endParaRPr>
          </a:p>
          <a:p>
            <a:endParaRPr lang="en-US" altLang="zh-TW" sz="3200" kern="1200" spc="5" dirty="0" smtClean="0">
              <a:latin typeface="標楷體" panose="03000509000000000000" pitchFamily="65" charset="-120"/>
              <a:ea typeface="標楷體" panose="03000509000000000000" pitchFamily="65" charset="-120"/>
            </a:endParaRPr>
          </a:p>
          <a:p>
            <a:r>
              <a:rPr lang="zh-TW" altLang="en-US" sz="3200" kern="1200" spc="5" dirty="0" smtClean="0">
                <a:latin typeface="標楷體" panose="03000509000000000000" pitchFamily="65" charset="-120"/>
                <a:ea typeface="標楷體" panose="03000509000000000000" pitchFamily="65" charset="-120"/>
              </a:rPr>
              <a:t>操作</a:t>
            </a:r>
            <a:r>
              <a:rPr lang="zh-TW" altLang="en-US" sz="3200" kern="1200" spc="5" dirty="0">
                <a:latin typeface="標楷體" panose="03000509000000000000" pitchFamily="65" charset="-120"/>
                <a:ea typeface="標楷體" panose="03000509000000000000" pitchFamily="65" charset="-120"/>
              </a:rPr>
              <a:t>細節：撰寫詳細的討論報告，包括工作坊背景、參與者概況、討論過程摘要、主要發現和建議等，並向相關決策者或社區領袖提交。</a:t>
            </a:r>
          </a:p>
          <a:p>
            <a:r>
              <a:rPr lang="zh-TW" altLang="en-US" sz="3200" kern="1200" spc="5" dirty="0">
                <a:latin typeface="標楷體" panose="03000509000000000000" pitchFamily="65" charset="-120"/>
                <a:ea typeface="標楷體" panose="03000509000000000000" pitchFamily="65" charset="-120"/>
              </a:rPr>
              <a:t>舉例：報告中應包括具體的引述，如「許多參與者認為，提供家務互助服務會極大地提升社區成員的生活質量。」</a:t>
            </a:r>
          </a:p>
        </p:txBody>
      </p:sp>
    </p:spTree>
    <p:extLst>
      <p:ext uri="{BB962C8B-B14F-4D97-AF65-F5344CB8AC3E}">
        <p14:creationId xmlns:p14="http://schemas.microsoft.com/office/powerpoint/2010/main" val="248362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1066800" y="609600"/>
            <a:ext cx="7315200" cy="4431983"/>
          </a:xfrm>
        </p:spPr>
        <p:txBody>
          <a:bodyPr/>
          <a:lstStyle/>
          <a:p>
            <a:r>
              <a:rPr lang="en-US" altLang="zh-TW" sz="3200" kern="1200" spc="5" dirty="0">
                <a:latin typeface="標楷體" panose="03000509000000000000" pitchFamily="65" charset="-120"/>
                <a:ea typeface="標楷體" panose="03000509000000000000" pitchFamily="65" charset="-120"/>
              </a:rPr>
              <a:t>3.3 </a:t>
            </a:r>
            <a:r>
              <a:rPr lang="zh-TW" altLang="en-US" sz="3200" kern="1200" spc="5" dirty="0">
                <a:latin typeface="標楷體" panose="03000509000000000000" pitchFamily="65" charset="-120"/>
                <a:ea typeface="標楷體" panose="03000509000000000000" pitchFamily="65" charset="-120"/>
              </a:rPr>
              <a:t>後續行動計劃</a:t>
            </a:r>
          </a:p>
          <a:p>
            <a:endParaRPr lang="zh-TW" altLang="en-US" sz="3200" kern="1200" spc="5" dirty="0">
              <a:latin typeface="標楷體" panose="03000509000000000000" pitchFamily="65" charset="-120"/>
              <a:ea typeface="標楷體" panose="03000509000000000000" pitchFamily="65" charset="-120"/>
            </a:endParaRPr>
          </a:p>
          <a:p>
            <a:endParaRPr lang="en-US" altLang="zh-TW" sz="3200" kern="1200" spc="5" dirty="0" smtClean="0">
              <a:latin typeface="標楷體" panose="03000509000000000000" pitchFamily="65" charset="-120"/>
              <a:ea typeface="標楷體" panose="03000509000000000000" pitchFamily="65" charset="-120"/>
            </a:endParaRPr>
          </a:p>
          <a:p>
            <a:r>
              <a:rPr lang="zh-TW" altLang="en-US" sz="3200" kern="1200" spc="5" dirty="0" smtClean="0">
                <a:latin typeface="標楷體" panose="03000509000000000000" pitchFamily="65" charset="-120"/>
                <a:ea typeface="標楷體" panose="03000509000000000000" pitchFamily="65" charset="-120"/>
              </a:rPr>
              <a:t>操作</a:t>
            </a:r>
            <a:r>
              <a:rPr lang="zh-TW" altLang="en-US" sz="3200" kern="1200" spc="5" dirty="0">
                <a:latin typeface="標楷體" panose="03000509000000000000" pitchFamily="65" charset="-120"/>
                <a:ea typeface="標楷體" panose="03000509000000000000" pitchFamily="65" charset="-120"/>
              </a:rPr>
              <a:t>細節：根據討論結果，制定具體的後續行動計劃，如調整時間銀行的設計或進行進一步的社區調查。</a:t>
            </a:r>
          </a:p>
          <a:p>
            <a:r>
              <a:rPr lang="zh-TW" altLang="en-US" sz="3200" kern="1200" spc="5" dirty="0">
                <a:latin typeface="標楷體" panose="03000509000000000000" pitchFamily="65" charset="-120"/>
                <a:ea typeface="標楷體" panose="03000509000000000000" pitchFamily="65" charset="-120"/>
              </a:rPr>
              <a:t>舉例：如果工作坊結果顯示社區成員對某些服務的需求特別高，後續可以專注於這些服務的開發和推廣。</a:t>
            </a:r>
          </a:p>
        </p:txBody>
      </p:sp>
    </p:spTree>
    <p:extLst>
      <p:ext uri="{BB962C8B-B14F-4D97-AF65-F5344CB8AC3E}">
        <p14:creationId xmlns:p14="http://schemas.microsoft.com/office/powerpoint/2010/main" val="40459872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9144000" cy="6800850"/>
          </a:xfrm>
          <a:prstGeom prst="rect">
            <a:avLst/>
          </a:prstGeom>
        </p:spPr>
      </p:pic>
    </p:spTree>
    <p:extLst>
      <p:ext uri="{BB962C8B-B14F-4D97-AF65-F5344CB8AC3E}">
        <p14:creationId xmlns:p14="http://schemas.microsoft.com/office/powerpoint/2010/main" val="12763736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5875">
              <a:lnSpc>
                <a:spcPct val="100000"/>
              </a:lnSpc>
              <a:spcBef>
                <a:spcPts val="105"/>
              </a:spcBef>
            </a:pPr>
            <a:r>
              <a:rPr dirty="0">
                <a:latin typeface="標楷體" panose="03000509000000000000" pitchFamily="65" charset="-120"/>
                <a:ea typeface="標楷體" panose="03000509000000000000" pitchFamily="65" charset="-120"/>
              </a:rPr>
              <a:t>結語</a:t>
            </a:r>
          </a:p>
        </p:txBody>
      </p:sp>
      <p:pic>
        <p:nvPicPr>
          <p:cNvPr id="3" name="object 3"/>
          <p:cNvPicPr/>
          <p:nvPr/>
        </p:nvPicPr>
        <p:blipFill>
          <a:blip r:embed="rId2" cstate="print"/>
          <a:stretch>
            <a:fillRect/>
          </a:stretch>
        </p:blipFill>
        <p:spPr>
          <a:xfrm>
            <a:off x="1196251" y="1556727"/>
            <a:ext cx="2943733" cy="4320540"/>
          </a:xfrm>
          <a:prstGeom prst="rect">
            <a:avLst/>
          </a:prstGeom>
        </p:spPr>
      </p:pic>
      <p:sp>
        <p:nvSpPr>
          <p:cNvPr id="4" name="object 4"/>
          <p:cNvSpPr txBox="1"/>
          <p:nvPr/>
        </p:nvSpPr>
        <p:spPr>
          <a:xfrm>
            <a:off x="4507484" y="1300048"/>
            <a:ext cx="3455035" cy="4829527"/>
          </a:xfrm>
          <a:prstGeom prst="rect">
            <a:avLst/>
          </a:prstGeom>
        </p:spPr>
        <p:txBody>
          <a:bodyPr vert="horz" wrap="square" lIns="0" tIns="12700" rIns="0" bIns="0" rtlCol="0">
            <a:spAutoFit/>
          </a:bodyPr>
          <a:lstStyle/>
          <a:p>
            <a:pPr marL="12700" marR="386080">
              <a:lnSpc>
                <a:spcPct val="100000"/>
              </a:lnSpc>
              <a:spcBef>
                <a:spcPts val="100"/>
              </a:spcBef>
            </a:pPr>
            <a:r>
              <a:rPr sz="3000" spc="-5" dirty="0">
                <a:latin typeface="標楷體" panose="03000509000000000000" pitchFamily="65" charset="-120"/>
                <a:ea typeface="標楷體" panose="03000509000000000000" pitchFamily="65" charset="-120"/>
                <a:cs typeface="SimSun"/>
              </a:rPr>
              <a:t>關於人與人的互助 </a:t>
            </a:r>
            <a:r>
              <a:rPr sz="3000" dirty="0">
                <a:latin typeface="標楷體" panose="03000509000000000000" pitchFamily="65" charset="-120"/>
                <a:ea typeface="標楷體" panose="03000509000000000000" pitchFamily="65" charset="-120"/>
                <a:cs typeface="SimSun"/>
              </a:rPr>
              <a:t>或者說共創幸福</a:t>
            </a:r>
          </a:p>
          <a:p>
            <a:pPr marL="12700" marR="5080">
              <a:lnSpc>
                <a:spcPts val="2880"/>
              </a:lnSpc>
              <a:spcBef>
                <a:spcPts val="695"/>
              </a:spcBef>
            </a:pPr>
            <a:r>
              <a:rPr sz="3000" dirty="0">
                <a:latin typeface="標楷體" panose="03000509000000000000" pitchFamily="65" charset="-120"/>
                <a:ea typeface="標楷體" panose="03000509000000000000" pitchFamily="65" charset="-120"/>
                <a:cs typeface="SimSun"/>
              </a:rPr>
              <a:t>不必僅限於某一種絕 對的方法…</a:t>
            </a:r>
          </a:p>
          <a:p>
            <a:pPr marL="12700">
              <a:lnSpc>
                <a:spcPct val="100000"/>
              </a:lnSpc>
              <a:spcBef>
                <a:spcPts val="30"/>
              </a:spcBef>
            </a:pPr>
            <a:r>
              <a:rPr sz="3000" dirty="0">
                <a:latin typeface="標楷體" panose="03000509000000000000" pitchFamily="65" charset="-120"/>
                <a:ea typeface="標楷體" panose="03000509000000000000" pitchFamily="65" charset="-120"/>
                <a:cs typeface="SimSun"/>
              </a:rPr>
              <a:t>人與人的</a:t>
            </a:r>
            <a:r>
              <a:rPr sz="3000" dirty="0">
                <a:solidFill>
                  <a:srgbClr val="C00000"/>
                </a:solidFill>
                <a:latin typeface="標楷體" panose="03000509000000000000" pitchFamily="65" charset="-120"/>
                <a:ea typeface="標楷體" panose="03000509000000000000" pitchFamily="65" charset="-120"/>
                <a:cs typeface="SimSun"/>
              </a:rPr>
              <a:t>攜手</a:t>
            </a:r>
            <a:endParaRPr sz="3000" dirty="0">
              <a:latin typeface="標楷體" panose="03000509000000000000" pitchFamily="65" charset="-120"/>
              <a:ea typeface="標楷體" panose="03000509000000000000" pitchFamily="65" charset="-120"/>
              <a:cs typeface="SimSun"/>
            </a:endParaRPr>
          </a:p>
          <a:p>
            <a:pPr marL="12700" marR="386080">
              <a:lnSpc>
                <a:spcPct val="100000"/>
              </a:lnSpc>
            </a:pPr>
            <a:r>
              <a:rPr sz="3000" dirty="0">
                <a:latin typeface="標楷體" panose="03000509000000000000" pitchFamily="65" charset="-120"/>
                <a:ea typeface="標楷體" panose="03000509000000000000" pitchFamily="65" charset="-120"/>
                <a:cs typeface="SimSun"/>
              </a:rPr>
              <a:t>方法與方法的</a:t>
            </a:r>
            <a:r>
              <a:rPr sz="3000" dirty="0">
                <a:solidFill>
                  <a:srgbClr val="C00000"/>
                </a:solidFill>
                <a:latin typeface="標楷體" panose="03000509000000000000" pitchFamily="65" charset="-120"/>
                <a:ea typeface="標楷體" panose="03000509000000000000" pitchFamily="65" charset="-120"/>
                <a:cs typeface="SimSun"/>
              </a:rPr>
              <a:t>兼容 </a:t>
            </a:r>
            <a:r>
              <a:rPr sz="3000" dirty="0">
                <a:latin typeface="標楷體" panose="03000509000000000000" pitchFamily="65" charset="-120"/>
                <a:ea typeface="標楷體" panose="03000509000000000000" pitchFamily="65" charset="-120"/>
                <a:cs typeface="SimSun"/>
              </a:rPr>
              <a:t>都值得期待</a:t>
            </a:r>
          </a:p>
          <a:p>
            <a:pPr marL="12700" marR="5080">
              <a:lnSpc>
                <a:spcPts val="2880"/>
              </a:lnSpc>
              <a:spcBef>
                <a:spcPts val="695"/>
              </a:spcBef>
            </a:pPr>
            <a:r>
              <a:rPr sz="3000" dirty="0">
                <a:latin typeface="標楷體" panose="03000509000000000000" pitchFamily="65" charset="-120"/>
                <a:ea typeface="標楷體" panose="03000509000000000000" pitchFamily="65" charset="-120"/>
                <a:cs typeface="SimSun"/>
              </a:rPr>
              <a:t>讓我們不是世界上老 </a:t>
            </a:r>
            <a:r>
              <a:rPr sz="3000" spc="-5" dirty="0">
                <a:latin typeface="標楷體" panose="03000509000000000000" pitchFamily="65" charset="-120"/>
                <a:ea typeface="標楷體" panose="03000509000000000000" pitchFamily="65" charset="-120"/>
                <a:cs typeface="SimSun"/>
              </a:rPr>
              <a:t>的最快的國家</a:t>
            </a:r>
            <a:endParaRPr sz="3000" dirty="0">
              <a:latin typeface="標楷體" panose="03000509000000000000" pitchFamily="65" charset="-120"/>
              <a:ea typeface="標楷體" panose="03000509000000000000" pitchFamily="65" charset="-120"/>
              <a:cs typeface="SimSun"/>
            </a:endParaRPr>
          </a:p>
          <a:p>
            <a:pPr marL="12700" marR="5080">
              <a:lnSpc>
                <a:spcPct val="80000"/>
              </a:lnSpc>
              <a:spcBef>
                <a:spcPts val="750"/>
              </a:spcBef>
            </a:pPr>
            <a:r>
              <a:rPr sz="3000" dirty="0">
                <a:latin typeface="標楷體" panose="03000509000000000000" pitchFamily="65" charset="-120"/>
                <a:ea typeface="標楷體" panose="03000509000000000000" pitchFamily="65" charset="-120"/>
                <a:cs typeface="SimSun"/>
              </a:rPr>
              <a:t>而</a:t>
            </a:r>
            <a:r>
              <a:rPr sz="3000" dirty="0">
                <a:solidFill>
                  <a:srgbClr val="FF0000"/>
                </a:solidFill>
                <a:latin typeface="標楷體" panose="03000509000000000000" pitchFamily="65" charset="-120"/>
                <a:ea typeface="標楷體" panose="03000509000000000000" pitchFamily="65" charset="-120"/>
                <a:cs typeface="SimSun"/>
              </a:rPr>
              <a:t>是</a:t>
            </a:r>
            <a:r>
              <a:rPr sz="3000" dirty="0">
                <a:latin typeface="標楷體" panose="03000509000000000000" pitchFamily="65" charset="-120"/>
                <a:ea typeface="標楷體" panose="03000509000000000000" pitchFamily="65" charset="-120"/>
                <a:cs typeface="SimSun"/>
              </a:rPr>
              <a:t>全世界</a:t>
            </a:r>
            <a:r>
              <a:rPr sz="3000" dirty="0">
                <a:solidFill>
                  <a:srgbClr val="C00000"/>
                </a:solidFill>
                <a:latin typeface="標楷體" panose="03000509000000000000" pitchFamily="65" charset="-120"/>
                <a:ea typeface="標楷體" panose="03000509000000000000" pitchFamily="65" charset="-120"/>
                <a:cs typeface="SimSun"/>
              </a:rPr>
              <a:t>對長輩最 友善的圓夢樂園</a:t>
            </a:r>
            <a:endParaRPr sz="3000" dirty="0">
              <a:latin typeface="標楷體" panose="03000509000000000000" pitchFamily="65" charset="-120"/>
              <a:ea typeface="標楷體" panose="03000509000000000000" pitchFamily="65" charset="-120"/>
              <a:cs typeface="SimSu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714</TotalTime>
  <Words>1697</Words>
  <Application>Microsoft Office PowerPoint</Application>
  <PresentationFormat>如螢幕大小 (4:3)</PresentationFormat>
  <Paragraphs>179</Paragraphs>
  <Slides>52</Slides>
  <Notes>0</Notes>
  <HiddenSlides>0</HiddenSlides>
  <MMClips>0</MMClips>
  <ScaleCrop>false</ScaleCrop>
  <HeadingPairs>
    <vt:vector size="4" baseType="variant">
      <vt:variant>
        <vt:lpstr>佈景主題</vt:lpstr>
      </vt:variant>
      <vt:variant>
        <vt:i4>1</vt:i4>
      </vt:variant>
      <vt:variant>
        <vt:lpstr>投影片標題</vt:lpstr>
      </vt:variant>
      <vt:variant>
        <vt:i4>52</vt:i4>
      </vt:variant>
    </vt:vector>
  </HeadingPairs>
  <TitlesOfParts>
    <vt:vector size="53" baseType="lpstr">
      <vt:lpstr>Office Theme</vt:lpstr>
      <vt:lpstr>PowerPoint 簡報</vt:lpstr>
      <vt:lpstr>核心內涵:黃金十五年 執行策略: 1.以專長分享 再創價值     (當下新生活)  2.以興趣陪伴 共老共好     (減少不自信)   </vt:lpstr>
      <vt:lpstr>這些年台灣為何興起時間銀行?</vt:lpstr>
      <vt:lpstr>猜猜 台灣人的平均壽命?</vt:lpstr>
      <vt:lpstr>PowerPoint 簡報</vt:lpstr>
      <vt:lpstr>PowerPoint 簡報</vt:lpstr>
      <vt:lpstr> 一篇在網路被瘋傳的文章,引起…</vt:lpstr>
      <vt:lpstr>從「退休」到「退修」的黃金人生</vt:lpstr>
      <vt:lpstr>先來看看113年社工師高考作文題目所提到的時間銀行</vt:lpstr>
      <vt:lpstr>前面這段文字,我們看到了?</vt:lpstr>
      <vt:lpstr>PowerPoint 簡報</vt:lpstr>
      <vt:lpstr>衛生福利部 113 年時間銀行多元培力精進補助計畫 </vt:lpstr>
      <vt:lpstr>PowerPoint 簡報</vt:lpstr>
      <vt:lpstr> 時間銀行的3個操作概念 很重要x3</vt:lpstr>
      <vt:lpstr>Edgar S.Cahn創辦時間銀行的概念(初衷)</vt:lpstr>
      <vt:lpstr>回顧Edgar S. Cahn的生命歷程</vt:lpstr>
      <vt:lpstr>PowerPoint 簡報</vt:lpstr>
      <vt:lpstr>為何要用時間貨幣取代金錢貨幣?</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台灣  弘道基金會1995年至2023年的推動</vt:lpstr>
      <vt:lpstr>PowerPoint 簡報</vt:lpstr>
      <vt:lpstr>  享好時間銀行</vt:lpstr>
      <vt:lpstr>PowerPoint 簡報</vt:lpstr>
      <vt:lpstr>從社區發展角度看時間銀行</vt:lpstr>
      <vt:lpstr>PowerPoint 簡報</vt:lpstr>
      <vt:lpstr>時間銀行推動關鍵影響因素探討</vt:lpstr>
      <vt:lpstr>時間銀行可能的策略結合方向</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結語</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user</cp:lastModifiedBy>
  <cp:revision>62</cp:revision>
  <cp:lastPrinted>2025-01-14T00:34:58Z</cp:lastPrinted>
  <dcterms:created xsi:type="dcterms:W3CDTF">2023-10-20T03:06:40Z</dcterms:created>
  <dcterms:modified xsi:type="dcterms:W3CDTF">2026-05-11T00:07:22Z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2022-07-10T00:00:00Z</vt:filetime>
  </property>
  <property fmtid="{D5CDD505-2E9C-101B-9397-08002B2CF9AE}" pid="3" name="Creator">
    <vt:lpwstr>Microsoft® PowerPoint® 2010</vt:lpwstr>
  </property>
  <property fmtid="{D5CDD505-2E9C-101B-9397-08002B2CF9AE}" pid="4" name="LastSaved">
    <vt:filetime>2023-10-20T00:00:00Z</vt:filetime>
  </property>
</Properties>
</file>