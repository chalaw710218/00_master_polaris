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sldIdLst>
    <p:sldId id="378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8" r:id="rId31"/>
    <p:sldId id="409" r:id="rId32"/>
    <p:sldId id="410" r:id="rId33"/>
    <p:sldId id="411" r:id="rId34"/>
    <p:sldId id="412" r:id="rId35"/>
    <p:sldId id="413" r:id="rId36"/>
    <p:sldId id="407" r:id="rId3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9" autoAdjust="0"/>
    <p:restoredTop sz="94660"/>
  </p:normalViewPr>
  <p:slideViewPr>
    <p:cSldViewPr>
      <p:cViewPr varScale="1">
        <p:scale>
          <a:sx n="59" d="100"/>
          <a:sy n="59" d="100"/>
        </p:scale>
        <p:origin x="14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6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0ACFB2C-CB50-497F-AC9B-C0B2913C0FD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BDB4B8-8002-4B54-8224-2B339C78E53B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78855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kumimoji="0" lang="zh-TW" altLang="zh-TW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CB935-401D-43D6-B476-22EFDD2E0B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553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2B366-E766-498E-B595-ABC93030E0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540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D31D3-EE74-4286-B2FE-7C5109634CF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534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CFBA5-F1BC-4DDD-A189-A914A41BDC4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583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10025-57F8-47AF-8ABE-3BB1FD507D2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827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8F2B8-868A-4F75-AFE4-A9F62A763C2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5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B2B78-D6B5-4E59-88B1-51F54827137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114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6BCDB0-4E78-4454-94C9-46A9C2BE0AE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166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7C0CB5-E1B1-49E6-A125-B7C6BB41947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7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3F7D4F-A7B4-4047-8C74-CCA27A30BB6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402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778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kumimoji="0"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778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A40CA32F-5504-4807-AFED-46E6FCACDB6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kumimoji="1"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332656"/>
            <a:ext cx="7772400" cy="2028838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/>
              <a:t>社區營造</a:t>
            </a:r>
            <a:r>
              <a:rPr lang="zh-TW" altLang="en-US" dirty="0" smtClean="0"/>
              <a:t>概念及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各項發展實務介紹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66800" y="3356992"/>
            <a:ext cx="7010400" cy="1600200"/>
          </a:xfrm>
        </p:spPr>
        <p:txBody>
          <a:bodyPr/>
          <a:lstStyle/>
          <a:p>
            <a:pPr algn="ctr"/>
            <a:r>
              <a:rPr lang="zh-TW" altLang="en-US" dirty="0" smtClean="0"/>
              <a:t>國立台東專科學校</a:t>
            </a:r>
            <a:endParaRPr lang="en-US" altLang="zh-TW" dirty="0" smtClean="0"/>
          </a:p>
          <a:p>
            <a:pPr algn="ctr"/>
            <a:r>
              <a:rPr lang="zh-TW" altLang="en-US" dirty="0" smtClean="0"/>
              <a:t>蘇德銓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2888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社區營造始末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Community building, community development</a:t>
            </a:r>
            <a:r>
              <a:rPr lang="zh-TW" altLang="en-US" dirty="0" smtClean="0"/>
              <a:t>，始見於德、日</a:t>
            </a:r>
            <a:endParaRPr lang="en-US" dirty="0" smtClean="0"/>
          </a:p>
          <a:p>
            <a:r>
              <a:rPr lang="zh-TW" altLang="en-US" dirty="0" smtClean="0"/>
              <a:t>台灣首見於民國</a:t>
            </a:r>
            <a:r>
              <a:rPr lang="en-US" altLang="zh-TW" dirty="0" smtClean="0"/>
              <a:t>83</a:t>
            </a:r>
            <a:r>
              <a:rPr lang="zh-TW" altLang="en-US" dirty="0" smtClean="0"/>
              <a:t>年，</a:t>
            </a:r>
            <a:r>
              <a:rPr lang="zh-TW" altLang="en-US" b="1" dirty="0">
                <a:solidFill>
                  <a:srgbClr val="000099"/>
                </a:solidFill>
              </a:rPr>
              <a:t>文建會</a:t>
            </a:r>
            <a:r>
              <a:rPr lang="zh-TW" altLang="en-US" dirty="0" smtClean="0"/>
              <a:t>向立法院提出</a:t>
            </a:r>
            <a:endParaRPr lang="en-US" altLang="zh-TW" dirty="0" smtClean="0"/>
          </a:p>
          <a:p>
            <a:r>
              <a:rPr lang="zh-TW" altLang="en-US" dirty="0" smtClean="0"/>
              <a:t>台灣的</a:t>
            </a:r>
            <a:r>
              <a:rPr lang="zh-TW" altLang="en-US" dirty="0"/>
              <a:t>社區協力政策逐步</a:t>
            </a:r>
            <a:r>
              <a:rPr lang="zh-TW" altLang="en-US" dirty="0" smtClean="0"/>
              <a:t>由文建會擴展到其他中央部會，如環保署的「生活環境改造計畫」、經濟部的「創造形象商圈計畫」；</a:t>
            </a:r>
            <a:r>
              <a:rPr lang="en-US" altLang="zh-TW" dirty="0" smtClean="0"/>
              <a:t>2002</a:t>
            </a:r>
            <a:r>
              <a:rPr lang="zh-TW" altLang="en-US" dirty="0" smtClean="0"/>
              <a:t>年甚至整合提昇為「挑戰</a:t>
            </a:r>
            <a:r>
              <a:rPr lang="en-US" altLang="zh-TW" dirty="0" smtClean="0"/>
              <a:t>2008──</a:t>
            </a:r>
            <a:r>
              <a:rPr lang="zh-TW" altLang="en-US" dirty="0" smtClean="0"/>
              <a:t>國家發展重點計畫」中的「</a:t>
            </a:r>
            <a:r>
              <a:rPr lang="zh-TW" altLang="en-US" b="1" dirty="0">
                <a:solidFill>
                  <a:srgbClr val="000099"/>
                </a:solidFill>
              </a:rPr>
              <a:t>新故鄉營造</a:t>
            </a:r>
            <a:r>
              <a:rPr lang="zh-TW" altLang="en-US" dirty="0" smtClean="0"/>
              <a:t>計畫」。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7733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/>
          <a:srcRect l="35999" t="29492" r="8821" b="3125"/>
          <a:stretch>
            <a:fillRect/>
          </a:stretch>
        </p:blipFill>
        <p:spPr bwMode="auto">
          <a:xfrm>
            <a:off x="0" y="0"/>
            <a:ext cx="908035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橢圓 4"/>
          <p:cNvSpPr/>
          <p:nvPr/>
        </p:nvSpPr>
        <p:spPr>
          <a:xfrm>
            <a:off x="5429256" y="3857628"/>
            <a:ext cx="1428760" cy="3000372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-285784" y="357166"/>
            <a:ext cx="1428760" cy="3000372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3071802" y="571480"/>
            <a:ext cx="1857388" cy="3429024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500826" y="3286124"/>
            <a:ext cx="6880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5400" dirty="0" smtClean="0"/>
              <a:t> ＄</a:t>
            </a:r>
            <a:endParaRPr lang="zh-TW" altLang="en-US" sz="5400" dirty="0"/>
          </a:p>
        </p:txBody>
      </p:sp>
      <p:sp>
        <p:nvSpPr>
          <p:cNvPr id="10" name="矩形 9"/>
          <p:cNvSpPr/>
          <p:nvPr/>
        </p:nvSpPr>
        <p:spPr>
          <a:xfrm>
            <a:off x="6500826" y="4746508"/>
            <a:ext cx="6880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5400" dirty="0" smtClean="0"/>
              <a:t> ＄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2573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HK" dirty="0"/>
              <a:t>社區自主</a:t>
            </a:r>
            <a:r>
              <a:rPr lang="zh-TW" altLang="zh-HK" dirty="0" smtClean="0"/>
              <a:t>診斷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社造重要的五大面向盤點</a:t>
            </a:r>
            <a:endParaRPr lang="en-US" altLang="zh-TW" dirty="0" smtClean="0"/>
          </a:p>
          <a:p>
            <a:pPr lvl="1"/>
            <a:r>
              <a:rPr lang="zh-TW" altLang="en-US" dirty="0"/>
              <a:t>人文地產</a:t>
            </a:r>
            <a:r>
              <a:rPr lang="zh-TW" altLang="en-US" dirty="0" smtClean="0"/>
              <a:t>景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r>
              <a:rPr lang="zh-TW" altLang="en-US" dirty="0" smtClean="0"/>
              <a:t>社造重要的三觀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生產、生活、生態</a:t>
            </a:r>
            <a:r>
              <a:rPr lang="en-US" altLang="zh-TW" dirty="0" smtClean="0"/>
              <a:t>(</a:t>
            </a:r>
            <a:r>
              <a:rPr lang="zh-TW" altLang="en-US" dirty="0" smtClean="0"/>
              <a:t>文化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/>
          </a:p>
          <a:p>
            <a:r>
              <a:rPr lang="zh-TW" altLang="en-US" dirty="0" smtClean="0"/>
              <a:t>社造成功的歷程</a:t>
            </a:r>
            <a:endParaRPr lang="en-US" altLang="zh-TW" dirty="0" smtClean="0"/>
          </a:p>
          <a:p>
            <a:pPr lvl="1"/>
            <a:r>
              <a:rPr lang="zh-TW" altLang="en-US" dirty="0"/>
              <a:t>識</a:t>
            </a:r>
            <a:r>
              <a:rPr lang="zh-TW" altLang="en-US" dirty="0" smtClean="0"/>
              <a:t>寶、抓寶、展寶、享寶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77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HK" dirty="0"/>
              <a:t>社區自主</a:t>
            </a:r>
            <a:r>
              <a:rPr lang="zh-TW" altLang="zh-HK" dirty="0" smtClean="0"/>
              <a:t>提案</a:t>
            </a:r>
            <a:endParaRPr lang="zh-HK" altLang="en-US" dirty="0"/>
          </a:p>
        </p:txBody>
      </p:sp>
      <p:sp>
        <p:nvSpPr>
          <p:cNvPr id="3" name="內容佔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zh-TW" altLang="zh-HK" dirty="0" smtClean="0"/>
              <a:t>社</a:t>
            </a:r>
            <a:r>
              <a:rPr lang="zh-TW" altLang="zh-HK" dirty="0"/>
              <a:t>福面向：日照、關懷據點、訪視、防家暴</a:t>
            </a:r>
            <a:r>
              <a:rPr lang="en-US" altLang="zh-TW" dirty="0" smtClean="0"/>
              <a:t>........(</a:t>
            </a:r>
            <a:r>
              <a:rPr lang="zh-TW" altLang="en-US" dirty="0" smtClean="0"/>
              <a:t>照顧社區</a:t>
            </a:r>
            <a:r>
              <a:rPr lang="en-US" altLang="zh-TW" dirty="0" smtClean="0"/>
              <a:t>)</a:t>
            </a:r>
            <a:endParaRPr lang="zh-TW" altLang="zh-HK" dirty="0"/>
          </a:p>
          <a:p>
            <a:pPr lvl="1"/>
            <a:r>
              <a:rPr lang="zh-TW" altLang="zh-HK" dirty="0"/>
              <a:t>社區治安：社區巡</a:t>
            </a:r>
            <a:r>
              <a:rPr lang="zh-TW" altLang="zh-HK" dirty="0" smtClean="0"/>
              <a:t>守</a:t>
            </a:r>
            <a:r>
              <a:rPr lang="zh-TW" altLang="en-US" dirty="0" smtClean="0"/>
              <a:t>、社區林業</a:t>
            </a:r>
            <a:r>
              <a:rPr lang="en-US" altLang="zh-TW" dirty="0" smtClean="0"/>
              <a:t>(</a:t>
            </a:r>
            <a:r>
              <a:rPr lang="zh-TW" altLang="en-US" dirty="0" smtClean="0"/>
              <a:t>保護社區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/>
              <a:t>社區</a:t>
            </a:r>
            <a:r>
              <a:rPr lang="zh-TW" altLang="en-US" dirty="0" smtClean="0"/>
              <a:t>產業：社區遊程、農漁牧特色老齡、婦女、族群產業</a:t>
            </a:r>
            <a:r>
              <a:rPr lang="en-US" altLang="zh-TW" dirty="0" smtClean="0"/>
              <a:t>(</a:t>
            </a:r>
            <a:r>
              <a:rPr lang="zh-TW" altLang="en-US" dirty="0" smtClean="0"/>
              <a:t>社區閒置人力共工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景觀生態：特殊生態、地景</a:t>
            </a:r>
            <a:r>
              <a:rPr lang="en-US" altLang="zh-TW" dirty="0" smtClean="0"/>
              <a:t>(</a:t>
            </a:r>
            <a:r>
              <a:rPr lang="zh-TW" altLang="en-US" dirty="0" smtClean="0"/>
              <a:t>環教永續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文化教育：文史保存、走讀</a:t>
            </a:r>
            <a:r>
              <a:rPr lang="en-US" altLang="zh-TW" dirty="0" smtClean="0"/>
              <a:t>(</a:t>
            </a:r>
            <a:r>
              <a:rPr lang="zh-TW" altLang="en-US" dirty="0" smtClean="0"/>
              <a:t>文化永續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/>
              <a:t>其他</a:t>
            </a:r>
            <a:r>
              <a:rPr lang="en-US" altLang="zh-TW" dirty="0" smtClean="0"/>
              <a:t>(</a:t>
            </a:r>
            <a:r>
              <a:rPr lang="zh-TW" altLang="en-US" dirty="0" smtClean="0"/>
              <a:t>各社區特色目的</a:t>
            </a:r>
            <a:endParaRPr lang="en-US" altLang="zh-TW" dirty="0" smtClean="0"/>
          </a:p>
          <a:p>
            <a:pPr lvl="1"/>
            <a:endParaRPr lang="zh-TW" altLang="zh-HK" dirty="0"/>
          </a:p>
          <a:p>
            <a:endParaRPr lang="zh-TW" altLang="zh-HK" dirty="0"/>
          </a:p>
          <a:p>
            <a:endParaRPr lang="zh-TW" altLang="zh-HK" dirty="0"/>
          </a:p>
        </p:txBody>
      </p:sp>
    </p:spTree>
    <p:extLst>
      <p:ext uri="{BB962C8B-B14F-4D97-AF65-F5344CB8AC3E}">
        <p14:creationId xmlns:p14="http://schemas.microsoft.com/office/powerpoint/2010/main" val="84557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聯合國的概念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dirty="0" smtClean="0"/>
              <a:t>社區</a:t>
            </a:r>
            <a:r>
              <a:rPr lang="zh-TW" altLang="en-US" dirty="0"/>
              <a:t>是實現永續的基層</a:t>
            </a:r>
            <a:r>
              <a:rPr lang="zh-TW" altLang="en-US" dirty="0" smtClean="0"/>
              <a:t>單位為何？？？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sz="1300" dirty="0" smtClean="0"/>
          </a:p>
          <a:p>
            <a:r>
              <a:rPr lang="zh-TW" altLang="zh-TW" b="1" dirty="0"/>
              <a:t>生活方式的塑造：</a:t>
            </a:r>
            <a:r>
              <a:rPr lang="zh-TW" altLang="zh-TW" sz="2600" dirty="0"/>
              <a:t>社區不只是地理空間，也是生產永續社會關係、生活方式和在地知識的單位</a:t>
            </a:r>
            <a:r>
              <a:rPr lang="zh-TW" altLang="zh-TW" sz="2600" dirty="0" smtClean="0"/>
              <a:t>。</a:t>
            </a:r>
            <a:r>
              <a:rPr lang="en-US" altLang="zh-TW" sz="3000" b="1" dirty="0" smtClean="0"/>
              <a:t>(</a:t>
            </a:r>
            <a:r>
              <a:rPr lang="zh-TW" altLang="en-US" sz="3000" b="1" dirty="0" smtClean="0"/>
              <a:t>文化</a:t>
            </a:r>
            <a:r>
              <a:rPr lang="en-US" altLang="zh-TW" sz="3000" b="1" dirty="0" smtClean="0"/>
              <a:t>=</a:t>
            </a:r>
            <a:r>
              <a:rPr lang="zh-TW" altLang="en-US" sz="3000" b="1" dirty="0" smtClean="0"/>
              <a:t>生活的種種</a:t>
            </a:r>
            <a:r>
              <a:rPr lang="en-US" altLang="zh-TW" sz="3000" b="1" dirty="0" smtClean="0"/>
              <a:t>)</a:t>
            </a:r>
          </a:p>
          <a:p>
            <a:endParaRPr lang="zh-TW" altLang="zh-TW" sz="2600" dirty="0"/>
          </a:p>
          <a:p>
            <a:r>
              <a:rPr lang="zh-TW" altLang="zh-TW" b="1" dirty="0"/>
              <a:t>基層賦權</a:t>
            </a:r>
            <a:r>
              <a:rPr lang="en-US" altLang="zh-TW" dirty="0"/>
              <a:t> (Empowerment)</a:t>
            </a:r>
            <a:r>
              <a:rPr lang="zh-TW" altLang="zh-TW" dirty="0"/>
              <a:t>：</a:t>
            </a:r>
            <a:r>
              <a:rPr lang="zh-TW" altLang="zh-TW" sz="2600" dirty="0"/>
              <a:t>透過社區總體營造、草根人才培養，社區居民能共同面對環境與生活挑戰，實現自我治理</a:t>
            </a:r>
            <a:r>
              <a:rPr lang="zh-TW" altLang="zh-TW" sz="2600" dirty="0" smtClean="0"/>
              <a:t>。</a:t>
            </a:r>
            <a:endParaRPr lang="en-US" altLang="zh-TW" sz="2600" dirty="0" smtClean="0"/>
          </a:p>
          <a:p>
            <a:endParaRPr lang="zh-TW" altLang="zh-TW" sz="2600" dirty="0"/>
          </a:p>
          <a:p>
            <a:r>
              <a:rPr lang="zh-TW" altLang="zh-TW" b="1" dirty="0"/>
              <a:t>韌性與互相支援：</a:t>
            </a:r>
            <a:r>
              <a:rPr lang="zh-TW" altLang="zh-TW" sz="2600" dirty="0"/>
              <a:t>社區具備社會性功能，包括生產分配、社會控制、互相支援等，能夠在災害或環境變遷中保持韌性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400050" lvl="1" indent="0">
              <a:buNone/>
            </a:pPr>
            <a:endParaRPr lang="zh-TW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70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7200" b="1" dirty="0" smtClean="0"/>
              <a:t>社區總體營造</a:t>
            </a:r>
            <a:endParaRPr lang="en-US" altLang="zh-TW" sz="7200" b="1" dirty="0" smtClean="0"/>
          </a:p>
          <a:p>
            <a:pPr algn="ctr">
              <a:buNone/>
            </a:pPr>
            <a:endParaRPr lang="en-US" altLang="zh-TW" sz="7200" b="1" dirty="0"/>
          </a:p>
          <a:p>
            <a:pPr algn="ctr">
              <a:buNone/>
            </a:pPr>
            <a:endParaRPr lang="zh-TW" altLang="en-US" sz="7200" b="1" dirty="0"/>
          </a:p>
        </p:txBody>
      </p:sp>
      <p:sp>
        <p:nvSpPr>
          <p:cNvPr id="4" name="橢圓 3"/>
          <p:cNvSpPr/>
          <p:nvPr/>
        </p:nvSpPr>
        <p:spPr>
          <a:xfrm>
            <a:off x="5414970" y="1714488"/>
            <a:ext cx="1071570" cy="1000132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6343658" y="1700202"/>
            <a:ext cx="1071570" cy="1000132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 rot="19876669">
            <a:off x="3697724" y="2895393"/>
            <a:ext cx="323539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96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營</a:t>
            </a:r>
            <a:endParaRPr lang="zh-TW" altLang="en-US" sz="9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 rot="910773">
            <a:off x="6481104" y="2754398"/>
            <a:ext cx="248402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96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造</a:t>
            </a:r>
            <a:endParaRPr lang="zh-TW" altLang="en-US" sz="96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23468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社區</a:t>
            </a:r>
            <a:r>
              <a:rPr lang="en-US" altLang="zh-TW" dirty="0" smtClean="0"/>
              <a:t>(</a:t>
            </a:r>
            <a:r>
              <a:rPr lang="zh-TW" altLang="en-US" dirty="0" smtClean="0"/>
              <a:t>總體</a:t>
            </a:r>
            <a:r>
              <a:rPr lang="en-US" altLang="zh-TW" dirty="0" smtClean="0"/>
              <a:t>)</a:t>
            </a:r>
            <a:r>
              <a:rPr lang="zh-TW" altLang="en-US" dirty="0" smtClean="0"/>
              <a:t>營造概念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概念：以三概念，作為文化新思維與實務策略」。</a:t>
            </a:r>
            <a:endParaRPr lang="en-US" altLang="zh-TW" dirty="0" smtClean="0"/>
          </a:p>
          <a:p>
            <a:pPr lvl="1"/>
            <a:r>
              <a:rPr lang="zh-TW" altLang="en-US" b="1" dirty="0" smtClean="0">
                <a:solidFill>
                  <a:srgbClr val="000099"/>
                </a:solidFill>
              </a:rPr>
              <a:t>建立社區文化</a:t>
            </a:r>
            <a:endParaRPr lang="en-US" altLang="zh-TW" b="1" dirty="0" smtClean="0">
              <a:solidFill>
                <a:srgbClr val="000099"/>
              </a:solidFill>
            </a:endParaRPr>
          </a:p>
          <a:p>
            <a:pPr lvl="1"/>
            <a:r>
              <a:rPr lang="zh-TW" altLang="en-US" b="1" dirty="0" smtClean="0">
                <a:solidFill>
                  <a:srgbClr val="000099"/>
                </a:solidFill>
              </a:rPr>
              <a:t>凝聚社區共識</a:t>
            </a:r>
            <a:endParaRPr lang="en-US" altLang="zh-TW" b="1" dirty="0" smtClean="0">
              <a:solidFill>
                <a:srgbClr val="000099"/>
              </a:solidFill>
            </a:endParaRPr>
          </a:p>
          <a:p>
            <a:pPr lvl="1"/>
            <a:r>
              <a:rPr lang="zh-TW" altLang="en-US" b="1" dirty="0" smtClean="0">
                <a:solidFill>
                  <a:srgbClr val="000099"/>
                </a:solidFill>
              </a:rPr>
              <a:t>建構社區生命共同體</a:t>
            </a:r>
            <a:endParaRPr lang="en-US" altLang="zh-TW" dirty="0" smtClean="0"/>
          </a:p>
          <a:p>
            <a:r>
              <a:rPr lang="zh-TW" altLang="en-US" dirty="0" smtClean="0"/>
              <a:t>面向：整合</a:t>
            </a:r>
            <a:r>
              <a:rPr lang="zh-TW" altLang="en-US" b="1" dirty="0" smtClean="0">
                <a:solidFill>
                  <a:srgbClr val="000099"/>
                </a:solidFill>
              </a:rPr>
              <a:t>「人、文、地、景、產」</a:t>
            </a:r>
            <a:r>
              <a:rPr lang="zh-TW" altLang="en-US" dirty="0" smtClean="0"/>
              <a:t>五大社區發展面向的政策性。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255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52" y="620688"/>
            <a:ext cx="8252048" cy="5832648"/>
          </a:xfrm>
        </p:spPr>
      </p:pic>
    </p:spTree>
    <p:extLst>
      <p:ext uri="{BB962C8B-B14F-4D97-AF65-F5344CB8AC3E}">
        <p14:creationId xmlns:p14="http://schemas.microsoft.com/office/powerpoint/2010/main" val="362669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596" y="764703"/>
            <a:ext cx="8229600" cy="688547"/>
          </a:xfrm>
        </p:spPr>
        <p:txBody>
          <a:bodyPr/>
          <a:lstStyle/>
          <a:p>
            <a:pPr algn="ctr"/>
            <a:r>
              <a:rPr lang="zh-TW" altLang="en-US" b="1" dirty="0" smtClean="0">
                <a:solidFill>
                  <a:srgbClr val="000099"/>
                </a:solidFill>
              </a:rPr>
              <a:t>人、文、地、景、產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101" y="1645098"/>
            <a:ext cx="8858280" cy="4994538"/>
          </a:xfrm>
        </p:spPr>
        <p:txBody>
          <a:bodyPr>
            <a:normAutofit lnSpcReduction="10000"/>
          </a:bodyPr>
          <a:lstStyle/>
          <a:p>
            <a:pPr marL="800100" indent="-800100">
              <a:buNone/>
            </a:pPr>
            <a:r>
              <a:rPr lang="zh-TW" altLang="en-US" dirty="0" smtClean="0"/>
              <a:t>人：社區居民的需求的滿足、人際關係的經營和生活福祉之創造。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生活</a:t>
            </a:r>
            <a:r>
              <a:rPr lang="en-US" altLang="zh-TW" dirty="0" smtClean="0"/>
              <a:t>)</a:t>
            </a:r>
          </a:p>
          <a:p>
            <a:pPr marL="800100" indent="-800100">
              <a:buNone/>
            </a:pPr>
            <a:r>
              <a:rPr lang="zh-TW" altLang="en-US" dirty="0" smtClean="0"/>
              <a:t>文：社區共同歷史文化之延續，藝文活動之經營以及終身學習等。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文化</a:t>
            </a:r>
            <a:r>
              <a:rPr lang="en-US" altLang="zh-TW" dirty="0" smtClean="0"/>
              <a:t>)</a:t>
            </a:r>
          </a:p>
          <a:p>
            <a:pPr marL="800100" indent="-800100">
              <a:buNone/>
            </a:pPr>
            <a:r>
              <a:rPr lang="zh-TW" altLang="en-US" dirty="0" smtClean="0"/>
              <a:t>地：地理環境的保育與特色發揚，在地性的延續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生態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800100" indent="-800100">
              <a:buNone/>
            </a:pPr>
            <a:r>
              <a:rPr lang="zh-TW" altLang="en-US" dirty="0" smtClean="0"/>
              <a:t>產：在地產業與經濟活動集體經營，地產的創發與行銷等。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生產</a:t>
            </a:r>
            <a:r>
              <a:rPr lang="en-US" altLang="zh-TW" dirty="0" smtClean="0"/>
              <a:t>)</a:t>
            </a:r>
          </a:p>
          <a:p>
            <a:pPr marL="800100" indent="-800100">
              <a:buNone/>
            </a:pPr>
            <a:r>
              <a:rPr lang="zh-TW" altLang="en-US" dirty="0" smtClean="0"/>
              <a:t>景：社區公共空間營造、生活環境的永續經營、獨特景觀的創造、居民自力營造等。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生活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1570564" y="764703"/>
            <a:ext cx="5929354" cy="688548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019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社區營造本質與原則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是社區</a:t>
            </a:r>
            <a:r>
              <a:rPr lang="zh-TW" altLang="en-US" b="1" dirty="0" smtClean="0">
                <a:solidFill>
                  <a:srgbClr val="000099"/>
                </a:solidFill>
              </a:rPr>
              <a:t>自發性</a:t>
            </a:r>
            <a:r>
              <a:rPr lang="zh-TW" altLang="en-US" dirty="0" smtClean="0"/>
              <a:t>的行動</a:t>
            </a:r>
            <a:endParaRPr lang="en-US" altLang="zh-TW" dirty="0" smtClean="0"/>
          </a:p>
          <a:p>
            <a:r>
              <a:rPr lang="zh-TW" altLang="en-US" dirty="0" smtClean="0"/>
              <a:t>多數</a:t>
            </a:r>
            <a:r>
              <a:rPr lang="zh-TW" altLang="en-US" b="1" dirty="0" smtClean="0">
                <a:solidFill>
                  <a:srgbClr val="000099"/>
                </a:solidFill>
              </a:rPr>
              <a:t>公共議題</a:t>
            </a:r>
            <a:r>
              <a:rPr lang="zh-TW" altLang="en-US" dirty="0" smtClean="0"/>
              <a:t>的處理運用公權力或者需要公部門的補助，因此政府為了支持社區營造往往訂有特定的政策。</a:t>
            </a:r>
            <a:endParaRPr lang="en-US" altLang="zh-TW" dirty="0" smtClean="0"/>
          </a:p>
          <a:p>
            <a:r>
              <a:rPr lang="zh-TW" altLang="en-US" dirty="0" smtClean="0"/>
              <a:t> 由</a:t>
            </a:r>
            <a:r>
              <a:rPr lang="zh-TW" altLang="en-US" b="1" dirty="0" smtClean="0">
                <a:solidFill>
                  <a:srgbClr val="000099"/>
                </a:solidFill>
              </a:rPr>
              <a:t>基層到政府</a:t>
            </a:r>
            <a:r>
              <a:rPr lang="zh-TW" altLang="en-US" dirty="0" smtClean="0"/>
              <a:t>、</a:t>
            </a:r>
            <a:r>
              <a:rPr lang="zh-TW" altLang="en-US" b="1" dirty="0" smtClean="0">
                <a:solidFill>
                  <a:srgbClr val="000099"/>
                </a:solidFill>
              </a:rPr>
              <a:t>民眾參與</a:t>
            </a:r>
            <a:r>
              <a:rPr lang="zh-TW" altLang="en-US" dirty="0" smtClean="0"/>
              <a:t>、</a:t>
            </a:r>
            <a:r>
              <a:rPr lang="zh-TW" altLang="en-US" b="1" dirty="0" smtClean="0">
                <a:solidFill>
                  <a:srgbClr val="000099"/>
                </a:solidFill>
              </a:rPr>
              <a:t>社區自主</a:t>
            </a:r>
            <a:r>
              <a:rPr lang="zh-TW" altLang="en-US" dirty="0" smtClean="0"/>
              <a:t>、</a:t>
            </a:r>
            <a:r>
              <a:rPr lang="zh-TW" altLang="en-US" b="1" dirty="0" smtClean="0">
                <a:solidFill>
                  <a:srgbClr val="000099"/>
                </a:solidFill>
              </a:rPr>
              <a:t>永續發展</a:t>
            </a:r>
            <a:r>
              <a:rPr lang="zh-TW" altLang="en-US" dirty="0" smtClean="0"/>
              <a:t>等運作原則與方式，培育和凝聚社區意識。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3515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為何需要投入社區營造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zh-TW" altLang="en-US" dirty="0" smtClean="0"/>
              <a:t>宿命</a:t>
            </a:r>
            <a:r>
              <a:rPr lang="zh-TW" altLang="en-US" dirty="0"/>
              <a:t>？認命？還是經過社造這一站來按讚</a:t>
            </a:r>
          </a:p>
          <a:p>
            <a:pPr lvl="1"/>
            <a:r>
              <a:rPr lang="zh-TW" altLang="en-US" dirty="0"/>
              <a:t>家住垃圾里，你會有怎麼樣的反應？</a:t>
            </a:r>
          </a:p>
          <a:p>
            <a:pPr lvl="1"/>
            <a:r>
              <a:rPr lang="zh-TW" altLang="en-US" dirty="0"/>
              <a:t>宿命：整天怨天尤人，埋怨自己命不好，巴不得找機會快點搬走？</a:t>
            </a:r>
          </a:p>
          <a:p>
            <a:pPr lvl="1"/>
            <a:r>
              <a:rPr lang="zh-TW" altLang="en-US" dirty="0"/>
              <a:t>認命：安分認命，抱著逆來順受的心情隨遇而安？</a:t>
            </a:r>
          </a:p>
          <a:p>
            <a:pPr lvl="1"/>
            <a:r>
              <a:rPr lang="zh-TW" altLang="en-US" dirty="0"/>
              <a:t>第三種選擇，不抱怨，不默默承受，自己掌握命運方向盤，靠自己的力量改變環境，洗刷垃圾里的污名</a:t>
            </a:r>
          </a:p>
          <a:p>
            <a:pPr lvl="1"/>
            <a:r>
              <a:rPr lang="zh-TW" altLang="en-US" dirty="0"/>
              <a:t>好家</a:t>
            </a:r>
            <a:r>
              <a:rPr lang="en-US" altLang="zh-TW" dirty="0"/>
              <a:t>‧</a:t>
            </a:r>
            <a:r>
              <a:rPr lang="zh-TW" altLang="en-US" dirty="0"/>
              <a:t>在社區，幸福原來在這裡，社造讓社區有生命活力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 rot="1476570">
            <a:off x="5341035" y="5508871"/>
            <a:ext cx="1569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共識</a:t>
            </a:r>
            <a:endParaRPr lang="zh-TW" alt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 rot="20270689">
            <a:off x="2671930" y="5558136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議題</a:t>
            </a:r>
            <a:endParaRPr lang="zh-TW" alt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545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社造理念的應用</a:t>
            </a:r>
            <a:r>
              <a:rPr lang="en-US" altLang="zh-TW" b="1" dirty="0" smtClean="0"/>
              <a:t>-----</a:t>
            </a:r>
            <a:r>
              <a:rPr lang="zh-TW" altLang="en-US" b="1" dirty="0" smtClean="0"/>
              <a:t>校園改建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29915"/>
            <a:ext cx="8229600" cy="4525963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宜蘭是全國首創引進以「社區營造」理念進行「校園改建」的縣市。教育局通令改建、遷校之各校依其發展，研擬「整體規劃案」報縣核備。</a:t>
            </a:r>
          </a:p>
          <a:p>
            <a:r>
              <a:rPr lang="en-US" altLang="zh-TW" dirty="0" smtClean="0"/>
              <a:t>1992</a:t>
            </a:r>
            <a:r>
              <a:rPr lang="zh-TW" altLang="en-US" dirty="0" smtClean="0"/>
              <a:t>年縣內</a:t>
            </a:r>
            <a:r>
              <a:rPr lang="en-US" altLang="zh-TW" dirty="0" smtClean="0"/>
              <a:t>101</a:t>
            </a:r>
            <a:r>
              <a:rPr lang="zh-TW" altLang="en-US" dirty="0" smtClean="0"/>
              <a:t>所國中小以「社區參與」方式進行「校園整體規劃」，藉此讓</a:t>
            </a:r>
            <a:r>
              <a:rPr lang="zh-TW" altLang="en-US" b="1" dirty="0" smtClean="0">
                <a:solidFill>
                  <a:srgbClr val="0070C0"/>
                </a:solidFill>
              </a:rPr>
              <a:t>社區文化與特色走入校園與建築師對話</a:t>
            </a:r>
            <a:r>
              <a:rPr lang="zh-TW" altLang="en-US" dirty="0" smtClean="0"/>
              <a:t>，讓</a:t>
            </a:r>
            <a:r>
              <a:rPr lang="zh-TW" altLang="en-US" b="1" dirty="0" smtClean="0">
                <a:solidFill>
                  <a:srgbClr val="0070C0"/>
                </a:solidFill>
              </a:rPr>
              <a:t>校友、家長參與以學生為主體的校園規劃</a:t>
            </a:r>
            <a:r>
              <a:rPr lang="zh-TW" altLang="en-US" dirty="0" smtClean="0"/>
              <a:t>，美化校園景觀，並提升工程品質並營造社區特色。</a:t>
            </a:r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688689" y="1176157"/>
            <a:ext cx="264320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081466" y="4005064"/>
            <a:ext cx="121444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 rot="20917270">
            <a:off x="367675" y="584706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議題</a:t>
            </a:r>
            <a:endParaRPr lang="zh-TW" alt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 rot="21047217">
            <a:off x="2585841" y="5790940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參與</a:t>
            </a:r>
            <a:endParaRPr lang="zh-TW" alt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 rot="20768067">
            <a:off x="4816113" y="5736296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對話</a:t>
            </a:r>
            <a:endParaRPr lang="zh-TW" alt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 rot="21076764">
            <a:off x="7225674" y="5723416"/>
            <a:ext cx="1569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共識</a:t>
            </a:r>
            <a:endParaRPr lang="zh-TW" alt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719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b="1" dirty="0" smtClean="0"/>
              <a:t>跳脫框架，營造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TW" altLang="en-US" b="1" dirty="0" smtClean="0"/>
              <a:t>在社區 找出第</a:t>
            </a:r>
            <a:r>
              <a:rPr lang="en-US" altLang="zh-TW" b="1" dirty="0" smtClean="0"/>
              <a:t>N+1</a:t>
            </a:r>
            <a:r>
              <a:rPr lang="zh-TW" altLang="en-US" b="1" dirty="0" smtClean="0"/>
              <a:t>種可能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63983"/>
            <a:ext cx="8229600" cy="5179714"/>
          </a:xfrm>
        </p:spPr>
        <p:txBody>
          <a:bodyPr>
            <a:normAutofit fontScale="92500"/>
          </a:bodyPr>
          <a:lstStyle/>
          <a:p>
            <a:pPr indent="-396000" fontAlgn="base">
              <a:spcAft>
                <a:spcPts val="600"/>
              </a:spcAft>
            </a:pPr>
            <a:r>
              <a:rPr lang="zh-TW" altLang="en-US" dirty="0" smtClean="0"/>
              <a:t>為了社區循環經濟理念，北市大安區某里將街道轉角處一間鐵皮屋小倉庫設置成工具分享站，每週固定時間自行帶著修繕工具前往，在倉庫內維修各式家電器具</a:t>
            </a:r>
            <a:endParaRPr lang="en-US" altLang="zh-TW" dirty="0" smtClean="0"/>
          </a:p>
          <a:p>
            <a:pPr fontAlgn="base"/>
            <a:r>
              <a:rPr lang="zh-TW" altLang="en-US" dirty="0" smtClean="0"/>
              <a:t>漸漸地有當地居民因為好奇心而走進這裡，甚至會帶著自家器具前來詢問修繕。</a:t>
            </a:r>
            <a:endParaRPr lang="en-US" altLang="zh-TW" dirty="0" smtClean="0"/>
          </a:p>
          <a:p>
            <a:pPr fontAlgn="base"/>
            <a:r>
              <a:rPr lang="zh-TW" altLang="en-US" dirty="0" smtClean="0"/>
              <a:t>社區內的修繕達人也帶著工具加入，待在這裡專心做著自己喜歡的事。</a:t>
            </a:r>
            <a:endParaRPr lang="en-US" altLang="zh-TW" dirty="0" smtClean="0"/>
          </a:p>
          <a:p>
            <a:pPr fontAlgn="base"/>
            <a:r>
              <a:rPr lang="zh-TW" altLang="en-US" dirty="0" smtClean="0"/>
              <a:t>這倉庫成為了當地社區的情報交換站與互助站，原先冷清的工具牆也被當地居民以自家提供的工具填滿，形成另一種難得一見的景象。</a:t>
            </a:r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5124432" y="274638"/>
            <a:ext cx="1214446" cy="614590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767242" y="5150068"/>
            <a:ext cx="192882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6876256" y="5176336"/>
            <a:ext cx="121444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0306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 descr="http://ms-community.azurewebsites.net/wp-content/uploads/2021/05/2-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9112" y="0"/>
            <a:ext cx="9210458" cy="6858000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 rot="20270689">
            <a:off x="1820910" y="1871406"/>
            <a:ext cx="433054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zh-TW" sz="4400" b="1" dirty="0"/>
              <a:t>生活方式的塑造</a:t>
            </a:r>
            <a:endParaRPr lang="zh-TW" altLang="en-US" sz="4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 rot="20270689">
            <a:off x="18433" y="2227564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zh-TW" sz="4400" b="1" dirty="0"/>
              <a:t>互相支援</a:t>
            </a:r>
            <a:endParaRPr lang="zh-TW" altLang="en-US" sz="4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992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屋頂上的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1886309"/>
            <a:ext cx="8001000" cy="4757401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4675" y="764704"/>
            <a:ext cx="8001000" cy="756121"/>
          </a:xfrm>
        </p:spPr>
        <p:txBody>
          <a:bodyPr/>
          <a:lstStyle/>
          <a:p>
            <a:pPr algn="ctr"/>
            <a:r>
              <a:rPr lang="zh-TW" altLang="en-US" dirty="0" smtClean="0"/>
              <a:t>屋頂上的貓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4675" y="1772816"/>
            <a:ext cx="8229600" cy="2287156"/>
          </a:xfrm>
        </p:spPr>
        <p:txBody>
          <a:bodyPr/>
          <a:lstStyle/>
          <a:p>
            <a:r>
              <a:rPr lang="zh-TW" altLang="en-US" dirty="0" smtClean="0"/>
              <a:t>水保局輔導的社造案例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2291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貓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2" y="476672"/>
            <a:ext cx="8763061" cy="5616624"/>
          </a:xfrm>
        </p:spPr>
      </p:pic>
    </p:spTree>
    <p:extLst>
      <p:ext uri="{BB962C8B-B14F-4D97-AF65-F5344CB8AC3E}">
        <p14:creationId xmlns:p14="http://schemas.microsoft.com/office/powerpoint/2010/main" val="3206005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貓乾杯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81" y="476672"/>
            <a:ext cx="8679717" cy="5952724"/>
          </a:xfrm>
        </p:spPr>
      </p:pic>
    </p:spTree>
    <p:extLst>
      <p:ext uri="{BB962C8B-B14F-4D97-AF65-F5344CB8AC3E}">
        <p14:creationId xmlns:p14="http://schemas.microsoft.com/office/powerpoint/2010/main" val="3804349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 descr="貓釣魚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428604"/>
            <a:ext cx="8568376" cy="6024732"/>
          </a:xfrm>
        </p:spPr>
      </p:pic>
    </p:spTree>
    <p:extLst>
      <p:ext uri="{BB962C8B-B14F-4D97-AF65-F5344CB8AC3E}">
        <p14:creationId xmlns:p14="http://schemas.microsoft.com/office/powerpoint/2010/main" val="4038060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社區發展實務</a:t>
            </a:r>
            <a:r>
              <a:rPr lang="en-US" altLang="zh-TW" dirty="0" smtClean="0"/>
              <a:t>(</a:t>
            </a:r>
            <a:r>
              <a:rPr lang="zh-TW" altLang="en-US" dirty="0" smtClean="0"/>
              <a:t>三生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800100" indent="-800100">
              <a:buNone/>
            </a:pPr>
            <a:r>
              <a:rPr lang="zh-TW" altLang="en-US" dirty="0" smtClean="0"/>
              <a:t>人：居民需求滿足、人際關係的經營和生活福祉之創造。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生活</a:t>
            </a:r>
            <a:r>
              <a:rPr lang="en-US" altLang="zh-TW" dirty="0" smtClean="0"/>
              <a:t>)</a:t>
            </a:r>
          </a:p>
          <a:p>
            <a:pPr marL="800100" indent="-800100">
              <a:buNone/>
            </a:pPr>
            <a:r>
              <a:rPr lang="zh-TW" altLang="en-US" dirty="0" smtClean="0"/>
              <a:t>文：社區共同歷史文化之延續，藝文活動之經營以及終身學習等。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文化</a:t>
            </a:r>
            <a:r>
              <a:rPr lang="en-US" altLang="zh-TW" dirty="0" smtClean="0"/>
              <a:t>)</a:t>
            </a:r>
          </a:p>
          <a:p>
            <a:pPr marL="800100" indent="-800100">
              <a:buNone/>
            </a:pPr>
            <a:r>
              <a:rPr lang="zh-TW" altLang="en-US" dirty="0" smtClean="0"/>
              <a:t>地：地理環境的保育與特色發揚，在地性的延續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生態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800100" indent="-800100">
              <a:buNone/>
            </a:pPr>
            <a:r>
              <a:rPr lang="zh-TW" altLang="en-US" dirty="0" smtClean="0"/>
              <a:t>產：在地產業與經濟活動集體經營，地產的創發與行銷等。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生產</a:t>
            </a:r>
            <a:r>
              <a:rPr lang="en-US" altLang="zh-TW" dirty="0" smtClean="0"/>
              <a:t>)</a:t>
            </a:r>
          </a:p>
          <a:p>
            <a:pPr marL="800100" indent="-800100">
              <a:buNone/>
            </a:pPr>
            <a:r>
              <a:rPr lang="zh-TW" altLang="en-US" dirty="0" smtClean="0"/>
              <a:t>景：社區公共空間營造、生活環境的永續經營、獨特景觀的創造、居民自力營造等。</a:t>
            </a:r>
            <a:r>
              <a:rPr lang="en-US" altLang="zh-TW" dirty="0" smtClean="0"/>
              <a:t>(</a:t>
            </a:r>
            <a:r>
              <a:rPr lang="zh-TW" altLang="en-US" dirty="0" smtClean="0"/>
              <a:t>生活</a:t>
            </a:r>
            <a:r>
              <a:rPr lang="en-US" altLang="zh-TW" dirty="0" smtClean="0"/>
              <a:t>)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 rot="5400000">
            <a:off x="-2357503" y="2857480"/>
            <a:ext cx="5929354" cy="928726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7286644" y="5143512"/>
            <a:ext cx="1357322" cy="642942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214414" y="3429000"/>
            <a:ext cx="1357322" cy="642942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3071802" y="4286256"/>
            <a:ext cx="1357322" cy="642942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6418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社區永續發展實務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b="1" dirty="0" smtClean="0"/>
              <a:t>個人的永續成長─</a:t>
            </a:r>
            <a:r>
              <a:rPr lang="zh-TW" altLang="en-US" dirty="0" smtClean="0"/>
              <a:t>社區公民意識的養成與培訓工作，推展讓個人、團體、社群到社區有力量與能力參與公共事務。</a:t>
            </a:r>
          </a:p>
          <a:p>
            <a:r>
              <a:rPr lang="zh-TW" altLang="en-US" b="1" dirty="0" smtClean="0"/>
              <a:t>社區組織的永續經營─</a:t>
            </a:r>
            <a:r>
              <a:rPr lang="zh-TW" altLang="en-US" dirty="0" smtClean="0"/>
              <a:t>社區意識的形成→社區組織與動員→尋找資源</a:t>
            </a:r>
            <a:r>
              <a:rPr lang="en-US" altLang="zh-TW" dirty="0" smtClean="0"/>
              <a:t>(</a:t>
            </a:r>
            <a:r>
              <a:rPr lang="zh-TW" altLang="en-US" dirty="0" smtClean="0"/>
              <a:t>物資、人脈、公部門資源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環境文化的永續營造─</a:t>
            </a:r>
            <a:r>
              <a:rPr lang="zh-TW" altLang="en-US" b="1" dirty="0" smtClean="0"/>
              <a:t>公共事務議題討論</a:t>
            </a:r>
            <a:r>
              <a:rPr lang="zh-TW" altLang="en-US" dirty="0" smtClean="0"/>
              <a:t>、改變解決，持續推展議題→產生認同→負面問題轉化為正面資產</a:t>
            </a:r>
          </a:p>
          <a:p>
            <a:r>
              <a:rPr lang="zh-TW" altLang="en-US" b="1" dirty="0" smtClean="0"/>
              <a:t>政府政策的永續推展─</a:t>
            </a:r>
            <a:r>
              <a:rPr lang="zh-TW" altLang="en-US" dirty="0" smtClean="0"/>
              <a:t>與各級政府單位成為夥伴關係，創造信任，引導社區營造。</a:t>
            </a:r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642909" y="1428736"/>
            <a:ext cx="1201959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642910" y="2643182"/>
            <a:ext cx="192882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4283968" y="3903560"/>
            <a:ext cx="3528392" cy="532990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714348" y="4929198"/>
            <a:ext cx="1130520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 rot="20560044">
            <a:off x="173307" y="221116"/>
            <a:ext cx="1569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造人</a:t>
            </a:r>
            <a:endParaRPr lang="zh-TW" alt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529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8514" y="1095031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zh-TW" altLang="en-US" sz="4000" dirty="0" smtClean="0"/>
              <a:t>       社造如何由大到小</a:t>
            </a:r>
            <a:r>
              <a:rPr lang="en-US" altLang="zh-TW" sz="4000" dirty="0" smtClean="0"/>
              <a:t/>
            </a:r>
            <a:br>
              <a:rPr lang="en-US" altLang="zh-TW" sz="4000" dirty="0" smtClean="0"/>
            </a:br>
            <a:r>
              <a:rPr lang="en-US" altLang="zh-TW" sz="4000" dirty="0" smtClean="0"/>
              <a:t>                         </a:t>
            </a:r>
            <a:r>
              <a:rPr lang="zh-TW" altLang="en-US" sz="4000" dirty="0" smtClean="0"/>
              <a:t>分面向階段進行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560" y="2636912"/>
            <a:ext cx="8229600" cy="2880320"/>
          </a:xfrm>
        </p:spPr>
        <p:txBody>
          <a:bodyPr/>
          <a:lstStyle/>
          <a:p>
            <a:pPr marL="0" indent="0" algn="ctr">
              <a:buNone/>
            </a:pPr>
            <a:r>
              <a:rPr lang="zh-TW" altLang="en-US" sz="3600" dirty="0" smtClean="0"/>
              <a:t>國家角色？</a:t>
            </a:r>
            <a:endParaRPr lang="en-US" altLang="zh-TW" sz="3600" dirty="0" smtClean="0"/>
          </a:p>
          <a:p>
            <a:pPr marL="0" indent="0" algn="ctr">
              <a:buNone/>
            </a:pPr>
            <a:r>
              <a:rPr lang="zh-TW" altLang="en-US" sz="3600" dirty="0" smtClean="0"/>
              <a:t>社區角色？</a:t>
            </a:r>
            <a:endParaRPr lang="en-US" altLang="zh-TW" sz="3600" dirty="0" smtClean="0"/>
          </a:p>
          <a:p>
            <a:pPr marL="0" indent="0" algn="ctr">
              <a:buNone/>
            </a:pPr>
            <a:r>
              <a:rPr lang="zh-TW" altLang="en-US" sz="3600" dirty="0" smtClean="0"/>
              <a:t>人民角色？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0691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9003" y="391187"/>
            <a:ext cx="8001000" cy="756121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國家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114650"/>
            <a:ext cx="8643998" cy="5257800"/>
          </a:xfrm>
        </p:spPr>
        <p:txBody>
          <a:bodyPr>
            <a:noAutofit/>
          </a:bodyPr>
          <a:lstStyle/>
          <a:p>
            <a:pPr marL="620713" lvl="2" indent="-539750"/>
            <a:r>
              <a:rPr lang="zh-TW" altLang="en-US" sz="3200" b="1" dirty="0" smtClean="0">
                <a:solidFill>
                  <a:srgbClr val="0070C0"/>
                </a:solidFill>
              </a:rPr>
              <a:t>政府</a:t>
            </a:r>
            <a:r>
              <a:rPr lang="zh-TW" altLang="en-US" sz="3200" b="1" dirty="0">
                <a:solidFill>
                  <a:srgbClr val="0070C0"/>
                </a:solidFill>
              </a:rPr>
              <a:t>不再</a:t>
            </a:r>
            <a:r>
              <a:rPr lang="zh-TW" altLang="en-US" sz="3200" b="1" dirty="0" smtClean="0">
                <a:solidFill>
                  <a:srgbClr val="0070C0"/>
                </a:solidFill>
              </a:rPr>
              <a:t>萬能</a:t>
            </a:r>
            <a:r>
              <a:rPr lang="zh-TW" altLang="en-US" sz="3200" dirty="0" smtClean="0"/>
              <a:t>，民主失序下行政</a:t>
            </a:r>
            <a:r>
              <a:rPr lang="zh-TW" altLang="en-US" sz="3200" dirty="0"/>
              <a:t>效能不彰</a:t>
            </a:r>
            <a:r>
              <a:rPr lang="zh-TW" altLang="en-US" sz="3200" dirty="0" smtClean="0"/>
              <a:t>，暫時</a:t>
            </a:r>
            <a:r>
              <a:rPr lang="zh-TW" altLang="en-US" sz="3200" dirty="0"/>
              <a:t>無法透過既有國家機制徹底解決。</a:t>
            </a:r>
          </a:p>
          <a:p>
            <a:pPr marL="620713" lvl="2" indent="-539750"/>
            <a:r>
              <a:rPr lang="zh-TW" altLang="en-US" sz="3200" dirty="0" smtClean="0"/>
              <a:t>政府</a:t>
            </a:r>
            <a:r>
              <a:rPr lang="zh-TW" altLang="en-US" sz="3200" dirty="0"/>
              <a:t>公務理性思維關注整體數字，重視執行時效，較無法關注人民感受</a:t>
            </a:r>
          </a:p>
          <a:p>
            <a:pPr marL="620713" lvl="2" indent="-539750"/>
            <a:r>
              <a:rPr lang="zh-TW" altLang="en-US" sz="3200" dirty="0" smtClean="0"/>
              <a:t>社</a:t>
            </a:r>
            <a:r>
              <a:rPr lang="zh-TW" altLang="en-US" sz="3200" dirty="0"/>
              <a:t>造成為</a:t>
            </a:r>
            <a:r>
              <a:rPr lang="zh-TW" altLang="en-US" sz="3200" b="1" dirty="0">
                <a:solidFill>
                  <a:srgbClr val="0070C0"/>
                </a:solidFill>
              </a:rPr>
              <a:t>居民可操作</a:t>
            </a:r>
            <a:r>
              <a:rPr lang="zh-TW" altLang="en-US" sz="3200" dirty="0"/>
              <a:t>，</a:t>
            </a:r>
            <a:r>
              <a:rPr lang="zh-TW" altLang="en-US" sz="3200" b="1" dirty="0">
                <a:solidFill>
                  <a:srgbClr val="0070C0"/>
                </a:solidFill>
              </a:rPr>
              <a:t>政府可引</a:t>
            </a:r>
            <a:r>
              <a:rPr lang="zh-TW" altLang="en-US" sz="3200" dirty="0"/>
              <a:t>導的道路</a:t>
            </a:r>
            <a:r>
              <a:rPr lang="zh-TW" altLang="en-US" sz="3200" dirty="0" smtClean="0"/>
              <a:t>。</a:t>
            </a:r>
            <a:endParaRPr lang="en-US" altLang="zh-TW" sz="3200" dirty="0" smtClean="0"/>
          </a:p>
          <a:p>
            <a:pPr marL="620713" lvl="2" indent="-539750"/>
            <a:r>
              <a:rPr lang="zh-TW" altLang="en-US" sz="3200" dirty="0" smtClean="0"/>
              <a:t>社</a:t>
            </a:r>
            <a:r>
              <a:rPr lang="zh-TW" altLang="en-US" sz="3200" dirty="0"/>
              <a:t>造重建</a:t>
            </a:r>
            <a:r>
              <a:rPr lang="zh-TW" altLang="en-US" sz="3200" b="1" dirty="0">
                <a:solidFill>
                  <a:srgbClr val="0070C0"/>
                </a:solidFill>
              </a:rPr>
              <a:t>國家與社區的夥伴關係</a:t>
            </a:r>
            <a:endParaRPr lang="en-US" altLang="zh-TW" sz="3200" b="1" dirty="0">
              <a:solidFill>
                <a:srgbClr val="0070C0"/>
              </a:solidFill>
            </a:endParaRPr>
          </a:p>
          <a:p>
            <a:pPr marL="620713" lvl="2" indent="-539750"/>
            <a:r>
              <a:rPr lang="zh-TW" altLang="en-US" sz="3200" dirty="0" smtClean="0"/>
              <a:t>面對</a:t>
            </a:r>
            <a:r>
              <a:rPr lang="zh-TW" altLang="en-US" sz="3200" dirty="0"/>
              <a:t>環境</a:t>
            </a:r>
            <a:r>
              <a:rPr lang="zh-TW" altLang="en-US" sz="3200" dirty="0" smtClean="0"/>
              <a:t>改變，</a:t>
            </a:r>
            <a:r>
              <a:rPr lang="zh-TW" altLang="en-US" sz="3200" b="1" dirty="0">
                <a:solidFill>
                  <a:srgbClr val="0070C0"/>
                </a:solidFill>
              </a:rPr>
              <a:t>社造是先進</a:t>
            </a:r>
            <a:r>
              <a:rPr lang="zh-TW" altLang="en-US" sz="3200" b="1" dirty="0" smtClean="0">
                <a:solidFill>
                  <a:srgbClr val="0070C0"/>
                </a:solidFill>
              </a:rPr>
              <a:t>國家重要政策</a:t>
            </a:r>
            <a:r>
              <a:rPr lang="zh-TW" altLang="en-US" sz="3200" dirty="0" smtClean="0"/>
              <a:t>，</a:t>
            </a:r>
            <a:r>
              <a:rPr lang="zh-TW" altLang="en-US" sz="3200" b="1" dirty="0" smtClean="0">
                <a:solidFill>
                  <a:srgbClr val="0070C0"/>
                </a:solidFill>
              </a:rPr>
              <a:t>政策</a:t>
            </a:r>
            <a:r>
              <a:rPr lang="zh-TW" altLang="en-US" sz="3200" b="1" dirty="0">
                <a:solidFill>
                  <a:srgbClr val="0070C0"/>
                </a:solidFill>
              </a:rPr>
              <a:t>宏觀</a:t>
            </a:r>
            <a:r>
              <a:rPr lang="zh-TW" altLang="en-US" sz="3200" b="1" dirty="0" smtClean="0">
                <a:solidFill>
                  <a:srgbClr val="0070C0"/>
                </a:solidFill>
              </a:rPr>
              <a:t>引導，增加社區視野</a:t>
            </a:r>
            <a:endParaRPr lang="zh-TW" altLang="en-US" sz="3200" b="1" dirty="0">
              <a:solidFill>
                <a:srgbClr val="0070C0"/>
              </a:solidFill>
            </a:endParaRPr>
          </a:p>
          <a:p>
            <a:pPr marL="620713" lvl="2" indent="-539750"/>
            <a:r>
              <a:rPr lang="zh-TW" altLang="en-US" sz="3200" dirty="0"/>
              <a:t>帶領更</a:t>
            </a:r>
            <a:r>
              <a:rPr lang="zh-TW" altLang="en-US" sz="3200" dirty="0" smtClean="0"/>
              <a:t>多社區</a:t>
            </a:r>
            <a:r>
              <a:rPr lang="zh-TW" altLang="en-US" sz="3200" dirty="0"/>
              <a:t>進入社</a:t>
            </a:r>
            <a:r>
              <a:rPr lang="zh-TW" altLang="en-US" sz="3200" dirty="0" smtClean="0"/>
              <a:t>造，進行</a:t>
            </a:r>
            <a:r>
              <a:rPr lang="zh-TW" altLang="en-US" sz="3200" dirty="0"/>
              <a:t>內部幹部訓練，強化組織運作</a:t>
            </a:r>
            <a:r>
              <a:rPr lang="zh-TW" altLang="en-US" sz="3200" dirty="0" smtClean="0"/>
              <a:t>，激發</a:t>
            </a:r>
            <a:r>
              <a:rPr lang="zh-TW" altLang="en-US" sz="3200" dirty="0"/>
              <a:t>在地共同情感。</a:t>
            </a:r>
          </a:p>
          <a:p>
            <a:pPr marL="620713" indent="-539750"/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8704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社區：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lvl="1"/>
            <a:r>
              <a:rPr lang="zh-TW" altLang="en-US" dirty="0" smtClean="0"/>
              <a:t>部分困境，</a:t>
            </a:r>
            <a:r>
              <a:rPr lang="zh-TW" altLang="en-US" dirty="0"/>
              <a:t>可能</a:t>
            </a:r>
            <a:r>
              <a:rPr lang="zh-TW" altLang="en-US" dirty="0" smtClean="0"/>
              <a:t>只有回歸</a:t>
            </a:r>
            <a:r>
              <a:rPr lang="zh-TW" altLang="en-US" dirty="0"/>
              <a:t>到社區的位置，才能還原問題原貌，找到真正改變的動力。</a:t>
            </a:r>
          </a:p>
          <a:p>
            <a:pPr lvl="2"/>
            <a:r>
              <a:rPr lang="zh-TW" altLang="en-US" b="1" dirty="0">
                <a:solidFill>
                  <a:srgbClr val="FF0000"/>
                </a:solidFill>
              </a:rPr>
              <a:t>啟始</a:t>
            </a:r>
            <a:r>
              <a:rPr lang="zh-TW" altLang="en-US" dirty="0"/>
              <a:t>：「自助</a:t>
            </a:r>
            <a:r>
              <a:rPr lang="zh-TW" altLang="en-US" dirty="0" smtClean="0"/>
              <a:t>互助人</a:t>
            </a:r>
            <a:r>
              <a:rPr lang="zh-TW" altLang="en-US" dirty="0"/>
              <a:t>助」</a:t>
            </a:r>
            <a:r>
              <a:rPr lang="zh-TW" altLang="en-US" dirty="0" smtClean="0"/>
              <a:t>，以共利出發</a:t>
            </a:r>
            <a:r>
              <a:rPr lang="zh-TW" altLang="en-US" dirty="0"/>
              <a:t>，提出明確、清楚、易懂的訴求和目標</a:t>
            </a:r>
            <a:r>
              <a:rPr lang="zh-TW" altLang="en-US" dirty="0" smtClean="0"/>
              <a:t>，居民</a:t>
            </a:r>
            <a:r>
              <a:rPr lang="zh-TW" altLang="en-US" dirty="0"/>
              <a:t>共同努力，還要</a:t>
            </a:r>
            <a:r>
              <a:rPr lang="zh-TW" altLang="en-US" dirty="0" smtClean="0"/>
              <a:t>制訂公約供共同</a:t>
            </a:r>
            <a:r>
              <a:rPr lang="zh-TW" altLang="en-US" dirty="0"/>
              <a:t>遵守</a:t>
            </a:r>
          </a:p>
          <a:p>
            <a:pPr lvl="2"/>
            <a:r>
              <a:rPr lang="zh-TW" altLang="en-US" b="1" dirty="0">
                <a:solidFill>
                  <a:srgbClr val="FF0000"/>
                </a:solidFill>
              </a:rPr>
              <a:t>永續</a:t>
            </a:r>
            <a:r>
              <a:rPr lang="zh-TW" altLang="en-US" dirty="0" smtClean="0"/>
              <a:t>：建立</a:t>
            </a:r>
            <a:r>
              <a:rPr lang="zh-TW" altLang="en-US" dirty="0"/>
              <a:t>文化生活的永續傳承模式，轉化在地生活經驗。</a:t>
            </a:r>
            <a:r>
              <a:rPr lang="zh-TW" altLang="en-US" dirty="0" smtClean="0"/>
              <a:t>透過紀錄、刊物、文史</a:t>
            </a:r>
            <a:r>
              <a:rPr lang="zh-TW" altLang="en-US" dirty="0"/>
              <a:t>、</a:t>
            </a:r>
            <a:r>
              <a:rPr lang="zh-TW" altLang="en-US" dirty="0" smtClean="0"/>
              <a:t>社藝、劇場、遊學，將傳統</a:t>
            </a:r>
            <a:r>
              <a:rPr lang="zh-TW" altLang="en-US" dirty="0"/>
              <a:t>文化的熱情，重新激勵在地生氣。</a:t>
            </a:r>
          </a:p>
          <a:p>
            <a:pPr lvl="2"/>
            <a:r>
              <a:rPr lang="zh-TW" altLang="en-US" b="1" dirty="0">
                <a:solidFill>
                  <a:srgbClr val="FF0000"/>
                </a:solidFill>
              </a:rPr>
              <a:t>創新</a:t>
            </a:r>
            <a:r>
              <a:rPr lang="zh-TW" altLang="en-US" dirty="0"/>
              <a:t>：開創在地</a:t>
            </a:r>
            <a:r>
              <a:rPr lang="zh-TW" altLang="en-US" dirty="0" smtClean="0"/>
              <a:t>特色文化</a:t>
            </a:r>
            <a:r>
              <a:rPr lang="zh-TW" altLang="en-US" dirty="0"/>
              <a:t>觀光內涵：透過在地</a:t>
            </a:r>
            <a:r>
              <a:rPr lang="zh-TW" altLang="en-US" dirty="0" smtClean="0"/>
              <a:t>故事紀錄</a:t>
            </a:r>
            <a:r>
              <a:rPr lang="zh-TW" altLang="en-US" dirty="0"/>
              <a:t>及轉化，增加文化</a:t>
            </a:r>
            <a:r>
              <a:rPr lang="zh-TW" altLang="en-US" dirty="0" smtClean="0"/>
              <a:t>觀光創意思素</a:t>
            </a:r>
            <a:r>
              <a:rPr lang="zh-TW" altLang="en-US" dirty="0"/>
              <a:t>，</a:t>
            </a:r>
            <a:r>
              <a:rPr lang="zh-TW" altLang="en-US" dirty="0" smtClean="0"/>
              <a:t>創造具</a:t>
            </a:r>
            <a:r>
              <a:rPr lang="zh-TW" altLang="en-US" dirty="0"/>
              <a:t>臺灣魅力的文化特色</a:t>
            </a:r>
          </a:p>
          <a:p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2928926" y="2500306"/>
            <a:ext cx="1859098" cy="500066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1903141" y="3229200"/>
            <a:ext cx="857256" cy="500066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5580112" y="2500306"/>
            <a:ext cx="720080" cy="500066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228626" y="1624083"/>
            <a:ext cx="3223694" cy="500066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8109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zh-TW" altLang="en-US" sz="4400" dirty="0" smtClean="0"/>
              <a:t>國民、人民、居民、公民：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1472" y="1741278"/>
            <a:ext cx="8115328" cy="5072098"/>
          </a:xfrm>
        </p:spPr>
        <p:txBody>
          <a:bodyPr>
            <a:normAutofit/>
          </a:bodyPr>
          <a:lstStyle/>
          <a:p>
            <a:pPr marL="357505" lvl="2" indent="-171450"/>
            <a:r>
              <a:rPr lang="zh-TW" altLang="en-US" sz="2800" dirty="0" smtClean="0"/>
              <a:t>學習</a:t>
            </a:r>
            <a:r>
              <a:rPr lang="zh-TW" altLang="en-US" sz="2800" b="1" dirty="0">
                <a:solidFill>
                  <a:srgbClr val="0070C0"/>
                </a:solidFill>
              </a:rPr>
              <a:t>參與式規劃</a:t>
            </a:r>
            <a:r>
              <a:rPr lang="zh-TW" altLang="en-US" sz="2800" dirty="0"/>
              <a:t>、自主辦理社區業務，發揮民主功能</a:t>
            </a:r>
            <a:r>
              <a:rPr lang="zh-TW" altLang="en-US" sz="2800" dirty="0" smtClean="0"/>
              <a:t>，激發</a:t>
            </a:r>
            <a:r>
              <a:rPr lang="zh-TW" altLang="en-US" sz="2800" b="1" dirty="0">
                <a:solidFill>
                  <a:srgbClr val="0070C0"/>
                </a:solidFill>
              </a:rPr>
              <a:t>在地認同</a:t>
            </a:r>
            <a:r>
              <a:rPr lang="zh-TW" altLang="en-US" sz="2800" dirty="0"/>
              <a:t>情感</a:t>
            </a:r>
          </a:p>
          <a:p>
            <a:pPr marL="357505" lvl="2" indent="-171450"/>
            <a:r>
              <a:rPr lang="zh-TW" altLang="en-US" sz="2800" dirty="0" smtClean="0"/>
              <a:t>居民</a:t>
            </a:r>
            <a:r>
              <a:rPr lang="zh-TW" altLang="en-US" sz="2800" dirty="0"/>
              <a:t>更多參與</a:t>
            </a:r>
            <a:r>
              <a:rPr lang="zh-TW" altLang="en-US" sz="2800" b="1" dirty="0">
                <a:solidFill>
                  <a:srgbClr val="0070C0"/>
                </a:solidFill>
              </a:rPr>
              <a:t>公共事務</a:t>
            </a:r>
            <a:r>
              <a:rPr lang="zh-TW" altLang="en-US" sz="2800" dirty="0"/>
              <a:t>的管道</a:t>
            </a:r>
          </a:p>
          <a:p>
            <a:pPr marL="357505" lvl="2" indent="-171450"/>
            <a:r>
              <a:rPr lang="zh-TW" altLang="en-US" sz="2800" dirty="0" smtClean="0"/>
              <a:t>產業</a:t>
            </a:r>
            <a:r>
              <a:rPr lang="zh-TW" altLang="en-US" sz="2800" dirty="0"/>
              <a:t>發展、社福醫療、社區治安、人文教育、環境景觀、環保生態</a:t>
            </a:r>
            <a:r>
              <a:rPr lang="zh-TW" altLang="en-US" sz="2800" dirty="0" smtClean="0"/>
              <a:t>等強調人民參與</a:t>
            </a:r>
            <a:r>
              <a:rPr lang="zh-TW" altLang="en-US" sz="2800" dirty="0"/>
              <a:t>，漸漸轉換</a:t>
            </a:r>
            <a:r>
              <a:rPr lang="zh-TW" altLang="en-US" sz="2800" b="1" dirty="0">
                <a:solidFill>
                  <a:srgbClr val="0070C0"/>
                </a:solidFill>
              </a:rPr>
              <a:t>到居民主導</a:t>
            </a:r>
            <a:r>
              <a:rPr lang="zh-TW" altLang="en-US" sz="2800" dirty="0"/>
              <a:t>。社造的精神內化到行政之中。</a:t>
            </a:r>
          </a:p>
          <a:p>
            <a:pPr marL="357505" lvl="2" indent="-171450"/>
            <a:r>
              <a:rPr lang="zh-TW" altLang="en-US" sz="2800" b="1" dirty="0">
                <a:solidFill>
                  <a:srgbClr val="0070C0"/>
                </a:solidFill>
              </a:rPr>
              <a:t>自主管理公共事務</a:t>
            </a:r>
            <a:r>
              <a:rPr lang="zh-TW" altLang="en-US" sz="2800" dirty="0"/>
              <a:t>的操練</a:t>
            </a:r>
            <a:r>
              <a:rPr lang="zh-TW" altLang="en-US" sz="2800" dirty="0" smtClean="0"/>
              <a:t>，強化</a:t>
            </a:r>
            <a:r>
              <a:rPr lang="zh-TW" altLang="en-US" sz="2800" dirty="0"/>
              <a:t>了</a:t>
            </a:r>
            <a:r>
              <a:rPr lang="zh-TW" altLang="en-US" sz="2800" dirty="0" smtClean="0"/>
              <a:t>公民責任感，</a:t>
            </a:r>
            <a:r>
              <a:rPr lang="zh-TW" altLang="en-US" sz="2800" b="1" dirty="0">
                <a:solidFill>
                  <a:srgbClr val="0070C0"/>
                </a:solidFill>
              </a:rPr>
              <a:t>行政社造化</a:t>
            </a:r>
            <a:r>
              <a:rPr lang="zh-TW" altLang="en-US" sz="2800" dirty="0" smtClean="0"/>
              <a:t>讓政府與居民對話。</a:t>
            </a:r>
            <a:endParaRPr lang="zh-TW" altLang="en-US" sz="2800" dirty="0"/>
          </a:p>
          <a:p>
            <a:pPr marL="357505" lvl="2" indent="-171450"/>
            <a:r>
              <a:rPr lang="zh-TW" altLang="en-US" sz="2800" dirty="0"/>
              <a:t>從</a:t>
            </a:r>
            <a:r>
              <a:rPr lang="zh-TW" altLang="en-US" sz="2800" b="1" dirty="0">
                <a:solidFill>
                  <a:srgbClr val="0070C0"/>
                </a:solidFill>
              </a:rPr>
              <a:t>國民到公民</a:t>
            </a:r>
            <a:r>
              <a:rPr lang="en-US" altLang="zh-TW" sz="2800" dirty="0"/>
              <a:t>(</a:t>
            </a:r>
            <a:r>
              <a:rPr lang="zh-TW" altLang="en-US" sz="2800" dirty="0"/>
              <a:t>意識</a:t>
            </a:r>
            <a:r>
              <a:rPr lang="en-US" altLang="zh-TW" sz="2800" dirty="0"/>
              <a:t>)</a:t>
            </a:r>
            <a:r>
              <a:rPr lang="zh-TW" altLang="en-US" sz="2800" dirty="0"/>
              <a:t> ，</a:t>
            </a:r>
            <a:r>
              <a:rPr lang="zh-TW" altLang="en-US" sz="2800" dirty="0" smtClean="0"/>
              <a:t>走入成熟</a:t>
            </a:r>
            <a:r>
              <a:rPr lang="zh-TW" altLang="en-US" sz="2800" dirty="0"/>
              <a:t>的</a:t>
            </a:r>
            <a:r>
              <a:rPr lang="zh-TW" altLang="en-US" sz="2800" b="1" dirty="0">
                <a:solidFill>
                  <a:srgbClr val="0070C0"/>
                </a:solidFill>
              </a:rPr>
              <a:t>公民社會</a:t>
            </a:r>
          </a:p>
          <a:p>
            <a:endParaRPr lang="zh-TW" altLang="en-US" dirty="0"/>
          </a:p>
        </p:txBody>
      </p:sp>
      <p:sp>
        <p:nvSpPr>
          <p:cNvPr id="6" name="橢圓 5"/>
          <p:cNvSpPr/>
          <p:nvPr/>
        </p:nvSpPr>
        <p:spPr>
          <a:xfrm>
            <a:off x="857224" y="5214950"/>
            <a:ext cx="2428892" cy="500066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597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zh-TW" altLang="en-US" sz="4400" dirty="0" smtClean="0"/>
              <a:t>國民、人民、居民、公民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4674" y="1752600"/>
            <a:ext cx="8101781" cy="4916760"/>
          </a:xfrm>
        </p:spPr>
        <p:txBody>
          <a:bodyPr>
            <a:normAutofit lnSpcReduction="10000"/>
          </a:bodyPr>
          <a:lstStyle/>
          <a:p>
            <a:pPr marL="441325" lvl="2" indent="-441325"/>
            <a:r>
              <a:rPr lang="zh-TW" altLang="en-US" b="1" dirty="0" smtClean="0">
                <a:solidFill>
                  <a:srgbClr val="0070C0"/>
                </a:solidFill>
              </a:rPr>
              <a:t>公民才是公共</a:t>
            </a:r>
            <a:r>
              <a:rPr lang="zh-TW" altLang="en-US" b="1" dirty="0">
                <a:solidFill>
                  <a:srgbClr val="0070C0"/>
                </a:solidFill>
              </a:rPr>
              <a:t>治理的主體</a:t>
            </a:r>
            <a:r>
              <a:rPr lang="zh-TW" altLang="en-US" dirty="0" smtClean="0"/>
              <a:t>，有承擔</a:t>
            </a:r>
            <a:r>
              <a:rPr lang="zh-TW" altLang="en-US" dirty="0"/>
              <a:t>責任的能力與勇氣</a:t>
            </a:r>
            <a:r>
              <a:rPr lang="zh-TW" altLang="en-US" dirty="0" smtClean="0"/>
              <a:t>，民主根基才紮實。</a:t>
            </a:r>
            <a:endParaRPr lang="zh-TW" altLang="en-US" dirty="0"/>
          </a:p>
          <a:p>
            <a:pPr marL="441325" lvl="2" indent="-441325"/>
            <a:r>
              <a:rPr lang="zh-TW" altLang="en-US" dirty="0" smtClean="0"/>
              <a:t>「</a:t>
            </a:r>
            <a:r>
              <a:rPr lang="zh-TW" altLang="en-US" dirty="0"/>
              <a:t>賦權人民」、「打造公民」的精神</a:t>
            </a:r>
            <a:r>
              <a:rPr lang="zh-TW" altLang="en-US" dirty="0" smtClean="0"/>
              <a:t>，是社會</a:t>
            </a:r>
            <a:r>
              <a:rPr lang="zh-TW" altLang="en-US" dirty="0"/>
              <a:t>進步重要的共同資產。</a:t>
            </a:r>
          </a:p>
          <a:p>
            <a:pPr marL="441325" lvl="2" indent="-441325"/>
            <a:r>
              <a:rPr lang="zh-TW" altLang="en-US" dirty="0" smtClean="0"/>
              <a:t>年輕</a:t>
            </a:r>
            <a:r>
              <a:rPr lang="zh-TW" altLang="en-US" dirty="0"/>
              <a:t>公民</a:t>
            </a:r>
            <a:r>
              <a:rPr lang="zh-TW" altLang="en-US" dirty="0" smtClean="0"/>
              <a:t>在社區投入</a:t>
            </a:r>
            <a:r>
              <a:rPr lang="zh-TW" altLang="en-US" dirty="0"/>
              <a:t>新力量，讓許多高齡者找到生命的價值。這種創新價值的生活模式，不但照顧了基本生活所需，更兼得以豐富彼此生命，</a:t>
            </a:r>
            <a:r>
              <a:rPr lang="zh-TW" altLang="en-US" dirty="0" smtClean="0"/>
              <a:t>在互動</a:t>
            </a:r>
            <a:r>
              <a:rPr lang="zh-TW" altLang="en-US" dirty="0"/>
              <a:t>中維持多樣性特質與生活者的尊嚴。</a:t>
            </a:r>
          </a:p>
          <a:p>
            <a:pPr marL="441325" lvl="2" indent="-441325"/>
            <a:r>
              <a:rPr lang="zh-TW" altLang="en-US" dirty="0"/>
              <a:t>面對地方公共資源分配有時仍是黑箱，社造是地方公民積極參與地方治理的基地，將來也要對關乎未來的公共領域提出主張。</a:t>
            </a:r>
          </a:p>
          <a:p>
            <a:pPr marL="441325" lvl="2" indent="-441325"/>
            <a:r>
              <a:rPr lang="zh-TW" altLang="en-US" dirty="0" smtClean="0"/>
              <a:t>好</a:t>
            </a:r>
            <a:r>
              <a:rPr lang="zh-TW" altLang="en-US" dirty="0"/>
              <a:t>的</a:t>
            </a:r>
            <a:r>
              <a:rPr lang="zh-TW" altLang="en-US" b="1" dirty="0" smtClean="0">
                <a:solidFill>
                  <a:srgbClr val="0070C0"/>
                </a:solidFill>
              </a:rPr>
              <a:t>社區公共議題</a:t>
            </a:r>
            <a:r>
              <a:rPr lang="zh-TW" altLang="en-US" dirty="0" smtClean="0"/>
              <a:t>可以</a:t>
            </a:r>
            <a:r>
              <a:rPr lang="zh-TW" altLang="en-US" dirty="0"/>
              <a:t>成為人民彼此連結、協力的</a:t>
            </a:r>
            <a:r>
              <a:rPr lang="zh-TW" altLang="en-US" dirty="0" smtClean="0"/>
              <a:t>基礎，有助化解地方恩怨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0508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         共識</a:t>
            </a:r>
            <a:r>
              <a:rPr lang="en-US" altLang="zh-TW" dirty="0" smtClean="0"/>
              <a:t>=</a:t>
            </a:r>
            <a:r>
              <a:rPr lang="zh-TW" altLang="en-US" dirty="0" smtClean="0"/>
              <a:t>資源整合與跨域合作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0061" y="1752600"/>
            <a:ext cx="8645359" cy="5105400"/>
          </a:xfrm>
        </p:spPr>
        <p:txBody>
          <a:bodyPr>
            <a:normAutofit/>
          </a:bodyPr>
          <a:lstStyle/>
          <a:p>
            <a:pPr marL="620713" lvl="0" indent="-358775"/>
            <a:r>
              <a:rPr lang="zh-TW" altLang="en-US" dirty="0" smtClean="0"/>
              <a:t>要</a:t>
            </a:r>
            <a:r>
              <a:rPr lang="zh-TW" altLang="en-US" dirty="0"/>
              <a:t>有地方文化</a:t>
            </a:r>
            <a:r>
              <a:rPr lang="zh-TW" altLang="en-US" dirty="0" smtClean="0"/>
              <a:t>生活圈、區域</a:t>
            </a:r>
            <a:r>
              <a:rPr lang="zh-TW" altLang="en-US" dirty="0"/>
              <a:t>發展的概念</a:t>
            </a:r>
          </a:p>
          <a:p>
            <a:pPr marL="620713" lvl="1" indent="-358775"/>
            <a:r>
              <a:rPr lang="zh-TW" altLang="en-US" dirty="0"/>
              <a:t>第一步「</a:t>
            </a:r>
            <a:r>
              <a:rPr lang="zh-TW" altLang="en-US" b="1" dirty="0">
                <a:solidFill>
                  <a:srgbClr val="0070C0"/>
                </a:solidFill>
              </a:rPr>
              <a:t>磨合</a:t>
            </a:r>
            <a:r>
              <a:rPr lang="zh-TW" altLang="en-US" dirty="0"/>
              <a:t>」</a:t>
            </a:r>
            <a:r>
              <a:rPr lang="en-US" altLang="zh-TW" dirty="0"/>
              <a:t>=</a:t>
            </a:r>
            <a:r>
              <a:rPr lang="zh-TW" altLang="en-US" dirty="0"/>
              <a:t>社區間相互認識，</a:t>
            </a:r>
            <a:r>
              <a:rPr lang="zh-TW" altLang="en-US" dirty="0" smtClean="0"/>
              <a:t>簡單招呼，</a:t>
            </a:r>
            <a:r>
              <a:rPr lang="zh-TW" altLang="en-US" dirty="0"/>
              <a:t>尚未深入</a:t>
            </a:r>
          </a:p>
          <a:p>
            <a:pPr marL="620713" lvl="1" indent="-358775"/>
            <a:r>
              <a:rPr lang="zh-TW" altLang="en-US" dirty="0"/>
              <a:t>第二步「</a:t>
            </a:r>
            <a:r>
              <a:rPr lang="zh-TW" altLang="en-US" b="1" dirty="0">
                <a:solidFill>
                  <a:srgbClr val="0070C0"/>
                </a:solidFill>
              </a:rPr>
              <a:t>鏈合</a:t>
            </a:r>
            <a:r>
              <a:rPr lang="zh-TW" altLang="en-US" dirty="0"/>
              <a:t>」，社區間因</a:t>
            </a:r>
            <a:r>
              <a:rPr lang="zh-TW" altLang="en-US" b="1" dirty="0">
                <a:solidFill>
                  <a:srgbClr val="0070C0"/>
                </a:solidFill>
              </a:rPr>
              <a:t>共同</a:t>
            </a:r>
            <a:r>
              <a:rPr lang="zh-TW" altLang="en-US" b="1" dirty="0" smtClean="0">
                <a:solidFill>
                  <a:srgbClr val="0070C0"/>
                </a:solidFill>
              </a:rPr>
              <a:t>因素</a:t>
            </a:r>
            <a:r>
              <a:rPr lang="en-US" altLang="zh-TW" b="1" dirty="0" smtClean="0">
                <a:solidFill>
                  <a:srgbClr val="0070C0"/>
                </a:solidFill>
              </a:rPr>
              <a:t>=</a:t>
            </a:r>
            <a:r>
              <a:rPr lang="zh-TW" altLang="en-US" b="1" dirty="0" smtClean="0">
                <a:solidFill>
                  <a:srgbClr val="0070C0"/>
                </a:solidFill>
              </a:rPr>
              <a:t>議題</a:t>
            </a:r>
            <a:r>
              <a:rPr lang="zh-TW" altLang="en-US" dirty="0" smtClean="0"/>
              <a:t>，</a:t>
            </a:r>
            <a:r>
              <a:rPr lang="zh-TW" altLang="en-US" dirty="0"/>
              <a:t>開始產生連結</a:t>
            </a:r>
          </a:p>
          <a:p>
            <a:pPr marL="620713" lvl="1" indent="-358775"/>
            <a:r>
              <a:rPr lang="zh-TW" altLang="en-US" dirty="0"/>
              <a:t>第三步「</a:t>
            </a:r>
            <a:r>
              <a:rPr lang="zh-TW" altLang="en-US" b="1" dirty="0">
                <a:solidFill>
                  <a:srgbClr val="0070C0"/>
                </a:solidFill>
              </a:rPr>
              <a:t>融合</a:t>
            </a:r>
            <a:r>
              <a:rPr lang="zh-TW" altLang="en-US" dirty="0"/>
              <a:t>」，社區間開始分享，融合在一起甚至有跨區的概念，未來將會漸入佳境，營造共有的美好環境。</a:t>
            </a:r>
          </a:p>
          <a:p>
            <a:pPr marL="620713" lvl="1" indent="-358775"/>
            <a:r>
              <a:rPr lang="zh-TW" altLang="en-US" dirty="0"/>
              <a:t>第四步「</a:t>
            </a:r>
            <a:r>
              <a:rPr lang="zh-TW" altLang="en-US" b="1" dirty="0">
                <a:solidFill>
                  <a:srgbClr val="0070C0"/>
                </a:solidFill>
              </a:rPr>
              <a:t>生命共同體</a:t>
            </a:r>
            <a:r>
              <a:rPr lang="zh-TW" altLang="en-US" dirty="0"/>
              <a:t>」</a:t>
            </a:r>
            <a:r>
              <a:rPr lang="en-US" altLang="zh-TW" dirty="0"/>
              <a:t>=</a:t>
            </a:r>
            <a:r>
              <a:rPr lang="zh-TW" altLang="en-US" dirty="0"/>
              <a:t>「利他」</a:t>
            </a:r>
            <a:r>
              <a:rPr lang="en-US" altLang="zh-TW" dirty="0"/>
              <a:t>&amp;</a:t>
            </a:r>
            <a:r>
              <a:rPr lang="zh-TW" altLang="en-US" dirty="0"/>
              <a:t>「利己」</a:t>
            </a:r>
            <a:r>
              <a:rPr lang="en-US" altLang="zh-TW" dirty="0"/>
              <a:t>=</a:t>
            </a:r>
            <a:r>
              <a:rPr lang="zh-TW" altLang="en-US" dirty="0"/>
              <a:t>「合心」</a:t>
            </a:r>
            <a:r>
              <a:rPr lang="en-US" altLang="zh-TW" dirty="0"/>
              <a:t>&amp;</a:t>
            </a:r>
            <a:r>
              <a:rPr lang="zh-TW" altLang="en-US" dirty="0"/>
              <a:t>「和氣」</a:t>
            </a:r>
            <a:r>
              <a:rPr lang="en-US" altLang="zh-TW" dirty="0"/>
              <a:t>=</a:t>
            </a:r>
            <a:r>
              <a:rPr lang="zh-TW" altLang="en-US" dirty="0"/>
              <a:t>「互愛」</a:t>
            </a:r>
            <a:r>
              <a:rPr lang="en-US" altLang="zh-TW" dirty="0"/>
              <a:t>&amp;</a:t>
            </a:r>
            <a:r>
              <a:rPr lang="zh-TW" altLang="en-US" dirty="0"/>
              <a:t>「協力」</a:t>
            </a:r>
            <a:r>
              <a:rPr lang="en-US" altLang="zh-TW" dirty="0"/>
              <a:t>=</a:t>
            </a:r>
            <a:r>
              <a:rPr lang="zh-TW" altLang="en-US" dirty="0"/>
              <a:t>同舟一命</a:t>
            </a:r>
          </a:p>
          <a:p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6572264" y="4143380"/>
            <a:ext cx="121444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rot="20541783">
            <a:off x="7818993" y="5340424"/>
            <a:ext cx="8771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心</a:t>
            </a:r>
            <a:endParaRPr lang="zh-TW" alt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 rot="20541783">
            <a:off x="273048" y="611224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造人</a:t>
            </a:r>
            <a:endParaRPr lang="zh-TW" alt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7572396" y="5500702"/>
            <a:ext cx="1214446" cy="785818"/>
          </a:xfrm>
          <a:prstGeom prst="ellipse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496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進入實務方法   </a:t>
            </a:r>
            <a:r>
              <a:rPr lang="zh-TW" altLang="en-US" b="1" dirty="0" smtClean="0">
                <a:solidFill>
                  <a:srgbClr val="0070C0"/>
                </a:solidFill>
              </a:rPr>
              <a:t>共識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84250" indent="-984250">
              <a:buNone/>
            </a:pPr>
            <a:r>
              <a:rPr lang="zh-TW" altLang="en-US" dirty="0" smtClean="0"/>
              <a:t>人</a:t>
            </a:r>
            <a:r>
              <a:rPr lang="en-US" altLang="zh-TW" dirty="0" smtClean="0"/>
              <a:t>(</a:t>
            </a:r>
            <a:r>
              <a:rPr lang="zh-TW" altLang="en-US" dirty="0" smtClean="0"/>
              <a:t>無共識的社區居民</a:t>
            </a:r>
            <a:r>
              <a:rPr lang="en-US" altLang="zh-TW" dirty="0" smtClean="0"/>
              <a:t>)</a:t>
            </a:r>
            <a:r>
              <a:rPr lang="zh-TW" altLang="en-US" dirty="0" smtClean="0"/>
              <a:t> ＞＞＞</a:t>
            </a:r>
            <a:r>
              <a:rPr lang="en-US" altLang="zh-TW" dirty="0" smtClean="0"/>
              <a:t>”</a:t>
            </a:r>
            <a:r>
              <a:rPr lang="zh-TW" altLang="en-US" b="1" dirty="0" smtClean="0">
                <a:solidFill>
                  <a:srgbClr val="0070C0"/>
                </a:solidFill>
              </a:rPr>
              <a:t>公民素養</a:t>
            </a:r>
            <a:r>
              <a:rPr lang="en-US" altLang="zh-TW" dirty="0" smtClean="0"/>
              <a:t>”</a:t>
            </a:r>
            <a:r>
              <a:rPr lang="zh-TW" altLang="en-US" dirty="0" smtClean="0"/>
              <a:t>接觸</a:t>
            </a:r>
            <a:endParaRPr lang="en-US" altLang="zh-TW" dirty="0" smtClean="0"/>
          </a:p>
          <a:p>
            <a:pPr marL="2517775" indent="-2517775">
              <a:buNone/>
            </a:pPr>
            <a:r>
              <a:rPr lang="zh-TW" altLang="en-US" dirty="0" smtClean="0"/>
              <a:t>公民  因議題   可以</a:t>
            </a:r>
            <a:r>
              <a:rPr lang="en-US" altLang="zh-TW" dirty="0" smtClean="0"/>
              <a:t>”</a:t>
            </a:r>
            <a:r>
              <a:rPr lang="zh-TW" altLang="en-US" b="1" dirty="0" smtClean="0">
                <a:solidFill>
                  <a:srgbClr val="0070C0"/>
                </a:solidFill>
              </a:rPr>
              <a:t>對話</a:t>
            </a:r>
            <a:r>
              <a:rPr lang="en-US" altLang="zh-TW" dirty="0" smtClean="0"/>
              <a:t>”</a:t>
            </a:r>
            <a:r>
              <a:rPr lang="zh-TW" altLang="en-US" dirty="0" smtClean="0"/>
              <a:t>、願意討論、有可能有結論</a:t>
            </a:r>
            <a:endParaRPr lang="en-US" altLang="zh-TW" dirty="0" smtClean="0"/>
          </a:p>
          <a:p>
            <a:pPr marL="2517775" indent="-2517775">
              <a:buNone/>
            </a:pPr>
            <a:r>
              <a:rPr lang="zh-TW" altLang="en-US" dirty="0" smtClean="0"/>
              <a:t>公民  因議題   專業、政策施行前，會主動加入 </a:t>
            </a:r>
            <a:r>
              <a:rPr lang="en-US" altLang="zh-TW" dirty="0" smtClean="0"/>
              <a:t>“</a:t>
            </a:r>
            <a:r>
              <a:rPr lang="zh-TW" altLang="en-US" b="1" dirty="0" smtClean="0">
                <a:solidFill>
                  <a:srgbClr val="0070C0"/>
                </a:solidFill>
              </a:rPr>
              <a:t>參與式規劃</a:t>
            </a:r>
            <a:r>
              <a:rPr lang="en-US" altLang="zh-TW" dirty="0" smtClean="0"/>
              <a:t>”</a:t>
            </a:r>
          </a:p>
          <a:p>
            <a:pPr marL="2517775" indent="-2517775">
              <a:buNone/>
            </a:pPr>
            <a:r>
              <a:rPr lang="zh-TW" altLang="en-US" dirty="0" smtClean="0"/>
              <a:t>公民  因議題   產生</a:t>
            </a:r>
            <a:r>
              <a:rPr lang="zh-TW" altLang="en-US" b="1" dirty="0" smtClean="0">
                <a:solidFill>
                  <a:srgbClr val="0070C0"/>
                </a:solidFill>
              </a:rPr>
              <a:t>共同體</a:t>
            </a:r>
            <a:r>
              <a:rPr lang="zh-TW" altLang="en-US" dirty="0" smtClean="0"/>
              <a:t>的意識</a:t>
            </a:r>
            <a:endParaRPr lang="en-US" altLang="zh-TW" dirty="0" smtClean="0"/>
          </a:p>
          <a:p>
            <a:pPr marL="2517775" indent="-2517775">
              <a:buNone/>
            </a:pPr>
            <a:r>
              <a:rPr lang="zh-TW" altLang="en-US" dirty="0" smtClean="0"/>
              <a:t>公民＞ ＞ ＞</a:t>
            </a:r>
            <a:r>
              <a:rPr lang="zh-TW" altLang="en-US" b="1" dirty="0" smtClean="0">
                <a:solidFill>
                  <a:srgbClr val="0070C0"/>
                </a:solidFill>
              </a:rPr>
              <a:t>共識</a:t>
            </a:r>
            <a:r>
              <a:rPr lang="zh-TW" altLang="en-US" dirty="0" smtClean="0"/>
              <a:t>的社區居民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126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共識 </a:t>
            </a:r>
            <a:r>
              <a:rPr lang="zh-TW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→ → → </a:t>
            </a:r>
            <a:r>
              <a:rPr lang="zh-TW" altLang="en-US" dirty="0" smtClean="0"/>
              <a:t>共好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654626"/>
            <a:ext cx="8496944" cy="510540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要有好的議題來</a:t>
            </a:r>
            <a:r>
              <a:rPr lang="zh-TW" altLang="en-US" b="1" dirty="0" smtClean="0">
                <a:solidFill>
                  <a:srgbClr val="0070C0"/>
                </a:solidFill>
              </a:rPr>
              <a:t>擾動</a:t>
            </a:r>
            <a:r>
              <a:rPr lang="zh-TW" altLang="en-US" dirty="0" smtClean="0"/>
              <a:t>社區，利用社區手法才能進入營造</a:t>
            </a:r>
            <a:endParaRPr lang="en-US" altLang="zh-TW" dirty="0" smtClean="0"/>
          </a:p>
          <a:p>
            <a:r>
              <a:rPr lang="zh-TW" altLang="en-US" b="1" dirty="0" smtClean="0">
                <a:solidFill>
                  <a:srgbClr val="0070C0"/>
                </a:solidFill>
              </a:rPr>
              <a:t>好議題</a:t>
            </a:r>
            <a:r>
              <a:rPr lang="zh-TW" altLang="en-US" dirty="0" smtClean="0"/>
              <a:t>與</a:t>
            </a:r>
            <a:r>
              <a:rPr lang="zh-TW" altLang="en-US" b="1" dirty="0" smtClean="0">
                <a:solidFill>
                  <a:srgbClr val="0070C0"/>
                </a:solidFill>
              </a:rPr>
              <a:t>社造手</a:t>
            </a:r>
            <a:r>
              <a:rPr lang="zh-TW" altLang="en-US" dirty="0" smtClean="0"/>
              <a:t>法</a:t>
            </a:r>
            <a:endParaRPr lang="en-US" altLang="zh-TW" dirty="0" smtClean="0"/>
          </a:p>
          <a:p>
            <a:pPr marL="717550" lvl="1" indent="-260350">
              <a:lnSpc>
                <a:spcPct val="110000"/>
              </a:lnSpc>
            </a:pPr>
            <a:r>
              <a:rPr lang="zh-TW" altLang="en-US" dirty="0" smtClean="0"/>
              <a:t>共食，一家一菜來聚餐，中秋烤肉</a:t>
            </a:r>
            <a:r>
              <a:rPr lang="en-US" altLang="zh-TW" dirty="0" smtClean="0"/>
              <a:t>)</a:t>
            </a:r>
          </a:p>
          <a:p>
            <a:pPr marL="717550" lvl="1" indent="-260350">
              <a:lnSpc>
                <a:spcPct val="110000"/>
              </a:lnSpc>
            </a:pPr>
            <a:r>
              <a:rPr lang="zh-TW" altLang="en-US" dirty="0" smtClean="0"/>
              <a:t>共學，請講師開課，全齡都是同學</a:t>
            </a:r>
            <a:endParaRPr lang="en-US" altLang="zh-TW" dirty="0" smtClean="0"/>
          </a:p>
          <a:p>
            <a:pPr marL="717550" lvl="1" indent="-260350">
              <a:lnSpc>
                <a:spcPct val="110000"/>
              </a:lnSpc>
            </a:pPr>
            <a:r>
              <a:rPr lang="zh-TW" altLang="en-US" dirty="0" smtClean="0"/>
              <a:t>共藝，講師開課大家學手藝，有作的好，也有不理想的，做得好的就</a:t>
            </a:r>
            <a:r>
              <a:rPr lang="en-US" altLang="zh-TW" dirty="0" smtClean="0"/>
              <a:t>........</a:t>
            </a:r>
          </a:p>
          <a:p>
            <a:pPr marL="717550" lvl="1" indent="-260350">
              <a:lnSpc>
                <a:spcPct val="110000"/>
              </a:lnSpc>
            </a:pPr>
            <a:r>
              <a:rPr lang="zh-TW" altLang="en-US" dirty="0" smtClean="0"/>
              <a:t>共工，手藝一條龍，客廳即工廠，出現社區產業，聊天也賺錢</a:t>
            </a:r>
            <a:endParaRPr lang="en-US" altLang="zh-TW" dirty="0" smtClean="0"/>
          </a:p>
          <a:p>
            <a:pPr marL="717550" lvl="1" indent="-260350">
              <a:lnSpc>
                <a:spcPct val="110000"/>
              </a:lnSpc>
            </a:pPr>
            <a:r>
              <a:rPr lang="zh-TW" altLang="en-US" dirty="0" smtClean="0"/>
              <a:t>共遊，更麻吉啦</a:t>
            </a:r>
            <a:r>
              <a:rPr lang="en-US" altLang="zh-TW" dirty="0" smtClean="0"/>
              <a:t>~~~~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1788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社區擾動</a:t>
            </a:r>
            <a:r>
              <a:rPr lang="zh-TW" altLang="zh-TW" dirty="0" smtClean="0"/>
              <a:t>不是負面詞彙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916832"/>
            <a:ext cx="8568952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sz="2700" dirty="0"/>
              <a:t>社區擾動指：</a:t>
            </a:r>
          </a:p>
          <a:p>
            <a:pPr marL="728663" lvl="1" indent="-385763">
              <a:buFont typeface="+mj-lt"/>
              <a:buAutoNum type="arabicParenR"/>
            </a:pPr>
            <a:r>
              <a:rPr lang="zh-TW" altLang="zh-TW" sz="2800" dirty="0"/>
              <a:t>透過外部或內部的刺激、介入、行動與對話</a:t>
            </a:r>
          </a:p>
          <a:p>
            <a:pPr marL="728663" lvl="1" indent="-385763">
              <a:buFont typeface="+mj-lt"/>
              <a:buAutoNum type="arabicParenR"/>
            </a:pPr>
            <a:r>
              <a:rPr lang="zh-TW" altLang="zh-TW" sz="2800" dirty="0"/>
              <a:t>打破社區原本沉寂、冷漠、停滯或缺乏參與的狀態</a:t>
            </a:r>
          </a:p>
          <a:p>
            <a:pPr marL="728663" lvl="1" indent="-385763">
              <a:buFont typeface="+mj-lt"/>
              <a:buAutoNum type="arabicParenR"/>
            </a:pPr>
            <a:r>
              <a:rPr lang="zh-TW" altLang="zh-TW" sz="2800" dirty="0"/>
              <a:t>促使居民開始思考、互動、參與與改變的過程。</a:t>
            </a:r>
            <a:endParaRPr lang="en-US" altLang="zh-TW" sz="2800" dirty="0"/>
          </a:p>
          <a:p>
            <a:pPr marL="0" indent="0">
              <a:buNone/>
            </a:pPr>
            <a:r>
              <a:rPr lang="zh-TW" altLang="zh-TW" sz="2700" dirty="0" smtClean="0"/>
              <a:t>定義</a:t>
            </a:r>
            <a:endParaRPr lang="zh-TW" altLang="zh-TW" sz="2700" dirty="0"/>
          </a:p>
          <a:p>
            <a:pPr marL="0" indent="0">
              <a:buNone/>
            </a:pPr>
            <a:r>
              <a:rPr lang="zh-TW" altLang="zh-TW" dirty="0"/>
              <a:t>創造可改變契機，使居民重新關注社區公共事務，產生行動力與凝聚力。</a:t>
            </a:r>
          </a:p>
          <a:p>
            <a:pPr lvl="1"/>
            <a:endParaRPr lang="zh-TW" altLang="zh-TW" sz="21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224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常見的</a:t>
            </a:r>
            <a:r>
              <a:rPr lang="en-US" altLang="zh-TW" dirty="0" smtClean="0"/>
              <a:t>3</a:t>
            </a:r>
            <a:r>
              <a:rPr lang="zh-TW" altLang="en-US" dirty="0" smtClean="0"/>
              <a:t>種社區擾動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4675" y="1772816"/>
            <a:ext cx="7886700" cy="5085184"/>
          </a:xfrm>
        </p:spPr>
        <p:txBody>
          <a:bodyPr>
            <a:noAutofit/>
          </a:bodyPr>
          <a:lstStyle/>
          <a:p>
            <a:pPr marL="557213" indent="-557213">
              <a:buFont typeface="+mj-lt"/>
              <a:buAutoNum type="arabicParenR"/>
            </a:pPr>
            <a:r>
              <a:rPr lang="zh-TW" altLang="zh-TW" sz="2800" dirty="0"/>
              <a:t>外部擾動</a:t>
            </a:r>
          </a:p>
          <a:p>
            <a:pPr marL="342900" lvl="1" indent="0">
              <a:buNone/>
            </a:pPr>
            <a:r>
              <a:rPr lang="zh-TW" altLang="zh-TW" sz="2800" dirty="0"/>
              <a:t>如政府計畫、大學團隊、社工、地方創生團隊、非營利組織進入社區。</a:t>
            </a:r>
          </a:p>
          <a:p>
            <a:pPr marL="557213" indent="-557213">
              <a:buFont typeface="+mj-lt"/>
              <a:buAutoNum type="arabicParenR"/>
            </a:pPr>
            <a:r>
              <a:rPr lang="zh-TW" altLang="zh-TW" sz="2800" dirty="0"/>
              <a:t>內部擾動</a:t>
            </a:r>
          </a:p>
          <a:p>
            <a:pPr marL="342900" lvl="1" indent="0">
              <a:buNone/>
            </a:pPr>
            <a:r>
              <a:rPr lang="zh-TW" altLang="zh-TW" sz="2800" dirty="0"/>
              <a:t>社區居民、里長、青年返鄉者、地方意見領袖主動發起行動。</a:t>
            </a:r>
          </a:p>
          <a:p>
            <a:pPr marL="557213" indent="-557213">
              <a:buFont typeface="+mj-lt"/>
              <a:buAutoNum type="arabicParenR"/>
            </a:pPr>
            <a:r>
              <a:rPr lang="zh-TW" altLang="zh-TW" sz="2800" dirty="0"/>
              <a:t>事件擾動</a:t>
            </a:r>
          </a:p>
          <a:p>
            <a:pPr marL="342900" lvl="1" indent="0">
              <a:buNone/>
            </a:pPr>
            <a:r>
              <a:rPr lang="zh-TW" altLang="zh-TW" sz="2800" dirty="0"/>
              <a:t>如老屋拆除、人口老化、環境污染、災害、地方文化消失等議題。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69714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zh-TW" dirty="0" smtClean="0"/>
              <a:t>社區擾動的目標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080" y="1622108"/>
            <a:ext cx="8001000" cy="5105400"/>
          </a:xfrm>
        </p:spPr>
        <p:txBody>
          <a:bodyPr>
            <a:normAutofit/>
          </a:bodyPr>
          <a:lstStyle/>
          <a:p>
            <a:pPr marL="385763" indent="-385763">
              <a:buFont typeface="+mj-lt"/>
              <a:buAutoNum type="arabicParenR"/>
            </a:pPr>
            <a:r>
              <a:rPr lang="zh-TW" altLang="zh-TW" dirty="0" smtClean="0"/>
              <a:t>喚醒</a:t>
            </a:r>
            <a:r>
              <a:rPr lang="zh-TW" altLang="zh-TW" dirty="0"/>
              <a:t>居民對社區的</a:t>
            </a:r>
            <a:r>
              <a:rPr lang="zh-TW" altLang="zh-TW" dirty="0" smtClean="0"/>
              <a:t>關心</a:t>
            </a:r>
            <a:r>
              <a:rPr lang="zh-TW" altLang="en-US" dirty="0" smtClean="0"/>
              <a:t>  </a:t>
            </a:r>
            <a:r>
              <a:rPr lang="zh-TW" altLang="zh-TW" dirty="0" smtClean="0"/>
              <a:t>「與我無關」</a:t>
            </a:r>
            <a:r>
              <a:rPr lang="zh-TW" altLang="en-US" dirty="0" smtClean="0"/>
              <a:t>→</a:t>
            </a:r>
            <a:r>
              <a:rPr lang="zh-TW" altLang="zh-TW" dirty="0" smtClean="0"/>
              <a:t>「這是我的社區」</a:t>
            </a:r>
            <a:endParaRPr lang="zh-TW" altLang="zh-TW" dirty="0"/>
          </a:p>
          <a:p>
            <a:pPr marL="385763" indent="-385763">
              <a:buFont typeface="+mj-lt"/>
              <a:buAutoNum type="arabicParenR"/>
            </a:pPr>
            <a:r>
              <a:rPr lang="zh-TW" altLang="zh-TW" dirty="0" smtClean="0"/>
              <a:t>建立</a:t>
            </a:r>
            <a:r>
              <a:rPr lang="zh-TW" altLang="zh-TW" dirty="0"/>
              <a:t>參與</a:t>
            </a:r>
            <a:r>
              <a:rPr lang="zh-TW" altLang="zh-TW" dirty="0" smtClean="0"/>
              <a:t>機制</a:t>
            </a:r>
            <a:r>
              <a:rPr lang="zh-TW" altLang="en-US" dirty="0" smtClean="0"/>
              <a:t>，</a:t>
            </a:r>
            <a:r>
              <a:rPr lang="zh-TW" altLang="zh-TW" dirty="0" smtClean="0"/>
              <a:t>透過</a:t>
            </a:r>
            <a:r>
              <a:rPr lang="zh-TW" altLang="zh-TW" dirty="0"/>
              <a:t>會議、活動、工作坊、調查、志工服務等，讓居民開始參與公共事務。</a:t>
            </a:r>
          </a:p>
          <a:p>
            <a:pPr marL="385763" indent="-385763">
              <a:buFont typeface="+mj-lt"/>
              <a:buAutoNum type="arabicParenR"/>
            </a:pPr>
            <a:r>
              <a:rPr lang="zh-TW" altLang="zh-TW" dirty="0" smtClean="0"/>
              <a:t>發掘</a:t>
            </a:r>
            <a:r>
              <a:rPr lang="zh-TW" altLang="zh-TW" dirty="0"/>
              <a:t>社區問題與</a:t>
            </a:r>
            <a:r>
              <a:rPr lang="zh-TW" altLang="zh-TW" dirty="0" smtClean="0"/>
              <a:t>需求</a:t>
            </a:r>
            <a:r>
              <a:rPr lang="zh-TW" altLang="en-US" dirty="0" smtClean="0"/>
              <a:t>，</a:t>
            </a:r>
            <a:r>
              <a:rPr lang="zh-TW" altLang="zh-TW" dirty="0" smtClean="0"/>
              <a:t>如</a:t>
            </a:r>
            <a:r>
              <a:rPr lang="zh-TW" altLang="zh-TW" dirty="0"/>
              <a:t>交通、安全、老人照顧、閒置空間、環境髒亂等。</a:t>
            </a:r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因議題</a:t>
            </a:r>
            <a:r>
              <a:rPr lang="zh-TW" altLang="zh-TW" dirty="0" smtClean="0"/>
              <a:t>凝聚</a:t>
            </a:r>
            <a:r>
              <a:rPr lang="zh-TW" altLang="zh-TW" dirty="0"/>
              <a:t>社區</a:t>
            </a:r>
            <a:r>
              <a:rPr lang="zh-TW" altLang="zh-TW" dirty="0" smtClean="0"/>
              <a:t>共識</a:t>
            </a:r>
            <a:endParaRPr lang="en-US" altLang="zh-TW" dirty="0" smtClean="0"/>
          </a:p>
          <a:p>
            <a:pPr marL="385763" indent="-385763">
              <a:buFont typeface="+mj-lt"/>
              <a:buAutoNum type="arabicParenR"/>
            </a:pPr>
            <a:r>
              <a:rPr lang="zh-TW" altLang="zh-TW" dirty="0" smtClean="0"/>
              <a:t>培養</a:t>
            </a:r>
            <a:r>
              <a:rPr lang="zh-TW" altLang="zh-TW" dirty="0"/>
              <a:t>自主</a:t>
            </a:r>
            <a:r>
              <a:rPr lang="zh-TW" altLang="zh-TW" dirty="0" smtClean="0"/>
              <a:t>能力</a:t>
            </a:r>
            <a:r>
              <a:rPr lang="zh-TW" altLang="en-US" dirty="0" smtClean="0"/>
              <a:t>。</a:t>
            </a:r>
            <a:r>
              <a:rPr lang="zh-TW" altLang="zh-TW" dirty="0" smtClean="0"/>
              <a:t>依賴</a:t>
            </a:r>
            <a:r>
              <a:rPr lang="zh-TW" altLang="zh-TW" dirty="0"/>
              <a:t>大有為</a:t>
            </a:r>
            <a:r>
              <a:rPr lang="zh-TW" altLang="zh-TW" dirty="0" smtClean="0"/>
              <a:t>政府</a:t>
            </a:r>
            <a:r>
              <a:rPr lang="zh-TW" altLang="en-US" dirty="0" smtClean="0"/>
              <a:t>→</a:t>
            </a:r>
            <a:r>
              <a:rPr lang="zh-TW" altLang="zh-TW" dirty="0" smtClean="0"/>
              <a:t>自主</a:t>
            </a:r>
            <a:r>
              <a:rPr lang="zh-TW" altLang="zh-TW" dirty="0"/>
              <a:t>治理與永續發展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7764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社區擾動的重要性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6738" y="1638297"/>
            <a:ext cx="8001000" cy="5334000"/>
          </a:xfrm>
        </p:spPr>
        <p:txBody>
          <a:bodyPr>
            <a:normAutofit/>
          </a:bodyPr>
          <a:lstStyle/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打破</a:t>
            </a:r>
            <a:r>
              <a:rPr lang="zh-TW" altLang="en-US" dirty="0"/>
              <a:t>冷漠與</a:t>
            </a:r>
            <a:r>
              <a:rPr lang="zh-TW" altLang="en-US" dirty="0" smtClean="0"/>
              <a:t>沉默：很多</a:t>
            </a:r>
            <a:r>
              <a:rPr lang="zh-TW" altLang="en-US" dirty="0"/>
              <a:t>社區居民彼此不熟、缺乏互動，擾動能讓人開始交流。</a:t>
            </a:r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激發</a:t>
            </a:r>
            <a:r>
              <a:rPr lang="zh-TW" altLang="en-US" dirty="0"/>
              <a:t>地方認同</a:t>
            </a:r>
            <a:r>
              <a:rPr lang="zh-TW" altLang="en-US" dirty="0" smtClean="0"/>
              <a:t>感：透過</a:t>
            </a:r>
            <a:r>
              <a:rPr lang="zh-TW" altLang="en-US" dirty="0"/>
              <a:t>文化活動、故事採集、環境</a:t>
            </a:r>
            <a:r>
              <a:rPr lang="zh-TW" altLang="en-US" dirty="0" smtClean="0"/>
              <a:t>整理議題，</a:t>
            </a:r>
            <a:r>
              <a:rPr lang="zh-TW" altLang="en-US" dirty="0"/>
              <a:t>使居民重新認識家鄉價值。</a:t>
            </a:r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形成</a:t>
            </a:r>
            <a:r>
              <a:rPr lang="zh-TW" altLang="en-US" dirty="0"/>
              <a:t>公共參與</a:t>
            </a:r>
            <a:r>
              <a:rPr lang="zh-TW" altLang="en-US" dirty="0" smtClean="0"/>
              <a:t>文化：社區不再是</a:t>
            </a:r>
            <a:r>
              <a:rPr lang="zh-TW" altLang="en-US" dirty="0"/>
              <a:t>少數人在做事，而是多數居民共同參與。</a:t>
            </a:r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促進</a:t>
            </a:r>
            <a:r>
              <a:rPr lang="zh-TW" altLang="en-US" dirty="0"/>
              <a:t>問題</a:t>
            </a:r>
            <a:r>
              <a:rPr lang="zh-TW" altLang="en-US" dirty="0" smtClean="0"/>
              <a:t>解決：若</a:t>
            </a:r>
            <a:r>
              <a:rPr lang="zh-TW" altLang="en-US" dirty="0"/>
              <a:t>沒有擾動，許多問題會長期被忽視。</a:t>
            </a:r>
          </a:p>
          <a:p>
            <a:pPr marL="385763" indent="-385763">
              <a:buFont typeface="+mj-lt"/>
              <a:buAutoNum type="arabicParenR"/>
            </a:pPr>
            <a:r>
              <a:rPr lang="zh-TW" altLang="en-US" dirty="0" smtClean="0"/>
              <a:t>帶動</a:t>
            </a:r>
            <a:r>
              <a:rPr lang="zh-TW" altLang="en-US" dirty="0"/>
              <a:t>後續資源</a:t>
            </a:r>
            <a:r>
              <a:rPr lang="zh-TW" altLang="en-US" dirty="0" smtClean="0"/>
              <a:t>進入：當</a:t>
            </a:r>
            <a:r>
              <a:rPr lang="zh-TW" altLang="en-US" dirty="0"/>
              <a:t>社區活化後，更容易吸引政府、企業、大學等資源投入。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541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常見的社區擾動方式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1653" y="1700808"/>
            <a:ext cx="8389813" cy="4896544"/>
          </a:xfrm>
        </p:spPr>
        <p:txBody>
          <a:bodyPr numCol="2">
            <a:normAutofit fontScale="85000" lnSpcReduction="20000"/>
          </a:bodyPr>
          <a:lstStyle/>
          <a:p>
            <a:r>
              <a:rPr lang="zh-TW" altLang="en-US" sz="3500" dirty="0" smtClean="0"/>
              <a:t>一家一菜來聚餐</a:t>
            </a:r>
            <a:endParaRPr lang="en-US" altLang="zh-TW" sz="3500" dirty="0" smtClean="0"/>
          </a:p>
          <a:p>
            <a:r>
              <a:rPr lang="zh-TW" altLang="en-US" sz="3500" dirty="0" smtClean="0"/>
              <a:t>學習新住民新菜色</a:t>
            </a:r>
            <a:endParaRPr lang="en-US" altLang="zh-TW" sz="3500" dirty="0" smtClean="0"/>
          </a:p>
          <a:p>
            <a:r>
              <a:rPr lang="zh-TW" altLang="en-US" sz="3500" dirty="0" smtClean="0"/>
              <a:t>社區</a:t>
            </a:r>
            <a:r>
              <a:rPr lang="zh-TW" altLang="en-US" sz="3500" dirty="0"/>
              <a:t>走讀導</a:t>
            </a:r>
            <a:r>
              <a:rPr lang="zh-TW" altLang="en-US" sz="3500" dirty="0" smtClean="0"/>
              <a:t>覽</a:t>
            </a:r>
            <a:endParaRPr lang="en-US" altLang="zh-TW" sz="3500" dirty="0" smtClean="0"/>
          </a:p>
          <a:p>
            <a:r>
              <a:rPr lang="zh-TW" altLang="en-US" sz="3500" dirty="0"/>
              <a:t>社區歌唱</a:t>
            </a:r>
            <a:r>
              <a:rPr lang="zh-TW" altLang="en-US" sz="3500" dirty="0" smtClean="0"/>
              <a:t>擂台</a:t>
            </a:r>
            <a:endParaRPr lang="en-US" altLang="zh-TW" sz="3500" dirty="0" smtClean="0"/>
          </a:p>
          <a:p>
            <a:r>
              <a:rPr lang="zh-TW" altLang="en-US" sz="3500" dirty="0" smtClean="0"/>
              <a:t>小記者</a:t>
            </a:r>
            <a:r>
              <a:rPr lang="zh-TW" altLang="en-US" sz="3500" dirty="0"/>
              <a:t>採訪</a:t>
            </a:r>
            <a:r>
              <a:rPr lang="zh-TW" altLang="en-US" sz="3500" dirty="0" smtClean="0"/>
              <a:t>大老爺</a:t>
            </a:r>
            <a:endParaRPr lang="en-US" altLang="zh-TW" sz="3500" dirty="0" smtClean="0"/>
          </a:p>
          <a:p>
            <a:r>
              <a:rPr lang="zh-TW" altLang="en-US" sz="3500" dirty="0" smtClean="0"/>
              <a:t>免廢市集</a:t>
            </a:r>
            <a:endParaRPr lang="en-US" altLang="zh-TW" sz="3500" dirty="0" smtClean="0"/>
          </a:p>
          <a:p>
            <a:r>
              <a:rPr lang="zh-TW" altLang="en-US" sz="3500" dirty="0" smtClean="0"/>
              <a:t>辦理成長教室</a:t>
            </a:r>
            <a:endParaRPr lang="en-US" altLang="zh-TW" sz="3500" dirty="0"/>
          </a:p>
          <a:p>
            <a:r>
              <a:rPr lang="zh-TW" altLang="en-US" sz="3500" dirty="0" smtClean="0"/>
              <a:t>老照片收集與展覽</a:t>
            </a:r>
            <a:endParaRPr lang="zh-TW" altLang="en-US" sz="3500" dirty="0"/>
          </a:p>
          <a:p>
            <a:r>
              <a:rPr lang="zh-TW" altLang="en-US" sz="3500" dirty="0"/>
              <a:t>公共空間彩繪</a:t>
            </a:r>
          </a:p>
          <a:p>
            <a:r>
              <a:rPr lang="zh-TW" altLang="en-US" sz="3500" dirty="0"/>
              <a:t>青銀共學活動</a:t>
            </a:r>
          </a:p>
          <a:p>
            <a:r>
              <a:rPr lang="zh-TW" altLang="en-US" sz="3500" dirty="0"/>
              <a:t>市集與節慶活動</a:t>
            </a:r>
          </a:p>
          <a:p>
            <a:r>
              <a:rPr lang="zh-TW" altLang="en-US" sz="3500" dirty="0"/>
              <a:t>議題工作坊</a:t>
            </a:r>
          </a:p>
          <a:p>
            <a:r>
              <a:rPr lang="zh-TW" altLang="en-US" sz="3500" dirty="0"/>
              <a:t>社區調查與訪談</a:t>
            </a:r>
          </a:p>
          <a:p>
            <a:r>
              <a:rPr lang="zh-TW" altLang="en-US" sz="3500" dirty="0"/>
              <a:t>閒置空間再</a:t>
            </a:r>
            <a:r>
              <a:rPr lang="zh-TW" altLang="en-US" sz="3500" dirty="0" smtClean="0"/>
              <a:t>利用</a:t>
            </a:r>
            <a:endParaRPr lang="en-US" altLang="zh-TW" sz="3500" dirty="0" smtClean="0"/>
          </a:p>
          <a:p>
            <a:r>
              <a:rPr lang="zh-TW" altLang="en-US" sz="3600" dirty="0" smtClean="0"/>
              <a:t>社區巡守路線</a:t>
            </a:r>
            <a:endParaRPr lang="en-US" altLang="zh-TW" sz="3600" dirty="0" smtClean="0"/>
          </a:p>
          <a:p>
            <a:r>
              <a:rPr lang="zh-TW" altLang="en-US" sz="3600" dirty="0" smtClean="0"/>
              <a:t>社區報</a:t>
            </a:r>
            <a:endParaRPr lang="en-US" altLang="zh-TW" sz="3600" dirty="0" smtClean="0"/>
          </a:p>
          <a:p>
            <a:r>
              <a:rPr lang="zh-TW" altLang="en-US" sz="3600" dirty="0" smtClean="0"/>
              <a:t>社區清潔日</a:t>
            </a:r>
            <a:endParaRPr lang="en-US" altLang="zh-TW" sz="3600" dirty="0" smtClean="0"/>
          </a:p>
          <a:p>
            <a:r>
              <a:rPr lang="zh-TW" altLang="en-US" sz="3600" dirty="0" smtClean="0"/>
              <a:t>訂公約</a:t>
            </a:r>
            <a:endParaRPr lang="en-US" altLang="zh-TW" sz="3600" dirty="0" smtClean="0"/>
          </a:p>
          <a:p>
            <a:r>
              <a:rPr lang="zh-TW" altLang="en-US" sz="3600" dirty="0" smtClean="0"/>
              <a:t>一巷一花、</a:t>
            </a:r>
            <a:endParaRPr lang="en-US" altLang="zh-TW" sz="3500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646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社區擾動需注意的問題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6738" y="1752600"/>
            <a:ext cx="8001000" cy="5105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TW" altLang="en-US" sz="2800" dirty="0"/>
              <a:t>建議擾動應採取：</a:t>
            </a:r>
          </a:p>
          <a:p>
            <a:pPr marL="342900" lvl="1" indent="0" algn="ctr">
              <a:buNone/>
            </a:pPr>
            <a:r>
              <a:rPr lang="zh-TW" altLang="en-US" sz="2800" dirty="0"/>
              <a:t>尊重居民、循序漸進、由小做大、共同決策</a:t>
            </a:r>
          </a:p>
          <a:p>
            <a:pPr marL="0" indent="0" algn="ctr">
              <a:buNone/>
            </a:pPr>
            <a:r>
              <a:rPr lang="zh-TW" altLang="en-US" sz="2800" dirty="0" smtClean="0"/>
              <a:t>因為</a:t>
            </a:r>
            <a:r>
              <a:rPr lang="zh-TW" altLang="en-US" sz="2800" dirty="0"/>
              <a:t>擾動不當，可能造成：</a:t>
            </a:r>
          </a:p>
          <a:p>
            <a:pPr marL="2416969" lvl="1" indent="-385763">
              <a:buFont typeface="+mj-lt"/>
              <a:buAutoNum type="arabicParenR"/>
            </a:pPr>
            <a:r>
              <a:rPr lang="zh-TW" altLang="en-US" sz="2800" dirty="0"/>
              <a:t>居民反感（覺得被打擾）</a:t>
            </a:r>
          </a:p>
          <a:p>
            <a:pPr marL="2416969" lvl="1" indent="-385763">
              <a:buFont typeface="+mj-lt"/>
              <a:buAutoNum type="arabicParenR"/>
            </a:pPr>
            <a:r>
              <a:rPr lang="zh-TW" altLang="en-US" sz="2800" dirty="0"/>
              <a:t>短期熱鬧、長期無效</a:t>
            </a:r>
          </a:p>
          <a:p>
            <a:pPr marL="2416969" lvl="1" indent="-385763">
              <a:buFont typeface="+mj-lt"/>
              <a:buAutoNum type="arabicParenR"/>
            </a:pPr>
            <a:r>
              <a:rPr lang="zh-TW" altLang="en-US" sz="2800" dirty="0"/>
              <a:t>外來團隊主導過多</a:t>
            </a:r>
          </a:p>
          <a:p>
            <a:pPr marL="2416969" lvl="1" indent="-385763">
              <a:buFont typeface="+mj-lt"/>
              <a:buAutoNum type="arabicParenR"/>
            </a:pPr>
            <a:r>
              <a:rPr lang="zh-TW" altLang="en-US" sz="2800" dirty="0"/>
              <a:t>少數人參與，多數人旁觀</a:t>
            </a:r>
          </a:p>
          <a:p>
            <a:pPr marL="2416969" lvl="1" indent="-385763">
              <a:buFont typeface="+mj-lt"/>
              <a:buAutoNum type="arabicParenR"/>
            </a:pPr>
            <a:r>
              <a:rPr lang="zh-TW" altLang="en-US" sz="2800" dirty="0"/>
              <a:t>議題不佳，引發地方衝突</a:t>
            </a:r>
          </a:p>
          <a:p>
            <a:pPr marL="728663" lvl="1" indent="-385763">
              <a:buFont typeface="+mj-lt"/>
              <a:buAutoNum type="arabicParenR"/>
            </a:pPr>
            <a:endParaRPr lang="en-US" altLang="zh-TW" sz="2400" dirty="0"/>
          </a:p>
          <a:p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217294" y="2348880"/>
            <a:ext cx="1626514" cy="367468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3113177" y="2341298"/>
            <a:ext cx="1446620" cy="375050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4854551" y="2275637"/>
            <a:ext cx="1446620" cy="375050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711144" y="2341298"/>
            <a:ext cx="1446620" cy="375050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166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Brain storm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突發奇想，四組共作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共識？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共同體？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5482585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新細明體"/>
        <a:cs typeface=""/>
      </a:majorFont>
      <a:minorFont>
        <a:latin typeface="Verdan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4939</TotalTime>
  <Words>2466</Words>
  <Application>Microsoft Office PowerPoint</Application>
  <PresentationFormat>如螢幕大小 (4:3)</PresentationFormat>
  <Paragraphs>202</Paragraphs>
  <Slides>36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新細明體</vt:lpstr>
      <vt:lpstr>Arial</vt:lpstr>
      <vt:lpstr>Calibri</vt:lpstr>
      <vt:lpstr>Times New Roman</vt:lpstr>
      <vt:lpstr>Verdana</vt:lpstr>
      <vt:lpstr>Wingdings</vt:lpstr>
      <vt:lpstr>Profile</vt:lpstr>
      <vt:lpstr>社區營造概念及 各項發展實務介紹</vt:lpstr>
      <vt:lpstr>社區營造始末</vt:lpstr>
      <vt:lpstr>PowerPoint 簡報</vt:lpstr>
      <vt:lpstr>社區自主診斷</vt:lpstr>
      <vt:lpstr>社區自主提案</vt:lpstr>
      <vt:lpstr>聯合國的概念</vt:lpstr>
      <vt:lpstr>PowerPoint 簡報</vt:lpstr>
      <vt:lpstr>社區(總體)營造概念</vt:lpstr>
      <vt:lpstr>PowerPoint 簡報</vt:lpstr>
      <vt:lpstr>人、文、地、景、產</vt:lpstr>
      <vt:lpstr>社區營造本質與原則</vt:lpstr>
      <vt:lpstr>為何需要投入社區營造</vt:lpstr>
      <vt:lpstr>社造理念的應用-----校園改建</vt:lpstr>
      <vt:lpstr>跳脫框架，營造 在社區 找出第N+1種可能</vt:lpstr>
      <vt:lpstr>PowerPoint 簡報</vt:lpstr>
      <vt:lpstr>屋頂上的貓</vt:lpstr>
      <vt:lpstr>PowerPoint 簡報</vt:lpstr>
      <vt:lpstr>PowerPoint 簡報</vt:lpstr>
      <vt:lpstr>PowerPoint 簡報</vt:lpstr>
      <vt:lpstr>社區發展實務(三生)</vt:lpstr>
      <vt:lpstr>社區永續發展實務</vt:lpstr>
      <vt:lpstr>       社造如何由大到小                          分面向階段進行</vt:lpstr>
      <vt:lpstr>國家</vt:lpstr>
      <vt:lpstr>社區：</vt:lpstr>
      <vt:lpstr>國民、人民、居民、公民：</vt:lpstr>
      <vt:lpstr>國民、人民、居民、公民</vt:lpstr>
      <vt:lpstr>         共識=資源整合與跨域合作</vt:lpstr>
      <vt:lpstr>進入實務方法   共識</vt:lpstr>
      <vt:lpstr>共識 → → → 共好</vt:lpstr>
      <vt:lpstr>社區擾動不是負面詞彙 </vt:lpstr>
      <vt:lpstr>常見的3種社區擾動</vt:lpstr>
      <vt:lpstr>社區擾動的目標</vt:lpstr>
      <vt:lpstr>社區擾動的重要性</vt:lpstr>
      <vt:lpstr>常見的社區擾動方式</vt:lpstr>
      <vt:lpstr>社區擾動需注意的問題</vt:lpstr>
      <vt:lpstr>Brain storm 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台灣周圍海域海底地形圖</dc:title>
  <dc:creator>user</dc:creator>
  <cp:lastModifiedBy>SU</cp:lastModifiedBy>
  <cp:revision>41</cp:revision>
  <dcterms:created xsi:type="dcterms:W3CDTF">2012-03-22T07:45:18Z</dcterms:created>
  <dcterms:modified xsi:type="dcterms:W3CDTF">2026-04-19T16:47:10Z</dcterms:modified>
</cp:coreProperties>
</file>