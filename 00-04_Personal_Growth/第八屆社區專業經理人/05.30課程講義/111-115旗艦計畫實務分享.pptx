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4224" r:id="rId2"/>
    <p:sldMasterId id="2147484275" r:id="rId3"/>
  </p:sldMasterIdLst>
  <p:notesMasterIdLst>
    <p:notesMasterId r:id="rId96"/>
  </p:notesMasterIdLst>
  <p:sldIdLst>
    <p:sldId id="699" r:id="rId4"/>
    <p:sldId id="730" r:id="rId5"/>
    <p:sldId id="666" r:id="rId6"/>
    <p:sldId id="665" r:id="rId7"/>
    <p:sldId id="667" r:id="rId8"/>
    <p:sldId id="668" r:id="rId9"/>
    <p:sldId id="669" r:id="rId10"/>
    <p:sldId id="670" r:id="rId11"/>
    <p:sldId id="642" r:id="rId12"/>
    <p:sldId id="643" r:id="rId13"/>
    <p:sldId id="644" r:id="rId14"/>
    <p:sldId id="661" r:id="rId15"/>
    <p:sldId id="680" r:id="rId16"/>
    <p:sldId id="681" r:id="rId17"/>
    <p:sldId id="671" r:id="rId18"/>
    <p:sldId id="598" r:id="rId19"/>
    <p:sldId id="650" r:id="rId20"/>
    <p:sldId id="657" r:id="rId21"/>
    <p:sldId id="597" r:id="rId22"/>
    <p:sldId id="672" r:id="rId23"/>
    <p:sldId id="603" r:id="rId24"/>
    <p:sldId id="610" r:id="rId25"/>
    <p:sldId id="662" r:id="rId26"/>
    <p:sldId id="658" r:id="rId27"/>
    <p:sldId id="613" r:id="rId28"/>
    <p:sldId id="615" r:id="rId29"/>
    <p:sldId id="675" r:id="rId30"/>
    <p:sldId id="652" r:id="rId31"/>
    <p:sldId id="653" r:id="rId32"/>
    <p:sldId id="677" r:id="rId33"/>
    <p:sldId id="618" r:id="rId34"/>
    <p:sldId id="619" r:id="rId35"/>
    <p:sldId id="633" r:id="rId36"/>
    <p:sldId id="663" r:id="rId37"/>
    <p:sldId id="682" r:id="rId38"/>
    <p:sldId id="679" r:id="rId39"/>
    <p:sldId id="622" r:id="rId40"/>
    <p:sldId id="659" r:id="rId41"/>
    <p:sldId id="625" r:id="rId42"/>
    <p:sldId id="683" r:id="rId43"/>
    <p:sldId id="673" r:id="rId44"/>
    <p:sldId id="674" r:id="rId45"/>
    <p:sldId id="684" r:id="rId46"/>
    <p:sldId id="685" r:id="rId47"/>
    <p:sldId id="686" r:id="rId48"/>
    <p:sldId id="687" r:id="rId49"/>
    <p:sldId id="676" r:id="rId50"/>
    <p:sldId id="688" r:id="rId51"/>
    <p:sldId id="689" r:id="rId52"/>
    <p:sldId id="690" r:id="rId53"/>
    <p:sldId id="691" r:id="rId54"/>
    <p:sldId id="692" r:id="rId55"/>
    <p:sldId id="693" r:id="rId56"/>
    <p:sldId id="694" r:id="rId57"/>
    <p:sldId id="695" r:id="rId58"/>
    <p:sldId id="696" r:id="rId59"/>
    <p:sldId id="697" r:id="rId60"/>
    <p:sldId id="698" r:id="rId61"/>
    <p:sldId id="700" r:id="rId62"/>
    <p:sldId id="701" r:id="rId63"/>
    <p:sldId id="702" r:id="rId64"/>
    <p:sldId id="596" r:id="rId65"/>
    <p:sldId id="704" r:id="rId66"/>
    <p:sldId id="705" r:id="rId67"/>
    <p:sldId id="706" r:id="rId68"/>
    <p:sldId id="707" r:id="rId69"/>
    <p:sldId id="708" r:id="rId70"/>
    <p:sldId id="709" r:id="rId71"/>
    <p:sldId id="710" r:id="rId72"/>
    <p:sldId id="711" r:id="rId73"/>
    <p:sldId id="712" r:id="rId74"/>
    <p:sldId id="713" r:id="rId75"/>
    <p:sldId id="715" r:id="rId76"/>
    <p:sldId id="716" r:id="rId77"/>
    <p:sldId id="714" r:id="rId78"/>
    <p:sldId id="717" r:id="rId79"/>
    <p:sldId id="718" r:id="rId80"/>
    <p:sldId id="719" r:id="rId81"/>
    <p:sldId id="720" r:id="rId82"/>
    <p:sldId id="721" r:id="rId83"/>
    <p:sldId id="722" r:id="rId84"/>
    <p:sldId id="723" r:id="rId85"/>
    <p:sldId id="724" r:id="rId86"/>
    <p:sldId id="725" r:id="rId87"/>
    <p:sldId id="726" r:id="rId88"/>
    <p:sldId id="727" r:id="rId89"/>
    <p:sldId id="728" r:id="rId90"/>
    <p:sldId id="729" r:id="rId91"/>
    <p:sldId id="628" r:id="rId92"/>
    <p:sldId id="626" r:id="rId93"/>
    <p:sldId id="627" r:id="rId94"/>
    <p:sldId id="582" r:id="rId9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66CC"/>
    <a:srgbClr val="F765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82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3234A48-18EB-474C-B0EA-23D0C7826912}" type="datetimeFigureOut">
              <a:rPr lang="zh-TW" altLang="en-US" smtClean="0"/>
              <a:t>2026/5/26</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883B5D-9091-4403-A5DE-35438B4D234C}" type="slidenum">
              <a:rPr lang="zh-TW" altLang="en-US" smtClean="0"/>
              <a:t>‹#›</a:t>
            </a:fld>
            <a:endParaRPr lang="zh-TW" altLang="en-US"/>
          </a:p>
        </p:txBody>
      </p:sp>
    </p:spTree>
    <p:extLst>
      <p:ext uri="{BB962C8B-B14F-4D97-AF65-F5344CB8AC3E}">
        <p14:creationId xmlns:p14="http://schemas.microsoft.com/office/powerpoint/2010/main" val="3204274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a:p>
        </p:txBody>
      </p:sp>
      <p:sp>
        <p:nvSpPr>
          <p:cNvPr id="93188" name="投影片編號版面配置區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344BCA-76CD-4477-ADA9-E65E20FD5EFB}" type="slidenum">
              <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355257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029610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394332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268659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35676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420055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369010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502942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152106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FF78E-3B60-0C68-CCC8-D8641F153F3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8BA0954-255B-065D-2B71-D1526744A3B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ADD172F-37A8-4EB1-9158-57F67F85E52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854D7EF-6C40-DC49-47E8-6AA88C850A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8416957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279584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0716974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409799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424349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5407561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732804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6338817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5166366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8727120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3843983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8518168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8754790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4854863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0402443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0589632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0123653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752202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2795844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0716974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712366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C2E1E-66DF-6BE5-E1EC-0476BBC2776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4465944-FB18-2FDA-5E87-9E47A09C9FA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55CBB7E-B4BD-7DBB-EB3E-76414D3A101F}"/>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B6E05062-FF63-F97C-8CE1-48018DB348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0824020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4097991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4D74D-93A3-1BC5-C1ED-E75E0EE0FB5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3FD6D5C-BF39-5387-2049-B028181E1EC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6EE6797-1812-9E6A-873B-6AE23715FBF5}"/>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361C848C-BE53-594B-1FB1-6D1D944075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475297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5915691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42962-C22D-600A-30A0-728A1667805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1AD4743-D60E-C49A-5588-27C4CCC1B01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9895C14-4269-03E7-80CC-B776015847F8}"/>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14AE1B43-74A3-518D-F76D-AF9DDFC056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6647662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7A599-EE27-DF43-CEC0-FA9104646FC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2781B67-68DD-DECF-869C-36164BC28B6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024F2A2-0A7D-8888-E908-38C2D239C7CE}"/>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3273930E-75E1-79BC-8CF3-D846F7ECB8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415452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12A7-FC10-A12E-45B2-6381D6013EB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4B2B82F-A6AF-1E24-03F1-03472FF56FD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C115F4D-9EAE-EA25-2FC6-E5DF471A2BF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699329FC-11A1-C4A8-B7E2-AC53ED9C5A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1035825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38961-E70A-5A3F-A020-88C4E69869D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715371B-9CFA-401B-5F23-D157B4BC73B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E939F47-35D2-2253-C53A-9183BB3F00F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F8C65A9F-B2FA-1FA4-6EB6-6F201B0C10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8272053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58479-8F83-77EE-4FAA-ACA01611009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795D777-7978-9A55-C54F-84D403C4479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93B0C22-35E4-EE5D-B9C3-F6A81EC4EE54}"/>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59CDD965-61CD-605C-E31B-40584976CA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2215633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56AE8-63F4-7FFD-7DC4-90264F06E99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C274C3D-CA82-9A17-3990-AA32B1676BF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EA488A2-A442-7BA3-CA97-EB2E8CF3554E}"/>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6152E41-B561-30A3-6793-6EDFA31E03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0398426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C2ACE-EF9A-0253-67E5-FD65406AE93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3E37134-7A48-6A41-3F85-8C46A12B90B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8C47EBB-2A41-064A-F751-CE54575582E1}"/>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212B8E6E-BEBF-1327-0B8A-1601E411D7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8369899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EFC59-779A-0C74-2ED8-BCDF7836718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52AAB1D-ED0C-26B4-E843-C4C6FF2E56E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B46157D-27A9-6BF2-53C9-A6FD1E457F12}"/>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4967B711-A13D-C4B1-7298-19CFBAF771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1485339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49087-4F7E-B7A4-B466-92183ADCB13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71AC518-3D2C-2B4E-6285-4ADA7552DE1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F7CE4F7-0ED7-64F2-DDD9-C2B84C8C99D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5B4C85EA-6779-BE43-546E-A26193159BA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511829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A3B8D-60A1-ACDE-7B8A-04714723209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2A1ECA5-89EE-FCFB-CB6D-3234EC054BC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931142C-5EFC-8274-49B4-B943567A1B1E}"/>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FE8EDE51-5BCE-DC15-3702-0CB95C7C7B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3030321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16C8F-DDD2-B2EC-035F-4C8A5F4A6CA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CDE06F0-8D18-919F-DE82-10609213456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5A3F2EB-7922-A59D-AA62-0DCE07B15065}"/>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213AE2B0-CA7C-8376-2065-BF558F59F1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9980763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CF33E-F403-42FD-FBB3-3EE40E26F16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F638BB2-E7F6-BF7A-9272-1FD8ED7AE7E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D5E4CA5-7830-E763-E979-59CAF12ED81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C21BF8C6-D202-E410-FA41-40EC46EADC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4249261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7C790-66AE-32C1-86F7-46398C554F0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0D16DCC-2C2D-E704-540B-A9C84ABD9FB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82FFE06-559B-7BC0-B1CE-98C37AA727E3}"/>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24CB0330-0CAC-BB81-2797-41093F1221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8517348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2B91B-D39C-0042-CEDA-AB527C12756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6C2FD5B-08E1-1541-4572-84FC720C58A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DAA9323-60BF-C2CC-130B-E80F65AC639D}"/>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F3C6EB21-2D40-2C35-6905-9B01DF9B27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5570850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AD3B2-2C51-5A66-7E33-48B5A3833DB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1D4D688-CFE8-A39A-1B4C-E8B40E60091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1B05ED-A39A-9EAF-3487-C18951F7FF0A}"/>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52C876C9-38C2-2B36-1B1E-985006FF96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8347564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D8E39-8242-9A66-ADAE-B1F4460BED0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71DEE1D-7EFE-68B7-7E4C-9F641D028E0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9DCA2F4-0C6C-66D0-4A78-EF75EBE5D940}"/>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894CC302-A008-9843-FCC5-A4FB7E8F07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4904833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0C5F0-DCB9-5606-F0FE-8C5E9F9DB5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34991EB-7029-01EC-18F0-06E7A2FA816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0F43E0A-6E7A-3B95-1A8C-D737ADA5E563}"/>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6BB1E2A9-E21B-9935-4A2C-880F5BA2A4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9035219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04DCF-2B3C-0A4E-A578-B565BA69E70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5D291D1-CE0F-7FCF-6323-682DAAD5736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045A8C1-E2BC-3ABB-DF54-32A018A9A5BE}"/>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C71F68BC-5EC1-22F1-B1A1-E6253DECF2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4165647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22DEF-C03C-F067-6BD6-FBE85254211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2547C5D-FAA3-F437-AAB0-20CBDB4E7EE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A31B392-3284-8D4E-3867-46A592733414}"/>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995E04C9-4F8F-1C29-C2FB-2099217D90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983120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B6612-1228-C730-71A2-4591FC4E289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977BD7E-4998-74B8-7817-B0FA17ACFDB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C2B5E30-C330-2E15-943C-0FD600E7F491}"/>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EEB8178-1023-BAF8-4B4A-69F8FBDA41E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5186597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20BC-535A-CD2D-7E14-1EE96B49678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3DD51B8-0EC4-1C9E-0B30-BE19901BB93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8668FE3-DDB7-115A-A42D-8C33D5973031}"/>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463D9774-360F-8895-9645-DCE9A550CC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57338389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59FC3-51F4-4166-37B3-4D7A8A045FB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2BBB3B5-11E1-37DC-A125-8AAF495F907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56A5EDA-BFE4-CD7D-822C-2D2417F72927}"/>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61246C24-02F9-2376-9FC8-4651474DA0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0152568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411598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283869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883B5D-9091-4403-A5DE-35438B4D234C}"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426442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Master" Target="../slideMasters/slideMaster2.xml"/><Relationship Id="rId5" Type="http://schemas.openxmlformats.org/officeDocument/2006/relationships/image" Target="../media/image2.png"/><Relationship Id="rId4" Type="http://schemas.openxmlformats.org/officeDocument/2006/relationships/oleObject" Target="../embeddings/oleObject4.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1" y="2130425"/>
            <a:ext cx="7772400" cy="1470026"/>
          </a:xfrm>
        </p:spPr>
        <p:txBody>
          <a:bodyPr/>
          <a:lstStyle/>
          <a:p>
            <a:r>
              <a:rPr lang="zh-TW" altLang="en-US"/>
              <a:t>按一下以編輯母片標題樣式</a:t>
            </a:r>
          </a:p>
        </p:txBody>
      </p:sp>
      <p:sp>
        <p:nvSpPr>
          <p:cNvPr id="3" name="副標題 2"/>
          <p:cNvSpPr>
            <a:spLocks noGrp="1"/>
          </p:cNvSpPr>
          <p:nvPr>
            <p:ph type="subTitle" idx="1"/>
          </p:nvPr>
        </p:nvSpPr>
        <p:spPr>
          <a:xfrm>
            <a:off x="1371601"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lvl1pPr>
              <a:defRPr/>
            </a:lvl1pPr>
          </a:lstStyle>
          <a:p>
            <a:endParaRPr lang="en-US" altLang="zh-TW">
              <a:solidFill>
                <a:srgbClr val="000000"/>
              </a:solidFill>
            </a:endParaRPr>
          </a:p>
        </p:txBody>
      </p:sp>
      <p:sp>
        <p:nvSpPr>
          <p:cNvPr id="5" name="頁尾版面配置區 4"/>
          <p:cNvSpPr>
            <a:spLocks noGrp="1"/>
          </p:cNvSpPr>
          <p:nvPr>
            <p:ph type="ftr" sz="quarter" idx="11"/>
          </p:nvPr>
        </p:nvSpPr>
        <p:spPr/>
        <p:txBody>
          <a:bodyPr/>
          <a:lstStyle>
            <a:lvl1pPr>
              <a:defRPr/>
            </a:lvl1pPr>
          </a:lstStyle>
          <a:p>
            <a:endParaRPr lang="en-US" altLang="zh-TW">
              <a:solidFill>
                <a:srgbClr val="000000"/>
              </a:solidFill>
            </a:endParaRPr>
          </a:p>
        </p:txBody>
      </p:sp>
      <p:sp>
        <p:nvSpPr>
          <p:cNvPr id="6" name="投影片編號版面配置區 5"/>
          <p:cNvSpPr>
            <a:spLocks noGrp="1"/>
          </p:cNvSpPr>
          <p:nvPr>
            <p:ph type="sldNum" sz="quarter" idx="12"/>
          </p:nvPr>
        </p:nvSpPr>
        <p:spPr/>
        <p:txBody>
          <a:bodyPr/>
          <a:lstStyle>
            <a:lvl1pPr>
              <a:defRPr/>
            </a:lvl1pPr>
          </a:lstStyle>
          <a:p>
            <a:fld id="{80604142-1383-490D-8D1B-42DD9D72D620}"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2855492045"/>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lvl1pPr>
              <a:defRPr/>
            </a:lvl1pPr>
          </a:lstStyle>
          <a:p>
            <a:endParaRPr lang="en-US" altLang="zh-TW">
              <a:solidFill>
                <a:srgbClr val="000000"/>
              </a:solidFill>
            </a:endParaRPr>
          </a:p>
        </p:txBody>
      </p:sp>
      <p:sp>
        <p:nvSpPr>
          <p:cNvPr id="5" name="頁尾版面配置區 4"/>
          <p:cNvSpPr>
            <a:spLocks noGrp="1"/>
          </p:cNvSpPr>
          <p:nvPr>
            <p:ph type="ftr" sz="quarter" idx="11"/>
          </p:nvPr>
        </p:nvSpPr>
        <p:spPr/>
        <p:txBody>
          <a:bodyPr/>
          <a:lstStyle>
            <a:lvl1pPr>
              <a:defRPr/>
            </a:lvl1pPr>
          </a:lstStyle>
          <a:p>
            <a:endParaRPr lang="en-US" altLang="zh-TW">
              <a:solidFill>
                <a:srgbClr val="000000"/>
              </a:solidFill>
            </a:endParaRPr>
          </a:p>
        </p:txBody>
      </p:sp>
      <p:sp>
        <p:nvSpPr>
          <p:cNvPr id="6" name="投影片編號版面配置區 5"/>
          <p:cNvSpPr>
            <a:spLocks noGrp="1"/>
          </p:cNvSpPr>
          <p:nvPr>
            <p:ph type="sldNum" sz="quarter" idx="12"/>
          </p:nvPr>
        </p:nvSpPr>
        <p:spPr/>
        <p:txBody>
          <a:bodyPr/>
          <a:lstStyle>
            <a:lvl1pPr>
              <a:defRPr/>
            </a:lvl1pPr>
          </a:lstStyle>
          <a:p>
            <a:fld id="{285833A7-4806-4B36-90A6-809C861666D6}"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864776073"/>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4" y="4406901"/>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4"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lvl1pPr>
              <a:defRPr/>
            </a:lvl1pPr>
          </a:lstStyle>
          <a:p>
            <a:endParaRPr lang="en-US" altLang="zh-TW">
              <a:solidFill>
                <a:srgbClr val="000000"/>
              </a:solidFill>
            </a:endParaRPr>
          </a:p>
        </p:txBody>
      </p:sp>
      <p:sp>
        <p:nvSpPr>
          <p:cNvPr id="5" name="頁尾版面配置區 4"/>
          <p:cNvSpPr>
            <a:spLocks noGrp="1"/>
          </p:cNvSpPr>
          <p:nvPr>
            <p:ph type="ftr" sz="quarter" idx="11"/>
          </p:nvPr>
        </p:nvSpPr>
        <p:spPr/>
        <p:txBody>
          <a:bodyPr/>
          <a:lstStyle>
            <a:lvl1pPr>
              <a:defRPr/>
            </a:lvl1pPr>
          </a:lstStyle>
          <a:p>
            <a:endParaRPr lang="en-US" altLang="zh-TW">
              <a:solidFill>
                <a:srgbClr val="000000"/>
              </a:solidFill>
            </a:endParaRPr>
          </a:p>
        </p:txBody>
      </p:sp>
      <p:sp>
        <p:nvSpPr>
          <p:cNvPr id="6" name="投影片編號版面配置區 5"/>
          <p:cNvSpPr>
            <a:spLocks noGrp="1"/>
          </p:cNvSpPr>
          <p:nvPr>
            <p:ph type="sldNum" sz="quarter" idx="12"/>
          </p:nvPr>
        </p:nvSpPr>
        <p:spPr/>
        <p:txBody>
          <a:bodyPr/>
          <a:lstStyle>
            <a:lvl1pPr>
              <a:defRPr/>
            </a:lvl1pPr>
          </a:lstStyle>
          <a:p>
            <a:fld id="{02F4D7C1-5A1C-484C-855F-FD5534D39878}"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513208061"/>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1"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lvl1pPr>
              <a:defRPr/>
            </a:lvl1pPr>
          </a:lstStyle>
          <a:p>
            <a:endParaRPr lang="en-US" altLang="zh-TW">
              <a:solidFill>
                <a:srgbClr val="000000"/>
              </a:solidFill>
            </a:endParaRPr>
          </a:p>
        </p:txBody>
      </p:sp>
      <p:sp>
        <p:nvSpPr>
          <p:cNvPr id="6" name="頁尾版面配置區 5"/>
          <p:cNvSpPr>
            <a:spLocks noGrp="1"/>
          </p:cNvSpPr>
          <p:nvPr>
            <p:ph type="ftr" sz="quarter" idx="11"/>
          </p:nvPr>
        </p:nvSpPr>
        <p:spPr/>
        <p:txBody>
          <a:bodyPr/>
          <a:lstStyle>
            <a:lvl1pPr>
              <a:defRPr/>
            </a:lvl1pPr>
          </a:lstStyle>
          <a:p>
            <a:endParaRPr lang="en-US" altLang="zh-TW">
              <a:solidFill>
                <a:srgbClr val="000000"/>
              </a:solidFill>
            </a:endParaRPr>
          </a:p>
        </p:txBody>
      </p:sp>
      <p:sp>
        <p:nvSpPr>
          <p:cNvPr id="7" name="投影片編號版面配置區 6"/>
          <p:cNvSpPr>
            <a:spLocks noGrp="1"/>
          </p:cNvSpPr>
          <p:nvPr>
            <p:ph type="sldNum" sz="quarter" idx="12"/>
          </p:nvPr>
        </p:nvSpPr>
        <p:spPr/>
        <p:txBody>
          <a:bodyPr/>
          <a:lstStyle>
            <a:lvl1pPr>
              <a:defRPr/>
            </a:lvl1pPr>
          </a:lstStyle>
          <a:p>
            <a:fld id="{95019CFC-9BF3-4CC8-8E50-B9E332DEF3CD}"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850947033"/>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1" y="2174876"/>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6" y="2174876"/>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lvl1pPr>
              <a:defRPr/>
            </a:lvl1pPr>
          </a:lstStyle>
          <a:p>
            <a:endParaRPr lang="en-US" altLang="zh-TW">
              <a:solidFill>
                <a:srgbClr val="000000"/>
              </a:solidFill>
            </a:endParaRPr>
          </a:p>
        </p:txBody>
      </p:sp>
      <p:sp>
        <p:nvSpPr>
          <p:cNvPr id="8" name="頁尾版面配置區 7"/>
          <p:cNvSpPr>
            <a:spLocks noGrp="1"/>
          </p:cNvSpPr>
          <p:nvPr>
            <p:ph type="ftr" sz="quarter" idx="11"/>
          </p:nvPr>
        </p:nvSpPr>
        <p:spPr/>
        <p:txBody>
          <a:bodyPr/>
          <a:lstStyle>
            <a:lvl1pPr>
              <a:defRPr/>
            </a:lvl1pPr>
          </a:lstStyle>
          <a:p>
            <a:endParaRPr lang="en-US" altLang="zh-TW">
              <a:solidFill>
                <a:srgbClr val="000000"/>
              </a:solidFill>
            </a:endParaRPr>
          </a:p>
        </p:txBody>
      </p:sp>
      <p:sp>
        <p:nvSpPr>
          <p:cNvPr id="9" name="投影片編號版面配置區 8"/>
          <p:cNvSpPr>
            <a:spLocks noGrp="1"/>
          </p:cNvSpPr>
          <p:nvPr>
            <p:ph type="sldNum" sz="quarter" idx="12"/>
          </p:nvPr>
        </p:nvSpPr>
        <p:spPr/>
        <p:txBody>
          <a:bodyPr/>
          <a:lstStyle>
            <a:lvl1pPr>
              <a:defRPr/>
            </a:lvl1pPr>
          </a:lstStyle>
          <a:p>
            <a:fld id="{06A98E0A-A12B-44DA-B599-FF187243B6CB}"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406884957"/>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lvl1pPr>
              <a:defRPr/>
            </a:lvl1pPr>
          </a:lstStyle>
          <a:p>
            <a:endParaRPr lang="en-US" altLang="zh-TW">
              <a:solidFill>
                <a:srgbClr val="000000"/>
              </a:solidFill>
            </a:endParaRPr>
          </a:p>
        </p:txBody>
      </p:sp>
      <p:sp>
        <p:nvSpPr>
          <p:cNvPr id="4" name="頁尾版面配置區 3"/>
          <p:cNvSpPr>
            <a:spLocks noGrp="1"/>
          </p:cNvSpPr>
          <p:nvPr>
            <p:ph type="ftr" sz="quarter" idx="11"/>
          </p:nvPr>
        </p:nvSpPr>
        <p:spPr/>
        <p:txBody>
          <a:bodyPr/>
          <a:lstStyle>
            <a:lvl1pPr>
              <a:defRPr/>
            </a:lvl1pPr>
          </a:lstStyle>
          <a:p>
            <a:endParaRPr lang="en-US" altLang="zh-TW">
              <a:solidFill>
                <a:srgbClr val="000000"/>
              </a:solidFill>
            </a:endParaRPr>
          </a:p>
        </p:txBody>
      </p:sp>
      <p:sp>
        <p:nvSpPr>
          <p:cNvPr id="5" name="投影片編號版面配置區 4"/>
          <p:cNvSpPr>
            <a:spLocks noGrp="1"/>
          </p:cNvSpPr>
          <p:nvPr>
            <p:ph type="sldNum" sz="quarter" idx="12"/>
          </p:nvPr>
        </p:nvSpPr>
        <p:spPr/>
        <p:txBody>
          <a:bodyPr/>
          <a:lstStyle>
            <a:lvl1pPr>
              <a:defRPr/>
            </a:lvl1pPr>
          </a:lstStyle>
          <a:p>
            <a:fld id="{ED707D56-5A63-4947-8B90-AE08C4E64ACC}"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738565320"/>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lvl1pPr>
              <a:defRPr/>
            </a:lvl1pPr>
          </a:lstStyle>
          <a:p>
            <a:endParaRPr lang="en-US" altLang="zh-TW">
              <a:solidFill>
                <a:srgbClr val="000000"/>
              </a:solidFill>
            </a:endParaRPr>
          </a:p>
        </p:txBody>
      </p:sp>
      <p:sp>
        <p:nvSpPr>
          <p:cNvPr id="3" name="頁尾版面配置區 2"/>
          <p:cNvSpPr>
            <a:spLocks noGrp="1"/>
          </p:cNvSpPr>
          <p:nvPr>
            <p:ph type="ftr" sz="quarter" idx="11"/>
          </p:nvPr>
        </p:nvSpPr>
        <p:spPr/>
        <p:txBody>
          <a:bodyPr/>
          <a:lstStyle>
            <a:lvl1pPr>
              <a:defRPr/>
            </a:lvl1pPr>
          </a:lstStyle>
          <a:p>
            <a:endParaRPr lang="en-US" altLang="zh-TW">
              <a:solidFill>
                <a:srgbClr val="000000"/>
              </a:solidFill>
            </a:endParaRPr>
          </a:p>
        </p:txBody>
      </p:sp>
      <p:sp>
        <p:nvSpPr>
          <p:cNvPr id="4" name="投影片編號版面配置區 3"/>
          <p:cNvSpPr>
            <a:spLocks noGrp="1"/>
          </p:cNvSpPr>
          <p:nvPr>
            <p:ph type="sldNum" sz="quarter" idx="12"/>
          </p:nvPr>
        </p:nvSpPr>
        <p:spPr/>
        <p:txBody>
          <a:bodyPr/>
          <a:lstStyle>
            <a:lvl1pPr>
              <a:defRPr/>
            </a:lvl1pPr>
          </a:lstStyle>
          <a:p>
            <a:fld id="{66162250-50A7-4F24-8D30-269322E72F67}"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653898513"/>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1"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a:solidFill>
                <a:srgbClr val="000000"/>
              </a:solidFill>
            </a:endParaRPr>
          </a:p>
        </p:txBody>
      </p:sp>
      <p:sp>
        <p:nvSpPr>
          <p:cNvPr id="6" name="頁尾版面配置區 5"/>
          <p:cNvSpPr>
            <a:spLocks noGrp="1"/>
          </p:cNvSpPr>
          <p:nvPr>
            <p:ph type="ftr" sz="quarter" idx="11"/>
          </p:nvPr>
        </p:nvSpPr>
        <p:spPr/>
        <p:txBody>
          <a:bodyPr/>
          <a:lstStyle>
            <a:lvl1pPr>
              <a:defRPr/>
            </a:lvl1pPr>
          </a:lstStyle>
          <a:p>
            <a:endParaRPr lang="en-US" altLang="zh-TW">
              <a:solidFill>
                <a:srgbClr val="000000"/>
              </a:solidFill>
            </a:endParaRPr>
          </a:p>
        </p:txBody>
      </p:sp>
      <p:sp>
        <p:nvSpPr>
          <p:cNvPr id="7" name="投影片編號版面配置區 6"/>
          <p:cNvSpPr>
            <a:spLocks noGrp="1"/>
          </p:cNvSpPr>
          <p:nvPr>
            <p:ph type="sldNum" sz="quarter" idx="12"/>
          </p:nvPr>
        </p:nvSpPr>
        <p:spPr/>
        <p:txBody>
          <a:bodyPr/>
          <a:lstStyle>
            <a:lvl1pPr>
              <a:defRPr/>
            </a:lvl1pPr>
          </a:lstStyle>
          <a:p>
            <a:fld id="{D1C12858-AADA-48F9-B5CE-A77ED630C587}"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469483309"/>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6"/>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a:solidFill>
                <a:srgbClr val="000000"/>
              </a:solidFill>
            </a:endParaRPr>
          </a:p>
        </p:txBody>
      </p:sp>
      <p:sp>
        <p:nvSpPr>
          <p:cNvPr id="6" name="頁尾版面配置區 5"/>
          <p:cNvSpPr>
            <a:spLocks noGrp="1"/>
          </p:cNvSpPr>
          <p:nvPr>
            <p:ph type="ftr" sz="quarter" idx="11"/>
          </p:nvPr>
        </p:nvSpPr>
        <p:spPr/>
        <p:txBody>
          <a:bodyPr/>
          <a:lstStyle>
            <a:lvl1pPr>
              <a:defRPr/>
            </a:lvl1pPr>
          </a:lstStyle>
          <a:p>
            <a:endParaRPr lang="en-US" altLang="zh-TW">
              <a:solidFill>
                <a:srgbClr val="000000"/>
              </a:solidFill>
            </a:endParaRPr>
          </a:p>
        </p:txBody>
      </p:sp>
      <p:sp>
        <p:nvSpPr>
          <p:cNvPr id="7" name="投影片編號版面配置區 6"/>
          <p:cNvSpPr>
            <a:spLocks noGrp="1"/>
          </p:cNvSpPr>
          <p:nvPr>
            <p:ph type="sldNum" sz="quarter" idx="12"/>
          </p:nvPr>
        </p:nvSpPr>
        <p:spPr/>
        <p:txBody>
          <a:bodyPr/>
          <a:lstStyle>
            <a:lvl1pPr>
              <a:defRPr/>
            </a:lvl1pPr>
          </a:lstStyle>
          <a:p>
            <a:fld id="{7C2E08A1-F873-4A2E-A833-01C9D17A434F}"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070682189"/>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lvl1pPr>
              <a:defRPr/>
            </a:lvl1pPr>
          </a:lstStyle>
          <a:p>
            <a:endParaRPr lang="en-US" altLang="zh-TW">
              <a:solidFill>
                <a:srgbClr val="000000"/>
              </a:solidFill>
            </a:endParaRPr>
          </a:p>
        </p:txBody>
      </p:sp>
      <p:sp>
        <p:nvSpPr>
          <p:cNvPr id="5" name="頁尾版面配置區 4"/>
          <p:cNvSpPr>
            <a:spLocks noGrp="1"/>
          </p:cNvSpPr>
          <p:nvPr>
            <p:ph type="ftr" sz="quarter" idx="11"/>
          </p:nvPr>
        </p:nvSpPr>
        <p:spPr/>
        <p:txBody>
          <a:bodyPr/>
          <a:lstStyle>
            <a:lvl1pPr>
              <a:defRPr/>
            </a:lvl1pPr>
          </a:lstStyle>
          <a:p>
            <a:endParaRPr lang="en-US" altLang="zh-TW">
              <a:solidFill>
                <a:srgbClr val="000000"/>
              </a:solidFill>
            </a:endParaRPr>
          </a:p>
        </p:txBody>
      </p:sp>
      <p:sp>
        <p:nvSpPr>
          <p:cNvPr id="6" name="投影片編號版面配置區 5"/>
          <p:cNvSpPr>
            <a:spLocks noGrp="1"/>
          </p:cNvSpPr>
          <p:nvPr>
            <p:ph type="sldNum" sz="quarter" idx="12"/>
          </p:nvPr>
        </p:nvSpPr>
        <p:spPr/>
        <p:txBody>
          <a:bodyPr/>
          <a:lstStyle>
            <a:lvl1pPr>
              <a:defRPr/>
            </a:lvl1pPr>
          </a:lstStyle>
          <a:p>
            <a:fld id="{E8E436D2-916D-444C-97D6-A0EA1C1CBAB5}"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286528210"/>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9"/>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9"/>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lvl1pPr>
              <a:defRPr/>
            </a:lvl1pPr>
          </a:lstStyle>
          <a:p>
            <a:endParaRPr lang="en-US" altLang="zh-TW">
              <a:solidFill>
                <a:srgbClr val="000000"/>
              </a:solidFill>
            </a:endParaRPr>
          </a:p>
        </p:txBody>
      </p:sp>
      <p:sp>
        <p:nvSpPr>
          <p:cNvPr id="5" name="頁尾版面配置區 4"/>
          <p:cNvSpPr>
            <a:spLocks noGrp="1"/>
          </p:cNvSpPr>
          <p:nvPr>
            <p:ph type="ftr" sz="quarter" idx="11"/>
          </p:nvPr>
        </p:nvSpPr>
        <p:spPr/>
        <p:txBody>
          <a:bodyPr/>
          <a:lstStyle>
            <a:lvl1pPr>
              <a:defRPr/>
            </a:lvl1pPr>
          </a:lstStyle>
          <a:p>
            <a:endParaRPr lang="en-US" altLang="zh-TW">
              <a:solidFill>
                <a:srgbClr val="000000"/>
              </a:solidFill>
            </a:endParaRPr>
          </a:p>
        </p:txBody>
      </p:sp>
      <p:sp>
        <p:nvSpPr>
          <p:cNvPr id="6" name="投影片編號版面配置區 5"/>
          <p:cNvSpPr>
            <a:spLocks noGrp="1"/>
          </p:cNvSpPr>
          <p:nvPr>
            <p:ph type="sldNum" sz="quarter" idx="12"/>
          </p:nvPr>
        </p:nvSpPr>
        <p:spPr/>
        <p:txBody>
          <a:bodyPr/>
          <a:lstStyle>
            <a:lvl1pPr>
              <a:defRPr/>
            </a:lvl1pPr>
          </a:lstStyle>
          <a:p>
            <a:fld id="{743221A8-8735-42FB-AB1A-BFCBA1634E6A}"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77259083"/>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1" y="274639"/>
            <a:ext cx="8229600" cy="1143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457201" y="1600200"/>
            <a:ext cx="4038600" cy="4525963"/>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a:xfrm>
            <a:off x="457200" y="6245225"/>
            <a:ext cx="2133600" cy="476250"/>
          </a:xfrm>
        </p:spPr>
        <p:txBody>
          <a:bodyPr/>
          <a:lstStyle>
            <a:lvl1pPr>
              <a:defRPr/>
            </a:lvl1pPr>
          </a:lstStyle>
          <a:p>
            <a:endParaRPr lang="en-US" altLang="zh-TW">
              <a:solidFill>
                <a:srgbClr val="000000"/>
              </a:solidFill>
            </a:endParaRPr>
          </a:p>
        </p:txBody>
      </p:sp>
      <p:sp>
        <p:nvSpPr>
          <p:cNvPr id="6" name="頁尾版面配置區 5"/>
          <p:cNvSpPr>
            <a:spLocks noGrp="1"/>
          </p:cNvSpPr>
          <p:nvPr>
            <p:ph type="ftr" sz="quarter" idx="11"/>
          </p:nvPr>
        </p:nvSpPr>
        <p:spPr>
          <a:xfrm>
            <a:off x="3124200" y="6245225"/>
            <a:ext cx="2895600" cy="476250"/>
          </a:xfrm>
        </p:spPr>
        <p:txBody>
          <a:bodyPr/>
          <a:lstStyle>
            <a:lvl1pPr>
              <a:defRPr/>
            </a:lvl1pPr>
          </a:lstStyle>
          <a:p>
            <a:endParaRPr lang="en-US" altLang="zh-TW">
              <a:solidFill>
                <a:srgbClr val="000000"/>
              </a:solidFill>
            </a:endParaRPr>
          </a:p>
        </p:txBody>
      </p:sp>
      <p:sp>
        <p:nvSpPr>
          <p:cNvPr id="7" name="投影片編號版面配置區 6"/>
          <p:cNvSpPr>
            <a:spLocks noGrp="1"/>
          </p:cNvSpPr>
          <p:nvPr>
            <p:ph type="sldNum" sz="quarter" idx="12"/>
          </p:nvPr>
        </p:nvSpPr>
        <p:spPr>
          <a:xfrm>
            <a:off x="6553200" y="6245225"/>
            <a:ext cx="2133600" cy="476250"/>
          </a:xfrm>
        </p:spPr>
        <p:txBody>
          <a:bodyPr/>
          <a:lstStyle>
            <a:lvl1pPr>
              <a:defRPr/>
            </a:lvl1pPr>
          </a:lstStyle>
          <a:p>
            <a:fld id="{E5B11B4D-916E-4323-8B51-AA8106365C40}"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256801238"/>
      </p:ext>
    </p:extLst>
  </p:cSld>
  <p:clrMapOvr>
    <a:masterClrMapping/>
  </p:clrMapOvr>
  <p:transition spd="slow">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標題，四項物件">
    <p:spTree>
      <p:nvGrpSpPr>
        <p:cNvPr id="1" name=""/>
        <p:cNvGrpSpPr/>
        <p:nvPr/>
      </p:nvGrpSpPr>
      <p:grpSpPr>
        <a:xfrm>
          <a:off x="0" y="0"/>
          <a:ext cx="0" cy="0"/>
          <a:chOff x="0" y="0"/>
          <a:chExt cx="0" cy="0"/>
        </a:xfrm>
      </p:grpSpPr>
      <p:sp>
        <p:nvSpPr>
          <p:cNvPr id="2" name="標題 1"/>
          <p:cNvSpPr>
            <a:spLocks noGrp="1"/>
          </p:cNvSpPr>
          <p:nvPr>
            <p:ph type="title" sz="quarter"/>
          </p:nvPr>
        </p:nvSpPr>
        <p:spPr>
          <a:xfrm>
            <a:off x="457201" y="274639"/>
            <a:ext cx="8229600" cy="1143000"/>
          </a:xfrm>
        </p:spPr>
        <p:txBody>
          <a:bodyPr/>
          <a:lstStyle/>
          <a:p>
            <a:r>
              <a:rPr lang="zh-TW" altLang="en-US"/>
              <a:t>按一下以編輯母片標題樣式</a:t>
            </a:r>
          </a:p>
        </p:txBody>
      </p:sp>
      <p:sp>
        <p:nvSpPr>
          <p:cNvPr id="3" name="內容版面配置區 2"/>
          <p:cNvSpPr>
            <a:spLocks noGrp="1"/>
          </p:cNvSpPr>
          <p:nvPr>
            <p:ph sz="quarter" idx="1"/>
          </p:nvPr>
        </p:nvSpPr>
        <p:spPr>
          <a:xfrm>
            <a:off x="457201" y="1600200"/>
            <a:ext cx="4038600" cy="21859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4648200" y="1600200"/>
            <a:ext cx="4038600" cy="21859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內容版面配置區 4"/>
          <p:cNvSpPr>
            <a:spLocks noGrp="1"/>
          </p:cNvSpPr>
          <p:nvPr>
            <p:ph sz="quarter" idx="3"/>
          </p:nvPr>
        </p:nvSpPr>
        <p:spPr>
          <a:xfrm>
            <a:off x="457201" y="3938588"/>
            <a:ext cx="4038600" cy="218757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內容版面配置區 5"/>
          <p:cNvSpPr>
            <a:spLocks noGrp="1"/>
          </p:cNvSpPr>
          <p:nvPr>
            <p:ph sz="quarter" idx="4"/>
          </p:nvPr>
        </p:nvSpPr>
        <p:spPr>
          <a:xfrm>
            <a:off x="4648200" y="3938588"/>
            <a:ext cx="4038600" cy="218757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a:xfrm>
            <a:off x="457200" y="6245225"/>
            <a:ext cx="2133600" cy="476250"/>
          </a:xfrm>
        </p:spPr>
        <p:txBody>
          <a:bodyPr/>
          <a:lstStyle>
            <a:lvl1pPr>
              <a:defRPr/>
            </a:lvl1pPr>
          </a:lstStyle>
          <a:p>
            <a:endParaRPr lang="en-US" altLang="zh-TW">
              <a:solidFill>
                <a:srgbClr val="000000"/>
              </a:solidFill>
            </a:endParaRPr>
          </a:p>
        </p:txBody>
      </p:sp>
      <p:sp>
        <p:nvSpPr>
          <p:cNvPr id="8" name="頁尾版面配置區 7"/>
          <p:cNvSpPr>
            <a:spLocks noGrp="1"/>
          </p:cNvSpPr>
          <p:nvPr>
            <p:ph type="ftr" sz="quarter" idx="11"/>
          </p:nvPr>
        </p:nvSpPr>
        <p:spPr>
          <a:xfrm>
            <a:off x="3124200" y="6245225"/>
            <a:ext cx="2895600" cy="476250"/>
          </a:xfrm>
        </p:spPr>
        <p:txBody>
          <a:bodyPr/>
          <a:lstStyle>
            <a:lvl1pPr>
              <a:defRPr/>
            </a:lvl1pPr>
          </a:lstStyle>
          <a:p>
            <a:endParaRPr lang="en-US" altLang="zh-TW">
              <a:solidFill>
                <a:srgbClr val="000000"/>
              </a:solidFill>
            </a:endParaRPr>
          </a:p>
        </p:txBody>
      </p:sp>
      <p:sp>
        <p:nvSpPr>
          <p:cNvPr id="9" name="投影片編號版面配置區 8"/>
          <p:cNvSpPr>
            <a:spLocks noGrp="1"/>
          </p:cNvSpPr>
          <p:nvPr>
            <p:ph type="sldNum" sz="quarter" idx="12"/>
          </p:nvPr>
        </p:nvSpPr>
        <p:spPr>
          <a:xfrm>
            <a:off x="6553200" y="6245225"/>
            <a:ext cx="2133600" cy="476250"/>
          </a:xfrm>
        </p:spPr>
        <p:txBody>
          <a:bodyPr/>
          <a:lstStyle>
            <a:lvl1pPr>
              <a:defRPr/>
            </a:lvl1pPr>
          </a:lstStyle>
          <a:p>
            <a:fld id="{4F9913EE-0BA1-43C7-8D27-C3F8B9E4890C}"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465361713"/>
      </p:ext>
    </p:extLst>
  </p:cSld>
  <p:clrMapOvr>
    <a:masterClrMapping/>
  </p:clrMapOvr>
  <p:transition spd="slow">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1" y="274639"/>
            <a:ext cx="8229600" cy="585152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3" name="日期版面配置區 2"/>
          <p:cNvSpPr>
            <a:spLocks noGrp="1"/>
          </p:cNvSpPr>
          <p:nvPr>
            <p:ph type="dt" sz="half" idx="10"/>
          </p:nvPr>
        </p:nvSpPr>
        <p:spPr>
          <a:xfrm>
            <a:off x="457200" y="6245225"/>
            <a:ext cx="2133600" cy="476250"/>
          </a:xfrm>
        </p:spPr>
        <p:txBody>
          <a:bodyPr/>
          <a:lstStyle>
            <a:lvl1pPr>
              <a:defRPr/>
            </a:lvl1pPr>
          </a:lstStyle>
          <a:p>
            <a:endParaRPr lang="en-US" altLang="zh-TW">
              <a:solidFill>
                <a:srgbClr val="000000"/>
              </a:solidFill>
            </a:endParaRPr>
          </a:p>
        </p:txBody>
      </p:sp>
      <p:sp>
        <p:nvSpPr>
          <p:cNvPr id="4" name="頁尾版面配置區 3"/>
          <p:cNvSpPr>
            <a:spLocks noGrp="1"/>
          </p:cNvSpPr>
          <p:nvPr>
            <p:ph type="ftr" sz="quarter" idx="11"/>
          </p:nvPr>
        </p:nvSpPr>
        <p:spPr>
          <a:xfrm>
            <a:off x="3124200" y="6245225"/>
            <a:ext cx="2895600" cy="476250"/>
          </a:xfrm>
        </p:spPr>
        <p:txBody>
          <a:bodyPr/>
          <a:lstStyle>
            <a:lvl1pPr>
              <a:defRPr/>
            </a:lvl1pPr>
          </a:lstStyle>
          <a:p>
            <a:endParaRPr lang="en-US" altLang="zh-TW">
              <a:solidFill>
                <a:srgbClr val="000000"/>
              </a:solidFill>
            </a:endParaRPr>
          </a:p>
        </p:txBody>
      </p:sp>
      <p:sp>
        <p:nvSpPr>
          <p:cNvPr id="5" name="投影片編號版面配置區 4"/>
          <p:cNvSpPr>
            <a:spLocks noGrp="1"/>
          </p:cNvSpPr>
          <p:nvPr>
            <p:ph type="sldNum" sz="quarter" idx="12"/>
          </p:nvPr>
        </p:nvSpPr>
        <p:spPr>
          <a:xfrm>
            <a:off x="6553200" y="6245225"/>
            <a:ext cx="2133600" cy="476250"/>
          </a:xfrm>
        </p:spPr>
        <p:txBody>
          <a:bodyPr/>
          <a:lstStyle>
            <a:lvl1pPr>
              <a:defRPr/>
            </a:lvl1pPr>
          </a:lstStyle>
          <a:p>
            <a:fld id="{F421E806-7BBA-4806-BD17-835D2CA0450A}"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2171279637"/>
      </p:ext>
    </p:extLst>
  </p:cSld>
  <p:clrMapOvr>
    <a:masterClrMapping/>
  </p:clrMapOvr>
  <p:transition spd="slow">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Pr>
        <a:solidFill>
          <a:srgbClr val="FFFFFF"/>
        </a:solidFill>
        <a:effectLst/>
      </p:bgPr>
    </p:bg>
    <p:spTree>
      <p:nvGrpSpPr>
        <p:cNvPr id="1" name=""/>
        <p:cNvGrpSpPr/>
        <p:nvPr/>
      </p:nvGrpSpPr>
      <p:grpSpPr>
        <a:xfrm>
          <a:off x="0" y="0"/>
          <a:ext cx="0" cy="0"/>
          <a:chOff x="0" y="0"/>
          <a:chExt cx="0" cy="0"/>
        </a:xfrm>
      </p:grpSpPr>
      <p:sp>
        <p:nvSpPr>
          <p:cNvPr id="4" name="Rectangle 1784"/>
          <p:cNvSpPr>
            <a:spLocks noChangeArrowheads="1"/>
          </p:cNvSpPr>
          <p:nvPr userDrawn="1"/>
        </p:nvSpPr>
        <p:spPr bwMode="gray">
          <a:xfrm>
            <a:off x="2978150" y="0"/>
            <a:ext cx="3270250" cy="3429000"/>
          </a:xfrm>
          <a:prstGeom prst="rect">
            <a:avLst/>
          </a:prstGeom>
          <a:gradFill rotWithShape="1">
            <a:gsLst>
              <a:gs pos="0">
                <a:schemeClr val="accent2"/>
              </a:gs>
              <a:gs pos="100000">
                <a:schemeClr val="accent2">
                  <a:gamma/>
                  <a:shade val="46275"/>
                  <a:invGamma/>
                </a:schemeClr>
              </a:gs>
            </a:gsLst>
            <a:lin ang="5400000" scaled="1"/>
          </a:gradFill>
          <a:ln w="9525">
            <a:noFill/>
            <a:miter lim="800000"/>
            <a:headEnd/>
            <a:tailEnd/>
          </a:ln>
          <a:effectLst/>
        </p:spPr>
        <p:txBody>
          <a:bodyPr wrap="none" anchor="ctr"/>
          <a:lstStyle/>
          <a:p>
            <a:pPr fontAlgn="base">
              <a:spcBef>
                <a:spcPct val="0"/>
              </a:spcBef>
              <a:spcAft>
                <a:spcPct val="0"/>
              </a:spcAft>
              <a:defRPr/>
            </a:pPr>
            <a:endParaRPr lang="zh-TW" altLang="en-US" b="1">
              <a:solidFill>
                <a:srgbClr val="024631"/>
              </a:solidFill>
              <a:ea typeface="新細明體" pitchFamily="18" charset="-120"/>
            </a:endParaRPr>
          </a:p>
        </p:txBody>
      </p:sp>
      <p:graphicFrame>
        <p:nvGraphicFramePr>
          <p:cNvPr id="5" name="Object 65"/>
          <p:cNvGraphicFramePr>
            <a:graphicFrameLocks noChangeAspect="1"/>
          </p:cNvGraphicFramePr>
          <p:nvPr userDrawn="1"/>
        </p:nvGraphicFramePr>
        <p:xfrm>
          <a:off x="6227763" y="0"/>
          <a:ext cx="2914650" cy="3573463"/>
        </p:xfrm>
        <a:graphic>
          <a:graphicData uri="http://schemas.openxmlformats.org/presentationml/2006/ole">
            <mc:AlternateContent xmlns:mc="http://schemas.openxmlformats.org/markup-compatibility/2006">
              <mc:Choice xmlns:v="urn:schemas-microsoft-com:vml" Requires="v">
                <p:oleObj name="Image" r:id="rId2" imgW="3809524" imgH="4673016" progId="">
                  <p:embed/>
                </p:oleObj>
              </mc:Choice>
              <mc:Fallback>
                <p:oleObj name="Image" r:id="rId2" imgW="3809524" imgH="4673016"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6227763" y="0"/>
                        <a:ext cx="2914650" cy="357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66"/>
          <p:cNvGraphicFramePr>
            <a:graphicFrameLocks noChangeAspect="1"/>
          </p:cNvGraphicFramePr>
          <p:nvPr userDrawn="1"/>
        </p:nvGraphicFramePr>
        <p:xfrm>
          <a:off x="0" y="0"/>
          <a:ext cx="3019425" cy="3573463"/>
        </p:xfrm>
        <a:graphic>
          <a:graphicData uri="http://schemas.openxmlformats.org/presentationml/2006/ole">
            <mc:AlternateContent xmlns:mc="http://schemas.openxmlformats.org/markup-compatibility/2006">
              <mc:Choice xmlns:v="urn:schemas-microsoft-com:vml" Requires="v">
                <p:oleObj name="Image" r:id="rId4" imgW="3809524" imgH="4507937" progId="">
                  <p:embed/>
                </p:oleObj>
              </mc:Choice>
              <mc:Fallback>
                <p:oleObj name="Image" r:id="rId4" imgW="3809524" imgH="4507937"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0" y="0"/>
                        <a:ext cx="3019425" cy="357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Group 68"/>
          <p:cNvGrpSpPr>
            <a:grpSpLocks/>
          </p:cNvGrpSpPr>
          <p:nvPr userDrawn="1"/>
        </p:nvGrpSpPr>
        <p:grpSpPr bwMode="auto">
          <a:xfrm>
            <a:off x="3348038" y="836613"/>
            <a:ext cx="2509837" cy="2498725"/>
            <a:chOff x="2111" y="670"/>
            <a:chExt cx="1581" cy="1574"/>
          </a:xfrm>
        </p:grpSpPr>
        <p:sp>
          <p:nvSpPr>
            <p:cNvPr id="8" name="Line 69"/>
            <p:cNvSpPr>
              <a:spLocks noChangeShapeType="1"/>
            </p:cNvSpPr>
            <p:nvPr userDrawn="1"/>
          </p:nvSpPr>
          <p:spPr bwMode="gray">
            <a:xfrm flipH="1">
              <a:off x="3092" y="1532"/>
              <a:ext cx="156" cy="9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 name="Line 70"/>
            <p:cNvSpPr>
              <a:spLocks noChangeShapeType="1"/>
            </p:cNvSpPr>
            <p:nvPr userDrawn="1"/>
          </p:nvSpPr>
          <p:spPr bwMode="gray">
            <a:xfrm flipH="1" flipV="1">
              <a:off x="3101" y="1523"/>
              <a:ext cx="206" cy="7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 name="Line 71"/>
            <p:cNvSpPr>
              <a:spLocks noChangeShapeType="1"/>
            </p:cNvSpPr>
            <p:nvPr userDrawn="1"/>
          </p:nvSpPr>
          <p:spPr bwMode="gray">
            <a:xfrm flipV="1">
              <a:off x="3081" y="1642"/>
              <a:ext cx="2" cy="23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 name="Line 72"/>
            <p:cNvSpPr>
              <a:spLocks noChangeShapeType="1"/>
            </p:cNvSpPr>
            <p:nvPr userDrawn="1"/>
          </p:nvSpPr>
          <p:spPr bwMode="gray">
            <a:xfrm flipV="1">
              <a:off x="3449" y="1518"/>
              <a:ext cx="7" cy="25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 name="Line 73"/>
            <p:cNvSpPr>
              <a:spLocks noChangeShapeType="1"/>
            </p:cNvSpPr>
            <p:nvPr userDrawn="1"/>
          </p:nvSpPr>
          <p:spPr bwMode="gray">
            <a:xfrm flipH="1">
              <a:off x="3456" y="1273"/>
              <a:ext cx="7" cy="24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 name="Line 74"/>
            <p:cNvSpPr>
              <a:spLocks noChangeShapeType="1"/>
            </p:cNvSpPr>
            <p:nvPr userDrawn="1"/>
          </p:nvSpPr>
          <p:spPr bwMode="gray">
            <a:xfrm flipV="1">
              <a:off x="2990" y="934"/>
              <a:ext cx="2" cy="23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 name="Freeform 75"/>
            <p:cNvSpPr>
              <a:spLocks/>
            </p:cNvSpPr>
            <p:nvPr userDrawn="1"/>
          </p:nvSpPr>
          <p:spPr bwMode="gray">
            <a:xfrm>
              <a:off x="3083" y="1623"/>
              <a:ext cx="9" cy="19"/>
            </a:xfrm>
            <a:custGeom>
              <a:avLst/>
              <a:gdLst>
                <a:gd name="T0" fmla="*/ 9 w 9"/>
                <a:gd name="T1" fmla="*/ 0 h 19"/>
                <a:gd name="T2" fmla="*/ 5 w 9"/>
                <a:gd name="T3" fmla="*/ 4 h 19"/>
                <a:gd name="T4" fmla="*/ 4 w 9"/>
                <a:gd name="T5" fmla="*/ 9 h 19"/>
                <a:gd name="T6" fmla="*/ 2 w 9"/>
                <a:gd name="T7" fmla="*/ 12 h 19"/>
                <a:gd name="T8" fmla="*/ 0 w 9"/>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9">
                  <a:moveTo>
                    <a:pt x="9" y="0"/>
                  </a:moveTo>
                  <a:lnTo>
                    <a:pt x="5" y="4"/>
                  </a:lnTo>
                  <a:lnTo>
                    <a:pt x="4" y="9"/>
                  </a:lnTo>
                  <a:lnTo>
                    <a:pt x="2" y="12"/>
                  </a:lnTo>
                  <a:lnTo>
                    <a:pt x="0" y="1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 name="Line 76"/>
            <p:cNvSpPr>
              <a:spLocks noChangeShapeType="1"/>
            </p:cNvSpPr>
            <p:nvPr userDrawn="1"/>
          </p:nvSpPr>
          <p:spPr bwMode="gray">
            <a:xfrm>
              <a:off x="2983" y="1595"/>
              <a:ext cx="209" cy="7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 name="Line 77"/>
            <p:cNvSpPr>
              <a:spLocks noChangeShapeType="1"/>
            </p:cNvSpPr>
            <p:nvPr userDrawn="1"/>
          </p:nvSpPr>
          <p:spPr bwMode="gray">
            <a:xfrm>
              <a:off x="2989" y="1588"/>
              <a:ext cx="208" cy="7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 name="Line 78"/>
            <p:cNvSpPr>
              <a:spLocks noChangeShapeType="1"/>
            </p:cNvSpPr>
            <p:nvPr userDrawn="1"/>
          </p:nvSpPr>
          <p:spPr bwMode="gray">
            <a:xfrm flipH="1" flipV="1">
              <a:off x="2980" y="1606"/>
              <a:ext cx="208" cy="7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8" name="Line 79"/>
            <p:cNvSpPr>
              <a:spLocks noChangeShapeType="1"/>
            </p:cNvSpPr>
            <p:nvPr userDrawn="1"/>
          </p:nvSpPr>
          <p:spPr bwMode="gray">
            <a:xfrm>
              <a:off x="2957" y="1842"/>
              <a:ext cx="186" cy="6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9" name="Line 80"/>
            <p:cNvSpPr>
              <a:spLocks noChangeShapeType="1"/>
            </p:cNvSpPr>
            <p:nvPr userDrawn="1"/>
          </p:nvSpPr>
          <p:spPr bwMode="gray">
            <a:xfrm flipH="1" flipV="1">
              <a:off x="2231" y="1408"/>
              <a:ext cx="116" cy="4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0" name="Line 81"/>
            <p:cNvSpPr>
              <a:spLocks noChangeShapeType="1"/>
            </p:cNvSpPr>
            <p:nvPr userDrawn="1"/>
          </p:nvSpPr>
          <p:spPr bwMode="gray">
            <a:xfrm flipV="1">
              <a:off x="2284" y="1467"/>
              <a:ext cx="63" cy="3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1" name="Line 82"/>
            <p:cNvSpPr>
              <a:spLocks noChangeShapeType="1"/>
            </p:cNvSpPr>
            <p:nvPr userDrawn="1"/>
          </p:nvSpPr>
          <p:spPr bwMode="gray">
            <a:xfrm flipH="1" flipV="1">
              <a:off x="2665" y="1564"/>
              <a:ext cx="203" cy="7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2" name="Line 83"/>
            <p:cNvSpPr>
              <a:spLocks noChangeShapeType="1"/>
            </p:cNvSpPr>
            <p:nvPr userDrawn="1"/>
          </p:nvSpPr>
          <p:spPr bwMode="gray">
            <a:xfrm flipV="1">
              <a:off x="2642" y="1539"/>
              <a:ext cx="163" cy="9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3" name="Line 84"/>
            <p:cNvSpPr>
              <a:spLocks noChangeShapeType="1"/>
            </p:cNvSpPr>
            <p:nvPr userDrawn="1"/>
          </p:nvSpPr>
          <p:spPr bwMode="gray">
            <a:xfrm flipV="1">
              <a:off x="2880" y="1653"/>
              <a:ext cx="1" cy="23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4" name="Line 85"/>
            <p:cNvSpPr>
              <a:spLocks noChangeShapeType="1"/>
            </p:cNvSpPr>
            <p:nvPr userDrawn="1"/>
          </p:nvSpPr>
          <p:spPr bwMode="gray">
            <a:xfrm flipV="1">
              <a:off x="2798" y="1721"/>
              <a:ext cx="161" cy="9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5" name="Line 86"/>
            <p:cNvSpPr>
              <a:spLocks noChangeShapeType="1"/>
            </p:cNvSpPr>
            <p:nvPr userDrawn="1"/>
          </p:nvSpPr>
          <p:spPr bwMode="gray">
            <a:xfrm>
              <a:off x="2733" y="1506"/>
              <a:ext cx="11" cy="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6" name="Line 87"/>
            <p:cNvSpPr>
              <a:spLocks noChangeShapeType="1"/>
            </p:cNvSpPr>
            <p:nvPr userDrawn="1"/>
          </p:nvSpPr>
          <p:spPr bwMode="gray">
            <a:xfrm flipV="1">
              <a:off x="2744" y="1509"/>
              <a:ext cx="1" cy="1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7" name="Line 88"/>
            <p:cNvSpPr>
              <a:spLocks noChangeShapeType="1"/>
            </p:cNvSpPr>
            <p:nvPr userDrawn="1"/>
          </p:nvSpPr>
          <p:spPr bwMode="gray">
            <a:xfrm flipH="1" flipV="1">
              <a:off x="2452" y="1569"/>
              <a:ext cx="3" cy="25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8" name="Line 89"/>
            <p:cNvSpPr>
              <a:spLocks noChangeShapeType="1"/>
            </p:cNvSpPr>
            <p:nvPr userDrawn="1"/>
          </p:nvSpPr>
          <p:spPr bwMode="gray">
            <a:xfrm>
              <a:off x="2142" y="1583"/>
              <a:ext cx="637" cy="23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9" name="Line 90"/>
            <p:cNvSpPr>
              <a:spLocks noChangeShapeType="1"/>
            </p:cNvSpPr>
            <p:nvPr userDrawn="1"/>
          </p:nvSpPr>
          <p:spPr bwMode="gray">
            <a:xfrm flipV="1">
              <a:off x="2564" y="1609"/>
              <a:ext cx="1" cy="1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0" name="Line 91"/>
            <p:cNvSpPr>
              <a:spLocks noChangeShapeType="1"/>
            </p:cNvSpPr>
            <p:nvPr userDrawn="1"/>
          </p:nvSpPr>
          <p:spPr bwMode="gray">
            <a:xfrm flipH="1" flipV="1">
              <a:off x="2551" y="1606"/>
              <a:ext cx="13" cy="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1" name="Line 92"/>
            <p:cNvSpPr>
              <a:spLocks noChangeShapeType="1"/>
            </p:cNvSpPr>
            <p:nvPr userDrawn="1"/>
          </p:nvSpPr>
          <p:spPr bwMode="gray">
            <a:xfrm flipH="1" flipV="1">
              <a:off x="2354" y="1534"/>
              <a:ext cx="197" cy="7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2" name="Line 93"/>
            <p:cNvSpPr>
              <a:spLocks noChangeShapeType="1"/>
            </p:cNvSpPr>
            <p:nvPr userDrawn="1"/>
          </p:nvSpPr>
          <p:spPr bwMode="gray">
            <a:xfrm flipH="1" flipV="1">
              <a:off x="2343" y="1530"/>
              <a:ext cx="11" cy="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3" name="Line 94"/>
            <p:cNvSpPr>
              <a:spLocks noChangeShapeType="1"/>
            </p:cNvSpPr>
            <p:nvPr userDrawn="1"/>
          </p:nvSpPr>
          <p:spPr bwMode="gray">
            <a:xfrm flipV="1">
              <a:off x="2343" y="1530"/>
              <a:ext cx="1" cy="1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4" name="Line 95"/>
            <p:cNvSpPr>
              <a:spLocks noChangeShapeType="1"/>
            </p:cNvSpPr>
            <p:nvPr userDrawn="1"/>
          </p:nvSpPr>
          <p:spPr bwMode="gray">
            <a:xfrm>
              <a:off x="2347" y="1770"/>
              <a:ext cx="1" cy="1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5" name="Line 96"/>
            <p:cNvSpPr>
              <a:spLocks noChangeShapeType="1"/>
            </p:cNvSpPr>
            <p:nvPr userDrawn="1"/>
          </p:nvSpPr>
          <p:spPr bwMode="gray">
            <a:xfrm>
              <a:off x="2347" y="1784"/>
              <a:ext cx="12" cy="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6" name="Line 97"/>
            <p:cNvSpPr>
              <a:spLocks noChangeShapeType="1"/>
            </p:cNvSpPr>
            <p:nvPr userDrawn="1"/>
          </p:nvSpPr>
          <p:spPr bwMode="gray">
            <a:xfrm>
              <a:off x="2359" y="1788"/>
              <a:ext cx="196" cy="7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7" name="Line 98"/>
            <p:cNvSpPr>
              <a:spLocks noChangeShapeType="1"/>
            </p:cNvSpPr>
            <p:nvPr userDrawn="1"/>
          </p:nvSpPr>
          <p:spPr bwMode="gray">
            <a:xfrm>
              <a:off x="2555" y="1861"/>
              <a:ext cx="10" cy="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8" name="Line 99"/>
            <p:cNvSpPr>
              <a:spLocks noChangeShapeType="1"/>
            </p:cNvSpPr>
            <p:nvPr userDrawn="1"/>
          </p:nvSpPr>
          <p:spPr bwMode="gray">
            <a:xfrm>
              <a:off x="2565" y="1852"/>
              <a:ext cx="1" cy="1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9" name="Line 100"/>
            <p:cNvSpPr>
              <a:spLocks noChangeShapeType="1"/>
            </p:cNvSpPr>
            <p:nvPr userDrawn="1"/>
          </p:nvSpPr>
          <p:spPr bwMode="gray">
            <a:xfrm flipH="1" flipV="1">
              <a:off x="2656" y="1892"/>
              <a:ext cx="2" cy="15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0" name="Line 101"/>
            <p:cNvSpPr>
              <a:spLocks noChangeShapeType="1"/>
            </p:cNvSpPr>
            <p:nvPr userDrawn="1"/>
          </p:nvSpPr>
          <p:spPr bwMode="gray">
            <a:xfrm flipV="1">
              <a:off x="2576" y="1892"/>
              <a:ext cx="79" cy="4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1" name="Line 102"/>
            <p:cNvSpPr>
              <a:spLocks noChangeShapeType="1"/>
            </p:cNvSpPr>
            <p:nvPr userDrawn="1"/>
          </p:nvSpPr>
          <p:spPr bwMode="gray">
            <a:xfrm flipH="1" flipV="1">
              <a:off x="2653" y="1312"/>
              <a:ext cx="2" cy="23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2" name="Line 103"/>
            <p:cNvSpPr>
              <a:spLocks noChangeShapeType="1"/>
            </p:cNvSpPr>
            <p:nvPr userDrawn="1"/>
          </p:nvSpPr>
          <p:spPr bwMode="gray">
            <a:xfrm flipV="1">
              <a:off x="2572" y="1434"/>
              <a:ext cx="163" cy="8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3" name="Line 104"/>
            <p:cNvSpPr>
              <a:spLocks noChangeShapeType="1"/>
            </p:cNvSpPr>
            <p:nvPr userDrawn="1"/>
          </p:nvSpPr>
          <p:spPr bwMode="gray">
            <a:xfrm>
              <a:off x="2441" y="1228"/>
              <a:ext cx="200" cy="6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4" name="Line 105"/>
            <p:cNvSpPr>
              <a:spLocks noChangeShapeType="1"/>
            </p:cNvSpPr>
            <p:nvPr userDrawn="1"/>
          </p:nvSpPr>
          <p:spPr bwMode="gray">
            <a:xfrm flipH="1">
              <a:off x="2457" y="1219"/>
              <a:ext cx="166" cy="8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5" name="Line 106"/>
            <p:cNvSpPr>
              <a:spLocks noChangeShapeType="1"/>
            </p:cNvSpPr>
            <p:nvPr userDrawn="1"/>
          </p:nvSpPr>
          <p:spPr bwMode="gray">
            <a:xfrm>
              <a:off x="2359" y="1864"/>
              <a:ext cx="196" cy="7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6" name="Line 107"/>
            <p:cNvSpPr>
              <a:spLocks noChangeShapeType="1"/>
            </p:cNvSpPr>
            <p:nvPr userDrawn="1"/>
          </p:nvSpPr>
          <p:spPr bwMode="gray">
            <a:xfrm>
              <a:off x="2455" y="1824"/>
              <a:ext cx="4" cy="23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7" name="Line 108"/>
            <p:cNvSpPr>
              <a:spLocks noChangeShapeType="1"/>
            </p:cNvSpPr>
            <p:nvPr userDrawn="1"/>
          </p:nvSpPr>
          <p:spPr bwMode="gray">
            <a:xfrm>
              <a:off x="2352" y="1454"/>
              <a:ext cx="199" cy="7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8" name="Line 109"/>
            <p:cNvSpPr>
              <a:spLocks noChangeShapeType="1"/>
            </p:cNvSpPr>
            <p:nvPr userDrawn="1"/>
          </p:nvSpPr>
          <p:spPr bwMode="gray">
            <a:xfrm>
              <a:off x="2448" y="1322"/>
              <a:ext cx="4" cy="24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9" name="Line 110"/>
            <p:cNvSpPr>
              <a:spLocks noChangeShapeType="1"/>
            </p:cNvSpPr>
            <p:nvPr userDrawn="1"/>
          </p:nvSpPr>
          <p:spPr bwMode="gray">
            <a:xfrm flipV="1">
              <a:off x="3438" y="1167"/>
              <a:ext cx="32" cy="1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0" name="Line 111"/>
            <p:cNvSpPr>
              <a:spLocks noChangeShapeType="1"/>
            </p:cNvSpPr>
            <p:nvPr userDrawn="1"/>
          </p:nvSpPr>
          <p:spPr bwMode="gray">
            <a:xfrm flipV="1">
              <a:off x="3548" y="1268"/>
              <a:ext cx="2" cy="6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1" name="Line 112"/>
            <p:cNvSpPr>
              <a:spLocks noChangeShapeType="1"/>
            </p:cNvSpPr>
            <p:nvPr userDrawn="1"/>
          </p:nvSpPr>
          <p:spPr bwMode="gray">
            <a:xfrm flipV="1">
              <a:off x="3599" y="1336"/>
              <a:ext cx="18" cy="1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2" name="Line 113"/>
            <p:cNvSpPr>
              <a:spLocks noChangeShapeType="1"/>
            </p:cNvSpPr>
            <p:nvPr userDrawn="1"/>
          </p:nvSpPr>
          <p:spPr bwMode="gray">
            <a:xfrm>
              <a:off x="3398" y="1139"/>
              <a:ext cx="10" cy="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3" name="Line 114"/>
            <p:cNvSpPr>
              <a:spLocks noChangeShapeType="1"/>
            </p:cNvSpPr>
            <p:nvPr userDrawn="1"/>
          </p:nvSpPr>
          <p:spPr bwMode="gray">
            <a:xfrm flipV="1">
              <a:off x="3408" y="1142"/>
              <a:ext cx="1" cy="1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4" name="Line 115"/>
            <p:cNvSpPr>
              <a:spLocks noChangeShapeType="1"/>
            </p:cNvSpPr>
            <p:nvPr userDrawn="1"/>
          </p:nvSpPr>
          <p:spPr bwMode="gray">
            <a:xfrm flipV="1">
              <a:off x="3139" y="1224"/>
              <a:ext cx="4" cy="21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5" name="Line 116"/>
            <p:cNvSpPr>
              <a:spLocks noChangeShapeType="1"/>
            </p:cNvSpPr>
            <p:nvPr userDrawn="1"/>
          </p:nvSpPr>
          <p:spPr bwMode="gray">
            <a:xfrm>
              <a:off x="3034" y="1389"/>
              <a:ext cx="1" cy="1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6" name="Line 117"/>
            <p:cNvSpPr>
              <a:spLocks noChangeShapeType="1"/>
            </p:cNvSpPr>
            <p:nvPr userDrawn="1"/>
          </p:nvSpPr>
          <p:spPr bwMode="gray">
            <a:xfrm>
              <a:off x="3034" y="1401"/>
              <a:ext cx="11" cy="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7" name="Line 118"/>
            <p:cNvSpPr>
              <a:spLocks noChangeShapeType="1"/>
            </p:cNvSpPr>
            <p:nvPr userDrawn="1"/>
          </p:nvSpPr>
          <p:spPr bwMode="gray">
            <a:xfrm flipV="1">
              <a:off x="3331" y="952"/>
              <a:ext cx="4" cy="19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8" name="Line 119"/>
            <p:cNvSpPr>
              <a:spLocks noChangeShapeType="1"/>
            </p:cNvSpPr>
            <p:nvPr userDrawn="1"/>
          </p:nvSpPr>
          <p:spPr bwMode="gray">
            <a:xfrm flipV="1">
              <a:off x="3309" y="1070"/>
              <a:ext cx="94" cy="5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9" name="Line 120"/>
            <p:cNvSpPr>
              <a:spLocks noChangeShapeType="1"/>
            </p:cNvSpPr>
            <p:nvPr userDrawn="1"/>
          </p:nvSpPr>
          <p:spPr bwMode="gray">
            <a:xfrm flipH="1">
              <a:off x="3284" y="868"/>
              <a:ext cx="14" cy="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0" name="Line 121"/>
            <p:cNvSpPr>
              <a:spLocks noChangeShapeType="1"/>
            </p:cNvSpPr>
            <p:nvPr userDrawn="1"/>
          </p:nvSpPr>
          <p:spPr bwMode="gray">
            <a:xfrm>
              <a:off x="3043" y="1478"/>
              <a:ext cx="82" cy="2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1" name="Line 122"/>
            <p:cNvSpPr>
              <a:spLocks noChangeShapeType="1"/>
            </p:cNvSpPr>
            <p:nvPr userDrawn="1"/>
          </p:nvSpPr>
          <p:spPr bwMode="gray">
            <a:xfrm flipH="1" flipV="1">
              <a:off x="3045" y="1405"/>
              <a:ext cx="105" cy="3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2" name="Line 123"/>
            <p:cNvSpPr>
              <a:spLocks noChangeShapeType="1"/>
            </p:cNvSpPr>
            <p:nvPr userDrawn="1"/>
          </p:nvSpPr>
          <p:spPr bwMode="gray">
            <a:xfrm flipH="1">
              <a:off x="3534" y="1342"/>
              <a:ext cx="42" cy="2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3" name="Line 124"/>
            <p:cNvSpPr>
              <a:spLocks noChangeShapeType="1"/>
            </p:cNvSpPr>
            <p:nvPr userDrawn="1"/>
          </p:nvSpPr>
          <p:spPr bwMode="gray">
            <a:xfrm flipH="1" flipV="1">
              <a:off x="3533" y="1420"/>
              <a:ext cx="43" cy="1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4" name="Line 125"/>
            <p:cNvSpPr>
              <a:spLocks noChangeShapeType="1"/>
            </p:cNvSpPr>
            <p:nvPr userDrawn="1"/>
          </p:nvSpPr>
          <p:spPr bwMode="gray">
            <a:xfrm flipV="1">
              <a:off x="3143" y="1488"/>
              <a:ext cx="1" cy="1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5" name="Line 126"/>
            <p:cNvSpPr>
              <a:spLocks noChangeShapeType="1"/>
            </p:cNvSpPr>
            <p:nvPr userDrawn="1"/>
          </p:nvSpPr>
          <p:spPr bwMode="gray">
            <a:xfrm flipV="1">
              <a:off x="3143" y="1485"/>
              <a:ext cx="8" cy="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6" name="Line 127"/>
            <p:cNvSpPr>
              <a:spLocks noChangeShapeType="1"/>
            </p:cNvSpPr>
            <p:nvPr userDrawn="1"/>
          </p:nvSpPr>
          <p:spPr bwMode="gray">
            <a:xfrm>
              <a:off x="2980" y="1721"/>
              <a:ext cx="206" cy="7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7" name="Line 128"/>
            <p:cNvSpPr>
              <a:spLocks noChangeShapeType="1"/>
            </p:cNvSpPr>
            <p:nvPr userDrawn="1"/>
          </p:nvSpPr>
          <p:spPr bwMode="gray">
            <a:xfrm flipV="1">
              <a:off x="3207" y="1502"/>
              <a:ext cx="478" cy="29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8" name="Line 129"/>
            <p:cNvSpPr>
              <a:spLocks noChangeShapeType="1"/>
            </p:cNvSpPr>
            <p:nvPr userDrawn="1"/>
          </p:nvSpPr>
          <p:spPr bwMode="gray">
            <a:xfrm flipV="1">
              <a:off x="3538" y="1469"/>
              <a:ext cx="1" cy="1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9" name="Line 130"/>
            <p:cNvSpPr>
              <a:spLocks noChangeShapeType="1"/>
            </p:cNvSpPr>
            <p:nvPr userDrawn="1"/>
          </p:nvSpPr>
          <p:spPr bwMode="gray">
            <a:xfrm flipH="1">
              <a:off x="3529" y="1469"/>
              <a:ext cx="9" cy="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0" name="Line 131"/>
            <p:cNvSpPr>
              <a:spLocks noChangeShapeType="1"/>
            </p:cNvSpPr>
            <p:nvPr userDrawn="1"/>
          </p:nvSpPr>
          <p:spPr bwMode="gray">
            <a:xfrm flipH="1">
              <a:off x="3380" y="1474"/>
              <a:ext cx="149" cy="8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1" name="Line 132"/>
            <p:cNvSpPr>
              <a:spLocks noChangeShapeType="1"/>
            </p:cNvSpPr>
            <p:nvPr userDrawn="1"/>
          </p:nvSpPr>
          <p:spPr bwMode="gray">
            <a:xfrm flipH="1">
              <a:off x="3372" y="1562"/>
              <a:ext cx="8" cy="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2" name="Line 133"/>
            <p:cNvSpPr>
              <a:spLocks noChangeShapeType="1"/>
            </p:cNvSpPr>
            <p:nvPr userDrawn="1"/>
          </p:nvSpPr>
          <p:spPr bwMode="gray">
            <a:xfrm flipV="1">
              <a:off x="3372" y="1567"/>
              <a:ext cx="1" cy="1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3" name="Line 134"/>
            <p:cNvSpPr>
              <a:spLocks noChangeShapeType="1"/>
            </p:cNvSpPr>
            <p:nvPr userDrawn="1"/>
          </p:nvSpPr>
          <p:spPr bwMode="gray">
            <a:xfrm>
              <a:off x="3366" y="1810"/>
              <a:ext cx="1" cy="1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4" name="Line 135"/>
            <p:cNvSpPr>
              <a:spLocks noChangeShapeType="1"/>
            </p:cNvSpPr>
            <p:nvPr userDrawn="1"/>
          </p:nvSpPr>
          <p:spPr bwMode="gray">
            <a:xfrm flipV="1">
              <a:off x="3366" y="1817"/>
              <a:ext cx="7" cy="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5" name="Line 136"/>
            <p:cNvSpPr>
              <a:spLocks noChangeShapeType="1"/>
            </p:cNvSpPr>
            <p:nvPr userDrawn="1"/>
          </p:nvSpPr>
          <p:spPr bwMode="gray">
            <a:xfrm flipV="1">
              <a:off x="3373" y="1725"/>
              <a:ext cx="149" cy="9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6" name="Line 137"/>
            <p:cNvSpPr>
              <a:spLocks noChangeShapeType="1"/>
            </p:cNvSpPr>
            <p:nvPr userDrawn="1"/>
          </p:nvSpPr>
          <p:spPr bwMode="gray">
            <a:xfrm flipV="1">
              <a:off x="3522" y="1721"/>
              <a:ext cx="9" cy="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7" name="Line 138"/>
            <p:cNvSpPr>
              <a:spLocks noChangeShapeType="1"/>
            </p:cNvSpPr>
            <p:nvPr userDrawn="1"/>
          </p:nvSpPr>
          <p:spPr bwMode="gray">
            <a:xfrm>
              <a:off x="3531" y="1707"/>
              <a:ext cx="1" cy="1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8" name="Line 139"/>
            <p:cNvSpPr>
              <a:spLocks noChangeShapeType="1"/>
            </p:cNvSpPr>
            <p:nvPr userDrawn="1"/>
          </p:nvSpPr>
          <p:spPr bwMode="gray">
            <a:xfrm flipH="1" flipV="1">
              <a:off x="3279" y="1870"/>
              <a:ext cx="73" cy="2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9" name="Line 140"/>
            <p:cNvSpPr>
              <a:spLocks noChangeShapeType="1"/>
            </p:cNvSpPr>
            <p:nvPr userDrawn="1"/>
          </p:nvSpPr>
          <p:spPr bwMode="gray">
            <a:xfrm flipV="1">
              <a:off x="3256" y="1282"/>
              <a:ext cx="6" cy="23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0" name="Line 141"/>
            <p:cNvSpPr>
              <a:spLocks noChangeShapeType="1"/>
            </p:cNvSpPr>
            <p:nvPr userDrawn="1"/>
          </p:nvSpPr>
          <p:spPr bwMode="gray">
            <a:xfrm flipH="1" flipV="1">
              <a:off x="3155" y="1413"/>
              <a:ext cx="208" cy="7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1" name="Line 142"/>
            <p:cNvSpPr>
              <a:spLocks noChangeShapeType="1"/>
            </p:cNvSpPr>
            <p:nvPr userDrawn="1"/>
          </p:nvSpPr>
          <p:spPr bwMode="gray">
            <a:xfrm flipV="1">
              <a:off x="3270" y="1181"/>
              <a:ext cx="151" cy="8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2" name="Line 143"/>
            <p:cNvSpPr>
              <a:spLocks noChangeShapeType="1"/>
            </p:cNvSpPr>
            <p:nvPr userDrawn="1"/>
          </p:nvSpPr>
          <p:spPr bwMode="gray">
            <a:xfrm>
              <a:off x="3242" y="1189"/>
              <a:ext cx="208" cy="6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3" name="Line 144"/>
            <p:cNvSpPr>
              <a:spLocks noChangeShapeType="1"/>
            </p:cNvSpPr>
            <p:nvPr userDrawn="1"/>
          </p:nvSpPr>
          <p:spPr bwMode="gray">
            <a:xfrm flipV="1">
              <a:off x="3372" y="1803"/>
              <a:ext cx="148" cy="9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4" name="Line 145"/>
            <p:cNvSpPr>
              <a:spLocks noChangeShapeType="1"/>
            </p:cNvSpPr>
            <p:nvPr userDrawn="1"/>
          </p:nvSpPr>
          <p:spPr bwMode="gray">
            <a:xfrm flipH="1">
              <a:off x="3442" y="1770"/>
              <a:ext cx="7" cy="23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5" name="Line 146"/>
            <p:cNvSpPr>
              <a:spLocks noChangeShapeType="1"/>
            </p:cNvSpPr>
            <p:nvPr userDrawn="1"/>
          </p:nvSpPr>
          <p:spPr bwMode="gray">
            <a:xfrm flipV="1">
              <a:off x="3382" y="1394"/>
              <a:ext cx="151" cy="8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6" name="Line 147"/>
            <p:cNvSpPr>
              <a:spLocks noChangeShapeType="1"/>
            </p:cNvSpPr>
            <p:nvPr userDrawn="1"/>
          </p:nvSpPr>
          <p:spPr bwMode="gray">
            <a:xfrm flipH="1" flipV="1">
              <a:off x="2380" y="995"/>
              <a:ext cx="5" cy="22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7" name="Line 148"/>
            <p:cNvSpPr>
              <a:spLocks noChangeShapeType="1"/>
            </p:cNvSpPr>
            <p:nvPr userDrawn="1"/>
          </p:nvSpPr>
          <p:spPr bwMode="gray">
            <a:xfrm flipH="1" flipV="1">
              <a:off x="2291" y="1123"/>
              <a:ext cx="187" cy="6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8" name="Line 149"/>
            <p:cNvSpPr>
              <a:spLocks noChangeShapeType="1"/>
            </p:cNvSpPr>
            <p:nvPr userDrawn="1"/>
          </p:nvSpPr>
          <p:spPr bwMode="gray">
            <a:xfrm flipV="1">
              <a:off x="2282" y="1196"/>
              <a:ext cx="1" cy="1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9" name="Line 150"/>
            <p:cNvSpPr>
              <a:spLocks noChangeShapeType="1"/>
            </p:cNvSpPr>
            <p:nvPr userDrawn="1"/>
          </p:nvSpPr>
          <p:spPr bwMode="gray">
            <a:xfrm flipH="1">
              <a:off x="2282" y="1191"/>
              <a:ext cx="9" cy="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0" name="Line 151"/>
            <p:cNvSpPr>
              <a:spLocks noChangeShapeType="1"/>
            </p:cNvSpPr>
            <p:nvPr userDrawn="1"/>
          </p:nvSpPr>
          <p:spPr bwMode="gray">
            <a:xfrm flipV="1">
              <a:off x="2389" y="929"/>
              <a:ext cx="101" cy="4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1" name="Line 152"/>
            <p:cNvSpPr>
              <a:spLocks noChangeShapeType="1"/>
            </p:cNvSpPr>
            <p:nvPr userDrawn="1"/>
          </p:nvSpPr>
          <p:spPr bwMode="gray">
            <a:xfrm>
              <a:off x="2375" y="910"/>
              <a:ext cx="115" cy="3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2" name="Line 153"/>
            <p:cNvSpPr>
              <a:spLocks noChangeShapeType="1"/>
            </p:cNvSpPr>
            <p:nvPr userDrawn="1"/>
          </p:nvSpPr>
          <p:spPr bwMode="gray">
            <a:xfrm>
              <a:off x="2926" y="2031"/>
              <a:ext cx="196"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3" name="Line 154"/>
            <p:cNvSpPr>
              <a:spLocks noChangeShapeType="1"/>
            </p:cNvSpPr>
            <p:nvPr userDrawn="1"/>
          </p:nvSpPr>
          <p:spPr bwMode="gray">
            <a:xfrm flipV="1">
              <a:off x="2982" y="1943"/>
              <a:ext cx="1" cy="21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4" name="Line 155"/>
            <p:cNvSpPr>
              <a:spLocks noChangeShapeType="1"/>
            </p:cNvSpPr>
            <p:nvPr userDrawn="1"/>
          </p:nvSpPr>
          <p:spPr bwMode="gray">
            <a:xfrm>
              <a:off x="2905" y="1903"/>
              <a:ext cx="12" cy="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5" name="Line 156"/>
            <p:cNvSpPr>
              <a:spLocks noChangeShapeType="1"/>
            </p:cNvSpPr>
            <p:nvPr userDrawn="1"/>
          </p:nvSpPr>
          <p:spPr bwMode="gray">
            <a:xfrm flipH="1">
              <a:off x="2917" y="1901"/>
              <a:ext cx="7" cy="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6" name="Line 157"/>
            <p:cNvSpPr>
              <a:spLocks noChangeShapeType="1"/>
            </p:cNvSpPr>
            <p:nvPr userDrawn="1"/>
          </p:nvSpPr>
          <p:spPr bwMode="gray">
            <a:xfrm flipV="1">
              <a:off x="3143" y="2029"/>
              <a:ext cx="119"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7" name="Line 158"/>
            <p:cNvSpPr>
              <a:spLocks noChangeShapeType="1"/>
            </p:cNvSpPr>
            <p:nvPr userDrawn="1"/>
          </p:nvSpPr>
          <p:spPr bwMode="gray">
            <a:xfrm flipH="1">
              <a:off x="3214" y="2011"/>
              <a:ext cx="2" cy="15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8" name="Line 159"/>
            <p:cNvSpPr>
              <a:spLocks noChangeShapeType="1"/>
            </p:cNvSpPr>
            <p:nvPr userDrawn="1"/>
          </p:nvSpPr>
          <p:spPr bwMode="gray">
            <a:xfrm flipH="1">
              <a:off x="2915" y="2141"/>
              <a:ext cx="9" cy="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9" name="Line 160"/>
            <p:cNvSpPr>
              <a:spLocks noChangeShapeType="1"/>
            </p:cNvSpPr>
            <p:nvPr userDrawn="1"/>
          </p:nvSpPr>
          <p:spPr bwMode="gray">
            <a:xfrm flipH="1" flipV="1">
              <a:off x="2905" y="2141"/>
              <a:ext cx="10" cy="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0" name="Line 161"/>
            <p:cNvSpPr>
              <a:spLocks noChangeShapeType="1"/>
            </p:cNvSpPr>
            <p:nvPr userDrawn="1"/>
          </p:nvSpPr>
          <p:spPr bwMode="gray">
            <a:xfrm flipH="1">
              <a:off x="2754" y="2032"/>
              <a:ext cx="152" cy="9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1" name="Line 162"/>
            <p:cNvSpPr>
              <a:spLocks noChangeShapeType="1"/>
            </p:cNvSpPr>
            <p:nvPr userDrawn="1"/>
          </p:nvSpPr>
          <p:spPr bwMode="gray">
            <a:xfrm flipV="1">
              <a:off x="2863" y="1950"/>
              <a:ext cx="1" cy="21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2" name="Line 163"/>
            <p:cNvSpPr>
              <a:spLocks noChangeShapeType="1"/>
            </p:cNvSpPr>
            <p:nvPr userDrawn="1"/>
          </p:nvSpPr>
          <p:spPr bwMode="gray">
            <a:xfrm>
              <a:off x="2616" y="2081"/>
              <a:ext cx="119" cy="4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3" name="Line 164"/>
            <p:cNvSpPr>
              <a:spLocks noChangeShapeType="1"/>
            </p:cNvSpPr>
            <p:nvPr userDrawn="1"/>
          </p:nvSpPr>
          <p:spPr bwMode="gray">
            <a:xfrm>
              <a:off x="2637" y="2067"/>
              <a:ext cx="2" cy="13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4" name="Line 165"/>
            <p:cNvSpPr>
              <a:spLocks noChangeShapeType="1"/>
            </p:cNvSpPr>
            <p:nvPr userDrawn="1"/>
          </p:nvSpPr>
          <p:spPr bwMode="gray">
            <a:xfrm flipH="1">
              <a:off x="2753" y="1034"/>
              <a:ext cx="159" cy="8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5" name="Line 166"/>
            <p:cNvSpPr>
              <a:spLocks noChangeShapeType="1"/>
            </p:cNvSpPr>
            <p:nvPr userDrawn="1"/>
          </p:nvSpPr>
          <p:spPr bwMode="gray">
            <a:xfrm flipV="1">
              <a:off x="2865" y="939"/>
              <a:ext cx="1" cy="23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6" name="Line 167"/>
            <p:cNvSpPr>
              <a:spLocks noChangeShapeType="1"/>
            </p:cNvSpPr>
            <p:nvPr userDrawn="1"/>
          </p:nvSpPr>
          <p:spPr bwMode="gray">
            <a:xfrm flipV="1">
              <a:off x="3146" y="798"/>
              <a:ext cx="1" cy="3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7" name="Line 168"/>
            <p:cNvSpPr>
              <a:spLocks noChangeShapeType="1"/>
            </p:cNvSpPr>
            <p:nvPr userDrawn="1"/>
          </p:nvSpPr>
          <p:spPr bwMode="gray">
            <a:xfrm>
              <a:off x="2786" y="787"/>
              <a:ext cx="222" cy="6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8" name="Line 169"/>
            <p:cNvSpPr>
              <a:spLocks noChangeShapeType="1"/>
            </p:cNvSpPr>
            <p:nvPr userDrawn="1"/>
          </p:nvSpPr>
          <p:spPr bwMode="gray">
            <a:xfrm flipH="1">
              <a:off x="2639" y="700"/>
              <a:ext cx="502" cy="24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9" name="Line 170"/>
            <p:cNvSpPr>
              <a:spLocks noChangeShapeType="1"/>
            </p:cNvSpPr>
            <p:nvPr userDrawn="1"/>
          </p:nvSpPr>
          <p:spPr bwMode="gray">
            <a:xfrm>
              <a:off x="2910" y="896"/>
              <a:ext cx="10" cy="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0" name="Line 171"/>
            <p:cNvSpPr>
              <a:spLocks noChangeShapeType="1"/>
            </p:cNvSpPr>
            <p:nvPr userDrawn="1"/>
          </p:nvSpPr>
          <p:spPr bwMode="gray">
            <a:xfrm flipV="1">
              <a:off x="2920" y="894"/>
              <a:ext cx="9" cy="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1" name="Line 172"/>
            <p:cNvSpPr>
              <a:spLocks noChangeShapeType="1"/>
            </p:cNvSpPr>
            <p:nvPr userDrawn="1"/>
          </p:nvSpPr>
          <p:spPr bwMode="gray">
            <a:xfrm flipV="1">
              <a:off x="2929" y="815"/>
              <a:ext cx="156" cy="7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2" name="Line 173"/>
            <p:cNvSpPr>
              <a:spLocks noChangeShapeType="1"/>
            </p:cNvSpPr>
            <p:nvPr userDrawn="1"/>
          </p:nvSpPr>
          <p:spPr bwMode="gray">
            <a:xfrm flipV="1">
              <a:off x="3085" y="812"/>
              <a:ext cx="9" cy="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3" name="Line 174"/>
            <p:cNvSpPr>
              <a:spLocks noChangeShapeType="1"/>
            </p:cNvSpPr>
            <p:nvPr userDrawn="1"/>
          </p:nvSpPr>
          <p:spPr bwMode="gray">
            <a:xfrm>
              <a:off x="3081" y="808"/>
              <a:ext cx="13" cy="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4" name="Line 175"/>
            <p:cNvSpPr>
              <a:spLocks noChangeShapeType="1"/>
            </p:cNvSpPr>
            <p:nvPr userDrawn="1"/>
          </p:nvSpPr>
          <p:spPr bwMode="gray">
            <a:xfrm flipH="1" flipV="1">
              <a:off x="2873" y="745"/>
              <a:ext cx="11" cy="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5" name="Line 176"/>
            <p:cNvSpPr>
              <a:spLocks noChangeShapeType="1"/>
            </p:cNvSpPr>
            <p:nvPr userDrawn="1"/>
          </p:nvSpPr>
          <p:spPr bwMode="gray">
            <a:xfrm flipH="1">
              <a:off x="2865" y="745"/>
              <a:ext cx="8" cy="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6" name="Line 177"/>
            <p:cNvSpPr>
              <a:spLocks noChangeShapeType="1"/>
            </p:cNvSpPr>
            <p:nvPr userDrawn="1"/>
          </p:nvSpPr>
          <p:spPr bwMode="gray">
            <a:xfrm flipH="1">
              <a:off x="2707" y="749"/>
              <a:ext cx="158" cy="7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7" name="Line 178"/>
            <p:cNvSpPr>
              <a:spLocks noChangeShapeType="1"/>
            </p:cNvSpPr>
            <p:nvPr userDrawn="1"/>
          </p:nvSpPr>
          <p:spPr bwMode="gray">
            <a:xfrm flipH="1">
              <a:off x="2698" y="826"/>
              <a:ext cx="9" cy="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8" name="Line 179"/>
            <p:cNvSpPr>
              <a:spLocks noChangeShapeType="1"/>
            </p:cNvSpPr>
            <p:nvPr userDrawn="1"/>
          </p:nvSpPr>
          <p:spPr bwMode="gray">
            <a:xfrm flipH="1" flipV="1">
              <a:off x="2698" y="829"/>
              <a:ext cx="11" cy="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9" name="Line 180"/>
            <p:cNvSpPr>
              <a:spLocks noChangeShapeType="1"/>
            </p:cNvSpPr>
            <p:nvPr userDrawn="1"/>
          </p:nvSpPr>
          <p:spPr bwMode="gray">
            <a:xfrm>
              <a:off x="2532" y="1051"/>
              <a:ext cx="200" cy="6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0" name="Line 181"/>
            <p:cNvSpPr>
              <a:spLocks noChangeShapeType="1"/>
            </p:cNvSpPr>
            <p:nvPr userDrawn="1"/>
          </p:nvSpPr>
          <p:spPr bwMode="gray">
            <a:xfrm>
              <a:off x="2630" y="966"/>
              <a:ext cx="2" cy="23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1" name="Line 182"/>
            <p:cNvSpPr>
              <a:spLocks noChangeShapeType="1"/>
            </p:cNvSpPr>
            <p:nvPr userDrawn="1"/>
          </p:nvSpPr>
          <p:spPr bwMode="gray">
            <a:xfrm flipH="1">
              <a:off x="2920" y="1154"/>
              <a:ext cx="9" cy="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2" name="Line 183"/>
            <p:cNvSpPr>
              <a:spLocks noChangeShapeType="1"/>
            </p:cNvSpPr>
            <p:nvPr userDrawn="1"/>
          </p:nvSpPr>
          <p:spPr bwMode="gray">
            <a:xfrm>
              <a:off x="2908" y="1154"/>
              <a:ext cx="12" cy="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3" name="Line 184"/>
            <p:cNvSpPr>
              <a:spLocks noChangeShapeType="1"/>
            </p:cNvSpPr>
            <p:nvPr userDrawn="1"/>
          </p:nvSpPr>
          <p:spPr bwMode="gray">
            <a:xfrm>
              <a:off x="2494" y="894"/>
              <a:ext cx="50" cy="1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4" name="Line 185"/>
            <p:cNvSpPr>
              <a:spLocks noChangeShapeType="1"/>
            </p:cNvSpPr>
            <p:nvPr userDrawn="1"/>
          </p:nvSpPr>
          <p:spPr bwMode="gray">
            <a:xfrm flipH="1" flipV="1">
              <a:off x="2630" y="820"/>
              <a:ext cx="2" cy="4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5" name="Line 186"/>
            <p:cNvSpPr>
              <a:spLocks noChangeShapeType="1"/>
            </p:cNvSpPr>
            <p:nvPr userDrawn="1"/>
          </p:nvSpPr>
          <p:spPr bwMode="gray">
            <a:xfrm>
              <a:off x="2931" y="1032"/>
              <a:ext cx="205" cy="6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6" name="Line 187"/>
            <p:cNvSpPr>
              <a:spLocks noChangeShapeType="1"/>
            </p:cNvSpPr>
            <p:nvPr userDrawn="1"/>
          </p:nvSpPr>
          <p:spPr bwMode="gray">
            <a:xfrm flipV="1">
              <a:off x="3001" y="838"/>
              <a:ext cx="154" cy="7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7" name="Line 188"/>
            <p:cNvSpPr>
              <a:spLocks noChangeShapeType="1"/>
            </p:cNvSpPr>
            <p:nvPr userDrawn="1"/>
          </p:nvSpPr>
          <p:spPr bwMode="gray">
            <a:xfrm>
              <a:off x="3008" y="855"/>
              <a:ext cx="217" cy="6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8" name="Line 189"/>
            <p:cNvSpPr>
              <a:spLocks noChangeShapeType="1"/>
            </p:cNvSpPr>
            <p:nvPr userDrawn="1"/>
          </p:nvSpPr>
          <p:spPr bwMode="gray">
            <a:xfrm flipV="1">
              <a:off x="2639" y="729"/>
              <a:ext cx="157" cy="7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9" name="Line 190"/>
            <p:cNvSpPr>
              <a:spLocks noChangeShapeType="1"/>
            </p:cNvSpPr>
            <p:nvPr userDrawn="1"/>
          </p:nvSpPr>
          <p:spPr bwMode="gray">
            <a:xfrm>
              <a:off x="2581" y="724"/>
              <a:ext cx="205" cy="6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0" name="Line 191"/>
            <p:cNvSpPr>
              <a:spLocks noChangeShapeType="1"/>
            </p:cNvSpPr>
            <p:nvPr userDrawn="1"/>
          </p:nvSpPr>
          <p:spPr bwMode="gray">
            <a:xfrm flipV="1">
              <a:off x="3157" y="1015"/>
              <a:ext cx="152" cy="8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1" name="Line 192"/>
            <p:cNvSpPr>
              <a:spLocks noChangeShapeType="1"/>
            </p:cNvSpPr>
            <p:nvPr userDrawn="1"/>
          </p:nvSpPr>
          <p:spPr bwMode="gray">
            <a:xfrm flipH="1">
              <a:off x="3232" y="938"/>
              <a:ext cx="3" cy="23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2" name="Line 193"/>
            <p:cNvSpPr>
              <a:spLocks noChangeShapeType="1"/>
            </p:cNvSpPr>
            <p:nvPr userDrawn="1"/>
          </p:nvSpPr>
          <p:spPr bwMode="gray">
            <a:xfrm flipH="1">
              <a:off x="2216" y="1235"/>
              <a:ext cx="161" cy="8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3" name="Line 194"/>
            <p:cNvSpPr>
              <a:spLocks noChangeShapeType="1"/>
            </p:cNvSpPr>
            <p:nvPr userDrawn="1"/>
          </p:nvSpPr>
          <p:spPr bwMode="gray">
            <a:xfrm flipH="1" flipV="1">
              <a:off x="2237" y="1226"/>
              <a:ext cx="120" cy="4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4" name="Line 195"/>
            <p:cNvSpPr>
              <a:spLocks noChangeShapeType="1"/>
            </p:cNvSpPr>
            <p:nvPr userDrawn="1"/>
          </p:nvSpPr>
          <p:spPr bwMode="gray">
            <a:xfrm flipH="1" flipV="1">
              <a:off x="2207" y="1333"/>
              <a:ext cx="2" cy="8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5" name="Line 196"/>
            <p:cNvSpPr>
              <a:spLocks noChangeShapeType="1"/>
            </p:cNvSpPr>
            <p:nvPr userDrawn="1"/>
          </p:nvSpPr>
          <p:spPr bwMode="gray">
            <a:xfrm>
              <a:off x="2118" y="1412"/>
              <a:ext cx="59" cy="2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6" name="Line 197"/>
            <p:cNvSpPr>
              <a:spLocks noChangeShapeType="1"/>
            </p:cNvSpPr>
            <p:nvPr userDrawn="1"/>
          </p:nvSpPr>
          <p:spPr bwMode="gray">
            <a:xfrm flipV="1">
              <a:off x="2732" y="1216"/>
              <a:ext cx="85" cy="4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7" name="Freeform 198"/>
            <p:cNvSpPr>
              <a:spLocks/>
            </p:cNvSpPr>
            <p:nvPr userDrawn="1"/>
          </p:nvSpPr>
          <p:spPr bwMode="gray">
            <a:xfrm>
              <a:off x="3421" y="1179"/>
              <a:ext cx="8" cy="10"/>
            </a:xfrm>
            <a:custGeom>
              <a:avLst/>
              <a:gdLst>
                <a:gd name="T0" fmla="*/ 8 w 8"/>
                <a:gd name="T1" fmla="*/ 10 h 10"/>
                <a:gd name="T2" fmla="*/ 8 w 8"/>
                <a:gd name="T3" fmla="*/ 5 h 10"/>
                <a:gd name="T4" fmla="*/ 7 w 8"/>
                <a:gd name="T5" fmla="*/ 2 h 10"/>
                <a:gd name="T6" fmla="*/ 5 w 8"/>
                <a:gd name="T7" fmla="*/ 0 h 10"/>
                <a:gd name="T8" fmla="*/ 1 w 8"/>
                <a:gd name="T9" fmla="*/ 0 h 10"/>
                <a:gd name="T10" fmla="*/ 0 w 8"/>
                <a:gd name="T11" fmla="*/ 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10">
                  <a:moveTo>
                    <a:pt x="8" y="10"/>
                  </a:moveTo>
                  <a:lnTo>
                    <a:pt x="8" y="5"/>
                  </a:lnTo>
                  <a:lnTo>
                    <a:pt x="7" y="2"/>
                  </a:lnTo>
                  <a:lnTo>
                    <a:pt x="5" y="0"/>
                  </a:lnTo>
                  <a:lnTo>
                    <a:pt x="1"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8" name="Line 199"/>
            <p:cNvSpPr>
              <a:spLocks noChangeShapeType="1"/>
            </p:cNvSpPr>
            <p:nvPr userDrawn="1"/>
          </p:nvSpPr>
          <p:spPr bwMode="gray">
            <a:xfrm>
              <a:off x="3324" y="1147"/>
              <a:ext cx="207" cy="6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9" name="Line 200"/>
            <p:cNvSpPr>
              <a:spLocks noChangeShapeType="1"/>
            </p:cNvSpPr>
            <p:nvPr userDrawn="1"/>
          </p:nvSpPr>
          <p:spPr bwMode="gray">
            <a:xfrm>
              <a:off x="3326" y="1156"/>
              <a:ext cx="207" cy="6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0" name="Freeform 201"/>
            <p:cNvSpPr>
              <a:spLocks/>
            </p:cNvSpPr>
            <p:nvPr userDrawn="1"/>
          </p:nvSpPr>
          <p:spPr bwMode="gray">
            <a:xfrm>
              <a:off x="3526" y="1212"/>
              <a:ext cx="7" cy="9"/>
            </a:xfrm>
            <a:custGeom>
              <a:avLst/>
              <a:gdLst>
                <a:gd name="T0" fmla="*/ 7 w 7"/>
                <a:gd name="T1" fmla="*/ 9 h 9"/>
                <a:gd name="T2" fmla="*/ 7 w 7"/>
                <a:gd name="T3" fmla="*/ 7 h 9"/>
                <a:gd name="T4" fmla="*/ 7 w 7"/>
                <a:gd name="T5" fmla="*/ 4 h 9"/>
                <a:gd name="T6" fmla="*/ 7 w 7"/>
                <a:gd name="T7" fmla="*/ 2 h 9"/>
                <a:gd name="T8" fmla="*/ 5 w 7"/>
                <a:gd name="T9" fmla="*/ 0 h 9"/>
                <a:gd name="T10" fmla="*/ 3 w 7"/>
                <a:gd name="T11" fmla="*/ 0 h 9"/>
                <a:gd name="T12" fmla="*/ 0 w 7"/>
                <a:gd name="T13" fmla="*/ 2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 h="9">
                  <a:moveTo>
                    <a:pt x="7" y="9"/>
                  </a:moveTo>
                  <a:lnTo>
                    <a:pt x="7" y="7"/>
                  </a:lnTo>
                  <a:lnTo>
                    <a:pt x="7" y="4"/>
                  </a:lnTo>
                  <a:lnTo>
                    <a:pt x="7" y="2"/>
                  </a:lnTo>
                  <a:lnTo>
                    <a:pt x="5" y="0"/>
                  </a:lnTo>
                  <a:lnTo>
                    <a:pt x="3"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1" name="Line 202"/>
            <p:cNvSpPr>
              <a:spLocks noChangeShapeType="1"/>
            </p:cNvSpPr>
            <p:nvPr userDrawn="1"/>
          </p:nvSpPr>
          <p:spPr bwMode="gray">
            <a:xfrm flipH="1" flipV="1">
              <a:off x="3317" y="1147"/>
              <a:ext cx="209" cy="6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2" name="Freeform 203"/>
            <p:cNvSpPr>
              <a:spLocks/>
            </p:cNvSpPr>
            <p:nvPr userDrawn="1"/>
          </p:nvSpPr>
          <p:spPr bwMode="gray">
            <a:xfrm>
              <a:off x="3317" y="1146"/>
              <a:ext cx="9" cy="10"/>
            </a:xfrm>
            <a:custGeom>
              <a:avLst/>
              <a:gdLst>
                <a:gd name="T0" fmla="*/ 9 w 9"/>
                <a:gd name="T1" fmla="*/ 10 h 10"/>
                <a:gd name="T2" fmla="*/ 9 w 9"/>
                <a:gd name="T3" fmla="*/ 7 h 10"/>
                <a:gd name="T4" fmla="*/ 7 w 9"/>
                <a:gd name="T5" fmla="*/ 3 h 10"/>
                <a:gd name="T6" fmla="*/ 7 w 9"/>
                <a:gd name="T7" fmla="*/ 1 h 10"/>
                <a:gd name="T8" fmla="*/ 4 w 9"/>
                <a:gd name="T9" fmla="*/ 0 h 10"/>
                <a:gd name="T10" fmla="*/ 0 w 9"/>
                <a:gd name="T11" fmla="*/ 1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10">
                  <a:moveTo>
                    <a:pt x="9" y="10"/>
                  </a:moveTo>
                  <a:lnTo>
                    <a:pt x="9" y="7"/>
                  </a:lnTo>
                  <a:lnTo>
                    <a:pt x="7" y="3"/>
                  </a:lnTo>
                  <a:lnTo>
                    <a:pt x="7" y="1"/>
                  </a:lnTo>
                  <a:lnTo>
                    <a:pt x="4" y="0"/>
                  </a:lnTo>
                  <a:lnTo>
                    <a:pt x="0" y="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3" name="Freeform 204"/>
            <p:cNvSpPr>
              <a:spLocks/>
            </p:cNvSpPr>
            <p:nvPr userDrawn="1"/>
          </p:nvSpPr>
          <p:spPr bwMode="gray">
            <a:xfrm>
              <a:off x="2144" y="1686"/>
              <a:ext cx="10" cy="16"/>
            </a:xfrm>
            <a:custGeom>
              <a:avLst/>
              <a:gdLst>
                <a:gd name="T0" fmla="*/ 10 w 10"/>
                <a:gd name="T1" fmla="*/ 16 h 16"/>
                <a:gd name="T2" fmla="*/ 7 w 10"/>
                <a:gd name="T3" fmla="*/ 14 h 16"/>
                <a:gd name="T4" fmla="*/ 3 w 10"/>
                <a:gd name="T5" fmla="*/ 9 h 16"/>
                <a:gd name="T6" fmla="*/ 2 w 10"/>
                <a:gd name="T7" fmla="*/ 5 h 16"/>
                <a:gd name="T8" fmla="*/ 0 w 10"/>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10" y="16"/>
                  </a:moveTo>
                  <a:lnTo>
                    <a:pt x="7" y="14"/>
                  </a:lnTo>
                  <a:lnTo>
                    <a:pt x="3" y="9"/>
                  </a:lnTo>
                  <a:lnTo>
                    <a:pt x="2"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4" name="Freeform 205"/>
            <p:cNvSpPr>
              <a:spLocks/>
            </p:cNvSpPr>
            <p:nvPr userDrawn="1"/>
          </p:nvSpPr>
          <p:spPr bwMode="gray">
            <a:xfrm>
              <a:off x="2265" y="1740"/>
              <a:ext cx="10" cy="9"/>
            </a:xfrm>
            <a:custGeom>
              <a:avLst/>
              <a:gdLst>
                <a:gd name="T0" fmla="*/ 10 w 10"/>
                <a:gd name="T1" fmla="*/ 7 h 9"/>
                <a:gd name="T2" fmla="*/ 7 w 10"/>
                <a:gd name="T3" fmla="*/ 9 h 9"/>
                <a:gd name="T4" fmla="*/ 3 w 10"/>
                <a:gd name="T5" fmla="*/ 7 h 9"/>
                <a:gd name="T6" fmla="*/ 1 w 10"/>
                <a:gd name="T7" fmla="*/ 4 h 9"/>
                <a:gd name="T8" fmla="*/ 0 w 10"/>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9">
                  <a:moveTo>
                    <a:pt x="10" y="7"/>
                  </a:moveTo>
                  <a:lnTo>
                    <a:pt x="7" y="9"/>
                  </a:lnTo>
                  <a:lnTo>
                    <a:pt x="3" y="7"/>
                  </a:lnTo>
                  <a:lnTo>
                    <a:pt x="1"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5" name="Line 206"/>
            <p:cNvSpPr>
              <a:spLocks noChangeShapeType="1"/>
            </p:cNvSpPr>
            <p:nvPr userDrawn="1"/>
          </p:nvSpPr>
          <p:spPr bwMode="gray">
            <a:xfrm>
              <a:off x="2149" y="1702"/>
              <a:ext cx="196" cy="7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6" name="Line 207"/>
            <p:cNvSpPr>
              <a:spLocks noChangeShapeType="1"/>
            </p:cNvSpPr>
            <p:nvPr userDrawn="1"/>
          </p:nvSpPr>
          <p:spPr bwMode="gray">
            <a:xfrm>
              <a:off x="2154" y="1702"/>
              <a:ext cx="193" cy="7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7" name="Freeform 208"/>
            <p:cNvSpPr>
              <a:spLocks/>
            </p:cNvSpPr>
            <p:nvPr userDrawn="1"/>
          </p:nvSpPr>
          <p:spPr bwMode="gray">
            <a:xfrm>
              <a:off x="2345" y="1770"/>
              <a:ext cx="2" cy="5"/>
            </a:xfrm>
            <a:custGeom>
              <a:avLst/>
              <a:gdLst>
                <a:gd name="T0" fmla="*/ 2 w 2"/>
                <a:gd name="T1" fmla="*/ 4 h 5"/>
                <a:gd name="T2" fmla="*/ 0 w 2"/>
                <a:gd name="T3" fmla="*/ 5 h 5"/>
                <a:gd name="T4" fmla="*/ 0 w 2"/>
                <a:gd name="T5" fmla="*/ 5 h 5"/>
                <a:gd name="T6" fmla="*/ 0 w 2"/>
                <a:gd name="T7" fmla="*/ 5 h 5"/>
                <a:gd name="T8" fmla="*/ 0 w 2"/>
                <a:gd name="T9" fmla="*/ 5 h 5"/>
                <a:gd name="T10" fmla="*/ 0 w 2"/>
                <a:gd name="T11" fmla="*/ 5 h 5"/>
                <a:gd name="T12" fmla="*/ 2 w 2"/>
                <a:gd name="T13" fmla="*/ 2 h 5"/>
                <a:gd name="T14" fmla="*/ 2 w 2"/>
                <a:gd name="T15" fmla="*/ 0 h 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 h="5">
                  <a:moveTo>
                    <a:pt x="2" y="4"/>
                  </a:moveTo>
                  <a:lnTo>
                    <a:pt x="0" y="5"/>
                  </a:lnTo>
                  <a:lnTo>
                    <a:pt x="2" y="2"/>
                  </a:lnTo>
                  <a:lnTo>
                    <a:pt x="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8" name="Line 209"/>
            <p:cNvSpPr>
              <a:spLocks noChangeShapeType="1"/>
            </p:cNvSpPr>
            <p:nvPr userDrawn="1"/>
          </p:nvSpPr>
          <p:spPr bwMode="gray">
            <a:xfrm flipH="1" flipV="1">
              <a:off x="2146" y="1695"/>
              <a:ext cx="201"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9" name="Freeform 210"/>
            <p:cNvSpPr>
              <a:spLocks/>
            </p:cNvSpPr>
            <p:nvPr userDrawn="1"/>
          </p:nvSpPr>
          <p:spPr bwMode="gray">
            <a:xfrm>
              <a:off x="2146" y="1695"/>
              <a:ext cx="8" cy="9"/>
            </a:xfrm>
            <a:custGeom>
              <a:avLst/>
              <a:gdLst>
                <a:gd name="T0" fmla="*/ 0 w 8"/>
                <a:gd name="T1" fmla="*/ 0 h 9"/>
                <a:gd name="T2" fmla="*/ 0 w 8"/>
                <a:gd name="T3" fmla="*/ 3 h 9"/>
                <a:gd name="T4" fmla="*/ 1 w 8"/>
                <a:gd name="T5" fmla="*/ 7 h 9"/>
                <a:gd name="T6" fmla="*/ 3 w 8"/>
                <a:gd name="T7" fmla="*/ 9 h 9"/>
                <a:gd name="T8" fmla="*/ 5 w 8"/>
                <a:gd name="T9" fmla="*/ 9 h 9"/>
                <a:gd name="T10" fmla="*/ 8 w 8"/>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9">
                  <a:moveTo>
                    <a:pt x="0" y="0"/>
                  </a:moveTo>
                  <a:lnTo>
                    <a:pt x="0" y="3"/>
                  </a:lnTo>
                  <a:lnTo>
                    <a:pt x="1" y="7"/>
                  </a:lnTo>
                  <a:lnTo>
                    <a:pt x="3" y="9"/>
                  </a:lnTo>
                  <a:lnTo>
                    <a:pt x="5" y="9"/>
                  </a:lnTo>
                  <a:lnTo>
                    <a:pt x="8"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0" name="Freeform 211"/>
            <p:cNvSpPr>
              <a:spLocks/>
            </p:cNvSpPr>
            <p:nvPr userDrawn="1"/>
          </p:nvSpPr>
          <p:spPr bwMode="gray">
            <a:xfrm>
              <a:off x="2574" y="1863"/>
              <a:ext cx="12" cy="10"/>
            </a:xfrm>
            <a:custGeom>
              <a:avLst/>
              <a:gdLst>
                <a:gd name="T0" fmla="*/ 12 w 12"/>
                <a:gd name="T1" fmla="*/ 1 h 10"/>
                <a:gd name="T2" fmla="*/ 7 w 12"/>
                <a:gd name="T3" fmla="*/ 0 h 10"/>
                <a:gd name="T4" fmla="*/ 5 w 12"/>
                <a:gd name="T5" fmla="*/ 1 h 10"/>
                <a:gd name="T6" fmla="*/ 2 w 12"/>
                <a:gd name="T7" fmla="*/ 3 h 10"/>
                <a:gd name="T8" fmla="*/ 2 w 12"/>
                <a:gd name="T9" fmla="*/ 5 h 10"/>
                <a:gd name="T10" fmla="*/ 0 w 12"/>
                <a:gd name="T11" fmla="*/ 1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10">
                  <a:moveTo>
                    <a:pt x="12" y="1"/>
                  </a:moveTo>
                  <a:lnTo>
                    <a:pt x="7" y="0"/>
                  </a:lnTo>
                  <a:lnTo>
                    <a:pt x="5" y="1"/>
                  </a:lnTo>
                  <a:lnTo>
                    <a:pt x="2" y="3"/>
                  </a:lnTo>
                  <a:lnTo>
                    <a:pt x="2" y="5"/>
                  </a:lnTo>
                  <a:lnTo>
                    <a:pt x="0" y="1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1" name="Line 212"/>
            <p:cNvSpPr>
              <a:spLocks noChangeShapeType="1"/>
            </p:cNvSpPr>
            <p:nvPr userDrawn="1"/>
          </p:nvSpPr>
          <p:spPr bwMode="gray">
            <a:xfrm flipV="1">
              <a:off x="2574" y="1866"/>
              <a:ext cx="12" cy="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2" name="Freeform 213"/>
            <p:cNvSpPr>
              <a:spLocks/>
            </p:cNvSpPr>
            <p:nvPr userDrawn="1"/>
          </p:nvSpPr>
          <p:spPr bwMode="gray">
            <a:xfrm>
              <a:off x="2651" y="1885"/>
              <a:ext cx="9" cy="7"/>
            </a:xfrm>
            <a:custGeom>
              <a:avLst/>
              <a:gdLst>
                <a:gd name="T0" fmla="*/ 9 w 9"/>
                <a:gd name="T1" fmla="*/ 7 h 7"/>
                <a:gd name="T2" fmla="*/ 7 w 9"/>
                <a:gd name="T3" fmla="*/ 7 h 7"/>
                <a:gd name="T4" fmla="*/ 5 w 9"/>
                <a:gd name="T5" fmla="*/ 7 h 7"/>
                <a:gd name="T6" fmla="*/ 2 w 9"/>
                <a:gd name="T7" fmla="*/ 7 h 7"/>
                <a:gd name="T8" fmla="*/ 0 w 9"/>
                <a:gd name="T9" fmla="*/ 4 h 7"/>
                <a:gd name="T10" fmla="*/ 0 w 9"/>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7">
                  <a:moveTo>
                    <a:pt x="9" y="7"/>
                  </a:moveTo>
                  <a:lnTo>
                    <a:pt x="7" y="7"/>
                  </a:lnTo>
                  <a:lnTo>
                    <a:pt x="5" y="7"/>
                  </a:lnTo>
                  <a:lnTo>
                    <a:pt x="2" y="7"/>
                  </a:lnTo>
                  <a:lnTo>
                    <a:pt x="0"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3" name="Line 214"/>
            <p:cNvSpPr>
              <a:spLocks noChangeShapeType="1"/>
            </p:cNvSpPr>
            <p:nvPr userDrawn="1"/>
          </p:nvSpPr>
          <p:spPr bwMode="gray">
            <a:xfrm>
              <a:off x="2574" y="1863"/>
              <a:ext cx="207" cy="7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4" name="Line 215"/>
            <p:cNvSpPr>
              <a:spLocks noChangeShapeType="1"/>
            </p:cNvSpPr>
            <p:nvPr userDrawn="1"/>
          </p:nvSpPr>
          <p:spPr bwMode="gray">
            <a:xfrm>
              <a:off x="2586" y="1864"/>
              <a:ext cx="202" cy="7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5" name="Freeform 216"/>
            <p:cNvSpPr>
              <a:spLocks/>
            </p:cNvSpPr>
            <p:nvPr userDrawn="1"/>
          </p:nvSpPr>
          <p:spPr bwMode="gray">
            <a:xfrm>
              <a:off x="2779" y="1933"/>
              <a:ext cx="9" cy="8"/>
            </a:xfrm>
            <a:custGeom>
              <a:avLst/>
              <a:gdLst>
                <a:gd name="T0" fmla="*/ 9 w 9"/>
                <a:gd name="T1" fmla="*/ 7 h 8"/>
                <a:gd name="T2" fmla="*/ 5 w 9"/>
                <a:gd name="T3" fmla="*/ 8 h 8"/>
                <a:gd name="T4" fmla="*/ 3 w 9"/>
                <a:gd name="T5" fmla="*/ 8 h 8"/>
                <a:gd name="T6" fmla="*/ 2 w 9"/>
                <a:gd name="T7" fmla="*/ 7 h 8"/>
                <a:gd name="T8" fmla="*/ 0 w 9"/>
                <a:gd name="T9" fmla="*/ 3 h 8"/>
                <a:gd name="T10" fmla="*/ 0 w 9"/>
                <a:gd name="T11" fmla="*/ 0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8">
                  <a:moveTo>
                    <a:pt x="9" y="7"/>
                  </a:moveTo>
                  <a:lnTo>
                    <a:pt x="5" y="8"/>
                  </a:lnTo>
                  <a:lnTo>
                    <a:pt x="3" y="8"/>
                  </a:lnTo>
                  <a:lnTo>
                    <a:pt x="2" y="7"/>
                  </a:lnTo>
                  <a:lnTo>
                    <a:pt x="0" y="3"/>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6" name="Line 217"/>
            <p:cNvSpPr>
              <a:spLocks noChangeShapeType="1"/>
            </p:cNvSpPr>
            <p:nvPr userDrawn="1"/>
          </p:nvSpPr>
          <p:spPr bwMode="gray">
            <a:xfrm flipH="1" flipV="1">
              <a:off x="2565" y="1852"/>
              <a:ext cx="214" cy="8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7" name="Freeform 218"/>
            <p:cNvSpPr>
              <a:spLocks/>
            </p:cNvSpPr>
            <p:nvPr userDrawn="1"/>
          </p:nvSpPr>
          <p:spPr bwMode="gray">
            <a:xfrm>
              <a:off x="2565" y="1852"/>
              <a:ext cx="21" cy="12"/>
            </a:xfrm>
            <a:custGeom>
              <a:avLst/>
              <a:gdLst>
                <a:gd name="T0" fmla="*/ 21 w 21"/>
                <a:gd name="T1" fmla="*/ 12 h 12"/>
                <a:gd name="T2" fmla="*/ 14 w 21"/>
                <a:gd name="T3" fmla="*/ 12 h 12"/>
                <a:gd name="T4" fmla="*/ 11 w 21"/>
                <a:gd name="T5" fmla="*/ 11 h 12"/>
                <a:gd name="T6" fmla="*/ 7 w 21"/>
                <a:gd name="T7" fmla="*/ 9 h 12"/>
                <a:gd name="T8" fmla="*/ 4 w 21"/>
                <a:gd name="T9" fmla="*/ 5 h 12"/>
                <a:gd name="T10" fmla="*/ 0 w 21"/>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 h="12">
                  <a:moveTo>
                    <a:pt x="21" y="12"/>
                  </a:moveTo>
                  <a:lnTo>
                    <a:pt x="14" y="12"/>
                  </a:lnTo>
                  <a:lnTo>
                    <a:pt x="11" y="11"/>
                  </a:lnTo>
                  <a:lnTo>
                    <a:pt x="7" y="9"/>
                  </a:lnTo>
                  <a:lnTo>
                    <a:pt x="4"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8" name="Freeform 219"/>
            <p:cNvSpPr>
              <a:spLocks/>
            </p:cNvSpPr>
            <p:nvPr userDrawn="1"/>
          </p:nvSpPr>
          <p:spPr bwMode="gray">
            <a:xfrm>
              <a:off x="2868" y="1884"/>
              <a:ext cx="12" cy="8"/>
            </a:xfrm>
            <a:custGeom>
              <a:avLst/>
              <a:gdLst>
                <a:gd name="T0" fmla="*/ 0 w 12"/>
                <a:gd name="T1" fmla="*/ 8 h 8"/>
                <a:gd name="T2" fmla="*/ 4 w 12"/>
                <a:gd name="T3" fmla="*/ 8 h 8"/>
                <a:gd name="T4" fmla="*/ 5 w 12"/>
                <a:gd name="T5" fmla="*/ 8 h 8"/>
                <a:gd name="T6" fmla="*/ 9 w 12"/>
                <a:gd name="T7" fmla="*/ 7 h 8"/>
                <a:gd name="T8" fmla="*/ 11 w 12"/>
                <a:gd name="T9" fmla="*/ 3 h 8"/>
                <a:gd name="T10" fmla="*/ 12 w 12"/>
                <a:gd name="T11" fmla="*/ 0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8">
                  <a:moveTo>
                    <a:pt x="0" y="8"/>
                  </a:moveTo>
                  <a:lnTo>
                    <a:pt x="4" y="8"/>
                  </a:lnTo>
                  <a:lnTo>
                    <a:pt x="5" y="8"/>
                  </a:lnTo>
                  <a:lnTo>
                    <a:pt x="9" y="7"/>
                  </a:lnTo>
                  <a:lnTo>
                    <a:pt x="11" y="3"/>
                  </a:lnTo>
                  <a:lnTo>
                    <a:pt x="1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9" name="Line 220"/>
            <p:cNvSpPr>
              <a:spLocks noChangeShapeType="1"/>
            </p:cNvSpPr>
            <p:nvPr userDrawn="1"/>
          </p:nvSpPr>
          <p:spPr bwMode="gray">
            <a:xfrm flipV="1">
              <a:off x="2796" y="1844"/>
              <a:ext cx="159" cy="9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0" name="Line 221"/>
            <p:cNvSpPr>
              <a:spLocks noChangeShapeType="1"/>
            </p:cNvSpPr>
            <p:nvPr userDrawn="1"/>
          </p:nvSpPr>
          <p:spPr bwMode="gray">
            <a:xfrm flipV="1">
              <a:off x="2788" y="1845"/>
              <a:ext cx="159" cy="9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1" name="Freeform 222"/>
            <p:cNvSpPr>
              <a:spLocks/>
            </p:cNvSpPr>
            <p:nvPr userDrawn="1"/>
          </p:nvSpPr>
          <p:spPr bwMode="gray">
            <a:xfrm>
              <a:off x="2947" y="1837"/>
              <a:ext cx="12" cy="8"/>
            </a:xfrm>
            <a:custGeom>
              <a:avLst/>
              <a:gdLst>
                <a:gd name="T0" fmla="*/ 0 w 12"/>
                <a:gd name="T1" fmla="*/ 8 h 8"/>
                <a:gd name="T2" fmla="*/ 5 w 12"/>
                <a:gd name="T3" fmla="*/ 8 h 8"/>
                <a:gd name="T4" fmla="*/ 7 w 12"/>
                <a:gd name="T5" fmla="*/ 8 h 8"/>
                <a:gd name="T6" fmla="*/ 10 w 12"/>
                <a:gd name="T7" fmla="*/ 7 h 8"/>
                <a:gd name="T8" fmla="*/ 12 w 12"/>
                <a:gd name="T9" fmla="*/ 3 h 8"/>
                <a:gd name="T10" fmla="*/ 12 w 12"/>
                <a:gd name="T11" fmla="*/ 0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8">
                  <a:moveTo>
                    <a:pt x="0" y="8"/>
                  </a:moveTo>
                  <a:lnTo>
                    <a:pt x="5" y="8"/>
                  </a:lnTo>
                  <a:lnTo>
                    <a:pt x="7" y="8"/>
                  </a:lnTo>
                  <a:lnTo>
                    <a:pt x="10" y="7"/>
                  </a:lnTo>
                  <a:lnTo>
                    <a:pt x="12" y="3"/>
                  </a:lnTo>
                  <a:lnTo>
                    <a:pt x="1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2" name="Line 223"/>
            <p:cNvSpPr>
              <a:spLocks noChangeShapeType="1"/>
            </p:cNvSpPr>
            <p:nvPr userDrawn="1"/>
          </p:nvSpPr>
          <p:spPr bwMode="gray">
            <a:xfrm flipH="1">
              <a:off x="2798" y="1837"/>
              <a:ext cx="161" cy="9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3" name="Freeform 224"/>
            <p:cNvSpPr>
              <a:spLocks/>
            </p:cNvSpPr>
            <p:nvPr userDrawn="1"/>
          </p:nvSpPr>
          <p:spPr bwMode="gray">
            <a:xfrm>
              <a:off x="2788" y="1931"/>
              <a:ext cx="10" cy="10"/>
            </a:xfrm>
            <a:custGeom>
              <a:avLst/>
              <a:gdLst>
                <a:gd name="T0" fmla="*/ 10 w 10"/>
                <a:gd name="T1" fmla="*/ 0 h 10"/>
                <a:gd name="T2" fmla="*/ 10 w 10"/>
                <a:gd name="T3" fmla="*/ 5 h 10"/>
                <a:gd name="T4" fmla="*/ 8 w 10"/>
                <a:gd name="T5" fmla="*/ 7 h 10"/>
                <a:gd name="T6" fmla="*/ 7 w 10"/>
                <a:gd name="T7" fmla="*/ 9 h 10"/>
                <a:gd name="T8" fmla="*/ 3 w 10"/>
                <a:gd name="T9" fmla="*/ 10 h 10"/>
                <a:gd name="T10" fmla="*/ 0 w 10"/>
                <a:gd name="T11" fmla="*/ 9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10">
                  <a:moveTo>
                    <a:pt x="10" y="0"/>
                  </a:moveTo>
                  <a:lnTo>
                    <a:pt x="10" y="5"/>
                  </a:lnTo>
                  <a:lnTo>
                    <a:pt x="8" y="7"/>
                  </a:lnTo>
                  <a:lnTo>
                    <a:pt x="7" y="9"/>
                  </a:lnTo>
                  <a:lnTo>
                    <a:pt x="3" y="10"/>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4" name="Freeform 225"/>
            <p:cNvSpPr>
              <a:spLocks/>
            </p:cNvSpPr>
            <p:nvPr userDrawn="1"/>
          </p:nvSpPr>
          <p:spPr bwMode="gray">
            <a:xfrm>
              <a:off x="2947" y="1826"/>
              <a:ext cx="8" cy="19"/>
            </a:xfrm>
            <a:custGeom>
              <a:avLst/>
              <a:gdLst>
                <a:gd name="T0" fmla="*/ 0 w 8"/>
                <a:gd name="T1" fmla="*/ 19 h 19"/>
                <a:gd name="T2" fmla="*/ 3 w 8"/>
                <a:gd name="T3" fmla="*/ 16 h 19"/>
                <a:gd name="T4" fmla="*/ 7 w 8"/>
                <a:gd name="T5" fmla="*/ 11 h 19"/>
                <a:gd name="T6" fmla="*/ 8 w 8"/>
                <a:gd name="T7" fmla="*/ 5 h 19"/>
                <a:gd name="T8" fmla="*/ 8 w 8"/>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9">
                  <a:moveTo>
                    <a:pt x="0" y="19"/>
                  </a:moveTo>
                  <a:lnTo>
                    <a:pt x="3" y="16"/>
                  </a:lnTo>
                  <a:lnTo>
                    <a:pt x="7" y="11"/>
                  </a:lnTo>
                  <a:lnTo>
                    <a:pt x="8" y="5"/>
                  </a:lnTo>
                  <a:lnTo>
                    <a:pt x="8"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5" name="Freeform 226"/>
            <p:cNvSpPr>
              <a:spLocks/>
            </p:cNvSpPr>
            <p:nvPr userDrawn="1"/>
          </p:nvSpPr>
          <p:spPr bwMode="gray">
            <a:xfrm>
              <a:off x="2342" y="1513"/>
              <a:ext cx="10" cy="9"/>
            </a:xfrm>
            <a:custGeom>
              <a:avLst/>
              <a:gdLst>
                <a:gd name="T0" fmla="*/ 0 w 10"/>
                <a:gd name="T1" fmla="*/ 9 h 9"/>
                <a:gd name="T2" fmla="*/ 3 w 10"/>
                <a:gd name="T3" fmla="*/ 9 h 9"/>
                <a:gd name="T4" fmla="*/ 7 w 10"/>
                <a:gd name="T5" fmla="*/ 9 h 9"/>
                <a:gd name="T6" fmla="*/ 8 w 10"/>
                <a:gd name="T7" fmla="*/ 7 h 9"/>
                <a:gd name="T8" fmla="*/ 10 w 10"/>
                <a:gd name="T9" fmla="*/ 3 h 9"/>
                <a:gd name="T10" fmla="*/ 10 w 10"/>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0" y="9"/>
                  </a:moveTo>
                  <a:lnTo>
                    <a:pt x="3" y="9"/>
                  </a:lnTo>
                  <a:lnTo>
                    <a:pt x="7" y="9"/>
                  </a:lnTo>
                  <a:lnTo>
                    <a:pt x="8" y="7"/>
                  </a:lnTo>
                  <a:lnTo>
                    <a:pt x="10" y="3"/>
                  </a:lnTo>
                  <a:lnTo>
                    <a:pt x="1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6" name="Line 227"/>
            <p:cNvSpPr>
              <a:spLocks noChangeShapeType="1"/>
            </p:cNvSpPr>
            <p:nvPr userDrawn="1"/>
          </p:nvSpPr>
          <p:spPr bwMode="gray">
            <a:xfrm flipH="1" flipV="1">
              <a:off x="2319" y="1366"/>
              <a:ext cx="26" cy="1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7" name="Line 228"/>
            <p:cNvSpPr>
              <a:spLocks noChangeShapeType="1"/>
            </p:cNvSpPr>
            <p:nvPr userDrawn="1"/>
          </p:nvSpPr>
          <p:spPr bwMode="gray">
            <a:xfrm flipH="1" flipV="1">
              <a:off x="2314" y="1366"/>
              <a:ext cx="31" cy="1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8" name="Freeform 229"/>
            <p:cNvSpPr>
              <a:spLocks/>
            </p:cNvSpPr>
            <p:nvPr userDrawn="1"/>
          </p:nvSpPr>
          <p:spPr bwMode="gray">
            <a:xfrm>
              <a:off x="2314" y="1364"/>
              <a:ext cx="8" cy="11"/>
            </a:xfrm>
            <a:custGeom>
              <a:avLst/>
              <a:gdLst>
                <a:gd name="T0" fmla="*/ 0 w 8"/>
                <a:gd name="T1" fmla="*/ 2 h 11"/>
                <a:gd name="T2" fmla="*/ 3 w 8"/>
                <a:gd name="T3" fmla="*/ 0 h 11"/>
                <a:gd name="T4" fmla="*/ 5 w 8"/>
                <a:gd name="T5" fmla="*/ 2 h 11"/>
                <a:gd name="T6" fmla="*/ 7 w 8"/>
                <a:gd name="T7" fmla="*/ 4 h 11"/>
                <a:gd name="T8" fmla="*/ 8 w 8"/>
                <a:gd name="T9" fmla="*/ 7 h 11"/>
                <a:gd name="T10" fmla="*/ 8 w 8"/>
                <a:gd name="T11" fmla="*/ 1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11">
                  <a:moveTo>
                    <a:pt x="0" y="2"/>
                  </a:moveTo>
                  <a:lnTo>
                    <a:pt x="3" y="0"/>
                  </a:lnTo>
                  <a:lnTo>
                    <a:pt x="5" y="2"/>
                  </a:lnTo>
                  <a:lnTo>
                    <a:pt x="7" y="4"/>
                  </a:lnTo>
                  <a:lnTo>
                    <a:pt x="8" y="7"/>
                  </a:lnTo>
                  <a:lnTo>
                    <a:pt x="8" y="1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9" name="Line 230"/>
            <p:cNvSpPr>
              <a:spLocks noChangeShapeType="1"/>
            </p:cNvSpPr>
            <p:nvPr userDrawn="1"/>
          </p:nvSpPr>
          <p:spPr bwMode="gray">
            <a:xfrm>
              <a:off x="2322" y="1375"/>
              <a:ext cx="23" cy="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0" name="Freeform 231"/>
            <p:cNvSpPr>
              <a:spLocks/>
            </p:cNvSpPr>
            <p:nvPr userDrawn="1"/>
          </p:nvSpPr>
          <p:spPr bwMode="gray">
            <a:xfrm>
              <a:off x="2221" y="1408"/>
              <a:ext cx="10" cy="9"/>
            </a:xfrm>
            <a:custGeom>
              <a:avLst/>
              <a:gdLst>
                <a:gd name="T0" fmla="*/ 10 w 10"/>
                <a:gd name="T1" fmla="*/ 0 h 9"/>
                <a:gd name="T2" fmla="*/ 7 w 10"/>
                <a:gd name="T3" fmla="*/ 0 h 9"/>
                <a:gd name="T4" fmla="*/ 5 w 10"/>
                <a:gd name="T5" fmla="*/ 0 h 9"/>
                <a:gd name="T6" fmla="*/ 3 w 10"/>
                <a:gd name="T7" fmla="*/ 2 h 9"/>
                <a:gd name="T8" fmla="*/ 0 w 10"/>
                <a:gd name="T9" fmla="*/ 5 h 9"/>
                <a:gd name="T10" fmla="*/ 0 w 10"/>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10" y="0"/>
                  </a:moveTo>
                  <a:lnTo>
                    <a:pt x="7" y="0"/>
                  </a:lnTo>
                  <a:lnTo>
                    <a:pt x="5" y="0"/>
                  </a:lnTo>
                  <a:lnTo>
                    <a:pt x="3" y="2"/>
                  </a:lnTo>
                  <a:lnTo>
                    <a:pt x="0" y="5"/>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1" name="Line 232"/>
            <p:cNvSpPr>
              <a:spLocks noChangeShapeType="1"/>
            </p:cNvSpPr>
            <p:nvPr userDrawn="1"/>
          </p:nvSpPr>
          <p:spPr bwMode="gray">
            <a:xfrm flipH="1">
              <a:off x="2140" y="1368"/>
              <a:ext cx="165" cy="8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2" name="Line 233"/>
            <p:cNvSpPr>
              <a:spLocks noChangeShapeType="1"/>
            </p:cNvSpPr>
            <p:nvPr userDrawn="1"/>
          </p:nvSpPr>
          <p:spPr bwMode="gray">
            <a:xfrm flipH="1">
              <a:off x="2147" y="1366"/>
              <a:ext cx="167" cy="8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3" name="Freeform 234"/>
            <p:cNvSpPr>
              <a:spLocks/>
            </p:cNvSpPr>
            <p:nvPr userDrawn="1"/>
          </p:nvSpPr>
          <p:spPr bwMode="gray">
            <a:xfrm>
              <a:off x="2139" y="1450"/>
              <a:ext cx="8" cy="10"/>
            </a:xfrm>
            <a:custGeom>
              <a:avLst/>
              <a:gdLst>
                <a:gd name="T0" fmla="*/ 8 w 8"/>
                <a:gd name="T1" fmla="*/ 2 h 10"/>
                <a:gd name="T2" fmla="*/ 5 w 8"/>
                <a:gd name="T3" fmla="*/ 0 h 10"/>
                <a:gd name="T4" fmla="*/ 3 w 8"/>
                <a:gd name="T5" fmla="*/ 2 h 10"/>
                <a:gd name="T6" fmla="*/ 0 w 8"/>
                <a:gd name="T7" fmla="*/ 4 h 10"/>
                <a:gd name="T8" fmla="*/ 0 w 8"/>
                <a:gd name="T9" fmla="*/ 7 h 10"/>
                <a:gd name="T10" fmla="*/ 0 w 8"/>
                <a:gd name="T11" fmla="*/ 1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10">
                  <a:moveTo>
                    <a:pt x="8" y="2"/>
                  </a:moveTo>
                  <a:lnTo>
                    <a:pt x="5" y="0"/>
                  </a:lnTo>
                  <a:lnTo>
                    <a:pt x="3" y="2"/>
                  </a:lnTo>
                  <a:lnTo>
                    <a:pt x="0" y="4"/>
                  </a:lnTo>
                  <a:lnTo>
                    <a:pt x="0" y="7"/>
                  </a:lnTo>
                  <a:lnTo>
                    <a:pt x="0" y="1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4" name="Line 235"/>
            <p:cNvSpPr>
              <a:spLocks noChangeShapeType="1"/>
            </p:cNvSpPr>
            <p:nvPr userDrawn="1"/>
          </p:nvSpPr>
          <p:spPr bwMode="gray">
            <a:xfrm flipV="1">
              <a:off x="2139" y="1375"/>
              <a:ext cx="164" cy="8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5" name="Freeform 236"/>
            <p:cNvSpPr>
              <a:spLocks/>
            </p:cNvSpPr>
            <p:nvPr userDrawn="1"/>
          </p:nvSpPr>
          <p:spPr bwMode="gray">
            <a:xfrm>
              <a:off x="2303" y="1366"/>
              <a:ext cx="11" cy="9"/>
            </a:xfrm>
            <a:custGeom>
              <a:avLst/>
              <a:gdLst>
                <a:gd name="T0" fmla="*/ 11 w 11"/>
                <a:gd name="T1" fmla="*/ 0 h 9"/>
                <a:gd name="T2" fmla="*/ 5 w 11"/>
                <a:gd name="T3" fmla="*/ 0 h 9"/>
                <a:gd name="T4" fmla="*/ 4 w 11"/>
                <a:gd name="T5" fmla="*/ 0 h 9"/>
                <a:gd name="T6" fmla="*/ 2 w 11"/>
                <a:gd name="T7" fmla="*/ 2 h 9"/>
                <a:gd name="T8" fmla="*/ 0 w 11"/>
                <a:gd name="T9" fmla="*/ 5 h 9"/>
                <a:gd name="T10" fmla="*/ 0 w 11"/>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9">
                  <a:moveTo>
                    <a:pt x="11" y="0"/>
                  </a:moveTo>
                  <a:lnTo>
                    <a:pt x="5" y="0"/>
                  </a:lnTo>
                  <a:lnTo>
                    <a:pt x="4" y="0"/>
                  </a:lnTo>
                  <a:lnTo>
                    <a:pt x="2" y="2"/>
                  </a:lnTo>
                  <a:lnTo>
                    <a:pt x="0" y="5"/>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6" name="Freeform 237"/>
            <p:cNvSpPr>
              <a:spLocks/>
            </p:cNvSpPr>
            <p:nvPr userDrawn="1"/>
          </p:nvSpPr>
          <p:spPr bwMode="gray">
            <a:xfrm>
              <a:off x="2261" y="1495"/>
              <a:ext cx="9" cy="18"/>
            </a:xfrm>
            <a:custGeom>
              <a:avLst/>
              <a:gdLst>
                <a:gd name="T0" fmla="*/ 9 w 9"/>
                <a:gd name="T1" fmla="*/ 0 h 18"/>
                <a:gd name="T2" fmla="*/ 4 w 9"/>
                <a:gd name="T3" fmla="*/ 4 h 18"/>
                <a:gd name="T4" fmla="*/ 2 w 9"/>
                <a:gd name="T5" fmla="*/ 7 h 18"/>
                <a:gd name="T6" fmla="*/ 0 w 9"/>
                <a:gd name="T7" fmla="*/ 13 h 18"/>
                <a:gd name="T8" fmla="*/ 0 w 9"/>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9" y="0"/>
                  </a:moveTo>
                  <a:lnTo>
                    <a:pt x="4" y="4"/>
                  </a:lnTo>
                  <a:lnTo>
                    <a:pt x="2" y="7"/>
                  </a:lnTo>
                  <a:lnTo>
                    <a:pt x="0" y="13"/>
                  </a:lnTo>
                  <a:lnTo>
                    <a:pt x="0" y="1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7" name="Line 238"/>
            <p:cNvSpPr>
              <a:spLocks noChangeShapeType="1"/>
            </p:cNvSpPr>
            <p:nvPr userDrawn="1"/>
          </p:nvSpPr>
          <p:spPr bwMode="gray">
            <a:xfrm>
              <a:off x="2142" y="1459"/>
              <a:ext cx="198" cy="7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8" name="Line 239"/>
            <p:cNvSpPr>
              <a:spLocks noChangeShapeType="1"/>
            </p:cNvSpPr>
            <p:nvPr userDrawn="1"/>
          </p:nvSpPr>
          <p:spPr bwMode="gray">
            <a:xfrm>
              <a:off x="2147" y="1452"/>
              <a:ext cx="195" cy="7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9" name="Freeform 240"/>
            <p:cNvSpPr>
              <a:spLocks/>
            </p:cNvSpPr>
            <p:nvPr userDrawn="1"/>
          </p:nvSpPr>
          <p:spPr bwMode="gray">
            <a:xfrm>
              <a:off x="2340" y="1522"/>
              <a:ext cx="3" cy="21"/>
            </a:xfrm>
            <a:custGeom>
              <a:avLst/>
              <a:gdLst>
                <a:gd name="T0" fmla="*/ 2 w 3"/>
                <a:gd name="T1" fmla="*/ 0 h 21"/>
                <a:gd name="T2" fmla="*/ 0 w 3"/>
                <a:gd name="T3" fmla="*/ 7 h 21"/>
                <a:gd name="T4" fmla="*/ 0 w 3"/>
                <a:gd name="T5" fmla="*/ 14 h 21"/>
                <a:gd name="T6" fmla="*/ 3 w 3"/>
                <a:gd name="T7" fmla="*/ 21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 h="21">
                  <a:moveTo>
                    <a:pt x="2" y="0"/>
                  </a:moveTo>
                  <a:lnTo>
                    <a:pt x="0" y="7"/>
                  </a:lnTo>
                  <a:lnTo>
                    <a:pt x="0" y="14"/>
                  </a:lnTo>
                  <a:lnTo>
                    <a:pt x="3" y="2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80" name="Line 241"/>
            <p:cNvSpPr>
              <a:spLocks noChangeShapeType="1"/>
            </p:cNvSpPr>
            <p:nvPr userDrawn="1"/>
          </p:nvSpPr>
          <p:spPr bwMode="gray">
            <a:xfrm flipH="1" flipV="1">
              <a:off x="2139" y="1469"/>
              <a:ext cx="204" cy="7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81" name="Freeform 242"/>
            <p:cNvSpPr>
              <a:spLocks/>
            </p:cNvSpPr>
            <p:nvPr userDrawn="1"/>
          </p:nvSpPr>
          <p:spPr bwMode="gray">
            <a:xfrm>
              <a:off x="2139" y="1452"/>
              <a:ext cx="8" cy="17"/>
            </a:xfrm>
            <a:custGeom>
              <a:avLst/>
              <a:gdLst>
                <a:gd name="T0" fmla="*/ 0 w 8"/>
                <a:gd name="T1" fmla="*/ 17 h 17"/>
                <a:gd name="T2" fmla="*/ 1 w 8"/>
                <a:gd name="T3" fmla="*/ 12 h 17"/>
                <a:gd name="T4" fmla="*/ 3 w 8"/>
                <a:gd name="T5" fmla="*/ 7 h 17"/>
                <a:gd name="T6" fmla="*/ 5 w 8"/>
                <a:gd name="T7" fmla="*/ 3 h 17"/>
                <a:gd name="T8" fmla="*/ 8 w 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7"/>
                  </a:moveTo>
                  <a:lnTo>
                    <a:pt x="1" y="12"/>
                  </a:lnTo>
                  <a:lnTo>
                    <a:pt x="3" y="7"/>
                  </a:lnTo>
                  <a:lnTo>
                    <a:pt x="5" y="3"/>
                  </a:lnTo>
                  <a:lnTo>
                    <a:pt x="8"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82" name="Freeform 243"/>
            <p:cNvSpPr>
              <a:spLocks/>
            </p:cNvSpPr>
            <p:nvPr userDrawn="1"/>
          </p:nvSpPr>
          <p:spPr bwMode="gray">
            <a:xfrm>
              <a:off x="2655" y="1546"/>
              <a:ext cx="10" cy="18"/>
            </a:xfrm>
            <a:custGeom>
              <a:avLst/>
              <a:gdLst>
                <a:gd name="T0" fmla="*/ 10 w 10"/>
                <a:gd name="T1" fmla="*/ 18 h 18"/>
                <a:gd name="T2" fmla="*/ 7 w 10"/>
                <a:gd name="T3" fmla="*/ 14 h 18"/>
                <a:gd name="T4" fmla="*/ 3 w 10"/>
                <a:gd name="T5" fmla="*/ 11 h 18"/>
                <a:gd name="T6" fmla="*/ 0 w 10"/>
                <a:gd name="T7" fmla="*/ 5 h 18"/>
                <a:gd name="T8" fmla="*/ 0 w 10"/>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8">
                  <a:moveTo>
                    <a:pt x="10" y="18"/>
                  </a:moveTo>
                  <a:lnTo>
                    <a:pt x="7" y="14"/>
                  </a:lnTo>
                  <a:lnTo>
                    <a:pt x="3" y="11"/>
                  </a:lnTo>
                  <a:lnTo>
                    <a:pt x="0"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83" name="Line 244"/>
            <p:cNvSpPr>
              <a:spLocks noChangeShapeType="1"/>
            </p:cNvSpPr>
            <p:nvPr userDrawn="1"/>
          </p:nvSpPr>
          <p:spPr bwMode="gray">
            <a:xfrm flipH="1">
              <a:off x="2576" y="1511"/>
              <a:ext cx="163" cy="9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84" name="Line 245"/>
            <p:cNvSpPr>
              <a:spLocks noChangeShapeType="1"/>
            </p:cNvSpPr>
            <p:nvPr userDrawn="1"/>
          </p:nvSpPr>
          <p:spPr bwMode="gray">
            <a:xfrm flipH="1">
              <a:off x="2583" y="1518"/>
              <a:ext cx="163" cy="9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85" name="Freeform 246"/>
            <p:cNvSpPr>
              <a:spLocks/>
            </p:cNvSpPr>
            <p:nvPr userDrawn="1"/>
          </p:nvSpPr>
          <p:spPr bwMode="gray">
            <a:xfrm>
              <a:off x="2572" y="1592"/>
              <a:ext cx="11" cy="17"/>
            </a:xfrm>
            <a:custGeom>
              <a:avLst/>
              <a:gdLst>
                <a:gd name="T0" fmla="*/ 11 w 11"/>
                <a:gd name="T1" fmla="*/ 17 h 17"/>
                <a:gd name="T2" fmla="*/ 7 w 11"/>
                <a:gd name="T3" fmla="*/ 14 h 17"/>
                <a:gd name="T4" fmla="*/ 4 w 11"/>
                <a:gd name="T5" fmla="*/ 10 h 17"/>
                <a:gd name="T6" fmla="*/ 0 w 11"/>
                <a:gd name="T7" fmla="*/ 5 h 17"/>
                <a:gd name="T8" fmla="*/ 0 w 1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7">
                  <a:moveTo>
                    <a:pt x="11" y="17"/>
                  </a:moveTo>
                  <a:lnTo>
                    <a:pt x="7" y="14"/>
                  </a:lnTo>
                  <a:lnTo>
                    <a:pt x="4" y="10"/>
                  </a:lnTo>
                  <a:lnTo>
                    <a:pt x="0"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86" name="Line 247"/>
            <p:cNvSpPr>
              <a:spLocks noChangeShapeType="1"/>
            </p:cNvSpPr>
            <p:nvPr userDrawn="1"/>
          </p:nvSpPr>
          <p:spPr bwMode="gray">
            <a:xfrm flipV="1">
              <a:off x="2572" y="1502"/>
              <a:ext cx="163" cy="9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87" name="Freeform 248"/>
            <p:cNvSpPr>
              <a:spLocks/>
            </p:cNvSpPr>
            <p:nvPr userDrawn="1"/>
          </p:nvSpPr>
          <p:spPr bwMode="gray">
            <a:xfrm>
              <a:off x="2735" y="1502"/>
              <a:ext cx="11" cy="16"/>
            </a:xfrm>
            <a:custGeom>
              <a:avLst/>
              <a:gdLst>
                <a:gd name="T0" fmla="*/ 11 w 11"/>
                <a:gd name="T1" fmla="*/ 16 h 16"/>
                <a:gd name="T2" fmla="*/ 7 w 11"/>
                <a:gd name="T3" fmla="*/ 14 h 16"/>
                <a:gd name="T4" fmla="*/ 4 w 11"/>
                <a:gd name="T5" fmla="*/ 9 h 16"/>
                <a:gd name="T6" fmla="*/ 0 w 11"/>
                <a:gd name="T7" fmla="*/ 4 h 16"/>
                <a:gd name="T8" fmla="*/ 0 w 11"/>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11" y="16"/>
                  </a:moveTo>
                  <a:lnTo>
                    <a:pt x="7" y="14"/>
                  </a:lnTo>
                  <a:lnTo>
                    <a:pt x="4" y="9"/>
                  </a:lnTo>
                  <a:lnTo>
                    <a:pt x="0"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88" name="Freeform 249"/>
            <p:cNvSpPr>
              <a:spLocks/>
            </p:cNvSpPr>
            <p:nvPr userDrawn="1"/>
          </p:nvSpPr>
          <p:spPr bwMode="gray">
            <a:xfrm>
              <a:off x="2649" y="1635"/>
              <a:ext cx="9" cy="18"/>
            </a:xfrm>
            <a:custGeom>
              <a:avLst/>
              <a:gdLst>
                <a:gd name="T0" fmla="*/ 9 w 9"/>
                <a:gd name="T1" fmla="*/ 0 h 18"/>
                <a:gd name="T2" fmla="*/ 6 w 9"/>
                <a:gd name="T3" fmla="*/ 4 h 18"/>
                <a:gd name="T4" fmla="*/ 2 w 9"/>
                <a:gd name="T5" fmla="*/ 7 h 18"/>
                <a:gd name="T6" fmla="*/ 0 w 9"/>
                <a:gd name="T7" fmla="*/ 13 h 18"/>
                <a:gd name="T8" fmla="*/ 0 w 9"/>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9" y="0"/>
                  </a:moveTo>
                  <a:lnTo>
                    <a:pt x="6" y="4"/>
                  </a:lnTo>
                  <a:lnTo>
                    <a:pt x="2" y="7"/>
                  </a:lnTo>
                  <a:lnTo>
                    <a:pt x="0" y="13"/>
                  </a:lnTo>
                  <a:lnTo>
                    <a:pt x="0" y="1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89" name="Line 250"/>
            <p:cNvSpPr>
              <a:spLocks noChangeShapeType="1"/>
            </p:cNvSpPr>
            <p:nvPr userDrawn="1"/>
          </p:nvSpPr>
          <p:spPr bwMode="gray">
            <a:xfrm>
              <a:off x="2571" y="1614"/>
              <a:ext cx="210" cy="7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90" name="Line 251"/>
            <p:cNvSpPr>
              <a:spLocks noChangeShapeType="1"/>
            </p:cNvSpPr>
            <p:nvPr userDrawn="1"/>
          </p:nvSpPr>
          <p:spPr bwMode="gray">
            <a:xfrm>
              <a:off x="2583" y="1609"/>
              <a:ext cx="205" cy="7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91" name="Freeform 252"/>
            <p:cNvSpPr>
              <a:spLocks/>
            </p:cNvSpPr>
            <p:nvPr userDrawn="1"/>
          </p:nvSpPr>
          <p:spPr bwMode="gray">
            <a:xfrm>
              <a:off x="2779" y="1683"/>
              <a:ext cx="9" cy="17"/>
            </a:xfrm>
            <a:custGeom>
              <a:avLst/>
              <a:gdLst>
                <a:gd name="T0" fmla="*/ 9 w 9"/>
                <a:gd name="T1" fmla="*/ 0 h 17"/>
                <a:gd name="T2" fmla="*/ 5 w 9"/>
                <a:gd name="T3" fmla="*/ 3 h 17"/>
                <a:gd name="T4" fmla="*/ 2 w 9"/>
                <a:gd name="T5" fmla="*/ 7 h 17"/>
                <a:gd name="T6" fmla="*/ 0 w 9"/>
                <a:gd name="T7" fmla="*/ 12 h 17"/>
                <a:gd name="T8" fmla="*/ 0 w 9"/>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9" y="0"/>
                  </a:moveTo>
                  <a:lnTo>
                    <a:pt x="5" y="3"/>
                  </a:lnTo>
                  <a:lnTo>
                    <a:pt x="2" y="7"/>
                  </a:lnTo>
                  <a:lnTo>
                    <a:pt x="0" y="12"/>
                  </a:lnTo>
                  <a:lnTo>
                    <a:pt x="0" y="1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92" name="Line 253"/>
            <p:cNvSpPr>
              <a:spLocks noChangeShapeType="1"/>
            </p:cNvSpPr>
            <p:nvPr userDrawn="1"/>
          </p:nvSpPr>
          <p:spPr bwMode="gray">
            <a:xfrm flipH="1" flipV="1">
              <a:off x="2564" y="1623"/>
              <a:ext cx="215" cy="7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93" name="Freeform 254"/>
            <p:cNvSpPr>
              <a:spLocks/>
            </p:cNvSpPr>
            <p:nvPr userDrawn="1"/>
          </p:nvSpPr>
          <p:spPr bwMode="gray">
            <a:xfrm>
              <a:off x="2564" y="1609"/>
              <a:ext cx="19" cy="14"/>
            </a:xfrm>
            <a:custGeom>
              <a:avLst/>
              <a:gdLst>
                <a:gd name="T0" fmla="*/ 19 w 19"/>
                <a:gd name="T1" fmla="*/ 0 h 14"/>
                <a:gd name="T2" fmla="*/ 14 w 19"/>
                <a:gd name="T3" fmla="*/ 2 h 14"/>
                <a:gd name="T4" fmla="*/ 8 w 19"/>
                <a:gd name="T5" fmla="*/ 4 h 14"/>
                <a:gd name="T6" fmla="*/ 3 w 19"/>
                <a:gd name="T7" fmla="*/ 9 h 14"/>
                <a:gd name="T8" fmla="*/ 0 w 19"/>
                <a:gd name="T9" fmla="*/ 14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4">
                  <a:moveTo>
                    <a:pt x="19" y="0"/>
                  </a:moveTo>
                  <a:lnTo>
                    <a:pt x="14" y="2"/>
                  </a:lnTo>
                  <a:lnTo>
                    <a:pt x="8" y="4"/>
                  </a:lnTo>
                  <a:lnTo>
                    <a:pt x="3" y="9"/>
                  </a:lnTo>
                  <a:lnTo>
                    <a:pt x="0" y="14"/>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94" name="Freeform 255"/>
            <p:cNvSpPr>
              <a:spLocks/>
            </p:cNvSpPr>
            <p:nvPr userDrawn="1"/>
          </p:nvSpPr>
          <p:spPr bwMode="gray">
            <a:xfrm>
              <a:off x="2868" y="1635"/>
              <a:ext cx="12" cy="18"/>
            </a:xfrm>
            <a:custGeom>
              <a:avLst/>
              <a:gdLst>
                <a:gd name="T0" fmla="*/ 0 w 12"/>
                <a:gd name="T1" fmla="*/ 0 h 18"/>
                <a:gd name="T2" fmla="*/ 5 w 12"/>
                <a:gd name="T3" fmla="*/ 2 h 18"/>
                <a:gd name="T4" fmla="*/ 9 w 12"/>
                <a:gd name="T5" fmla="*/ 7 h 18"/>
                <a:gd name="T6" fmla="*/ 11 w 12"/>
                <a:gd name="T7" fmla="*/ 13 h 18"/>
                <a:gd name="T8" fmla="*/ 12 w 12"/>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8">
                  <a:moveTo>
                    <a:pt x="0" y="0"/>
                  </a:moveTo>
                  <a:lnTo>
                    <a:pt x="5" y="2"/>
                  </a:lnTo>
                  <a:lnTo>
                    <a:pt x="9" y="7"/>
                  </a:lnTo>
                  <a:lnTo>
                    <a:pt x="11" y="13"/>
                  </a:lnTo>
                  <a:lnTo>
                    <a:pt x="12" y="1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95" name="Line 256"/>
            <p:cNvSpPr>
              <a:spLocks noChangeShapeType="1"/>
            </p:cNvSpPr>
            <p:nvPr userDrawn="1"/>
          </p:nvSpPr>
          <p:spPr bwMode="gray">
            <a:xfrm flipV="1">
              <a:off x="2796" y="1597"/>
              <a:ext cx="161" cy="9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96" name="Line 257"/>
            <p:cNvSpPr>
              <a:spLocks noChangeShapeType="1"/>
            </p:cNvSpPr>
            <p:nvPr userDrawn="1"/>
          </p:nvSpPr>
          <p:spPr bwMode="gray">
            <a:xfrm flipV="1">
              <a:off x="2788" y="1590"/>
              <a:ext cx="160" cy="9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97" name="Freeform 258"/>
            <p:cNvSpPr>
              <a:spLocks/>
            </p:cNvSpPr>
            <p:nvPr userDrawn="1"/>
          </p:nvSpPr>
          <p:spPr bwMode="gray">
            <a:xfrm>
              <a:off x="2948" y="1590"/>
              <a:ext cx="13" cy="16"/>
            </a:xfrm>
            <a:custGeom>
              <a:avLst/>
              <a:gdLst>
                <a:gd name="T0" fmla="*/ 0 w 13"/>
                <a:gd name="T1" fmla="*/ 0 h 16"/>
                <a:gd name="T2" fmla="*/ 6 w 13"/>
                <a:gd name="T3" fmla="*/ 2 h 16"/>
                <a:gd name="T4" fmla="*/ 9 w 13"/>
                <a:gd name="T5" fmla="*/ 7 h 16"/>
                <a:gd name="T6" fmla="*/ 11 w 13"/>
                <a:gd name="T7" fmla="*/ 10 h 16"/>
                <a:gd name="T8" fmla="*/ 13 w 13"/>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6">
                  <a:moveTo>
                    <a:pt x="0" y="0"/>
                  </a:moveTo>
                  <a:lnTo>
                    <a:pt x="6" y="2"/>
                  </a:lnTo>
                  <a:lnTo>
                    <a:pt x="9" y="7"/>
                  </a:lnTo>
                  <a:lnTo>
                    <a:pt x="11" y="10"/>
                  </a:lnTo>
                  <a:lnTo>
                    <a:pt x="13"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98" name="Line 259"/>
            <p:cNvSpPr>
              <a:spLocks noChangeShapeType="1"/>
            </p:cNvSpPr>
            <p:nvPr userDrawn="1"/>
          </p:nvSpPr>
          <p:spPr bwMode="gray">
            <a:xfrm flipH="1">
              <a:off x="2798" y="1606"/>
              <a:ext cx="163" cy="9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99" name="Freeform 260"/>
            <p:cNvSpPr>
              <a:spLocks/>
            </p:cNvSpPr>
            <p:nvPr userDrawn="1"/>
          </p:nvSpPr>
          <p:spPr bwMode="gray">
            <a:xfrm>
              <a:off x="2788" y="1683"/>
              <a:ext cx="10" cy="15"/>
            </a:xfrm>
            <a:custGeom>
              <a:avLst/>
              <a:gdLst>
                <a:gd name="T0" fmla="*/ 10 w 10"/>
                <a:gd name="T1" fmla="*/ 15 h 15"/>
                <a:gd name="T2" fmla="*/ 10 w 10"/>
                <a:gd name="T3" fmla="*/ 10 h 15"/>
                <a:gd name="T4" fmla="*/ 8 w 10"/>
                <a:gd name="T5" fmla="*/ 7 h 15"/>
                <a:gd name="T6" fmla="*/ 5 w 10"/>
                <a:gd name="T7" fmla="*/ 1 h 15"/>
                <a:gd name="T8" fmla="*/ 0 w 10"/>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5">
                  <a:moveTo>
                    <a:pt x="10" y="15"/>
                  </a:moveTo>
                  <a:lnTo>
                    <a:pt x="10" y="10"/>
                  </a:lnTo>
                  <a:lnTo>
                    <a:pt x="8" y="7"/>
                  </a:lnTo>
                  <a:lnTo>
                    <a:pt x="5" y="1"/>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00" name="Freeform 261"/>
            <p:cNvSpPr>
              <a:spLocks/>
            </p:cNvSpPr>
            <p:nvPr userDrawn="1"/>
          </p:nvSpPr>
          <p:spPr bwMode="gray">
            <a:xfrm>
              <a:off x="2821" y="1543"/>
              <a:ext cx="9" cy="8"/>
            </a:xfrm>
            <a:custGeom>
              <a:avLst/>
              <a:gdLst>
                <a:gd name="T0" fmla="*/ 0 w 9"/>
                <a:gd name="T1" fmla="*/ 1 h 8"/>
                <a:gd name="T2" fmla="*/ 3 w 9"/>
                <a:gd name="T3" fmla="*/ 0 h 8"/>
                <a:gd name="T4" fmla="*/ 5 w 9"/>
                <a:gd name="T5" fmla="*/ 1 h 8"/>
                <a:gd name="T6" fmla="*/ 9 w 9"/>
                <a:gd name="T7" fmla="*/ 5 h 8"/>
                <a:gd name="T8" fmla="*/ 9 w 9"/>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8">
                  <a:moveTo>
                    <a:pt x="0" y="1"/>
                  </a:moveTo>
                  <a:lnTo>
                    <a:pt x="3" y="0"/>
                  </a:lnTo>
                  <a:lnTo>
                    <a:pt x="5" y="1"/>
                  </a:lnTo>
                  <a:lnTo>
                    <a:pt x="9" y="5"/>
                  </a:lnTo>
                  <a:lnTo>
                    <a:pt x="9"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01" name="Line 262"/>
            <p:cNvSpPr>
              <a:spLocks noChangeShapeType="1"/>
            </p:cNvSpPr>
            <p:nvPr userDrawn="1"/>
          </p:nvSpPr>
          <p:spPr bwMode="gray">
            <a:xfrm flipH="1" flipV="1">
              <a:off x="2747" y="1516"/>
              <a:ext cx="208" cy="7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02" name="Line 263"/>
            <p:cNvSpPr>
              <a:spLocks noChangeShapeType="1"/>
            </p:cNvSpPr>
            <p:nvPr userDrawn="1"/>
          </p:nvSpPr>
          <p:spPr bwMode="gray">
            <a:xfrm flipH="1" flipV="1">
              <a:off x="2746" y="1518"/>
              <a:ext cx="202" cy="7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03" name="Freeform 264"/>
            <p:cNvSpPr>
              <a:spLocks/>
            </p:cNvSpPr>
            <p:nvPr userDrawn="1"/>
          </p:nvSpPr>
          <p:spPr bwMode="gray">
            <a:xfrm>
              <a:off x="2744" y="1516"/>
              <a:ext cx="3" cy="6"/>
            </a:xfrm>
            <a:custGeom>
              <a:avLst/>
              <a:gdLst>
                <a:gd name="T0" fmla="*/ 2 w 3"/>
                <a:gd name="T1" fmla="*/ 2 h 6"/>
                <a:gd name="T2" fmla="*/ 2 w 3"/>
                <a:gd name="T3" fmla="*/ 0 h 6"/>
                <a:gd name="T4" fmla="*/ 2 w 3"/>
                <a:gd name="T5" fmla="*/ 0 h 6"/>
                <a:gd name="T6" fmla="*/ 3 w 3"/>
                <a:gd name="T7" fmla="*/ 0 h 6"/>
                <a:gd name="T8" fmla="*/ 3 w 3"/>
                <a:gd name="T9" fmla="*/ 0 h 6"/>
                <a:gd name="T10" fmla="*/ 3 w 3"/>
                <a:gd name="T11" fmla="*/ 2 h 6"/>
                <a:gd name="T12" fmla="*/ 2 w 3"/>
                <a:gd name="T13" fmla="*/ 2 h 6"/>
                <a:gd name="T14" fmla="*/ 2 w 3"/>
                <a:gd name="T15" fmla="*/ 4 h 6"/>
                <a:gd name="T16" fmla="*/ 0 w 3"/>
                <a:gd name="T17" fmla="*/ 6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 h="6">
                  <a:moveTo>
                    <a:pt x="2" y="2"/>
                  </a:moveTo>
                  <a:lnTo>
                    <a:pt x="2" y="0"/>
                  </a:lnTo>
                  <a:lnTo>
                    <a:pt x="3" y="0"/>
                  </a:lnTo>
                  <a:lnTo>
                    <a:pt x="3" y="2"/>
                  </a:lnTo>
                  <a:lnTo>
                    <a:pt x="2" y="2"/>
                  </a:lnTo>
                  <a:lnTo>
                    <a:pt x="2" y="4"/>
                  </a:lnTo>
                  <a:lnTo>
                    <a:pt x="0" y="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04" name="Line 265"/>
            <p:cNvSpPr>
              <a:spLocks noChangeShapeType="1"/>
            </p:cNvSpPr>
            <p:nvPr userDrawn="1"/>
          </p:nvSpPr>
          <p:spPr bwMode="gray">
            <a:xfrm>
              <a:off x="2744" y="1522"/>
              <a:ext cx="213"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05" name="Freeform 266"/>
            <p:cNvSpPr>
              <a:spLocks/>
            </p:cNvSpPr>
            <p:nvPr userDrawn="1"/>
          </p:nvSpPr>
          <p:spPr bwMode="gray">
            <a:xfrm>
              <a:off x="2948" y="1588"/>
              <a:ext cx="9" cy="9"/>
            </a:xfrm>
            <a:custGeom>
              <a:avLst/>
              <a:gdLst>
                <a:gd name="T0" fmla="*/ 0 w 9"/>
                <a:gd name="T1" fmla="*/ 2 h 9"/>
                <a:gd name="T2" fmla="*/ 4 w 9"/>
                <a:gd name="T3" fmla="*/ 0 h 9"/>
                <a:gd name="T4" fmla="*/ 7 w 9"/>
                <a:gd name="T5" fmla="*/ 0 h 9"/>
                <a:gd name="T6" fmla="*/ 9 w 9"/>
                <a:gd name="T7" fmla="*/ 4 h 9"/>
                <a:gd name="T8" fmla="*/ 9 w 9"/>
                <a:gd name="T9" fmla="*/ 5 h 9"/>
                <a:gd name="T10" fmla="*/ 9 w 9"/>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2"/>
                  </a:moveTo>
                  <a:lnTo>
                    <a:pt x="4" y="0"/>
                  </a:lnTo>
                  <a:lnTo>
                    <a:pt x="7" y="0"/>
                  </a:lnTo>
                  <a:lnTo>
                    <a:pt x="9" y="4"/>
                  </a:lnTo>
                  <a:lnTo>
                    <a:pt x="9" y="5"/>
                  </a:lnTo>
                  <a:lnTo>
                    <a:pt x="9"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06" name="Freeform 267"/>
            <p:cNvSpPr>
              <a:spLocks/>
            </p:cNvSpPr>
            <p:nvPr userDrawn="1"/>
          </p:nvSpPr>
          <p:spPr bwMode="gray">
            <a:xfrm>
              <a:off x="2959" y="1719"/>
              <a:ext cx="21" cy="2"/>
            </a:xfrm>
            <a:custGeom>
              <a:avLst/>
              <a:gdLst>
                <a:gd name="T0" fmla="*/ 0 w 21"/>
                <a:gd name="T1" fmla="*/ 2 h 2"/>
                <a:gd name="T2" fmla="*/ 5 w 21"/>
                <a:gd name="T3" fmla="*/ 0 h 2"/>
                <a:gd name="T4" fmla="*/ 10 w 21"/>
                <a:gd name="T5" fmla="*/ 0 h 2"/>
                <a:gd name="T6" fmla="*/ 16 w 21"/>
                <a:gd name="T7" fmla="*/ 0 h 2"/>
                <a:gd name="T8" fmla="*/ 21 w 21"/>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2">
                  <a:moveTo>
                    <a:pt x="0" y="2"/>
                  </a:moveTo>
                  <a:lnTo>
                    <a:pt x="5" y="0"/>
                  </a:lnTo>
                  <a:lnTo>
                    <a:pt x="10" y="0"/>
                  </a:lnTo>
                  <a:lnTo>
                    <a:pt x="16" y="0"/>
                  </a:lnTo>
                  <a:lnTo>
                    <a:pt x="21"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grpSp>
          <p:nvGrpSpPr>
            <p:cNvPr id="207" name="Group 268"/>
            <p:cNvGrpSpPr>
              <a:grpSpLocks/>
            </p:cNvGrpSpPr>
            <p:nvPr userDrawn="1"/>
          </p:nvGrpSpPr>
          <p:grpSpPr bwMode="auto">
            <a:xfrm>
              <a:off x="2135" y="838"/>
              <a:ext cx="1546" cy="1270"/>
              <a:chOff x="2135" y="838"/>
              <a:chExt cx="1546" cy="1270"/>
            </a:xfrm>
          </p:grpSpPr>
          <p:sp>
            <p:nvSpPr>
              <p:cNvPr id="664" name="Line 269"/>
              <p:cNvSpPr>
                <a:spLocks noChangeShapeType="1"/>
              </p:cNvSpPr>
              <p:nvPr userDrawn="1"/>
            </p:nvSpPr>
            <p:spPr bwMode="gray">
              <a:xfrm flipV="1">
                <a:off x="2968" y="1604"/>
                <a:ext cx="1" cy="22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65" name="Line 270"/>
              <p:cNvSpPr>
                <a:spLocks noChangeShapeType="1"/>
              </p:cNvSpPr>
              <p:nvPr userDrawn="1"/>
            </p:nvSpPr>
            <p:spPr bwMode="gray">
              <a:xfrm flipV="1">
                <a:off x="2959" y="1606"/>
                <a:ext cx="2" cy="23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66" name="Freeform 271"/>
              <p:cNvSpPr>
                <a:spLocks/>
              </p:cNvSpPr>
              <p:nvPr userDrawn="1"/>
            </p:nvSpPr>
            <p:spPr bwMode="gray">
              <a:xfrm>
                <a:off x="2961" y="1604"/>
                <a:ext cx="19" cy="2"/>
              </a:xfrm>
              <a:custGeom>
                <a:avLst/>
                <a:gdLst>
                  <a:gd name="T0" fmla="*/ 0 w 19"/>
                  <a:gd name="T1" fmla="*/ 2 h 2"/>
                  <a:gd name="T2" fmla="*/ 5 w 19"/>
                  <a:gd name="T3" fmla="*/ 0 h 2"/>
                  <a:gd name="T4" fmla="*/ 8 w 19"/>
                  <a:gd name="T5" fmla="*/ 0 h 2"/>
                  <a:gd name="T6" fmla="*/ 14 w 19"/>
                  <a:gd name="T7" fmla="*/ 0 h 2"/>
                  <a:gd name="T8" fmla="*/ 19 w 19"/>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
                    <a:moveTo>
                      <a:pt x="0" y="2"/>
                    </a:moveTo>
                    <a:lnTo>
                      <a:pt x="5" y="0"/>
                    </a:lnTo>
                    <a:lnTo>
                      <a:pt x="8" y="0"/>
                    </a:lnTo>
                    <a:lnTo>
                      <a:pt x="14" y="0"/>
                    </a:lnTo>
                    <a:lnTo>
                      <a:pt x="19"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67" name="Line 272"/>
              <p:cNvSpPr>
                <a:spLocks noChangeShapeType="1"/>
              </p:cNvSpPr>
              <p:nvPr userDrawn="1"/>
            </p:nvSpPr>
            <p:spPr bwMode="gray">
              <a:xfrm flipH="1">
                <a:off x="2978" y="1606"/>
                <a:ext cx="2" cy="22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68" name="Freeform 273"/>
              <p:cNvSpPr>
                <a:spLocks/>
              </p:cNvSpPr>
              <p:nvPr userDrawn="1"/>
            </p:nvSpPr>
            <p:spPr bwMode="gray">
              <a:xfrm>
                <a:off x="2959" y="1833"/>
                <a:ext cx="19" cy="4"/>
              </a:xfrm>
              <a:custGeom>
                <a:avLst/>
                <a:gdLst>
                  <a:gd name="T0" fmla="*/ 0 w 19"/>
                  <a:gd name="T1" fmla="*/ 4 h 4"/>
                  <a:gd name="T2" fmla="*/ 5 w 19"/>
                  <a:gd name="T3" fmla="*/ 0 h 4"/>
                  <a:gd name="T4" fmla="*/ 9 w 19"/>
                  <a:gd name="T5" fmla="*/ 0 h 4"/>
                  <a:gd name="T6" fmla="*/ 14 w 19"/>
                  <a:gd name="T7" fmla="*/ 0 h 4"/>
                  <a:gd name="T8" fmla="*/ 19 w 19"/>
                  <a:gd name="T9" fmla="*/ 2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
                    <a:moveTo>
                      <a:pt x="0" y="4"/>
                    </a:moveTo>
                    <a:lnTo>
                      <a:pt x="5" y="0"/>
                    </a:lnTo>
                    <a:lnTo>
                      <a:pt x="9" y="0"/>
                    </a:lnTo>
                    <a:lnTo>
                      <a:pt x="14" y="0"/>
                    </a:lnTo>
                    <a:lnTo>
                      <a:pt x="19"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69" name="Freeform 274"/>
              <p:cNvSpPr>
                <a:spLocks/>
              </p:cNvSpPr>
              <p:nvPr userDrawn="1"/>
            </p:nvSpPr>
            <p:spPr bwMode="gray">
              <a:xfrm>
                <a:off x="2319" y="1366"/>
                <a:ext cx="3" cy="9"/>
              </a:xfrm>
              <a:custGeom>
                <a:avLst/>
                <a:gdLst>
                  <a:gd name="T0" fmla="*/ 3 w 3"/>
                  <a:gd name="T1" fmla="*/ 9 h 9"/>
                  <a:gd name="T2" fmla="*/ 0 w 3"/>
                  <a:gd name="T3" fmla="*/ 7 h 9"/>
                  <a:gd name="T4" fmla="*/ 0 w 3"/>
                  <a:gd name="T5" fmla="*/ 4 h 9"/>
                  <a:gd name="T6" fmla="*/ 0 w 3"/>
                  <a:gd name="T7" fmla="*/ 2 h 9"/>
                  <a:gd name="T8" fmla="*/ 2 w 3"/>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9">
                    <a:moveTo>
                      <a:pt x="3" y="9"/>
                    </a:moveTo>
                    <a:lnTo>
                      <a:pt x="0" y="7"/>
                    </a:lnTo>
                    <a:lnTo>
                      <a:pt x="0" y="4"/>
                    </a:lnTo>
                    <a:lnTo>
                      <a:pt x="0" y="2"/>
                    </a:lnTo>
                    <a:lnTo>
                      <a:pt x="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70" name="Freeform 275"/>
              <p:cNvSpPr>
                <a:spLocks/>
              </p:cNvSpPr>
              <p:nvPr userDrawn="1"/>
            </p:nvSpPr>
            <p:spPr bwMode="gray">
              <a:xfrm>
                <a:off x="2957" y="1712"/>
                <a:ext cx="19" cy="2"/>
              </a:xfrm>
              <a:custGeom>
                <a:avLst/>
                <a:gdLst>
                  <a:gd name="T0" fmla="*/ 0 w 19"/>
                  <a:gd name="T1" fmla="*/ 0 h 2"/>
                  <a:gd name="T2" fmla="*/ 5 w 19"/>
                  <a:gd name="T3" fmla="*/ 2 h 2"/>
                  <a:gd name="T4" fmla="*/ 11 w 19"/>
                  <a:gd name="T5" fmla="*/ 2 h 2"/>
                  <a:gd name="T6" fmla="*/ 16 w 19"/>
                  <a:gd name="T7" fmla="*/ 2 h 2"/>
                  <a:gd name="T8" fmla="*/ 19 w 19"/>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
                    <a:moveTo>
                      <a:pt x="0" y="0"/>
                    </a:moveTo>
                    <a:lnTo>
                      <a:pt x="5" y="2"/>
                    </a:lnTo>
                    <a:lnTo>
                      <a:pt x="11" y="2"/>
                    </a:lnTo>
                    <a:lnTo>
                      <a:pt x="16" y="2"/>
                    </a:lnTo>
                    <a:lnTo>
                      <a:pt x="1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71" name="Line 276"/>
              <p:cNvSpPr>
                <a:spLocks noChangeShapeType="1"/>
              </p:cNvSpPr>
              <p:nvPr userDrawn="1"/>
            </p:nvSpPr>
            <p:spPr bwMode="gray">
              <a:xfrm flipH="1">
                <a:off x="2966" y="1599"/>
                <a:ext cx="2" cy="22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72" name="Line 277"/>
              <p:cNvSpPr>
                <a:spLocks noChangeShapeType="1"/>
              </p:cNvSpPr>
              <p:nvPr userDrawn="1"/>
            </p:nvSpPr>
            <p:spPr bwMode="gray">
              <a:xfrm flipH="1">
                <a:off x="2955" y="1597"/>
                <a:ext cx="2" cy="22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73" name="Freeform 278"/>
              <p:cNvSpPr>
                <a:spLocks/>
              </p:cNvSpPr>
              <p:nvPr userDrawn="1"/>
            </p:nvSpPr>
            <p:spPr bwMode="gray">
              <a:xfrm>
                <a:off x="2955" y="1826"/>
                <a:ext cx="21" cy="4"/>
              </a:xfrm>
              <a:custGeom>
                <a:avLst/>
                <a:gdLst>
                  <a:gd name="T0" fmla="*/ 0 w 21"/>
                  <a:gd name="T1" fmla="*/ 0 h 4"/>
                  <a:gd name="T2" fmla="*/ 6 w 21"/>
                  <a:gd name="T3" fmla="*/ 2 h 4"/>
                  <a:gd name="T4" fmla="*/ 11 w 21"/>
                  <a:gd name="T5" fmla="*/ 4 h 4"/>
                  <a:gd name="T6" fmla="*/ 16 w 21"/>
                  <a:gd name="T7" fmla="*/ 2 h 4"/>
                  <a:gd name="T8" fmla="*/ 21 w 21"/>
                  <a:gd name="T9" fmla="*/ 0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4">
                    <a:moveTo>
                      <a:pt x="0" y="0"/>
                    </a:moveTo>
                    <a:lnTo>
                      <a:pt x="6" y="2"/>
                    </a:lnTo>
                    <a:lnTo>
                      <a:pt x="11" y="4"/>
                    </a:lnTo>
                    <a:lnTo>
                      <a:pt x="16" y="2"/>
                    </a:lnTo>
                    <a:lnTo>
                      <a:pt x="2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74" name="Line 279"/>
              <p:cNvSpPr>
                <a:spLocks noChangeShapeType="1"/>
              </p:cNvSpPr>
              <p:nvPr userDrawn="1"/>
            </p:nvSpPr>
            <p:spPr bwMode="gray">
              <a:xfrm flipV="1">
                <a:off x="2976" y="1597"/>
                <a:ext cx="2" cy="22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75" name="Freeform 280"/>
              <p:cNvSpPr>
                <a:spLocks/>
              </p:cNvSpPr>
              <p:nvPr userDrawn="1"/>
            </p:nvSpPr>
            <p:spPr bwMode="gray">
              <a:xfrm>
                <a:off x="2957" y="1597"/>
                <a:ext cx="21" cy="2"/>
              </a:xfrm>
              <a:custGeom>
                <a:avLst/>
                <a:gdLst>
                  <a:gd name="T0" fmla="*/ 0 w 21"/>
                  <a:gd name="T1" fmla="*/ 0 h 2"/>
                  <a:gd name="T2" fmla="*/ 5 w 21"/>
                  <a:gd name="T3" fmla="*/ 2 h 2"/>
                  <a:gd name="T4" fmla="*/ 11 w 21"/>
                  <a:gd name="T5" fmla="*/ 2 h 2"/>
                  <a:gd name="T6" fmla="*/ 16 w 21"/>
                  <a:gd name="T7" fmla="*/ 2 h 2"/>
                  <a:gd name="T8" fmla="*/ 21 w 21"/>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2">
                    <a:moveTo>
                      <a:pt x="0" y="0"/>
                    </a:moveTo>
                    <a:lnTo>
                      <a:pt x="5" y="2"/>
                    </a:lnTo>
                    <a:lnTo>
                      <a:pt x="11" y="2"/>
                    </a:lnTo>
                    <a:lnTo>
                      <a:pt x="16" y="2"/>
                    </a:lnTo>
                    <a:lnTo>
                      <a:pt x="2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76" name="Freeform 281"/>
              <p:cNvSpPr>
                <a:spLocks/>
              </p:cNvSpPr>
              <p:nvPr userDrawn="1"/>
            </p:nvSpPr>
            <p:spPr bwMode="gray">
              <a:xfrm>
                <a:off x="2301" y="1366"/>
                <a:ext cx="4" cy="9"/>
              </a:xfrm>
              <a:custGeom>
                <a:avLst/>
                <a:gdLst>
                  <a:gd name="T0" fmla="*/ 2 w 4"/>
                  <a:gd name="T1" fmla="*/ 9 h 9"/>
                  <a:gd name="T2" fmla="*/ 4 w 4"/>
                  <a:gd name="T3" fmla="*/ 7 h 9"/>
                  <a:gd name="T4" fmla="*/ 4 w 4"/>
                  <a:gd name="T5" fmla="*/ 5 h 9"/>
                  <a:gd name="T6" fmla="*/ 4 w 4"/>
                  <a:gd name="T7" fmla="*/ 2 h 9"/>
                  <a:gd name="T8" fmla="*/ 0 w 4"/>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9">
                    <a:moveTo>
                      <a:pt x="2" y="9"/>
                    </a:moveTo>
                    <a:lnTo>
                      <a:pt x="4" y="7"/>
                    </a:lnTo>
                    <a:lnTo>
                      <a:pt x="4" y="5"/>
                    </a:lnTo>
                    <a:lnTo>
                      <a:pt x="4"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77" name="Freeform 282"/>
              <p:cNvSpPr>
                <a:spLocks/>
              </p:cNvSpPr>
              <p:nvPr userDrawn="1"/>
            </p:nvSpPr>
            <p:spPr bwMode="gray">
              <a:xfrm>
                <a:off x="2139" y="1574"/>
                <a:ext cx="3" cy="9"/>
              </a:xfrm>
              <a:custGeom>
                <a:avLst/>
                <a:gdLst>
                  <a:gd name="T0" fmla="*/ 1 w 3"/>
                  <a:gd name="T1" fmla="*/ 0 h 9"/>
                  <a:gd name="T2" fmla="*/ 0 w 3"/>
                  <a:gd name="T3" fmla="*/ 2 h 9"/>
                  <a:gd name="T4" fmla="*/ 0 w 3"/>
                  <a:gd name="T5" fmla="*/ 4 h 9"/>
                  <a:gd name="T6" fmla="*/ 0 w 3"/>
                  <a:gd name="T7" fmla="*/ 7 h 9"/>
                  <a:gd name="T8" fmla="*/ 3 w 3"/>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9">
                    <a:moveTo>
                      <a:pt x="1" y="0"/>
                    </a:moveTo>
                    <a:lnTo>
                      <a:pt x="0" y="2"/>
                    </a:lnTo>
                    <a:lnTo>
                      <a:pt x="0" y="4"/>
                    </a:lnTo>
                    <a:lnTo>
                      <a:pt x="0" y="7"/>
                    </a:lnTo>
                    <a:lnTo>
                      <a:pt x="3"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78" name="Line 283"/>
              <p:cNvSpPr>
                <a:spLocks noChangeShapeType="1"/>
              </p:cNvSpPr>
              <p:nvPr userDrawn="1"/>
            </p:nvSpPr>
            <p:spPr bwMode="gray">
              <a:xfrm flipH="1" flipV="1">
                <a:off x="2135" y="1466"/>
                <a:ext cx="5" cy="22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79" name="Line 284"/>
              <p:cNvSpPr>
                <a:spLocks noChangeShapeType="1"/>
              </p:cNvSpPr>
              <p:nvPr userDrawn="1"/>
            </p:nvSpPr>
            <p:spPr bwMode="gray">
              <a:xfrm flipH="1" flipV="1">
                <a:off x="2139" y="1460"/>
                <a:ext cx="5" cy="22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80" name="Freeform 285"/>
              <p:cNvSpPr>
                <a:spLocks/>
              </p:cNvSpPr>
              <p:nvPr userDrawn="1"/>
            </p:nvSpPr>
            <p:spPr bwMode="gray">
              <a:xfrm>
                <a:off x="2135" y="1460"/>
                <a:ext cx="4" cy="9"/>
              </a:xfrm>
              <a:custGeom>
                <a:avLst/>
                <a:gdLst>
                  <a:gd name="T0" fmla="*/ 4 w 4"/>
                  <a:gd name="T1" fmla="*/ 0 h 9"/>
                  <a:gd name="T2" fmla="*/ 0 w 4"/>
                  <a:gd name="T3" fmla="*/ 2 h 9"/>
                  <a:gd name="T4" fmla="*/ 0 w 4"/>
                  <a:gd name="T5" fmla="*/ 6 h 9"/>
                  <a:gd name="T6" fmla="*/ 2 w 4"/>
                  <a:gd name="T7" fmla="*/ 7 h 9"/>
                  <a:gd name="T8" fmla="*/ 4 w 4"/>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9">
                    <a:moveTo>
                      <a:pt x="4" y="0"/>
                    </a:moveTo>
                    <a:lnTo>
                      <a:pt x="0" y="2"/>
                    </a:lnTo>
                    <a:lnTo>
                      <a:pt x="0" y="6"/>
                    </a:lnTo>
                    <a:lnTo>
                      <a:pt x="2" y="7"/>
                    </a:lnTo>
                    <a:lnTo>
                      <a:pt x="4"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81" name="Line 286"/>
              <p:cNvSpPr>
                <a:spLocks noChangeShapeType="1"/>
              </p:cNvSpPr>
              <p:nvPr userDrawn="1"/>
            </p:nvSpPr>
            <p:spPr bwMode="gray">
              <a:xfrm>
                <a:off x="2139" y="1469"/>
                <a:ext cx="7" cy="22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82" name="Freeform 287"/>
              <p:cNvSpPr>
                <a:spLocks/>
              </p:cNvSpPr>
              <p:nvPr userDrawn="1"/>
            </p:nvSpPr>
            <p:spPr bwMode="gray">
              <a:xfrm>
                <a:off x="2140" y="1686"/>
                <a:ext cx="6" cy="9"/>
              </a:xfrm>
              <a:custGeom>
                <a:avLst/>
                <a:gdLst>
                  <a:gd name="T0" fmla="*/ 6 w 6"/>
                  <a:gd name="T1" fmla="*/ 9 h 9"/>
                  <a:gd name="T2" fmla="*/ 2 w 6"/>
                  <a:gd name="T3" fmla="*/ 7 h 9"/>
                  <a:gd name="T4" fmla="*/ 0 w 6"/>
                  <a:gd name="T5" fmla="*/ 5 h 9"/>
                  <a:gd name="T6" fmla="*/ 2 w 6"/>
                  <a:gd name="T7" fmla="*/ 2 h 9"/>
                  <a:gd name="T8" fmla="*/ 4 w 6"/>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9">
                    <a:moveTo>
                      <a:pt x="6" y="9"/>
                    </a:moveTo>
                    <a:lnTo>
                      <a:pt x="2" y="7"/>
                    </a:lnTo>
                    <a:lnTo>
                      <a:pt x="0" y="5"/>
                    </a:lnTo>
                    <a:lnTo>
                      <a:pt x="2" y="2"/>
                    </a:lnTo>
                    <a:lnTo>
                      <a:pt x="4"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83" name="Freeform 288"/>
              <p:cNvSpPr>
                <a:spLocks/>
              </p:cNvSpPr>
              <p:nvPr userDrawn="1"/>
            </p:nvSpPr>
            <p:spPr bwMode="gray">
              <a:xfrm>
                <a:off x="2779" y="1816"/>
                <a:ext cx="19" cy="3"/>
              </a:xfrm>
              <a:custGeom>
                <a:avLst/>
                <a:gdLst>
                  <a:gd name="T0" fmla="*/ 0 w 19"/>
                  <a:gd name="T1" fmla="*/ 1 h 3"/>
                  <a:gd name="T2" fmla="*/ 5 w 19"/>
                  <a:gd name="T3" fmla="*/ 3 h 3"/>
                  <a:gd name="T4" fmla="*/ 10 w 19"/>
                  <a:gd name="T5" fmla="*/ 3 h 3"/>
                  <a:gd name="T6" fmla="*/ 16 w 19"/>
                  <a:gd name="T7" fmla="*/ 1 h 3"/>
                  <a:gd name="T8" fmla="*/ 19 w 19"/>
                  <a:gd name="T9" fmla="*/ 0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
                    <a:moveTo>
                      <a:pt x="0" y="1"/>
                    </a:moveTo>
                    <a:lnTo>
                      <a:pt x="5" y="3"/>
                    </a:lnTo>
                    <a:lnTo>
                      <a:pt x="10" y="3"/>
                    </a:lnTo>
                    <a:lnTo>
                      <a:pt x="16" y="1"/>
                    </a:lnTo>
                    <a:lnTo>
                      <a:pt x="1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84" name="Line 289"/>
              <p:cNvSpPr>
                <a:spLocks noChangeShapeType="1"/>
              </p:cNvSpPr>
              <p:nvPr userDrawn="1"/>
            </p:nvSpPr>
            <p:spPr bwMode="gray">
              <a:xfrm flipV="1">
                <a:off x="2789" y="1702"/>
                <a:ext cx="1" cy="23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85" name="Line 290"/>
              <p:cNvSpPr>
                <a:spLocks noChangeShapeType="1"/>
              </p:cNvSpPr>
              <p:nvPr userDrawn="1"/>
            </p:nvSpPr>
            <p:spPr bwMode="gray">
              <a:xfrm flipV="1">
                <a:off x="2779" y="1700"/>
                <a:ext cx="1" cy="23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86" name="Freeform 291"/>
              <p:cNvSpPr>
                <a:spLocks/>
              </p:cNvSpPr>
              <p:nvPr userDrawn="1"/>
            </p:nvSpPr>
            <p:spPr bwMode="gray">
              <a:xfrm>
                <a:off x="2779" y="1698"/>
                <a:ext cx="19" cy="4"/>
              </a:xfrm>
              <a:custGeom>
                <a:avLst/>
                <a:gdLst>
                  <a:gd name="T0" fmla="*/ 0 w 19"/>
                  <a:gd name="T1" fmla="*/ 2 h 4"/>
                  <a:gd name="T2" fmla="*/ 5 w 19"/>
                  <a:gd name="T3" fmla="*/ 4 h 4"/>
                  <a:gd name="T4" fmla="*/ 10 w 19"/>
                  <a:gd name="T5" fmla="*/ 4 h 4"/>
                  <a:gd name="T6" fmla="*/ 14 w 19"/>
                  <a:gd name="T7" fmla="*/ 4 h 4"/>
                  <a:gd name="T8" fmla="*/ 19 w 19"/>
                  <a:gd name="T9" fmla="*/ 0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
                    <a:moveTo>
                      <a:pt x="0" y="2"/>
                    </a:moveTo>
                    <a:lnTo>
                      <a:pt x="5" y="4"/>
                    </a:lnTo>
                    <a:lnTo>
                      <a:pt x="10" y="4"/>
                    </a:lnTo>
                    <a:lnTo>
                      <a:pt x="14" y="4"/>
                    </a:lnTo>
                    <a:lnTo>
                      <a:pt x="1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87" name="Line 292"/>
              <p:cNvSpPr>
                <a:spLocks noChangeShapeType="1"/>
              </p:cNvSpPr>
              <p:nvPr userDrawn="1"/>
            </p:nvSpPr>
            <p:spPr bwMode="gray">
              <a:xfrm>
                <a:off x="2798" y="1698"/>
                <a:ext cx="1" cy="23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88" name="Freeform 293"/>
              <p:cNvSpPr>
                <a:spLocks/>
              </p:cNvSpPr>
              <p:nvPr userDrawn="1"/>
            </p:nvSpPr>
            <p:spPr bwMode="gray">
              <a:xfrm>
                <a:off x="2779" y="1931"/>
                <a:ext cx="19" cy="3"/>
              </a:xfrm>
              <a:custGeom>
                <a:avLst/>
                <a:gdLst>
                  <a:gd name="T0" fmla="*/ 19 w 19"/>
                  <a:gd name="T1" fmla="*/ 0 h 3"/>
                  <a:gd name="T2" fmla="*/ 16 w 19"/>
                  <a:gd name="T3" fmla="*/ 3 h 3"/>
                  <a:gd name="T4" fmla="*/ 10 w 19"/>
                  <a:gd name="T5" fmla="*/ 3 h 3"/>
                  <a:gd name="T6" fmla="*/ 5 w 19"/>
                  <a:gd name="T7" fmla="*/ 3 h 3"/>
                  <a:gd name="T8" fmla="*/ 0 w 19"/>
                  <a:gd name="T9" fmla="*/ 2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
                    <a:moveTo>
                      <a:pt x="19" y="0"/>
                    </a:moveTo>
                    <a:lnTo>
                      <a:pt x="16" y="3"/>
                    </a:lnTo>
                    <a:lnTo>
                      <a:pt x="10" y="3"/>
                    </a:lnTo>
                    <a:lnTo>
                      <a:pt x="5" y="3"/>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89" name="Freeform 294"/>
              <p:cNvSpPr>
                <a:spLocks/>
              </p:cNvSpPr>
              <p:nvPr userDrawn="1"/>
            </p:nvSpPr>
            <p:spPr bwMode="gray">
              <a:xfrm>
                <a:off x="2356" y="1903"/>
                <a:ext cx="5" cy="9"/>
              </a:xfrm>
              <a:custGeom>
                <a:avLst/>
                <a:gdLst>
                  <a:gd name="T0" fmla="*/ 3 w 5"/>
                  <a:gd name="T1" fmla="*/ 0 h 9"/>
                  <a:gd name="T2" fmla="*/ 1 w 5"/>
                  <a:gd name="T3" fmla="*/ 2 h 9"/>
                  <a:gd name="T4" fmla="*/ 0 w 5"/>
                  <a:gd name="T5" fmla="*/ 5 h 9"/>
                  <a:gd name="T6" fmla="*/ 1 w 5"/>
                  <a:gd name="T7" fmla="*/ 7 h 9"/>
                  <a:gd name="T8" fmla="*/ 5 w 5"/>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9">
                    <a:moveTo>
                      <a:pt x="3" y="0"/>
                    </a:moveTo>
                    <a:lnTo>
                      <a:pt x="1" y="2"/>
                    </a:lnTo>
                    <a:lnTo>
                      <a:pt x="0" y="5"/>
                    </a:lnTo>
                    <a:lnTo>
                      <a:pt x="1" y="7"/>
                    </a:lnTo>
                    <a:lnTo>
                      <a:pt x="5"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90" name="Line 295"/>
              <p:cNvSpPr>
                <a:spLocks noChangeShapeType="1"/>
              </p:cNvSpPr>
              <p:nvPr userDrawn="1"/>
            </p:nvSpPr>
            <p:spPr bwMode="gray">
              <a:xfrm>
                <a:off x="2354" y="1789"/>
                <a:ext cx="3" cy="22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91" name="Line 296"/>
              <p:cNvSpPr>
                <a:spLocks noChangeShapeType="1"/>
              </p:cNvSpPr>
              <p:nvPr userDrawn="1"/>
            </p:nvSpPr>
            <p:spPr bwMode="gray">
              <a:xfrm>
                <a:off x="2357" y="1791"/>
                <a:ext cx="4" cy="22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92" name="Freeform 297"/>
              <p:cNvSpPr>
                <a:spLocks/>
              </p:cNvSpPr>
              <p:nvPr userDrawn="1"/>
            </p:nvSpPr>
            <p:spPr bwMode="gray">
              <a:xfrm>
                <a:off x="2357" y="2013"/>
                <a:ext cx="6" cy="11"/>
              </a:xfrm>
              <a:custGeom>
                <a:avLst/>
                <a:gdLst>
                  <a:gd name="T0" fmla="*/ 4 w 6"/>
                  <a:gd name="T1" fmla="*/ 0 h 11"/>
                  <a:gd name="T2" fmla="*/ 2 w 6"/>
                  <a:gd name="T3" fmla="*/ 4 h 11"/>
                  <a:gd name="T4" fmla="*/ 0 w 6"/>
                  <a:gd name="T5" fmla="*/ 5 h 11"/>
                  <a:gd name="T6" fmla="*/ 2 w 6"/>
                  <a:gd name="T7" fmla="*/ 9 h 11"/>
                  <a:gd name="T8" fmla="*/ 6 w 6"/>
                  <a:gd name="T9" fmla="*/ 11 h 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11">
                    <a:moveTo>
                      <a:pt x="4" y="0"/>
                    </a:moveTo>
                    <a:lnTo>
                      <a:pt x="2" y="4"/>
                    </a:lnTo>
                    <a:lnTo>
                      <a:pt x="0" y="5"/>
                    </a:lnTo>
                    <a:lnTo>
                      <a:pt x="2" y="9"/>
                    </a:lnTo>
                    <a:lnTo>
                      <a:pt x="6" y="1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93" name="Line 298"/>
              <p:cNvSpPr>
                <a:spLocks noChangeShapeType="1"/>
              </p:cNvSpPr>
              <p:nvPr userDrawn="1"/>
            </p:nvSpPr>
            <p:spPr bwMode="gray">
              <a:xfrm flipH="1" flipV="1">
                <a:off x="2359" y="1788"/>
                <a:ext cx="4" cy="23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94" name="Freeform 299"/>
              <p:cNvSpPr>
                <a:spLocks/>
              </p:cNvSpPr>
              <p:nvPr userDrawn="1"/>
            </p:nvSpPr>
            <p:spPr bwMode="gray">
              <a:xfrm>
                <a:off x="2354" y="1788"/>
                <a:ext cx="5" cy="3"/>
              </a:xfrm>
              <a:custGeom>
                <a:avLst/>
                <a:gdLst>
                  <a:gd name="T0" fmla="*/ 3 w 5"/>
                  <a:gd name="T1" fmla="*/ 3 h 3"/>
                  <a:gd name="T2" fmla="*/ 2 w 5"/>
                  <a:gd name="T3" fmla="*/ 3 h 3"/>
                  <a:gd name="T4" fmla="*/ 0 w 5"/>
                  <a:gd name="T5" fmla="*/ 1 h 3"/>
                  <a:gd name="T6" fmla="*/ 0 w 5"/>
                  <a:gd name="T7" fmla="*/ 1 h 3"/>
                  <a:gd name="T8" fmla="*/ 0 w 5"/>
                  <a:gd name="T9" fmla="*/ 1 h 3"/>
                  <a:gd name="T10" fmla="*/ 2 w 5"/>
                  <a:gd name="T11" fmla="*/ 0 h 3"/>
                  <a:gd name="T12" fmla="*/ 5 w 5"/>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 h="3">
                    <a:moveTo>
                      <a:pt x="3" y="3"/>
                    </a:moveTo>
                    <a:lnTo>
                      <a:pt x="2" y="3"/>
                    </a:lnTo>
                    <a:lnTo>
                      <a:pt x="0" y="1"/>
                    </a:lnTo>
                    <a:lnTo>
                      <a:pt x="2" y="0"/>
                    </a:lnTo>
                    <a:lnTo>
                      <a:pt x="5"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95" name="Freeform 300"/>
              <p:cNvSpPr>
                <a:spLocks/>
              </p:cNvSpPr>
              <p:nvPr userDrawn="1"/>
            </p:nvSpPr>
            <p:spPr bwMode="gray">
              <a:xfrm>
                <a:off x="2361" y="2013"/>
                <a:ext cx="10" cy="18"/>
              </a:xfrm>
              <a:custGeom>
                <a:avLst/>
                <a:gdLst>
                  <a:gd name="T0" fmla="*/ 10 w 10"/>
                  <a:gd name="T1" fmla="*/ 18 h 18"/>
                  <a:gd name="T2" fmla="*/ 7 w 10"/>
                  <a:gd name="T3" fmla="*/ 14 h 18"/>
                  <a:gd name="T4" fmla="*/ 3 w 10"/>
                  <a:gd name="T5" fmla="*/ 11 h 18"/>
                  <a:gd name="T6" fmla="*/ 2 w 10"/>
                  <a:gd name="T7" fmla="*/ 5 h 18"/>
                  <a:gd name="T8" fmla="*/ 0 w 10"/>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8">
                    <a:moveTo>
                      <a:pt x="10" y="18"/>
                    </a:moveTo>
                    <a:lnTo>
                      <a:pt x="7" y="14"/>
                    </a:lnTo>
                    <a:lnTo>
                      <a:pt x="3" y="11"/>
                    </a:lnTo>
                    <a:lnTo>
                      <a:pt x="2"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96" name="Freeform 301"/>
              <p:cNvSpPr>
                <a:spLocks/>
              </p:cNvSpPr>
              <p:nvPr userDrawn="1"/>
            </p:nvSpPr>
            <p:spPr bwMode="gray">
              <a:xfrm>
                <a:off x="2513" y="1193"/>
                <a:ext cx="19" cy="2"/>
              </a:xfrm>
              <a:custGeom>
                <a:avLst/>
                <a:gdLst>
                  <a:gd name="T0" fmla="*/ 0 w 19"/>
                  <a:gd name="T1" fmla="*/ 2 h 2"/>
                  <a:gd name="T2" fmla="*/ 7 w 19"/>
                  <a:gd name="T3" fmla="*/ 0 h 2"/>
                  <a:gd name="T4" fmla="*/ 14 w 19"/>
                  <a:gd name="T5" fmla="*/ 0 h 2"/>
                  <a:gd name="T6" fmla="*/ 19 w 19"/>
                  <a:gd name="T7" fmla="*/ 2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
                    <a:moveTo>
                      <a:pt x="0" y="2"/>
                    </a:moveTo>
                    <a:lnTo>
                      <a:pt x="7" y="0"/>
                    </a:lnTo>
                    <a:lnTo>
                      <a:pt x="14" y="0"/>
                    </a:lnTo>
                    <a:lnTo>
                      <a:pt x="19"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97" name="Freeform 302"/>
              <p:cNvSpPr>
                <a:spLocks/>
              </p:cNvSpPr>
              <p:nvPr userDrawn="1"/>
            </p:nvSpPr>
            <p:spPr bwMode="gray">
              <a:xfrm>
                <a:off x="2431" y="1226"/>
                <a:ext cx="10" cy="11"/>
              </a:xfrm>
              <a:custGeom>
                <a:avLst/>
                <a:gdLst>
                  <a:gd name="T0" fmla="*/ 0 w 10"/>
                  <a:gd name="T1" fmla="*/ 11 h 11"/>
                  <a:gd name="T2" fmla="*/ 0 w 10"/>
                  <a:gd name="T3" fmla="*/ 7 h 11"/>
                  <a:gd name="T4" fmla="*/ 3 w 10"/>
                  <a:gd name="T5" fmla="*/ 4 h 11"/>
                  <a:gd name="T6" fmla="*/ 5 w 10"/>
                  <a:gd name="T7" fmla="*/ 2 h 11"/>
                  <a:gd name="T8" fmla="*/ 9 w 10"/>
                  <a:gd name="T9" fmla="*/ 0 h 11"/>
                  <a:gd name="T10" fmla="*/ 10 w 10"/>
                  <a:gd name="T11" fmla="*/ 2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11">
                    <a:moveTo>
                      <a:pt x="0" y="11"/>
                    </a:moveTo>
                    <a:lnTo>
                      <a:pt x="0" y="7"/>
                    </a:lnTo>
                    <a:lnTo>
                      <a:pt x="3" y="4"/>
                    </a:lnTo>
                    <a:lnTo>
                      <a:pt x="5" y="2"/>
                    </a:lnTo>
                    <a:lnTo>
                      <a:pt x="9" y="0"/>
                    </a:lnTo>
                    <a:lnTo>
                      <a:pt x="1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98" name="Line 303"/>
              <p:cNvSpPr>
                <a:spLocks noChangeShapeType="1"/>
              </p:cNvSpPr>
              <p:nvPr userDrawn="1"/>
            </p:nvSpPr>
            <p:spPr bwMode="gray">
              <a:xfrm flipH="1">
                <a:off x="2350" y="1188"/>
                <a:ext cx="166" cy="8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99" name="Line 304"/>
              <p:cNvSpPr>
                <a:spLocks noChangeShapeType="1"/>
              </p:cNvSpPr>
              <p:nvPr userDrawn="1"/>
            </p:nvSpPr>
            <p:spPr bwMode="gray">
              <a:xfrm flipH="1">
                <a:off x="2347" y="1195"/>
                <a:ext cx="166" cy="8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00" name="Freeform 305"/>
              <p:cNvSpPr>
                <a:spLocks/>
              </p:cNvSpPr>
              <p:nvPr userDrawn="1"/>
            </p:nvSpPr>
            <p:spPr bwMode="gray">
              <a:xfrm>
                <a:off x="2347" y="1270"/>
                <a:ext cx="10" cy="10"/>
              </a:xfrm>
              <a:custGeom>
                <a:avLst/>
                <a:gdLst>
                  <a:gd name="T0" fmla="*/ 0 w 10"/>
                  <a:gd name="T1" fmla="*/ 10 h 10"/>
                  <a:gd name="T2" fmla="*/ 2 w 10"/>
                  <a:gd name="T3" fmla="*/ 5 h 10"/>
                  <a:gd name="T4" fmla="*/ 3 w 10"/>
                  <a:gd name="T5" fmla="*/ 2 h 10"/>
                  <a:gd name="T6" fmla="*/ 5 w 10"/>
                  <a:gd name="T7" fmla="*/ 0 h 10"/>
                  <a:gd name="T8" fmla="*/ 9 w 10"/>
                  <a:gd name="T9" fmla="*/ 0 h 10"/>
                  <a:gd name="T10" fmla="*/ 10 w 10"/>
                  <a:gd name="T11" fmla="*/ 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10">
                    <a:moveTo>
                      <a:pt x="0" y="10"/>
                    </a:moveTo>
                    <a:lnTo>
                      <a:pt x="2" y="5"/>
                    </a:lnTo>
                    <a:lnTo>
                      <a:pt x="3" y="2"/>
                    </a:lnTo>
                    <a:lnTo>
                      <a:pt x="5" y="0"/>
                    </a:lnTo>
                    <a:lnTo>
                      <a:pt x="9" y="0"/>
                    </a:lnTo>
                    <a:lnTo>
                      <a:pt x="1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01" name="Line 306"/>
              <p:cNvSpPr>
                <a:spLocks noChangeShapeType="1"/>
              </p:cNvSpPr>
              <p:nvPr userDrawn="1"/>
            </p:nvSpPr>
            <p:spPr bwMode="gray">
              <a:xfrm flipV="1">
                <a:off x="2357" y="1186"/>
                <a:ext cx="166" cy="8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02" name="Freeform 307"/>
              <p:cNvSpPr>
                <a:spLocks/>
              </p:cNvSpPr>
              <p:nvPr userDrawn="1"/>
            </p:nvSpPr>
            <p:spPr bwMode="gray">
              <a:xfrm>
                <a:off x="2513" y="1186"/>
                <a:ext cx="10" cy="9"/>
              </a:xfrm>
              <a:custGeom>
                <a:avLst/>
                <a:gdLst>
                  <a:gd name="T0" fmla="*/ 0 w 10"/>
                  <a:gd name="T1" fmla="*/ 9 h 9"/>
                  <a:gd name="T2" fmla="*/ 0 w 10"/>
                  <a:gd name="T3" fmla="*/ 5 h 9"/>
                  <a:gd name="T4" fmla="*/ 2 w 10"/>
                  <a:gd name="T5" fmla="*/ 2 h 9"/>
                  <a:gd name="T6" fmla="*/ 3 w 10"/>
                  <a:gd name="T7" fmla="*/ 0 h 9"/>
                  <a:gd name="T8" fmla="*/ 7 w 10"/>
                  <a:gd name="T9" fmla="*/ 0 h 9"/>
                  <a:gd name="T10" fmla="*/ 10 w 10"/>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0" y="9"/>
                    </a:moveTo>
                    <a:lnTo>
                      <a:pt x="0" y="5"/>
                    </a:lnTo>
                    <a:lnTo>
                      <a:pt x="2" y="2"/>
                    </a:lnTo>
                    <a:lnTo>
                      <a:pt x="3" y="0"/>
                    </a:lnTo>
                    <a:lnTo>
                      <a:pt x="7" y="0"/>
                    </a:lnTo>
                    <a:lnTo>
                      <a:pt x="1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03" name="Freeform 308"/>
              <p:cNvSpPr>
                <a:spLocks/>
              </p:cNvSpPr>
              <p:nvPr userDrawn="1"/>
            </p:nvSpPr>
            <p:spPr bwMode="gray">
              <a:xfrm>
                <a:off x="2347" y="1396"/>
                <a:ext cx="5" cy="9"/>
              </a:xfrm>
              <a:custGeom>
                <a:avLst/>
                <a:gdLst>
                  <a:gd name="T0" fmla="*/ 3 w 5"/>
                  <a:gd name="T1" fmla="*/ 0 h 9"/>
                  <a:gd name="T2" fmla="*/ 0 w 5"/>
                  <a:gd name="T3" fmla="*/ 3 h 9"/>
                  <a:gd name="T4" fmla="*/ 0 w 5"/>
                  <a:gd name="T5" fmla="*/ 5 h 9"/>
                  <a:gd name="T6" fmla="*/ 2 w 5"/>
                  <a:gd name="T7" fmla="*/ 7 h 9"/>
                  <a:gd name="T8" fmla="*/ 5 w 5"/>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9">
                    <a:moveTo>
                      <a:pt x="3" y="0"/>
                    </a:moveTo>
                    <a:lnTo>
                      <a:pt x="0" y="3"/>
                    </a:lnTo>
                    <a:lnTo>
                      <a:pt x="0" y="5"/>
                    </a:lnTo>
                    <a:lnTo>
                      <a:pt x="2" y="7"/>
                    </a:lnTo>
                    <a:lnTo>
                      <a:pt x="5"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04" name="Line 309"/>
              <p:cNvSpPr>
                <a:spLocks noChangeShapeType="1"/>
              </p:cNvSpPr>
              <p:nvPr userDrawn="1"/>
            </p:nvSpPr>
            <p:spPr bwMode="gray">
              <a:xfrm>
                <a:off x="2343" y="1284"/>
                <a:ext cx="6" cy="23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05" name="Line 310"/>
              <p:cNvSpPr>
                <a:spLocks noChangeShapeType="1"/>
              </p:cNvSpPr>
              <p:nvPr userDrawn="1"/>
            </p:nvSpPr>
            <p:spPr bwMode="gray">
              <a:xfrm>
                <a:off x="2347" y="1280"/>
                <a:ext cx="5" cy="23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06" name="Freeform 311"/>
              <p:cNvSpPr>
                <a:spLocks/>
              </p:cNvSpPr>
              <p:nvPr userDrawn="1"/>
            </p:nvSpPr>
            <p:spPr bwMode="gray">
              <a:xfrm>
                <a:off x="2349" y="1513"/>
                <a:ext cx="5" cy="21"/>
              </a:xfrm>
              <a:custGeom>
                <a:avLst/>
                <a:gdLst>
                  <a:gd name="T0" fmla="*/ 3 w 5"/>
                  <a:gd name="T1" fmla="*/ 0 h 21"/>
                  <a:gd name="T2" fmla="*/ 0 w 5"/>
                  <a:gd name="T3" fmla="*/ 5 h 21"/>
                  <a:gd name="T4" fmla="*/ 0 w 5"/>
                  <a:gd name="T5" fmla="*/ 10 h 21"/>
                  <a:gd name="T6" fmla="*/ 1 w 5"/>
                  <a:gd name="T7" fmla="*/ 16 h 21"/>
                  <a:gd name="T8" fmla="*/ 5 w 5"/>
                  <a:gd name="T9" fmla="*/ 21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21">
                    <a:moveTo>
                      <a:pt x="3" y="0"/>
                    </a:moveTo>
                    <a:lnTo>
                      <a:pt x="0" y="5"/>
                    </a:lnTo>
                    <a:lnTo>
                      <a:pt x="0" y="10"/>
                    </a:lnTo>
                    <a:lnTo>
                      <a:pt x="1" y="16"/>
                    </a:lnTo>
                    <a:lnTo>
                      <a:pt x="5" y="2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07" name="Line 312"/>
              <p:cNvSpPr>
                <a:spLocks noChangeShapeType="1"/>
              </p:cNvSpPr>
              <p:nvPr userDrawn="1"/>
            </p:nvSpPr>
            <p:spPr bwMode="gray">
              <a:xfrm flipH="1" flipV="1">
                <a:off x="2349" y="1287"/>
                <a:ext cx="5" cy="24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08" name="Freeform 313"/>
              <p:cNvSpPr>
                <a:spLocks/>
              </p:cNvSpPr>
              <p:nvPr userDrawn="1"/>
            </p:nvSpPr>
            <p:spPr bwMode="gray">
              <a:xfrm>
                <a:off x="2345" y="1280"/>
                <a:ext cx="4" cy="7"/>
              </a:xfrm>
              <a:custGeom>
                <a:avLst/>
                <a:gdLst>
                  <a:gd name="T0" fmla="*/ 4 w 4"/>
                  <a:gd name="T1" fmla="*/ 7 h 7"/>
                  <a:gd name="T2" fmla="*/ 2 w 4"/>
                  <a:gd name="T3" fmla="*/ 6 h 7"/>
                  <a:gd name="T4" fmla="*/ 0 w 4"/>
                  <a:gd name="T5" fmla="*/ 4 h 7"/>
                  <a:gd name="T6" fmla="*/ 0 w 4"/>
                  <a:gd name="T7" fmla="*/ 2 h 7"/>
                  <a:gd name="T8" fmla="*/ 2 w 4"/>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7">
                    <a:moveTo>
                      <a:pt x="4" y="7"/>
                    </a:moveTo>
                    <a:lnTo>
                      <a:pt x="2" y="6"/>
                    </a:lnTo>
                    <a:lnTo>
                      <a:pt x="0" y="4"/>
                    </a:lnTo>
                    <a:lnTo>
                      <a:pt x="0" y="2"/>
                    </a:lnTo>
                    <a:lnTo>
                      <a:pt x="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09" name="Freeform 314"/>
              <p:cNvSpPr>
                <a:spLocks/>
              </p:cNvSpPr>
              <p:nvPr userDrawn="1"/>
            </p:nvSpPr>
            <p:spPr bwMode="gray">
              <a:xfrm>
                <a:off x="2557" y="1985"/>
                <a:ext cx="19" cy="4"/>
              </a:xfrm>
              <a:custGeom>
                <a:avLst/>
                <a:gdLst>
                  <a:gd name="T0" fmla="*/ 19 w 19"/>
                  <a:gd name="T1" fmla="*/ 0 h 4"/>
                  <a:gd name="T2" fmla="*/ 14 w 19"/>
                  <a:gd name="T3" fmla="*/ 2 h 4"/>
                  <a:gd name="T4" fmla="*/ 10 w 19"/>
                  <a:gd name="T5" fmla="*/ 4 h 4"/>
                  <a:gd name="T6" fmla="*/ 5 w 19"/>
                  <a:gd name="T7" fmla="*/ 4 h 4"/>
                  <a:gd name="T8" fmla="*/ 0 w 19"/>
                  <a:gd name="T9" fmla="*/ 2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
                    <a:moveTo>
                      <a:pt x="19" y="0"/>
                    </a:moveTo>
                    <a:lnTo>
                      <a:pt x="14" y="2"/>
                    </a:lnTo>
                    <a:lnTo>
                      <a:pt x="10" y="4"/>
                    </a:lnTo>
                    <a:lnTo>
                      <a:pt x="5" y="4"/>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10" name="Line 315"/>
              <p:cNvSpPr>
                <a:spLocks noChangeShapeType="1"/>
              </p:cNvSpPr>
              <p:nvPr userDrawn="1"/>
            </p:nvSpPr>
            <p:spPr bwMode="gray">
              <a:xfrm>
                <a:off x="2565" y="1870"/>
                <a:ext cx="2" cy="23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11" name="Line 316"/>
              <p:cNvSpPr>
                <a:spLocks noChangeShapeType="1"/>
              </p:cNvSpPr>
              <p:nvPr userDrawn="1"/>
            </p:nvSpPr>
            <p:spPr bwMode="gray">
              <a:xfrm>
                <a:off x="2574" y="1873"/>
                <a:ext cx="4" cy="22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12" name="Freeform 317"/>
              <p:cNvSpPr>
                <a:spLocks/>
              </p:cNvSpPr>
              <p:nvPr userDrawn="1"/>
            </p:nvSpPr>
            <p:spPr bwMode="gray">
              <a:xfrm>
                <a:off x="2557" y="2097"/>
                <a:ext cx="21" cy="4"/>
              </a:xfrm>
              <a:custGeom>
                <a:avLst/>
                <a:gdLst>
                  <a:gd name="T0" fmla="*/ 21 w 21"/>
                  <a:gd name="T1" fmla="*/ 0 h 4"/>
                  <a:gd name="T2" fmla="*/ 15 w 21"/>
                  <a:gd name="T3" fmla="*/ 4 h 4"/>
                  <a:gd name="T4" fmla="*/ 10 w 21"/>
                  <a:gd name="T5" fmla="*/ 4 h 4"/>
                  <a:gd name="T6" fmla="*/ 5 w 21"/>
                  <a:gd name="T7" fmla="*/ 4 h 4"/>
                  <a:gd name="T8" fmla="*/ 0 w 21"/>
                  <a:gd name="T9" fmla="*/ 2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4">
                    <a:moveTo>
                      <a:pt x="21" y="0"/>
                    </a:moveTo>
                    <a:lnTo>
                      <a:pt x="15" y="4"/>
                    </a:lnTo>
                    <a:lnTo>
                      <a:pt x="10" y="4"/>
                    </a:lnTo>
                    <a:lnTo>
                      <a:pt x="5" y="4"/>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13" name="Line 318"/>
              <p:cNvSpPr>
                <a:spLocks noChangeShapeType="1"/>
              </p:cNvSpPr>
              <p:nvPr userDrawn="1"/>
            </p:nvSpPr>
            <p:spPr bwMode="gray">
              <a:xfrm flipH="1" flipV="1">
                <a:off x="2555" y="1861"/>
                <a:ext cx="2" cy="23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14" name="Freeform 319"/>
              <p:cNvSpPr>
                <a:spLocks/>
              </p:cNvSpPr>
              <p:nvPr userDrawn="1"/>
            </p:nvSpPr>
            <p:spPr bwMode="gray">
              <a:xfrm>
                <a:off x="2555" y="1861"/>
                <a:ext cx="19" cy="12"/>
              </a:xfrm>
              <a:custGeom>
                <a:avLst/>
                <a:gdLst>
                  <a:gd name="T0" fmla="*/ 19 w 19"/>
                  <a:gd name="T1" fmla="*/ 12 h 12"/>
                  <a:gd name="T2" fmla="*/ 12 w 19"/>
                  <a:gd name="T3" fmla="*/ 9 h 12"/>
                  <a:gd name="T4" fmla="*/ 5 w 19"/>
                  <a:gd name="T5" fmla="*/ 5 h 12"/>
                  <a:gd name="T6" fmla="*/ 0 w 19"/>
                  <a:gd name="T7" fmla="*/ 0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19" y="12"/>
                    </a:moveTo>
                    <a:lnTo>
                      <a:pt x="12" y="9"/>
                    </a:lnTo>
                    <a:lnTo>
                      <a:pt x="5"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15" name="Freeform 320"/>
              <p:cNvSpPr>
                <a:spLocks/>
              </p:cNvSpPr>
              <p:nvPr userDrawn="1"/>
            </p:nvSpPr>
            <p:spPr bwMode="gray">
              <a:xfrm>
                <a:off x="2646" y="2050"/>
                <a:ext cx="12" cy="9"/>
              </a:xfrm>
              <a:custGeom>
                <a:avLst/>
                <a:gdLst>
                  <a:gd name="T0" fmla="*/ 12 w 12"/>
                  <a:gd name="T1" fmla="*/ 0 h 9"/>
                  <a:gd name="T2" fmla="*/ 10 w 12"/>
                  <a:gd name="T3" fmla="*/ 3 h 9"/>
                  <a:gd name="T4" fmla="*/ 9 w 12"/>
                  <a:gd name="T5" fmla="*/ 7 h 9"/>
                  <a:gd name="T6" fmla="*/ 5 w 12"/>
                  <a:gd name="T7" fmla="*/ 9 h 9"/>
                  <a:gd name="T8" fmla="*/ 0 w 12"/>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9">
                    <a:moveTo>
                      <a:pt x="12" y="0"/>
                    </a:moveTo>
                    <a:lnTo>
                      <a:pt x="10" y="3"/>
                    </a:lnTo>
                    <a:lnTo>
                      <a:pt x="9" y="7"/>
                    </a:lnTo>
                    <a:lnTo>
                      <a:pt x="5" y="9"/>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16" name="Line 321"/>
              <p:cNvSpPr>
                <a:spLocks noChangeShapeType="1"/>
              </p:cNvSpPr>
              <p:nvPr userDrawn="1"/>
            </p:nvSpPr>
            <p:spPr bwMode="gray">
              <a:xfrm flipV="1">
                <a:off x="2574" y="2010"/>
                <a:ext cx="159" cy="9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17" name="Line 322"/>
              <p:cNvSpPr>
                <a:spLocks noChangeShapeType="1"/>
              </p:cNvSpPr>
              <p:nvPr userDrawn="1"/>
            </p:nvSpPr>
            <p:spPr bwMode="gray">
              <a:xfrm flipV="1">
                <a:off x="2578" y="2003"/>
                <a:ext cx="159" cy="9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18" name="Freeform 323"/>
              <p:cNvSpPr>
                <a:spLocks/>
              </p:cNvSpPr>
              <p:nvPr userDrawn="1"/>
            </p:nvSpPr>
            <p:spPr bwMode="gray">
              <a:xfrm>
                <a:off x="2726" y="2003"/>
                <a:ext cx="11" cy="8"/>
              </a:xfrm>
              <a:custGeom>
                <a:avLst/>
                <a:gdLst>
                  <a:gd name="T0" fmla="*/ 11 w 11"/>
                  <a:gd name="T1" fmla="*/ 0 h 8"/>
                  <a:gd name="T2" fmla="*/ 11 w 11"/>
                  <a:gd name="T3" fmla="*/ 3 h 8"/>
                  <a:gd name="T4" fmla="*/ 9 w 11"/>
                  <a:gd name="T5" fmla="*/ 7 h 8"/>
                  <a:gd name="T6" fmla="*/ 7 w 11"/>
                  <a:gd name="T7" fmla="*/ 8 h 8"/>
                  <a:gd name="T8" fmla="*/ 4 w 11"/>
                  <a:gd name="T9" fmla="*/ 8 h 8"/>
                  <a:gd name="T10" fmla="*/ 0 w 11"/>
                  <a:gd name="T11" fmla="*/ 7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8">
                    <a:moveTo>
                      <a:pt x="11" y="0"/>
                    </a:moveTo>
                    <a:lnTo>
                      <a:pt x="11" y="3"/>
                    </a:lnTo>
                    <a:lnTo>
                      <a:pt x="9" y="7"/>
                    </a:lnTo>
                    <a:lnTo>
                      <a:pt x="7" y="8"/>
                    </a:lnTo>
                    <a:lnTo>
                      <a:pt x="4" y="8"/>
                    </a:lnTo>
                    <a:lnTo>
                      <a:pt x="0"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19" name="Line 324"/>
              <p:cNvSpPr>
                <a:spLocks noChangeShapeType="1"/>
              </p:cNvSpPr>
              <p:nvPr userDrawn="1"/>
            </p:nvSpPr>
            <p:spPr bwMode="gray">
              <a:xfrm flipH="1">
                <a:off x="2565" y="2010"/>
                <a:ext cx="161" cy="9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20" name="Freeform 325"/>
              <p:cNvSpPr>
                <a:spLocks/>
              </p:cNvSpPr>
              <p:nvPr userDrawn="1"/>
            </p:nvSpPr>
            <p:spPr bwMode="gray">
              <a:xfrm>
                <a:off x="2565" y="2097"/>
                <a:ext cx="13" cy="11"/>
              </a:xfrm>
              <a:custGeom>
                <a:avLst/>
                <a:gdLst>
                  <a:gd name="T0" fmla="*/ 0 w 13"/>
                  <a:gd name="T1" fmla="*/ 9 h 11"/>
                  <a:gd name="T2" fmla="*/ 6 w 13"/>
                  <a:gd name="T3" fmla="*/ 11 h 11"/>
                  <a:gd name="T4" fmla="*/ 7 w 13"/>
                  <a:gd name="T5" fmla="*/ 9 h 11"/>
                  <a:gd name="T6" fmla="*/ 11 w 13"/>
                  <a:gd name="T7" fmla="*/ 7 h 11"/>
                  <a:gd name="T8" fmla="*/ 11 w 13"/>
                  <a:gd name="T9" fmla="*/ 5 h 11"/>
                  <a:gd name="T10" fmla="*/ 13 w 13"/>
                  <a:gd name="T11" fmla="*/ 0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 h="11">
                    <a:moveTo>
                      <a:pt x="0" y="9"/>
                    </a:moveTo>
                    <a:lnTo>
                      <a:pt x="6" y="11"/>
                    </a:lnTo>
                    <a:lnTo>
                      <a:pt x="7" y="9"/>
                    </a:lnTo>
                    <a:lnTo>
                      <a:pt x="11" y="7"/>
                    </a:lnTo>
                    <a:lnTo>
                      <a:pt x="11" y="5"/>
                    </a:lnTo>
                    <a:lnTo>
                      <a:pt x="13"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21" name="Line 326"/>
              <p:cNvSpPr>
                <a:spLocks noChangeShapeType="1"/>
              </p:cNvSpPr>
              <p:nvPr userDrawn="1"/>
            </p:nvSpPr>
            <p:spPr bwMode="gray">
              <a:xfrm flipV="1">
                <a:off x="2739" y="1924"/>
                <a:ext cx="1" cy="7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22" name="Line 327"/>
              <p:cNvSpPr>
                <a:spLocks noChangeShapeType="1"/>
              </p:cNvSpPr>
              <p:nvPr userDrawn="1"/>
            </p:nvSpPr>
            <p:spPr bwMode="gray">
              <a:xfrm flipV="1">
                <a:off x="2737" y="1924"/>
                <a:ext cx="1" cy="7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23" name="Line 328"/>
              <p:cNvSpPr>
                <a:spLocks noChangeShapeType="1"/>
              </p:cNvSpPr>
              <p:nvPr userDrawn="1"/>
            </p:nvSpPr>
            <p:spPr bwMode="gray">
              <a:xfrm>
                <a:off x="2733" y="1922"/>
                <a:ext cx="2" cy="7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24" name="Freeform 329"/>
              <p:cNvSpPr>
                <a:spLocks/>
              </p:cNvSpPr>
              <p:nvPr userDrawn="1"/>
            </p:nvSpPr>
            <p:spPr bwMode="gray">
              <a:xfrm>
                <a:off x="2735" y="1992"/>
                <a:ext cx="4" cy="11"/>
              </a:xfrm>
              <a:custGeom>
                <a:avLst/>
                <a:gdLst>
                  <a:gd name="T0" fmla="*/ 2 w 4"/>
                  <a:gd name="T1" fmla="*/ 11 h 11"/>
                  <a:gd name="T2" fmla="*/ 4 w 4"/>
                  <a:gd name="T3" fmla="*/ 7 h 11"/>
                  <a:gd name="T4" fmla="*/ 4 w 4"/>
                  <a:gd name="T5" fmla="*/ 5 h 11"/>
                  <a:gd name="T6" fmla="*/ 2 w 4"/>
                  <a:gd name="T7" fmla="*/ 4 h 11"/>
                  <a:gd name="T8" fmla="*/ 0 w 4"/>
                  <a:gd name="T9" fmla="*/ 0 h 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11">
                    <a:moveTo>
                      <a:pt x="2" y="11"/>
                    </a:moveTo>
                    <a:lnTo>
                      <a:pt x="4" y="7"/>
                    </a:lnTo>
                    <a:lnTo>
                      <a:pt x="4" y="5"/>
                    </a:lnTo>
                    <a:lnTo>
                      <a:pt x="2"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25" name="Freeform 330"/>
              <p:cNvSpPr>
                <a:spLocks/>
              </p:cNvSpPr>
              <p:nvPr userDrawn="1"/>
            </p:nvSpPr>
            <p:spPr bwMode="gray">
              <a:xfrm>
                <a:off x="2732" y="1377"/>
                <a:ext cx="5" cy="8"/>
              </a:xfrm>
              <a:custGeom>
                <a:avLst/>
                <a:gdLst>
                  <a:gd name="T0" fmla="*/ 3 w 5"/>
                  <a:gd name="T1" fmla="*/ 8 h 8"/>
                  <a:gd name="T2" fmla="*/ 5 w 5"/>
                  <a:gd name="T3" fmla="*/ 7 h 8"/>
                  <a:gd name="T4" fmla="*/ 5 w 5"/>
                  <a:gd name="T5" fmla="*/ 5 h 8"/>
                  <a:gd name="T6" fmla="*/ 3 w 5"/>
                  <a:gd name="T7" fmla="*/ 1 h 8"/>
                  <a:gd name="T8" fmla="*/ 0 w 5"/>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8">
                    <a:moveTo>
                      <a:pt x="3" y="8"/>
                    </a:moveTo>
                    <a:lnTo>
                      <a:pt x="5" y="7"/>
                    </a:lnTo>
                    <a:lnTo>
                      <a:pt x="5" y="5"/>
                    </a:lnTo>
                    <a:lnTo>
                      <a:pt x="3" y="1"/>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26" name="Line 331"/>
              <p:cNvSpPr>
                <a:spLocks noChangeShapeType="1"/>
              </p:cNvSpPr>
              <p:nvPr userDrawn="1"/>
            </p:nvSpPr>
            <p:spPr bwMode="gray">
              <a:xfrm flipH="1" flipV="1">
                <a:off x="2737" y="1265"/>
                <a:ext cx="2" cy="23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27" name="Line 332"/>
              <p:cNvSpPr>
                <a:spLocks noChangeShapeType="1"/>
              </p:cNvSpPr>
              <p:nvPr userDrawn="1"/>
            </p:nvSpPr>
            <p:spPr bwMode="gray">
              <a:xfrm flipV="1">
                <a:off x="2735" y="1270"/>
                <a:ext cx="1" cy="23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28" name="Freeform 333"/>
              <p:cNvSpPr>
                <a:spLocks/>
              </p:cNvSpPr>
              <p:nvPr userDrawn="1"/>
            </p:nvSpPr>
            <p:spPr bwMode="gray">
              <a:xfrm>
                <a:off x="2732" y="1261"/>
                <a:ext cx="5" cy="9"/>
              </a:xfrm>
              <a:custGeom>
                <a:avLst/>
                <a:gdLst>
                  <a:gd name="T0" fmla="*/ 3 w 5"/>
                  <a:gd name="T1" fmla="*/ 9 h 9"/>
                  <a:gd name="T2" fmla="*/ 5 w 5"/>
                  <a:gd name="T3" fmla="*/ 5 h 9"/>
                  <a:gd name="T4" fmla="*/ 5 w 5"/>
                  <a:gd name="T5" fmla="*/ 4 h 9"/>
                  <a:gd name="T6" fmla="*/ 3 w 5"/>
                  <a:gd name="T7" fmla="*/ 2 h 9"/>
                  <a:gd name="T8" fmla="*/ 0 w 5"/>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9">
                    <a:moveTo>
                      <a:pt x="3" y="9"/>
                    </a:moveTo>
                    <a:lnTo>
                      <a:pt x="5" y="5"/>
                    </a:lnTo>
                    <a:lnTo>
                      <a:pt x="5" y="4"/>
                    </a:lnTo>
                    <a:lnTo>
                      <a:pt x="3"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29" name="Line 334"/>
              <p:cNvSpPr>
                <a:spLocks noChangeShapeType="1"/>
              </p:cNvSpPr>
              <p:nvPr userDrawn="1"/>
            </p:nvSpPr>
            <p:spPr bwMode="gray">
              <a:xfrm>
                <a:off x="2732" y="1261"/>
                <a:ext cx="1" cy="24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30" name="Freeform 335"/>
              <p:cNvSpPr>
                <a:spLocks/>
              </p:cNvSpPr>
              <p:nvPr userDrawn="1"/>
            </p:nvSpPr>
            <p:spPr bwMode="gray">
              <a:xfrm>
                <a:off x="2733" y="1502"/>
                <a:ext cx="6" cy="4"/>
              </a:xfrm>
              <a:custGeom>
                <a:avLst/>
                <a:gdLst>
                  <a:gd name="T0" fmla="*/ 2 w 6"/>
                  <a:gd name="T1" fmla="*/ 0 h 4"/>
                  <a:gd name="T2" fmla="*/ 4 w 6"/>
                  <a:gd name="T3" fmla="*/ 0 h 4"/>
                  <a:gd name="T4" fmla="*/ 6 w 6"/>
                  <a:gd name="T5" fmla="*/ 0 h 4"/>
                  <a:gd name="T6" fmla="*/ 4 w 6"/>
                  <a:gd name="T7" fmla="*/ 2 h 4"/>
                  <a:gd name="T8" fmla="*/ 2 w 6"/>
                  <a:gd name="T9" fmla="*/ 2 h 4"/>
                  <a:gd name="T10" fmla="*/ 0 w 6"/>
                  <a:gd name="T11" fmla="*/ 4 h 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4">
                    <a:moveTo>
                      <a:pt x="2" y="0"/>
                    </a:moveTo>
                    <a:lnTo>
                      <a:pt x="4" y="0"/>
                    </a:lnTo>
                    <a:lnTo>
                      <a:pt x="6" y="0"/>
                    </a:lnTo>
                    <a:lnTo>
                      <a:pt x="4" y="2"/>
                    </a:lnTo>
                    <a:lnTo>
                      <a:pt x="2" y="2"/>
                    </a:lnTo>
                    <a:lnTo>
                      <a:pt x="0" y="4"/>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31" name="Freeform 336"/>
              <p:cNvSpPr>
                <a:spLocks/>
              </p:cNvSpPr>
              <p:nvPr userDrawn="1"/>
            </p:nvSpPr>
            <p:spPr bwMode="gray">
              <a:xfrm>
                <a:off x="2641" y="1296"/>
                <a:ext cx="12" cy="16"/>
              </a:xfrm>
              <a:custGeom>
                <a:avLst/>
                <a:gdLst>
                  <a:gd name="T0" fmla="*/ 12 w 12"/>
                  <a:gd name="T1" fmla="*/ 16 h 16"/>
                  <a:gd name="T2" fmla="*/ 10 w 12"/>
                  <a:gd name="T3" fmla="*/ 11 h 16"/>
                  <a:gd name="T4" fmla="*/ 8 w 12"/>
                  <a:gd name="T5" fmla="*/ 5 h 16"/>
                  <a:gd name="T6" fmla="*/ 5 w 12"/>
                  <a:gd name="T7" fmla="*/ 2 h 16"/>
                  <a:gd name="T8" fmla="*/ 0 w 12"/>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6">
                    <a:moveTo>
                      <a:pt x="12" y="16"/>
                    </a:moveTo>
                    <a:lnTo>
                      <a:pt x="10" y="11"/>
                    </a:lnTo>
                    <a:lnTo>
                      <a:pt x="8" y="5"/>
                    </a:lnTo>
                    <a:lnTo>
                      <a:pt x="5"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32" name="Line 337"/>
              <p:cNvSpPr>
                <a:spLocks noChangeShapeType="1"/>
              </p:cNvSpPr>
              <p:nvPr userDrawn="1"/>
            </p:nvSpPr>
            <p:spPr bwMode="gray">
              <a:xfrm flipH="1">
                <a:off x="2567" y="1259"/>
                <a:ext cx="165" cy="8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33" name="Line 338"/>
              <p:cNvSpPr>
                <a:spLocks noChangeShapeType="1"/>
              </p:cNvSpPr>
              <p:nvPr userDrawn="1"/>
            </p:nvSpPr>
            <p:spPr bwMode="gray">
              <a:xfrm flipH="1">
                <a:off x="2571" y="1270"/>
                <a:ext cx="164" cy="8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34" name="Freeform 339"/>
              <p:cNvSpPr>
                <a:spLocks/>
              </p:cNvSpPr>
              <p:nvPr userDrawn="1"/>
            </p:nvSpPr>
            <p:spPr bwMode="gray">
              <a:xfrm>
                <a:off x="2558" y="1340"/>
                <a:ext cx="13" cy="16"/>
              </a:xfrm>
              <a:custGeom>
                <a:avLst/>
                <a:gdLst>
                  <a:gd name="T0" fmla="*/ 13 w 13"/>
                  <a:gd name="T1" fmla="*/ 16 h 16"/>
                  <a:gd name="T2" fmla="*/ 11 w 13"/>
                  <a:gd name="T3" fmla="*/ 10 h 16"/>
                  <a:gd name="T4" fmla="*/ 9 w 13"/>
                  <a:gd name="T5" fmla="*/ 7 h 16"/>
                  <a:gd name="T6" fmla="*/ 6 w 13"/>
                  <a:gd name="T7" fmla="*/ 2 h 16"/>
                  <a:gd name="T8" fmla="*/ 0 w 13"/>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6">
                    <a:moveTo>
                      <a:pt x="13" y="16"/>
                    </a:moveTo>
                    <a:lnTo>
                      <a:pt x="11" y="10"/>
                    </a:lnTo>
                    <a:lnTo>
                      <a:pt x="9" y="7"/>
                    </a:lnTo>
                    <a:lnTo>
                      <a:pt x="6"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35" name="Line 340"/>
              <p:cNvSpPr>
                <a:spLocks noChangeShapeType="1"/>
              </p:cNvSpPr>
              <p:nvPr userDrawn="1"/>
            </p:nvSpPr>
            <p:spPr bwMode="gray">
              <a:xfrm flipV="1">
                <a:off x="2558" y="1252"/>
                <a:ext cx="165" cy="8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36" name="Freeform 341"/>
              <p:cNvSpPr>
                <a:spLocks/>
              </p:cNvSpPr>
              <p:nvPr userDrawn="1"/>
            </p:nvSpPr>
            <p:spPr bwMode="gray">
              <a:xfrm>
                <a:off x="2723" y="1252"/>
                <a:ext cx="12" cy="18"/>
              </a:xfrm>
              <a:custGeom>
                <a:avLst/>
                <a:gdLst>
                  <a:gd name="T0" fmla="*/ 12 w 12"/>
                  <a:gd name="T1" fmla="*/ 18 h 18"/>
                  <a:gd name="T2" fmla="*/ 10 w 12"/>
                  <a:gd name="T3" fmla="*/ 13 h 18"/>
                  <a:gd name="T4" fmla="*/ 9 w 12"/>
                  <a:gd name="T5" fmla="*/ 7 h 18"/>
                  <a:gd name="T6" fmla="*/ 5 w 12"/>
                  <a:gd name="T7" fmla="*/ 4 h 18"/>
                  <a:gd name="T8" fmla="*/ 0 w 12"/>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8">
                    <a:moveTo>
                      <a:pt x="12" y="18"/>
                    </a:moveTo>
                    <a:lnTo>
                      <a:pt x="10" y="13"/>
                    </a:lnTo>
                    <a:lnTo>
                      <a:pt x="9" y="7"/>
                    </a:lnTo>
                    <a:lnTo>
                      <a:pt x="5"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37" name="Freeform 342"/>
              <p:cNvSpPr>
                <a:spLocks/>
              </p:cNvSpPr>
              <p:nvPr userDrawn="1"/>
            </p:nvSpPr>
            <p:spPr bwMode="gray">
              <a:xfrm>
                <a:off x="2551" y="1474"/>
                <a:ext cx="20" cy="2"/>
              </a:xfrm>
              <a:custGeom>
                <a:avLst/>
                <a:gdLst>
                  <a:gd name="T0" fmla="*/ 20 w 20"/>
                  <a:gd name="T1" fmla="*/ 0 h 2"/>
                  <a:gd name="T2" fmla="*/ 16 w 20"/>
                  <a:gd name="T3" fmla="*/ 2 h 2"/>
                  <a:gd name="T4" fmla="*/ 11 w 20"/>
                  <a:gd name="T5" fmla="*/ 2 h 2"/>
                  <a:gd name="T6" fmla="*/ 6 w 20"/>
                  <a:gd name="T7" fmla="*/ 2 h 2"/>
                  <a:gd name="T8" fmla="*/ 0 w 20"/>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2">
                    <a:moveTo>
                      <a:pt x="20" y="0"/>
                    </a:moveTo>
                    <a:lnTo>
                      <a:pt x="16" y="2"/>
                    </a:lnTo>
                    <a:lnTo>
                      <a:pt x="11" y="2"/>
                    </a:lnTo>
                    <a:lnTo>
                      <a:pt x="6" y="2"/>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38" name="Line 343"/>
              <p:cNvSpPr>
                <a:spLocks noChangeShapeType="1"/>
              </p:cNvSpPr>
              <p:nvPr userDrawn="1"/>
            </p:nvSpPr>
            <p:spPr bwMode="gray">
              <a:xfrm>
                <a:off x="2560" y="1359"/>
                <a:ext cx="2" cy="24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39" name="Line 344"/>
              <p:cNvSpPr>
                <a:spLocks noChangeShapeType="1"/>
              </p:cNvSpPr>
              <p:nvPr userDrawn="1"/>
            </p:nvSpPr>
            <p:spPr bwMode="gray">
              <a:xfrm>
                <a:off x="2571" y="1356"/>
                <a:ext cx="1" cy="23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40" name="Freeform 345"/>
              <p:cNvSpPr>
                <a:spLocks/>
              </p:cNvSpPr>
              <p:nvPr userDrawn="1"/>
            </p:nvSpPr>
            <p:spPr bwMode="gray">
              <a:xfrm>
                <a:off x="2551" y="1592"/>
                <a:ext cx="21" cy="14"/>
              </a:xfrm>
              <a:custGeom>
                <a:avLst/>
                <a:gdLst>
                  <a:gd name="T0" fmla="*/ 21 w 21"/>
                  <a:gd name="T1" fmla="*/ 0 h 14"/>
                  <a:gd name="T2" fmla="*/ 16 w 21"/>
                  <a:gd name="T3" fmla="*/ 5 h 14"/>
                  <a:gd name="T4" fmla="*/ 13 w 21"/>
                  <a:gd name="T5" fmla="*/ 8 h 14"/>
                  <a:gd name="T6" fmla="*/ 7 w 21"/>
                  <a:gd name="T7" fmla="*/ 10 h 14"/>
                  <a:gd name="T8" fmla="*/ 0 w 21"/>
                  <a:gd name="T9" fmla="*/ 14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4">
                    <a:moveTo>
                      <a:pt x="21" y="0"/>
                    </a:moveTo>
                    <a:lnTo>
                      <a:pt x="16" y="5"/>
                    </a:lnTo>
                    <a:lnTo>
                      <a:pt x="13" y="8"/>
                    </a:lnTo>
                    <a:lnTo>
                      <a:pt x="7" y="10"/>
                    </a:lnTo>
                    <a:lnTo>
                      <a:pt x="0" y="14"/>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41" name="Line 346"/>
              <p:cNvSpPr>
                <a:spLocks noChangeShapeType="1"/>
              </p:cNvSpPr>
              <p:nvPr userDrawn="1"/>
            </p:nvSpPr>
            <p:spPr bwMode="gray">
              <a:xfrm flipH="1" flipV="1">
                <a:off x="2550" y="1357"/>
                <a:ext cx="1" cy="24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42" name="Freeform 347"/>
              <p:cNvSpPr>
                <a:spLocks/>
              </p:cNvSpPr>
              <p:nvPr userDrawn="1"/>
            </p:nvSpPr>
            <p:spPr bwMode="gray">
              <a:xfrm>
                <a:off x="2550" y="1356"/>
                <a:ext cx="21" cy="3"/>
              </a:xfrm>
              <a:custGeom>
                <a:avLst/>
                <a:gdLst>
                  <a:gd name="T0" fmla="*/ 0 w 21"/>
                  <a:gd name="T1" fmla="*/ 1 h 3"/>
                  <a:gd name="T2" fmla="*/ 7 w 21"/>
                  <a:gd name="T3" fmla="*/ 3 h 3"/>
                  <a:gd name="T4" fmla="*/ 14 w 21"/>
                  <a:gd name="T5" fmla="*/ 3 h 3"/>
                  <a:gd name="T6" fmla="*/ 21 w 21"/>
                  <a:gd name="T7" fmla="*/ 0 h 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 h="3">
                    <a:moveTo>
                      <a:pt x="0" y="1"/>
                    </a:moveTo>
                    <a:lnTo>
                      <a:pt x="7" y="3"/>
                    </a:lnTo>
                    <a:lnTo>
                      <a:pt x="14" y="3"/>
                    </a:lnTo>
                    <a:lnTo>
                      <a:pt x="2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43" name="Freeform 348"/>
              <p:cNvSpPr>
                <a:spLocks/>
              </p:cNvSpPr>
              <p:nvPr userDrawn="1"/>
            </p:nvSpPr>
            <p:spPr bwMode="gray">
              <a:xfrm>
                <a:off x="2726" y="2010"/>
                <a:ext cx="9" cy="7"/>
              </a:xfrm>
              <a:custGeom>
                <a:avLst/>
                <a:gdLst>
                  <a:gd name="T0" fmla="*/ 0 w 9"/>
                  <a:gd name="T1" fmla="*/ 0 h 7"/>
                  <a:gd name="T2" fmla="*/ 2 w 9"/>
                  <a:gd name="T3" fmla="*/ 0 h 7"/>
                  <a:gd name="T4" fmla="*/ 6 w 9"/>
                  <a:gd name="T5" fmla="*/ 0 h 7"/>
                  <a:gd name="T6" fmla="*/ 7 w 9"/>
                  <a:gd name="T7" fmla="*/ 1 h 7"/>
                  <a:gd name="T8" fmla="*/ 7 w 9"/>
                  <a:gd name="T9" fmla="*/ 5 h 7"/>
                  <a:gd name="T10" fmla="*/ 9 w 9"/>
                  <a:gd name="T11" fmla="*/ 7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7">
                    <a:moveTo>
                      <a:pt x="0" y="0"/>
                    </a:moveTo>
                    <a:lnTo>
                      <a:pt x="2" y="0"/>
                    </a:lnTo>
                    <a:lnTo>
                      <a:pt x="6" y="0"/>
                    </a:lnTo>
                    <a:lnTo>
                      <a:pt x="7" y="1"/>
                    </a:lnTo>
                    <a:lnTo>
                      <a:pt x="7" y="5"/>
                    </a:lnTo>
                    <a:lnTo>
                      <a:pt x="9"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44" name="Freeform 349"/>
              <p:cNvSpPr>
                <a:spLocks/>
              </p:cNvSpPr>
              <p:nvPr userDrawn="1"/>
            </p:nvSpPr>
            <p:spPr bwMode="gray">
              <a:xfrm>
                <a:off x="2735" y="1992"/>
                <a:ext cx="9" cy="9"/>
              </a:xfrm>
              <a:custGeom>
                <a:avLst/>
                <a:gdLst>
                  <a:gd name="T0" fmla="*/ 0 w 9"/>
                  <a:gd name="T1" fmla="*/ 0 h 9"/>
                  <a:gd name="T2" fmla="*/ 0 w 9"/>
                  <a:gd name="T3" fmla="*/ 4 h 9"/>
                  <a:gd name="T4" fmla="*/ 0 w 9"/>
                  <a:gd name="T5" fmla="*/ 7 h 9"/>
                  <a:gd name="T6" fmla="*/ 2 w 9"/>
                  <a:gd name="T7" fmla="*/ 9 h 9"/>
                  <a:gd name="T8" fmla="*/ 5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4"/>
                    </a:lnTo>
                    <a:lnTo>
                      <a:pt x="0" y="7"/>
                    </a:lnTo>
                    <a:lnTo>
                      <a:pt x="2" y="9"/>
                    </a:lnTo>
                    <a:lnTo>
                      <a:pt x="5" y="9"/>
                    </a:lnTo>
                    <a:lnTo>
                      <a:pt x="9"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45" name="Freeform 350"/>
              <p:cNvSpPr>
                <a:spLocks/>
              </p:cNvSpPr>
              <p:nvPr userDrawn="1"/>
            </p:nvSpPr>
            <p:spPr bwMode="gray">
              <a:xfrm>
                <a:off x="2632" y="1209"/>
                <a:ext cx="9" cy="19"/>
              </a:xfrm>
              <a:custGeom>
                <a:avLst/>
                <a:gdLst>
                  <a:gd name="T0" fmla="*/ 0 w 9"/>
                  <a:gd name="T1" fmla="*/ 19 h 19"/>
                  <a:gd name="T2" fmla="*/ 0 w 9"/>
                  <a:gd name="T3" fmla="*/ 12 h 19"/>
                  <a:gd name="T4" fmla="*/ 2 w 9"/>
                  <a:gd name="T5" fmla="*/ 8 h 19"/>
                  <a:gd name="T6" fmla="*/ 5 w 9"/>
                  <a:gd name="T7" fmla="*/ 3 h 19"/>
                  <a:gd name="T8" fmla="*/ 9 w 9"/>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9">
                    <a:moveTo>
                      <a:pt x="0" y="19"/>
                    </a:moveTo>
                    <a:lnTo>
                      <a:pt x="0" y="12"/>
                    </a:lnTo>
                    <a:lnTo>
                      <a:pt x="2" y="8"/>
                    </a:lnTo>
                    <a:lnTo>
                      <a:pt x="5" y="3"/>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46" name="Line 351"/>
              <p:cNvSpPr>
                <a:spLocks noChangeShapeType="1"/>
              </p:cNvSpPr>
              <p:nvPr userDrawn="1"/>
            </p:nvSpPr>
            <p:spPr bwMode="gray">
              <a:xfrm>
                <a:off x="2536" y="1184"/>
                <a:ext cx="199" cy="6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47" name="Line 352"/>
              <p:cNvSpPr>
                <a:spLocks noChangeShapeType="1"/>
              </p:cNvSpPr>
              <p:nvPr userDrawn="1"/>
            </p:nvSpPr>
            <p:spPr bwMode="gray">
              <a:xfrm>
                <a:off x="2532" y="1195"/>
                <a:ext cx="200" cy="6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48" name="Freeform 353"/>
              <p:cNvSpPr>
                <a:spLocks/>
              </p:cNvSpPr>
              <p:nvPr userDrawn="1"/>
            </p:nvSpPr>
            <p:spPr bwMode="gray">
              <a:xfrm>
                <a:off x="2732" y="1244"/>
                <a:ext cx="8" cy="17"/>
              </a:xfrm>
              <a:custGeom>
                <a:avLst/>
                <a:gdLst>
                  <a:gd name="T0" fmla="*/ 0 w 8"/>
                  <a:gd name="T1" fmla="*/ 17 h 17"/>
                  <a:gd name="T2" fmla="*/ 1 w 8"/>
                  <a:gd name="T3" fmla="*/ 12 h 17"/>
                  <a:gd name="T4" fmla="*/ 3 w 8"/>
                  <a:gd name="T5" fmla="*/ 7 h 17"/>
                  <a:gd name="T6" fmla="*/ 5 w 8"/>
                  <a:gd name="T7" fmla="*/ 1 h 17"/>
                  <a:gd name="T8" fmla="*/ 8 w 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7"/>
                    </a:moveTo>
                    <a:lnTo>
                      <a:pt x="1" y="12"/>
                    </a:lnTo>
                    <a:lnTo>
                      <a:pt x="3" y="7"/>
                    </a:lnTo>
                    <a:lnTo>
                      <a:pt x="5" y="1"/>
                    </a:lnTo>
                    <a:lnTo>
                      <a:pt x="8"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49" name="Line 354"/>
              <p:cNvSpPr>
                <a:spLocks noChangeShapeType="1"/>
              </p:cNvSpPr>
              <p:nvPr userDrawn="1"/>
            </p:nvSpPr>
            <p:spPr bwMode="gray">
              <a:xfrm flipH="1" flipV="1">
                <a:off x="2543" y="1177"/>
                <a:ext cx="197" cy="6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50" name="Freeform 355"/>
              <p:cNvSpPr>
                <a:spLocks/>
              </p:cNvSpPr>
              <p:nvPr userDrawn="1"/>
            </p:nvSpPr>
            <p:spPr bwMode="gray">
              <a:xfrm>
                <a:off x="2532" y="1177"/>
                <a:ext cx="11" cy="18"/>
              </a:xfrm>
              <a:custGeom>
                <a:avLst/>
                <a:gdLst>
                  <a:gd name="T0" fmla="*/ 0 w 11"/>
                  <a:gd name="T1" fmla="*/ 18 h 18"/>
                  <a:gd name="T2" fmla="*/ 2 w 11"/>
                  <a:gd name="T3" fmla="*/ 12 h 18"/>
                  <a:gd name="T4" fmla="*/ 4 w 11"/>
                  <a:gd name="T5" fmla="*/ 7 h 18"/>
                  <a:gd name="T6" fmla="*/ 5 w 11"/>
                  <a:gd name="T7" fmla="*/ 2 h 18"/>
                  <a:gd name="T8" fmla="*/ 11 w 11"/>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8">
                    <a:moveTo>
                      <a:pt x="0" y="18"/>
                    </a:moveTo>
                    <a:lnTo>
                      <a:pt x="2" y="12"/>
                    </a:lnTo>
                    <a:lnTo>
                      <a:pt x="4" y="7"/>
                    </a:lnTo>
                    <a:lnTo>
                      <a:pt x="5" y="2"/>
                    </a:lnTo>
                    <a:lnTo>
                      <a:pt x="1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51" name="Freeform 356"/>
              <p:cNvSpPr>
                <a:spLocks/>
              </p:cNvSpPr>
              <p:nvPr userDrawn="1"/>
            </p:nvSpPr>
            <p:spPr bwMode="gray">
              <a:xfrm>
                <a:off x="2623" y="1202"/>
                <a:ext cx="9" cy="17"/>
              </a:xfrm>
              <a:custGeom>
                <a:avLst/>
                <a:gdLst>
                  <a:gd name="T0" fmla="*/ 0 w 9"/>
                  <a:gd name="T1" fmla="*/ 17 h 17"/>
                  <a:gd name="T2" fmla="*/ 4 w 9"/>
                  <a:gd name="T3" fmla="*/ 14 h 17"/>
                  <a:gd name="T4" fmla="*/ 5 w 9"/>
                  <a:gd name="T5" fmla="*/ 10 h 17"/>
                  <a:gd name="T6" fmla="*/ 9 w 9"/>
                  <a:gd name="T7" fmla="*/ 5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4" y="14"/>
                    </a:lnTo>
                    <a:lnTo>
                      <a:pt x="5" y="10"/>
                    </a:lnTo>
                    <a:lnTo>
                      <a:pt x="9" y="5"/>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52" name="Line 357"/>
              <p:cNvSpPr>
                <a:spLocks noChangeShapeType="1"/>
              </p:cNvSpPr>
              <p:nvPr userDrawn="1"/>
            </p:nvSpPr>
            <p:spPr bwMode="gray">
              <a:xfrm flipH="1" flipV="1">
                <a:off x="2530" y="1179"/>
                <a:ext cx="200" cy="6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53" name="Line 358"/>
              <p:cNvSpPr>
                <a:spLocks noChangeShapeType="1"/>
              </p:cNvSpPr>
              <p:nvPr userDrawn="1"/>
            </p:nvSpPr>
            <p:spPr bwMode="gray">
              <a:xfrm flipH="1" flipV="1">
                <a:off x="2523" y="1186"/>
                <a:ext cx="200" cy="6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54" name="Freeform 359"/>
              <p:cNvSpPr>
                <a:spLocks/>
              </p:cNvSpPr>
              <p:nvPr userDrawn="1"/>
            </p:nvSpPr>
            <p:spPr bwMode="gray">
              <a:xfrm>
                <a:off x="2523" y="1168"/>
                <a:ext cx="9" cy="18"/>
              </a:xfrm>
              <a:custGeom>
                <a:avLst/>
                <a:gdLst>
                  <a:gd name="T0" fmla="*/ 0 w 9"/>
                  <a:gd name="T1" fmla="*/ 18 h 18"/>
                  <a:gd name="T2" fmla="*/ 4 w 9"/>
                  <a:gd name="T3" fmla="*/ 14 h 18"/>
                  <a:gd name="T4" fmla="*/ 7 w 9"/>
                  <a:gd name="T5" fmla="*/ 9 h 18"/>
                  <a:gd name="T6" fmla="*/ 9 w 9"/>
                  <a:gd name="T7" fmla="*/ 6 h 18"/>
                  <a:gd name="T8" fmla="*/ 9 w 9"/>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0" y="18"/>
                    </a:moveTo>
                    <a:lnTo>
                      <a:pt x="4" y="14"/>
                    </a:lnTo>
                    <a:lnTo>
                      <a:pt x="7" y="9"/>
                    </a:lnTo>
                    <a:lnTo>
                      <a:pt x="9" y="6"/>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55" name="Line 360"/>
              <p:cNvSpPr>
                <a:spLocks noChangeShapeType="1"/>
              </p:cNvSpPr>
              <p:nvPr userDrawn="1"/>
            </p:nvSpPr>
            <p:spPr bwMode="gray">
              <a:xfrm>
                <a:off x="2532" y="1168"/>
                <a:ext cx="200" cy="6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56" name="Freeform 361"/>
              <p:cNvSpPr>
                <a:spLocks/>
              </p:cNvSpPr>
              <p:nvPr userDrawn="1"/>
            </p:nvSpPr>
            <p:spPr bwMode="gray">
              <a:xfrm>
                <a:off x="2723" y="1235"/>
                <a:ext cx="9" cy="17"/>
              </a:xfrm>
              <a:custGeom>
                <a:avLst/>
                <a:gdLst>
                  <a:gd name="T0" fmla="*/ 0 w 9"/>
                  <a:gd name="T1" fmla="*/ 17 h 17"/>
                  <a:gd name="T2" fmla="*/ 3 w 9"/>
                  <a:gd name="T3" fmla="*/ 14 h 17"/>
                  <a:gd name="T4" fmla="*/ 7 w 9"/>
                  <a:gd name="T5" fmla="*/ 10 h 17"/>
                  <a:gd name="T6" fmla="*/ 9 w 9"/>
                  <a:gd name="T7" fmla="*/ 5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3" y="14"/>
                    </a:lnTo>
                    <a:lnTo>
                      <a:pt x="7" y="10"/>
                    </a:lnTo>
                    <a:lnTo>
                      <a:pt x="9" y="5"/>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57" name="Freeform 362"/>
              <p:cNvSpPr>
                <a:spLocks/>
              </p:cNvSpPr>
              <p:nvPr userDrawn="1"/>
            </p:nvSpPr>
            <p:spPr bwMode="gray">
              <a:xfrm>
                <a:off x="2448" y="1305"/>
                <a:ext cx="9" cy="17"/>
              </a:xfrm>
              <a:custGeom>
                <a:avLst/>
                <a:gdLst>
                  <a:gd name="T0" fmla="*/ 9 w 9"/>
                  <a:gd name="T1" fmla="*/ 0 h 17"/>
                  <a:gd name="T2" fmla="*/ 6 w 9"/>
                  <a:gd name="T3" fmla="*/ 3 h 17"/>
                  <a:gd name="T4" fmla="*/ 4 w 9"/>
                  <a:gd name="T5" fmla="*/ 7 h 17"/>
                  <a:gd name="T6" fmla="*/ 2 w 9"/>
                  <a:gd name="T7" fmla="*/ 12 h 17"/>
                  <a:gd name="T8" fmla="*/ 0 w 9"/>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9" y="0"/>
                    </a:moveTo>
                    <a:lnTo>
                      <a:pt x="6" y="3"/>
                    </a:lnTo>
                    <a:lnTo>
                      <a:pt x="4" y="7"/>
                    </a:lnTo>
                    <a:lnTo>
                      <a:pt x="2" y="12"/>
                    </a:lnTo>
                    <a:lnTo>
                      <a:pt x="0" y="1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58" name="Line 363"/>
              <p:cNvSpPr>
                <a:spLocks noChangeShapeType="1"/>
              </p:cNvSpPr>
              <p:nvPr userDrawn="1"/>
            </p:nvSpPr>
            <p:spPr bwMode="gray">
              <a:xfrm>
                <a:off x="2352" y="1277"/>
                <a:ext cx="199" cy="7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59" name="Line 364"/>
              <p:cNvSpPr>
                <a:spLocks noChangeShapeType="1"/>
              </p:cNvSpPr>
              <p:nvPr userDrawn="1"/>
            </p:nvSpPr>
            <p:spPr bwMode="gray">
              <a:xfrm>
                <a:off x="2357" y="1270"/>
                <a:ext cx="201" cy="7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60" name="Freeform 365"/>
              <p:cNvSpPr>
                <a:spLocks/>
              </p:cNvSpPr>
              <p:nvPr userDrawn="1"/>
            </p:nvSpPr>
            <p:spPr bwMode="gray">
              <a:xfrm>
                <a:off x="2550" y="1340"/>
                <a:ext cx="8" cy="17"/>
              </a:xfrm>
              <a:custGeom>
                <a:avLst/>
                <a:gdLst>
                  <a:gd name="T0" fmla="*/ 8 w 8"/>
                  <a:gd name="T1" fmla="*/ 0 h 17"/>
                  <a:gd name="T2" fmla="*/ 5 w 8"/>
                  <a:gd name="T3" fmla="*/ 3 h 17"/>
                  <a:gd name="T4" fmla="*/ 1 w 8"/>
                  <a:gd name="T5" fmla="*/ 7 h 17"/>
                  <a:gd name="T6" fmla="*/ 0 w 8"/>
                  <a:gd name="T7" fmla="*/ 12 h 17"/>
                  <a:gd name="T8" fmla="*/ 0 w 8"/>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8" y="0"/>
                    </a:moveTo>
                    <a:lnTo>
                      <a:pt x="5" y="3"/>
                    </a:lnTo>
                    <a:lnTo>
                      <a:pt x="1" y="7"/>
                    </a:lnTo>
                    <a:lnTo>
                      <a:pt x="0" y="12"/>
                    </a:lnTo>
                    <a:lnTo>
                      <a:pt x="0" y="1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61" name="Line 366"/>
              <p:cNvSpPr>
                <a:spLocks noChangeShapeType="1"/>
              </p:cNvSpPr>
              <p:nvPr userDrawn="1"/>
            </p:nvSpPr>
            <p:spPr bwMode="gray">
              <a:xfrm flipH="1" flipV="1">
                <a:off x="2349" y="1287"/>
                <a:ext cx="201" cy="7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62" name="Freeform 367"/>
              <p:cNvSpPr>
                <a:spLocks/>
              </p:cNvSpPr>
              <p:nvPr userDrawn="1"/>
            </p:nvSpPr>
            <p:spPr bwMode="gray">
              <a:xfrm>
                <a:off x="2349" y="1270"/>
                <a:ext cx="8" cy="17"/>
              </a:xfrm>
              <a:custGeom>
                <a:avLst/>
                <a:gdLst>
                  <a:gd name="T0" fmla="*/ 0 w 8"/>
                  <a:gd name="T1" fmla="*/ 17 h 17"/>
                  <a:gd name="T2" fmla="*/ 1 w 8"/>
                  <a:gd name="T3" fmla="*/ 14 h 17"/>
                  <a:gd name="T4" fmla="*/ 3 w 8"/>
                  <a:gd name="T5" fmla="*/ 9 h 17"/>
                  <a:gd name="T6" fmla="*/ 5 w 8"/>
                  <a:gd name="T7" fmla="*/ 3 h 17"/>
                  <a:gd name="T8" fmla="*/ 8 w 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7"/>
                    </a:moveTo>
                    <a:lnTo>
                      <a:pt x="1" y="14"/>
                    </a:lnTo>
                    <a:lnTo>
                      <a:pt x="3" y="9"/>
                    </a:lnTo>
                    <a:lnTo>
                      <a:pt x="5" y="3"/>
                    </a:lnTo>
                    <a:lnTo>
                      <a:pt x="8"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63" name="Freeform 368"/>
              <p:cNvSpPr>
                <a:spLocks/>
              </p:cNvSpPr>
              <p:nvPr userDrawn="1"/>
            </p:nvSpPr>
            <p:spPr bwMode="gray">
              <a:xfrm>
                <a:off x="2459" y="2060"/>
                <a:ext cx="10" cy="9"/>
              </a:xfrm>
              <a:custGeom>
                <a:avLst/>
                <a:gdLst>
                  <a:gd name="T0" fmla="*/ 0 w 10"/>
                  <a:gd name="T1" fmla="*/ 0 h 9"/>
                  <a:gd name="T2" fmla="*/ 2 w 10"/>
                  <a:gd name="T3" fmla="*/ 6 h 9"/>
                  <a:gd name="T4" fmla="*/ 3 w 10"/>
                  <a:gd name="T5" fmla="*/ 7 h 9"/>
                  <a:gd name="T6" fmla="*/ 7 w 10"/>
                  <a:gd name="T7" fmla="*/ 9 h 9"/>
                  <a:gd name="T8" fmla="*/ 10 w 10"/>
                  <a:gd name="T9" fmla="*/ 7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9">
                    <a:moveTo>
                      <a:pt x="0" y="0"/>
                    </a:moveTo>
                    <a:lnTo>
                      <a:pt x="2" y="6"/>
                    </a:lnTo>
                    <a:lnTo>
                      <a:pt x="3" y="7"/>
                    </a:lnTo>
                    <a:lnTo>
                      <a:pt x="7" y="9"/>
                    </a:lnTo>
                    <a:lnTo>
                      <a:pt x="10"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64" name="Line 369"/>
              <p:cNvSpPr>
                <a:spLocks noChangeShapeType="1"/>
              </p:cNvSpPr>
              <p:nvPr userDrawn="1"/>
            </p:nvSpPr>
            <p:spPr bwMode="gray">
              <a:xfrm>
                <a:off x="2366" y="2031"/>
                <a:ext cx="194"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65" name="Line 370"/>
              <p:cNvSpPr>
                <a:spLocks noChangeShapeType="1"/>
              </p:cNvSpPr>
              <p:nvPr userDrawn="1"/>
            </p:nvSpPr>
            <p:spPr bwMode="gray">
              <a:xfrm>
                <a:off x="2363" y="2024"/>
                <a:ext cx="194"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66" name="Freeform 371"/>
              <p:cNvSpPr>
                <a:spLocks/>
              </p:cNvSpPr>
              <p:nvPr userDrawn="1"/>
            </p:nvSpPr>
            <p:spPr bwMode="gray">
              <a:xfrm>
                <a:off x="2557" y="2099"/>
                <a:ext cx="8" cy="9"/>
              </a:xfrm>
              <a:custGeom>
                <a:avLst/>
                <a:gdLst>
                  <a:gd name="T0" fmla="*/ 0 w 8"/>
                  <a:gd name="T1" fmla="*/ 0 h 9"/>
                  <a:gd name="T2" fmla="*/ 0 w 8"/>
                  <a:gd name="T3" fmla="*/ 3 h 9"/>
                  <a:gd name="T4" fmla="*/ 1 w 8"/>
                  <a:gd name="T5" fmla="*/ 7 h 9"/>
                  <a:gd name="T6" fmla="*/ 3 w 8"/>
                  <a:gd name="T7" fmla="*/ 9 h 9"/>
                  <a:gd name="T8" fmla="*/ 7 w 8"/>
                  <a:gd name="T9" fmla="*/ 9 h 9"/>
                  <a:gd name="T10" fmla="*/ 8 w 8"/>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9">
                    <a:moveTo>
                      <a:pt x="0" y="0"/>
                    </a:moveTo>
                    <a:lnTo>
                      <a:pt x="0" y="3"/>
                    </a:lnTo>
                    <a:lnTo>
                      <a:pt x="1" y="7"/>
                    </a:lnTo>
                    <a:lnTo>
                      <a:pt x="3" y="9"/>
                    </a:lnTo>
                    <a:lnTo>
                      <a:pt x="7" y="9"/>
                    </a:lnTo>
                    <a:lnTo>
                      <a:pt x="8"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67" name="Line 372"/>
              <p:cNvSpPr>
                <a:spLocks noChangeShapeType="1"/>
              </p:cNvSpPr>
              <p:nvPr userDrawn="1"/>
            </p:nvSpPr>
            <p:spPr bwMode="gray">
              <a:xfrm flipH="1" flipV="1">
                <a:off x="2371" y="2031"/>
                <a:ext cx="194"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68" name="Freeform 373"/>
              <p:cNvSpPr>
                <a:spLocks/>
              </p:cNvSpPr>
              <p:nvPr userDrawn="1"/>
            </p:nvSpPr>
            <p:spPr bwMode="gray">
              <a:xfrm>
                <a:off x="2363" y="2024"/>
                <a:ext cx="8" cy="7"/>
              </a:xfrm>
              <a:custGeom>
                <a:avLst/>
                <a:gdLst>
                  <a:gd name="T0" fmla="*/ 8 w 8"/>
                  <a:gd name="T1" fmla="*/ 7 h 7"/>
                  <a:gd name="T2" fmla="*/ 7 w 8"/>
                  <a:gd name="T3" fmla="*/ 7 h 7"/>
                  <a:gd name="T4" fmla="*/ 3 w 8"/>
                  <a:gd name="T5" fmla="*/ 7 h 7"/>
                  <a:gd name="T6" fmla="*/ 1 w 8"/>
                  <a:gd name="T7" fmla="*/ 5 h 7"/>
                  <a:gd name="T8" fmla="*/ 0 w 8"/>
                  <a:gd name="T9" fmla="*/ 3 h 7"/>
                  <a:gd name="T10" fmla="*/ 0 w 8"/>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7">
                    <a:moveTo>
                      <a:pt x="8" y="7"/>
                    </a:moveTo>
                    <a:lnTo>
                      <a:pt x="7" y="7"/>
                    </a:lnTo>
                    <a:lnTo>
                      <a:pt x="3" y="7"/>
                    </a:lnTo>
                    <a:lnTo>
                      <a:pt x="1" y="5"/>
                    </a:lnTo>
                    <a:lnTo>
                      <a:pt x="0" y="3"/>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69" name="Freeform 374"/>
              <p:cNvSpPr>
                <a:spLocks/>
              </p:cNvSpPr>
              <p:nvPr userDrawn="1"/>
            </p:nvSpPr>
            <p:spPr bwMode="gray">
              <a:xfrm>
                <a:off x="3031" y="1392"/>
                <a:ext cx="10" cy="16"/>
              </a:xfrm>
              <a:custGeom>
                <a:avLst/>
                <a:gdLst>
                  <a:gd name="T0" fmla="*/ 0 w 10"/>
                  <a:gd name="T1" fmla="*/ 0 h 16"/>
                  <a:gd name="T2" fmla="*/ 5 w 10"/>
                  <a:gd name="T3" fmla="*/ 2 h 16"/>
                  <a:gd name="T4" fmla="*/ 7 w 10"/>
                  <a:gd name="T5" fmla="*/ 7 h 16"/>
                  <a:gd name="T6" fmla="*/ 10 w 10"/>
                  <a:gd name="T7" fmla="*/ 11 h 16"/>
                  <a:gd name="T8" fmla="*/ 10 w 10"/>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0" y="0"/>
                    </a:moveTo>
                    <a:lnTo>
                      <a:pt x="5" y="2"/>
                    </a:lnTo>
                    <a:lnTo>
                      <a:pt x="7" y="7"/>
                    </a:lnTo>
                    <a:lnTo>
                      <a:pt x="10" y="11"/>
                    </a:lnTo>
                    <a:lnTo>
                      <a:pt x="10"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70" name="Freeform 375"/>
              <p:cNvSpPr>
                <a:spLocks/>
              </p:cNvSpPr>
              <p:nvPr userDrawn="1"/>
            </p:nvSpPr>
            <p:spPr bwMode="gray">
              <a:xfrm>
                <a:off x="2835" y="1314"/>
                <a:ext cx="9" cy="15"/>
              </a:xfrm>
              <a:custGeom>
                <a:avLst/>
                <a:gdLst>
                  <a:gd name="T0" fmla="*/ 9 w 9"/>
                  <a:gd name="T1" fmla="*/ 15 h 15"/>
                  <a:gd name="T2" fmla="*/ 5 w 9"/>
                  <a:gd name="T3" fmla="*/ 14 h 15"/>
                  <a:gd name="T4" fmla="*/ 2 w 9"/>
                  <a:gd name="T5" fmla="*/ 10 h 15"/>
                  <a:gd name="T6" fmla="*/ 0 w 9"/>
                  <a:gd name="T7" fmla="*/ 5 h 15"/>
                  <a:gd name="T8" fmla="*/ 0 w 9"/>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5">
                    <a:moveTo>
                      <a:pt x="9" y="15"/>
                    </a:moveTo>
                    <a:lnTo>
                      <a:pt x="5" y="14"/>
                    </a:lnTo>
                    <a:lnTo>
                      <a:pt x="2" y="10"/>
                    </a:lnTo>
                    <a:lnTo>
                      <a:pt x="0"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71" name="Freeform 376"/>
              <p:cNvSpPr>
                <a:spLocks/>
              </p:cNvSpPr>
              <p:nvPr userDrawn="1"/>
            </p:nvSpPr>
            <p:spPr bwMode="gray">
              <a:xfrm>
                <a:off x="2954" y="1361"/>
                <a:ext cx="7" cy="9"/>
              </a:xfrm>
              <a:custGeom>
                <a:avLst/>
                <a:gdLst>
                  <a:gd name="T0" fmla="*/ 7 w 7"/>
                  <a:gd name="T1" fmla="*/ 9 h 9"/>
                  <a:gd name="T2" fmla="*/ 5 w 7"/>
                  <a:gd name="T3" fmla="*/ 9 h 9"/>
                  <a:gd name="T4" fmla="*/ 1 w 7"/>
                  <a:gd name="T5" fmla="*/ 7 h 9"/>
                  <a:gd name="T6" fmla="*/ 0 w 7"/>
                  <a:gd name="T7" fmla="*/ 5 h 9"/>
                  <a:gd name="T8" fmla="*/ 0 w 7"/>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9">
                    <a:moveTo>
                      <a:pt x="7" y="9"/>
                    </a:moveTo>
                    <a:lnTo>
                      <a:pt x="5" y="9"/>
                    </a:lnTo>
                    <a:lnTo>
                      <a:pt x="1" y="7"/>
                    </a:lnTo>
                    <a:lnTo>
                      <a:pt x="0"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72" name="Line 377"/>
              <p:cNvSpPr>
                <a:spLocks noChangeShapeType="1"/>
              </p:cNvSpPr>
              <p:nvPr userDrawn="1"/>
            </p:nvSpPr>
            <p:spPr bwMode="gray">
              <a:xfrm>
                <a:off x="2838" y="1329"/>
                <a:ext cx="193" cy="6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73" name="Line 378"/>
              <p:cNvSpPr>
                <a:spLocks noChangeShapeType="1"/>
              </p:cNvSpPr>
              <p:nvPr userDrawn="1"/>
            </p:nvSpPr>
            <p:spPr bwMode="gray">
              <a:xfrm>
                <a:off x="2844" y="1329"/>
                <a:ext cx="187" cy="6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74" name="Freeform 379"/>
              <p:cNvSpPr>
                <a:spLocks/>
              </p:cNvSpPr>
              <p:nvPr userDrawn="1"/>
            </p:nvSpPr>
            <p:spPr bwMode="gray">
              <a:xfrm>
                <a:off x="3031" y="1389"/>
                <a:ext cx="3" cy="5"/>
              </a:xfrm>
              <a:custGeom>
                <a:avLst/>
                <a:gdLst>
                  <a:gd name="T0" fmla="*/ 0 w 3"/>
                  <a:gd name="T1" fmla="*/ 3 h 5"/>
                  <a:gd name="T2" fmla="*/ 0 w 3"/>
                  <a:gd name="T3" fmla="*/ 5 h 5"/>
                  <a:gd name="T4" fmla="*/ 0 w 3"/>
                  <a:gd name="T5" fmla="*/ 5 h 5"/>
                  <a:gd name="T6" fmla="*/ 0 w 3"/>
                  <a:gd name="T7" fmla="*/ 5 h 5"/>
                  <a:gd name="T8" fmla="*/ 0 w 3"/>
                  <a:gd name="T9" fmla="*/ 3 h 5"/>
                  <a:gd name="T10" fmla="*/ 0 w 3"/>
                  <a:gd name="T11" fmla="*/ 3 h 5"/>
                  <a:gd name="T12" fmla="*/ 1 w 3"/>
                  <a:gd name="T13" fmla="*/ 2 h 5"/>
                  <a:gd name="T14" fmla="*/ 3 w 3"/>
                  <a:gd name="T15" fmla="*/ 0 h 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 h="5">
                    <a:moveTo>
                      <a:pt x="0" y="3"/>
                    </a:moveTo>
                    <a:lnTo>
                      <a:pt x="0" y="5"/>
                    </a:lnTo>
                    <a:lnTo>
                      <a:pt x="0" y="3"/>
                    </a:lnTo>
                    <a:lnTo>
                      <a:pt x="1" y="2"/>
                    </a:lnTo>
                    <a:lnTo>
                      <a:pt x="3"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75" name="Line 380"/>
              <p:cNvSpPr>
                <a:spLocks noChangeShapeType="1"/>
              </p:cNvSpPr>
              <p:nvPr userDrawn="1"/>
            </p:nvSpPr>
            <p:spPr bwMode="gray">
              <a:xfrm flipH="1" flipV="1">
                <a:off x="2837" y="1322"/>
                <a:ext cx="197" cy="6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76" name="Freeform 381"/>
              <p:cNvSpPr>
                <a:spLocks/>
              </p:cNvSpPr>
              <p:nvPr userDrawn="1"/>
            </p:nvSpPr>
            <p:spPr bwMode="gray">
              <a:xfrm>
                <a:off x="2837" y="1322"/>
                <a:ext cx="7" cy="9"/>
              </a:xfrm>
              <a:custGeom>
                <a:avLst/>
                <a:gdLst>
                  <a:gd name="T0" fmla="*/ 7 w 7"/>
                  <a:gd name="T1" fmla="*/ 7 h 9"/>
                  <a:gd name="T2" fmla="*/ 5 w 7"/>
                  <a:gd name="T3" fmla="*/ 9 h 9"/>
                  <a:gd name="T4" fmla="*/ 1 w 7"/>
                  <a:gd name="T5" fmla="*/ 7 h 9"/>
                  <a:gd name="T6" fmla="*/ 0 w 7"/>
                  <a:gd name="T7" fmla="*/ 6 h 9"/>
                  <a:gd name="T8" fmla="*/ 0 w 7"/>
                  <a:gd name="T9" fmla="*/ 4 h 9"/>
                  <a:gd name="T10" fmla="*/ 0 w 7"/>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7" y="7"/>
                    </a:moveTo>
                    <a:lnTo>
                      <a:pt x="5" y="9"/>
                    </a:lnTo>
                    <a:lnTo>
                      <a:pt x="1" y="7"/>
                    </a:lnTo>
                    <a:lnTo>
                      <a:pt x="0" y="6"/>
                    </a:lnTo>
                    <a:lnTo>
                      <a:pt x="0"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77" name="Line 382"/>
              <p:cNvSpPr>
                <a:spLocks noChangeShapeType="1"/>
              </p:cNvSpPr>
              <p:nvPr userDrawn="1"/>
            </p:nvSpPr>
            <p:spPr bwMode="gray">
              <a:xfrm flipH="1">
                <a:off x="3370" y="1144"/>
                <a:ext cx="35" cy="1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78" name="Line 383"/>
              <p:cNvSpPr>
                <a:spLocks noChangeShapeType="1"/>
              </p:cNvSpPr>
              <p:nvPr userDrawn="1"/>
            </p:nvSpPr>
            <p:spPr bwMode="gray">
              <a:xfrm flipH="1">
                <a:off x="3382" y="1149"/>
                <a:ext cx="30" cy="1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79" name="Line 384"/>
              <p:cNvSpPr>
                <a:spLocks noChangeShapeType="1"/>
              </p:cNvSpPr>
              <p:nvPr userDrawn="1"/>
            </p:nvSpPr>
            <p:spPr bwMode="gray">
              <a:xfrm flipV="1">
                <a:off x="3356" y="1133"/>
                <a:ext cx="45" cy="2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80" name="Freeform 385"/>
              <p:cNvSpPr>
                <a:spLocks/>
              </p:cNvSpPr>
              <p:nvPr userDrawn="1"/>
            </p:nvSpPr>
            <p:spPr bwMode="gray">
              <a:xfrm>
                <a:off x="3401" y="1133"/>
                <a:ext cx="11" cy="16"/>
              </a:xfrm>
              <a:custGeom>
                <a:avLst/>
                <a:gdLst>
                  <a:gd name="T0" fmla="*/ 11 w 11"/>
                  <a:gd name="T1" fmla="*/ 16 h 16"/>
                  <a:gd name="T2" fmla="*/ 6 w 11"/>
                  <a:gd name="T3" fmla="*/ 14 h 16"/>
                  <a:gd name="T4" fmla="*/ 4 w 11"/>
                  <a:gd name="T5" fmla="*/ 11 h 16"/>
                  <a:gd name="T6" fmla="*/ 0 w 11"/>
                  <a:gd name="T7" fmla="*/ 6 h 16"/>
                  <a:gd name="T8" fmla="*/ 0 w 11"/>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11" y="16"/>
                    </a:moveTo>
                    <a:lnTo>
                      <a:pt x="6" y="14"/>
                    </a:lnTo>
                    <a:lnTo>
                      <a:pt x="4" y="11"/>
                    </a:lnTo>
                    <a:lnTo>
                      <a:pt x="0" y="6"/>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81" name="Freeform 386"/>
              <p:cNvSpPr>
                <a:spLocks/>
              </p:cNvSpPr>
              <p:nvPr userDrawn="1"/>
            </p:nvSpPr>
            <p:spPr bwMode="gray">
              <a:xfrm>
                <a:off x="3540" y="1252"/>
                <a:ext cx="10" cy="16"/>
              </a:xfrm>
              <a:custGeom>
                <a:avLst/>
                <a:gdLst>
                  <a:gd name="T0" fmla="*/ 0 w 10"/>
                  <a:gd name="T1" fmla="*/ 0 h 16"/>
                  <a:gd name="T2" fmla="*/ 3 w 10"/>
                  <a:gd name="T3" fmla="*/ 2 h 16"/>
                  <a:gd name="T4" fmla="*/ 7 w 10"/>
                  <a:gd name="T5" fmla="*/ 6 h 16"/>
                  <a:gd name="T6" fmla="*/ 8 w 10"/>
                  <a:gd name="T7" fmla="*/ 11 h 16"/>
                  <a:gd name="T8" fmla="*/ 10 w 10"/>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0" y="0"/>
                    </a:moveTo>
                    <a:lnTo>
                      <a:pt x="3" y="2"/>
                    </a:lnTo>
                    <a:lnTo>
                      <a:pt x="7" y="6"/>
                    </a:lnTo>
                    <a:lnTo>
                      <a:pt x="8" y="11"/>
                    </a:lnTo>
                    <a:lnTo>
                      <a:pt x="10"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82" name="Line 387"/>
              <p:cNvSpPr>
                <a:spLocks noChangeShapeType="1"/>
              </p:cNvSpPr>
              <p:nvPr userDrawn="1"/>
            </p:nvSpPr>
            <p:spPr bwMode="gray">
              <a:xfrm flipV="1">
                <a:off x="3538" y="1217"/>
                <a:ext cx="79" cy="4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83" name="Line 388"/>
              <p:cNvSpPr>
                <a:spLocks noChangeShapeType="1"/>
              </p:cNvSpPr>
              <p:nvPr userDrawn="1"/>
            </p:nvSpPr>
            <p:spPr bwMode="gray">
              <a:xfrm flipV="1">
                <a:off x="3538" y="1212"/>
                <a:ext cx="72" cy="4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84" name="Freeform 389"/>
              <p:cNvSpPr>
                <a:spLocks/>
              </p:cNvSpPr>
              <p:nvPr userDrawn="1"/>
            </p:nvSpPr>
            <p:spPr bwMode="gray">
              <a:xfrm>
                <a:off x="3610" y="1212"/>
                <a:ext cx="10" cy="16"/>
              </a:xfrm>
              <a:custGeom>
                <a:avLst/>
                <a:gdLst>
                  <a:gd name="T0" fmla="*/ 0 w 10"/>
                  <a:gd name="T1" fmla="*/ 0 h 16"/>
                  <a:gd name="T2" fmla="*/ 3 w 10"/>
                  <a:gd name="T3" fmla="*/ 2 h 16"/>
                  <a:gd name="T4" fmla="*/ 7 w 10"/>
                  <a:gd name="T5" fmla="*/ 5 h 16"/>
                  <a:gd name="T6" fmla="*/ 8 w 10"/>
                  <a:gd name="T7" fmla="*/ 11 h 16"/>
                  <a:gd name="T8" fmla="*/ 10 w 10"/>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0" y="0"/>
                    </a:moveTo>
                    <a:lnTo>
                      <a:pt x="3" y="2"/>
                    </a:lnTo>
                    <a:lnTo>
                      <a:pt x="7" y="5"/>
                    </a:lnTo>
                    <a:lnTo>
                      <a:pt x="8" y="11"/>
                    </a:lnTo>
                    <a:lnTo>
                      <a:pt x="10"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85" name="Line 390"/>
              <p:cNvSpPr>
                <a:spLocks noChangeShapeType="1"/>
              </p:cNvSpPr>
              <p:nvPr userDrawn="1"/>
            </p:nvSpPr>
            <p:spPr bwMode="gray">
              <a:xfrm flipH="1">
                <a:off x="3538" y="1228"/>
                <a:ext cx="82" cy="4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86" name="Freeform 391"/>
              <p:cNvSpPr>
                <a:spLocks/>
              </p:cNvSpPr>
              <p:nvPr userDrawn="1"/>
            </p:nvSpPr>
            <p:spPr bwMode="gray">
              <a:xfrm>
                <a:off x="3484" y="1172"/>
                <a:ext cx="8" cy="9"/>
              </a:xfrm>
              <a:custGeom>
                <a:avLst/>
                <a:gdLst>
                  <a:gd name="T0" fmla="*/ 0 w 8"/>
                  <a:gd name="T1" fmla="*/ 0 h 9"/>
                  <a:gd name="T2" fmla="*/ 3 w 8"/>
                  <a:gd name="T3" fmla="*/ 0 h 9"/>
                  <a:gd name="T4" fmla="*/ 5 w 8"/>
                  <a:gd name="T5" fmla="*/ 2 h 9"/>
                  <a:gd name="T6" fmla="*/ 7 w 8"/>
                  <a:gd name="T7" fmla="*/ 3 h 9"/>
                  <a:gd name="T8" fmla="*/ 8 w 8"/>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9">
                    <a:moveTo>
                      <a:pt x="0" y="0"/>
                    </a:moveTo>
                    <a:lnTo>
                      <a:pt x="3" y="0"/>
                    </a:lnTo>
                    <a:lnTo>
                      <a:pt x="5" y="2"/>
                    </a:lnTo>
                    <a:lnTo>
                      <a:pt x="7" y="3"/>
                    </a:lnTo>
                    <a:lnTo>
                      <a:pt x="8"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87" name="Line 392"/>
              <p:cNvSpPr>
                <a:spLocks noChangeShapeType="1"/>
              </p:cNvSpPr>
              <p:nvPr userDrawn="1"/>
            </p:nvSpPr>
            <p:spPr bwMode="gray">
              <a:xfrm flipH="1" flipV="1">
                <a:off x="3412" y="1147"/>
                <a:ext cx="203" cy="6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88" name="Line 393"/>
              <p:cNvSpPr>
                <a:spLocks noChangeShapeType="1"/>
              </p:cNvSpPr>
              <p:nvPr userDrawn="1"/>
            </p:nvSpPr>
            <p:spPr bwMode="gray">
              <a:xfrm flipH="1" flipV="1">
                <a:off x="3412" y="1149"/>
                <a:ext cx="198" cy="6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89" name="Freeform 394"/>
              <p:cNvSpPr>
                <a:spLocks/>
              </p:cNvSpPr>
              <p:nvPr userDrawn="1"/>
            </p:nvSpPr>
            <p:spPr bwMode="gray">
              <a:xfrm>
                <a:off x="3408" y="1149"/>
                <a:ext cx="4" cy="5"/>
              </a:xfrm>
              <a:custGeom>
                <a:avLst/>
                <a:gdLst>
                  <a:gd name="T0" fmla="*/ 4 w 4"/>
                  <a:gd name="T1" fmla="*/ 0 h 5"/>
                  <a:gd name="T2" fmla="*/ 4 w 4"/>
                  <a:gd name="T3" fmla="*/ 0 h 5"/>
                  <a:gd name="T4" fmla="*/ 4 w 4"/>
                  <a:gd name="T5" fmla="*/ 0 h 5"/>
                  <a:gd name="T6" fmla="*/ 2 w 4"/>
                  <a:gd name="T7" fmla="*/ 2 h 5"/>
                  <a:gd name="T8" fmla="*/ 2 w 4"/>
                  <a:gd name="T9" fmla="*/ 4 h 5"/>
                  <a:gd name="T10" fmla="*/ 0 w 4"/>
                  <a:gd name="T11" fmla="*/ 5 h 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 h="5">
                    <a:moveTo>
                      <a:pt x="4" y="0"/>
                    </a:moveTo>
                    <a:lnTo>
                      <a:pt x="4" y="0"/>
                    </a:lnTo>
                    <a:lnTo>
                      <a:pt x="2" y="2"/>
                    </a:lnTo>
                    <a:lnTo>
                      <a:pt x="2" y="4"/>
                    </a:lnTo>
                    <a:lnTo>
                      <a:pt x="0" y="5"/>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90" name="Line 395"/>
              <p:cNvSpPr>
                <a:spLocks noChangeShapeType="1"/>
              </p:cNvSpPr>
              <p:nvPr userDrawn="1"/>
            </p:nvSpPr>
            <p:spPr bwMode="gray">
              <a:xfrm>
                <a:off x="3408" y="1154"/>
                <a:ext cx="209" cy="6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91" name="Freeform 396"/>
              <p:cNvSpPr>
                <a:spLocks/>
              </p:cNvSpPr>
              <p:nvPr userDrawn="1"/>
            </p:nvSpPr>
            <p:spPr bwMode="gray">
              <a:xfrm>
                <a:off x="3610" y="1210"/>
                <a:ext cx="7" cy="9"/>
              </a:xfrm>
              <a:custGeom>
                <a:avLst/>
                <a:gdLst>
                  <a:gd name="T0" fmla="*/ 7 w 7"/>
                  <a:gd name="T1" fmla="*/ 9 h 9"/>
                  <a:gd name="T2" fmla="*/ 7 w 7"/>
                  <a:gd name="T3" fmla="*/ 6 h 9"/>
                  <a:gd name="T4" fmla="*/ 5 w 7"/>
                  <a:gd name="T5" fmla="*/ 4 h 9"/>
                  <a:gd name="T6" fmla="*/ 5 w 7"/>
                  <a:gd name="T7" fmla="*/ 2 h 9"/>
                  <a:gd name="T8" fmla="*/ 1 w 7"/>
                  <a:gd name="T9" fmla="*/ 0 h 9"/>
                  <a:gd name="T10" fmla="*/ 0 w 7"/>
                  <a:gd name="T11" fmla="*/ 2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7" y="9"/>
                    </a:moveTo>
                    <a:lnTo>
                      <a:pt x="7" y="6"/>
                    </a:lnTo>
                    <a:lnTo>
                      <a:pt x="5" y="4"/>
                    </a:lnTo>
                    <a:lnTo>
                      <a:pt x="5" y="2"/>
                    </a:lnTo>
                    <a:lnTo>
                      <a:pt x="1"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92" name="Freeform 397"/>
              <p:cNvSpPr>
                <a:spLocks/>
              </p:cNvSpPr>
              <p:nvPr userDrawn="1"/>
            </p:nvSpPr>
            <p:spPr bwMode="gray">
              <a:xfrm>
                <a:off x="3613" y="1329"/>
                <a:ext cx="5" cy="7"/>
              </a:xfrm>
              <a:custGeom>
                <a:avLst/>
                <a:gdLst>
                  <a:gd name="T0" fmla="*/ 4 w 5"/>
                  <a:gd name="T1" fmla="*/ 7 h 7"/>
                  <a:gd name="T2" fmla="*/ 5 w 5"/>
                  <a:gd name="T3" fmla="*/ 6 h 7"/>
                  <a:gd name="T4" fmla="*/ 5 w 5"/>
                  <a:gd name="T5" fmla="*/ 4 h 7"/>
                  <a:gd name="T6" fmla="*/ 4 w 5"/>
                  <a:gd name="T7" fmla="*/ 2 h 7"/>
                  <a:gd name="T8" fmla="*/ 2 w 5"/>
                  <a:gd name="T9" fmla="*/ 2 h 7"/>
                  <a:gd name="T10" fmla="*/ 0 w 5"/>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7">
                    <a:moveTo>
                      <a:pt x="4" y="7"/>
                    </a:moveTo>
                    <a:lnTo>
                      <a:pt x="5" y="6"/>
                    </a:lnTo>
                    <a:lnTo>
                      <a:pt x="5" y="4"/>
                    </a:lnTo>
                    <a:lnTo>
                      <a:pt x="4" y="2"/>
                    </a:lnTo>
                    <a:lnTo>
                      <a:pt x="2"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93" name="Line 398"/>
              <p:cNvSpPr>
                <a:spLocks noChangeShapeType="1"/>
              </p:cNvSpPr>
              <p:nvPr userDrawn="1"/>
            </p:nvSpPr>
            <p:spPr bwMode="gray">
              <a:xfrm flipV="1">
                <a:off x="3618" y="1223"/>
                <a:ext cx="4" cy="13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94" name="Line 399"/>
              <p:cNvSpPr>
                <a:spLocks noChangeShapeType="1"/>
              </p:cNvSpPr>
              <p:nvPr userDrawn="1"/>
            </p:nvSpPr>
            <p:spPr bwMode="gray">
              <a:xfrm flipV="1">
                <a:off x="3615" y="1228"/>
                <a:ext cx="5" cy="12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95" name="Freeform 400"/>
              <p:cNvSpPr>
                <a:spLocks/>
              </p:cNvSpPr>
              <p:nvPr userDrawn="1"/>
            </p:nvSpPr>
            <p:spPr bwMode="gray">
              <a:xfrm>
                <a:off x="3617" y="1219"/>
                <a:ext cx="5" cy="9"/>
              </a:xfrm>
              <a:custGeom>
                <a:avLst/>
                <a:gdLst>
                  <a:gd name="T0" fmla="*/ 3 w 5"/>
                  <a:gd name="T1" fmla="*/ 9 h 9"/>
                  <a:gd name="T2" fmla="*/ 5 w 5"/>
                  <a:gd name="T3" fmla="*/ 7 h 9"/>
                  <a:gd name="T4" fmla="*/ 5 w 5"/>
                  <a:gd name="T5" fmla="*/ 5 h 9"/>
                  <a:gd name="T6" fmla="*/ 3 w 5"/>
                  <a:gd name="T7" fmla="*/ 4 h 9"/>
                  <a:gd name="T8" fmla="*/ 1 w 5"/>
                  <a:gd name="T9" fmla="*/ 2 h 9"/>
                  <a:gd name="T10" fmla="*/ 0 w 5"/>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9">
                    <a:moveTo>
                      <a:pt x="3" y="9"/>
                    </a:moveTo>
                    <a:lnTo>
                      <a:pt x="5" y="7"/>
                    </a:lnTo>
                    <a:lnTo>
                      <a:pt x="5" y="5"/>
                    </a:lnTo>
                    <a:lnTo>
                      <a:pt x="3" y="4"/>
                    </a:lnTo>
                    <a:lnTo>
                      <a:pt x="1"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96" name="Line 401"/>
              <p:cNvSpPr>
                <a:spLocks noChangeShapeType="1"/>
              </p:cNvSpPr>
              <p:nvPr userDrawn="1"/>
            </p:nvSpPr>
            <p:spPr bwMode="gray">
              <a:xfrm flipH="1">
                <a:off x="3611" y="1219"/>
                <a:ext cx="6" cy="13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97" name="Freeform 402"/>
              <p:cNvSpPr>
                <a:spLocks/>
              </p:cNvSpPr>
              <p:nvPr userDrawn="1"/>
            </p:nvSpPr>
            <p:spPr bwMode="gray">
              <a:xfrm>
                <a:off x="2816" y="1207"/>
                <a:ext cx="19" cy="2"/>
              </a:xfrm>
              <a:custGeom>
                <a:avLst/>
                <a:gdLst>
                  <a:gd name="T0" fmla="*/ 19 w 19"/>
                  <a:gd name="T1" fmla="*/ 0 h 2"/>
                  <a:gd name="T2" fmla="*/ 14 w 19"/>
                  <a:gd name="T3" fmla="*/ 2 h 2"/>
                  <a:gd name="T4" fmla="*/ 10 w 19"/>
                  <a:gd name="T5" fmla="*/ 2 h 2"/>
                  <a:gd name="T6" fmla="*/ 5 w 19"/>
                  <a:gd name="T7" fmla="*/ 2 h 2"/>
                  <a:gd name="T8" fmla="*/ 0 w 19"/>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
                    <a:moveTo>
                      <a:pt x="19" y="0"/>
                    </a:moveTo>
                    <a:lnTo>
                      <a:pt x="14" y="2"/>
                    </a:lnTo>
                    <a:lnTo>
                      <a:pt x="10" y="2"/>
                    </a:lnTo>
                    <a:lnTo>
                      <a:pt x="5" y="2"/>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98" name="Line 403"/>
              <p:cNvSpPr>
                <a:spLocks noChangeShapeType="1"/>
              </p:cNvSpPr>
              <p:nvPr userDrawn="1"/>
            </p:nvSpPr>
            <p:spPr bwMode="gray">
              <a:xfrm flipV="1">
                <a:off x="2826" y="1202"/>
                <a:ext cx="1" cy="11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799" name="Line 404"/>
              <p:cNvSpPr>
                <a:spLocks noChangeShapeType="1"/>
              </p:cNvSpPr>
              <p:nvPr userDrawn="1"/>
            </p:nvSpPr>
            <p:spPr bwMode="gray">
              <a:xfrm flipV="1">
                <a:off x="2835" y="1196"/>
                <a:ext cx="1" cy="11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00" name="Line 405"/>
              <p:cNvSpPr>
                <a:spLocks noChangeShapeType="1"/>
              </p:cNvSpPr>
              <p:nvPr userDrawn="1"/>
            </p:nvSpPr>
            <p:spPr bwMode="gray">
              <a:xfrm>
                <a:off x="2816" y="1207"/>
                <a:ext cx="1" cy="10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01" name="Freeform 406"/>
              <p:cNvSpPr>
                <a:spLocks/>
              </p:cNvSpPr>
              <p:nvPr userDrawn="1"/>
            </p:nvSpPr>
            <p:spPr bwMode="gray">
              <a:xfrm>
                <a:off x="2816" y="1314"/>
                <a:ext cx="19" cy="3"/>
              </a:xfrm>
              <a:custGeom>
                <a:avLst/>
                <a:gdLst>
                  <a:gd name="T0" fmla="*/ 19 w 19"/>
                  <a:gd name="T1" fmla="*/ 0 h 3"/>
                  <a:gd name="T2" fmla="*/ 12 w 19"/>
                  <a:gd name="T3" fmla="*/ 3 h 3"/>
                  <a:gd name="T4" fmla="*/ 7 w 19"/>
                  <a:gd name="T5" fmla="*/ 3 h 3"/>
                  <a:gd name="T6" fmla="*/ 0 w 19"/>
                  <a:gd name="T7" fmla="*/ 1 h 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3">
                    <a:moveTo>
                      <a:pt x="19" y="0"/>
                    </a:moveTo>
                    <a:lnTo>
                      <a:pt x="12" y="3"/>
                    </a:lnTo>
                    <a:lnTo>
                      <a:pt x="7" y="3"/>
                    </a:lnTo>
                    <a:lnTo>
                      <a:pt x="0" y="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02" name="Freeform 407"/>
              <p:cNvSpPr>
                <a:spLocks/>
              </p:cNvSpPr>
              <p:nvPr userDrawn="1"/>
            </p:nvSpPr>
            <p:spPr bwMode="gray">
              <a:xfrm>
                <a:off x="2817" y="1214"/>
                <a:ext cx="20" cy="2"/>
              </a:xfrm>
              <a:custGeom>
                <a:avLst/>
                <a:gdLst>
                  <a:gd name="T0" fmla="*/ 20 w 20"/>
                  <a:gd name="T1" fmla="*/ 2 h 2"/>
                  <a:gd name="T2" fmla="*/ 14 w 20"/>
                  <a:gd name="T3" fmla="*/ 0 h 2"/>
                  <a:gd name="T4" fmla="*/ 9 w 20"/>
                  <a:gd name="T5" fmla="*/ 0 h 2"/>
                  <a:gd name="T6" fmla="*/ 6 w 20"/>
                  <a:gd name="T7" fmla="*/ 0 h 2"/>
                  <a:gd name="T8" fmla="*/ 0 w 20"/>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2">
                    <a:moveTo>
                      <a:pt x="20" y="2"/>
                    </a:moveTo>
                    <a:lnTo>
                      <a:pt x="14" y="0"/>
                    </a:lnTo>
                    <a:lnTo>
                      <a:pt x="9" y="0"/>
                    </a:lnTo>
                    <a:lnTo>
                      <a:pt x="6"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03" name="Line 408"/>
              <p:cNvSpPr>
                <a:spLocks noChangeShapeType="1"/>
              </p:cNvSpPr>
              <p:nvPr userDrawn="1"/>
            </p:nvSpPr>
            <p:spPr bwMode="gray">
              <a:xfrm>
                <a:off x="2826" y="1202"/>
                <a:ext cx="1" cy="11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04" name="Line 409"/>
              <p:cNvSpPr>
                <a:spLocks noChangeShapeType="1"/>
              </p:cNvSpPr>
              <p:nvPr userDrawn="1"/>
            </p:nvSpPr>
            <p:spPr bwMode="gray">
              <a:xfrm>
                <a:off x="2837" y="1196"/>
                <a:ext cx="1" cy="12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05" name="Freeform 410"/>
              <p:cNvSpPr>
                <a:spLocks/>
              </p:cNvSpPr>
              <p:nvPr userDrawn="1"/>
            </p:nvSpPr>
            <p:spPr bwMode="gray">
              <a:xfrm>
                <a:off x="2817" y="1321"/>
                <a:ext cx="20" cy="1"/>
              </a:xfrm>
              <a:custGeom>
                <a:avLst/>
                <a:gdLst>
                  <a:gd name="T0" fmla="*/ 20 w 20"/>
                  <a:gd name="T1" fmla="*/ 1 h 1"/>
                  <a:gd name="T2" fmla="*/ 13 w 20"/>
                  <a:gd name="T3" fmla="*/ 0 h 1"/>
                  <a:gd name="T4" fmla="*/ 7 w 20"/>
                  <a:gd name="T5" fmla="*/ 0 h 1"/>
                  <a:gd name="T6" fmla="*/ 0 w 20"/>
                  <a:gd name="T7" fmla="*/ 1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
                    <a:moveTo>
                      <a:pt x="20" y="1"/>
                    </a:moveTo>
                    <a:lnTo>
                      <a:pt x="13" y="0"/>
                    </a:lnTo>
                    <a:lnTo>
                      <a:pt x="7" y="0"/>
                    </a:lnTo>
                    <a:lnTo>
                      <a:pt x="0" y="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06" name="Line 411"/>
              <p:cNvSpPr>
                <a:spLocks noChangeShapeType="1"/>
              </p:cNvSpPr>
              <p:nvPr userDrawn="1"/>
            </p:nvSpPr>
            <p:spPr bwMode="gray">
              <a:xfrm flipV="1">
                <a:off x="2817" y="1205"/>
                <a:ext cx="1" cy="11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07" name="Freeform 412"/>
              <p:cNvSpPr>
                <a:spLocks/>
              </p:cNvSpPr>
              <p:nvPr userDrawn="1"/>
            </p:nvSpPr>
            <p:spPr bwMode="gray">
              <a:xfrm>
                <a:off x="3038" y="1515"/>
                <a:ext cx="5" cy="8"/>
              </a:xfrm>
              <a:custGeom>
                <a:avLst/>
                <a:gdLst>
                  <a:gd name="T0" fmla="*/ 3 w 5"/>
                  <a:gd name="T1" fmla="*/ 0 h 8"/>
                  <a:gd name="T2" fmla="*/ 0 w 5"/>
                  <a:gd name="T3" fmla="*/ 1 h 8"/>
                  <a:gd name="T4" fmla="*/ 0 w 5"/>
                  <a:gd name="T5" fmla="*/ 3 h 8"/>
                  <a:gd name="T6" fmla="*/ 1 w 5"/>
                  <a:gd name="T7" fmla="*/ 7 h 8"/>
                  <a:gd name="T8" fmla="*/ 5 w 5"/>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8">
                    <a:moveTo>
                      <a:pt x="3" y="0"/>
                    </a:moveTo>
                    <a:lnTo>
                      <a:pt x="0" y="1"/>
                    </a:lnTo>
                    <a:lnTo>
                      <a:pt x="0" y="3"/>
                    </a:lnTo>
                    <a:lnTo>
                      <a:pt x="1" y="7"/>
                    </a:lnTo>
                    <a:lnTo>
                      <a:pt x="5"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08" name="Line 413"/>
              <p:cNvSpPr>
                <a:spLocks noChangeShapeType="1"/>
              </p:cNvSpPr>
              <p:nvPr userDrawn="1"/>
            </p:nvSpPr>
            <p:spPr bwMode="gray">
              <a:xfrm flipH="1">
                <a:off x="3038" y="1406"/>
                <a:ext cx="1" cy="15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09" name="Line 414"/>
              <p:cNvSpPr>
                <a:spLocks noChangeShapeType="1"/>
              </p:cNvSpPr>
              <p:nvPr userDrawn="1"/>
            </p:nvSpPr>
            <p:spPr bwMode="gray">
              <a:xfrm flipH="1">
                <a:off x="3039" y="1408"/>
                <a:ext cx="2" cy="14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10" name="Line 415"/>
              <p:cNvSpPr>
                <a:spLocks noChangeShapeType="1"/>
              </p:cNvSpPr>
              <p:nvPr userDrawn="1"/>
            </p:nvSpPr>
            <p:spPr bwMode="gray">
              <a:xfrm flipV="1">
                <a:off x="3043" y="1405"/>
                <a:ext cx="2" cy="14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11" name="Freeform 416"/>
              <p:cNvSpPr>
                <a:spLocks/>
              </p:cNvSpPr>
              <p:nvPr userDrawn="1"/>
            </p:nvSpPr>
            <p:spPr bwMode="gray">
              <a:xfrm>
                <a:off x="3039" y="1405"/>
                <a:ext cx="6" cy="3"/>
              </a:xfrm>
              <a:custGeom>
                <a:avLst/>
                <a:gdLst>
                  <a:gd name="T0" fmla="*/ 2 w 6"/>
                  <a:gd name="T1" fmla="*/ 3 h 3"/>
                  <a:gd name="T2" fmla="*/ 0 w 6"/>
                  <a:gd name="T3" fmla="*/ 3 h 3"/>
                  <a:gd name="T4" fmla="*/ 0 w 6"/>
                  <a:gd name="T5" fmla="*/ 1 h 3"/>
                  <a:gd name="T6" fmla="*/ 0 w 6"/>
                  <a:gd name="T7" fmla="*/ 1 h 3"/>
                  <a:gd name="T8" fmla="*/ 2 w 6"/>
                  <a:gd name="T9" fmla="*/ 0 h 3"/>
                  <a:gd name="T10" fmla="*/ 6 w 6"/>
                  <a:gd name="T11" fmla="*/ 0 h 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3">
                    <a:moveTo>
                      <a:pt x="2" y="3"/>
                    </a:moveTo>
                    <a:lnTo>
                      <a:pt x="0" y="3"/>
                    </a:lnTo>
                    <a:lnTo>
                      <a:pt x="0" y="1"/>
                    </a:lnTo>
                    <a:lnTo>
                      <a:pt x="2" y="0"/>
                    </a:lnTo>
                    <a:lnTo>
                      <a:pt x="6"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12" name="Freeform 417"/>
              <p:cNvSpPr>
                <a:spLocks/>
              </p:cNvSpPr>
              <p:nvPr userDrawn="1"/>
            </p:nvSpPr>
            <p:spPr bwMode="gray">
              <a:xfrm>
                <a:off x="3192" y="847"/>
                <a:ext cx="17" cy="1"/>
              </a:xfrm>
              <a:custGeom>
                <a:avLst/>
                <a:gdLst>
                  <a:gd name="T0" fmla="*/ 0 w 17"/>
                  <a:gd name="T1" fmla="*/ 1 h 1"/>
                  <a:gd name="T2" fmla="*/ 5 w 17"/>
                  <a:gd name="T3" fmla="*/ 0 h 1"/>
                  <a:gd name="T4" fmla="*/ 12 w 17"/>
                  <a:gd name="T5" fmla="*/ 0 h 1"/>
                  <a:gd name="T6" fmla="*/ 17 w 17"/>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
                    <a:moveTo>
                      <a:pt x="0" y="1"/>
                    </a:moveTo>
                    <a:lnTo>
                      <a:pt x="5" y="0"/>
                    </a:lnTo>
                    <a:lnTo>
                      <a:pt x="12" y="0"/>
                    </a:lnTo>
                    <a:lnTo>
                      <a:pt x="17"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13" name="Line 418"/>
              <p:cNvSpPr>
                <a:spLocks noChangeShapeType="1"/>
              </p:cNvSpPr>
              <p:nvPr userDrawn="1"/>
            </p:nvSpPr>
            <p:spPr bwMode="gray">
              <a:xfrm flipH="1">
                <a:off x="3185" y="840"/>
                <a:ext cx="10" cy="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14" name="Line 419"/>
              <p:cNvSpPr>
                <a:spLocks noChangeShapeType="1"/>
              </p:cNvSpPr>
              <p:nvPr userDrawn="1"/>
            </p:nvSpPr>
            <p:spPr bwMode="gray">
              <a:xfrm flipV="1">
                <a:off x="3188" y="840"/>
                <a:ext cx="14" cy="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15" name="Freeform 420"/>
              <p:cNvSpPr>
                <a:spLocks/>
              </p:cNvSpPr>
              <p:nvPr userDrawn="1"/>
            </p:nvSpPr>
            <p:spPr bwMode="gray">
              <a:xfrm>
                <a:off x="3192" y="840"/>
                <a:ext cx="10" cy="8"/>
              </a:xfrm>
              <a:custGeom>
                <a:avLst/>
                <a:gdLst>
                  <a:gd name="T0" fmla="*/ 10 w 10"/>
                  <a:gd name="T1" fmla="*/ 0 h 8"/>
                  <a:gd name="T2" fmla="*/ 5 w 10"/>
                  <a:gd name="T3" fmla="*/ 0 h 8"/>
                  <a:gd name="T4" fmla="*/ 1 w 10"/>
                  <a:gd name="T5" fmla="*/ 1 h 8"/>
                  <a:gd name="T6" fmla="*/ 0 w 10"/>
                  <a:gd name="T7" fmla="*/ 3 h 8"/>
                  <a:gd name="T8" fmla="*/ 0 w 10"/>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8">
                    <a:moveTo>
                      <a:pt x="10" y="0"/>
                    </a:moveTo>
                    <a:lnTo>
                      <a:pt x="5" y="0"/>
                    </a:lnTo>
                    <a:lnTo>
                      <a:pt x="1" y="1"/>
                    </a:lnTo>
                    <a:lnTo>
                      <a:pt x="0" y="3"/>
                    </a:lnTo>
                    <a:lnTo>
                      <a:pt x="0"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16" name="Freeform 421"/>
              <p:cNvSpPr>
                <a:spLocks/>
              </p:cNvSpPr>
              <p:nvPr userDrawn="1"/>
            </p:nvSpPr>
            <p:spPr bwMode="gray">
              <a:xfrm>
                <a:off x="3401" y="1016"/>
                <a:ext cx="6" cy="7"/>
              </a:xfrm>
              <a:custGeom>
                <a:avLst/>
                <a:gdLst>
                  <a:gd name="T0" fmla="*/ 2 w 6"/>
                  <a:gd name="T1" fmla="*/ 7 h 7"/>
                  <a:gd name="T2" fmla="*/ 6 w 6"/>
                  <a:gd name="T3" fmla="*/ 7 h 7"/>
                  <a:gd name="T4" fmla="*/ 6 w 6"/>
                  <a:gd name="T5" fmla="*/ 6 h 7"/>
                  <a:gd name="T6" fmla="*/ 4 w 6"/>
                  <a:gd name="T7" fmla="*/ 4 h 7"/>
                  <a:gd name="T8" fmla="*/ 2 w 6"/>
                  <a:gd name="T9" fmla="*/ 2 h 7"/>
                  <a:gd name="T10" fmla="*/ 0 w 6"/>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7">
                    <a:moveTo>
                      <a:pt x="2" y="7"/>
                    </a:moveTo>
                    <a:lnTo>
                      <a:pt x="6" y="7"/>
                    </a:lnTo>
                    <a:lnTo>
                      <a:pt x="6" y="6"/>
                    </a:lnTo>
                    <a:lnTo>
                      <a:pt x="4" y="4"/>
                    </a:lnTo>
                    <a:lnTo>
                      <a:pt x="2"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17" name="Line 422"/>
              <p:cNvSpPr>
                <a:spLocks noChangeShapeType="1"/>
              </p:cNvSpPr>
              <p:nvPr userDrawn="1"/>
            </p:nvSpPr>
            <p:spPr bwMode="gray">
              <a:xfrm flipV="1">
                <a:off x="3403" y="910"/>
                <a:ext cx="5" cy="22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18" name="Line 423"/>
              <p:cNvSpPr>
                <a:spLocks noChangeShapeType="1"/>
              </p:cNvSpPr>
              <p:nvPr userDrawn="1"/>
            </p:nvSpPr>
            <p:spPr bwMode="gray">
              <a:xfrm flipV="1">
                <a:off x="3401" y="913"/>
                <a:ext cx="6" cy="22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19" name="Freeform 424"/>
              <p:cNvSpPr>
                <a:spLocks/>
              </p:cNvSpPr>
              <p:nvPr userDrawn="1"/>
            </p:nvSpPr>
            <p:spPr bwMode="gray">
              <a:xfrm>
                <a:off x="3403" y="906"/>
                <a:ext cx="5" cy="7"/>
              </a:xfrm>
              <a:custGeom>
                <a:avLst/>
                <a:gdLst>
                  <a:gd name="T0" fmla="*/ 4 w 5"/>
                  <a:gd name="T1" fmla="*/ 7 h 7"/>
                  <a:gd name="T2" fmla="*/ 5 w 5"/>
                  <a:gd name="T3" fmla="*/ 5 h 7"/>
                  <a:gd name="T4" fmla="*/ 5 w 5"/>
                  <a:gd name="T5" fmla="*/ 4 h 7"/>
                  <a:gd name="T6" fmla="*/ 5 w 5"/>
                  <a:gd name="T7" fmla="*/ 2 h 7"/>
                  <a:gd name="T8" fmla="*/ 4 w 5"/>
                  <a:gd name="T9" fmla="*/ 0 h 7"/>
                  <a:gd name="T10" fmla="*/ 0 w 5"/>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7">
                    <a:moveTo>
                      <a:pt x="4" y="7"/>
                    </a:moveTo>
                    <a:lnTo>
                      <a:pt x="5" y="5"/>
                    </a:lnTo>
                    <a:lnTo>
                      <a:pt x="5" y="4"/>
                    </a:lnTo>
                    <a:lnTo>
                      <a:pt x="5" y="2"/>
                    </a:lnTo>
                    <a:lnTo>
                      <a:pt x="4" y="0"/>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20" name="Line 425"/>
              <p:cNvSpPr>
                <a:spLocks noChangeShapeType="1"/>
              </p:cNvSpPr>
              <p:nvPr userDrawn="1"/>
            </p:nvSpPr>
            <p:spPr bwMode="gray">
              <a:xfrm flipH="1">
                <a:off x="3398" y="906"/>
                <a:ext cx="5" cy="23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21" name="Freeform 426"/>
              <p:cNvSpPr>
                <a:spLocks/>
              </p:cNvSpPr>
              <p:nvPr userDrawn="1"/>
            </p:nvSpPr>
            <p:spPr bwMode="gray">
              <a:xfrm>
                <a:off x="3398" y="1133"/>
                <a:ext cx="5" cy="6"/>
              </a:xfrm>
              <a:custGeom>
                <a:avLst/>
                <a:gdLst>
                  <a:gd name="T0" fmla="*/ 3 w 5"/>
                  <a:gd name="T1" fmla="*/ 0 h 6"/>
                  <a:gd name="T2" fmla="*/ 5 w 5"/>
                  <a:gd name="T3" fmla="*/ 2 h 6"/>
                  <a:gd name="T4" fmla="*/ 5 w 5"/>
                  <a:gd name="T5" fmla="*/ 2 h 6"/>
                  <a:gd name="T6" fmla="*/ 5 w 5"/>
                  <a:gd name="T7" fmla="*/ 4 h 6"/>
                  <a:gd name="T8" fmla="*/ 2 w 5"/>
                  <a:gd name="T9" fmla="*/ 4 h 6"/>
                  <a:gd name="T10" fmla="*/ 0 w 5"/>
                  <a:gd name="T11" fmla="*/ 6 h 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6">
                    <a:moveTo>
                      <a:pt x="3" y="0"/>
                    </a:moveTo>
                    <a:lnTo>
                      <a:pt x="5" y="2"/>
                    </a:lnTo>
                    <a:lnTo>
                      <a:pt x="5" y="4"/>
                    </a:lnTo>
                    <a:lnTo>
                      <a:pt x="2" y="4"/>
                    </a:lnTo>
                    <a:lnTo>
                      <a:pt x="0" y="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22" name="Freeform 427"/>
              <p:cNvSpPr>
                <a:spLocks/>
              </p:cNvSpPr>
              <p:nvPr userDrawn="1"/>
            </p:nvSpPr>
            <p:spPr bwMode="gray">
              <a:xfrm>
                <a:off x="3324" y="936"/>
                <a:ext cx="11" cy="16"/>
              </a:xfrm>
              <a:custGeom>
                <a:avLst/>
                <a:gdLst>
                  <a:gd name="T0" fmla="*/ 11 w 11"/>
                  <a:gd name="T1" fmla="*/ 16 h 16"/>
                  <a:gd name="T2" fmla="*/ 11 w 11"/>
                  <a:gd name="T3" fmla="*/ 10 h 16"/>
                  <a:gd name="T4" fmla="*/ 9 w 11"/>
                  <a:gd name="T5" fmla="*/ 5 h 16"/>
                  <a:gd name="T6" fmla="*/ 6 w 11"/>
                  <a:gd name="T7" fmla="*/ 2 h 16"/>
                  <a:gd name="T8" fmla="*/ 0 w 11"/>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11" y="16"/>
                    </a:moveTo>
                    <a:lnTo>
                      <a:pt x="11" y="10"/>
                    </a:lnTo>
                    <a:lnTo>
                      <a:pt x="9" y="5"/>
                    </a:lnTo>
                    <a:lnTo>
                      <a:pt x="6"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23" name="Line 428"/>
              <p:cNvSpPr>
                <a:spLocks noChangeShapeType="1"/>
              </p:cNvSpPr>
              <p:nvPr userDrawn="1"/>
            </p:nvSpPr>
            <p:spPr bwMode="gray">
              <a:xfrm flipH="1">
                <a:off x="3312" y="904"/>
                <a:ext cx="91" cy="4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24" name="Line 429"/>
              <p:cNvSpPr>
                <a:spLocks noChangeShapeType="1"/>
              </p:cNvSpPr>
              <p:nvPr userDrawn="1"/>
            </p:nvSpPr>
            <p:spPr bwMode="gray">
              <a:xfrm flipH="1">
                <a:off x="3312" y="913"/>
                <a:ext cx="95" cy="5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25" name="Line 430"/>
              <p:cNvSpPr>
                <a:spLocks noChangeShapeType="1"/>
              </p:cNvSpPr>
              <p:nvPr userDrawn="1"/>
            </p:nvSpPr>
            <p:spPr bwMode="gray">
              <a:xfrm flipV="1">
                <a:off x="3314" y="897"/>
                <a:ext cx="82" cy="4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26" name="Freeform 431"/>
              <p:cNvSpPr>
                <a:spLocks/>
              </p:cNvSpPr>
              <p:nvPr userDrawn="1"/>
            </p:nvSpPr>
            <p:spPr bwMode="gray">
              <a:xfrm>
                <a:off x="3396" y="897"/>
                <a:ext cx="11" cy="16"/>
              </a:xfrm>
              <a:custGeom>
                <a:avLst/>
                <a:gdLst>
                  <a:gd name="T0" fmla="*/ 0 w 11"/>
                  <a:gd name="T1" fmla="*/ 0 h 16"/>
                  <a:gd name="T2" fmla="*/ 4 w 11"/>
                  <a:gd name="T3" fmla="*/ 4 h 16"/>
                  <a:gd name="T4" fmla="*/ 7 w 11"/>
                  <a:gd name="T5" fmla="*/ 7 h 16"/>
                  <a:gd name="T6" fmla="*/ 11 w 11"/>
                  <a:gd name="T7" fmla="*/ 11 h 16"/>
                  <a:gd name="T8" fmla="*/ 11 w 11"/>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0" y="0"/>
                    </a:moveTo>
                    <a:lnTo>
                      <a:pt x="4" y="4"/>
                    </a:lnTo>
                    <a:lnTo>
                      <a:pt x="7" y="7"/>
                    </a:lnTo>
                    <a:lnTo>
                      <a:pt x="11" y="11"/>
                    </a:lnTo>
                    <a:lnTo>
                      <a:pt x="11"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27" name="Freeform 432"/>
              <p:cNvSpPr>
                <a:spLocks/>
              </p:cNvSpPr>
              <p:nvPr userDrawn="1"/>
            </p:nvSpPr>
            <p:spPr bwMode="gray">
              <a:xfrm>
                <a:off x="3298" y="868"/>
                <a:ext cx="9" cy="8"/>
              </a:xfrm>
              <a:custGeom>
                <a:avLst/>
                <a:gdLst>
                  <a:gd name="T0" fmla="*/ 9 w 9"/>
                  <a:gd name="T1" fmla="*/ 8 h 8"/>
                  <a:gd name="T2" fmla="*/ 7 w 9"/>
                  <a:gd name="T3" fmla="*/ 5 h 8"/>
                  <a:gd name="T4" fmla="*/ 5 w 9"/>
                  <a:gd name="T5" fmla="*/ 1 h 8"/>
                  <a:gd name="T6" fmla="*/ 4 w 9"/>
                  <a:gd name="T7" fmla="*/ 0 h 8"/>
                  <a:gd name="T8" fmla="*/ 0 w 9"/>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8">
                    <a:moveTo>
                      <a:pt x="9" y="8"/>
                    </a:moveTo>
                    <a:lnTo>
                      <a:pt x="7" y="5"/>
                    </a:lnTo>
                    <a:lnTo>
                      <a:pt x="5" y="1"/>
                    </a:lnTo>
                    <a:lnTo>
                      <a:pt x="4" y="0"/>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28" name="Line 433"/>
              <p:cNvSpPr>
                <a:spLocks noChangeShapeType="1"/>
              </p:cNvSpPr>
              <p:nvPr userDrawn="1"/>
            </p:nvSpPr>
            <p:spPr bwMode="gray">
              <a:xfrm>
                <a:off x="3207" y="840"/>
                <a:ext cx="194" cy="5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29" name="Line 434"/>
              <p:cNvSpPr>
                <a:spLocks noChangeShapeType="1"/>
              </p:cNvSpPr>
              <p:nvPr userDrawn="1"/>
            </p:nvSpPr>
            <p:spPr bwMode="gray">
              <a:xfrm>
                <a:off x="3209" y="847"/>
                <a:ext cx="194" cy="5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30" name="Freeform 435"/>
              <p:cNvSpPr>
                <a:spLocks/>
              </p:cNvSpPr>
              <p:nvPr userDrawn="1"/>
            </p:nvSpPr>
            <p:spPr bwMode="gray">
              <a:xfrm>
                <a:off x="3396" y="897"/>
                <a:ext cx="7" cy="9"/>
              </a:xfrm>
              <a:custGeom>
                <a:avLst/>
                <a:gdLst>
                  <a:gd name="T0" fmla="*/ 7 w 7"/>
                  <a:gd name="T1" fmla="*/ 9 h 9"/>
                  <a:gd name="T2" fmla="*/ 7 w 7"/>
                  <a:gd name="T3" fmla="*/ 6 h 9"/>
                  <a:gd name="T4" fmla="*/ 7 w 7"/>
                  <a:gd name="T5" fmla="*/ 2 h 9"/>
                  <a:gd name="T6" fmla="*/ 5 w 7"/>
                  <a:gd name="T7" fmla="*/ 0 h 9"/>
                  <a:gd name="T8" fmla="*/ 4 w 7"/>
                  <a:gd name="T9" fmla="*/ 0 h 9"/>
                  <a:gd name="T10" fmla="*/ 0 w 7"/>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7" y="9"/>
                    </a:moveTo>
                    <a:lnTo>
                      <a:pt x="7" y="6"/>
                    </a:lnTo>
                    <a:lnTo>
                      <a:pt x="7" y="2"/>
                    </a:lnTo>
                    <a:lnTo>
                      <a:pt x="5" y="0"/>
                    </a:lnTo>
                    <a:lnTo>
                      <a:pt x="4" y="0"/>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31" name="Line 436"/>
              <p:cNvSpPr>
                <a:spLocks noChangeShapeType="1"/>
              </p:cNvSpPr>
              <p:nvPr userDrawn="1"/>
            </p:nvSpPr>
            <p:spPr bwMode="gray">
              <a:xfrm flipH="1" flipV="1">
                <a:off x="3202" y="840"/>
                <a:ext cx="194" cy="5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32" name="Freeform 437"/>
              <p:cNvSpPr>
                <a:spLocks/>
              </p:cNvSpPr>
              <p:nvPr userDrawn="1"/>
            </p:nvSpPr>
            <p:spPr bwMode="gray">
              <a:xfrm>
                <a:off x="3202" y="838"/>
                <a:ext cx="7" cy="9"/>
              </a:xfrm>
              <a:custGeom>
                <a:avLst/>
                <a:gdLst>
                  <a:gd name="T0" fmla="*/ 0 w 7"/>
                  <a:gd name="T1" fmla="*/ 2 h 9"/>
                  <a:gd name="T2" fmla="*/ 4 w 7"/>
                  <a:gd name="T3" fmla="*/ 0 h 9"/>
                  <a:gd name="T4" fmla="*/ 5 w 7"/>
                  <a:gd name="T5" fmla="*/ 2 h 9"/>
                  <a:gd name="T6" fmla="*/ 7 w 7"/>
                  <a:gd name="T7" fmla="*/ 3 h 9"/>
                  <a:gd name="T8" fmla="*/ 7 w 7"/>
                  <a:gd name="T9" fmla="*/ 7 h 9"/>
                  <a:gd name="T10" fmla="*/ 7 w 7"/>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0" y="2"/>
                    </a:moveTo>
                    <a:lnTo>
                      <a:pt x="4" y="0"/>
                    </a:lnTo>
                    <a:lnTo>
                      <a:pt x="5" y="2"/>
                    </a:lnTo>
                    <a:lnTo>
                      <a:pt x="7" y="3"/>
                    </a:lnTo>
                    <a:lnTo>
                      <a:pt x="7" y="7"/>
                    </a:lnTo>
                    <a:lnTo>
                      <a:pt x="7"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33" name="Freeform 438"/>
              <p:cNvSpPr>
                <a:spLocks/>
              </p:cNvSpPr>
              <p:nvPr userDrawn="1"/>
            </p:nvSpPr>
            <p:spPr bwMode="gray">
              <a:xfrm>
                <a:off x="3345" y="1823"/>
                <a:ext cx="9" cy="8"/>
              </a:xfrm>
              <a:custGeom>
                <a:avLst/>
                <a:gdLst>
                  <a:gd name="T0" fmla="*/ 0 w 9"/>
                  <a:gd name="T1" fmla="*/ 0 h 8"/>
                  <a:gd name="T2" fmla="*/ 4 w 9"/>
                  <a:gd name="T3" fmla="*/ 0 h 8"/>
                  <a:gd name="T4" fmla="*/ 6 w 9"/>
                  <a:gd name="T5" fmla="*/ 0 h 8"/>
                  <a:gd name="T6" fmla="*/ 7 w 9"/>
                  <a:gd name="T7" fmla="*/ 1 h 8"/>
                  <a:gd name="T8" fmla="*/ 9 w 9"/>
                  <a:gd name="T9" fmla="*/ 5 h 8"/>
                  <a:gd name="T10" fmla="*/ 9 w 9"/>
                  <a:gd name="T11" fmla="*/ 8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8">
                    <a:moveTo>
                      <a:pt x="0" y="0"/>
                    </a:moveTo>
                    <a:lnTo>
                      <a:pt x="4" y="0"/>
                    </a:lnTo>
                    <a:lnTo>
                      <a:pt x="6" y="0"/>
                    </a:lnTo>
                    <a:lnTo>
                      <a:pt x="7" y="1"/>
                    </a:lnTo>
                    <a:lnTo>
                      <a:pt x="9" y="5"/>
                    </a:lnTo>
                    <a:lnTo>
                      <a:pt x="9"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34" name="Freeform 439"/>
              <p:cNvSpPr>
                <a:spLocks/>
              </p:cNvSpPr>
              <p:nvPr userDrawn="1"/>
            </p:nvSpPr>
            <p:spPr bwMode="gray">
              <a:xfrm>
                <a:off x="2976" y="1826"/>
                <a:ext cx="11" cy="16"/>
              </a:xfrm>
              <a:custGeom>
                <a:avLst/>
                <a:gdLst>
                  <a:gd name="T0" fmla="*/ 11 w 11"/>
                  <a:gd name="T1" fmla="*/ 16 h 16"/>
                  <a:gd name="T2" fmla="*/ 7 w 11"/>
                  <a:gd name="T3" fmla="*/ 14 h 16"/>
                  <a:gd name="T4" fmla="*/ 4 w 11"/>
                  <a:gd name="T5" fmla="*/ 11 h 16"/>
                  <a:gd name="T6" fmla="*/ 0 w 11"/>
                  <a:gd name="T7" fmla="*/ 5 h 16"/>
                  <a:gd name="T8" fmla="*/ 0 w 11"/>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11" y="16"/>
                    </a:moveTo>
                    <a:lnTo>
                      <a:pt x="7" y="14"/>
                    </a:lnTo>
                    <a:lnTo>
                      <a:pt x="4" y="11"/>
                    </a:lnTo>
                    <a:lnTo>
                      <a:pt x="0"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35" name="Freeform 440"/>
              <p:cNvSpPr>
                <a:spLocks/>
              </p:cNvSpPr>
              <p:nvPr userDrawn="1"/>
            </p:nvSpPr>
            <p:spPr bwMode="gray">
              <a:xfrm>
                <a:off x="3081" y="1873"/>
                <a:ext cx="9" cy="7"/>
              </a:xfrm>
              <a:custGeom>
                <a:avLst/>
                <a:gdLst>
                  <a:gd name="T0" fmla="*/ 9 w 9"/>
                  <a:gd name="T1" fmla="*/ 7 h 7"/>
                  <a:gd name="T2" fmla="*/ 7 w 9"/>
                  <a:gd name="T3" fmla="*/ 7 h 7"/>
                  <a:gd name="T4" fmla="*/ 4 w 9"/>
                  <a:gd name="T5" fmla="*/ 7 h 7"/>
                  <a:gd name="T6" fmla="*/ 2 w 9"/>
                  <a:gd name="T7" fmla="*/ 7 h 7"/>
                  <a:gd name="T8" fmla="*/ 0 w 9"/>
                  <a:gd name="T9" fmla="*/ 4 h 7"/>
                  <a:gd name="T10" fmla="*/ 0 w 9"/>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7">
                    <a:moveTo>
                      <a:pt x="9" y="7"/>
                    </a:moveTo>
                    <a:lnTo>
                      <a:pt x="7" y="7"/>
                    </a:lnTo>
                    <a:lnTo>
                      <a:pt x="4" y="7"/>
                    </a:lnTo>
                    <a:lnTo>
                      <a:pt x="2" y="7"/>
                    </a:lnTo>
                    <a:lnTo>
                      <a:pt x="0"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36" name="Line 441"/>
              <p:cNvSpPr>
                <a:spLocks noChangeShapeType="1"/>
              </p:cNvSpPr>
              <p:nvPr userDrawn="1"/>
            </p:nvSpPr>
            <p:spPr bwMode="gray">
              <a:xfrm>
                <a:off x="2982" y="1842"/>
                <a:ext cx="204" cy="7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37" name="Line 442"/>
              <p:cNvSpPr>
                <a:spLocks noChangeShapeType="1"/>
              </p:cNvSpPr>
              <p:nvPr userDrawn="1"/>
            </p:nvSpPr>
            <p:spPr bwMode="gray">
              <a:xfrm>
                <a:off x="2987" y="1842"/>
                <a:ext cx="206"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38" name="Freeform 443"/>
              <p:cNvSpPr>
                <a:spLocks/>
              </p:cNvSpPr>
              <p:nvPr userDrawn="1"/>
            </p:nvSpPr>
            <p:spPr bwMode="gray">
              <a:xfrm>
                <a:off x="3185" y="1910"/>
                <a:ext cx="8" cy="9"/>
              </a:xfrm>
              <a:custGeom>
                <a:avLst/>
                <a:gdLst>
                  <a:gd name="T0" fmla="*/ 8 w 8"/>
                  <a:gd name="T1" fmla="*/ 7 h 9"/>
                  <a:gd name="T2" fmla="*/ 5 w 8"/>
                  <a:gd name="T3" fmla="*/ 9 h 9"/>
                  <a:gd name="T4" fmla="*/ 3 w 8"/>
                  <a:gd name="T5" fmla="*/ 9 h 9"/>
                  <a:gd name="T6" fmla="*/ 1 w 8"/>
                  <a:gd name="T7" fmla="*/ 7 h 9"/>
                  <a:gd name="T8" fmla="*/ 0 w 8"/>
                  <a:gd name="T9" fmla="*/ 3 h 9"/>
                  <a:gd name="T10" fmla="*/ 0 w 8"/>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9">
                    <a:moveTo>
                      <a:pt x="8" y="7"/>
                    </a:moveTo>
                    <a:lnTo>
                      <a:pt x="5" y="9"/>
                    </a:lnTo>
                    <a:lnTo>
                      <a:pt x="3" y="9"/>
                    </a:lnTo>
                    <a:lnTo>
                      <a:pt x="1" y="7"/>
                    </a:lnTo>
                    <a:lnTo>
                      <a:pt x="0" y="3"/>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39" name="Line 444"/>
              <p:cNvSpPr>
                <a:spLocks noChangeShapeType="1"/>
              </p:cNvSpPr>
              <p:nvPr userDrawn="1"/>
            </p:nvSpPr>
            <p:spPr bwMode="gray">
              <a:xfrm flipH="1" flipV="1">
                <a:off x="2978" y="1835"/>
                <a:ext cx="207"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40" name="Freeform 445"/>
              <p:cNvSpPr>
                <a:spLocks/>
              </p:cNvSpPr>
              <p:nvPr userDrawn="1"/>
            </p:nvSpPr>
            <p:spPr bwMode="gray">
              <a:xfrm>
                <a:off x="2978" y="1835"/>
                <a:ext cx="9" cy="9"/>
              </a:xfrm>
              <a:custGeom>
                <a:avLst/>
                <a:gdLst>
                  <a:gd name="T0" fmla="*/ 9 w 9"/>
                  <a:gd name="T1" fmla="*/ 7 h 9"/>
                  <a:gd name="T2" fmla="*/ 5 w 9"/>
                  <a:gd name="T3" fmla="*/ 9 h 9"/>
                  <a:gd name="T4" fmla="*/ 4 w 9"/>
                  <a:gd name="T5" fmla="*/ 9 h 9"/>
                  <a:gd name="T6" fmla="*/ 2 w 9"/>
                  <a:gd name="T7" fmla="*/ 7 h 9"/>
                  <a:gd name="T8" fmla="*/ 0 w 9"/>
                  <a:gd name="T9" fmla="*/ 3 h 9"/>
                  <a:gd name="T10" fmla="*/ 0 w 9"/>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9" y="7"/>
                    </a:moveTo>
                    <a:lnTo>
                      <a:pt x="5" y="9"/>
                    </a:lnTo>
                    <a:lnTo>
                      <a:pt x="4" y="9"/>
                    </a:lnTo>
                    <a:lnTo>
                      <a:pt x="2" y="7"/>
                    </a:lnTo>
                    <a:lnTo>
                      <a:pt x="0" y="3"/>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41" name="Freeform 446"/>
              <p:cNvSpPr>
                <a:spLocks/>
              </p:cNvSpPr>
              <p:nvPr userDrawn="1"/>
            </p:nvSpPr>
            <p:spPr bwMode="gray">
              <a:xfrm>
                <a:off x="3290" y="1849"/>
                <a:ext cx="12" cy="10"/>
              </a:xfrm>
              <a:custGeom>
                <a:avLst/>
                <a:gdLst>
                  <a:gd name="T0" fmla="*/ 0 w 12"/>
                  <a:gd name="T1" fmla="*/ 8 h 10"/>
                  <a:gd name="T2" fmla="*/ 3 w 12"/>
                  <a:gd name="T3" fmla="*/ 10 h 10"/>
                  <a:gd name="T4" fmla="*/ 7 w 12"/>
                  <a:gd name="T5" fmla="*/ 8 h 10"/>
                  <a:gd name="T6" fmla="*/ 8 w 12"/>
                  <a:gd name="T7" fmla="*/ 8 h 10"/>
                  <a:gd name="T8" fmla="*/ 10 w 12"/>
                  <a:gd name="T9" fmla="*/ 5 h 10"/>
                  <a:gd name="T10" fmla="*/ 12 w 12"/>
                  <a:gd name="T11" fmla="*/ 3 h 10"/>
                  <a:gd name="T12" fmla="*/ 12 w 12"/>
                  <a:gd name="T13" fmla="*/ 0 h 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 h="10">
                    <a:moveTo>
                      <a:pt x="0" y="8"/>
                    </a:moveTo>
                    <a:lnTo>
                      <a:pt x="3" y="10"/>
                    </a:lnTo>
                    <a:lnTo>
                      <a:pt x="7" y="8"/>
                    </a:lnTo>
                    <a:lnTo>
                      <a:pt x="8" y="8"/>
                    </a:lnTo>
                    <a:lnTo>
                      <a:pt x="10" y="5"/>
                    </a:lnTo>
                    <a:lnTo>
                      <a:pt x="12" y="3"/>
                    </a:lnTo>
                    <a:lnTo>
                      <a:pt x="1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42" name="Line 447"/>
              <p:cNvSpPr>
                <a:spLocks noChangeShapeType="1"/>
              </p:cNvSpPr>
              <p:nvPr userDrawn="1"/>
            </p:nvSpPr>
            <p:spPr bwMode="gray">
              <a:xfrm flipV="1">
                <a:off x="3202" y="1819"/>
                <a:ext cx="156" cy="9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43" name="Line 448"/>
              <p:cNvSpPr>
                <a:spLocks noChangeShapeType="1"/>
              </p:cNvSpPr>
              <p:nvPr userDrawn="1"/>
            </p:nvSpPr>
            <p:spPr bwMode="gray">
              <a:xfrm flipV="1">
                <a:off x="3193" y="1823"/>
                <a:ext cx="152" cy="9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44" name="Freeform 449"/>
              <p:cNvSpPr>
                <a:spLocks/>
              </p:cNvSpPr>
              <p:nvPr userDrawn="1"/>
            </p:nvSpPr>
            <p:spPr bwMode="gray">
              <a:xfrm>
                <a:off x="3345" y="1810"/>
                <a:ext cx="21" cy="13"/>
              </a:xfrm>
              <a:custGeom>
                <a:avLst/>
                <a:gdLst>
                  <a:gd name="T0" fmla="*/ 0 w 21"/>
                  <a:gd name="T1" fmla="*/ 13 h 13"/>
                  <a:gd name="T2" fmla="*/ 7 w 21"/>
                  <a:gd name="T3" fmla="*/ 13 h 13"/>
                  <a:gd name="T4" fmla="*/ 13 w 21"/>
                  <a:gd name="T5" fmla="*/ 9 h 13"/>
                  <a:gd name="T6" fmla="*/ 18 w 21"/>
                  <a:gd name="T7" fmla="*/ 6 h 13"/>
                  <a:gd name="T8" fmla="*/ 21 w 21"/>
                  <a:gd name="T9" fmla="*/ 0 h 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3">
                    <a:moveTo>
                      <a:pt x="0" y="13"/>
                    </a:moveTo>
                    <a:lnTo>
                      <a:pt x="7" y="13"/>
                    </a:lnTo>
                    <a:lnTo>
                      <a:pt x="13" y="9"/>
                    </a:lnTo>
                    <a:lnTo>
                      <a:pt x="18" y="6"/>
                    </a:lnTo>
                    <a:lnTo>
                      <a:pt x="2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45" name="Line 450"/>
              <p:cNvSpPr>
                <a:spLocks noChangeShapeType="1"/>
              </p:cNvSpPr>
              <p:nvPr userDrawn="1"/>
            </p:nvSpPr>
            <p:spPr bwMode="gray">
              <a:xfrm flipH="1">
                <a:off x="3206" y="1810"/>
                <a:ext cx="160" cy="10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46" name="Freeform 451"/>
              <p:cNvSpPr>
                <a:spLocks/>
              </p:cNvSpPr>
              <p:nvPr userDrawn="1"/>
            </p:nvSpPr>
            <p:spPr bwMode="gray">
              <a:xfrm>
                <a:off x="3193" y="1910"/>
                <a:ext cx="13" cy="9"/>
              </a:xfrm>
              <a:custGeom>
                <a:avLst/>
                <a:gdLst>
                  <a:gd name="T0" fmla="*/ 13 w 13"/>
                  <a:gd name="T1" fmla="*/ 0 h 9"/>
                  <a:gd name="T2" fmla="*/ 11 w 13"/>
                  <a:gd name="T3" fmla="*/ 3 h 9"/>
                  <a:gd name="T4" fmla="*/ 9 w 13"/>
                  <a:gd name="T5" fmla="*/ 7 h 9"/>
                  <a:gd name="T6" fmla="*/ 6 w 13"/>
                  <a:gd name="T7" fmla="*/ 9 h 9"/>
                  <a:gd name="T8" fmla="*/ 0 w 13"/>
                  <a:gd name="T9" fmla="*/ 7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9">
                    <a:moveTo>
                      <a:pt x="13" y="0"/>
                    </a:moveTo>
                    <a:lnTo>
                      <a:pt x="11" y="3"/>
                    </a:lnTo>
                    <a:lnTo>
                      <a:pt x="9" y="7"/>
                    </a:lnTo>
                    <a:lnTo>
                      <a:pt x="6" y="9"/>
                    </a:lnTo>
                    <a:lnTo>
                      <a:pt x="0"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47" name="Freeform 452"/>
              <p:cNvSpPr>
                <a:spLocks/>
              </p:cNvSpPr>
              <p:nvPr userDrawn="1"/>
            </p:nvSpPr>
            <p:spPr bwMode="gray">
              <a:xfrm>
                <a:off x="3519" y="1711"/>
                <a:ext cx="8" cy="17"/>
              </a:xfrm>
              <a:custGeom>
                <a:avLst/>
                <a:gdLst>
                  <a:gd name="T0" fmla="*/ 8 w 8"/>
                  <a:gd name="T1" fmla="*/ 0 h 17"/>
                  <a:gd name="T2" fmla="*/ 5 w 8"/>
                  <a:gd name="T3" fmla="*/ 3 h 17"/>
                  <a:gd name="T4" fmla="*/ 1 w 8"/>
                  <a:gd name="T5" fmla="*/ 8 h 17"/>
                  <a:gd name="T6" fmla="*/ 0 w 8"/>
                  <a:gd name="T7" fmla="*/ 14 h 17"/>
                  <a:gd name="T8" fmla="*/ 0 w 8"/>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8" y="0"/>
                    </a:moveTo>
                    <a:lnTo>
                      <a:pt x="5" y="3"/>
                    </a:lnTo>
                    <a:lnTo>
                      <a:pt x="1" y="8"/>
                    </a:lnTo>
                    <a:lnTo>
                      <a:pt x="0" y="14"/>
                    </a:lnTo>
                    <a:lnTo>
                      <a:pt x="0" y="1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48" name="Freeform 453"/>
              <p:cNvSpPr>
                <a:spLocks/>
              </p:cNvSpPr>
              <p:nvPr userDrawn="1"/>
            </p:nvSpPr>
            <p:spPr bwMode="gray">
              <a:xfrm>
                <a:off x="3580" y="1670"/>
                <a:ext cx="12" cy="9"/>
              </a:xfrm>
              <a:custGeom>
                <a:avLst/>
                <a:gdLst>
                  <a:gd name="T0" fmla="*/ 0 w 12"/>
                  <a:gd name="T1" fmla="*/ 9 h 9"/>
                  <a:gd name="T2" fmla="*/ 3 w 12"/>
                  <a:gd name="T3" fmla="*/ 9 h 9"/>
                  <a:gd name="T4" fmla="*/ 9 w 12"/>
                  <a:gd name="T5" fmla="*/ 7 h 9"/>
                  <a:gd name="T6" fmla="*/ 10 w 12"/>
                  <a:gd name="T7" fmla="*/ 4 h 9"/>
                  <a:gd name="T8" fmla="*/ 12 w 12"/>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9">
                    <a:moveTo>
                      <a:pt x="0" y="9"/>
                    </a:moveTo>
                    <a:lnTo>
                      <a:pt x="3" y="9"/>
                    </a:lnTo>
                    <a:lnTo>
                      <a:pt x="9" y="7"/>
                    </a:lnTo>
                    <a:lnTo>
                      <a:pt x="10" y="4"/>
                    </a:lnTo>
                    <a:lnTo>
                      <a:pt x="1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49" name="Line 454"/>
              <p:cNvSpPr>
                <a:spLocks noChangeShapeType="1"/>
              </p:cNvSpPr>
              <p:nvPr userDrawn="1"/>
            </p:nvSpPr>
            <p:spPr bwMode="gray">
              <a:xfrm flipV="1">
                <a:off x="3531" y="1621"/>
                <a:ext cx="147" cy="9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50" name="Line 455"/>
              <p:cNvSpPr>
                <a:spLocks noChangeShapeType="1"/>
              </p:cNvSpPr>
              <p:nvPr userDrawn="1"/>
            </p:nvSpPr>
            <p:spPr bwMode="gray">
              <a:xfrm flipV="1">
                <a:off x="3527" y="1623"/>
                <a:ext cx="142" cy="8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51" name="Freeform 456"/>
              <p:cNvSpPr>
                <a:spLocks/>
              </p:cNvSpPr>
              <p:nvPr userDrawn="1"/>
            </p:nvSpPr>
            <p:spPr bwMode="gray">
              <a:xfrm>
                <a:off x="3669" y="1614"/>
                <a:ext cx="12" cy="9"/>
              </a:xfrm>
              <a:custGeom>
                <a:avLst/>
                <a:gdLst>
                  <a:gd name="T0" fmla="*/ 0 w 12"/>
                  <a:gd name="T1" fmla="*/ 9 h 9"/>
                  <a:gd name="T2" fmla="*/ 5 w 12"/>
                  <a:gd name="T3" fmla="*/ 9 h 9"/>
                  <a:gd name="T4" fmla="*/ 9 w 12"/>
                  <a:gd name="T5" fmla="*/ 7 h 9"/>
                  <a:gd name="T6" fmla="*/ 11 w 12"/>
                  <a:gd name="T7" fmla="*/ 6 h 9"/>
                  <a:gd name="T8" fmla="*/ 12 w 12"/>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9">
                    <a:moveTo>
                      <a:pt x="0" y="9"/>
                    </a:moveTo>
                    <a:lnTo>
                      <a:pt x="5" y="9"/>
                    </a:lnTo>
                    <a:lnTo>
                      <a:pt x="9" y="7"/>
                    </a:lnTo>
                    <a:lnTo>
                      <a:pt x="11" y="6"/>
                    </a:lnTo>
                    <a:lnTo>
                      <a:pt x="1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52" name="Line 457"/>
              <p:cNvSpPr>
                <a:spLocks noChangeShapeType="1"/>
              </p:cNvSpPr>
              <p:nvPr userDrawn="1"/>
            </p:nvSpPr>
            <p:spPr bwMode="gray">
              <a:xfrm flipH="1">
                <a:off x="3531" y="1614"/>
                <a:ext cx="150" cy="9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53" name="Freeform 458"/>
              <p:cNvSpPr>
                <a:spLocks/>
              </p:cNvSpPr>
              <p:nvPr userDrawn="1"/>
            </p:nvSpPr>
            <p:spPr bwMode="gray">
              <a:xfrm>
                <a:off x="3527" y="1707"/>
                <a:ext cx="4" cy="7"/>
              </a:xfrm>
              <a:custGeom>
                <a:avLst/>
                <a:gdLst>
                  <a:gd name="T0" fmla="*/ 0 w 4"/>
                  <a:gd name="T1" fmla="*/ 4 h 7"/>
                  <a:gd name="T2" fmla="*/ 0 w 4"/>
                  <a:gd name="T3" fmla="*/ 5 h 7"/>
                  <a:gd name="T4" fmla="*/ 2 w 4"/>
                  <a:gd name="T5" fmla="*/ 7 h 7"/>
                  <a:gd name="T6" fmla="*/ 4 w 4"/>
                  <a:gd name="T7" fmla="*/ 5 h 7"/>
                  <a:gd name="T8" fmla="*/ 4 w 4"/>
                  <a:gd name="T9" fmla="*/ 4 h 7"/>
                  <a:gd name="T10" fmla="*/ 4 w 4"/>
                  <a:gd name="T11" fmla="*/ 2 h 7"/>
                  <a:gd name="T12" fmla="*/ 4 w 4"/>
                  <a:gd name="T13" fmla="*/ 0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7">
                    <a:moveTo>
                      <a:pt x="0" y="4"/>
                    </a:moveTo>
                    <a:lnTo>
                      <a:pt x="0" y="5"/>
                    </a:lnTo>
                    <a:lnTo>
                      <a:pt x="2" y="7"/>
                    </a:lnTo>
                    <a:lnTo>
                      <a:pt x="4" y="5"/>
                    </a:lnTo>
                    <a:lnTo>
                      <a:pt x="4" y="4"/>
                    </a:lnTo>
                    <a:lnTo>
                      <a:pt x="4" y="2"/>
                    </a:lnTo>
                    <a:lnTo>
                      <a:pt x="4"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54" name="Freeform 459"/>
              <p:cNvSpPr>
                <a:spLocks/>
              </p:cNvSpPr>
              <p:nvPr userDrawn="1"/>
            </p:nvSpPr>
            <p:spPr bwMode="gray">
              <a:xfrm>
                <a:off x="3669" y="1606"/>
                <a:ext cx="9" cy="17"/>
              </a:xfrm>
              <a:custGeom>
                <a:avLst/>
                <a:gdLst>
                  <a:gd name="T0" fmla="*/ 9 w 9"/>
                  <a:gd name="T1" fmla="*/ 0 h 17"/>
                  <a:gd name="T2" fmla="*/ 9 w 9"/>
                  <a:gd name="T3" fmla="*/ 5 h 17"/>
                  <a:gd name="T4" fmla="*/ 7 w 9"/>
                  <a:gd name="T5" fmla="*/ 8 h 17"/>
                  <a:gd name="T6" fmla="*/ 4 w 9"/>
                  <a:gd name="T7" fmla="*/ 14 h 17"/>
                  <a:gd name="T8" fmla="*/ 0 w 9"/>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9" y="0"/>
                    </a:moveTo>
                    <a:lnTo>
                      <a:pt x="9" y="5"/>
                    </a:lnTo>
                    <a:lnTo>
                      <a:pt x="7" y="8"/>
                    </a:lnTo>
                    <a:lnTo>
                      <a:pt x="4" y="14"/>
                    </a:lnTo>
                    <a:lnTo>
                      <a:pt x="0" y="1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55" name="Freeform 460"/>
              <p:cNvSpPr>
                <a:spLocks/>
              </p:cNvSpPr>
              <p:nvPr userDrawn="1"/>
            </p:nvSpPr>
            <p:spPr bwMode="gray">
              <a:xfrm>
                <a:off x="3248" y="1515"/>
                <a:ext cx="8" cy="17"/>
              </a:xfrm>
              <a:custGeom>
                <a:avLst/>
                <a:gdLst>
                  <a:gd name="T0" fmla="*/ 0 w 8"/>
                  <a:gd name="T1" fmla="*/ 17 h 17"/>
                  <a:gd name="T2" fmla="*/ 3 w 8"/>
                  <a:gd name="T3" fmla="*/ 15 h 17"/>
                  <a:gd name="T4" fmla="*/ 7 w 8"/>
                  <a:gd name="T5" fmla="*/ 10 h 17"/>
                  <a:gd name="T6" fmla="*/ 8 w 8"/>
                  <a:gd name="T7" fmla="*/ 5 h 17"/>
                  <a:gd name="T8" fmla="*/ 8 w 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7"/>
                    </a:moveTo>
                    <a:lnTo>
                      <a:pt x="3" y="15"/>
                    </a:lnTo>
                    <a:lnTo>
                      <a:pt x="7" y="10"/>
                    </a:lnTo>
                    <a:lnTo>
                      <a:pt x="8" y="5"/>
                    </a:lnTo>
                    <a:lnTo>
                      <a:pt x="8"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56" name="Line 461"/>
              <p:cNvSpPr>
                <a:spLocks noChangeShapeType="1"/>
              </p:cNvSpPr>
              <p:nvPr userDrawn="1"/>
            </p:nvSpPr>
            <p:spPr bwMode="gray">
              <a:xfrm flipH="1" flipV="1">
                <a:off x="3151" y="1490"/>
                <a:ext cx="207" cy="7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57" name="Line 462"/>
              <p:cNvSpPr>
                <a:spLocks noChangeShapeType="1"/>
              </p:cNvSpPr>
              <p:nvPr userDrawn="1"/>
            </p:nvSpPr>
            <p:spPr bwMode="gray">
              <a:xfrm flipH="1" flipV="1">
                <a:off x="3144" y="1497"/>
                <a:ext cx="208" cy="7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58" name="Freeform 463"/>
              <p:cNvSpPr>
                <a:spLocks/>
              </p:cNvSpPr>
              <p:nvPr userDrawn="1"/>
            </p:nvSpPr>
            <p:spPr bwMode="gray">
              <a:xfrm>
                <a:off x="3144" y="1480"/>
                <a:ext cx="9" cy="17"/>
              </a:xfrm>
              <a:custGeom>
                <a:avLst/>
                <a:gdLst>
                  <a:gd name="T0" fmla="*/ 0 w 9"/>
                  <a:gd name="T1" fmla="*/ 17 h 17"/>
                  <a:gd name="T2" fmla="*/ 4 w 9"/>
                  <a:gd name="T3" fmla="*/ 15 h 17"/>
                  <a:gd name="T4" fmla="*/ 7 w 9"/>
                  <a:gd name="T5" fmla="*/ 10 h 17"/>
                  <a:gd name="T6" fmla="*/ 9 w 9"/>
                  <a:gd name="T7" fmla="*/ 5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4" y="15"/>
                    </a:lnTo>
                    <a:lnTo>
                      <a:pt x="7" y="10"/>
                    </a:lnTo>
                    <a:lnTo>
                      <a:pt x="9" y="5"/>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59" name="Line 464"/>
              <p:cNvSpPr>
                <a:spLocks noChangeShapeType="1"/>
              </p:cNvSpPr>
              <p:nvPr userDrawn="1"/>
            </p:nvSpPr>
            <p:spPr bwMode="gray">
              <a:xfrm>
                <a:off x="3153" y="1480"/>
                <a:ext cx="208" cy="7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60" name="Freeform 465"/>
              <p:cNvSpPr>
                <a:spLocks/>
              </p:cNvSpPr>
              <p:nvPr userDrawn="1"/>
            </p:nvSpPr>
            <p:spPr bwMode="gray">
              <a:xfrm>
                <a:off x="3352" y="1551"/>
                <a:ext cx="9" cy="18"/>
              </a:xfrm>
              <a:custGeom>
                <a:avLst/>
                <a:gdLst>
                  <a:gd name="T0" fmla="*/ 0 w 9"/>
                  <a:gd name="T1" fmla="*/ 18 h 18"/>
                  <a:gd name="T2" fmla="*/ 4 w 9"/>
                  <a:gd name="T3" fmla="*/ 14 h 18"/>
                  <a:gd name="T4" fmla="*/ 6 w 9"/>
                  <a:gd name="T5" fmla="*/ 9 h 18"/>
                  <a:gd name="T6" fmla="*/ 7 w 9"/>
                  <a:gd name="T7" fmla="*/ 4 h 18"/>
                  <a:gd name="T8" fmla="*/ 9 w 9"/>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0" y="18"/>
                    </a:moveTo>
                    <a:lnTo>
                      <a:pt x="4" y="14"/>
                    </a:lnTo>
                    <a:lnTo>
                      <a:pt x="6" y="9"/>
                    </a:lnTo>
                    <a:lnTo>
                      <a:pt x="7" y="4"/>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61" name="Freeform 466"/>
              <p:cNvSpPr>
                <a:spLocks/>
              </p:cNvSpPr>
              <p:nvPr userDrawn="1"/>
            </p:nvSpPr>
            <p:spPr bwMode="gray">
              <a:xfrm>
                <a:off x="3076" y="1530"/>
                <a:ext cx="12" cy="9"/>
              </a:xfrm>
              <a:custGeom>
                <a:avLst/>
                <a:gdLst>
                  <a:gd name="T0" fmla="*/ 12 w 12"/>
                  <a:gd name="T1" fmla="*/ 0 h 9"/>
                  <a:gd name="T2" fmla="*/ 9 w 12"/>
                  <a:gd name="T3" fmla="*/ 0 h 9"/>
                  <a:gd name="T4" fmla="*/ 7 w 12"/>
                  <a:gd name="T5" fmla="*/ 0 h 9"/>
                  <a:gd name="T6" fmla="*/ 4 w 12"/>
                  <a:gd name="T7" fmla="*/ 2 h 9"/>
                  <a:gd name="T8" fmla="*/ 2 w 12"/>
                  <a:gd name="T9" fmla="*/ 6 h 9"/>
                  <a:gd name="T10" fmla="*/ 0 w 12"/>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9">
                    <a:moveTo>
                      <a:pt x="12" y="0"/>
                    </a:moveTo>
                    <a:lnTo>
                      <a:pt x="9" y="0"/>
                    </a:lnTo>
                    <a:lnTo>
                      <a:pt x="7" y="0"/>
                    </a:lnTo>
                    <a:lnTo>
                      <a:pt x="4" y="2"/>
                    </a:lnTo>
                    <a:lnTo>
                      <a:pt x="2" y="6"/>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62" name="Line 467"/>
              <p:cNvSpPr>
                <a:spLocks noChangeShapeType="1"/>
              </p:cNvSpPr>
              <p:nvPr userDrawn="1"/>
            </p:nvSpPr>
            <p:spPr bwMode="gray">
              <a:xfrm flipH="1">
                <a:off x="2982" y="1497"/>
                <a:ext cx="159" cy="9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63" name="Line 468"/>
              <p:cNvSpPr>
                <a:spLocks noChangeShapeType="1"/>
              </p:cNvSpPr>
              <p:nvPr userDrawn="1"/>
            </p:nvSpPr>
            <p:spPr bwMode="gray">
              <a:xfrm flipH="1">
                <a:off x="2989" y="1497"/>
                <a:ext cx="155" cy="9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grpSp>
        <p:grpSp>
          <p:nvGrpSpPr>
            <p:cNvPr id="208" name="Group 469"/>
            <p:cNvGrpSpPr>
              <a:grpSpLocks/>
            </p:cNvGrpSpPr>
            <p:nvPr userDrawn="1"/>
          </p:nvGrpSpPr>
          <p:grpSpPr bwMode="auto">
            <a:xfrm>
              <a:off x="2282" y="873"/>
              <a:ext cx="1410" cy="1369"/>
              <a:chOff x="2282" y="873"/>
              <a:chExt cx="1410" cy="1369"/>
            </a:xfrm>
          </p:grpSpPr>
          <p:sp>
            <p:nvSpPr>
              <p:cNvPr id="464" name="Freeform 470"/>
              <p:cNvSpPr>
                <a:spLocks/>
              </p:cNvSpPr>
              <p:nvPr userDrawn="1"/>
            </p:nvSpPr>
            <p:spPr bwMode="gray">
              <a:xfrm>
                <a:off x="2978" y="1586"/>
                <a:ext cx="11" cy="11"/>
              </a:xfrm>
              <a:custGeom>
                <a:avLst/>
                <a:gdLst>
                  <a:gd name="T0" fmla="*/ 11 w 11"/>
                  <a:gd name="T1" fmla="*/ 2 h 11"/>
                  <a:gd name="T2" fmla="*/ 7 w 11"/>
                  <a:gd name="T3" fmla="*/ 0 h 11"/>
                  <a:gd name="T4" fmla="*/ 4 w 11"/>
                  <a:gd name="T5" fmla="*/ 2 h 11"/>
                  <a:gd name="T6" fmla="*/ 0 w 11"/>
                  <a:gd name="T7" fmla="*/ 6 h 11"/>
                  <a:gd name="T8" fmla="*/ 0 w 11"/>
                  <a:gd name="T9" fmla="*/ 11 h 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1">
                    <a:moveTo>
                      <a:pt x="11" y="2"/>
                    </a:moveTo>
                    <a:lnTo>
                      <a:pt x="7" y="0"/>
                    </a:lnTo>
                    <a:lnTo>
                      <a:pt x="4" y="2"/>
                    </a:lnTo>
                    <a:lnTo>
                      <a:pt x="0" y="6"/>
                    </a:lnTo>
                    <a:lnTo>
                      <a:pt x="0" y="1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65" name="Line 471"/>
              <p:cNvSpPr>
                <a:spLocks noChangeShapeType="1"/>
              </p:cNvSpPr>
              <p:nvPr userDrawn="1"/>
            </p:nvSpPr>
            <p:spPr bwMode="gray">
              <a:xfrm flipV="1">
                <a:off x="2978" y="1502"/>
                <a:ext cx="165" cy="9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66" name="Freeform 472"/>
              <p:cNvSpPr>
                <a:spLocks/>
              </p:cNvSpPr>
              <p:nvPr userDrawn="1"/>
            </p:nvSpPr>
            <p:spPr bwMode="gray">
              <a:xfrm>
                <a:off x="3141" y="1495"/>
                <a:ext cx="3" cy="7"/>
              </a:xfrm>
              <a:custGeom>
                <a:avLst/>
                <a:gdLst>
                  <a:gd name="T0" fmla="*/ 3 w 3"/>
                  <a:gd name="T1" fmla="*/ 2 h 7"/>
                  <a:gd name="T2" fmla="*/ 3 w 3"/>
                  <a:gd name="T3" fmla="*/ 2 h 7"/>
                  <a:gd name="T4" fmla="*/ 2 w 3"/>
                  <a:gd name="T5" fmla="*/ 0 h 7"/>
                  <a:gd name="T6" fmla="*/ 2 w 3"/>
                  <a:gd name="T7" fmla="*/ 0 h 7"/>
                  <a:gd name="T8" fmla="*/ 0 w 3"/>
                  <a:gd name="T9" fmla="*/ 2 h 7"/>
                  <a:gd name="T10" fmla="*/ 0 w 3"/>
                  <a:gd name="T11" fmla="*/ 4 h 7"/>
                  <a:gd name="T12" fmla="*/ 2 w 3"/>
                  <a:gd name="T13" fmla="*/ 7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 h="7">
                    <a:moveTo>
                      <a:pt x="3" y="2"/>
                    </a:moveTo>
                    <a:lnTo>
                      <a:pt x="3" y="2"/>
                    </a:lnTo>
                    <a:lnTo>
                      <a:pt x="2" y="0"/>
                    </a:lnTo>
                    <a:lnTo>
                      <a:pt x="0" y="2"/>
                    </a:lnTo>
                    <a:lnTo>
                      <a:pt x="0" y="4"/>
                    </a:lnTo>
                    <a:lnTo>
                      <a:pt x="2"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67" name="Freeform 473"/>
              <p:cNvSpPr>
                <a:spLocks/>
              </p:cNvSpPr>
              <p:nvPr userDrawn="1"/>
            </p:nvSpPr>
            <p:spPr bwMode="gray">
              <a:xfrm>
                <a:off x="3188" y="1660"/>
                <a:ext cx="9" cy="19"/>
              </a:xfrm>
              <a:custGeom>
                <a:avLst/>
                <a:gdLst>
                  <a:gd name="T0" fmla="*/ 9 w 9"/>
                  <a:gd name="T1" fmla="*/ 0 h 19"/>
                  <a:gd name="T2" fmla="*/ 5 w 9"/>
                  <a:gd name="T3" fmla="*/ 3 h 19"/>
                  <a:gd name="T4" fmla="*/ 4 w 9"/>
                  <a:gd name="T5" fmla="*/ 9 h 19"/>
                  <a:gd name="T6" fmla="*/ 2 w 9"/>
                  <a:gd name="T7" fmla="*/ 14 h 19"/>
                  <a:gd name="T8" fmla="*/ 0 w 9"/>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9">
                    <a:moveTo>
                      <a:pt x="9" y="0"/>
                    </a:moveTo>
                    <a:lnTo>
                      <a:pt x="5" y="3"/>
                    </a:lnTo>
                    <a:lnTo>
                      <a:pt x="4" y="9"/>
                    </a:lnTo>
                    <a:lnTo>
                      <a:pt x="2" y="14"/>
                    </a:lnTo>
                    <a:lnTo>
                      <a:pt x="0" y="1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68" name="Freeform 474"/>
              <p:cNvSpPr>
                <a:spLocks/>
              </p:cNvSpPr>
              <p:nvPr userDrawn="1"/>
            </p:nvSpPr>
            <p:spPr bwMode="gray">
              <a:xfrm>
                <a:off x="2980" y="1588"/>
                <a:ext cx="9" cy="18"/>
              </a:xfrm>
              <a:custGeom>
                <a:avLst/>
                <a:gdLst>
                  <a:gd name="T0" fmla="*/ 9 w 9"/>
                  <a:gd name="T1" fmla="*/ 0 h 18"/>
                  <a:gd name="T2" fmla="*/ 5 w 9"/>
                  <a:gd name="T3" fmla="*/ 2 h 18"/>
                  <a:gd name="T4" fmla="*/ 3 w 9"/>
                  <a:gd name="T5" fmla="*/ 7 h 18"/>
                  <a:gd name="T6" fmla="*/ 2 w 9"/>
                  <a:gd name="T7" fmla="*/ 12 h 18"/>
                  <a:gd name="T8" fmla="*/ 0 w 9"/>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9" y="0"/>
                    </a:moveTo>
                    <a:lnTo>
                      <a:pt x="5" y="2"/>
                    </a:lnTo>
                    <a:lnTo>
                      <a:pt x="3" y="7"/>
                    </a:lnTo>
                    <a:lnTo>
                      <a:pt x="2" y="12"/>
                    </a:lnTo>
                    <a:lnTo>
                      <a:pt x="0" y="1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69" name="Freeform 475"/>
              <p:cNvSpPr>
                <a:spLocks/>
              </p:cNvSpPr>
              <p:nvPr userDrawn="1"/>
            </p:nvSpPr>
            <p:spPr bwMode="gray">
              <a:xfrm>
                <a:off x="3295" y="1602"/>
                <a:ext cx="12" cy="18"/>
              </a:xfrm>
              <a:custGeom>
                <a:avLst/>
                <a:gdLst>
                  <a:gd name="T0" fmla="*/ 0 w 12"/>
                  <a:gd name="T1" fmla="*/ 0 h 18"/>
                  <a:gd name="T2" fmla="*/ 5 w 12"/>
                  <a:gd name="T3" fmla="*/ 4 h 18"/>
                  <a:gd name="T4" fmla="*/ 8 w 12"/>
                  <a:gd name="T5" fmla="*/ 7 h 18"/>
                  <a:gd name="T6" fmla="*/ 10 w 12"/>
                  <a:gd name="T7" fmla="*/ 12 h 18"/>
                  <a:gd name="T8" fmla="*/ 12 w 12"/>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8">
                    <a:moveTo>
                      <a:pt x="0" y="0"/>
                    </a:moveTo>
                    <a:lnTo>
                      <a:pt x="5" y="4"/>
                    </a:lnTo>
                    <a:lnTo>
                      <a:pt x="8" y="7"/>
                    </a:lnTo>
                    <a:lnTo>
                      <a:pt x="10" y="12"/>
                    </a:lnTo>
                    <a:lnTo>
                      <a:pt x="12" y="1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70" name="Line 476"/>
              <p:cNvSpPr>
                <a:spLocks noChangeShapeType="1"/>
              </p:cNvSpPr>
              <p:nvPr userDrawn="1"/>
            </p:nvSpPr>
            <p:spPr bwMode="gray">
              <a:xfrm flipV="1">
                <a:off x="3206" y="1572"/>
                <a:ext cx="159" cy="9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71" name="Line 477"/>
              <p:cNvSpPr>
                <a:spLocks noChangeShapeType="1"/>
              </p:cNvSpPr>
              <p:nvPr userDrawn="1"/>
            </p:nvSpPr>
            <p:spPr bwMode="gray">
              <a:xfrm flipV="1">
                <a:off x="3197" y="1569"/>
                <a:ext cx="155" cy="9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72" name="Freeform 478"/>
              <p:cNvSpPr>
                <a:spLocks/>
              </p:cNvSpPr>
              <p:nvPr userDrawn="1"/>
            </p:nvSpPr>
            <p:spPr bwMode="gray">
              <a:xfrm>
                <a:off x="3352" y="1569"/>
                <a:ext cx="20" cy="12"/>
              </a:xfrm>
              <a:custGeom>
                <a:avLst/>
                <a:gdLst>
                  <a:gd name="T0" fmla="*/ 0 w 20"/>
                  <a:gd name="T1" fmla="*/ 0 h 12"/>
                  <a:gd name="T2" fmla="*/ 6 w 20"/>
                  <a:gd name="T3" fmla="*/ 0 h 12"/>
                  <a:gd name="T4" fmla="*/ 11 w 20"/>
                  <a:gd name="T5" fmla="*/ 2 h 12"/>
                  <a:gd name="T6" fmla="*/ 16 w 20"/>
                  <a:gd name="T7" fmla="*/ 7 h 12"/>
                  <a:gd name="T8" fmla="*/ 20 w 20"/>
                  <a:gd name="T9" fmla="*/ 12 h 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2">
                    <a:moveTo>
                      <a:pt x="0" y="0"/>
                    </a:moveTo>
                    <a:lnTo>
                      <a:pt x="6" y="0"/>
                    </a:lnTo>
                    <a:lnTo>
                      <a:pt x="11" y="2"/>
                    </a:lnTo>
                    <a:lnTo>
                      <a:pt x="16" y="7"/>
                    </a:lnTo>
                    <a:lnTo>
                      <a:pt x="20" y="1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73" name="Line 479"/>
              <p:cNvSpPr>
                <a:spLocks noChangeShapeType="1"/>
              </p:cNvSpPr>
              <p:nvPr userDrawn="1"/>
            </p:nvSpPr>
            <p:spPr bwMode="gray">
              <a:xfrm flipH="1">
                <a:off x="3209" y="1581"/>
                <a:ext cx="163" cy="9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74" name="Freeform 480"/>
              <p:cNvSpPr>
                <a:spLocks/>
              </p:cNvSpPr>
              <p:nvPr userDrawn="1"/>
            </p:nvSpPr>
            <p:spPr bwMode="gray">
              <a:xfrm>
                <a:off x="3197" y="1660"/>
                <a:ext cx="12" cy="17"/>
              </a:xfrm>
              <a:custGeom>
                <a:avLst/>
                <a:gdLst>
                  <a:gd name="T0" fmla="*/ 12 w 12"/>
                  <a:gd name="T1" fmla="*/ 17 h 17"/>
                  <a:gd name="T2" fmla="*/ 10 w 12"/>
                  <a:gd name="T3" fmla="*/ 12 h 17"/>
                  <a:gd name="T4" fmla="*/ 9 w 12"/>
                  <a:gd name="T5" fmla="*/ 7 h 17"/>
                  <a:gd name="T6" fmla="*/ 5 w 12"/>
                  <a:gd name="T7" fmla="*/ 3 h 17"/>
                  <a:gd name="T8" fmla="*/ 0 w 12"/>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7">
                    <a:moveTo>
                      <a:pt x="12" y="17"/>
                    </a:moveTo>
                    <a:lnTo>
                      <a:pt x="10" y="12"/>
                    </a:lnTo>
                    <a:lnTo>
                      <a:pt x="9" y="7"/>
                    </a:lnTo>
                    <a:lnTo>
                      <a:pt x="5" y="3"/>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75" name="Freeform 481"/>
              <p:cNvSpPr>
                <a:spLocks/>
              </p:cNvSpPr>
              <p:nvPr userDrawn="1"/>
            </p:nvSpPr>
            <p:spPr bwMode="gray">
              <a:xfrm>
                <a:off x="3527" y="1452"/>
                <a:ext cx="7" cy="10"/>
              </a:xfrm>
              <a:custGeom>
                <a:avLst/>
                <a:gdLst>
                  <a:gd name="T0" fmla="*/ 7 w 7"/>
                  <a:gd name="T1" fmla="*/ 8 h 10"/>
                  <a:gd name="T2" fmla="*/ 4 w 7"/>
                  <a:gd name="T3" fmla="*/ 10 h 10"/>
                  <a:gd name="T4" fmla="*/ 2 w 7"/>
                  <a:gd name="T5" fmla="*/ 8 h 10"/>
                  <a:gd name="T6" fmla="*/ 0 w 7"/>
                  <a:gd name="T7" fmla="*/ 7 h 10"/>
                  <a:gd name="T8" fmla="*/ 0 w 7"/>
                  <a:gd name="T9" fmla="*/ 3 h 10"/>
                  <a:gd name="T10" fmla="*/ 0 w 7"/>
                  <a:gd name="T11" fmla="*/ 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0">
                    <a:moveTo>
                      <a:pt x="7" y="8"/>
                    </a:moveTo>
                    <a:lnTo>
                      <a:pt x="4" y="10"/>
                    </a:lnTo>
                    <a:lnTo>
                      <a:pt x="2" y="8"/>
                    </a:lnTo>
                    <a:lnTo>
                      <a:pt x="0" y="7"/>
                    </a:lnTo>
                    <a:lnTo>
                      <a:pt x="0" y="3"/>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76" name="Freeform 482"/>
              <p:cNvSpPr>
                <a:spLocks/>
              </p:cNvSpPr>
              <p:nvPr userDrawn="1"/>
            </p:nvSpPr>
            <p:spPr bwMode="gray">
              <a:xfrm>
                <a:off x="3589" y="1429"/>
                <a:ext cx="10" cy="16"/>
              </a:xfrm>
              <a:custGeom>
                <a:avLst/>
                <a:gdLst>
                  <a:gd name="T0" fmla="*/ 0 w 10"/>
                  <a:gd name="T1" fmla="*/ 0 h 16"/>
                  <a:gd name="T2" fmla="*/ 3 w 10"/>
                  <a:gd name="T3" fmla="*/ 2 h 16"/>
                  <a:gd name="T4" fmla="*/ 7 w 10"/>
                  <a:gd name="T5" fmla="*/ 5 h 16"/>
                  <a:gd name="T6" fmla="*/ 10 w 10"/>
                  <a:gd name="T7" fmla="*/ 11 h 16"/>
                  <a:gd name="T8" fmla="*/ 10 w 10"/>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0" y="0"/>
                    </a:moveTo>
                    <a:lnTo>
                      <a:pt x="3" y="2"/>
                    </a:lnTo>
                    <a:lnTo>
                      <a:pt x="7" y="5"/>
                    </a:lnTo>
                    <a:lnTo>
                      <a:pt x="10" y="11"/>
                    </a:lnTo>
                    <a:lnTo>
                      <a:pt x="10"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77" name="Line 483"/>
              <p:cNvSpPr>
                <a:spLocks noChangeShapeType="1"/>
              </p:cNvSpPr>
              <p:nvPr userDrawn="1"/>
            </p:nvSpPr>
            <p:spPr bwMode="gray">
              <a:xfrm flipV="1">
                <a:off x="3538" y="1382"/>
                <a:ext cx="149" cy="8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78" name="Line 484"/>
              <p:cNvSpPr>
                <a:spLocks noChangeShapeType="1"/>
              </p:cNvSpPr>
              <p:nvPr userDrawn="1"/>
            </p:nvSpPr>
            <p:spPr bwMode="gray">
              <a:xfrm flipV="1">
                <a:off x="3534" y="1375"/>
                <a:ext cx="144" cy="8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79" name="Freeform 485"/>
              <p:cNvSpPr>
                <a:spLocks/>
              </p:cNvSpPr>
              <p:nvPr userDrawn="1"/>
            </p:nvSpPr>
            <p:spPr bwMode="gray">
              <a:xfrm>
                <a:off x="3678" y="1375"/>
                <a:ext cx="12" cy="16"/>
              </a:xfrm>
              <a:custGeom>
                <a:avLst/>
                <a:gdLst>
                  <a:gd name="T0" fmla="*/ 0 w 12"/>
                  <a:gd name="T1" fmla="*/ 0 h 16"/>
                  <a:gd name="T2" fmla="*/ 5 w 12"/>
                  <a:gd name="T3" fmla="*/ 2 h 16"/>
                  <a:gd name="T4" fmla="*/ 9 w 12"/>
                  <a:gd name="T5" fmla="*/ 7 h 16"/>
                  <a:gd name="T6" fmla="*/ 10 w 12"/>
                  <a:gd name="T7" fmla="*/ 10 h 16"/>
                  <a:gd name="T8" fmla="*/ 12 w 12"/>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6">
                    <a:moveTo>
                      <a:pt x="0" y="0"/>
                    </a:moveTo>
                    <a:lnTo>
                      <a:pt x="5" y="2"/>
                    </a:lnTo>
                    <a:lnTo>
                      <a:pt x="9" y="7"/>
                    </a:lnTo>
                    <a:lnTo>
                      <a:pt x="10" y="10"/>
                    </a:lnTo>
                    <a:lnTo>
                      <a:pt x="12"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80" name="Line 486"/>
              <p:cNvSpPr>
                <a:spLocks noChangeShapeType="1"/>
              </p:cNvSpPr>
              <p:nvPr userDrawn="1"/>
            </p:nvSpPr>
            <p:spPr bwMode="gray">
              <a:xfrm flipH="1">
                <a:off x="3538" y="1391"/>
                <a:ext cx="152" cy="9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81" name="Freeform 487"/>
              <p:cNvSpPr>
                <a:spLocks/>
              </p:cNvSpPr>
              <p:nvPr userDrawn="1"/>
            </p:nvSpPr>
            <p:spPr bwMode="gray">
              <a:xfrm>
                <a:off x="3534" y="1460"/>
                <a:ext cx="4" cy="21"/>
              </a:xfrm>
              <a:custGeom>
                <a:avLst/>
                <a:gdLst>
                  <a:gd name="T0" fmla="*/ 0 w 4"/>
                  <a:gd name="T1" fmla="*/ 0 h 21"/>
                  <a:gd name="T2" fmla="*/ 4 w 4"/>
                  <a:gd name="T3" fmla="*/ 6 h 21"/>
                  <a:gd name="T4" fmla="*/ 4 w 4"/>
                  <a:gd name="T5" fmla="*/ 11 h 21"/>
                  <a:gd name="T6" fmla="*/ 4 w 4"/>
                  <a:gd name="T7" fmla="*/ 16 h 21"/>
                  <a:gd name="T8" fmla="*/ 4 w 4"/>
                  <a:gd name="T9" fmla="*/ 21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21">
                    <a:moveTo>
                      <a:pt x="0" y="0"/>
                    </a:moveTo>
                    <a:lnTo>
                      <a:pt x="4" y="6"/>
                    </a:lnTo>
                    <a:lnTo>
                      <a:pt x="4" y="11"/>
                    </a:lnTo>
                    <a:lnTo>
                      <a:pt x="4" y="16"/>
                    </a:lnTo>
                    <a:lnTo>
                      <a:pt x="4" y="2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82" name="Freeform 488"/>
              <p:cNvSpPr>
                <a:spLocks/>
              </p:cNvSpPr>
              <p:nvPr userDrawn="1"/>
            </p:nvSpPr>
            <p:spPr bwMode="gray">
              <a:xfrm>
                <a:off x="3576" y="1340"/>
                <a:ext cx="7" cy="9"/>
              </a:xfrm>
              <a:custGeom>
                <a:avLst/>
                <a:gdLst>
                  <a:gd name="T0" fmla="*/ 0 w 7"/>
                  <a:gd name="T1" fmla="*/ 2 h 9"/>
                  <a:gd name="T2" fmla="*/ 2 w 7"/>
                  <a:gd name="T3" fmla="*/ 0 h 9"/>
                  <a:gd name="T4" fmla="*/ 4 w 7"/>
                  <a:gd name="T5" fmla="*/ 2 h 9"/>
                  <a:gd name="T6" fmla="*/ 6 w 7"/>
                  <a:gd name="T7" fmla="*/ 2 h 9"/>
                  <a:gd name="T8" fmla="*/ 7 w 7"/>
                  <a:gd name="T9" fmla="*/ 5 h 9"/>
                  <a:gd name="T10" fmla="*/ 7 w 7"/>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0" y="2"/>
                    </a:moveTo>
                    <a:lnTo>
                      <a:pt x="2" y="0"/>
                    </a:lnTo>
                    <a:lnTo>
                      <a:pt x="4" y="2"/>
                    </a:lnTo>
                    <a:lnTo>
                      <a:pt x="6" y="2"/>
                    </a:lnTo>
                    <a:lnTo>
                      <a:pt x="7" y="5"/>
                    </a:lnTo>
                    <a:lnTo>
                      <a:pt x="7"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83" name="Line 489"/>
              <p:cNvSpPr>
                <a:spLocks noChangeShapeType="1"/>
              </p:cNvSpPr>
              <p:nvPr userDrawn="1"/>
            </p:nvSpPr>
            <p:spPr bwMode="gray">
              <a:xfrm flipH="1" flipV="1">
                <a:off x="3536" y="1328"/>
                <a:ext cx="149" cy="4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84" name="Line 490"/>
              <p:cNvSpPr>
                <a:spLocks noChangeShapeType="1"/>
              </p:cNvSpPr>
              <p:nvPr userDrawn="1"/>
            </p:nvSpPr>
            <p:spPr bwMode="gray">
              <a:xfrm flipH="1" flipV="1">
                <a:off x="3536" y="1329"/>
                <a:ext cx="142" cy="4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85" name="Line 491"/>
              <p:cNvSpPr>
                <a:spLocks noChangeShapeType="1"/>
              </p:cNvSpPr>
              <p:nvPr userDrawn="1"/>
            </p:nvSpPr>
            <p:spPr bwMode="gray">
              <a:xfrm>
                <a:off x="3536" y="1335"/>
                <a:ext cx="151" cy="4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86" name="Freeform 492"/>
              <p:cNvSpPr>
                <a:spLocks/>
              </p:cNvSpPr>
              <p:nvPr userDrawn="1"/>
            </p:nvSpPr>
            <p:spPr bwMode="gray">
              <a:xfrm>
                <a:off x="3678" y="1373"/>
                <a:ext cx="9" cy="9"/>
              </a:xfrm>
              <a:custGeom>
                <a:avLst/>
                <a:gdLst>
                  <a:gd name="T0" fmla="*/ 9 w 9"/>
                  <a:gd name="T1" fmla="*/ 9 h 9"/>
                  <a:gd name="T2" fmla="*/ 9 w 9"/>
                  <a:gd name="T3" fmla="*/ 7 h 9"/>
                  <a:gd name="T4" fmla="*/ 7 w 9"/>
                  <a:gd name="T5" fmla="*/ 4 h 9"/>
                  <a:gd name="T6" fmla="*/ 5 w 9"/>
                  <a:gd name="T7" fmla="*/ 2 h 9"/>
                  <a:gd name="T8" fmla="*/ 3 w 9"/>
                  <a:gd name="T9" fmla="*/ 0 h 9"/>
                  <a:gd name="T10" fmla="*/ 0 w 9"/>
                  <a:gd name="T11" fmla="*/ 2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9" y="9"/>
                    </a:moveTo>
                    <a:lnTo>
                      <a:pt x="9" y="7"/>
                    </a:lnTo>
                    <a:lnTo>
                      <a:pt x="7" y="4"/>
                    </a:lnTo>
                    <a:lnTo>
                      <a:pt x="5" y="2"/>
                    </a:lnTo>
                    <a:lnTo>
                      <a:pt x="3"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87" name="Freeform 493"/>
              <p:cNvSpPr>
                <a:spLocks/>
              </p:cNvSpPr>
              <p:nvPr userDrawn="1"/>
            </p:nvSpPr>
            <p:spPr bwMode="gray">
              <a:xfrm>
                <a:off x="3186" y="1795"/>
                <a:ext cx="21" cy="1"/>
              </a:xfrm>
              <a:custGeom>
                <a:avLst/>
                <a:gdLst>
                  <a:gd name="T0" fmla="*/ 0 w 21"/>
                  <a:gd name="T1" fmla="*/ 0 h 1"/>
                  <a:gd name="T2" fmla="*/ 6 w 21"/>
                  <a:gd name="T3" fmla="*/ 1 h 1"/>
                  <a:gd name="T4" fmla="*/ 11 w 21"/>
                  <a:gd name="T5" fmla="*/ 1 h 1"/>
                  <a:gd name="T6" fmla="*/ 16 w 21"/>
                  <a:gd name="T7" fmla="*/ 1 h 1"/>
                  <a:gd name="T8" fmla="*/ 21 w 21"/>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
                    <a:moveTo>
                      <a:pt x="0" y="0"/>
                    </a:moveTo>
                    <a:lnTo>
                      <a:pt x="6" y="1"/>
                    </a:lnTo>
                    <a:lnTo>
                      <a:pt x="11" y="1"/>
                    </a:lnTo>
                    <a:lnTo>
                      <a:pt x="16" y="1"/>
                    </a:lnTo>
                    <a:lnTo>
                      <a:pt x="2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88" name="Line 494"/>
              <p:cNvSpPr>
                <a:spLocks noChangeShapeType="1"/>
              </p:cNvSpPr>
              <p:nvPr userDrawn="1"/>
            </p:nvSpPr>
            <p:spPr bwMode="gray">
              <a:xfrm flipV="1">
                <a:off x="3195" y="1679"/>
                <a:ext cx="4" cy="23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89" name="Line 495"/>
              <p:cNvSpPr>
                <a:spLocks noChangeShapeType="1"/>
              </p:cNvSpPr>
              <p:nvPr userDrawn="1"/>
            </p:nvSpPr>
            <p:spPr bwMode="gray">
              <a:xfrm flipV="1">
                <a:off x="3185" y="1679"/>
                <a:ext cx="3" cy="23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90" name="Freeform 496"/>
              <p:cNvSpPr>
                <a:spLocks/>
              </p:cNvSpPr>
              <p:nvPr userDrawn="1"/>
            </p:nvSpPr>
            <p:spPr bwMode="gray">
              <a:xfrm>
                <a:off x="3188" y="1677"/>
                <a:ext cx="21" cy="4"/>
              </a:xfrm>
              <a:custGeom>
                <a:avLst/>
                <a:gdLst>
                  <a:gd name="T0" fmla="*/ 0 w 21"/>
                  <a:gd name="T1" fmla="*/ 2 h 4"/>
                  <a:gd name="T2" fmla="*/ 5 w 21"/>
                  <a:gd name="T3" fmla="*/ 4 h 4"/>
                  <a:gd name="T4" fmla="*/ 11 w 21"/>
                  <a:gd name="T5" fmla="*/ 4 h 4"/>
                  <a:gd name="T6" fmla="*/ 16 w 21"/>
                  <a:gd name="T7" fmla="*/ 2 h 4"/>
                  <a:gd name="T8" fmla="*/ 21 w 21"/>
                  <a:gd name="T9" fmla="*/ 0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4">
                    <a:moveTo>
                      <a:pt x="0" y="2"/>
                    </a:moveTo>
                    <a:lnTo>
                      <a:pt x="5" y="4"/>
                    </a:lnTo>
                    <a:lnTo>
                      <a:pt x="11" y="4"/>
                    </a:lnTo>
                    <a:lnTo>
                      <a:pt x="16" y="2"/>
                    </a:lnTo>
                    <a:lnTo>
                      <a:pt x="2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91" name="Line 497"/>
              <p:cNvSpPr>
                <a:spLocks noChangeShapeType="1"/>
              </p:cNvSpPr>
              <p:nvPr userDrawn="1"/>
            </p:nvSpPr>
            <p:spPr bwMode="gray">
              <a:xfrm flipH="1">
                <a:off x="3206" y="1677"/>
                <a:ext cx="3" cy="23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92" name="Freeform 498"/>
              <p:cNvSpPr>
                <a:spLocks/>
              </p:cNvSpPr>
              <p:nvPr userDrawn="1"/>
            </p:nvSpPr>
            <p:spPr bwMode="gray">
              <a:xfrm>
                <a:off x="3185" y="1910"/>
                <a:ext cx="21" cy="2"/>
              </a:xfrm>
              <a:custGeom>
                <a:avLst/>
                <a:gdLst>
                  <a:gd name="T0" fmla="*/ 21 w 21"/>
                  <a:gd name="T1" fmla="*/ 0 h 2"/>
                  <a:gd name="T2" fmla="*/ 15 w 21"/>
                  <a:gd name="T3" fmla="*/ 2 h 2"/>
                  <a:gd name="T4" fmla="*/ 10 w 21"/>
                  <a:gd name="T5" fmla="*/ 2 h 2"/>
                  <a:gd name="T6" fmla="*/ 5 w 21"/>
                  <a:gd name="T7" fmla="*/ 2 h 2"/>
                  <a:gd name="T8" fmla="*/ 0 w 21"/>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2">
                    <a:moveTo>
                      <a:pt x="21" y="0"/>
                    </a:moveTo>
                    <a:lnTo>
                      <a:pt x="15" y="2"/>
                    </a:lnTo>
                    <a:lnTo>
                      <a:pt x="10" y="2"/>
                    </a:lnTo>
                    <a:lnTo>
                      <a:pt x="5"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93" name="Freeform 499"/>
              <p:cNvSpPr>
                <a:spLocks/>
              </p:cNvSpPr>
              <p:nvPr userDrawn="1"/>
            </p:nvSpPr>
            <p:spPr bwMode="gray">
              <a:xfrm>
                <a:off x="3681" y="1495"/>
                <a:ext cx="7" cy="7"/>
              </a:xfrm>
              <a:custGeom>
                <a:avLst/>
                <a:gdLst>
                  <a:gd name="T0" fmla="*/ 4 w 7"/>
                  <a:gd name="T1" fmla="*/ 7 h 7"/>
                  <a:gd name="T2" fmla="*/ 7 w 7"/>
                  <a:gd name="T3" fmla="*/ 6 h 7"/>
                  <a:gd name="T4" fmla="*/ 7 w 7"/>
                  <a:gd name="T5" fmla="*/ 4 h 7"/>
                  <a:gd name="T6" fmla="*/ 6 w 7"/>
                  <a:gd name="T7" fmla="*/ 2 h 7"/>
                  <a:gd name="T8" fmla="*/ 4 w 7"/>
                  <a:gd name="T9" fmla="*/ 0 h 7"/>
                  <a:gd name="T10" fmla="*/ 0 w 7"/>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7">
                    <a:moveTo>
                      <a:pt x="4" y="7"/>
                    </a:moveTo>
                    <a:lnTo>
                      <a:pt x="7" y="6"/>
                    </a:lnTo>
                    <a:lnTo>
                      <a:pt x="7" y="4"/>
                    </a:lnTo>
                    <a:lnTo>
                      <a:pt x="6" y="2"/>
                    </a:lnTo>
                    <a:lnTo>
                      <a:pt x="4" y="0"/>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94" name="Line 500"/>
              <p:cNvSpPr>
                <a:spLocks noChangeShapeType="1"/>
              </p:cNvSpPr>
              <p:nvPr userDrawn="1"/>
            </p:nvSpPr>
            <p:spPr bwMode="gray">
              <a:xfrm flipV="1">
                <a:off x="3683" y="1387"/>
                <a:ext cx="9" cy="22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95" name="Line 501"/>
              <p:cNvSpPr>
                <a:spLocks noChangeShapeType="1"/>
              </p:cNvSpPr>
              <p:nvPr userDrawn="1"/>
            </p:nvSpPr>
            <p:spPr bwMode="gray">
              <a:xfrm flipV="1">
                <a:off x="3681" y="1391"/>
                <a:ext cx="9" cy="22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96" name="Freeform 502"/>
              <p:cNvSpPr>
                <a:spLocks/>
              </p:cNvSpPr>
              <p:nvPr userDrawn="1"/>
            </p:nvSpPr>
            <p:spPr bwMode="gray">
              <a:xfrm>
                <a:off x="3687" y="1382"/>
                <a:ext cx="5" cy="9"/>
              </a:xfrm>
              <a:custGeom>
                <a:avLst/>
                <a:gdLst>
                  <a:gd name="T0" fmla="*/ 3 w 5"/>
                  <a:gd name="T1" fmla="*/ 9 h 9"/>
                  <a:gd name="T2" fmla="*/ 5 w 5"/>
                  <a:gd name="T3" fmla="*/ 7 h 9"/>
                  <a:gd name="T4" fmla="*/ 5 w 5"/>
                  <a:gd name="T5" fmla="*/ 5 h 9"/>
                  <a:gd name="T6" fmla="*/ 3 w 5"/>
                  <a:gd name="T7" fmla="*/ 3 h 9"/>
                  <a:gd name="T8" fmla="*/ 1 w 5"/>
                  <a:gd name="T9" fmla="*/ 2 h 9"/>
                  <a:gd name="T10" fmla="*/ 0 w 5"/>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9">
                    <a:moveTo>
                      <a:pt x="3" y="9"/>
                    </a:moveTo>
                    <a:lnTo>
                      <a:pt x="5" y="7"/>
                    </a:lnTo>
                    <a:lnTo>
                      <a:pt x="5" y="5"/>
                    </a:lnTo>
                    <a:lnTo>
                      <a:pt x="3" y="3"/>
                    </a:lnTo>
                    <a:lnTo>
                      <a:pt x="1"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97" name="Line 503"/>
              <p:cNvSpPr>
                <a:spLocks noChangeShapeType="1"/>
              </p:cNvSpPr>
              <p:nvPr userDrawn="1"/>
            </p:nvSpPr>
            <p:spPr bwMode="gray">
              <a:xfrm flipH="1">
                <a:off x="3678" y="1382"/>
                <a:ext cx="9" cy="22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98" name="Freeform 504"/>
              <p:cNvSpPr>
                <a:spLocks/>
              </p:cNvSpPr>
              <p:nvPr userDrawn="1"/>
            </p:nvSpPr>
            <p:spPr bwMode="gray">
              <a:xfrm>
                <a:off x="3678" y="1606"/>
                <a:ext cx="5" cy="8"/>
              </a:xfrm>
              <a:custGeom>
                <a:avLst/>
                <a:gdLst>
                  <a:gd name="T0" fmla="*/ 0 w 5"/>
                  <a:gd name="T1" fmla="*/ 0 h 8"/>
                  <a:gd name="T2" fmla="*/ 2 w 5"/>
                  <a:gd name="T3" fmla="*/ 1 h 8"/>
                  <a:gd name="T4" fmla="*/ 5 w 5"/>
                  <a:gd name="T5" fmla="*/ 3 h 8"/>
                  <a:gd name="T6" fmla="*/ 5 w 5"/>
                  <a:gd name="T7" fmla="*/ 5 h 8"/>
                  <a:gd name="T8" fmla="*/ 5 w 5"/>
                  <a:gd name="T9" fmla="*/ 7 h 8"/>
                  <a:gd name="T10" fmla="*/ 3 w 5"/>
                  <a:gd name="T11" fmla="*/ 8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8">
                    <a:moveTo>
                      <a:pt x="0" y="0"/>
                    </a:moveTo>
                    <a:lnTo>
                      <a:pt x="2" y="1"/>
                    </a:lnTo>
                    <a:lnTo>
                      <a:pt x="5" y="3"/>
                    </a:lnTo>
                    <a:lnTo>
                      <a:pt x="5" y="5"/>
                    </a:lnTo>
                    <a:lnTo>
                      <a:pt x="5" y="7"/>
                    </a:lnTo>
                    <a:lnTo>
                      <a:pt x="3"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99" name="Freeform 505"/>
              <p:cNvSpPr>
                <a:spLocks/>
              </p:cNvSpPr>
              <p:nvPr userDrawn="1"/>
            </p:nvSpPr>
            <p:spPr bwMode="gray">
              <a:xfrm>
                <a:off x="3351" y="1941"/>
                <a:ext cx="21" cy="4"/>
              </a:xfrm>
              <a:custGeom>
                <a:avLst/>
                <a:gdLst>
                  <a:gd name="T0" fmla="*/ 0 w 21"/>
                  <a:gd name="T1" fmla="*/ 2 h 4"/>
                  <a:gd name="T2" fmla="*/ 5 w 21"/>
                  <a:gd name="T3" fmla="*/ 4 h 4"/>
                  <a:gd name="T4" fmla="*/ 10 w 21"/>
                  <a:gd name="T5" fmla="*/ 4 h 4"/>
                  <a:gd name="T6" fmla="*/ 15 w 21"/>
                  <a:gd name="T7" fmla="*/ 2 h 4"/>
                  <a:gd name="T8" fmla="*/ 21 w 21"/>
                  <a:gd name="T9" fmla="*/ 0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4">
                    <a:moveTo>
                      <a:pt x="0" y="2"/>
                    </a:moveTo>
                    <a:lnTo>
                      <a:pt x="5" y="4"/>
                    </a:lnTo>
                    <a:lnTo>
                      <a:pt x="10" y="4"/>
                    </a:lnTo>
                    <a:lnTo>
                      <a:pt x="15" y="2"/>
                    </a:lnTo>
                    <a:lnTo>
                      <a:pt x="2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00" name="Line 506"/>
              <p:cNvSpPr>
                <a:spLocks noChangeShapeType="1"/>
              </p:cNvSpPr>
              <p:nvPr userDrawn="1"/>
            </p:nvSpPr>
            <p:spPr bwMode="gray">
              <a:xfrm flipH="1">
                <a:off x="3359" y="1826"/>
                <a:ext cx="6" cy="23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01" name="Line 507"/>
              <p:cNvSpPr>
                <a:spLocks noChangeShapeType="1"/>
              </p:cNvSpPr>
              <p:nvPr userDrawn="1"/>
            </p:nvSpPr>
            <p:spPr bwMode="gray">
              <a:xfrm flipH="1">
                <a:off x="3349" y="1831"/>
                <a:ext cx="5" cy="22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02" name="Freeform 508"/>
              <p:cNvSpPr>
                <a:spLocks/>
              </p:cNvSpPr>
              <p:nvPr userDrawn="1"/>
            </p:nvSpPr>
            <p:spPr bwMode="gray">
              <a:xfrm>
                <a:off x="3349" y="2053"/>
                <a:ext cx="19" cy="4"/>
              </a:xfrm>
              <a:custGeom>
                <a:avLst/>
                <a:gdLst>
                  <a:gd name="T0" fmla="*/ 0 w 19"/>
                  <a:gd name="T1" fmla="*/ 2 h 4"/>
                  <a:gd name="T2" fmla="*/ 5 w 19"/>
                  <a:gd name="T3" fmla="*/ 4 h 4"/>
                  <a:gd name="T4" fmla="*/ 10 w 19"/>
                  <a:gd name="T5" fmla="*/ 4 h 4"/>
                  <a:gd name="T6" fmla="*/ 14 w 19"/>
                  <a:gd name="T7" fmla="*/ 2 h 4"/>
                  <a:gd name="T8" fmla="*/ 19 w 19"/>
                  <a:gd name="T9" fmla="*/ 0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
                    <a:moveTo>
                      <a:pt x="0" y="2"/>
                    </a:moveTo>
                    <a:lnTo>
                      <a:pt x="5" y="4"/>
                    </a:lnTo>
                    <a:lnTo>
                      <a:pt x="10" y="4"/>
                    </a:lnTo>
                    <a:lnTo>
                      <a:pt x="14" y="2"/>
                    </a:lnTo>
                    <a:lnTo>
                      <a:pt x="1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03" name="Line 509"/>
              <p:cNvSpPr>
                <a:spLocks noChangeShapeType="1"/>
              </p:cNvSpPr>
              <p:nvPr userDrawn="1"/>
            </p:nvSpPr>
            <p:spPr bwMode="gray">
              <a:xfrm flipV="1">
                <a:off x="3368" y="1817"/>
                <a:ext cx="5" cy="23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04" name="Freeform 510"/>
              <p:cNvSpPr>
                <a:spLocks/>
              </p:cNvSpPr>
              <p:nvPr userDrawn="1"/>
            </p:nvSpPr>
            <p:spPr bwMode="gray">
              <a:xfrm>
                <a:off x="3354" y="1817"/>
                <a:ext cx="19" cy="14"/>
              </a:xfrm>
              <a:custGeom>
                <a:avLst/>
                <a:gdLst>
                  <a:gd name="T0" fmla="*/ 0 w 19"/>
                  <a:gd name="T1" fmla="*/ 14 h 14"/>
                  <a:gd name="T2" fmla="*/ 5 w 19"/>
                  <a:gd name="T3" fmla="*/ 11 h 14"/>
                  <a:gd name="T4" fmla="*/ 11 w 19"/>
                  <a:gd name="T5" fmla="*/ 9 h 14"/>
                  <a:gd name="T6" fmla="*/ 16 w 19"/>
                  <a:gd name="T7" fmla="*/ 6 h 14"/>
                  <a:gd name="T8" fmla="*/ 19 w 19"/>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4">
                    <a:moveTo>
                      <a:pt x="0" y="14"/>
                    </a:moveTo>
                    <a:lnTo>
                      <a:pt x="5" y="11"/>
                    </a:lnTo>
                    <a:lnTo>
                      <a:pt x="11" y="9"/>
                    </a:lnTo>
                    <a:lnTo>
                      <a:pt x="16" y="6"/>
                    </a:lnTo>
                    <a:lnTo>
                      <a:pt x="1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05" name="Freeform 511"/>
              <p:cNvSpPr>
                <a:spLocks/>
              </p:cNvSpPr>
              <p:nvPr userDrawn="1"/>
            </p:nvSpPr>
            <p:spPr bwMode="gray">
              <a:xfrm>
                <a:off x="3248" y="2017"/>
                <a:ext cx="7" cy="8"/>
              </a:xfrm>
              <a:custGeom>
                <a:avLst/>
                <a:gdLst>
                  <a:gd name="T0" fmla="*/ 0 w 7"/>
                  <a:gd name="T1" fmla="*/ 0 h 8"/>
                  <a:gd name="T2" fmla="*/ 0 w 7"/>
                  <a:gd name="T3" fmla="*/ 3 h 8"/>
                  <a:gd name="T4" fmla="*/ 1 w 7"/>
                  <a:gd name="T5" fmla="*/ 7 h 8"/>
                  <a:gd name="T6" fmla="*/ 3 w 7"/>
                  <a:gd name="T7" fmla="*/ 8 h 8"/>
                  <a:gd name="T8" fmla="*/ 5 w 7"/>
                  <a:gd name="T9" fmla="*/ 8 h 8"/>
                  <a:gd name="T10" fmla="*/ 7 w 7"/>
                  <a:gd name="T11" fmla="*/ 7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8">
                    <a:moveTo>
                      <a:pt x="0" y="0"/>
                    </a:moveTo>
                    <a:lnTo>
                      <a:pt x="0" y="3"/>
                    </a:lnTo>
                    <a:lnTo>
                      <a:pt x="1" y="7"/>
                    </a:lnTo>
                    <a:lnTo>
                      <a:pt x="3" y="8"/>
                    </a:lnTo>
                    <a:lnTo>
                      <a:pt x="5" y="8"/>
                    </a:lnTo>
                    <a:lnTo>
                      <a:pt x="7"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06" name="Line 512"/>
              <p:cNvSpPr>
                <a:spLocks noChangeShapeType="1"/>
              </p:cNvSpPr>
              <p:nvPr userDrawn="1"/>
            </p:nvSpPr>
            <p:spPr bwMode="gray">
              <a:xfrm flipH="1" flipV="1">
                <a:off x="3150" y="1987"/>
                <a:ext cx="201"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07" name="Line 513"/>
              <p:cNvSpPr>
                <a:spLocks noChangeShapeType="1"/>
              </p:cNvSpPr>
              <p:nvPr userDrawn="1"/>
            </p:nvSpPr>
            <p:spPr bwMode="gray">
              <a:xfrm flipH="1" flipV="1">
                <a:off x="3146" y="1980"/>
                <a:ext cx="203"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08" name="Freeform 514"/>
              <p:cNvSpPr>
                <a:spLocks/>
              </p:cNvSpPr>
              <p:nvPr userDrawn="1"/>
            </p:nvSpPr>
            <p:spPr bwMode="gray">
              <a:xfrm>
                <a:off x="3146" y="1980"/>
                <a:ext cx="9" cy="9"/>
              </a:xfrm>
              <a:custGeom>
                <a:avLst/>
                <a:gdLst>
                  <a:gd name="T0" fmla="*/ 0 w 9"/>
                  <a:gd name="T1" fmla="*/ 0 h 9"/>
                  <a:gd name="T2" fmla="*/ 0 w 9"/>
                  <a:gd name="T3" fmla="*/ 3 h 9"/>
                  <a:gd name="T4" fmla="*/ 2 w 9"/>
                  <a:gd name="T5" fmla="*/ 5 h 9"/>
                  <a:gd name="T6" fmla="*/ 4 w 9"/>
                  <a:gd name="T7" fmla="*/ 7 h 9"/>
                  <a:gd name="T8" fmla="*/ 5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3"/>
                    </a:lnTo>
                    <a:lnTo>
                      <a:pt x="2" y="5"/>
                    </a:lnTo>
                    <a:lnTo>
                      <a:pt x="4" y="7"/>
                    </a:lnTo>
                    <a:lnTo>
                      <a:pt x="5" y="9"/>
                    </a:lnTo>
                    <a:lnTo>
                      <a:pt x="9"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09" name="Line 515"/>
              <p:cNvSpPr>
                <a:spLocks noChangeShapeType="1"/>
              </p:cNvSpPr>
              <p:nvPr userDrawn="1"/>
            </p:nvSpPr>
            <p:spPr bwMode="gray">
              <a:xfrm>
                <a:off x="3155" y="1987"/>
                <a:ext cx="203"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10" name="Freeform 516"/>
              <p:cNvSpPr>
                <a:spLocks/>
              </p:cNvSpPr>
              <p:nvPr userDrawn="1"/>
            </p:nvSpPr>
            <p:spPr bwMode="gray">
              <a:xfrm>
                <a:off x="3349" y="2055"/>
                <a:ext cx="9" cy="7"/>
              </a:xfrm>
              <a:custGeom>
                <a:avLst/>
                <a:gdLst>
                  <a:gd name="T0" fmla="*/ 9 w 9"/>
                  <a:gd name="T1" fmla="*/ 7 h 7"/>
                  <a:gd name="T2" fmla="*/ 5 w 9"/>
                  <a:gd name="T3" fmla="*/ 7 h 7"/>
                  <a:gd name="T4" fmla="*/ 2 w 9"/>
                  <a:gd name="T5" fmla="*/ 7 h 7"/>
                  <a:gd name="T6" fmla="*/ 2 w 9"/>
                  <a:gd name="T7" fmla="*/ 5 h 7"/>
                  <a:gd name="T8" fmla="*/ 0 w 9"/>
                  <a:gd name="T9" fmla="*/ 4 h 7"/>
                  <a:gd name="T10" fmla="*/ 0 w 9"/>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7">
                    <a:moveTo>
                      <a:pt x="9" y="7"/>
                    </a:moveTo>
                    <a:lnTo>
                      <a:pt x="5" y="7"/>
                    </a:lnTo>
                    <a:lnTo>
                      <a:pt x="2" y="7"/>
                    </a:lnTo>
                    <a:lnTo>
                      <a:pt x="2" y="5"/>
                    </a:lnTo>
                    <a:lnTo>
                      <a:pt x="0"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11" name="Freeform 517"/>
              <p:cNvSpPr>
                <a:spLocks/>
              </p:cNvSpPr>
              <p:nvPr userDrawn="1"/>
            </p:nvSpPr>
            <p:spPr bwMode="gray">
              <a:xfrm>
                <a:off x="3150" y="1357"/>
                <a:ext cx="5" cy="7"/>
              </a:xfrm>
              <a:custGeom>
                <a:avLst/>
                <a:gdLst>
                  <a:gd name="T0" fmla="*/ 5 w 5"/>
                  <a:gd name="T1" fmla="*/ 7 h 7"/>
                  <a:gd name="T2" fmla="*/ 3 w 5"/>
                  <a:gd name="T3" fmla="*/ 7 h 7"/>
                  <a:gd name="T4" fmla="*/ 1 w 5"/>
                  <a:gd name="T5" fmla="*/ 6 h 7"/>
                  <a:gd name="T6" fmla="*/ 0 w 5"/>
                  <a:gd name="T7" fmla="*/ 4 h 7"/>
                  <a:gd name="T8" fmla="*/ 0 w 5"/>
                  <a:gd name="T9" fmla="*/ 2 h 7"/>
                  <a:gd name="T10" fmla="*/ 3 w 5"/>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7">
                    <a:moveTo>
                      <a:pt x="5" y="7"/>
                    </a:moveTo>
                    <a:lnTo>
                      <a:pt x="3" y="7"/>
                    </a:lnTo>
                    <a:lnTo>
                      <a:pt x="1" y="6"/>
                    </a:lnTo>
                    <a:lnTo>
                      <a:pt x="0" y="4"/>
                    </a:lnTo>
                    <a:lnTo>
                      <a:pt x="0" y="2"/>
                    </a:lnTo>
                    <a:lnTo>
                      <a:pt x="3"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12" name="Line 518"/>
              <p:cNvSpPr>
                <a:spLocks noChangeShapeType="1"/>
              </p:cNvSpPr>
              <p:nvPr userDrawn="1"/>
            </p:nvSpPr>
            <p:spPr bwMode="gray">
              <a:xfrm flipV="1">
                <a:off x="3148" y="1245"/>
                <a:ext cx="3" cy="23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13" name="Line 519"/>
              <p:cNvSpPr>
                <a:spLocks noChangeShapeType="1"/>
              </p:cNvSpPr>
              <p:nvPr userDrawn="1"/>
            </p:nvSpPr>
            <p:spPr bwMode="gray">
              <a:xfrm flipV="1">
                <a:off x="3153" y="1249"/>
                <a:ext cx="4" cy="23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14" name="Freeform 520"/>
              <p:cNvSpPr>
                <a:spLocks/>
              </p:cNvSpPr>
              <p:nvPr userDrawn="1"/>
            </p:nvSpPr>
            <p:spPr bwMode="gray">
              <a:xfrm>
                <a:off x="3151" y="1240"/>
                <a:ext cx="6" cy="9"/>
              </a:xfrm>
              <a:custGeom>
                <a:avLst/>
                <a:gdLst>
                  <a:gd name="T0" fmla="*/ 6 w 6"/>
                  <a:gd name="T1" fmla="*/ 9 h 9"/>
                  <a:gd name="T2" fmla="*/ 4 w 6"/>
                  <a:gd name="T3" fmla="*/ 7 h 9"/>
                  <a:gd name="T4" fmla="*/ 2 w 6"/>
                  <a:gd name="T5" fmla="*/ 5 h 9"/>
                  <a:gd name="T6" fmla="*/ 0 w 6"/>
                  <a:gd name="T7" fmla="*/ 4 h 9"/>
                  <a:gd name="T8" fmla="*/ 0 w 6"/>
                  <a:gd name="T9" fmla="*/ 2 h 9"/>
                  <a:gd name="T10" fmla="*/ 4 w 6"/>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9">
                    <a:moveTo>
                      <a:pt x="6" y="9"/>
                    </a:moveTo>
                    <a:lnTo>
                      <a:pt x="4" y="7"/>
                    </a:lnTo>
                    <a:lnTo>
                      <a:pt x="2" y="5"/>
                    </a:lnTo>
                    <a:lnTo>
                      <a:pt x="0" y="4"/>
                    </a:lnTo>
                    <a:lnTo>
                      <a:pt x="0" y="2"/>
                    </a:lnTo>
                    <a:lnTo>
                      <a:pt x="4"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15" name="Line 521"/>
              <p:cNvSpPr>
                <a:spLocks noChangeShapeType="1"/>
              </p:cNvSpPr>
              <p:nvPr userDrawn="1"/>
            </p:nvSpPr>
            <p:spPr bwMode="gray">
              <a:xfrm flipH="1">
                <a:off x="3151" y="1240"/>
                <a:ext cx="4" cy="24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16" name="Freeform 522"/>
              <p:cNvSpPr>
                <a:spLocks/>
              </p:cNvSpPr>
              <p:nvPr userDrawn="1"/>
            </p:nvSpPr>
            <p:spPr bwMode="gray">
              <a:xfrm>
                <a:off x="3148" y="1480"/>
                <a:ext cx="5" cy="5"/>
              </a:xfrm>
              <a:custGeom>
                <a:avLst/>
                <a:gdLst>
                  <a:gd name="T0" fmla="*/ 5 w 5"/>
                  <a:gd name="T1" fmla="*/ 0 h 5"/>
                  <a:gd name="T2" fmla="*/ 3 w 5"/>
                  <a:gd name="T3" fmla="*/ 1 h 5"/>
                  <a:gd name="T4" fmla="*/ 2 w 5"/>
                  <a:gd name="T5" fmla="*/ 1 h 5"/>
                  <a:gd name="T6" fmla="*/ 0 w 5"/>
                  <a:gd name="T7" fmla="*/ 3 h 5"/>
                  <a:gd name="T8" fmla="*/ 2 w 5"/>
                  <a:gd name="T9" fmla="*/ 3 h 5"/>
                  <a:gd name="T10" fmla="*/ 3 w 5"/>
                  <a:gd name="T11" fmla="*/ 5 h 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5">
                    <a:moveTo>
                      <a:pt x="5" y="0"/>
                    </a:moveTo>
                    <a:lnTo>
                      <a:pt x="3" y="1"/>
                    </a:lnTo>
                    <a:lnTo>
                      <a:pt x="2" y="1"/>
                    </a:lnTo>
                    <a:lnTo>
                      <a:pt x="0" y="3"/>
                    </a:lnTo>
                    <a:lnTo>
                      <a:pt x="2" y="3"/>
                    </a:lnTo>
                    <a:lnTo>
                      <a:pt x="3" y="5"/>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17" name="Freeform 523"/>
              <p:cNvSpPr>
                <a:spLocks/>
              </p:cNvSpPr>
              <p:nvPr userDrawn="1"/>
            </p:nvSpPr>
            <p:spPr bwMode="gray">
              <a:xfrm>
                <a:off x="3262" y="1265"/>
                <a:ext cx="8" cy="17"/>
              </a:xfrm>
              <a:custGeom>
                <a:avLst/>
                <a:gdLst>
                  <a:gd name="T0" fmla="*/ 0 w 8"/>
                  <a:gd name="T1" fmla="*/ 17 h 17"/>
                  <a:gd name="T2" fmla="*/ 0 w 8"/>
                  <a:gd name="T3" fmla="*/ 12 h 17"/>
                  <a:gd name="T4" fmla="*/ 1 w 8"/>
                  <a:gd name="T5" fmla="*/ 7 h 17"/>
                  <a:gd name="T6" fmla="*/ 5 w 8"/>
                  <a:gd name="T7" fmla="*/ 3 h 17"/>
                  <a:gd name="T8" fmla="*/ 8 w 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7"/>
                    </a:moveTo>
                    <a:lnTo>
                      <a:pt x="0" y="12"/>
                    </a:lnTo>
                    <a:lnTo>
                      <a:pt x="1" y="7"/>
                    </a:lnTo>
                    <a:lnTo>
                      <a:pt x="5" y="3"/>
                    </a:lnTo>
                    <a:lnTo>
                      <a:pt x="8"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18" name="Line 524"/>
              <p:cNvSpPr>
                <a:spLocks noChangeShapeType="1"/>
              </p:cNvSpPr>
              <p:nvPr userDrawn="1"/>
            </p:nvSpPr>
            <p:spPr bwMode="gray">
              <a:xfrm>
                <a:off x="3160" y="1238"/>
                <a:ext cx="208" cy="6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19" name="Line 525"/>
              <p:cNvSpPr>
                <a:spLocks noChangeShapeType="1"/>
              </p:cNvSpPr>
              <p:nvPr userDrawn="1"/>
            </p:nvSpPr>
            <p:spPr bwMode="gray">
              <a:xfrm>
                <a:off x="3157" y="1249"/>
                <a:ext cx="209" cy="6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20" name="Freeform 526"/>
              <p:cNvSpPr>
                <a:spLocks/>
              </p:cNvSpPr>
              <p:nvPr userDrawn="1"/>
            </p:nvSpPr>
            <p:spPr bwMode="gray">
              <a:xfrm>
                <a:off x="3366" y="1300"/>
                <a:ext cx="9" cy="17"/>
              </a:xfrm>
              <a:custGeom>
                <a:avLst/>
                <a:gdLst>
                  <a:gd name="T0" fmla="*/ 0 w 9"/>
                  <a:gd name="T1" fmla="*/ 17 h 17"/>
                  <a:gd name="T2" fmla="*/ 0 w 9"/>
                  <a:gd name="T3" fmla="*/ 12 h 17"/>
                  <a:gd name="T4" fmla="*/ 2 w 9"/>
                  <a:gd name="T5" fmla="*/ 7 h 17"/>
                  <a:gd name="T6" fmla="*/ 6 w 9"/>
                  <a:gd name="T7" fmla="*/ 3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0" y="12"/>
                    </a:lnTo>
                    <a:lnTo>
                      <a:pt x="2" y="7"/>
                    </a:lnTo>
                    <a:lnTo>
                      <a:pt x="6" y="3"/>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21" name="Line 527"/>
              <p:cNvSpPr>
                <a:spLocks noChangeShapeType="1"/>
              </p:cNvSpPr>
              <p:nvPr userDrawn="1"/>
            </p:nvSpPr>
            <p:spPr bwMode="gray">
              <a:xfrm flipH="1" flipV="1">
                <a:off x="3165" y="1231"/>
                <a:ext cx="210" cy="6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22" name="Freeform 528"/>
              <p:cNvSpPr>
                <a:spLocks/>
              </p:cNvSpPr>
              <p:nvPr userDrawn="1"/>
            </p:nvSpPr>
            <p:spPr bwMode="gray">
              <a:xfrm>
                <a:off x="3157" y="1231"/>
                <a:ext cx="8" cy="18"/>
              </a:xfrm>
              <a:custGeom>
                <a:avLst/>
                <a:gdLst>
                  <a:gd name="T0" fmla="*/ 0 w 8"/>
                  <a:gd name="T1" fmla="*/ 18 h 18"/>
                  <a:gd name="T2" fmla="*/ 1 w 8"/>
                  <a:gd name="T3" fmla="*/ 13 h 18"/>
                  <a:gd name="T4" fmla="*/ 3 w 8"/>
                  <a:gd name="T5" fmla="*/ 7 h 18"/>
                  <a:gd name="T6" fmla="*/ 5 w 8"/>
                  <a:gd name="T7" fmla="*/ 4 h 18"/>
                  <a:gd name="T8" fmla="*/ 8 w 8"/>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8">
                    <a:moveTo>
                      <a:pt x="0" y="18"/>
                    </a:moveTo>
                    <a:lnTo>
                      <a:pt x="1" y="13"/>
                    </a:lnTo>
                    <a:lnTo>
                      <a:pt x="3" y="7"/>
                    </a:lnTo>
                    <a:lnTo>
                      <a:pt x="5" y="4"/>
                    </a:lnTo>
                    <a:lnTo>
                      <a:pt x="8"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23" name="Freeform 529"/>
              <p:cNvSpPr>
                <a:spLocks/>
              </p:cNvSpPr>
              <p:nvPr userDrawn="1"/>
            </p:nvSpPr>
            <p:spPr bwMode="gray">
              <a:xfrm>
                <a:off x="3363" y="1433"/>
                <a:ext cx="21" cy="3"/>
              </a:xfrm>
              <a:custGeom>
                <a:avLst/>
                <a:gdLst>
                  <a:gd name="T0" fmla="*/ 0 w 21"/>
                  <a:gd name="T1" fmla="*/ 1 h 3"/>
                  <a:gd name="T2" fmla="*/ 5 w 21"/>
                  <a:gd name="T3" fmla="*/ 3 h 3"/>
                  <a:gd name="T4" fmla="*/ 10 w 21"/>
                  <a:gd name="T5" fmla="*/ 3 h 3"/>
                  <a:gd name="T6" fmla="*/ 16 w 21"/>
                  <a:gd name="T7" fmla="*/ 1 h 3"/>
                  <a:gd name="T8" fmla="*/ 21 w 21"/>
                  <a:gd name="T9" fmla="*/ 0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
                    <a:moveTo>
                      <a:pt x="0" y="1"/>
                    </a:moveTo>
                    <a:lnTo>
                      <a:pt x="5" y="3"/>
                    </a:lnTo>
                    <a:lnTo>
                      <a:pt x="10" y="3"/>
                    </a:lnTo>
                    <a:lnTo>
                      <a:pt x="16" y="1"/>
                    </a:lnTo>
                    <a:lnTo>
                      <a:pt x="2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24" name="Line 530"/>
              <p:cNvSpPr>
                <a:spLocks noChangeShapeType="1"/>
              </p:cNvSpPr>
              <p:nvPr userDrawn="1"/>
            </p:nvSpPr>
            <p:spPr bwMode="gray">
              <a:xfrm flipH="1">
                <a:off x="3372" y="1319"/>
                <a:ext cx="5" cy="23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25" name="Line 531"/>
              <p:cNvSpPr>
                <a:spLocks noChangeShapeType="1"/>
              </p:cNvSpPr>
              <p:nvPr userDrawn="1"/>
            </p:nvSpPr>
            <p:spPr bwMode="gray">
              <a:xfrm flipH="1">
                <a:off x="3361" y="1317"/>
                <a:ext cx="5" cy="23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26" name="Freeform 532"/>
              <p:cNvSpPr>
                <a:spLocks/>
              </p:cNvSpPr>
              <p:nvPr userDrawn="1"/>
            </p:nvSpPr>
            <p:spPr bwMode="gray">
              <a:xfrm>
                <a:off x="3361" y="1551"/>
                <a:ext cx="19" cy="11"/>
              </a:xfrm>
              <a:custGeom>
                <a:avLst/>
                <a:gdLst>
                  <a:gd name="T0" fmla="*/ 0 w 19"/>
                  <a:gd name="T1" fmla="*/ 0 h 11"/>
                  <a:gd name="T2" fmla="*/ 5 w 19"/>
                  <a:gd name="T3" fmla="*/ 6 h 11"/>
                  <a:gd name="T4" fmla="*/ 12 w 19"/>
                  <a:gd name="T5" fmla="*/ 9 h 11"/>
                  <a:gd name="T6" fmla="*/ 19 w 19"/>
                  <a:gd name="T7" fmla="*/ 11 h 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1">
                    <a:moveTo>
                      <a:pt x="0" y="0"/>
                    </a:moveTo>
                    <a:lnTo>
                      <a:pt x="5" y="6"/>
                    </a:lnTo>
                    <a:lnTo>
                      <a:pt x="12" y="9"/>
                    </a:lnTo>
                    <a:lnTo>
                      <a:pt x="19" y="1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27" name="Line 533"/>
              <p:cNvSpPr>
                <a:spLocks noChangeShapeType="1"/>
              </p:cNvSpPr>
              <p:nvPr userDrawn="1"/>
            </p:nvSpPr>
            <p:spPr bwMode="gray">
              <a:xfrm flipV="1">
                <a:off x="3380" y="1315"/>
                <a:ext cx="6" cy="24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28" name="Freeform 534"/>
              <p:cNvSpPr>
                <a:spLocks/>
              </p:cNvSpPr>
              <p:nvPr userDrawn="1"/>
            </p:nvSpPr>
            <p:spPr bwMode="gray">
              <a:xfrm>
                <a:off x="3366" y="1315"/>
                <a:ext cx="20" cy="4"/>
              </a:xfrm>
              <a:custGeom>
                <a:avLst/>
                <a:gdLst>
                  <a:gd name="T0" fmla="*/ 20 w 20"/>
                  <a:gd name="T1" fmla="*/ 0 h 4"/>
                  <a:gd name="T2" fmla="*/ 14 w 20"/>
                  <a:gd name="T3" fmla="*/ 4 h 4"/>
                  <a:gd name="T4" fmla="*/ 11 w 20"/>
                  <a:gd name="T5" fmla="*/ 4 h 4"/>
                  <a:gd name="T6" fmla="*/ 6 w 20"/>
                  <a:gd name="T7" fmla="*/ 4 h 4"/>
                  <a:gd name="T8" fmla="*/ 0 w 20"/>
                  <a:gd name="T9" fmla="*/ 2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4">
                    <a:moveTo>
                      <a:pt x="20" y="0"/>
                    </a:moveTo>
                    <a:lnTo>
                      <a:pt x="14" y="4"/>
                    </a:lnTo>
                    <a:lnTo>
                      <a:pt x="11" y="4"/>
                    </a:lnTo>
                    <a:lnTo>
                      <a:pt x="6" y="4"/>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29" name="Freeform 535"/>
              <p:cNvSpPr>
                <a:spLocks/>
              </p:cNvSpPr>
              <p:nvPr userDrawn="1"/>
            </p:nvSpPr>
            <p:spPr bwMode="gray">
              <a:xfrm>
                <a:off x="3515" y="1840"/>
                <a:ext cx="5" cy="9"/>
              </a:xfrm>
              <a:custGeom>
                <a:avLst/>
                <a:gdLst>
                  <a:gd name="T0" fmla="*/ 0 w 5"/>
                  <a:gd name="T1" fmla="*/ 0 h 9"/>
                  <a:gd name="T2" fmla="*/ 2 w 5"/>
                  <a:gd name="T3" fmla="*/ 2 h 9"/>
                  <a:gd name="T4" fmla="*/ 5 w 5"/>
                  <a:gd name="T5" fmla="*/ 4 h 9"/>
                  <a:gd name="T6" fmla="*/ 5 w 5"/>
                  <a:gd name="T7" fmla="*/ 5 h 9"/>
                  <a:gd name="T8" fmla="*/ 5 w 5"/>
                  <a:gd name="T9" fmla="*/ 7 h 9"/>
                  <a:gd name="T10" fmla="*/ 4 w 5"/>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9">
                    <a:moveTo>
                      <a:pt x="0" y="0"/>
                    </a:moveTo>
                    <a:lnTo>
                      <a:pt x="2" y="2"/>
                    </a:lnTo>
                    <a:lnTo>
                      <a:pt x="5" y="4"/>
                    </a:lnTo>
                    <a:lnTo>
                      <a:pt x="5" y="5"/>
                    </a:lnTo>
                    <a:lnTo>
                      <a:pt x="5" y="7"/>
                    </a:lnTo>
                    <a:lnTo>
                      <a:pt x="4"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30" name="Line 536"/>
              <p:cNvSpPr>
                <a:spLocks noChangeShapeType="1"/>
              </p:cNvSpPr>
              <p:nvPr userDrawn="1"/>
            </p:nvSpPr>
            <p:spPr bwMode="gray">
              <a:xfrm flipH="1">
                <a:off x="3517" y="1726"/>
                <a:ext cx="7" cy="22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31" name="Line 537"/>
              <p:cNvSpPr>
                <a:spLocks noChangeShapeType="1"/>
              </p:cNvSpPr>
              <p:nvPr userDrawn="1"/>
            </p:nvSpPr>
            <p:spPr bwMode="gray">
              <a:xfrm flipH="1">
                <a:off x="3512" y="1728"/>
                <a:ext cx="7" cy="22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32" name="Freeform 538"/>
              <p:cNvSpPr>
                <a:spLocks/>
              </p:cNvSpPr>
              <p:nvPr userDrawn="1"/>
            </p:nvSpPr>
            <p:spPr bwMode="gray">
              <a:xfrm>
                <a:off x="3512" y="1950"/>
                <a:ext cx="5" cy="9"/>
              </a:xfrm>
              <a:custGeom>
                <a:avLst/>
                <a:gdLst>
                  <a:gd name="T0" fmla="*/ 0 w 5"/>
                  <a:gd name="T1" fmla="*/ 0 h 9"/>
                  <a:gd name="T2" fmla="*/ 3 w 5"/>
                  <a:gd name="T3" fmla="*/ 2 h 9"/>
                  <a:gd name="T4" fmla="*/ 5 w 5"/>
                  <a:gd name="T5" fmla="*/ 4 h 9"/>
                  <a:gd name="T6" fmla="*/ 5 w 5"/>
                  <a:gd name="T7" fmla="*/ 5 h 9"/>
                  <a:gd name="T8" fmla="*/ 5 w 5"/>
                  <a:gd name="T9" fmla="*/ 7 h 9"/>
                  <a:gd name="T10" fmla="*/ 3 w 5"/>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9">
                    <a:moveTo>
                      <a:pt x="0" y="0"/>
                    </a:moveTo>
                    <a:lnTo>
                      <a:pt x="3" y="2"/>
                    </a:lnTo>
                    <a:lnTo>
                      <a:pt x="5" y="4"/>
                    </a:lnTo>
                    <a:lnTo>
                      <a:pt x="5" y="5"/>
                    </a:lnTo>
                    <a:lnTo>
                      <a:pt x="5" y="7"/>
                    </a:lnTo>
                    <a:lnTo>
                      <a:pt x="3"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33" name="Line 539"/>
              <p:cNvSpPr>
                <a:spLocks noChangeShapeType="1"/>
              </p:cNvSpPr>
              <p:nvPr userDrawn="1"/>
            </p:nvSpPr>
            <p:spPr bwMode="gray">
              <a:xfrm flipV="1">
                <a:off x="3515" y="1725"/>
                <a:ext cx="7" cy="23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34" name="Freeform 540"/>
              <p:cNvSpPr>
                <a:spLocks/>
              </p:cNvSpPr>
              <p:nvPr userDrawn="1"/>
            </p:nvSpPr>
            <p:spPr bwMode="gray">
              <a:xfrm>
                <a:off x="3519" y="1725"/>
                <a:ext cx="5" cy="3"/>
              </a:xfrm>
              <a:custGeom>
                <a:avLst/>
                <a:gdLst>
                  <a:gd name="T0" fmla="*/ 0 w 5"/>
                  <a:gd name="T1" fmla="*/ 3 h 3"/>
                  <a:gd name="T2" fmla="*/ 1 w 5"/>
                  <a:gd name="T3" fmla="*/ 3 h 3"/>
                  <a:gd name="T4" fmla="*/ 3 w 5"/>
                  <a:gd name="T5" fmla="*/ 3 h 3"/>
                  <a:gd name="T6" fmla="*/ 5 w 5"/>
                  <a:gd name="T7" fmla="*/ 1 h 3"/>
                  <a:gd name="T8" fmla="*/ 5 w 5"/>
                  <a:gd name="T9" fmla="*/ 1 h 3"/>
                  <a:gd name="T10" fmla="*/ 5 w 5"/>
                  <a:gd name="T11" fmla="*/ 1 h 3"/>
                  <a:gd name="T12" fmla="*/ 5 w 5"/>
                  <a:gd name="T13" fmla="*/ 1 h 3"/>
                  <a:gd name="T14" fmla="*/ 3 w 5"/>
                  <a:gd name="T15" fmla="*/ 0 h 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 h="3">
                    <a:moveTo>
                      <a:pt x="0" y="3"/>
                    </a:moveTo>
                    <a:lnTo>
                      <a:pt x="1" y="3"/>
                    </a:lnTo>
                    <a:lnTo>
                      <a:pt x="3" y="3"/>
                    </a:lnTo>
                    <a:lnTo>
                      <a:pt x="5" y="1"/>
                    </a:lnTo>
                    <a:lnTo>
                      <a:pt x="3"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35" name="Freeform 541"/>
              <p:cNvSpPr>
                <a:spLocks/>
              </p:cNvSpPr>
              <p:nvPr userDrawn="1"/>
            </p:nvSpPr>
            <p:spPr bwMode="gray">
              <a:xfrm>
                <a:off x="3503" y="1950"/>
                <a:ext cx="9" cy="18"/>
              </a:xfrm>
              <a:custGeom>
                <a:avLst/>
                <a:gdLst>
                  <a:gd name="T0" fmla="*/ 0 w 9"/>
                  <a:gd name="T1" fmla="*/ 18 h 18"/>
                  <a:gd name="T2" fmla="*/ 3 w 9"/>
                  <a:gd name="T3" fmla="*/ 14 h 18"/>
                  <a:gd name="T4" fmla="*/ 7 w 9"/>
                  <a:gd name="T5" fmla="*/ 9 h 18"/>
                  <a:gd name="T6" fmla="*/ 9 w 9"/>
                  <a:gd name="T7" fmla="*/ 5 h 18"/>
                  <a:gd name="T8" fmla="*/ 9 w 9"/>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0" y="18"/>
                    </a:moveTo>
                    <a:lnTo>
                      <a:pt x="3" y="14"/>
                    </a:lnTo>
                    <a:lnTo>
                      <a:pt x="7" y="9"/>
                    </a:lnTo>
                    <a:lnTo>
                      <a:pt x="9" y="5"/>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36" name="Freeform 542"/>
              <p:cNvSpPr>
                <a:spLocks/>
              </p:cNvSpPr>
              <p:nvPr userDrawn="1"/>
            </p:nvSpPr>
            <p:spPr bwMode="gray">
              <a:xfrm>
                <a:off x="3307" y="1154"/>
                <a:ext cx="19" cy="2"/>
              </a:xfrm>
              <a:custGeom>
                <a:avLst/>
                <a:gdLst>
                  <a:gd name="T0" fmla="*/ 19 w 19"/>
                  <a:gd name="T1" fmla="*/ 2 h 2"/>
                  <a:gd name="T2" fmla="*/ 14 w 19"/>
                  <a:gd name="T3" fmla="*/ 0 h 2"/>
                  <a:gd name="T4" fmla="*/ 9 w 19"/>
                  <a:gd name="T5" fmla="*/ 0 h 2"/>
                  <a:gd name="T6" fmla="*/ 3 w 19"/>
                  <a:gd name="T7" fmla="*/ 0 h 2"/>
                  <a:gd name="T8" fmla="*/ 0 w 19"/>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
                    <a:moveTo>
                      <a:pt x="19" y="2"/>
                    </a:moveTo>
                    <a:lnTo>
                      <a:pt x="14" y="0"/>
                    </a:lnTo>
                    <a:lnTo>
                      <a:pt x="9" y="0"/>
                    </a:lnTo>
                    <a:lnTo>
                      <a:pt x="3"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37" name="Freeform 543"/>
              <p:cNvSpPr>
                <a:spLocks/>
              </p:cNvSpPr>
              <p:nvPr userDrawn="1"/>
            </p:nvSpPr>
            <p:spPr bwMode="gray">
              <a:xfrm>
                <a:off x="2347" y="1774"/>
                <a:ext cx="10" cy="17"/>
              </a:xfrm>
              <a:custGeom>
                <a:avLst/>
                <a:gdLst>
                  <a:gd name="T0" fmla="*/ 0 w 10"/>
                  <a:gd name="T1" fmla="*/ 0 h 17"/>
                  <a:gd name="T2" fmla="*/ 3 w 10"/>
                  <a:gd name="T3" fmla="*/ 3 h 17"/>
                  <a:gd name="T4" fmla="*/ 7 w 10"/>
                  <a:gd name="T5" fmla="*/ 7 h 17"/>
                  <a:gd name="T6" fmla="*/ 9 w 10"/>
                  <a:gd name="T7" fmla="*/ 12 h 17"/>
                  <a:gd name="T8" fmla="*/ 10 w 10"/>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7">
                    <a:moveTo>
                      <a:pt x="0" y="0"/>
                    </a:moveTo>
                    <a:lnTo>
                      <a:pt x="3" y="3"/>
                    </a:lnTo>
                    <a:lnTo>
                      <a:pt x="7" y="7"/>
                    </a:lnTo>
                    <a:lnTo>
                      <a:pt x="9" y="12"/>
                    </a:lnTo>
                    <a:lnTo>
                      <a:pt x="10" y="1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38" name="Freeform 544"/>
              <p:cNvSpPr>
                <a:spLocks/>
              </p:cNvSpPr>
              <p:nvPr userDrawn="1"/>
            </p:nvSpPr>
            <p:spPr bwMode="gray">
              <a:xfrm>
                <a:off x="3529" y="1338"/>
                <a:ext cx="7" cy="9"/>
              </a:xfrm>
              <a:custGeom>
                <a:avLst/>
                <a:gdLst>
                  <a:gd name="T0" fmla="*/ 0 w 7"/>
                  <a:gd name="T1" fmla="*/ 0 h 9"/>
                  <a:gd name="T2" fmla="*/ 4 w 7"/>
                  <a:gd name="T3" fmla="*/ 0 h 9"/>
                  <a:gd name="T4" fmla="*/ 5 w 7"/>
                  <a:gd name="T5" fmla="*/ 2 h 9"/>
                  <a:gd name="T6" fmla="*/ 7 w 7"/>
                  <a:gd name="T7" fmla="*/ 4 h 9"/>
                  <a:gd name="T8" fmla="*/ 7 w 7"/>
                  <a:gd name="T9" fmla="*/ 7 h 9"/>
                  <a:gd name="T10" fmla="*/ 4 w 7"/>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0" y="0"/>
                    </a:moveTo>
                    <a:lnTo>
                      <a:pt x="4" y="0"/>
                    </a:lnTo>
                    <a:lnTo>
                      <a:pt x="5" y="2"/>
                    </a:lnTo>
                    <a:lnTo>
                      <a:pt x="7" y="4"/>
                    </a:lnTo>
                    <a:lnTo>
                      <a:pt x="7" y="7"/>
                    </a:lnTo>
                    <a:lnTo>
                      <a:pt x="4"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39" name="Line 545"/>
              <p:cNvSpPr>
                <a:spLocks noChangeShapeType="1"/>
              </p:cNvSpPr>
              <p:nvPr userDrawn="1"/>
            </p:nvSpPr>
            <p:spPr bwMode="gray">
              <a:xfrm flipH="1">
                <a:off x="3533" y="1226"/>
                <a:ext cx="7" cy="23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40" name="Line 546"/>
              <p:cNvSpPr>
                <a:spLocks noChangeShapeType="1"/>
              </p:cNvSpPr>
              <p:nvPr userDrawn="1"/>
            </p:nvSpPr>
            <p:spPr bwMode="gray">
              <a:xfrm flipH="1">
                <a:off x="3527" y="1221"/>
                <a:ext cx="6" cy="23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41" name="Freeform 547"/>
              <p:cNvSpPr>
                <a:spLocks/>
              </p:cNvSpPr>
              <p:nvPr userDrawn="1"/>
            </p:nvSpPr>
            <p:spPr bwMode="gray">
              <a:xfrm>
                <a:off x="3527" y="1452"/>
                <a:ext cx="6" cy="22"/>
              </a:xfrm>
              <a:custGeom>
                <a:avLst/>
                <a:gdLst>
                  <a:gd name="T0" fmla="*/ 0 w 6"/>
                  <a:gd name="T1" fmla="*/ 0 h 22"/>
                  <a:gd name="T2" fmla="*/ 2 w 6"/>
                  <a:gd name="T3" fmla="*/ 5 h 22"/>
                  <a:gd name="T4" fmla="*/ 6 w 6"/>
                  <a:gd name="T5" fmla="*/ 8 h 22"/>
                  <a:gd name="T6" fmla="*/ 6 w 6"/>
                  <a:gd name="T7" fmla="*/ 12 h 22"/>
                  <a:gd name="T8" fmla="*/ 6 w 6"/>
                  <a:gd name="T9" fmla="*/ 17 h 22"/>
                  <a:gd name="T10" fmla="*/ 2 w 6"/>
                  <a:gd name="T11" fmla="*/ 22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22">
                    <a:moveTo>
                      <a:pt x="0" y="0"/>
                    </a:moveTo>
                    <a:lnTo>
                      <a:pt x="2" y="5"/>
                    </a:lnTo>
                    <a:lnTo>
                      <a:pt x="6" y="8"/>
                    </a:lnTo>
                    <a:lnTo>
                      <a:pt x="6" y="12"/>
                    </a:lnTo>
                    <a:lnTo>
                      <a:pt x="6" y="17"/>
                    </a:lnTo>
                    <a:lnTo>
                      <a:pt x="2" y="2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42" name="Line 548"/>
              <p:cNvSpPr>
                <a:spLocks noChangeShapeType="1"/>
              </p:cNvSpPr>
              <p:nvPr userDrawn="1"/>
            </p:nvSpPr>
            <p:spPr bwMode="gray">
              <a:xfrm flipV="1">
                <a:off x="3529" y="1230"/>
                <a:ext cx="7" cy="24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43" name="Freeform 549"/>
              <p:cNvSpPr>
                <a:spLocks/>
              </p:cNvSpPr>
              <p:nvPr userDrawn="1"/>
            </p:nvSpPr>
            <p:spPr bwMode="gray">
              <a:xfrm>
                <a:off x="3533" y="1221"/>
                <a:ext cx="7" cy="9"/>
              </a:xfrm>
              <a:custGeom>
                <a:avLst/>
                <a:gdLst>
                  <a:gd name="T0" fmla="*/ 3 w 7"/>
                  <a:gd name="T1" fmla="*/ 9 h 9"/>
                  <a:gd name="T2" fmla="*/ 7 w 7"/>
                  <a:gd name="T3" fmla="*/ 7 h 9"/>
                  <a:gd name="T4" fmla="*/ 7 w 7"/>
                  <a:gd name="T5" fmla="*/ 5 h 9"/>
                  <a:gd name="T6" fmla="*/ 5 w 7"/>
                  <a:gd name="T7" fmla="*/ 3 h 9"/>
                  <a:gd name="T8" fmla="*/ 3 w 7"/>
                  <a:gd name="T9" fmla="*/ 2 h 9"/>
                  <a:gd name="T10" fmla="*/ 0 w 7"/>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3" y="9"/>
                    </a:moveTo>
                    <a:lnTo>
                      <a:pt x="7" y="7"/>
                    </a:lnTo>
                    <a:lnTo>
                      <a:pt x="7" y="5"/>
                    </a:lnTo>
                    <a:lnTo>
                      <a:pt x="5" y="3"/>
                    </a:lnTo>
                    <a:lnTo>
                      <a:pt x="3"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44" name="Freeform 550"/>
              <p:cNvSpPr>
                <a:spLocks/>
              </p:cNvSpPr>
              <p:nvPr userDrawn="1"/>
            </p:nvSpPr>
            <p:spPr bwMode="gray">
              <a:xfrm>
                <a:off x="3143" y="1985"/>
                <a:ext cx="12" cy="9"/>
              </a:xfrm>
              <a:custGeom>
                <a:avLst/>
                <a:gdLst>
                  <a:gd name="T0" fmla="*/ 12 w 12"/>
                  <a:gd name="T1" fmla="*/ 2 h 9"/>
                  <a:gd name="T2" fmla="*/ 8 w 12"/>
                  <a:gd name="T3" fmla="*/ 0 h 9"/>
                  <a:gd name="T4" fmla="*/ 5 w 12"/>
                  <a:gd name="T5" fmla="*/ 2 h 9"/>
                  <a:gd name="T6" fmla="*/ 1 w 12"/>
                  <a:gd name="T7" fmla="*/ 4 h 9"/>
                  <a:gd name="T8" fmla="*/ 1 w 12"/>
                  <a:gd name="T9" fmla="*/ 5 h 9"/>
                  <a:gd name="T10" fmla="*/ 0 w 12"/>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9">
                    <a:moveTo>
                      <a:pt x="12" y="2"/>
                    </a:moveTo>
                    <a:lnTo>
                      <a:pt x="8" y="0"/>
                    </a:lnTo>
                    <a:lnTo>
                      <a:pt x="5" y="2"/>
                    </a:lnTo>
                    <a:lnTo>
                      <a:pt x="1" y="4"/>
                    </a:lnTo>
                    <a:lnTo>
                      <a:pt x="1" y="5"/>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45" name="Freeform 551"/>
              <p:cNvSpPr>
                <a:spLocks/>
              </p:cNvSpPr>
              <p:nvPr userDrawn="1"/>
            </p:nvSpPr>
            <p:spPr bwMode="gray">
              <a:xfrm>
                <a:off x="3220" y="1182"/>
                <a:ext cx="10" cy="16"/>
              </a:xfrm>
              <a:custGeom>
                <a:avLst/>
                <a:gdLst>
                  <a:gd name="T0" fmla="*/ 10 w 10"/>
                  <a:gd name="T1" fmla="*/ 16 h 16"/>
                  <a:gd name="T2" fmla="*/ 10 w 10"/>
                  <a:gd name="T3" fmla="*/ 11 h 16"/>
                  <a:gd name="T4" fmla="*/ 8 w 10"/>
                  <a:gd name="T5" fmla="*/ 6 h 16"/>
                  <a:gd name="T6" fmla="*/ 5 w 10"/>
                  <a:gd name="T7" fmla="*/ 2 h 16"/>
                  <a:gd name="T8" fmla="*/ 0 w 10"/>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10" y="16"/>
                    </a:moveTo>
                    <a:lnTo>
                      <a:pt x="10" y="11"/>
                    </a:lnTo>
                    <a:lnTo>
                      <a:pt x="8" y="6"/>
                    </a:lnTo>
                    <a:lnTo>
                      <a:pt x="5"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46" name="Line 552"/>
              <p:cNvSpPr>
                <a:spLocks noChangeShapeType="1"/>
              </p:cNvSpPr>
              <p:nvPr userDrawn="1"/>
            </p:nvSpPr>
            <p:spPr bwMode="gray">
              <a:xfrm flipV="1">
                <a:off x="3151" y="1147"/>
                <a:ext cx="152" cy="8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47" name="Line 553"/>
              <p:cNvSpPr>
                <a:spLocks noChangeShapeType="1"/>
              </p:cNvSpPr>
              <p:nvPr userDrawn="1"/>
            </p:nvSpPr>
            <p:spPr bwMode="gray">
              <a:xfrm flipV="1">
                <a:off x="3155" y="1156"/>
                <a:ext cx="152" cy="8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48" name="Freeform 554"/>
              <p:cNvSpPr>
                <a:spLocks/>
              </p:cNvSpPr>
              <p:nvPr userDrawn="1"/>
            </p:nvSpPr>
            <p:spPr bwMode="gray">
              <a:xfrm>
                <a:off x="3295" y="1140"/>
                <a:ext cx="12" cy="16"/>
              </a:xfrm>
              <a:custGeom>
                <a:avLst/>
                <a:gdLst>
                  <a:gd name="T0" fmla="*/ 12 w 12"/>
                  <a:gd name="T1" fmla="*/ 16 h 16"/>
                  <a:gd name="T2" fmla="*/ 10 w 12"/>
                  <a:gd name="T3" fmla="*/ 11 h 16"/>
                  <a:gd name="T4" fmla="*/ 8 w 12"/>
                  <a:gd name="T5" fmla="*/ 7 h 16"/>
                  <a:gd name="T6" fmla="*/ 5 w 12"/>
                  <a:gd name="T7" fmla="*/ 2 h 16"/>
                  <a:gd name="T8" fmla="*/ 0 w 12"/>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6">
                    <a:moveTo>
                      <a:pt x="12" y="16"/>
                    </a:moveTo>
                    <a:lnTo>
                      <a:pt x="10" y="11"/>
                    </a:lnTo>
                    <a:lnTo>
                      <a:pt x="8" y="7"/>
                    </a:lnTo>
                    <a:lnTo>
                      <a:pt x="5"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49" name="Line 555"/>
              <p:cNvSpPr>
                <a:spLocks noChangeShapeType="1"/>
              </p:cNvSpPr>
              <p:nvPr userDrawn="1"/>
            </p:nvSpPr>
            <p:spPr bwMode="gray">
              <a:xfrm flipH="1">
                <a:off x="3143" y="1140"/>
                <a:ext cx="152" cy="8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50" name="Freeform 556"/>
              <p:cNvSpPr>
                <a:spLocks/>
              </p:cNvSpPr>
              <p:nvPr userDrawn="1"/>
            </p:nvSpPr>
            <p:spPr bwMode="gray">
              <a:xfrm>
                <a:off x="3143" y="1223"/>
                <a:ext cx="12" cy="17"/>
              </a:xfrm>
              <a:custGeom>
                <a:avLst/>
                <a:gdLst>
                  <a:gd name="T0" fmla="*/ 12 w 12"/>
                  <a:gd name="T1" fmla="*/ 17 h 17"/>
                  <a:gd name="T2" fmla="*/ 10 w 12"/>
                  <a:gd name="T3" fmla="*/ 12 h 17"/>
                  <a:gd name="T4" fmla="*/ 8 w 12"/>
                  <a:gd name="T5" fmla="*/ 7 h 17"/>
                  <a:gd name="T6" fmla="*/ 5 w 12"/>
                  <a:gd name="T7" fmla="*/ 3 h 17"/>
                  <a:gd name="T8" fmla="*/ 0 w 12"/>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7">
                    <a:moveTo>
                      <a:pt x="12" y="17"/>
                    </a:moveTo>
                    <a:lnTo>
                      <a:pt x="10" y="12"/>
                    </a:lnTo>
                    <a:lnTo>
                      <a:pt x="8" y="7"/>
                    </a:lnTo>
                    <a:lnTo>
                      <a:pt x="5" y="3"/>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51" name="Freeform 557"/>
              <p:cNvSpPr>
                <a:spLocks/>
              </p:cNvSpPr>
              <p:nvPr userDrawn="1"/>
            </p:nvSpPr>
            <p:spPr bwMode="gray">
              <a:xfrm>
                <a:off x="3232" y="1172"/>
                <a:ext cx="10" cy="17"/>
              </a:xfrm>
              <a:custGeom>
                <a:avLst/>
                <a:gdLst>
                  <a:gd name="T0" fmla="*/ 10 w 10"/>
                  <a:gd name="T1" fmla="*/ 17 h 17"/>
                  <a:gd name="T2" fmla="*/ 7 w 10"/>
                  <a:gd name="T3" fmla="*/ 14 h 17"/>
                  <a:gd name="T4" fmla="*/ 3 w 10"/>
                  <a:gd name="T5" fmla="*/ 10 h 17"/>
                  <a:gd name="T6" fmla="*/ 0 w 10"/>
                  <a:gd name="T7" fmla="*/ 5 h 17"/>
                  <a:gd name="T8" fmla="*/ 0 w 1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7">
                    <a:moveTo>
                      <a:pt x="10" y="17"/>
                    </a:moveTo>
                    <a:lnTo>
                      <a:pt x="7" y="14"/>
                    </a:lnTo>
                    <a:lnTo>
                      <a:pt x="3" y="10"/>
                    </a:lnTo>
                    <a:lnTo>
                      <a:pt x="0"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52" name="Line 558"/>
              <p:cNvSpPr>
                <a:spLocks noChangeShapeType="1"/>
              </p:cNvSpPr>
              <p:nvPr userDrawn="1"/>
            </p:nvSpPr>
            <p:spPr bwMode="gray">
              <a:xfrm flipH="1">
                <a:off x="3158" y="1140"/>
                <a:ext cx="152" cy="8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53" name="Line 559"/>
              <p:cNvSpPr>
                <a:spLocks noChangeShapeType="1"/>
              </p:cNvSpPr>
              <p:nvPr userDrawn="1"/>
            </p:nvSpPr>
            <p:spPr bwMode="gray">
              <a:xfrm flipH="1">
                <a:off x="3165" y="1147"/>
                <a:ext cx="152" cy="8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54" name="Freeform 560"/>
              <p:cNvSpPr>
                <a:spLocks/>
              </p:cNvSpPr>
              <p:nvPr userDrawn="1"/>
            </p:nvSpPr>
            <p:spPr bwMode="gray">
              <a:xfrm>
                <a:off x="3155" y="1214"/>
                <a:ext cx="10" cy="17"/>
              </a:xfrm>
              <a:custGeom>
                <a:avLst/>
                <a:gdLst>
                  <a:gd name="T0" fmla="*/ 10 w 10"/>
                  <a:gd name="T1" fmla="*/ 17 h 17"/>
                  <a:gd name="T2" fmla="*/ 7 w 10"/>
                  <a:gd name="T3" fmla="*/ 14 h 17"/>
                  <a:gd name="T4" fmla="*/ 3 w 10"/>
                  <a:gd name="T5" fmla="*/ 10 h 17"/>
                  <a:gd name="T6" fmla="*/ 0 w 10"/>
                  <a:gd name="T7" fmla="*/ 5 h 17"/>
                  <a:gd name="T8" fmla="*/ 0 w 1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7">
                    <a:moveTo>
                      <a:pt x="10" y="17"/>
                    </a:moveTo>
                    <a:lnTo>
                      <a:pt x="7" y="14"/>
                    </a:lnTo>
                    <a:lnTo>
                      <a:pt x="3" y="10"/>
                    </a:lnTo>
                    <a:lnTo>
                      <a:pt x="0"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55" name="Line 561"/>
              <p:cNvSpPr>
                <a:spLocks noChangeShapeType="1"/>
              </p:cNvSpPr>
              <p:nvPr userDrawn="1"/>
            </p:nvSpPr>
            <p:spPr bwMode="gray">
              <a:xfrm flipV="1">
                <a:off x="3155" y="1132"/>
                <a:ext cx="152" cy="8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56" name="Freeform 562"/>
              <p:cNvSpPr>
                <a:spLocks/>
              </p:cNvSpPr>
              <p:nvPr userDrawn="1"/>
            </p:nvSpPr>
            <p:spPr bwMode="gray">
              <a:xfrm>
                <a:off x="3307" y="1132"/>
                <a:ext cx="10" cy="15"/>
              </a:xfrm>
              <a:custGeom>
                <a:avLst/>
                <a:gdLst>
                  <a:gd name="T0" fmla="*/ 10 w 10"/>
                  <a:gd name="T1" fmla="*/ 15 h 15"/>
                  <a:gd name="T2" fmla="*/ 7 w 10"/>
                  <a:gd name="T3" fmla="*/ 14 h 15"/>
                  <a:gd name="T4" fmla="*/ 3 w 10"/>
                  <a:gd name="T5" fmla="*/ 8 h 15"/>
                  <a:gd name="T6" fmla="*/ 0 w 10"/>
                  <a:gd name="T7" fmla="*/ 5 h 15"/>
                  <a:gd name="T8" fmla="*/ 0 w 10"/>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5">
                    <a:moveTo>
                      <a:pt x="10" y="15"/>
                    </a:moveTo>
                    <a:lnTo>
                      <a:pt x="7" y="14"/>
                    </a:lnTo>
                    <a:lnTo>
                      <a:pt x="3" y="8"/>
                    </a:lnTo>
                    <a:lnTo>
                      <a:pt x="0"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57" name="Freeform 563"/>
              <p:cNvSpPr>
                <a:spLocks/>
              </p:cNvSpPr>
              <p:nvPr userDrawn="1"/>
            </p:nvSpPr>
            <p:spPr bwMode="gray">
              <a:xfrm>
                <a:off x="3450" y="1256"/>
                <a:ext cx="13" cy="17"/>
              </a:xfrm>
              <a:custGeom>
                <a:avLst/>
                <a:gdLst>
                  <a:gd name="T0" fmla="*/ 0 w 13"/>
                  <a:gd name="T1" fmla="*/ 0 h 17"/>
                  <a:gd name="T2" fmla="*/ 6 w 13"/>
                  <a:gd name="T3" fmla="*/ 2 h 17"/>
                  <a:gd name="T4" fmla="*/ 9 w 13"/>
                  <a:gd name="T5" fmla="*/ 7 h 17"/>
                  <a:gd name="T6" fmla="*/ 11 w 13"/>
                  <a:gd name="T7" fmla="*/ 10 h 17"/>
                  <a:gd name="T8" fmla="*/ 13 w 1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7">
                    <a:moveTo>
                      <a:pt x="0" y="0"/>
                    </a:moveTo>
                    <a:lnTo>
                      <a:pt x="6" y="2"/>
                    </a:lnTo>
                    <a:lnTo>
                      <a:pt x="9" y="7"/>
                    </a:lnTo>
                    <a:lnTo>
                      <a:pt x="11" y="10"/>
                    </a:lnTo>
                    <a:lnTo>
                      <a:pt x="13" y="1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58" name="Line 564"/>
              <p:cNvSpPr>
                <a:spLocks noChangeShapeType="1"/>
              </p:cNvSpPr>
              <p:nvPr userDrawn="1"/>
            </p:nvSpPr>
            <p:spPr bwMode="gray">
              <a:xfrm flipV="1">
                <a:off x="3384" y="1219"/>
                <a:ext cx="150" cy="8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59" name="Line 565"/>
              <p:cNvSpPr>
                <a:spLocks noChangeShapeType="1"/>
              </p:cNvSpPr>
              <p:nvPr userDrawn="1"/>
            </p:nvSpPr>
            <p:spPr bwMode="gray">
              <a:xfrm flipV="1">
                <a:off x="3375" y="1214"/>
                <a:ext cx="151" cy="8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60" name="Freeform 566"/>
              <p:cNvSpPr>
                <a:spLocks/>
              </p:cNvSpPr>
              <p:nvPr userDrawn="1"/>
            </p:nvSpPr>
            <p:spPr bwMode="gray">
              <a:xfrm>
                <a:off x="3526" y="1214"/>
                <a:ext cx="10" cy="16"/>
              </a:xfrm>
              <a:custGeom>
                <a:avLst/>
                <a:gdLst>
                  <a:gd name="T0" fmla="*/ 0 w 10"/>
                  <a:gd name="T1" fmla="*/ 0 h 16"/>
                  <a:gd name="T2" fmla="*/ 5 w 10"/>
                  <a:gd name="T3" fmla="*/ 2 h 16"/>
                  <a:gd name="T4" fmla="*/ 8 w 10"/>
                  <a:gd name="T5" fmla="*/ 5 h 16"/>
                  <a:gd name="T6" fmla="*/ 10 w 10"/>
                  <a:gd name="T7" fmla="*/ 10 h 16"/>
                  <a:gd name="T8" fmla="*/ 10 w 10"/>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0" y="0"/>
                    </a:moveTo>
                    <a:lnTo>
                      <a:pt x="5" y="2"/>
                    </a:lnTo>
                    <a:lnTo>
                      <a:pt x="8" y="5"/>
                    </a:lnTo>
                    <a:lnTo>
                      <a:pt x="10" y="10"/>
                    </a:lnTo>
                    <a:lnTo>
                      <a:pt x="10"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61" name="Line 567"/>
              <p:cNvSpPr>
                <a:spLocks noChangeShapeType="1"/>
              </p:cNvSpPr>
              <p:nvPr userDrawn="1"/>
            </p:nvSpPr>
            <p:spPr bwMode="gray">
              <a:xfrm flipH="1">
                <a:off x="3386" y="1230"/>
                <a:ext cx="150" cy="8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62" name="Freeform 568"/>
              <p:cNvSpPr>
                <a:spLocks/>
              </p:cNvSpPr>
              <p:nvPr userDrawn="1"/>
            </p:nvSpPr>
            <p:spPr bwMode="gray">
              <a:xfrm>
                <a:off x="3375" y="1300"/>
                <a:ext cx="11" cy="15"/>
              </a:xfrm>
              <a:custGeom>
                <a:avLst/>
                <a:gdLst>
                  <a:gd name="T0" fmla="*/ 11 w 11"/>
                  <a:gd name="T1" fmla="*/ 15 h 15"/>
                  <a:gd name="T2" fmla="*/ 11 w 11"/>
                  <a:gd name="T3" fmla="*/ 10 h 15"/>
                  <a:gd name="T4" fmla="*/ 9 w 11"/>
                  <a:gd name="T5" fmla="*/ 5 h 15"/>
                  <a:gd name="T6" fmla="*/ 5 w 11"/>
                  <a:gd name="T7" fmla="*/ 1 h 15"/>
                  <a:gd name="T8" fmla="*/ 0 w 11"/>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5">
                    <a:moveTo>
                      <a:pt x="11" y="15"/>
                    </a:moveTo>
                    <a:lnTo>
                      <a:pt x="11" y="10"/>
                    </a:lnTo>
                    <a:lnTo>
                      <a:pt x="9" y="5"/>
                    </a:lnTo>
                    <a:lnTo>
                      <a:pt x="5" y="1"/>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63" name="Freeform 569"/>
              <p:cNvSpPr>
                <a:spLocks/>
              </p:cNvSpPr>
              <p:nvPr userDrawn="1"/>
            </p:nvSpPr>
            <p:spPr bwMode="gray">
              <a:xfrm>
                <a:off x="3431" y="2006"/>
                <a:ext cx="11" cy="9"/>
              </a:xfrm>
              <a:custGeom>
                <a:avLst/>
                <a:gdLst>
                  <a:gd name="T0" fmla="*/ 11 w 11"/>
                  <a:gd name="T1" fmla="*/ 0 h 9"/>
                  <a:gd name="T2" fmla="*/ 11 w 11"/>
                  <a:gd name="T3" fmla="*/ 4 h 9"/>
                  <a:gd name="T4" fmla="*/ 7 w 11"/>
                  <a:gd name="T5" fmla="*/ 7 h 9"/>
                  <a:gd name="T6" fmla="*/ 4 w 11"/>
                  <a:gd name="T7" fmla="*/ 9 h 9"/>
                  <a:gd name="T8" fmla="*/ 0 w 11"/>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9">
                    <a:moveTo>
                      <a:pt x="11" y="0"/>
                    </a:moveTo>
                    <a:lnTo>
                      <a:pt x="11" y="4"/>
                    </a:lnTo>
                    <a:lnTo>
                      <a:pt x="7" y="7"/>
                    </a:lnTo>
                    <a:lnTo>
                      <a:pt x="4" y="9"/>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64" name="Line 570"/>
              <p:cNvSpPr>
                <a:spLocks noChangeShapeType="1"/>
              </p:cNvSpPr>
              <p:nvPr userDrawn="1"/>
            </p:nvSpPr>
            <p:spPr bwMode="gray">
              <a:xfrm flipV="1">
                <a:off x="3365" y="1966"/>
                <a:ext cx="147" cy="9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65" name="Line 571"/>
              <p:cNvSpPr>
                <a:spLocks noChangeShapeType="1"/>
              </p:cNvSpPr>
              <p:nvPr userDrawn="1"/>
            </p:nvSpPr>
            <p:spPr bwMode="gray">
              <a:xfrm flipV="1">
                <a:off x="3368" y="1959"/>
                <a:ext cx="147" cy="9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66" name="Freeform 572"/>
              <p:cNvSpPr>
                <a:spLocks/>
              </p:cNvSpPr>
              <p:nvPr userDrawn="1"/>
            </p:nvSpPr>
            <p:spPr bwMode="gray">
              <a:xfrm>
                <a:off x="3503" y="1959"/>
                <a:ext cx="12" cy="9"/>
              </a:xfrm>
              <a:custGeom>
                <a:avLst/>
                <a:gdLst>
                  <a:gd name="T0" fmla="*/ 12 w 12"/>
                  <a:gd name="T1" fmla="*/ 0 h 9"/>
                  <a:gd name="T2" fmla="*/ 10 w 12"/>
                  <a:gd name="T3" fmla="*/ 5 h 9"/>
                  <a:gd name="T4" fmla="*/ 9 w 12"/>
                  <a:gd name="T5" fmla="*/ 7 h 9"/>
                  <a:gd name="T6" fmla="*/ 5 w 12"/>
                  <a:gd name="T7" fmla="*/ 9 h 9"/>
                  <a:gd name="T8" fmla="*/ 0 w 12"/>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9">
                    <a:moveTo>
                      <a:pt x="12" y="0"/>
                    </a:moveTo>
                    <a:lnTo>
                      <a:pt x="10" y="5"/>
                    </a:lnTo>
                    <a:lnTo>
                      <a:pt x="9" y="7"/>
                    </a:lnTo>
                    <a:lnTo>
                      <a:pt x="5" y="9"/>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67" name="Line 573"/>
              <p:cNvSpPr>
                <a:spLocks noChangeShapeType="1"/>
              </p:cNvSpPr>
              <p:nvPr userDrawn="1"/>
            </p:nvSpPr>
            <p:spPr bwMode="gray">
              <a:xfrm flipH="1">
                <a:off x="3358" y="1968"/>
                <a:ext cx="145" cy="9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68" name="Freeform 574"/>
              <p:cNvSpPr>
                <a:spLocks/>
              </p:cNvSpPr>
              <p:nvPr userDrawn="1"/>
            </p:nvSpPr>
            <p:spPr bwMode="gray">
              <a:xfrm>
                <a:off x="3358" y="2053"/>
                <a:ext cx="10" cy="9"/>
              </a:xfrm>
              <a:custGeom>
                <a:avLst/>
                <a:gdLst>
                  <a:gd name="T0" fmla="*/ 0 w 10"/>
                  <a:gd name="T1" fmla="*/ 9 h 9"/>
                  <a:gd name="T2" fmla="*/ 3 w 10"/>
                  <a:gd name="T3" fmla="*/ 9 h 9"/>
                  <a:gd name="T4" fmla="*/ 7 w 10"/>
                  <a:gd name="T5" fmla="*/ 9 h 9"/>
                  <a:gd name="T6" fmla="*/ 10 w 10"/>
                  <a:gd name="T7" fmla="*/ 6 h 9"/>
                  <a:gd name="T8" fmla="*/ 10 w 10"/>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9">
                    <a:moveTo>
                      <a:pt x="0" y="9"/>
                    </a:moveTo>
                    <a:lnTo>
                      <a:pt x="3" y="9"/>
                    </a:lnTo>
                    <a:lnTo>
                      <a:pt x="7" y="9"/>
                    </a:lnTo>
                    <a:lnTo>
                      <a:pt x="10" y="6"/>
                    </a:lnTo>
                    <a:lnTo>
                      <a:pt x="1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69" name="Freeform 575"/>
              <p:cNvSpPr>
                <a:spLocks/>
              </p:cNvSpPr>
              <p:nvPr userDrawn="1"/>
            </p:nvSpPr>
            <p:spPr bwMode="gray">
              <a:xfrm>
                <a:off x="2377" y="1219"/>
                <a:ext cx="8" cy="16"/>
              </a:xfrm>
              <a:custGeom>
                <a:avLst/>
                <a:gdLst>
                  <a:gd name="T0" fmla="*/ 8 w 8"/>
                  <a:gd name="T1" fmla="*/ 0 h 16"/>
                  <a:gd name="T2" fmla="*/ 7 w 8"/>
                  <a:gd name="T3" fmla="*/ 5 h 16"/>
                  <a:gd name="T4" fmla="*/ 5 w 8"/>
                  <a:gd name="T5" fmla="*/ 9 h 16"/>
                  <a:gd name="T6" fmla="*/ 3 w 8"/>
                  <a:gd name="T7" fmla="*/ 14 h 16"/>
                  <a:gd name="T8" fmla="*/ 0 w 8"/>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6">
                    <a:moveTo>
                      <a:pt x="8" y="0"/>
                    </a:moveTo>
                    <a:lnTo>
                      <a:pt x="7" y="5"/>
                    </a:lnTo>
                    <a:lnTo>
                      <a:pt x="5" y="9"/>
                    </a:lnTo>
                    <a:lnTo>
                      <a:pt x="3" y="14"/>
                    </a:lnTo>
                    <a:lnTo>
                      <a:pt x="0"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70" name="Line 576"/>
              <p:cNvSpPr>
                <a:spLocks noChangeShapeType="1"/>
              </p:cNvSpPr>
              <p:nvPr userDrawn="1"/>
            </p:nvSpPr>
            <p:spPr bwMode="gray">
              <a:xfrm flipH="1" flipV="1">
                <a:off x="2289" y="1196"/>
                <a:ext cx="124" cy="4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71" name="Line 577"/>
              <p:cNvSpPr>
                <a:spLocks noChangeShapeType="1"/>
              </p:cNvSpPr>
              <p:nvPr userDrawn="1"/>
            </p:nvSpPr>
            <p:spPr bwMode="gray">
              <a:xfrm flipH="1" flipV="1">
                <a:off x="2293" y="1188"/>
                <a:ext cx="133" cy="4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72" name="Freeform 578"/>
              <p:cNvSpPr>
                <a:spLocks/>
              </p:cNvSpPr>
              <p:nvPr userDrawn="1"/>
            </p:nvSpPr>
            <p:spPr bwMode="gray">
              <a:xfrm>
                <a:off x="2284" y="1188"/>
                <a:ext cx="9" cy="15"/>
              </a:xfrm>
              <a:custGeom>
                <a:avLst/>
                <a:gdLst>
                  <a:gd name="T0" fmla="*/ 9 w 9"/>
                  <a:gd name="T1" fmla="*/ 0 h 15"/>
                  <a:gd name="T2" fmla="*/ 7 w 9"/>
                  <a:gd name="T3" fmla="*/ 3 h 15"/>
                  <a:gd name="T4" fmla="*/ 5 w 9"/>
                  <a:gd name="T5" fmla="*/ 8 h 15"/>
                  <a:gd name="T6" fmla="*/ 3 w 9"/>
                  <a:gd name="T7" fmla="*/ 12 h 15"/>
                  <a:gd name="T8" fmla="*/ 0 w 9"/>
                  <a:gd name="T9" fmla="*/ 15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5">
                    <a:moveTo>
                      <a:pt x="9" y="0"/>
                    </a:moveTo>
                    <a:lnTo>
                      <a:pt x="7" y="3"/>
                    </a:lnTo>
                    <a:lnTo>
                      <a:pt x="5" y="8"/>
                    </a:lnTo>
                    <a:lnTo>
                      <a:pt x="3" y="12"/>
                    </a:lnTo>
                    <a:lnTo>
                      <a:pt x="0" y="15"/>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73" name="Line 579"/>
              <p:cNvSpPr>
                <a:spLocks noChangeShapeType="1"/>
              </p:cNvSpPr>
              <p:nvPr userDrawn="1"/>
            </p:nvSpPr>
            <p:spPr bwMode="gray">
              <a:xfrm>
                <a:off x="2284" y="1203"/>
                <a:ext cx="119" cy="4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74" name="Freeform 580"/>
              <p:cNvSpPr>
                <a:spLocks/>
              </p:cNvSpPr>
              <p:nvPr userDrawn="1"/>
            </p:nvSpPr>
            <p:spPr bwMode="gray">
              <a:xfrm>
                <a:off x="2286" y="1097"/>
                <a:ext cx="5" cy="8"/>
              </a:xfrm>
              <a:custGeom>
                <a:avLst/>
                <a:gdLst>
                  <a:gd name="T0" fmla="*/ 5 w 5"/>
                  <a:gd name="T1" fmla="*/ 8 h 8"/>
                  <a:gd name="T2" fmla="*/ 1 w 5"/>
                  <a:gd name="T3" fmla="*/ 7 h 8"/>
                  <a:gd name="T4" fmla="*/ 0 w 5"/>
                  <a:gd name="T5" fmla="*/ 5 h 8"/>
                  <a:gd name="T6" fmla="*/ 1 w 5"/>
                  <a:gd name="T7" fmla="*/ 3 h 8"/>
                  <a:gd name="T8" fmla="*/ 3 w 5"/>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8">
                    <a:moveTo>
                      <a:pt x="5" y="8"/>
                    </a:moveTo>
                    <a:lnTo>
                      <a:pt x="1" y="7"/>
                    </a:lnTo>
                    <a:lnTo>
                      <a:pt x="0" y="5"/>
                    </a:lnTo>
                    <a:lnTo>
                      <a:pt x="1" y="3"/>
                    </a:lnTo>
                    <a:lnTo>
                      <a:pt x="3"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75" name="Line 581"/>
              <p:cNvSpPr>
                <a:spLocks noChangeShapeType="1"/>
              </p:cNvSpPr>
              <p:nvPr userDrawn="1"/>
            </p:nvSpPr>
            <p:spPr bwMode="gray">
              <a:xfrm flipH="1" flipV="1">
                <a:off x="2282" y="960"/>
                <a:ext cx="5" cy="22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76" name="Line 582"/>
              <p:cNvSpPr>
                <a:spLocks noChangeShapeType="1"/>
              </p:cNvSpPr>
              <p:nvPr userDrawn="1"/>
            </p:nvSpPr>
            <p:spPr bwMode="gray">
              <a:xfrm flipH="1" flipV="1">
                <a:off x="2287" y="966"/>
                <a:ext cx="6" cy="22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77" name="Freeform 583"/>
              <p:cNvSpPr>
                <a:spLocks/>
              </p:cNvSpPr>
              <p:nvPr userDrawn="1"/>
            </p:nvSpPr>
            <p:spPr bwMode="gray">
              <a:xfrm>
                <a:off x="2284" y="957"/>
                <a:ext cx="3" cy="9"/>
              </a:xfrm>
              <a:custGeom>
                <a:avLst/>
                <a:gdLst>
                  <a:gd name="T0" fmla="*/ 3 w 3"/>
                  <a:gd name="T1" fmla="*/ 9 h 9"/>
                  <a:gd name="T2" fmla="*/ 0 w 3"/>
                  <a:gd name="T3" fmla="*/ 7 h 9"/>
                  <a:gd name="T4" fmla="*/ 0 w 3"/>
                  <a:gd name="T5" fmla="*/ 5 h 9"/>
                  <a:gd name="T6" fmla="*/ 0 w 3"/>
                  <a:gd name="T7" fmla="*/ 2 h 9"/>
                  <a:gd name="T8" fmla="*/ 2 w 3"/>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9">
                    <a:moveTo>
                      <a:pt x="3" y="9"/>
                    </a:moveTo>
                    <a:lnTo>
                      <a:pt x="0" y="7"/>
                    </a:lnTo>
                    <a:lnTo>
                      <a:pt x="0" y="5"/>
                    </a:lnTo>
                    <a:lnTo>
                      <a:pt x="0" y="2"/>
                    </a:lnTo>
                    <a:lnTo>
                      <a:pt x="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78" name="Line 584"/>
              <p:cNvSpPr>
                <a:spLocks noChangeShapeType="1"/>
              </p:cNvSpPr>
              <p:nvPr userDrawn="1"/>
            </p:nvSpPr>
            <p:spPr bwMode="gray">
              <a:xfrm>
                <a:off x="2286" y="957"/>
                <a:ext cx="5" cy="23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79" name="Freeform 585"/>
              <p:cNvSpPr>
                <a:spLocks/>
              </p:cNvSpPr>
              <p:nvPr userDrawn="1"/>
            </p:nvSpPr>
            <p:spPr bwMode="gray">
              <a:xfrm>
                <a:off x="2287" y="1188"/>
                <a:ext cx="6" cy="3"/>
              </a:xfrm>
              <a:custGeom>
                <a:avLst/>
                <a:gdLst>
                  <a:gd name="T0" fmla="*/ 6 w 6"/>
                  <a:gd name="T1" fmla="*/ 0 h 3"/>
                  <a:gd name="T2" fmla="*/ 2 w 6"/>
                  <a:gd name="T3" fmla="*/ 0 h 3"/>
                  <a:gd name="T4" fmla="*/ 0 w 6"/>
                  <a:gd name="T5" fmla="*/ 1 h 3"/>
                  <a:gd name="T6" fmla="*/ 0 w 6"/>
                  <a:gd name="T7" fmla="*/ 1 h 3"/>
                  <a:gd name="T8" fmla="*/ 0 w 6"/>
                  <a:gd name="T9" fmla="*/ 3 h 3"/>
                  <a:gd name="T10" fmla="*/ 2 w 6"/>
                  <a:gd name="T11" fmla="*/ 3 h 3"/>
                  <a:gd name="T12" fmla="*/ 4 w 6"/>
                  <a:gd name="T13" fmla="*/ 3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3">
                    <a:moveTo>
                      <a:pt x="6" y="0"/>
                    </a:moveTo>
                    <a:lnTo>
                      <a:pt x="2" y="0"/>
                    </a:lnTo>
                    <a:lnTo>
                      <a:pt x="0" y="1"/>
                    </a:lnTo>
                    <a:lnTo>
                      <a:pt x="0" y="3"/>
                    </a:lnTo>
                    <a:lnTo>
                      <a:pt x="2" y="3"/>
                    </a:lnTo>
                    <a:lnTo>
                      <a:pt x="4" y="3"/>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80" name="Freeform 586"/>
              <p:cNvSpPr>
                <a:spLocks/>
              </p:cNvSpPr>
              <p:nvPr userDrawn="1"/>
            </p:nvSpPr>
            <p:spPr bwMode="gray">
              <a:xfrm>
                <a:off x="2380" y="978"/>
                <a:ext cx="9" cy="17"/>
              </a:xfrm>
              <a:custGeom>
                <a:avLst/>
                <a:gdLst>
                  <a:gd name="T0" fmla="*/ 0 w 9"/>
                  <a:gd name="T1" fmla="*/ 17 h 17"/>
                  <a:gd name="T2" fmla="*/ 2 w 9"/>
                  <a:gd name="T3" fmla="*/ 12 h 17"/>
                  <a:gd name="T4" fmla="*/ 4 w 9"/>
                  <a:gd name="T5" fmla="*/ 7 h 17"/>
                  <a:gd name="T6" fmla="*/ 5 w 9"/>
                  <a:gd name="T7" fmla="*/ 3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2" y="12"/>
                    </a:lnTo>
                    <a:lnTo>
                      <a:pt x="4" y="7"/>
                    </a:lnTo>
                    <a:lnTo>
                      <a:pt x="5" y="3"/>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81" name="Line 587"/>
              <p:cNvSpPr>
                <a:spLocks noChangeShapeType="1"/>
              </p:cNvSpPr>
              <p:nvPr userDrawn="1"/>
            </p:nvSpPr>
            <p:spPr bwMode="gray">
              <a:xfrm>
                <a:off x="2289" y="955"/>
                <a:ext cx="189" cy="6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82" name="Line 588"/>
              <p:cNvSpPr>
                <a:spLocks noChangeShapeType="1"/>
              </p:cNvSpPr>
              <p:nvPr userDrawn="1"/>
            </p:nvSpPr>
            <p:spPr bwMode="gray">
              <a:xfrm>
                <a:off x="2287" y="966"/>
                <a:ext cx="188" cy="6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83" name="Freeform 589"/>
              <p:cNvSpPr>
                <a:spLocks/>
              </p:cNvSpPr>
              <p:nvPr userDrawn="1"/>
            </p:nvSpPr>
            <p:spPr bwMode="gray">
              <a:xfrm>
                <a:off x="2475" y="1009"/>
                <a:ext cx="8" cy="18"/>
              </a:xfrm>
              <a:custGeom>
                <a:avLst/>
                <a:gdLst>
                  <a:gd name="T0" fmla="*/ 0 w 8"/>
                  <a:gd name="T1" fmla="*/ 18 h 18"/>
                  <a:gd name="T2" fmla="*/ 1 w 8"/>
                  <a:gd name="T3" fmla="*/ 13 h 18"/>
                  <a:gd name="T4" fmla="*/ 3 w 8"/>
                  <a:gd name="T5" fmla="*/ 7 h 18"/>
                  <a:gd name="T6" fmla="*/ 5 w 8"/>
                  <a:gd name="T7" fmla="*/ 4 h 18"/>
                  <a:gd name="T8" fmla="*/ 8 w 8"/>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8">
                    <a:moveTo>
                      <a:pt x="0" y="18"/>
                    </a:moveTo>
                    <a:lnTo>
                      <a:pt x="1" y="13"/>
                    </a:lnTo>
                    <a:lnTo>
                      <a:pt x="3" y="7"/>
                    </a:lnTo>
                    <a:lnTo>
                      <a:pt x="5" y="4"/>
                    </a:lnTo>
                    <a:lnTo>
                      <a:pt x="8"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84" name="Line 590"/>
              <p:cNvSpPr>
                <a:spLocks noChangeShapeType="1"/>
              </p:cNvSpPr>
              <p:nvPr userDrawn="1"/>
            </p:nvSpPr>
            <p:spPr bwMode="gray">
              <a:xfrm flipH="1" flipV="1">
                <a:off x="2296" y="948"/>
                <a:ext cx="187" cy="6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85" name="Freeform 591"/>
              <p:cNvSpPr>
                <a:spLocks/>
              </p:cNvSpPr>
              <p:nvPr userDrawn="1"/>
            </p:nvSpPr>
            <p:spPr bwMode="gray">
              <a:xfrm>
                <a:off x="2287" y="948"/>
                <a:ext cx="9" cy="18"/>
              </a:xfrm>
              <a:custGeom>
                <a:avLst/>
                <a:gdLst>
                  <a:gd name="T0" fmla="*/ 9 w 9"/>
                  <a:gd name="T1" fmla="*/ 0 h 18"/>
                  <a:gd name="T2" fmla="*/ 6 w 9"/>
                  <a:gd name="T3" fmla="*/ 4 h 18"/>
                  <a:gd name="T4" fmla="*/ 2 w 9"/>
                  <a:gd name="T5" fmla="*/ 7 h 18"/>
                  <a:gd name="T6" fmla="*/ 0 w 9"/>
                  <a:gd name="T7" fmla="*/ 12 h 18"/>
                  <a:gd name="T8" fmla="*/ 0 w 9"/>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9" y="0"/>
                    </a:moveTo>
                    <a:lnTo>
                      <a:pt x="6" y="4"/>
                    </a:lnTo>
                    <a:lnTo>
                      <a:pt x="2" y="7"/>
                    </a:lnTo>
                    <a:lnTo>
                      <a:pt x="0" y="12"/>
                    </a:lnTo>
                    <a:lnTo>
                      <a:pt x="0" y="1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86" name="Freeform 592"/>
              <p:cNvSpPr>
                <a:spLocks/>
              </p:cNvSpPr>
              <p:nvPr userDrawn="1"/>
            </p:nvSpPr>
            <p:spPr bwMode="gray">
              <a:xfrm>
                <a:off x="2476" y="1167"/>
                <a:ext cx="20" cy="1"/>
              </a:xfrm>
              <a:custGeom>
                <a:avLst/>
                <a:gdLst>
                  <a:gd name="T0" fmla="*/ 0 w 20"/>
                  <a:gd name="T1" fmla="*/ 1 h 1"/>
                  <a:gd name="T2" fmla="*/ 6 w 20"/>
                  <a:gd name="T3" fmla="*/ 1 h 1"/>
                  <a:gd name="T4" fmla="*/ 11 w 20"/>
                  <a:gd name="T5" fmla="*/ 1 h 1"/>
                  <a:gd name="T6" fmla="*/ 16 w 20"/>
                  <a:gd name="T7" fmla="*/ 1 h 1"/>
                  <a:gd name="T8" fmla="*/ 20 w 20"/>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
                    <a:moveTo>
                      <a:pt x="0" y="1"/>
                    </a:moveTo>
                    <a:lnTo>
                      <a:pt x="6" y="1"/>
                    </a:lnTo>
                    <a:lnTo>
                      <a:pt x="11" y="1"/>
                    </a:lnTo>
                    <a:lnTo>
                      <a:pt x="16" y="1"/>
                    </a:lnTo>
                    <a:lnTo>
                      <a:pt x="2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87" name="Line 593"/>
              <p:cNvSpPr>
                <a:spLocks noChangeShapeType="1"/>
              </p:cNvSpPr>
              <p:nvPr userDrawn="1"/>
            </p:nvSpPr>
            <p:spPr bwMode="gray">
              <a:xfrm>
                <a:off x="2485" y="1027"/>
                <a:ext cx="4" cy="1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88" name="Line 594"/>
              <p:cNvSpPr>
                <a:spLocks noChangeShapeType="1"/>
              </p:cNvSpPr>
              <p:nvPr userDrawn="1"/>
            </p:nvSpPr>
            <p:spPr bwMode="gray">
              <a:xfrm>
                <a:off x="2475" y="1027"/>
                <a:ext cx="3" cy="18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89" name="Line 595"/>
              <p:cNvSpPr>
                <a:spLocks noChangeShapeType="1"/>
              </p:cNvSpPr>
              <p:nvPr userDrawn="1"/>
            </p:nvSpPr>
            <p:spPr bwMode="gray">
              <a:xfrm flipH="1" flipV="1">
                <a:off x="2494" y="1025"/>
                <a:ext cx="3" cy="17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90" name="Freeform 596"/>
              <p:cNvSpPr>
                <a:spLocks/>
              </p:cNvSpPr>
              <p:nvPr userDrawn="1"/>
            </p:nvSpPr>
            <p:spPr bwMode="gray">
              <a:xfrm>
                <a:off x="2475" y="1025"/>
                <a:ext cx="19" cy="2"/>
              </a:xfrm>
              <a:custGeom>
                <a:avLst/>
                <a:gdLst>
                  <a:gd name="T0" fmla="*/ 0 w 19"/>
                  <a:gd name="T1" fmla="*/ 2 h 2"/>
                  <a:gd name="T2" fmla="*/ 7 w 19"/>
                  <a:gd name="T3" fmla="*/ 2 h 2"/>
                  <a:gd name="T4" fmla="*/ 14 w 19"/>
                  <a:gd name="T5" fmla="*/ 2 h 2"/>
                  <a:gd name="T6" fmla="*/ 19 w 19"/>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
                    <a:moveTo>
                      <a:pt x="0" y="2"/>
                    </a:moveTo>
                    <a:lnTo>
                      <a:pt x="7" y="2"/>
                    </a:lnTo>
                    <a:lnTo>
                      <a:pt x="14" y="2"/>
                    </a:lnTo>
                    <a:lnTo>
                      <a:pt x="1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91" name="Freeform 597"/>
              <p:cNvSpPr>
                <a:spLocks/>
              </p:cNvSpPr>
              <p:nvPr userDrawn="1"/>
            </p:nvSpPr>
            <p:spPr bwMode="gray">
              <a:xfrm>
                <a:off x="2443" y="880"/>
                <a:ext cx="19" cy="2"/>
              </a:xfrm>
              <a:custGeom>
                <a:avLst/>
                <a:gdLst>
                  <a:gd name="T0" fmla="*/ 19 w 19"/>
                  <a:gd name="T1" fmla="*/ 2 h 2"/>
                  <a:gd name="T2" fmla="*/ 12 w 19"/>
                  <a:gd name="T3" fmla="*/ 0 h 2"/>
                  <a:gd name="T4" fmla="*/ 5 w 19"/>
                  <a:gd name="T5" fmla="*/ 0 h 2"/>
                  <a:gd name="T6" fmla="*/ 0 w 19"/>
                  <a:gd name="T7" fmla="*/ 2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
                    <a:moveTo>
                      <a:pt x="19" y="2"/>
                    </a:moveTo>
                    <a:lnTo>
                      <a:pt x="12" y="0"/>
                    </a:lnTo>
                    <a:lnTo>
                      <a:pt x="5"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92" name="Line 598"/>
              <p:cNvSpPr>
                <a:spLocks noChangeShapeType="1"/>
              </p:cNvSpPr>
              <p:nvPr userDrawn="1"/>
            </p:nvSpPr>
            <p:spPr bwMode="gray">
              <a:xfrm>
                <a:off x="2459" y="873"/>
                <a:ext cx="31" cy="1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93" name="Line 599"/>
              <p:cNvSpPr>
                <a:spLocks noChangeShapeType="1"/>
              </p:cNvSpPr>
              <p:nvPr userDrawn="1"/>
            </p:nvSpPr>
            <p:spPr bwMode="gray">
              <a:xfrm>
                <a:off x="2462" y="882"/>
                <a:ext cx="28" cy="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94" name="Line 600"/>
              <p:cNvSpPr>
                <a:spLocks noChangeShapeType="1"/>
              </p:cNvSpPr>
              <p:nvPr userDrawn="1"/>
            </p:nvSpPr>
            <p:spPr bwMode="gray">
              <a:xfrm flipH="1" flipV="1">
                <a:off x="2454" y="873"/>
                <a:ext cx="36" cy="1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95" name="Freeform 601"/>
              <p:cNvSpPr>
                <a:spLocks/>
              </p:cNvSpPr>
              <p:nvPr userDrawn="1"/>
            </p:nvSpPr>
            <p:spPr bwMode="gray">
              <a:xfrm>
                <a:off x="2454" y="873"/>
                <a:ext cx="8" cy="9"/>
              </a:xfrm>
              <a:custGeom>
                <a:avLst/>
                <a:gdLst>
                  <a:gd name="T0" fmla="*/ 0 w 8"/>
                  <a:gd name="T1" fmla="*/ 0 h 9"/>
                  <a:gd name="T2" fmla="*/ 3 w 8"/>
                  <a:gd name="T3" fmla="*/ 0 h 9"/>
                  <a:gd name="T4" fmla="*/ 5 w 8"/>
                  <a:gd name="T5" fmla="*/ 0 h 9"/>
                  <a:gd name="T6" fmla="*/ 7 w 8"/>
                  <a:gd name="T7" fmla="*/ 2 h 9"/>
                  <a:gd name="T8" fmla="*/ 7 w 8"/>
                  <a:gd name="T9" fmla="*/ 5 h 9"/>
                  <a:gd name="T10" fmla="*/ 8 w 8"/>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9">
                    <a:moveTo>
                      <a:pt x="0" y="0"/>
                    </a:moveTo>
                    <a:lnTo>
                      <a:pt x="3" y="0"/>
                    </a:lnTo>
                    <a:lnTo>
                      <a:pt x="5" y="0"/>
                    </a:lnTo>
                    <a:lnTo>
                      <a:pt x="7" y="2"/>
                    </a:lnTo>
                    <a:lnTo>
                      <a:pt x="7" y="5"/>
                    </a:lnTo>
                    <a:lnTo>
                      <a:pt x="8"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96" name="Freeform 602"/>
              <p:cNvSpPr>
                <a:spLocks/>
              </p:cNvSpPr>
              <p:nvPr userDrawn="1"/>
            </p:nvSpPr>
            <p:spPr bwMode="gray">
              <a:xfrm>
                <a:off x="2364" y="910"/>
                <a:ext cx="11" cy="10"/>
              </a:xfrm>
              <a:custGeom>
                <a:avLst/>
                <a:gdLst>
                  <a:gd name="T0" fmla="*/ 0 w 11"/>
                  <a:gd name="T1" fmla="*/ 10 h 10"/>
                  <a:gd name="T2" fmla="*/ 2 w 11"/>
                  <a:gd name="T3" fmla="*/ 5 h 10"/>
                  <a:gd name="T4" fmla="*/ 4 w 11"/>
                  <a:gd name="T5" fmla="*/ 1 h 10"/>
                  <a:gd name="T6" fmla="*/ 6 w 11"/>
                  <a:gd name="T7" fmla="*/ 0 h 10"/>
                  <a:gd name="T8" fmla="*/ 9 w 11"/>
                  <a:gd name="T9" fmla="*/ 0 h 10"/>
                  <a:gd name="T10" fmla="*/ 11 w 11"/>
                  <a:gd name="T11" fmla="*/ 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10">
                    <a:moveTo>
                      <a:pt x="0" y="10"/>
                    </a:moveTo>
                    <a:lnTo>
                      <a:pt x="2" y="5"/>
                    </a:lnTo>
                    <a:lnTo>
                      <a:pt x="4" y="1"/>
                    </a:lnTo>
                    <a:lnTo>
                      <a:pt x="6" y="0"/>
                    </a:lnTo>
                    <a:lnTo>
                      <a:pt x="9" y="0"/>
                    </a:lnTo>
                    <a:lnTo>
                      <a:pt x="1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97" name="Line 603"/>
              <p:cNvSpPr>
                <a:spLocks noChangeShapeType="1"/>
              </p:cNvSpPr>
              <p:nvPr userDrawn="1"/>
            </p:nvSpPr>
            <p:spPr bwMode="gray">
              <a:xfrm flipV="1">
                <a:off x="2289" y="875"/>
                <a:ext cx="158"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98" name="Line 604"/>
              <p:cNvSpPr>
                <a:spLocks noChangeShapeType="1"/>
              </p:cNvSpPr>
              <p:nvPr userDrawn="1"/>
            </p:nvSpPr>
            <p:spPr bwMode="gray">
              <a:xfrm flipV="1">
                <a:off x="2286" y="882"/>
                <a:ext cx="157"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599" name="Freeform 605"/>
              <p:cNvSpPr>
                <a:spLocks/>
              </p:cNvSpPr>
              <p:nvPr userDrawn="1"/>
            </p:nvSpPr>
            <p:spPr bwMode="gray">
              <a:xfrm>
                <a:off x="2443" y="873"/>
                <a:ext cx="11" cy="9"/>
              </a:xfrm>
              <a:custGeom>
                <a:avLst/>
                <a:gdLst>
                  <a:gd name="T0" fmla="*/ 0 w 11"/>
                  <a:gd name="T1" fmla="*/ 9 h 9"/>
                  <a:gd name="T2" fmla="*/ 0 w 11"/>
                  <a:gd name="T3" fmla="*/ 5 h 9"/>
                  <a:gd name="T4" fmla="*/ 2 w 11"/>
                  <a:gd name="T5" fmla="*/ 3 h 9"/>
                  <a:gd name="T6" fmla="*/ 4 w 11"/>
                  <a:gd name="T7" fmla="*/ 0 h 9"/>
                  <a:gd name="T8" fmla="*/ 7 w 11"/>
                  <a:gd name="T9" fmla="*/ 0 h 9"/>
                  <a:gd name="T10" fmla="*/ 11 w 11"/>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9">
                    <a:moveTo>
                      <a:pt x="0" y="9"/>
                    </a:moveTo>
                    <a:lnTo>
                      <a:pt x="0" y="5"/>
                    </a:lnTo>
                    <a:lnTo>
                      <a:pt x="2" y="3"/>
                    </a:lnTo>
                    <a:lnTo>
                      <a:pt x="4" y="0"/>
                    </a:lnTo>
                    <a:lnTo>
                      <a:pt x="7" y="0"/>
                    </a:lnTo>
                    <a:lnTo>
                      <a:pt x="1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00" name="Line 606"/>
              <p:cNvSpPr>
                <a:spLocks noChangeShapeType="1"/>
              </p:cNvSpPr>
              <p:nvPr userDrawn="1"/>
            </p:nvSpPr>
            <p:spPr bwMode="gray">
              <a:xfrm flipH="1">
                <a:off x="2296" y="873"/>
                <a:ext cx="158"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01" name="Freeform 607"/>
              <p:cNvSpPr>
                <a:spLocks/>
              </p:cNvSpPr>
              <p:nvPr userDrawn="1"/>
            </p:nvSpPr>
            <p:spPr bwMode="gray">
              <a:xfrm>
                <a:off x="2286" y="948"/>
                <a:ext cx="10" cy="9"/>
              </a:xfrm>
              <a:custGeom>
                <a:avLst/>
                <a:gdLst>
                  <a:gd name="T0" fmla="*/ 10 w 10"/>
                  <a:gd name="T1" fmla="*/ 0 h 9"/>
                  <a:gd name="T2" fmla="*/ 7 w 10"/>
                  <a:gd name="T3" fmla="*/ 0 h 9"/>
                  <a:gd name="T4" fmla="*/ 5 w 10"/>
                  <a:gd name="T5" fmla="*/ 0 h 9"/>
                  <a:gd name="T6" fmla="*/ 3 w 10"/>
                  <a:gd name="T7" fmla="*/ 2 h 9"/>
                  <a:gd name="T8" fmla="*/ 0 w 10"/>
                  <a:gd name="T9" fmla="*/ 5 h 9"/>
                  <a:gd name="T10" fmla="*/ 0 w 10"/>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10" y="0"/>
                    </a:moveTo>
                    <a:lnTo>
                      <a:pt x="7" y="0"/>
                    </a:lnTo>
                    <a:lnTo>
                      <a:pt x="5" y="0"/>
                    </a:lnTo>
                    <a:lnTo>
                      <a:pt x="3" y="2"/>
                    </a:lnTo>
                    <a:lnTo>
                      <a:pt x="0" y="5"/>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02" name="Freeform 608"/>
              <p:cNvSpPr>
                <a:spLocks/>
              </p:cNvSpPr>
              <p:nvPr userDrawn="1"/>
            </p:nvSpPr>
            <p:spPr bwMode="gray">
              <a:xfrm>
                <a:off x="2483" y="1001"/>
                <a:ext cx="11" cy="8"/>
              </a:xfrm>
              <a:custGeom>
                <a:avLst/>
                <a:gdLst>
                  <a:gd name="T0" fmla="*/ 0 w 11"/>
                  <a:gd name="T1" fmla="*/ 8 h 8"/>
                  <a:gd name="T2" fmla="*/ 4 w 11"/>
                  <a:gd name="T3" fmla="*/ 8 h 8"/>
                  <a:gd name="T4" fmla="*/ 7 w 11"/>
                  <a:gd name="T5" fmla="*/ 8 h 8"/>
                  <a:gd name="T6" fmla="*/ 9 w 11"/>
                  <a:gd name="T7" fmla="*/ 5 h 8"/>
                  <a:gd name="T8" fmla="*/ 11 w 11"/>
                  <a:gd name="T9" fmla="*/ 3 h 8"/>
                  <a:gd name="T10" fmla="*/ 11 w 11"/>
                  <a:gd name="T11" fmla="*/ 0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8">
                    <a:moveTo>
                      <a:pt x="0" y="8"/>
                    </a:moveTo>
                    <a:lnTo>
                      <a:pt x="4" y="8"/>
                    </a:lnTo>
                    <a:lnTo>
                      <a:pt x="7" y="8"/>
                    </a:lnTo>
                    <a:lnTo>
                      <a:pt x="9" y="5"/>
                    </a:lnTo>
                    <a:lnTo>
                      <a:pt x="11" y="3"/>
                    </a:lnTo>
                    <a:lnTo>
                      <a:pt x="1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03" name="Line 609"/>
              <p:cNvSpPr>
                <a:spLocks noChangeShapeType="1"/>
              </p:cNvSpPr>
              <p:nvPr userDrawn="1"/>
            </p:nvSpPr>
            <p:spPr bwMode="gray">
              <a:xfrm flipH="1">
                <a:off x="2494" y="1018"/>
                <a:ext cx="14" cy="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04" name="Freeform 610"/>
              <p:cNvSpPr>
                <a:spLocks/>
              </p:cNvSpPr>
              <p:nvPr userDrawn="1"/>
            </p:nvSpPr>
            <p:spPr bwMode="gray">
              <a:xfrm>
                <a:off x="2494" y="1016"/>
                <a:ext cx="10" cy="9"/>
              </a:xfrm>
              <a:custGeom>
                <a:avLst/>
                <a:gdLst>
                  <a:gd name="T0" fmla="*/ 0 w 10"/>
                  <a:gd name="T1" fmla="*/ 9 h 9"/>
                  <a:gd name="T2" fmla="*/ 2 w 10"/>
                  <a:gd name="T3" fmla="*/ 6 h 9"/>
                  <a:gd name="T4" fmla="*/ 2 w 10"/>
                  <a:gd name="T5" fmla="*/ 2 h 9"/>
                  <a:gd name="T6" fmla="*/ 5 w 10"/>
                  <a:gd name="T7" fmla="*/ 0 h 9"/>
                  <a:gd name="T8" fmla="*/ 7 w 10"/>
                  <a:gd name="T9" fmla="*/ 0 h 9"/>
                  <a:gd name="T10" fmla="*/ 10 w 10"/>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0" y="9"/>
                    </a:moveTo>
                    <a:lnTo>
                      <a:pt x="2" y="6"/>
                    </a:lnTo>
                    <a:lnTo>
                      <a:pt x="2" y="2"/>
                    </a:lnTo>
                    <a:lnTo>
                      <a:pt x="5" y="0"/>
                    </a:lnTo>
                    <a:lnTo>
                      <a:pt x="7" y="0"/>
                    </a:lnTo>
                    <a:lnTo>
                      <a:pt x="1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05" name="Freeform 611"/>
              <p:cNvSpPr>
                <a:spLocks/>
              </p:cNvSpPr>
              <p:nvPr userDrawn="1"/>
            </p:nvSpPr>
            <p:spPr bwMode="gray">
              <a:xfrm>
                <a:off x="2906" y="2029"/>
                <a:ext cx="20" cy="3"/>
              </a:xfrm>
              <a:custGeom>
                <a:avLst/>
                <a:gdLst>
                  <a:gd name="T0" fmla="*/ 20 w 20"/>
                  <a:gd name="T1" fmla="*/ 2 h 3"/>
                  <a:gd name="T2" fmla="*/ 16 w 20"/>
                  <a:gd name="T3" fmla="*/ 0 h 3"/>
                  <a:gd name="T4" fmla="*/ 11 w 20"/>
                  <a:gd name="T5" fmla="*/ 0 h 3"/>
                  <a:gd name="T6" fmla="*/ 6 w 20"/>
                  <a:gd name="T7" fmla="*/ 2 h 3"/>
                  <a:gd name="T8" fmla="*/ 0 w 20"/>
                  <a:gd name="T9" fmla="*/ 3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3">
                    <a:moveTo>
                      <a:pt x="20" y="2"/>
                    </a:moveTo>
                    <a:lnTo>
                      <a:pt x="16" y="0"/>
                    </a:lnTo>
                    <a:lnTo>
                      <a:pt x="11" y="0"/>
                    </a:lnTo>
                    <a:lnTo>
                      <a:pt x="6" y="2"/>
                    </a:lnTo>
                    <a:lnTo>
                      <a:pt x="0" y="3"/>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06" name="Line 612"/>
              <p:cNvSpPr>
                <a:spLocks noChangeShapeType="1"/>
              </p:cNvSpPr>
              <p:nvPr userDrawn="1"/>
            </p:nvSpPr>
            <p:spPr bwMode="gray">
              <a:xfrm flipV="1">
                <a:off x="2915" y="1920"/>
                <a:ext cx="2" cy="21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07" name="Line 613"/>
              <p:cNvSpPr>
                <a:spLocks noChangeShapeType="1"/>
              </p:cNvSpPr>
              <p:nvPr userDrawn="1"/>
            </p:nvSpPr>
            <p:spPr bwMode="gray">
              <a:xfrm flipV="1">
                <a:off x="2926" y="1922"/>
                <a:ext cx="1" cy="21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08" name="Freeform 614"/>
              <p:cNvSpPr>
                <a:spLocks/>
              </p:cNvSpPr>
              <p:nvPr userDrawn="1"/>
            </p:nvSpPr>
            <p:spPr bwMode="gray">
              <a:xfrm>
                <a:off x="2908" y="1920"/>
                <a:ext cx="19" cy="4"/>
              </a:xfrm>
              <a:custGeom>
                <a:avLst/>
                <a:gdLst>
                  <a:gd name="T0" fmla="*/ 19 w 19"/>
                  <a:gd name="T1" fmla="*/ 2 h 4"/>
                  <a:gd name="T2" fmla="*/ 14 w 19"/>
                  <a:gd name="T3" fmla="*/ 0 h 4"/>
                  <a:gd name="T4" fmla="*/ 9 w 19"/>
                  <a:gd name="T5" fmla="*/ 0 h 4"/>
                  <a:gd name="T6" fmla="*/ 4 w 19"/>
                  <a:gd name="T7" fmla="*/ 2 h 4"/>
                  <a:gd name="T8" fmla="*/ 0 w 19"/>
                  <a:gd name="T9" fmla="*/ 4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
                    <a:moveTo>
                      <a:pt x="19" y="2"/>
                    </a:moveTo>
                    <a:lnTo>
                      <a:pt x="14" y="0"/>
                    </a:lnTo>
                    <a:lnTo>
                      <a:pt x="9" y="0"/>
                    </a:lnTo>
                    <a:lnTo>
                      <a:pt x="4" y="2"/>
                    </a:lnTo>
                    <a:lnTo>
                      <a:pt x="0" y="4"/>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09" name="Line 615"/>
              <p:cNvSpPr>
                <a:spLocks noChangeShapeType="1"/>
              </p:cNvSpPr>
              <p:nvPr userDrawn="1"/>
            </p:nvSpPr>
            <p:spPr bwMode="gray">
              <a:xfrm flipH="1">
                <a:off x="2906" y="1924"/>
                <a:ext cx="2" cy="21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10" name="Freeform 616"/>
              <p:cNvSpPr>
                <a:spLocks/>
              </p:cNvSpPr>
              <p:nvPr userDrawn="1"/>
            </p:nvSpPr>
            <p:spPr bwMode="gray">
              <a:xfrm>
                <a:off x="2906" y="2136"/>
                <a:ext cx="20" cy="3"/>
              </a:xfrm>
              <a:custGeom>
                <a:avLst/>
                <a:gdLst>
                  <a:gd name="T0" fmla="*/ 20 w 20"/>
                  <a:gd name="T1" fmla="*/ 1 h 3"/>
                  <a:gd name="T2" fmla="*/ 14 w 20"/>
                  <a:gd name="T3" fmla="*/ 1 h 3"/>
                  <a:gd name="T4" fmla="*/ 11 w 20"/>
                  <a:gd name="T5" fmla="*/ 0 h 3"/>
                  <a:gd name="T6" fmla="*/ 6 w 20"/>
                  <a:gd name="T7" fmla="*/ 1 h 3"/>
                  <a:gd name="T8" fmla="*/ 0 w 20"/>
                  <a:gd name="T9" fmla="*/ 3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3">
                    <a:moveTo>
                      <a:pt x="20" y="1"/>
                    </a:moveTo>
                    <a:lnTo>
                      <a:pt x="14" y="1"/>
                    </a:lnTo>
                    <a:lnTo>
                      <a:pt x="11" y="0"/>
                    </a:lnTo>
                    <a:lnTo>
                      <a:pt x="6" y="1"/>
                    </a:lnTo>
                    <a:lnTo>
                      <a:pt x="0" y="3"/>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11" name="Freeform 617"/>
              <p:cNvSpPr>
                <a:spLocks/>
              </p:cNvSpPr>
              <p:nvPr userDrawn="1"/>
            </p:nvSpPr>
            <p:spPr bwMode="gray">
              <a:xfrm>
                <a:off x="2999" y="1933"/>
                <a:ext cx="9" cy="17"/>
              </a:xfrm>
              <a:custGeom>
                <a:avLst/>
                <a:gdLst>
                  <a:gd name="T0" fmla="*/ 0 w 9"/>
                  <a:gd name="T1" fmla="*/ 17 h 17"/>
                  <a:gd name="T2" fmla="*/ 0 w 9"/>
                  <a:gd name="T3" fmla="*/ 12 h 17"/>
                  <a:gd name="T4" fmla="*/ 2 w 9"/>
                  <a:gd name="T5" fmla="*/ 7 h 17"/>
                  <a:gd name="T6" fmla="*/ 5 w 9"/>
                  <a:gd name="T7" fmla="*/ 3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0" y="12"/>
                    </a:lnTo>
                    <a:lnTo>
                      <a:pt x="2" y="7"/>
                    </a:lnTo>
                    <a:lnTo>
                      <a:pt x="5" y="3"/>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12" name="Line 618"/>
              <p:cNvSpPr>
                <a:spLocks noChangeShapeType="1"/>
              </p:cNvSpPr>
              <p:nvPr userDrawn="1"/>
            </p:nvSpPr>
            <p:spPr bwMode="gray">
              <a:xfrm>
                <a:off x="2924" y="1910"/>
                <a:ext cx="203"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13" name="Line 619"/>
              <p:cNvSpPr>
                <a:spLocks noChangeShapeType="1"/>
              </p:cNvSpPr>
              <p:nvPr userDrawn="1"/>
            </p:nvSpPr>
            <p:spPr bwMode="gray">
              <a:xfrm>
                <a:off x="2927" y="1922"/>
                <a:ext cx="196" cy="7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14" name="Freeform 620"/>
              <p:cNvSpPr>
                <a:spLocks/>
              </p:cNvSpPr>
              <p:nvPr userDrawn="1"/>
            </p:nvSpPr>
            <p:spPr bwMode="gray">
              <a:xfrm>
                <a:off x="3123" y="1978"/>
                <a:ext cx="9" cy="18"/>
              </a:xfrm>
              <a:custGeom>
                <a:avLst/>
                <a:gdLst>
                  <a:gd name="T0" fmla="*/ 0 w 9"/>
                  <a:gd name="T1" fmla="*/ 18 h 18"/>
                  <a:gd name="T2" fmla="*/ 2 w 9"/>
                  <a:gd name="T3" fmla="*/ 12 h 18"/>
                  <a:gd name="T4" fmla="*/ 4 w 9"/>
                  <a:gd name="T5" fmla="*/ 9 h 18"/>
                  <a:gd name="T6" fmla="*/ 6 w 9"/>
                  <a:gd name="T7" fmla="*/ 4 h 18"/>
                  <a:gd name="T8" fmla="*/ 9 w 9"/>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0" y="18"/>
                    </a:moveTo>
                    <a:lnTo>
                      <a:pt x="2" y="12"/>
                    </a:lnTo>
                    <a:lnTo>
                      <a:pt x="4" y="9"/>
                    </a:lnTo>
                    <a:lnTo>
                      <a:pt x="6" y="4"/>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15" name="Line 621"/>
              <p:cNvSpPr>
                <a:spLocks noChangeShapeType="1"/>
              </p:cNvSpPr>
              <p:nvPr userDrawn="1"/>
            </p:nvSpPr>
            <p:spPr bwMode="gray">
              <a:xfrm flipH="1" flipV="1">
                <a:off x="2924" y="1901"/>
                <a:ext cx="208" cy="7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16" name="Freeform 622"/>
              <p:cNvSpPr>
                <a:spLocks/>
              </p:cNvSpPr>
              <p:nvPr userDrawn="1"/>
            </p:nvSpPr>
            <p:spPr bwMode="gray">
              <a:xfrm>
                <a:off x="2924" y="1901"/>
                <a:ext cx="3" cy="21"/>
              </a:xfrm>
              <a:custGeom>
                <a:avLst/>
                <a:gdLst>
                  <a:gd name="T0" fmla="*/ 3 w 3"/>
                  <a:gd name="T1" fmla="*/ 21 h 21"/>
                  <a:gd name="T2" fmla="*/ 0 w 3"/>
                  <a:gd name="T3" fmla="*/ 14 h 21"/>
                  <a:gd name="T4" fmla="*/ 0 w 3"/>
                  <a:gd name="T5" fmla="*/ 7 h 21"/>
                  <a:gd name="T6" fmla="*/ 0 w 3"/>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 h="21">
                    <a:moveTo>
                      <a:pt x="3" y="21"/>
                    </a:moveTo>
                    <a:lnTo>
                      <a:pt x="0" y="14"/>
                    </a:lnTo>
                    <a:lnTo>
                      <a:pt x="0" y="7"/>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17" name="Freeform 623"/>
              <p:cNvSpPr>
                <a:spLocks/>
              </p:cNvSpPr>
              <p:nvPr userDrawn="1"/>
            </p:nvSpPr>
            <p:spPr bwMode="gray">
              <a:xfrm>
                <a:off x="3122" y="2104"/>
                <a:ext cx="21" cy="2"/>
              </a:xfrm>
              <a:custGeom>
                <a:avLst/>
                <a:gdLst>
                  <a:gd name="T0" fmla="*/ 0 w 21"/>
                  <a:gd name="T1" fmla="*/ 2 h 2"/>
                  <a:gd name="T2" fmla="*/ 5 w 21"/>
                  <a:gd name="T3" fmla="*/ 2 h 2"/>
                  <a:gd name="T4" fmla="*/ 10 w 21"/>
                  <a:gd name="T5" fmla="*/ 2 h 2"/>
                  <a:gd name="T6" fmla="*/ 15 w 21"/>
                  <a:gd name="T7" fmla="*/ 2 h 2"/>
                  <a:gd name="T8" fmla="*/ 21 w 21"/>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2">
                    <a:moveTo>
                      <a:pt x="0" y="2"/>
                    </a:moveTo>
                    <a:lnTo>
                      <a:pt x="5" y="2"/>
                    </a:lnTo>
                    <a:lnTo>
                      <a:pt x="10" y="2"/>
                    </a:lnTo>
                    <a:lnTo>
                      <a:pt x="15" y="2"/>
                    </a:lnTo>
                    <a:lnTo>
                      <a:pt x="2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18" name="Line 624"/>
              <p:cNvSpPr>
                <a:spLocks noChangeShapeType="1"/>
              </p:cNvSpPr>
              <p:nvPr userDrawn="1"/>
            </p:nvSpPr>
            <p:spPr bwMode="gray">
              <a:xfrm flipH="1">
                <a:off x="3130" y="1997"/>
                <a:ext cx="4" cy="21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19" name="Line 625"/>
              <p:cNvSpPr>
                <a:spLocks noChangeShapeType="1"/>
              </p:cNvSpPr>
              <p:nvPr userDrawn="1"/>
            </p:nvSpPr>
            <p:spPr bwMode="gray">
              <a:xfrm flipH="1">
                <a:off x="3122" y="1996"/>
                <a:ext cx="1" cy="21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20" name="Freeform 626"/>
              <p:cNvSpPr>
                <a:spLocks/>
              </p:cNvSpPr>
              <p:nvPr userDrawn="1"/>
            </p:nvSpPr>
            <p:spPr bwMode="gray">
              <a:xfrm>
                <a:off x="3122" y="2213"/>
                <a:ext cx="19" cy="3"/>
              </a:xfrm>
              <a:custGeom>
                <a:avLst/>
                <a:gdLst>
                  <a:gd name="T0" fmla="*/ 0 w 19"/>
                  <a:gd name="T1" fmla="*/ 0 h 3"/>
                  <a:gd name="T2" fmla="*/ 3 w 19"/>
                  <a:gd name="T3" fmla="*/ 1 h 3"/>
                  <a:gd name="T4" fmla="*/ 8 w 19"/>
                  <a:gd name="T5" fmla="*/ 3 h 3"/>
                  <a:gd name="T6" fmla="*/ 14 w 19"/>
                  <a:gd name="T7" fmla="*/ 1 h 3"/>
                  <a:gd name="T8" fmla="*/ 19 w 19"/>
                  <a:gd name="T9" fmla="*/ 0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
                    <a:moveTo>
                      <a:pt x="0" y="0"/>
                    </a:moveTo>
                    <a:lnTo>
                      <a:pt x="3" y="1"/>
                    </a:lnTo>
                    <a:lnTo>
                      <a:pt x="8" y="3"/>
                    </a:lnTo>
                    <a:lnTo>
                      <a:pt x="14" y="1"/>
                    </a:lnTo>
                    <a:lnTo>
                      <a:pt x="1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21" name="Line 627"/>
              <p:cNvSpPr>
                <a:spLocks noChangeShapeType="1"/>
              </p:cNvSpPr>
              <p:nvPr userDrawn="1"/>
            </p:nvSpPr>
            <p:spPr bwMode="gray">
              <a:xfrm flipV="1">
                <a:off x="3141" y="1994"/>
                <a:ext cx="2" cy="21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22" name="Freeform 628"/>
              <p:cNvSpPr>
                <a:spLocks/>
              </p:cNvSpPr>
              <p:nvPr userDrawn="1"/>
            </p:nvSpPr>
            <p:spPr bwMode="gray">
              <a:xfrm>
                <a:off x="3123" y="1994"/>
                <a:ext cx="20" cy="3"/>
              </a:xfrm>
              <a:custGeom>
                <a:avLst/>
                <a:gdLst>
                  <a:gd name="T0" fmla="*/ 0 w 20"/>
                  <a:gd name="T1" fmla="*/ 2 h 3"/>
                  <a:gd name="T2" fmla="*/ 6 w 20"/>
                  <a:gd name="T3" fmla="*/ 3 h 3"/>
                  <a:gd name="T4" fmla="*/ 11 w 20"/>
                  <a:gd name="T5" fmla="*/ 3 h 3"/>
                  <a:gd name="T6" fmla="*/ 16 w 20"/>
                  <a:gd name="T7" fmla="*/ 3 h 3"/>
                  <a:gd name="T8" fmla="*/ 20 w 20"/>
                  <a:gd name="T9" fmla="*/ 0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3">
                    <a:moveTo>
                      <a:pt x="0" y="2"/>
                    </a:moveTo>
                    <a:lnTo>
                      <a:pt x="6" y="3"/>
                    </a:lnTo>
                    <a:lnTo>
                      <a:pt x="11" y="3"/>
                    </a:lnTo>
                    <a:lnTo>
                      <a:pt x="16" y="3"/>
                    </a:lnTo>
                    <a:lnTo>
                      <a:pt x="2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23" name="Freeform 629"/>
              <p:cNvSpPr>
                <a:spLocks/>
              </p:cNvSpPr>
              <p:nvPr userDrawn="1"/>
            </p:nvSpPr>
            <p:spPr bwMode="gray">
              <a:xfrm>
                <a:off x="2997" y="2165"/>
                <a:ext cx="9" cy="9"/>
              </a:xfrm>
              <a:custGeom>
                <a:avLst/>
                <a:gdLst>
                  <a:gd name="T0" fmla="*/ 0 w 9"/>
                  <a:gd name="T1" fmla="*/ 0 h 9"/>
                  <a:gd name="T2" fmla="*/ 0 w 9"/>
                  <a:gd name="T3" fmla="*/ 4 h 9"/>
                  <a:gd name="T4" fmla="*/ 2 w 9"/>
                  <a:gd name="T5" fmla="*/ 7 h 9"/>
                  <a:gd name="T6" fmla="*/ 4 w 9"/>
                  <a:gd name="T7" fmla="*/ 9 h 9"/>
                  <a:gd name="T8" fmla="*/ 7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4"/>
                    </a:lnTo>
                    <a:lnTo>
                      <a:pt x="2" y="7"/>
                    </a:lnTo>
                    <a:lnTo>
                      <a:pt x="4" y="9"/>
                    </a:lnTo>
                    <a:lnTo>
                      <a:pt x="7" y="9"/>
                    </a:lnTo>
                    <a:lnTo>
                      <a:pt x="9"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24" name="Line 630"/>
              <p:cNvSpPr>
                <a:spLocks noChangeShapeType="1"/>
              </p:cNvSpPr>
              <p:nvPr userDrawn="1"/>
            </p:nvSpPr>
            <p:spPr bwMode="gray">
              <a:xfrm flipH="1" flipV="1">
                <a:off x="2922" y="2143"/>
                <a:ext cx="201" cy="7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25" name="Line 631"/>
              <p:cNvSpPr>
                <a:spLocks noChangeShapeType="1"/>
              </p:cNvSpPr>
              <p:nvPr userDrawn="1"/>
            </p:nvSpPr>
            <p:spPr bwMode="gray">
              <a:xfrm flipH="1" flipV="1">
                <a:off x="2926" y="2137"/>
                <a:ext cx="196" cy="7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26" name="Freeform 632"/>
              <p:cNvSpPr>
                <a:spLocks/>
              </p:cNvSpPr>
              <p:nvPr userDrawn="1"/>
            </p:nvSpPr>
            <p:spPr bwMode="gray">
              <a:xfrm>
                <a:off x="2922" y="2137"/>
                <a:ext cx="4" cy="6"/>
              </a:xfrm>
              <a:custGeom>
                <a:avLst/>
                <a:gdLst>
                  <a:gd name="T0" fmla="*/ 4 w 4"/>
                  <a:gd name="T1" fmla="*/ 0 h 6"/>
                  <a:gd name="T2" fmla="*/ 2 w 4"/>
                  <a:gd name="T3" fmla="*/ 2 h 6"/>
                  <a:gd name="T4" fmla="*/ 2 w 4"/>
                  <a:gd name="T5" fmla="*/ 4 h 6"/>
                  <a:gd name="T6" fmla="*/ 2 w 4"/>
                  <a:gd name="T7" fmla="*/ 6 h 6"/>
                  <a:gd name="T8" fmla="*/ 0 w 4"/>
                  <a:gd name="T9" fmla="*/ 6 h 6"/>
                  <a:gd name="T10" fmla="*/ 0 w 4"/>
                  <a:gd name="T11" fmla="*/ 6 h 6"/>
                  <a:gd name="T12" fmla="*/ 2 w 4"/>
                  <a:gd name="T13" fmla="*/ 4 h 6"/>
                  <a:gd name="T14" fmla="*/ 2 w 4"/>
                  <a:gd name="T15" fmla="*/ 4 h 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 h="6">
                    <a:moveTo>
                      <a:pt x="4" y="0"/>
                    </a:moveTo>
                    <a:lnTo>
                      <a:pt x="2" y="2"/>
                    </a:lnTo>
                    <a:lnTo>
                      <a:pt x="2" y="4"/>
                    </a:lnTo>
                    <a:lnTo>
                      <a:pt x="2" y="6"/>
                    </a:lnTo>
                    <a:lnTo>
                      <a:pt x="0" y="6"/>
                    </a:lnTo>
                    <a:lnTo>
                      <a:pt x="2" y="4"/>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27" name="Line 633"/>
              <p:cNvSpPr>
                <a:spLocks noChangeShapeType="1"/>
              </p:cNvSpPr>
              <p:nvPr userDrawn="1"/>
            </p:nvSpPr>
            <p:spPr bwMode="gray">
              <a:xfrm>
                <a:off x="2924" y="2141"/>
                <a:ext cx="205" cy="7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28" name="Freeform 634"/>
              <p:cNvSpPr>
                <a:spLocks/>
              </p:cNvSpPr>
              <p:nvPr userDrawn="1"/>
            </p:nvSpPr>
            <p:spPr bwMode="gray">
              <a:xfrm>
                <a:off x="3122" y="2213"/>
                <a:ext cx="7" cy="8"/>
              </a:xfrm>
              <a:custGeom>
                <a:avLst/>
                <a:gdLst>
                  <a:gd name="T0" fmla="*/ 7 w 7"/>
                  <a:gd name="T1" fmla="*/ 7 h 8"/>
                  <a:gd name="T2" fmla="*/ 5 w 7"/>
                  <a:gd name="T3" fmla="*/ 8 h 8"/>
                  <a:gd name="T4" fmla="*/ 1 w 7"/>
                  <a:gd name="T5" fmla="*/ 8 h 8"/>
                  <a:gd name="T6" fmla="*/ 0 w 7"/>
                  <a:gd name="T7" fmla="*/ 7 h 8"/>
                  <a:gd name="T8" fmla="*/ 0 w 7"/>
                  <a:gd name="T9" fmla="*/ 3 h 8"/>
                  <a:gd name="T10" fmla="*/ 0 w 7"/>
                  <a:gd name="T11" fmla="*/ 0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8">
                    <a:moveTo>
                      <a:pt x="7" y="7"/>
                    </a:moveTo>
                    <a:lnTo>
                      <a:pt x="5" y="8"/>
                    </a:lnTo>
                    <a:lnTo>
                      <a:pt x="1" y="8"/>
                    </a:lnTo>
                    <a:lnTo>
                      <a:pt x="0" y="7"/>
                    </a:lnTo>
                    <a:lnTo>
                      <a:pt x="0" y="3"/>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29" name="Freeform 635"/>
              <p:cNvSpPr>
                <a:spLocks/>
              </p:cNvSpPr>
              <p:nvPr userDrawn="1"/>
            </p:nvSpPr>
            <p:spPr bwMode="gray">
              <a:xfrm>
                <a:off x="2782" y="1924"/>
                <a:ext cx="7" cy="16"/>
              </a:xfrm>
              <a:custGeom>
                <a:avLst/>
                <a:gdLst>
                  <a:gd name="T0" fmla="*/ 7 w 7"/>
                  <a:gd name="T1" fmla="*/ 0 h 16"/>
                  <a:gd name="T2" fmla="*/ 7 w 7"/>
                  <a:gd name="T3" fmla="*/ 3 h 16"/>
                  <a:gd name="T4" fmla="*/ 6 w 7"/>
                  <a:gd name="T5" fmla="*/ 9 h 16"/>
                  <a:gd name="T6" fmla="*/ 4 w 7"/>
                  <a:gd name="T7" fmla="*/ 12 h 16"/>
                  <a:gd name="T8" fmla="*/ 0 w 7"/>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16">
                    <a:moveTo>
                      <a:pt x="7" y="0"/>
                    </a:moveTo>
                    <a:lnTo>
                      <a:pt x="7" y="3"/>
                    </a:lnTo>
                    <a:lnTo>
                      <a:pt x="6" y="9"/>
                    </a:lnTo>
                    <a:lnTo>
                      <a:pt x="4" y="12"/>
                    </a:lnTo>
                    <a:lnTo>
                      <a:pt x="0"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30" name="Line 636"/>
              <p:cNvSpPr>
                <a:spLocks noChangeShapeType="1"/>
              </p:cNvSpPr>
              <p:nvPr userDrawn="1"/>
            </p:nvSpPr>
            <p:spPr bwMode="gray">
              <a:xfrm flipH="1">
                <a:off x="3290" y="2039"/>
                <a:ext cx="1" cy="7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31" name="Line 637"/>
              <p:cNvSpPr>
                <a:spLocks noChangeShapeType="1"/>
              </p:cNvSpPr>
              <p:nvPr userDrawn="1"/>
            </p:nvSpPr>
            <p:spPr bwMode="gray">
              <a:xfrm>
                <a:off x="3284" y="2038"/>
                <a:ext cx="1" cy="7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32" name="Freeform 638"/>
              <p:cNvSpPr>
                <a:spLocks/>
              </p:cNvSpPr>
              <p:nvPr userDrawn="1"/>
            </p:nvSpPr>
            <p:spPr bwMode="gray">
              <a:xfrm>
                <a:off x="3284" y="2108"/>
                <a:ext cx="6" cy="10"/>
              </a:xfrm>
              <a:custGeom>
                <a:avLst/>
                <a:gdLst>
                  <a:gd name="T0" fmla="*/ 0 w 6"/>
                  <a:gd name="T1" fmla="*/ 0 h 10"/>
                  <a:gd name="T2" fmla="*/ 2 w 6"/>
                  <a:gd name="T3" fmla="*/ 1 h 10"/>
                  <a:gd name="T4" fmla="*/ 6 w 6"/>
                  <a:gd name="T5" fmla="*/ 5 h 10"/>
                  <a:gd name="T6" fmla="*/ 6 w 6"/>
                  <a:gd name="T7" fmla="*/ 7 h 10"/>
                  <a:gd name="T8" fmla="*/ 2 w 6"/>
                  <a:gd name="T9" fmla="*/ 10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10">
                    <a:moveTo>
                      <a:pt x="0" y="0"/>
                    </a:moveTo>
                    <a:lnTo>
                      <a:pt x="2" y="1"/>
                    </a:lnTo>
                    <a:lnTo>
                      <a:pt x="6" y="5"/>
                    </a:lnTo>
                    <a:lnTo>
                      <a:pt x="6" y="7"/>
                    </a:lnTo>
                    <a:lnTo>
                      <a:pt x="2" y="1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33" name="Line 639"/>
              <p:cNvSpPr>
                <a:spLocks noChangeShapeType="1"/>
              </p:cNvSpPr>
              <p:nvPr userDrawn="1"/>
            </p:nvSpPr>
            <p:spPr bwMode="gray">
              <a:xfrm flipV="1">
                <a:off x="3286" y="2038"/>
                <a:ext cx="2" cy="8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34" name="Freeform 640"/>
              <p:cNvSpPr>
                <a:spLocks/>
              </p:cNvSpPr>
              <p:nvPr userDrawn="1"/>
            </p:nvSpPr>
            <p:spPr bwMode="gray">
              <a:xfrm>
                <a:off x="3276" y="2108"/>
                <a:ext cx="8" cy="17"/>
              </a:xfrm>
              <a:custGeom>
                <a:avLst/>
                <a:gdLst>
                  <a:gd name="T0" fmla="*/ 0 w 8"/>
                  <a:gd name="T1" fmla="*/ 17 h 17"/>
                  <a:gd name="T2" fmla="*/ 3 w 8"/>
                  <a:gd name="T3" fmla="*/ 14 h 17"/>
                  <a:gd name="T4" fmla="*/ 7 w 8"/>
                  <a:gd name="T5" fmla="*/ 10 h 17"/>
                  <a:gd name="T6" fmla="*/ 7 w 8"/>
                  <a:gd name="T7" fmla="*/ 5 h 17"/>
                  <a:gd name="T8" fmla="*/ 8 w 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7"/>
                    </a:moveTo>
                    <a:lnTo>
                      <a:pt x="3" y="14"/>
                    </a:lnTo>
                    <a:lnTo>
                      <a:pt x="7" y="10"/>
                    </a:lnTo>
                    <a:lnTo>
                      <a:pt x="7" y="5"/>
                    </a:lnTo>
                    <a:lnTo>
                      <a:pt x="8"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35" name="Freeform 641"/>
              <p:cNvSpPr>
                <a:spLocks/>
              </p:cNvSpPr>
              <p:nvPr userDrawn="1"/>
            </p:nvSpPr>
            <p:spPr bwMode="gray">
              <a:xfrm>
                <a:off x="3202" y="2165"/>
                <a:ext cx="12" cy="7"/>
              </a:xfrm>
              <a:custGeom>
                <a:avLst/>
                <a:gdLst>
                  <a:gd name="T0" fmla="*/ 12 w 12"/>
                  <a:gd name="T1" fmla="*/ 0 h 7"/>
                  <a:gd name="T2" fmla="*/ 11 w 12"/>
                  <a:gd name="T3" fmla="*/ 4 h 7"/>
                  <a:gd name="T4" fmla="*/ 9 w 12"/>
                  <a:gd name="T5" fmla="*/ 7 h 7"/>
                  <a:gd name="T6" fmla="*/ 5 w 12"/>
                  <a:gd name="T7" fmla="*/ 7 h 7"/>
                  <a:gd name="T8" fmla="*/ 0 w 12"/>
                  <a:gd name="T9" fmla="*/ 7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7">
                    <a:moveTo>
                      <a:pt x="12" y="0"/>
                    </a:moveTo>
                    <a:lnTo>
                      <a:pt x="11" y="4"/>
                    </a:lnTo>
                    <a:lnTo>
                      <a:pt x="9" y="7"/>
                    </a:lnTo>
                    <a:lnTo>
                      <a:pt x="5" y="7"/>
                    </a:lnTo>
                    <a:lnTo>
                      <a:pt x="0"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36" name="Line 642"/>
              <p:cNvSpPr>
                <a:spLocks noChangeShapeType="1"/>
              </p:cNvSpPr>
              <p:nvPr userDrawn="1"/>
            </p:nvSpPr>
            <p:spPr bwMode="gray">
              <a:xfrm flipV="1">
                <a:off x="3137" y="2125"/>
                <a:ext cx="146" cy="9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37" name="Line 643"/>
              <p:cNvSpPr>
                <a:spLocks noChangeShapeType="1"/>
              </p:cNvSpPr>
              <p:nvPr userDrawn="1"/>
            </p:nvSpPr>
            <p:spPr bwMode="gray">
              <a:xfrm flipV="1">
                <a:off x="3141" y="2118"/>
                <a:ext cx="145" cy="9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38" name="Freeform 644"/>
              <p:cNvSpPr>
                <a:spLocks/>
              </p:cNvSpPr>
              <p:nvPr userDrawn="1"/>
            </p:nvSpPr>
            <p:spPr bwMode="gray">
              <a:xfrm>
                <a:off x="3276" y="2118"/>
                <a:ext cx="10" cy="9"/>
              </a:xfrm>
              <a:custGeom>
                <a:avLst/>
                <a:gdLst>
                  <a:gd name="T0" fmla="*/ 10 w 10"/>
                  <a:gd name="T1" fmla="*/ 0 h 9"/>
                  <a:gd name="T2" fmla="*/ 10 w 10"/>
                  <a:gd name="T3" fmla="*/ 4 h 9"/>
                  <a:gd name="T4" fmla="*/ 8 w 10"/>
                  <a:gd name="T5" fmla="*/ 7 h 9"/>
                  <a:gd name="T6" fmla="*/ 5 w 10"/>
                  <a:gd name="T7" fmla="*/ 9 h 9"/>
                  <a:gd name="T8" fmla="*/ 0 w 10"/>
                  <a:gd name="T9" fmla="*/ 7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9">
                    <a:moveTo>
                      <a:pt x="10" y="0"/>
                    </a:moveTo>
                    <a:lnTo>
                      <a:pt x="10" y="4"/>
                    </a:lnTo>
                    <a:lnTo>
                      <a:pt x="8" y="7"/>
                    </a:lnTo>
                    <a:lnTo>
                      <a:pt x="5" y="9"/>
                    </a:lnTo>
                    <a:lnTo>
                      <a:pt x="0"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39" name="Line 645"/>
              <p:cNvSpPr>
                <a:spLocks noChangeShapeType="1"/>
              </p:cNvSpPr>
              <p:nvPr userDrawn="1"/>
            </p:nvSpPr>
            <p:spPr bwMode="gray">
              <a:xfrm flipH="1">
                <a:off x="3129" y="2125"/>
                <a:ext cx="147" cy="9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40" name="Freeform 646"/>
              <p:cNvSpPr>
                <a:spLocks/>
              </p:cNvSpPr>
              <p:nvPr userDrawn="1"/>
            </p:nvSpPr>
            <p:spPr bwMode="gray">
              <a:xfrm>
                <a:off x="3129" y="2213"/>
                <a:ext cx="12" cy="8"/>
              </a:xfrm>
              <a:custGeom>
                <a:avLst/>
                <a:gdLst>
                  <a:gd name="T0" fmla="*/ 0 w 12"/>
                  <a:gd name="T1" fmla="*/ 7 h 8"/>
                  <a:gd name="T2" fmla="*/ 5 w 12"/>
                  <a:gd name="T3" fmla="*/ 8 h 8"/>
                  <a:gd name="T4" fmla="*/ 8 w 12"/>
                  <a:gd name="T5" fmla="*/ 7 h 8"/>
                  <a:gd name="T6" fmla="*/ 10 w 12"/>
                  <a:gd name="T7" fmla="*/ 3 h 8"/>
                  <a:gd name="T8" fmla="*/ 12 w 12"/>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8">
                    <a:moveTo>
                      <a:pt x="0" y="7"/>
                    </a:moveTo>
                    <a:lnTo>
                      <a:pt x="5" y="8"/>
                    </a:lnTo>
                    <a:lnTo>
                      <a:pt x="8" y="7"/>
                    </a:lnTo>
                    <a:lnTo>
                      <a:pt x="10" y="3"/>
                    </a:lnTo>
                    <a:lnTo>
                      <a:pt x="1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41" name="Line 647"/>
              <p:cNvSpPr>
                <a:spLocks noChangeShapeType="1"/>
              </p:cNvSpPr>
              <p:nvPr userDrawn="1"/>
            </p:nvSpPr>
            <p:spPr bwMode="gray">
              <a:xfrm>
                <a:off x="2537" y="2097"/>
                <a:ext cx="2" cy="5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42" name="Line 648"/>
              <p:cNvSpPr>
                <a:spLocks noChangeShapeType="1"/>
              </p:cNvSpPr>
              <p:nvPr userDrawn="1"/>
            </p:nvSpPr>
            <p:spPr bwMode="gray">
              <a:xfrm>
                <a:off x="2541" y="2099"/>
                <a:ext cx="1" cy="5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43" name="Freeform 649"/>
              <p:cNvSpPr>
                <a:spLocks/>
              </p:cNvSpPr>
              <p:nvPr userDrawn="1"/>
            </p:nvSpPr>
            <p:spPr bwMode="gray">
              <a:xfrm>
                <a:off x="2539" y="2150"/>
                <a:ext cx="5" cy="10"/>
              </a:xfrm>
              <a:custGeom>
                <a:avLst/>
                <a:gdLst>
                  <a:gd name="T0" fmla="*/ 2 w 5"/>
                  <a:gd name="T1" fmla="*/ 0 h 10"/>
                  <a:gd name="T2" fmla="*/ 0 w 5"/>
                  <a:gd name="T3" fmla="*/ 3 h 10"/>
                  <a:gd name="T4" fmla="*/ 0 w 5"/>
                  <a:gd name="T5" fmla="*/ 5 h 10"/>
                  <a:gd name="T6" fmla="*/ 2 w 5"/>
                  <a:gd name="T7" fmla="*/ 8 h 10"/>
                  <a:gd name="T8" fmla="*/ 5 w 5"/>
                  <a:gd name="T9" fmla="*/ 10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10">
                    <a:moveTo>
                      <a:pt x="2" y="0"/>
                    </a:moveTo>
                    <a:lnTo>
                      <a:pt x="0" y="3"/>
                    </a:lnTo>
                    <a:lnTo>
                      <a:pt x="0" y="5"/>
                    </a:lnTo>
                    <a:lnTo>
                      <a:pt x="2" y="8"/>
                    </a:lnTo>
                    <a:lnTo>
                      <a:pt x="5" y="1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44" name="Line 650"/>
              <p:cNvSpPr>
                <a:spLocks noChangeShapeType="1"/>
              </p:cNvSpPr>
              <p:nvPr userDrawn="1"/>
            </p:nvSpPr>
            <p:spPr bwMode="gray">
              <a:xfrm flipH="1" flipV="1">
                <a:off x="2543" y="2099"/>
                <a:ext cx="1" cy="6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45" name="Freeform 651"/>
              <p:cNvSpPr>
                <a:spLocks/>
              </p:cNvSpPr>
              <p:nvPr userDrawn="1"/>
            </p:nvSpPr>
            <p:spPr bwMode="gray">
              <a:xfrm>
                <a:off x="2541" y="2150"/>
                <a:ext cx="12" cy="17"/>
              </a:xfrm>
              <a:custGeom>
                <a:avLst/>
                <a:gdLst>
                  <a:gd name="T0" fmla="*/ 12 w 12"/>
                  <a:gd name="T1" fmla="*/ 17 h 17"/>
                  <a:gd name="T2" fmla="*/ 7 w 12"/>
                  <a:gd name="T3" fmla="*/ 14 h 17"/>
                  <a:gd name="T4" fmla="*/ 3 w 12"/>
                  <a:gd name="T5" fmla="*/ 10 h 17"/>
                  <a:gd name="T6" fmla="*/ 2 w 12"/>
                  <a:gd name="T7" fmla="*/ 5 h 17"/>
                  <a:gd name="T8" fmla="*/ 0 w 12"/>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7">
                    <a:moveTo>
                      <a:pt x="12" y="17"/>
                    </a:moveTo>
                    <a:lnTo>
                      <a:pt x="7" y="14"/>
                    </a:lnTo>
                    <a:lnTo>
                      <a:pt x="3" y="10"/>
                    </a:lnTo>
                    <a:lnTo>
                      <a:pt x="2"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46" name="Freeform 652"/>
              <p:cNvSpPr>
                <a:spLocks/>
              </p:cNvSpPr>
              <p:nvPr userDrawn="1"/>
            </p:nvSpPr>
            <p:spPr bwMode="gray">
              <a:xfrm>
                <a:off x="2821" y="1954"/>
                <a:ext cx="10" cy="15"/>
              </a:xfrm>
              <a:custGeom>
                <a:avLst/>
                <a:gdLst>
                  <a:gd name="T0" fmla="*/ 10 w 10"/>
                  <a:gd name="T1" fmla="*/ 15 h 15"/>
                  <a:gd name="T2" fmla="*/ 10 w 10"/>
                  <a:gd name="T3" fmla="*/ 10 h 15"/>
                  <a:gd name="T4" fmla="*/ 7 w 10"/>
                  <a:gd name="T5" fmla="*/ 7 h 15"/>
                  <a:gd name="T6" fmla="*/ 3 w 10"/>
                  <a:gd name="T7" fmla="*/ 1 h 15"/>
                  <a:gd name="T8" fmla="*/ 0 w 10"/>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5">
                    <a:moveTo>
                      <a:pt x="10" y="15"/>
                    </a:moveTo>
                    <a:lnTo>
                      <a:pt x="10" y="10"/>
                    </a:lnTo>
                    <a:lnTo>
                      <a:pt x="7" y="7"/>
                    </a:lnTo>
                    <a:lnTo>
                      <a:pt x="3" y="1"/>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47" name="Line 653"/>
              <p:cNvSpPr>
                <a:spLocks noChangeShapeType="1"/>
              </p:cNvSpPr>
              <p:nvPr userDrawn="1"/>
            </p:nvSpPr>
            <p:spPr bwMode="gray">
              <a:xfrm flipH="1">
                <a:off x="2751" y="1912"/>
                <a:ext cx="157" cy="9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48" name="Line 654"/>
              <p:cNvSpPr>
                <a:spLocks noChangeShapeType="1"/>
              </p:cNvSpPr>
              <p:nvPr userDrawn="1"/>
            </p:nvSpPr>
            <p:spPr bwMode="gray">
              <a:xfrm flipH="1">
                <a:off x="2754" y="1924"/>
                <a:ext cx="154" cy="9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49" name="Freeform 655"/>
              <p:cNvSpPr>
                <a:spLocks/>
              </p:cNvSpPr>
              <p:nvPr userDrawn="1"/>
            </p:nvSpPr>
            <p:spPr bwMode="gray">
              <a:xfrm>
                <a:off x="2744" y="1999"/>
                <a:ext cx="10" cy="18"/>
              </a:xfrm>
              <a:custGeom>
                <a:avLst/>
                <a:gdLst>
                  <a:gd name="T0" fmla="*/ 10 w 10"/>
                  <a:gd name="T1" fmla="*/ 18 h 18"/>
                  <a:gd name="T2" fmla="*/ 9 w 10"/>
                  <a:gd name="T3" fmla="*/ 12 h 18"/>
                  <a:gd name="T4" fmla="*/ 7 w 10"/>
                  <a:gd name="T5" fmla="*/ 7 h 18"/>
                  <a:gd name="T6" fmla="*/ 3 w 10"/>
                  <a:gd name="T7" fmla="*/ 4 h 18"/>
                  <a:gd name="T8" fmla="*/ 0 w 10"/>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8">
                    <a:moveTo>
                      <a:pt x="10" y="18"/>
                    </a:moveTo>
                    <a:lnTo>
                      <a:pt x="9" y="12"/>
                    </a:lnTo>
                    <a:lnTo>
                      <a:pt x="7" y="7"/>
                    </a:lnTo>
                    <a:lnTo>
                      <a:pt x="3"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50" name="Line 656"/>
              <p:cNvSpPr>
                <a:spLocks noChangeShapeType="1"/>
              </p:cNvSpPr>
              <p:nvPr userDrawn="1"/>
            </p:nvSpPr>
            <p:spPr bwMode="gray">
              <a:xfrm flipV="1">
                <a:off x="2744" y="1903"/>
                <a:ext cx="161" cy="9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51" name="Freeform 657"/>
              <p:cNvSpPr>
                <a:spLocks/>
              </p:cNvSpPr>
              <p:nvPr userDrawn="1"/>
            </p:nvSpPr>
            <p:spPr bwMode="gray">
              <a:xfrm>
                <a:off x="2905" y="1903"/>
                <a:ext cx="5" cy="21"/>
              </a:xfrm>
              <a:custGeom>
                <a:avLst/>
                <a:gdLst>
                  <a:gd name="T0" fmla="*/ 3 w 5"/>
                  <a:gd name="T1" fmla="*/ 21 h 21"/>
                  <a:gd name="T2" fmla="*/ 5 w 5"/>
                  <a:gd name="T3" fmla="*/ 16 h 21"/>
                  <a:gd name="T4" fmla="*/ 5 w 5"/>
                  <a:gd name="T5" fmla="*/ 10 h 21"/>
                  <a:gd name="T6" fmla="*/ 3 w 5"/>
                  <a:gd name="T7" fmla="*/ 5 h 21"/>
                  <a:gd name="T8" fmla="*/ 0 w 5"/>
                  <a:gd name="T9" fmla="*/ 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21">
                    <a:moveTo>
                      <a:pt x="3" y="21"/>
                    </a:moveTo>
                    <a:lnTo>
                      <a:pt x="5" y="16"/>
                    </a:lnTo>
                    <a:lnTo>
                      <a:pt x="5" y="10"/>
                    </a:lnTo>
                    <a:lnTo>
                      <a:pt x="3"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52" name="Freeform 658"/>
              <p:cNvSpPr>
                <a:spLocks/>
              </p:cNvSpPr>
              <p:nvPr userDrawn="1"/>
            </p:nvSpPr>
            <p:spPr bwMode="gray">
              <a:xfrm>
                <a:off x="2735" y="2125"/>
                <a:ext cx="19" cy="4"/>
              </a:xfrm>
              <a:custGeom>
                <a:avLst/>
                <a:gdLst>
                  <a:gd name="T0" fmla="*/ 19 w 19"/>
                  <a:gd name="T1" fmla="*/ 0 h 4"/>
                  <a:gd name="T2" fmla="*/ 14 w 19"/>
                  <a:gd name="T3" fmla="*/ 2 h 4"/>
                  <a:gd name="T4" fmla="*/ 11 w 19"/>
                  <a:gd name="T5" fmla="*/ 4 h 4"/>
                  <a:gd name="T6" fmla="*/ 5 w 19"/>
                  <a:gd name="T7" fmla="*/ 4 h 4"/>
                  <a:gd name="T8" fmla="*/ 0 w 19"/>
                  <a:gd name="T9" fmla="*/ 2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
                    <a:moveTo>
                      <a:pt x="19" y="0"/>
                    </a:moveTo>
                    <a:lnTo>
                      <a:pt x="14" y="2"/>
                    </a:lnTo>
                    <a:lnTo>
                      <a:pt x="11" y="4"/>
                    </a:lnTo>
                    <a:lnTo>
                      <a:pt x="5" y="4"/>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53" name="Line 659"/>
              <p:cNvSpPr>
                <a:spLocks noChangeShapeType="1"/>
              </p:cNvSpPr>
              <p:nvPr userDrawn="1"/>
            </p:nvSpPr>
            <p:spPr bwMode="gray">
              <a:xfrm>
                <a:off x="2744" y="2018"/>
                <a:ext cx="2" cy="21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54" name="Line 660"/>
              <p:cNvSpPr>
                <a:spLocks noChangeShapeType="1"/>
              </p:cNvSpPr>
              <p:nvPr userDrawn="1"/>
            </p:nvSpPr>
            <p:spPr bwMode="gray">
              <a:xfrm>
                <a:off x="2754" y="2017"/>
                <a:ext cx="1" cy="21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55" name="Freeform 661"/>
              <p:cNvSpPr>
                <a:spLocks/>
              </p:cNvSpPr>
              <p:nvPr userDrawn="1"/>
            </p:nvSpPr>
            <p:spPr bwMode="gray">
              <a:xfrm>
                <a:off x="2735" y="2234"/>
                <a:ext cx="19" cy="3"/>
              </a:xfrm>
              <a:custGeom>
                <a:avLst/>
                <a:gdLst>
                  <a:gd name="T0" fmla="*/ 19 w 19"/>
                  <a:gd name="T1" fmla="*/ 0 h 3"/>
                  <a:gd name="T2" fmla="*/ 14 w 19"/>
                  <a:gd name="T3" fmla="*/ 3 h 3"/>
                  <a:gd name="T4" fmla="*/ 11 w 19"/>
                  <a:gd name="T5" fmla="*/ 3 h 3"/>
                  <a:gd name="T6" fmla="*/ 5 w 19"/>
                  <a:gd name="T7" fmla="*/ 3 h 3"/>
                  <a:gd name="T8" fmla="*/ 0 w 19"/>
                  <a:gd name="T9" fmla="*/ 1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
                    <a:moveTo>
                      <a:pt x="19" y="0"/>
                    </a:moveTo>
                    <a:lnTo>
                      <a:pt x="14" y="3"/>
                    </a:lnTo>
                    <a:lnTo>
                      <a:pt x="11" y="3"/>
                    </a:lnTo>
                    <a:lnTo>
                      <a:pt x="5" y="3"/>
                    </a:lnTo>
                    <a:lnTo>
                      <a:pt x="0" y="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56" name="Line 662"/>
              <p:cNvSpPr>
                <a:spLocks noChangeShapeType="1"/>
              </p:cNvSpPr>
              <p:nvPr userDrawn="1"/>
            </p:nvSpPr>
            <p:spPr bwMode="gray">
              <a:xfrm flipV="1">
                <a:off x="2735" y="2017"/>
                <a:ext cx="1" cy="21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57" name="Freeform 663"/>
              <p:cNvSpPr>
                <a:spLocks/>
              </p:cNvSpPr>
              <p:nvPr userDrawn="1"/>
            </p:nvSpPr>
            <p:spPr bwMode="gray">
              <a:xfrm>
                <a:off x="2735" y="2017"/>
                <a:ext cx="19" cy="3"/>
              </a:xfrm>
              <a:custGeom>
                <a:avLst/>
                <a:gdLst>
                  <a:gd name="T0" fmla="*/ 19 w 19"/>
                  <a:gd name="T1" fmla="*/ 0 h 3"/>
                  <a:gd name="T2" fmla="*/ 14 w 19"/>
                  <a:gd name="T3" fmla="*/ 1 h 3"/>
                  <a:gd name="T4" fmla="*/ 9 w 19"/>
                  <a:gd name="T5" fmla="*/ 3 h 3"/>
                  <a:gd name="T6" fmla="*/ 4 w 19"/>
                  <a:gd name="T7" fmla="*/ 1 h 3"/>
                  <a:gd name="T8" fmla="*/ 0 w 19"/>
                  <a:gd name="T9" fmla="*/ 0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
                    <a:moveTo>
                      <a:pt x="19" y="0"/>
                    </a:moveTo>
                    <a:lnTo>
                      <a:pt x="14" y="1"/>
                    </a:lnTo>
                    <a:lnTo>
                      <a:pt x="9" y="3"/>
                    </a:lnTo>
                    <a:lnTo>
                      <a:pt x="4" y="1"/>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58" name="Freeform 664"/>
              <p:cNvSpPr>
                <a:spLocks/>
              </p:cNvSpPr>
              <p:nvPr userDrawn="1"/>
            </p:nvSpPr>
            <p:spPr bwMode="gray">
              <a:xfrm>
                <a:off x="2821" y="2186"/>
                <a:ext cx="10" cy="9"/>
              </a:xfrm>
              <a:custGeom>
                <a:avLst/>
                <a:gdLst>
                  <a:gd name="T0" fmla="*/ 10 w 10"/>
                  <a:gd name="T1" fmla="*/ 0 h 9"/>
                  <a:gd name="T2" fmla="*/ 10 w 10"/>
                  <a:gd name="T3" fmla="*/ 4 h 9"/>
                  <a:gd name="T4" fmla="*/ 7 w 10"/>
                  <a:gd name="T5" fmla="*/ 7 h 9"/>
                  <a:gd name="T6" fmla="*/ 3 w 10"/>
                  <a:gd name="T7" fmla="*/ 9 h 9"/>
                  <a:gd name="T8" fmla="*/ 0 w 10"/>
                  <a:gd name="T9" fmla="*/ 7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9">
                    <a:moveTo>
                      <a:pt x="10" y="0"/>
                    </a:moveTo>
                    <a:lnTo>
                      <a:pt x="10" y="4"/>
                    </a:lnTo>
                    <a:lnTo>
                      <a:pt x="7" y="7"/>
                    </a:lnTo>
                    <a:lnTo>
                      <a:pt x="3" y="9"/>
                    </a:lnTo>
                    <a:lnTo>
                      <a:pt x="0"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59" name="Line 665"/>
              <p:cNvSpPr>
                <a:spLocks noChangeShapeType="1"/>
              </p:cNvSpPr>
              <p:nvPr userDrawn="1"/>
            </p:nvSpPr>
            <p:spPr bwMode="gray">
              <a:xfrm flipV="1">
                <a:off x="2751" y="2144"/>
                <a:ext cx="157" cy="9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60" name="Line 666"/>
              <p:cNvSpPr>
                <a:spLocks noChangeShapeType="1"/>
              </p:cNvSpPr>
              <p:nvPr userDrawn="1"/>
            </p:nvSpPr>
            <p:spPr bwMode="gray">
              <a:xfrm flipV="1">
                <a:off x="2754" y="2139"/>
                <a:ext cx="152" cy="9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61" name="Freeform 667"/>
              <p:cNvSpPr>
                <a:spLocks/>
              </p:cNvSpPr>
              <p:nvPr userDrawn="1"/>
            </p:nvSpPr>
            <p:spPr bwMode="gray">
              <a:xfrm>
                <a:off x="2905" y="2139"/>
                <a:ext cx="3" cy="5"/>
              </a:xfrm>
              <a:custGeom>
                <a:avLst/>
                <a:gdLst>
                  <a:gd name="T0" fmla="*/ 1 w 3"/>
                  <a:gd name="T1" fmla="*/ 0 h 5"/>
                  <a:gd name="T2" fmla="*/ 3 w 3"/>
                  <a:gd name="T3" fmla="*/ 2 h 5"/>
                  <a:gd name="T4" fmla="*/ 3 w 3"/>
                  <a:gd name="T5" fmla="*/ 4 h 5"/>
                  <a:gd name="T6" fmla="*/ 3 w 3"/>
                  <a:gd name="T7" fmla="*/ 4 h 5"/>
                  <a:gd name="T8" fmla="*/ 1 w 3"/>
                  <a:gd name="T9" fmla="*/ 5 h 5"/>
                  <a:gd name="T10" fmla="*/ 1 w 3"/>
                  <a:gd name="T11" fmla="*/ 5 h 5"/>
                  <a:gd name="T12" fmla="*/ 0 w 3"/>
                  <a:gd name="T13" fmla="*/ 4 h 5"/>
                  <a:gd name="T14" fmla="*/ 0 w 3"/>
                  <a:gd name="T15" fmla="*/ 2 h 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 h="5">
                    <a:moveTo>
                      <a:pt x="1" y="0"/>
                    </a:moveTo>
                    <a:lnTo>
                      <a:pt x="3" y="2"/>
                    </a:lnTo>
                    <a:lnTo>
                      <a:pt x="3" y="4"/>
                    </a:lnTo>
                    <a:lnTo>
                      <a:pt x="1" y="5"/>
                    </a:lnTo>
                    <a:lnTo>
                      <a:pt x="0" y="4"/>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62" name="Line 668"/>
              <p:cNvSpPr>
                <a:spLocks noChangeShapeType="1"/>
              </p:cNvSpPr>
              <p:nvPr userDrawn="1"/>
            </p:nvSpPr>
            <p:spPr bwMode="gray">
              <a:xfrm flipH="1">
                <a:off x="2744" y="2141"/>
                <a:ext cx="161" cy="10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663" name="Freeform 669"/>
              <p:cNvSpPr>
                <a:spLocks/>
              </p:cNvSpPr>
              <p:nvPr userDrawn="1"/>
            </p:nvSpPr>
            <p:spPr bwMode="gray">
              <a:xfrm>
                <a:off x="2744" y="2234"/>
                <a:ext cx="10" cy="8"/>
              </a:xfrm>
              <a:custGeom>
                <a:avLst/>
                <a:gdLst>
                  <a:gd name="T0" fmla="*/ 0 w 10"/>
                  <a:gd name="T1" fmla="*/ 8 h 8"/>
                  <a:gd name="T2" fmla="*/ 3 w 10"/>
                  <a:gd name="T3" fmla="*/ 8 h 8"/>
                  <a:gd name="T4" fmla="*/ 7 w 10"/>
                  <a:gd name="T5" fmla="*/ 8 h 8"/>
                  <a:gd name="T6" fmla="*/ 10 w 10"/>
                  <a:gd name="T7" fmla="*/ 5 h 8"/>
                  <a:gd name="T8" fmla="*/ 10 w 10"/>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8">
                    <a:moveTo>
                      <a:pt x="0" y="8"/>
                    </a:moveTo>
                    <a:lnTo>
                      <a:pt x="3" y="8"/>
                    </a:lnTo>
                    <a:lnTo>
                      <a:pt x="7" y="8"/>
                    </a:lnTo>
                    <a:lnTo>
                      <a:pt x="10" y="5"/>
                    </a:lnTo>
                    <a:lnTo>
                      <a:pt x="1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grpSp>
        <p:grpSp>
          <p:nvGrpSpPr>
            <p:cNvPr id="209" name="Group 670"/>
            <p:cNvGrpSpPr>
              <a:grpSpLocks/>
            </p:cNvGrpSpPr>
            <p:nvPr userDrawn="1"/>
          </p:nvGrpSpPr>
          <p:grpSpPr bwMode="auto">
            <a:xfrm>
              <a:off x="2111" y="670"/>
              <a:ext cx="1572" cy="1574"/>
              <a:chOff x="2111" y="670"/>
              <a:chExt cx="1572" cy="1574"/>
            </a:xfrm>
          </p:grpSpPr>
          <p:sp>
            <p:nvSpPr>
              <p:cNvPr id="264" name="Freeform 671"/>
              <p:cNvSpPr>
                <a:spLocks/>
              </p:cNvSpPr>
              <p:nvPr userDrawn="1"/>
            </p:nvSpPr>
            <p:spPr bwMode="gray">
              <a:xfrm>
                <a:off x="2639" y="2197"/>
                <a:ext cx="9" cy="9"/>
              </a:xfrm>
              <a:custGeom>
                <a:avLst/>
                <a:gdLst>
                  <a:gd name="T0" fmla="*/ 0 w 9"/>
                  <a:gd name="T1" fmla="*/ 0 h 9"/>
                  <a:gd name="T2" fmla="*/ 0 w 9"/>
                  <a:gd name="T3" fmla="*/ 3 h 9"/>
                  <a:gd name="T4" fmla="*/ 2 w 9"/>
                  <a:gd name="T5" fmla="*/ 7 h 9"/>
                  <a:gd name="T6" fmla="*/ 5 w 9"/>
                  <a:gd name="T7" fmla="*/ 9 h 9"/>
                  <a:gd name="T8" fmla="*/ 7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3"/>
                    </a:lnTo>
                    <a:lnTo>
                      <a:pt x="2" y="7"/>
                    </a:lnTo>
                    <a:lnTo>
                      <a:pt x="5" y="9"/>
                    </a:lnTo>
                    <a:lnTo>
                      <a:pt x="7" y="9"/>
                    </a:lnTo>
                    <a:lnTo>
                      <a:pt x="9"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65" name="Line 672"/>
              <p:cNvSpPr>
                <a:spLocks noChangeShapeType="1"/>
              </p:cNvSpPr>
              <p:nvPr userDrawn="1"/>
            </p:nvSpPr>
            <p:spPr bwMode="gray">
              <a:xfrm>
                <a:off x="2546" y="2167"/>
                <a:ext cx="191"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66" name="Line 673"/>
              <p:cNvSpPr>
                <a:spLocks noChangeShapeType="1"/>
              </p:cNvSpPr>
              <p:nvPr userDrawn="1"/>
            </p:nvSpPr>
            <p:spPr bwMode="gray">
              <a:xfrm>
                <a:off x="2544" y="2160"/>
                <a:ext cx="191"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67" name="Freeform 674"/>
              <p:cNvSpPr>
                <a:spLocks/>
              </p:cNvSpPr>
              <p:nvPr userDrawn="1"/>
            </p:nvSpPr>
            <p:spPr bwMode="gray">
              <a:xfrm>
                <a:off x="2735" y="2235"/>
                <a:ext cx="9" cy="9"/>
              </a:xfrm>
              <a:custGeom>
                <a:avLst/>
                <a:gdLst>
                  <a:gd name="T0" fmla="*/ 0 w 9"/>
                  <a:gd name="T1" fmla="*/ 0 h 9"/>
                  <a:gd name="T2" fmla="*/ 0 w 9"/>
                  <a:gd name="T3" fmla="*/ 4 h 9"/>
                  <a:gd name="T4" fmla="*/ 2 w 9"/>
                  <a:gd name="T5" fmla="*/ 6 h 9"/>
                  <a:gd name="T6" fmla="*/ 4 w 9"/>
                  <a:gd name="T7" fmla="*/ 7 h 9"/>
                  <a:gd name="T8" fmla="*/ 5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4"/>
                    </a:lnTo>
                    <a:lnTo>
                      <a:pt x="2" y="6"/>
                    </a:lnTo>
                    <a:lnTo>
                      <a:pt x="4" y="7"/>
                    </a:lnTo>
                    <a:lnTo>
                      <a:pt x="5" y="9"/>
                    </a:lnTo>
                    <a:lnTo>
                      <a:pt x="9"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68" name="Line 675"/>
              <p:cNvSpPr>
                <a:spLocks noChangeShapeType="1"/>
              </p:cNvSpPr>
              <p:nvPr userDrawn="1"/>
            </p:nvSpPr>
            <p:spPr bwMode="gray">
              <a:xfrm flipH="1" flipV="1">
                <a:off x="2553" y="2167"/>
                <a:ext cx="191"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69" name="Freeform 676"/>
              <p:cNvSpPr>
                <a:spLocks/>
              </p:cNvSpPr>
              <p:nvPr userDrawn="1"/>
            </p:nvSpPr>
            <p:spPr bwMode="gray">
              <a:xfrm>
                <a:off x="2544" y="2160"/>
                <a:ext cx="9" cy="7"/>
              </a:xfrm>
              <a:custGeom>
                <a:avLst/>
                <a:gdLst>
                  <a:gd name="T0" fmla="*/ 9 w 9"/>
                  <a:gd name="T1" fmla="*/ 7 h 7"/>
                  <a:gd name="T2" fmla="*/ 6 w 9"/>
                  <a:gd name="T3" fmla="*/ 7 h 7"/>
                  <a:gd name="T4" fmla="*/ 2 w 9"/>
                  <a:gd name="T5" fmla="*/ 7 h 7"/>
                  <a:gd name="T6" fmla="*/ 0 w 9"/>
                  <a:gd name="T7" fmla="*/ 5 h 7"/>
                  <a:gd name="T8" fmla="*/ 0 w 9"/>
                  <a:gd name="T9" fmla="*/ 4 h 7"/>
                  <a:gd name="T10" fmla="*/ 0 w 9"/>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7">
                    <a:moveTo>
                      <a:pt x="9" y="7"/>
                    </a:moveTo>
                    <a:lnTo>
                      <a:pt x="6" y="7"/>
                    </a:lnTo>
                    <a:lnTo>
                      <a:pt x="2" y="7"/>
                    </a:lnTo>
                    <a:lnTo>
                      <a:pt x="0" y="5"/>
                    </a:lnTo>
                    <a:lnTo>
                      <a:pt x="0"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70" name="Freeform 677"/>
              <p:cNvSpPr>
                <a:spLocks/>
              </p:cNvSpPr>
              <p:nvPr userDrawn="1"/>
            </p:nvSpPr>
            <p:spPr bwMode="gray">
              <a:xfrm>
                <a:off x="2688" y="840"/>
                <a:ext cx="3" cy="7"/>
              </a:xfrm>
              <a:custGeom>
                <a:avLst/>
                <a:gdLst>
                  <a:gd name="T0" fmla="*/ 2 w 3"/>
                  <a:gd name="T1" fmla="*/ 7 h 7"/>
                  <a:gd name="T2" fmla="*/ 3 w 3"/>
                  <a:gd name="T3" fmla="*/ 5 h 7"/>
                  <a:gd name="T4" fmla="*/ 3 w 3"/>
                  <a:gd name="T5" fmla="*/ 3 h 7"/>
                  <a:gd name="T6" fmla="*/ 3 w 3"/>
                  <a:gd name="T7" fmla="*/ 0 h 7"/>
                  <a:gd name="T8" fmla="*/ 0 w 3"/>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7">
                    <a:moveTo>
                      <a:pt x="2" y="7"/>
                    </a:moveTo>
                    <a:lnTo>
                      <a:pt x="3" y="5"/>
                    </a:lnTo>
                    <a:lnTo>
                      <a:pt x="3" y="3"/>
                    </a:lnTo>
                    <a:lnTo>
                      <a:pt x="3" y="0"/>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71" name="Freeform 678"/>
              <p:cNvSpPr>
                <a:spLocks/>
              </p:cNvSpPr>
              <p:nvPr userDrawn="1"/>
            </p:nvSpPr>
            <p:spPr bwMode="gray">
              <a:xfrm>
                <a:off x="2630" y="866"/>
                <a:ext cx="12" cy="9"/>
              </a:xfrm>
              <a:custGeom>
                <a:avLst/>
                <a:gdLst>
                  <a:gd name="T0" fmla="*/ 0 w 12"/>
                  <a:gd name="T1" fmla="*/ 9 h 9"/>
                  <a:gd name="T2" fmla="*/ 2 w 12"/>
                  <a:gd name="T3" fmla="*/ 5 h 9"/>
                  <a:gd name="T4" fmla="*/ 4 w 12"/>
                  <a:gd name="T5" fmla="*/ 2 h 9"/>
                  <a:gd name="T6" fmla="*/ 5 w 12"/>
                  <a:gd name="T7" fmla="*/ 0 h 9"/>
                  <a:gd name="T8" fmla="*/ 9 w 12"/>
                  <a:gd name="T9" fmla="*/ 0 h 9"/>
                  <a:gd name="T10" fmla="*/ 12 w 12"/>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9">
                    <a:moveTo>
                      <a:pt x="0" y="9"/>
                    </a:moveTo>
                    <a:lnTo>
                      <a:pt x="2" y="5"/>
                    </a:lnTo>
                    <a:lnTo>
                      <a:pt x="4" y="2"/>
                    </a:lnTo>
                    <a:lnTo>
                      <a:pt x="5" y="0"/>
                    </a:lnTo>
                    <a:lnTo>
                      <a:pt x="9" y="0"/>
                    </a:lnTo>
                    <a:lnTo>
                      <a:pt x="1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72" name="Line 679"/>
              <p:cNvSpPr>
                <a:spLocks noChangeShapeType="1"/>
              </p:cNvSpPr>
              <p:nvPr userDrawn="1"/>
            </p:nvSpPr>
            <p:spPr bwMode="gray">
              <a:xfrm flipH="1">
                <a:off x="2530" y="836"/>
                <a:ext cx="167" cy="8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73" name="Line 680"/>
              <p:cNvSpPr>
                <a:spLocks noChangeShapeType="1"/>
              </p:cNvSpPr>
              <p:nvPr userDrawn="1"/>
            </p:nvSpPr>
            <p:spPr bwMode="gray">
              <a:xfrm flipH="1">
                <a:off x="2529" y="847"/>
                <a:ext cx="161" cy="7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74" name="Freeform 681"/>
              <p:cNvSpPr>
                <a:spLocks/>
              </p:cNvSpPr>
              <p:nvPr userDrawn="1"/>
            </p:nvSpPr>
            <p:spPr bwMode="gray">
              <a:xfrm>
                <a:off x="2529" y="915"/>
                <a:ext cx="10" cy="10"/>
              </a:xfrm>
              <a:custGeom>
                <a:avLst/>
                <a:gdLst>
                  <a:gd name="T0" fmla="*/ 0 w 10"/>
                  <a:gd name="T1" fmla="*/ 10 h 10"/>
                  <a:gd name="T2" fmla="*/ 0 w 10"/>
                  <a:gd name="T3" fmla="*/ 7 h 10"/>
                  <a:gd name="T4" fmla="*/ 1 w 10"/>
                  <a:gd name="T5" fmla="*/ 3 h 10"/>
                  <a:gd name="T6" fmla="*/ 3 w 10"/>
                  <a:gd name="T7" fmla="*/ 2 h 10"/>
                  <a:gd name="T8" fmla="*/ 7 w 10"/>
                  <a:gd name="T9" fmla="*/ 0 h 10"/>
                  <a:gd name="T10" fmla="*/ 10 w 10"/>
                  <a:gd name="T11" fmla="*/ 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10">
                    <a:moveTo>
                      <a:pt x="0" y="10"/>
                    </a:moveTo>
                    <a:lnTo>
                      <a:pt x="0" y="7"/>
                    </a:lnTo>
                    <a:lnTo>
                      <a:pt x="1" y="3"/>
                    </a:lnTo>
                    <a:lnTo>
                      <a:pt x="3" y="2"/>
                    </a:lnTo>
                    <a:lnTo>
                      <a:pt x="7" y="0"/>
                    </a:lnTo>
                    <a:lnTo>
                      <a:pt x="1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75" name="Line 682"/>
              <p:cNvSpPr>
                <a:spLocks noChangeShapeType="1"/>
              </p:cNvSpPr>
              <p:nvPr userDrawn="1"/>
            </p:nvSpPr>
            <p:spPr bwMode="gray">
              <a:xfrm flipV="1">
                <a:off x="2539" y="833"/>
                <a:ext cx="170" cy="8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76" name="Freeform 683"/>
              <p:cNvSpPr>
                <a:spLocks/>
              </p:cNvSpPr>
              <p:nvPr userDrawn="1"/>
            </p:nvSpPr>
            <p:spPr bwMode="gray">
              <a:xfrm>
                <a:off x="2690" y="833"/>
                <a:ext cx="19" cy="14"/>
              </a:xfrm>
              <a:custGeom>
                <a:avLst/>
                <a:gdLst>
                  <a:gd name="T0" fmla="*/ 0 w 19"/>
                  <a:gd name="T1" fmla="*/ 14 h 14"/>
                  <a:gd name="T2" fmla="*/ 3 w 19"/>
                  <a:gd name="T3" fmla="*/ 8 h 14"/>
                  <a:gd name="T4" fmla="*/ 5 w 19"/>
                  <a:gd name="T5" fmla="*/ 5 h 14"/>
                  <a:gd name="T6" fmla="*/ 8 w 19"/>
                  <a:gd name="T7" fmla="*/ 1 h 14"/>
                  <a:gd name="T8" fmla="*/ 14 w 19"/>
                  <a:gd name="T9" fmla="*/ 0 h 14"/>
                  <a:gd name="T10" fmla="*/ 19 w 19"/>
                  <a:gd name="T11" fmla="*/ 0 h 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 h="14">
                    <a:moveTo>
                      <a:pt x="0" y="14"/>
                    </a:moveTo>
                    <a:lnTo>
                      <a:pt x="3" y="8"/>
                    </a:lnTo>
                    <a:lnTo>
                      <a:pt x="5" y="5"/>
                    </a:lnTo>
                    <a:lnTo>
                      <a:pt x="8" y="1"/>
                    </a:lnTo>
                    <a:lnTo>
                      <a:pt x="14" y="0"/>
                    </a:lnTo>
                    <a:lnTo>
                      <a:pt x="1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77" name="Freeform 684"/>
              <p:cNvSpPr>
                <a:spLocks/>
              </p:cNvSpPr>
              <p:nvPr userDrawn="1"/>
            </p:nvSpPr>
            <p:spPr bwMode="gray">
              <a:xfrm>
                <a:off x="2527" y="1043"/>
                <a:ext cx="5" cy="8"/>
              </a:xfrm>
              <a:custGeom>
                <a:avLst/>
                <a:gdLst>
                  <a:gd name="T0" fmla="*/ 2 w 5"/>
                  <a:gd name="T1" fmla="*/ 0 h 8"/>
                  <a:gd name="T2" fmla="*/ 0 w 5"/>
                  <a:gd name="T3" fmla="*/ 3 h 8"/>
                  <a:gd name="T4" fmla="*/ 0 w 5"/>
                  <a:gd name="T5" fmla="*/ 5 h 8"/>
                  <a:gd name="T6" fmla="*/ 2 w 5"/>
                  <a:gd name="T7" fmla="*/ 7 h 8"/>
                  <a:gd name="T8" fmla="*/ 5 w 5"/>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8">
                    <a:moveTo>
                      <a:pt x="2" y="0"/>
                    </a:moveTo>
                    <a:lnTo>
                      <a:pt x="0" y="3"/>
                    </a:lnTo>
                    <a:lnTo>
                      <a:pt x="0" y="5"/>
                    </a:lnTo>
                    <a:lnTo>
                      <a:pt x="2" y="7"/>
                    </a:lnTo>
                    <a:lnTo>
                      <a:pt x="5"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78" name="Line 685"/>
              <p:cNvSpPr>
                <a:spLocks noChangeShapeType="1"/>
              </p:cNvSpPr>
              <p:nvPr userDrawn="1"/>
            </p:nvSpPr>
            <p:spPr bwMode="gray">
              <a:xfrm>
                <a:off x="2525" y="929"/>
                <a:ext cx="2" cy="23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79" name="Line 686"/>
              <p:cNvSpPr>
                <a:spLocks noChangeShapeType="1"/>
              </p:cNvSpPr>
              <p:nvPr userDrawn="1"/>
            </p:nvSpPr>
            <p:spPr bwMode="gray">
              <a:xfrm>
                <a:off x="2529" y="925"/>
                <a:ext cx="1" cy="23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80" name="Freeform 687"/>
              <p:cNvSpPr>
                <a:spLocks/>
              </p:cNvSpPr>
              <p:nvPr userDrawn="1"/>
            </p:nvSpPr>
            <p:spPr bwMode="gray">
              <a:xfrm>
                <a:off x="2529" y="1160"/>
                <a:ext cx="3" cy="8"/>
              </a:xfrm>
              <a:custGeom>
                <a:avLst/>
                <a:gdLst>
                  <a:gd name="T0" fmla="*/ 1 w 3"/>
                  <a:gd name="T1" fmla="*/ 0 h 8"/>
                  <a:gd name="T2" fmla="*/ 0 w 3"/>
                  <a:gd name="T3" fmla="*/ 1 h 8"/>
                  <a:gd name="T4" fmla="*/ 0 w 3"/>
                  <a:gd name="T5" fmla="*/ 5 h 8"/>
                  <a:gd name="T6" fmla="*/ 1 w 3"/>
                  <a:gd name="T7" fmla="*/ 7 h 8"/>
                  <a:gd name="T8" fmla="*/ 3 w 3"/>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8">
                    <a:moveTo>
                      <a:pt x="1" y="0"/>
                    </a:moveTo>
                    <a:lnTo>
                      <a:pt x="0" y="1"/>
                    </a:lnTo>
                    <a:lnTo>
                      <a:pt x="0" y="5"/>
                    </a:lnTo>
                    <a:lnTo>
                      <a:pt x="1" y="7"/>
                    </a:lnTo>
                    <a:lnTo>
                      <a:pt x="3"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81" name="Line 688"/>
              <p:cNvSpPr>
                <a:spLocks noChangeShapeType="1"/>
              </p:cNvSpPr>
              <p:nvPr userDrawn="1"/>
            </p:nvSpPr>
            <p:spPr bwMode="gray">
              <a:xfrm flipH="1" flipV="1">
                <a:off x="2530" y="934"/>
                <a:ext cx="2" cy="23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82" name="Freeform 689"/>
              <p:cNvSpPr>
                <a:spLocks/>
              </p:cNvSpPr>
              <p:nvPr userDrawn="1"/>
            </p:nvSpPr>
            <p:spPr bwMode="gray">
              <a:xfrm>
                <a:off x="2525" y="925"/>
                <a:ext cx="5" cy="9"/>
              </a:xfrm>
              <a:custGeom>
                <a:avLst/>
                <a:gdLst>
                  <a:gd name="T0" fmla="*/ 5 w 5"/>
                  <a:gd name="T1" fmla="*/ 9 h 9"/>
                  <a:gd name="T2" fmla="*/ 2 w 5"/>
                  <a:gd name="T3" fmla="*/ 7 h 9"/>
                  <a:gd name="T4" fmla="*/ 0 w 5"/>
                  <a:gd name="T5" fmla="*/ 4 h 9"/>
                  <a:gd name="T6" fmla="*/ 0 w 5"/>
                  <a:gd name="T7" fmla="*/ 2 h 9"/>
                  <a:gd name="T8" fmla="*/ 4 w 5"/>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9">
                    <a:moveTo>
                      <a:pt x="5" y="9"/>
                    </a:moveTo>
                    <a:lnTo>
                      <a:pt x="2" y="7"/>
                    </a:lnTo>
                    <a:lnTo>
                      <a:pt x="0" y="4"/>
                    </a:lnTo>
                    <a:lnTo>
                      <a:pt x="0" y="2"/>
                    </a:lnTo>
                    <a:lnTo>
                      <a:pt x="4"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83" name="Freeform 690"/>
              <p:cNvSpPr>
                <a:spLocks/>
              </p:cNvSpPr>
              <p:nvPr userDrawn="1"/>
            </p:nvSpPr>
            <p:spPr bwMode="gray">
              <a:xfrm>
                <a:off x="2530" y="1160"/>
                <a:ext cx="13" cy="17"/>
              </a:xfrm>
              <a:custGeom>
                <a:avLst/>
                <a:gdLst>
                  <a:gd name="T0" fmla="*/ 0 w 13"/>
                  <a:gd name="T1" fmla="*/ 0 h 17"/>
                  <a:gd name="T2" fmla="*/ 2 w 13"/>
                  <a:gd name="T3" fmla="*/ 5 h 17"/>
                  <a:gd name="T4" fmla="*/ 4 w 13"/>
                  <a:gd name="T5" fmla="*/ 10 h 17"/>
                  <a:gd name="T6" fmla="*/ 7 w 13"/>
                  <a:gd name="T7" fmla="*/ 14 h 17"/>
                  <a:gd name="T8" fmla="*/ 13 w 1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7">
                    <a:moveTo>
                      <a:pt x="0" y="0"/>
                    </a:moveTo>
                    <a:lnTo>
                      <a:pt x="2" y="5"/>
                    </a:lnTo>
                    <a:lnTo>
                      <a:pt x="4" y="10"/>
                    </a:lnTo>
                    <a:lnTo>
                      <a:pt x="7" y="14"/>
                    </a:lnTo>
                    <a:lnTo>
                      <a:pt x="13" y="1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84" name="Freeform 691"/>
              <p:cNvSpPr>
                <a:spLocks/>
              </p:cNvSpPr>
              <p:nvPr userDrawn="1"/>
            </p:nvSpPr>
            <p:spPr bwMode="gray">
              <a:xfrm>
                <a:off x="2861" y="754"/>
                <a:ext cx="19" cy="2"/>
              </a:xfrm>
              <a:custGeom>
                <a:avLst/>
                <a:gdLst>
                  <a:gd name="T0" fmla="*/ 19 w 19"/>
                  <a:gd name="T1" fmla="*/ 0 h 2"/>
                  <a:gd name="T2" fmla="*/ 14 w 19"/>
                  <a:gd name="T3" fmla="*/ 2 h 2"/>
                  <a:gd name="T4" fmla="*/ 7 w 19"/>
                  <a:gd name="T5" fmla="*/ 2 h 2"/>
                  <a:gd name="T6" fmla="*/ 0 w 19"/>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
                    <a:moveTo>
                      <a:pt x="19" y="0"/>
                    </a:moveTo>
                    <a:lnTo>
                      <a:pt x="14" y="2"/>
                    </a:lnTo>
                    <a:lnTo>
                      <a:pt x="7"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85" name="Freeform 692"/>
              <p:cNvSpPr>
                <a:spLocks/>
              </p:cNvSpPr>
              <p:nvPr userDrawn="1"/>
            </p:nvSpPr>
            <p:spPr bwMode="gray">
              <a:xfrm>
                <a:off x="3032" y="679"/>
                <a:ext cx="20" cy="1"/>
              </a:xfrm>
              <a:custGeom>
                <a:avLst/>
                <a:gdLst>
                  <a:gd name="T0" fmla="*/ 0 w 20"/>
                  <a:gd name="T1" fmla="*/ 1 h 1"/>
                  <a:gd name="T2" fmla="*/ 7 w 20"/>
                  <a:gd name="T3" fmla="*/ 0 h 1"/>
                  <a:gd name="T4" fmla="*/ 13 w 20"/>
                  <a:gd name="T5" fmla="*/ 0 h 1"/>
                  <a:gd name="T6" fmla="*/ 20 w 20"/>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
                    <a:moveTo>
                      <a:pt x="0" y="1"/>
                    </a:moveTo>
                    <a:lnTo>
                      <a:pt x="7" y="0"/>
                    </a:lnTo>
                    <a:lnTo>
                      <a:pt x="13" y="0"/>
                    </a:lnTo>
                    <a:lnTo>
                      <a:pt x="2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86" name="Freeform 693"/>
              <p:cNvSpPr>
                <a:spLocks/>
              </p:cNvSpPr>
              <p:nvPr userDrawn="1"/>
            </p:nvSpPr>
            <p:spPr bwMode="gray">
              <a:xfrm>
                <a:off x="2938" y="715"/>
                <a:ext cx="10" cy="11"/>
              </a:xfrm>
              <a:custGeom>
                <a:avLst/>
                <a:gdLst>
                  <a:gd name="T0" fmla="*/ 0 w 10"/>
                  <a:gd name="T1" fmla="*/ 11 h 11"/>
                  <a:gd name="T2" fmla="*/ 0 w 10"/>
                  <a:gd name="T3" fmla="*/ 7 h 11"/>
                  <a:gd name="T4" fmla="*/ 3 w 10"/>
                  <a:gd name="T5" fmla="*/ 4 h 11"/>
                  <a:gd name="T6" fmla="*/ 5 w 10"/>
                  <a:gd name="T7" fmla="*/ 2 h 11"/>
                  <a:gd name="T8" fmla="*/ 7 w 10"/>
                  <a:gd name="T9" fmla="*/ 0 h 11"/>
                  <a:gd name="T10" fmla="*/ 10 w 10"/>
                  <a:gd name="T11" fmla="*/ 2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11">
                    <a:moveTo>
                      <a:pt x="0" y="11"/>
                    </a:moveTo>
                    <a:lnTo>
                      <a:pt x="0" y="7"/>
                    </a:lnTo>
                    <a:lnTo>
                      <a:pt x="3" y="4"/>
                    </a:lnTo>
                    <a:lnTo>
                      <a:pt x="5" y="2"/>
                    </a:lnTo>
                    <a:lnTo>
                      <a:pt x="7" y="0"/>
                    </a:lnTo>
                    <a:lnTo>
                      <a:pt x="1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87" name="Line 694"/>
              <p:cNvSpPr>
                <a:spLocks noChangeShapeType="1"/>
              </p:cNvSpPr>
              <p:nvPr userDrawn="1"/>
            </p:nvSpPr>
            <p:spPr bwMode="gray">
              <a:xfrm flipH="1">
                <a:off x="2880" y="672"/>
                <a:ext cx="156"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88" name="Line 695"/>
              <p:cNvSpPr>
                <a:spLocks noChangeShapeType="1"/>
              </p:cNvSpPr>
              <p:nvPr userDrawn="1"/>
            </p:nvSpPr>
            <p:spPr bwMode="gray">
              <a:xfrm flipH="1">
                <a:off x="2880" y="680"/>
                <a:ext cx="152" cy="7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89" name="Freeform 696"/>
              <p:cNvSpPr>
                <a:spLocks/>
              </p:cNvSpPr>
              <p:nvPr userDrawn="1"/>
            </p:nvSpPr>
            <p:spPr bwMode="gray">
              <a:xfrm>
                <a:off x="2880" y="747"/>
                <a:ext cx="4" cy="7"/>
              </a:xfrm>
              <a:custGeom>
                <a:avLst/>
                <a:gdLst>
                  <a:gd name="T0" fmla="*/ 0 w 4"/>
                  <a:gd name="T1" fmla="*/ 7 h 7"/>
                  <a:gd name="T2" fmla="*/ 0 w 4"/>
                  <a:gd name="T3" fmla="*/ 5 h 7"/>
                  <a:gd name="T4" fmla="*/ 0 w 4"/>
                  <a:gd name="T5" fmla="*/ 2 h 7"/>
                  <a:gd name="T6" fmla="*/ 0 w 4"/>
                  <a:gd name="T7" fmla="*/ 0 h 7"/>
                  <a:gd name="T8" fmla="*/ 2 w 4"/>
                  <a:gd name="T9" fmla="*/ 0 h 7"/>
                  <a:gd name="T10" fmla="*/ 4 w 4"/>
                  <a:gd name="T11" fmla="*/ 2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 h="7">
                    <a:moveTo>
                      <a:pt x="0" y="7"/>
                    </a:moveTo>
                    <a:lnTo>
                      <a:pt x="0" y="5"/>
                    </a:lnTo>
                    <a:lnTo>
                      <a:pt x="0" y="2"/>
                    </a:lnTo>
                    <a:lnTo>
                      <a:pt x="0" y="0"/>
                    </a:lnTo>
                    <a:lnTo>
                      <a:pt x="2" y="0"/>
                    </a:lnTo>
                    <a:lnTo>
                      <a:pt x="4"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90" name="Line 697"/>
              <p:cNvSpPr>
                <a:spLocks noChangeShapeType="1"/>
              </p:cNvSpPr>
              <p:nvPr userDrawn="1"/>
            </p:nvSpPr>
            <p:spPr bwMode="gray">
              <a:xfrm flipV="1">
                <a:off x="2884" y="670"/>
                <a:ext cx="159" cy="7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91" name="Freeform 698"/>
              <p:cNvSpPr>
                <a:spLocks/>
              </p:cNvSpPr>
              <p:nvPr userDrawn="1"/>
            </p:nvSpPr>
            <p:spPr bwMode="gray">
              <a:xfrm>
                <a:off x="3032" y="670"/>
                <a:ext cx="11" cy="10"/>
              </a:xfrm>
              <a:custGeom>
                <a:avLst/>
                <a:gdLst>
                  <a:gd name="T0" fmla="*/ 11 w 11"/>
                  <a:gd name="T1" fmla="*/ 0 h 10"/>
                  <a:gd name="T2" fmla="*/ 7 w 11"/>
                  <a:gd name="T3" fmla="*/ 0 h 10"/>
                  <a:gd name="T4" fmla="*/ 4 w 11"/>
                  <a:gd name="T5" fmla="*/ 2 h 10"/>
                  <a:gd name="T6" fmla="*/ 2 w 11"/>
                  <a:gd name="T7" fmla="*/ 3 h 10"/>
                  <a:gd name="T8" fmla="*/ 0 w 11"/>
                  <a:gd name="T9" fmla="*/ 7 h 10"/>
                  <a:gd name="T10" fmla="*/ 0 w 11"/>
                  <a:gd name="T11" fmla="*/ 1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10">
                    <a:moveTo>
                      <a:pt x="11" y="0"/>
                    </a:moveTo>
                    <a:lnTo>
                      <a:pt x="7" y="0"/>
                    </a:lnTo>
                    <a:lnTo>
                      <a:pt x="4" y="2"/>
                    </a:lnTo>
                    <a:lnTo>
                      <a:pt x="2" y="3"/>
                    </a:lnTo>
                    <a:lnTo>
                      <a:pt x="0" y="7"/>
                    </a:lnTo>
                    <a:lnTo>
                      <a:pt x="0" y="1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92" name="Freeform 699"/>
              <p:cNvSpPr>
                <a:spLocks/>
              </p:cNvSpPr>
              <p:nvPr userDrawn="1"/>
            </p:nvSpPr>
            <p:spPr bwMode="gray">
              <a:xfrm>
                <a:off x="2912" y="1032"/>
                <a:ext cx="19" cy="2"/>
              </a:xfrm>
              <a:custGeom>
                <a:avLst/>
                <a:gdLst>
                  <a:gd name="T0" fmla="*/ 0 w 19"/>
                  <a:gd name="T1" fmla="*/ 2 h 2"/>
                  <a:gd name="T2" fmla="*/ 5 w 19"/>
                  <a:gd name="T3" fmla="*/ 0 h 2"/>
                  <a:gd name="T4" fmla="*/ 8 w 19"/>
                  <a:gd name="T5" fmla="*/ 0 h 2"/>
                  <a:gd name="T6" fmla="*/ 14 w 19"/>
                  <a:gd name="T7" fmla="*/ 0 h 2"/>
                  <a:gd name="T8" fmla="*/ 19 w 19"/>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
                    <a:moveTo>
                      <a:pt x="0" y="2"/>
                    </a:moveTo>
                    <a:lnTo>
                      <a:pt x="5" y="0"/>
                    </a:lnTo>
                    <a:lnTo>
                      <a:pt x="8" y="0"/>
                    </a:lnTo>
                    <a:lnTo>
                      <a:pt x="14" y="0"/>
                    </a:lnTo>
                    <a:lnTo>
                      <a:pt x="1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93" name="Line 700"/>
              <p:cNvSpPr>
                <a:spLocks noChangeShapeType="1"/>
              </p:cNvSpPr>
              <p:nvPr userDrawn="1"/>
            </p:nvSpPr>
            <p:spPr bwMode="gray">
              <a:xfrm flipV="1">
                <a:off x="2920" y="913"/>
                <a:ext cx="2" cy="23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94" name="Line 701"/>
              <p:cNvSpPr>
                <a:spLocks noChangeShapeType="1"/>
              </p:cNvSpPr>
              <p:nvPr userDrawn="1"/>
            </p:nvSpPr>
            <p:spPr bwMode="gray">
              <a:xfrm flipV="1">
                <a:off x="2912" y="917"/>
                <a:ext cx="1" cy="23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95" name="Freeform 702"/>
              <p:cNvSpPr>
                <a:spLocks/>
              </p:cNvSpPr>
              <p:nvPr userDrawn="1"/>
            </p:nvSpPr>
            <p:spPr bwMode="gray">
              <a:xfrm>
                <a:off x="2912" y="913"/>
                <a:ext cx="21" cy="4"/>
              </a:xfrm>
              <a:custGeom>
                <a:avLst/>
                <a:gdLst>
                  <a:gd name="T0" fmla="*/ 0 w 21"/>
                  <a:gd name="T1" fmla="*/ 4 h 4"/>
                  <a:gd name="T2" fmla="*/ 7 w 21"/>
                  <a:gd name="T3" fmla="*/ 0 h 4"/>
                  <a:gd name="T4" fmla="*/ 14 w 21"/>
                  <a:gd name="T5" fmla="*/ 0 h 4"/>
                  <a:gd name="T6" fmla="*/ 21 w 21"/>
                  <a:gd name="T7" fmla="*/ 2 h 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 h="4">
                    <a:moveTo>
                      <a:pt x="0" y="4"/>
                    </a:moveTo>
                    <a:lnTo>
                      <a:pt x="7" y="0"/>
                    </a:lnTo>
                    <a:lnTo>
                      <a:pt x="14" y="0"/>
                    </a:lnTo>
                    <a:lnTo>
                      <a:pt x="21"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96" name="Line 703"/>
              <p:cNvSpPr>
                <a:spLocks noChangeShapeType="1"/>
              </p:cNvSpPr>
              <p:nvPr userDrawn="1"/>
            </p:nvSpPr>
            <p:spPr bwMode="gray">
              <a:xfrm flipH="1">
                <a:off x="2931" y="915"/>
                <a:ext cx="2" cy="23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97" name="Freeform 704"/>
              <p:cNvSpPr>
                <a:spLocks/>
              </p:cNvSpPr>
              <p:nvPr userDrawn="1"/>
            </p:nvSpPr>
            <p:spPr bwMode="gray">
              <a:xfrm>
                <a:off x="2912" y="1147"/>
                <a:ext cx="19" cy="2"/>
              </a:xfrm>
              <a:custGeom>
                <a:avLst/>
                <a:gdLst>
                  <a:gd name="T0" fmla="*/ 0 w 19"/>
                  <a:gd name="T1" fmla="*/ 2 h 2"/>
                  <a:gd name="T2" fmla="*/ 5 w 19"/>
                  <a:gd name="T3" fmla="*/ 0 h 2"/>
                  <a:gd name="T4" fmla="*/ 12 w 19"/>
                  <a:gd name="T5" fmla="*/ 0 h 2"/>
                  <a:gd name="T6" fmla="*/ 19 w 19"/>
                  <a:gd name="T7" fmla="*/ 2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
                    <a:moveTo>
                      <a:pt x="0" y="2"/>
                    </a:moveTo>
                    <a:lnTo>
                      <a:pt x="5" y="0"/>
                    </a:lnTo>
                    <a:lnTo>
                      <a:pt x="12" y="0"/>
                    </a:lnTo>
                    <a:lnTo>
                      <a:pt x="19"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98" name="Freeform 705"/>
              <p:cNvSpPr>
                <a:spLocks/>
              </p:cNvSpPr>
              <p:nvPr userDrawn="1"/>
            </p:nvSpPr>
            <p:spPr bwMode="gray">
              <a:xfrm>
                <a:off x="2842" y="929"/>
                <a:ext cx="12" cy="16"/>
              </a:xfrm>
              <a:custGeom>
                <a:avLst/>
                <a:gdLst>
                  <a:gd name="T0" fmla="*/ 12 w 12"/>
                  <a:gd name="T1" fmla="*/ 16 h 16"/>
                  <a:gd name="T2" fmla="*/ 10 w 12"/>
                  <a:gd name="T3" fmla="*/ 10 h 16"/>
                  <a:gd name="T4" fmla="*/ 9 w 12"/>
                  <a:gd name="T5" fmla="*/ 7 h 16"/>
                  <a:gd name="T6" fmla="*/ 5 w 12"/>
                  <a:gd name="T7" fmla="*/ 2 h 16"/>
                  <a:gd name="T8" fmla="*/ 0 w 12"/>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6">
                    <a:moveTo>
                      <a:pt x="12" y="16"/>
                    </a:moveTo>
                    <a:lnTo>
                      <a:pt x="10" y="10"/>
                    </a:lnTo>
                    <a:lnTo>
                      <a:pt x="9" y="7"/>
                    </a:lnTo>
                    <a:lnTo>
                      <a:pt x="5"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99" name="Line 706"/>
              <p:cNvSpPr>
                <a:spLocks noChangeShapeType="1"/>
              </p:cNvSpPr>
              <p:nvPr userDrawn="1"/>
            </p:nvSpPr>
            <p:spPr bwMode="gray">
              <a:xfrm flipH="1">
                <a:off x="2749" y="903"/>
                <a:ext cx="164" cy="8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00" name="Line 707"/>
              <p:cNvSpPr>
                <a:spLocks noChangeShapeType="1"/>
              </p:cNvSpPr>
              <p:nvPr userDrawn="1"/>
            </p:nvSpPr>
            <p:spPr bwMode="gray">
              <a:xfrm flipH="1">
                <a:off x="2753" y="917"/>
                <a:ext cx="159" cy="8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01" name="Freeform 708"/>
              <p:cNvSpPr>
                <a:spLocks/>
              </p:cNvSpPr>
              <p:nvPr userDrawn="1"/>
            </p:nvSpPr>
            <p:spPr bwMode="gray">
              <a:xfrm>
                <a:off x="2740" y="980"/>
                <a:ext cx="13" cy="17"/>
              </a:xfrm>
              <a:custGeom>
                <a:avLst/>
                <a:gdLst>
                  <a:gd name="T0" fmla="*/ 13 w 13"/>
                  <a:gd name="T1" fmla="*/ 17 h 17"/>
                  <a:gd name="T2" fmla="*/ 11 w 13"/>
                  <a:gd name="T3" fmla="*/ 12 h 17"/>
                  <a:gd name="T4" fmla="*/ 9 w 13"/>
                  <a:gd name="T5" fmla="*/ 7 h 17"/>
                  <a:gd name="T6" fmla="*/ 6 w 13"/>
                  <a:gd name="T7" fmla="*/ 3 h 17"/>
                  <a:gd name="T8" fmla="*/ 0 w 1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7">
                    <a:moveTo>
                      <a:pt x="13" y="17"/>
                    </a:moveTo>
                    <a:lnTo>
                      <a:pt x="11" y="12"/>
                    </a:lnTo>
                    <a:lnTo>
                      <a:pt x="9" y="7"/>
                    </a:lnTo>
                    <a:lnTo>
                      <a:pt x="6" y="3"/>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02" name="Line 709"/>
              <p:cNvSpPr>
                <a:spLocks noChangeShapeType="1"/>
              </p:cNvSpPr>
              <p:nvPr userDrawn="1"/>
            </p:nvSpPr>
            <p:spPr bwMode="gray">
              <a:xfrm flipV="1">
                <a:off x="2740" y="896"/>
                <a:ext cx="170" cy="8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03" name="Freeform 710"/>
              <p:cNvSpPr>
                <a:spLocks/>
              </p:cNvSpPr>
              <p:nvPr userDrawn="1"/>
            </p:nvSpPr>
            <p:spPr bwMode="gray">
              <a:xfrm>
                <a:off x="2910" y="896"/>
                <a:ext cx="3" cy="21"/>
              </a:xfrm>
              <a:custGeom>
                <a:avLst/>
                <a:gdLst>
                  <a:gd name="T0" fmla="*/ 2 w 3"/>
                  <a:gd name="T1" fmla="*/ 21 h 21"/>
                  <a:gd name="T2" fmla="*/ 3 w 3"/>
                  <a:gd name="T3" fmla="*/ 15 h 21"/>
                  <a:gd name="T4" fmla="*/ 3 w 3"/>
                  <a:gd name="T5" fmla="*/ 8 h 21"/>
                  <a:gd name="T6" fmla="*/ 2 w 3"/>
                  <a:gd name="T7" fmla="*/ 3 h 21"/>
                  <a:gd name="T8" fmla="*/ 0 w 3"/>
                  <a:gd name="T9" fmla="*/ 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21">
                    <a:moveTo>
                      <a:pt x="2" y="21"/>
                    </a:moveTo>
                    <a:lnTo>
                      <a:pt x="3" y="15"/>
                    </a:lnTo>
                    <a:lnTo>
                      <a:pt x="3" y="8"/>
                    </a:lnTo>
                    <a:lnTo>
                      <a:pt x="2" y="3"/>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04" name="Freeform 711"/>
              <p:cNvSpPr>
                <a:spLocks/>
              </p:cNvSpPr>
              <p:nvPr userDrawn="1"/>
            </p:nvSpPr>
            <p:spPr bwMode="gray">
              <a:xfrm>
                <a:off x="2732" y="1116"/>
                <a:ext cx="21" cy="2"/>
              </a:xfrm>
              <a:custGeom>
                <a:avLst/>
                <a:gdLst>
                  <a:gd name="T0" fmla="*/ 21 w 21"/>
                  <a:gd name="T1" fmla="*/ 0 h 2"/>
                  <a:gd name="T2" fmla="*/ 15 w 21"/>
                  <a:gd name="T3" fmla="*/ 2 h 2"/>
                  <a:gd name="T4" fmla="*/ 10 w 21"/>
                  <a:gd name="T5" fmla="*/ 2 h 2"/>
                  <a:gd name="T6" fmla="*/ 5 w 21"/>
                  <a:gd name="T7" fmla="*/ 2 h 2"/>
                  <a:gd name="T8" fmla="*/ 0 w 21"/>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2">
                    <a:moveTo>
                      <a:pt x="21" y="0"/>
                    </a:moveTo>
                    <a:lnTo>
                      <a:pt x="15" y="2"/>
                    </a:lnTo>
                    <a:lnTo>
                      <a:pt x="10" y="2"/>
                    </a:lnTo>
                    <a:lnTo>
                      <a:pt x="5"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05" name="Line 712"/>
              <p:cNvSpPr>
                <a:spLocks noChangeShapeType="1"/>
              </p:cNvSpPr>
              <p:nvPr userDrawn="1"/>
            </p:nvSpPr>
            <p:spPr bwMode="gray">
              <a:xfrm>
                <a:off x="2742" y="999"/>
                <a:ext cx="1" cy="23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06" name="Line 713"/>
              <p:cNvSpPr>
                <a:spLocks noChangeShapeType="1"/>
              </p:cNvSpPr>
              <p:nvPr userDrawn="1"/>
            </p:nvSpPr>
            <p:spPr bwMode="gray">
              <a:xfrm>
                <a:off x="2753" y="997"/>
                <a:ext cx="1" cy="23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07" name="Freeform 714"/>
              <p:cNvSpPr>
                <a:spLocks/>
              </p:cNvSpPr>
              <p:nvPr userDrawn="1"/>
            </p:nvSpPr>
            <p:spPr bwMode="gray">
              <a:xfrm>
                <a:off x="2732" y="1233"/>
                <a:ext cx="21" cy="4"/>
              </a:xfrm>
              <a:custGeom>
                <a:avLst/>
                <a:gdLst>
                  <a:gd name="T0" fmla="*/ 21 w 21"/>
                  <a:gd name="T1" fmla="*/ 0 h 4"/>
                  <a:gd name="T2" fmla="*/ 14 w 21"/>
                  <a:gd name="T3" fmla="*/ 4 h 4"/>
                  <a:gd name="T4" fmla="*/ 7 w 21"/>
                  <a:gd name="T5" fmla="*/ 4 h 4"/>
                  <a:gd name="T6" fmla="*/ 0 w 21"/>
                  <a:gd name="T7" fmla="*/ 2 h 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 h="4">
                    <a:moveTo>
                      <a:pt x="21" y="0"/>
                    </a:moveTo>
                    <a:lnTo>
                      <a:pt x="14" y="4"/>
                    </a:lnTo>
                    <a:lnTo>
                      <a:pt x="7" y="4"/>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08" name="Line 715"/>
              <p:cNvSpPr>
                <a:spLocks noChangeShapeType="1"/>
              </p:cNvSpPr>
              <p:nvPr userDrawn="1"/>
            </p:nvSpPr>
            <p:spPr bwMode="gray">
              <a:xfrm flipV="1">
                <a:off x="2732" y="997"/>
                <a:ext cx="1" cy="23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09" name="Freeform 716"/>
              <p:cNvSpPr>
                <a:spLocks/>
              </p:cNvSpPr>
              <p:nvPr userDrawn="1"/>
            </p:nvSpPr>
            <p:spPr bwMode="gray">
              <a:xfrm>
                <a:off x="2732" y="997"/>
                <a:ext cx="21" cy="2"/>
              </a:xfrm>
              <a:custGeom>
                <a:avLst/>
                <a:gdLst>
                  <a:gd name="T0" fmla="*/ 0 w 21"/>
                  <a:gd name="T1" fmla="*/ 0 h 2"/>
                  <a:gd name="T2" fmla="*/ 7 w 21"/>
                  <a:gd name="T3" fmla="*/ 2 h 2"/>
                  <a:gd name="T4" fmla="*/ 14 w 21"/>
                  <a:gd name="T5" fmla="*/ 2 h 2"/>
                  <a:gd name="T6" fmla="*/ 21 w 21"/>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 h="2">
                    <a:moveTo>
                      <a:pt x="0" y="0"/>
                    </a:moveTo>
                    <a:lnTo>
                      <a:pt x="7" y="2"/>
                    </a:lnTo>
                    <a:lnTo>
                      <a:pt x="14" y="2"/>
                    </a:lnTo>
                    <a:lnTo>
                      <a:pt x="2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10" name="Freeform 717"/>
              <p:cNvSpPr>
                <a:spLocks/>
              </p:cNvSpPr>
              <p:nvPr userDrawn="1"/>
            </p:nvSpPr>
            <p:spPr bwMode="gray">
              <a:xfrm>
                <a:off x="2842" y="1181"/>
                <a:ext cx="10" cy="10"/>
              </a:xfrm>
              <a:custGeom>
                <a:avLst/>
                <a:gdLst>
                  <a:gd name="T0" fmla="*/ 10 w 10"/>
                  <a:gd name="T1" fmla="*/ 0 h 10"/>
                  <a:gd name="T2" fmla="*/ 10 w 10"/>
                  <a:gd name="T3" fmla="*/ 5 h 10"/>
                  <a:gd name="T4" fmla="*/ 9 w 10"/>
                  <a:gd name="T5" fmla="*/ 8 h 10"/>
                  <a:gd name="T6" fmla="*/ 5 w 10"/>
                  <a:gd name="T7" fmla="*/ 8 h 10"/>
                  <a:gd name="T8" fmla="*/ 3 w 10"/>
                  <a:gd name="T9" fmla="*/ 10 h 10"/>
                  <a:gd name="T10" fmla="*/ 0 w 10"/>
                  <a:gd name="T11" fmla="*/ 8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10">
                    <a:moveTo>
                      <a:pt x="10" y="0"/>
                    </a:moveTo>
                    <a:lnTo>
                      <a:pt x="10" y="5"/>
                    </a:lnTo>
                    <a:lnTo>
                      <a:pt x="9" y="8"/>
                    </a:lnTo>
                    <a:lnTo>
                      <a:pt x="5" y="8"/>
                    </a:lnTo>
                    <a:lnTo>
                      <a:pt x="3" y="10"/>
                    </a:lnTo>
                    <a:lnTo>
                      <a:pt x="0"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11" name="Line 718"/>
              <p:cNvSpPr>
                <a:spLocks noChangeShapeType="1"/>
              </p:cNvSpPr>
              <p:nvPr userDrawn="1"/>
            </p:nvSpPr>
            <p:spPr bwMode="gray">
              <a:xfrm flipV="1">
                <a:off x="2749" y="1156"/>
                <a:ext cx="163" cy="8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12" name="Line 719"/>
              <p:cNvSpPr>
                <a:spLocks noChangeShapeType="1"/>
              </p:cNvSpPr>
              <p:nvPr userDrawn="1"/>
            </p:nvSpPr>
            <p:spPr bwMode="gray">
              <a:xfrm flipV="1">
                <a:off x="2753" y="1149"/>
                <a:ext cx="159" cy="8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13" name="Freeform 720"/>
              <p:cNvSpPr>
                <a:spLocks/>
              </p:cNvSpPr>
              <p:nvPr userDrawn="1"/>
            </p:nvSpPr>
            <p:spPr bwMode="gray">
              <a:xfrm>
                <a:off x="2908" y="1149"/>
                <a:ext cx="4" cy="7"/>
              </a:xfrm>
              <a:custGeom>
                <a:avLst/>
                <a:gdLst>
                  <a:gd name="T0" fmla="*/ 4 w 4"/>
                  <a:gd name="T1" fmla="*/ 0 h 7"/>
                  <a:gd name="T2" fmla="*/ 4 w 4"/>
                  <a:gd name="T3" fmla="*/ 4 h 7"/>
                  <a:gd name="T4" fmla="*/ 4 w 4"/>
                  <a:gd name="T5" fmla="*/ 5 h 7"/>
                  <a:gd name="T6" fmla="*/ 4 w 4"/>
                  <a:gd name="T7" fmla="*/ 7 h 7"/>
                  <a:gd name="T8" fmla="*/ 2 w 4"/>
                  <a:gd name="T9" fmla="*/ 7 h 7"/>
                  <a:gd name="T10" fmla="*/ 0 w 4"/>
                  <a:gd name="T11" fmla="*/ 5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 h="7">
                    <a:moveTo>
                      <a:pt x="4" y="0"/>
                    </a:moveTo>
                    <a:lnTo>
                      <a:pt x="4" y="4"/>
                    </a:lnTo>
                    <a:lnTo>
                      <a:pt x="4" y="5"/>
                    </a:lnTo>
                    <a:lnTo>
                      <a:pt x="4" y="7"/>
                    </a:lnTo>
                    <a:lnTo>
                      <a:pt x="2" y="7"/>
                    </a:lnTo>
                    <a:lnTo>
                      <a:pt x="0" y="5"/>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14" name="Line 721"/>
              <p:cNvSpPr>
                <a:spLocks noChangeShapeType="1"/>
              </p:cNvSpPr>
              <p:nvPr userDrawn="1"/>
            </p:nvSpPr>
            <p:spPr bwMode="gray">
              <a:xfrm flipH="1">
                <a:off x="2740" y="1154"/>
                <a:ext cx="168" cy="9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15" name="Freeform 722"/>
              <p:cNvSpPr>
                <a:spLocks/>
              </p:cNvSpPr>
              <p:nvPr userDrawn="1"/>
            </p:nvSpPr>
            <p:spPr bwMode="gray">
              <a:xfrm>
                <a:off x="2740" y="1233"/>
                <a:ext cx="13" cy="11"/>
              </a:xfrm>
              <a:custGeom>
                <a:avLst/>
                <a:gdLst>
                  <a:gd name="T0" fmla="*/ 13 w 13"/>
                  <a:gd name="T1" fmla="*/ 0 h 11"/>
                  <a:gd name="T2" fmla="*/ 13 w 13"/>
                  <a:gd name="T3" fmla="*/ 4 h 11"/>
                  <a:gd name="T4" fmla="*/ 11 w 13"/>
                  <a:gd name="T5" fmla="*/ 7 h 11"/>
                  <a:gd name="T6" fmla="*/ 7 w 13"/>
                  <a:gd name="T7" fmla="*/ 9 h 11"/>
                  <a:gd name="T8" fmla="*/ 6 w 13"/>
                  <a:gd name="T9" fmla="*/ 11 h 11"/>
                  <a:gd name="T10" fmla="*/ 0 w 13"/>
                  <a:gd name="T11" fmla="*/ 1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 h="11">
                    <a:moveTo>
                      <a:pt x="13" y="0"/>
                    </a:moveTo>
                    <a:lnTo>
                      <a:pt x="13" y="4"/>
                    </a:lnTo>
                    <a:lnTo>
                      <a:pt x="11" y="7"/>
                    </a:lnTo>
                    <a:lnTo>
                      <a:pt x="7" y="9"/>
                    </a:lnTo>
                    <a:lnTo>
                      <a:pt x="6" y="11"/>
                    </a:lnTo>
                    <a:lnTo>
                      <a:pt x="0" y="1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16" name="Freeform 723"/>
              <p:cNvSpPr>
                <a:spLocks/>
              </p:cNvSpPr>
              <p:nvPr userDrawn="1"/>
            </p:nvSpPr>
            <p:spPr bwMode="gray">
              <a:xfrm>
                <a:off x="3099" y="820"/>
                <a:ext cx="5" cy="7"/>
              </a:xfrm>
              <a:custGeom>
                <a:avLst/>
                <a:gdLst>
                  <a:gd name="T0" fmla="*/ 3 w 5"/>
                  <a:gd name="T1" fmla="*/ 0 h 7"/>
                  <a:gd name="T2" fmla="*/ 0 w 5"/>
                  <a:gd name="T3" fmla="*/ 2 h 7"/>
                  <a:gd name="T4" fmla="*/ 0 w 5"/>
                  <a:gd name="T5" fmla="*/ 4 h 7"/>
                  <a:gd name="T6" fmla="*/ 2 w 5"/>
                  <a:gd name="T7" fmla="*/ 6 h 7"/>
                  <a:gd name="T8" fmla="*/ 3 w 5"/>
                  <a:gd name="T9" fmla="*/ 7 h 7"/>
                  <a:gd name="T10" fmla="*/ 5 w 5"/>
                  <a:gd name="T11" fmla="*/ 7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7">
                    <a:moveTo>
                      <a:pt x="3" y="0"/>
                    </a:moveTo>
                    <a:lnTo>
                      <a:pt x="0" y="2"/>
                    </a:lnTo>
                    <a:lnTo>
                      <a:pt x="0" y="4"/>
                    </a:lnTo>
                    <a:lnTo>
                      <a:pt x="2" y="6"/>
                    </a:lnTo>
                    <a:lnTo>
                      <a:pt x="3" y="7"/>
                    </a:lnTo>
                    <a:lnTo>
                      <a:pt x="5"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17" name="Line 724"/>
              <p:cNvSpPr>
                <a:spLocks noChangeShapeType="1"/>
              </p:cNvSpPr>
              <p:nvPr userDrawn="1"/>
            </p:nvSpPr>
            <p:spPr bwMode="gray">
              <a:xfrm flipV="1">
                <a:off x="3253" y="742"/>
                <a:ext cx="2" cy="11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18" name="Line 725"/>
              <p:cNvSpPr>
                <a:spLocks noChangeShapeType="1"/>
              </p:cNvSpPr>
              <p:nvPr userDrawn="1"/>
            </p:nvSpPr>
            <p:spPr bwMode="gray">
              <a:xfrm flipV="1">
                <a:off x="3249" y="745"/>
                <a:ext cx="2" cy="10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19" name="Freeform 726"/>
              <p:cNvSpPr>
                <a:spLocks/>
              </p:cNvSpPr>
              <p:nvPr userDrawn="1"/>
            </p:nvSpPr>
            <p:spPr bwMode="gray">
              <a:xfrm>
                <a:off x="3249" y="738"/>
                <a:ext cx="6" cy="7"/>
              </a:xfrm>
              <a:custGeom>
                <a:avLst/>
                <a:gdLst>
                  <a:gd name="T0" fmla="*/ 2 w 6"/>
                  <a:gd name="T1" fmla="*/ 7 h 7"/>
                  <a:gd name="T2" fmla="*/ 4 w 6"/>
                  <a:gd name="T3" fmla="*/ 5 h 7"/>
                  <a:gd name="T4" fmla="*/ 6 w 6"/>
                  <a:gd name="T5" fmla="*/ 4 h 7"/>
                  <a:gd name="T6" fmla="*/ 4 w 6"/>
                  <a:gd name="T7" fmla="*/ 2 h 7"/>
                  <a:gd name="T8" fmla="*/ 2 w 6"/>
                  <a:gd name="T9" fmla="*/ 0 h 7"/>
                  <a:gd name="T10" fmla="*/ 0 w 6"/>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7">
                    <a:moveTo>
                      <a:pt x="2" y="7"/>
                    </a:moveTo>
                    <a:lnTo>
                      <a:pt x="4" y="5"/>
                    </a:lnTo>
                    <a:lnTo>
                      <a:pt x="6" y="4"/>
                    </a:lnTo>
                    <a:lnTo>
                      <a:pt x="4" y="2"/>
                    </a:lnTo>
                    <a:lnTo>
                      <a:pt x="2" y="0"/>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20" name="Line 727"/>
              <p:cNvSpPr>
                <a:spLocks noChangeShapeType="1"/>
              </p:cNvSpPr>
              <p:nvPr userDrawn="1"/>
            </p:nvSpPr>
            <p:spPr bwMode="gray">
              <a:xfrm flipH="1">
                <a:off x="3246" y="738"/>
                <a:ext cx="3" cy="11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21" name="Freeform 728"/>
              <p:cNvSpPr>
                <a:spLocks/>
              </p:cNvSpPr>
              <p:nvPr userDrawn="1"/>
            </p:nvSpPr>
            <p:spPr bwMode="gray">
              <a:xfrm>
                <a:off x="3146" y="777"/>
                <a:ext cx="12" cy="15"/>
              </a:xfrm>
              <a:custGeom>
                <a:avLst/>
                <a:gdLst>
                  <a:gd name="T0" fmla="*/ 12 w 12"/>
                  <a:gd name="T1" fmla="*/ 15 h 15"/>
                  <a:gd name="T2" fmla="*/ 11 w 12"/>
                  <a:gd name="T3" fmla="*/ 10 h 15"/>
                  <a:gd name="T4" fmla="*/ 9 w 12"/>
                  <a:gd name="T5" fmla="*/ 5 h 15"/>
                  <a:gd name="T6" fmla="*/ 5 w 12"/>
                  <a:gd name="T7" fmla="*/ 1 h 15"/>
                  <a:gd name="T8" fmla="*/ 0 w 12"/>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5">
                    <a:moveTo>
                      <a:pt x="12" y="15"/>
                    </a:moveTo>
                    <a:lnTo>
                      <a:pt x="11" y="10"/>
                    </a:lnTo>
                    <a:lnTo>
                      <a:pt x="9" y="5"/>
                    </a:lnTo>
                    <a:lnTo>
                      <a:pt x="5" y="1"/>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22" name="Line 729"/>
              <p:cNvSpPr>
                <a:spLocks noChangeShapeType="1"/>
              </p:cNvSpPr>
              <p:nvPr userDrawn="1"/>
            </p:nvSpPr>
            <p:spPr bwMode="gray">
              <a:xfrm flipH="1">
                <a:off x="3094" y="735"/>
                <a:ext cx="155" cy="7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23" name="Line 730"/>
              <p:cNvSpPr>
                <a:spLocks noChangeShapeType="1"/>
              </p:cNvSpPr>
              <p:nvPr userDrawn="1"/>
            </p:nvSpPr>
            <p:spPr bwMode="gray">
              <a:xfrm flipH="1">
                <a:off x="3102" y="745"/>
                <a:ext cx="149"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24" name="Freeform 731"/>
              <p:cNvSpPr>
                <a:spLocks/>
              </p:cNvSpPr>
              <p:nvPr userDrawn="1"/>
            </p:nvSpPr>
            <p:spPr bwMode="gray">
              <a:xfrm>
                <a:off x="3081" y="808"/>
                <a:ext cx="21" cy="12"/>
              </a:xfrm>
              <a:custGeom>
                <a:avLst/>
                <a:gdLst>
                  <a:gd name="T0" fmla="*/ 21 w 21"/>
                  <a:gd name="T1" fmla="*/ 12 h 12"/>
                  <a:gd name="T2" fmla="*/ 18 w 21"/>
                  <a:gd name="T3" fmla="*/ 7 h 12"/>
                  <a:gd name="T4" fmla="*/ 13 w 21"/>
                  <a:gd name="T5" fmla="*/ 4 h 12"/>
                  <a:gd name="T6" fmla="*/ 7 w 21"/>
                  <a:gd name="T7" fmla="*/ 2 h 12"/>
                  <a:gd name="T8" fmla="*/ 0 w 21"/>
                  <a:gd name="T9" fmla="*/ 0 h 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2">
                    <a:moveTo>
                      <a:pt x="21" y="12"/>
                    </a:moveTo>
                    <a:lnTo>
                      <a:pt x="18" y="7"/>
                    </a:lnTo>
                    <a:lnTo>
                      <a:pt x="13" y="4"/>
                    </a:lnTo>
                    <a:lnTo>
                      <a:pt x="7"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25" name="Line 732"/>
              <p:cNvSpPr>
                <a:spLocks noChangeShapeType="1"/>
              </p:cNvSpPr>
              <p:nvPr userDrawn="1"/>
            </p:nvSpPr>
            <p:spPr bwMode="gray">
              <a:xfrm flipV="1">
                <a:off x="3081" y="729"/>
                <a:ext cx="160" cy="7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26" name="Freeform 733"/>
              <p:cNvSpPr>
                <a:spLocks/>
              </p:cNvSpPr>
              <p:nvPr userDrawn="1"/>
            </p:nvSpPr>
            <p:spPr bwMode="gray">
              <a:xfrm>
                <a:off x="3241" y="729"/>
                <a:ext cx="10" cy="16"/>
              </a:xfrm>
              <a:custGeom>
                <a:avLst/>
                <a:gdLst>
                  <a:gd name="T0" fmla="*/ 0 w 10"/>
                  <a:gd name="T1" fmla="*/ 0 h 16"/>
                  <a:gd name="T2" fmla="*/ 5 w 10"/>
                  <a:gd name="T3" fmla="*/ 2 h 16"/>
                  <a:gd name="T4" fmla="*/ 8 w 10"/>
                  <a:gd name="T5" fmla="*/ 6 h 16"/>
                  <a:gd name="T6" fmla="*/ 10 w 10"/>
                  <a:gd name="T7" fmla="*/ 11 h 16"/>
                  <a:gd name="T8" fmla="*/ 10 w 10"/>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0" y="0"/>
                    </a:moveTo>
                    <a:lnTo>
                      <a:pt x="5" y="2"/>
                    </a:lnTo>
                    <a:lnTo>
                      <a:pt x="8" y="6"/>
                    </a:lnTo>
                    <a:lnTo>
                      <a:pt x="10" y="11"/>
                    </a:lnTo>
                    <a:lnTo>
                      <a:pt x="10"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27" name="Freeform 734"/>
              <p:cNvSpPr>
                <a:spLocks/>
              </p:cNvSpPr>
              <p:nvPr userDrawn="1"/>
            </p:nvSpPr>
            <p:spPr bwMode="gray">
              <a:xfrm>
                <a:off x="3141" y="698"/>
                <a:ext cx="9" cy="10"/>
              </a:xfrm>
              <a:custGeom>
                <a:avLst/>
                <a:gdLst>
                  <a:gd name="T0" fmla="*/ 9 w 9"/>
                  <a:gd name="T1" fmla="*/ 10 h 10"/>
                  <a:gd name="T2" fmla="*/ 9 w 9"/>
                  <a:gd name="T3" fmla="*/ 5 h 10"/>
                  <a:gd name="T4" fmla="*/ 7 w 9"/>
                  <a:gd name="T5" fmla="*/ 2 h 10"/>
                  <a:gd name="T6" fmla="*/ 5 w 9"/>
                  <a:gd name="T7" fmla="*/ 2 h 10"/>
                  <a:gd name="T8" fmla="*/ 2 w 9"/>
                  <a:gd name="T9" fmla="*/ 0 h 10"/>
                  <a:gd name="T10" fmla="*/ 0 w 9"/>
                  <a:gd name="T11" fmla="*/ 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10">
                    <a:moveTo>
                      <a:pt x="9" y="10"/>
                    </a:moveTo>
                    <a:lnTo>
                      <a:pt x="9" y="5"/>
                    </a:lnTo>
                    <a:lnTo>
                      <a:pt x="7" y="2"/>
                    </a:lnTo>
                    <a:lnTo>
                      <a:pt x="5" y="2"/>
                    </a:lnTo>
                    <a:lnTo>
                      <a:pt x="2"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28" name="Line 735"/>
              <p:cNvSpPr>
                <a:spLocks noChangeShapeType="1"/>
              </p:cNvSpPr>
              <p:nvPr userDrawn="1"/>
            </p:nvSpPr>
            <p:spPr bwMode="gray">
              <a:xfrm>
                <a:off x="3048" y="672"/>
                <a:ext cx="198" cy="5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29" name="Line 736"/>
              <p:cNvSpPr>
                <a:spLocks noChangeShapeType="1"/>
              </p:cNvSpPr>
              <p:nvPr userDrawn="1"/>
            </p:nvSpPr>
            <p:spPr bwMode="gray">
              <a:xfrm>
                <a:off x="3052" y="679"/>
                <a:ext cx="197" cy="5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30" name="Freeform 737"/>
              <p:cNvSpPr>
                <a:spLocks/>
              </p:cNvSpPr>
              <p:nvPr userDrawn="1"/>
            </p:nvSpPr>
            <p:spPr bwMode="gray">
              <a:xfrm>
                <a:off x="3241" y="728"/>
                <a:ext cx="8" cy="10"/>
              </a:xfrm>
              <a:custGeom>
                <a:avLst/>
                <a:gdLst>
                  <a:gd name="T0" fmla="*/ 8 w 8"/>
                  <a:gd name="T1" fmla="*/ 10 h 10"/>
                  <a:gd name="T2" fmla="*/ 8 w 8"/>
                  <a:gd name="T3" fmla="*/ 7 h 10"/>
                  <a:gd name="T4" fmla="*/ 7 w 8"/>
                  <a:gd name="T5" fmla="*/ 3 h 10"/>
                  <a:gd name="T6" fmla="*/ 7 w 8"/>
                  <a:gd name="T7" fmla="*/ 1 h 10"/>
                  <a:gd name="T8" fmla="*/ 5 w 8"/>
                  <a:gd name="T9" fmla="*/ 0 h 10"/>
                  <a:gd name="T10" fmla="*/ 3 w 8"/>
                  <a:gd name="T11" fmla="*/ 0 h 10"/>
                  <a:gd name="T12" fmla="*/ 0 w 8"/>
                  <a:gd name="T13" fmla="*/ 1 h 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10">
                    <a:moveTo>
                      <a:pt x="8" y="10"/>
                    </a:moveTo>
                    <a:lnTo>
                      <a:pt x="8" y="7"/>
                    </a:lnTo>
                    <a:lnTo>
                      <a:pt x="7" y="3"/>
                    </a:lnTo>
                    <a:lnTo>
                      <a:pt x="7" y="1"/>
                    </a:lnTo>
                    <a:lnTo>
                      <a:pt x="5" y="0"/>
                    </a:lnTo>
                    <a:lnTo>
                      <a:pt x="3" y="0"/>
                    </a:lnTo>
                    <a:lnTo>
                      <a:pt x="0" y="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31" name="Line 738"/>
              <p:cNvSpPr>
                <a:spLocks noChangeShapeType="1"/>
              </p:cNvSpPr>
              <p:nvPr userDrawn="1"/>
            </p:nvSpPr>
            <p:spPr bwMode="gray">
              <a:xfrm flipH="1" flipV="1">
                <a:off x="3043" y="670"/>
                <a:ext cx="198" cy="5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32" name="Freeform 739"/>
              <p:cNvSpPr>
                <a:spLocks/>
              </p:cNvSpPr>
              <p:nvPr userDrawn="1"/>
            </p:nvSpPr>
            <p:spPr bwMode="gray">
              <a:xfrm>
                <a:off x="3043" y="670"/>
                <a:ext cx="9" cy="9"/>
              </a:xfrm>
              <a:custGeom>
                <a:avLst/>
                <a:gdLst>
                  <a:gd name="T0" fmla="*/ 0 w 9"/>
                  <a:gd name="T1" fmla="*/ 0 h 9"/>
                  <a:gd name="T2" fmla="*/ 3 w 9"/>
                  <a:gd name="T3" fmla="*/ 0 h 9"/>
                  <a:gd name="T4" fmla="*/ 5 w 9"/>
                  <a:gd name="T5" fmla="*/ 0 h 9"/>
                  <a:gd name="T6" fmla="*/ 7 w 9"/>
                  <a:gd name="T7" fmla="*/ 2 h 9"/>
                  <a:gd name="T8" fmla="*/ 7 w 9"/>
                  <a:gd name="T9" fmla="*/ 3 h 9"/>
                  <a:gd name="T10" fmla="*/ 9 w 9"/>
                  <a:gd name="T11" fmla="*/ 7 h 9"/>
                  <a:gd name="T12" fmla="*/ 9 w 9"/>
                  <a:gd name="T13" fmla="*/ 9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 h="9">
                    <a:moveTo>
                      <a:pt x="0" y="0"/>
                    </a:moveTo>
                    <a:lnTo>
                      <a:pt x="3" y="0"/>
                    </a:lnTo>
                    <a:lnTo>
                      <a:pt x="5" y="0"/>
                    </a:lnTo>
                    <a:lnTo>
                      <a:pt x="7" y="2"/>
                    </a:lnTo>
                    <a:lnTo>
                      <a:pt x="7" y="3"/>
                    </a:lnTo>
                    <a:lnTo>
                      <a:pt x="9" y="7"/>
                    </a:lnTo>
                    <a:lnTo>
                      <a:pt x="9"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33" name="Freeform 740"/>
              <p:cNvSpPr>
                <a:spLocks/>
              </p:cNvSpPr>
              <p:nvPr userDrawn="1"/>
            </p:nvSpPr>
            <p:spPr bwMode="gray">
              <a:xfrm>
                <a:off x="2630" y="948"/>
                <a:ext cx="9" cy="18"/>
              </a:xfrm>
              <a:custGeom>
                <a:avLst/>
                <a:gdLst>
                  <a:gd name="T0" fmla="*/ 9 w 9"/>
                  <a:gd name="T1" fmla="*/ 0 h 18"/>
                  <a:gd name="T2" fmla="*/ 5 w 9"/>
                  <a:gd name="T3" fmla="*/ 2 h 18"/>
                  <a:gd name="T4" fmla="*/ 2 w 9"/>
                  <a:gd name="T5" fmla="*/ 7 h 18"/>
                  <a:gd name="T6" fmla="*/ 0 w 9"/>
                  <a:gd name="T7" fmla="*/ 12 h 18"/>
                  <a:gd name="T8" fmla="*/ 0 w 9"/>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9" y="0"/>
                    </a:moveTo>
                    <a:lnTo>
                      <a:pt x="5" y="2"/>
                    </a:lnTo>
                    <a:lnTo>
                      <a:pt x="2" y="7"/>
                    </a:lnTo>
                    <a:lnTo>
                      <a:pt x="0" y="12"/>
                    </a:lnTo>
                    <a:lnTo>
                      <a:pt x="0" y="1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34" name="Line 741"/>
              <p:cNvSpPr>
                <a:spLocks noChangeShapeType="1"/>
              </p:cNvSpPr>
              <p:nvPr userDrawn="1"/>
            </p:nvSpPr>
            <p:spPr bwMode="gray">
              <a:xfrm>
                <a:off x="2532" y="922"/>
                <a:ext cx="201" cy="6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35" name="Line 742"/>
              <p:cNvSpPr>
                <a:spLocks noChangeShapeType="1"/>
              </p:cNvSpPr>
              <p:nvPr userDrawn="1"/>
            </p:nvSpPr>
            <p:spPr bwMode="gray">
              <a:xfrm>
                <a:off x="2539" y="915"/>
                <a:ext cx="201" cy="6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36" name="Freeform 743"/>
              <p:cNvSpPr>
                <a:spLocks/>
              </p:cNvSpPr>
              <p:nvPr userDrawn="1"/>
            </p:nvSpPr>
            <p:spPr bwMode="gray">
              <a:xfrm>
                <a:off x="2732" y="980"/>
                <a:ext cx="8" cy="17"/>
              </a:xfrm>
              <a:custGeom>
                <a:avLst/>
                <a:gdLst>
                  <a:gd name="T0" fmla="*/ 8 w 8"/>
                  <a:gd name="T1" fmla="*/ 0 h 17"/>
                  <a:gd name="T2" fmla="*/ 5 w 8"/>
                  <a:gd name="T3" fmla="*/ 3 h 17"/>
                  <a:gd name="T4" fmla="*/ 1 w 8"/>
                  <a:gd name="T5" fmla="*/ 8 h 17"/>
                  <a:gd name="T6" fmla="*/ 0 w 8"/>
                  <a:gd name="T7" fmla="*/ 14 h 17"/>
                  <a:gd name="T8" fmla="*/ 0 w 8"/>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8" y="0"/>
                    </a:moveTo>
                    <a:lnTo>
                      <a:pt x="5" y="3"/>
                    </a:lnTo>
                    <a:lnTo>
                      <a:pt x="1" y="8"/>
                    </a:lnTo>
                    <a:lnTo>
                      <a:pt x="0" y="14"/>
                    </a:lnTo>
                    <a:lnTo>
                      <a:pt x="0" y="1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37" name="Line 744"/>
              <p:cNvSpPr>
                <a:spLocks noChangeShapeType="1"/>
              </p:cNvSpPr>
              <p:nvPr userDrawn="1"/>
            </p:nvSpPr>
            <p:spPr bwMode="gray">
              <a:xfrm flipH="1" flipV="1">
                <a:off x="2530" y="934"/>
                <a:ext cx="202" cy="6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38" name="Freeform 745"/>
              <p:cNvSpPr>
                <a:spLocks/>
              </p:cNvSpPr>
              <p:nvPr userDrawn="1"/>
            </p:nvSpPr>
            <p:spPr bwMode="gray">
              <a:xfrm>
                <a:off x="2530" y="915"/>
                <a:ext cx="9" cy="19"/>
              </a:xfrm>
              <a:custGeom>
                <a:avLst/>
                <a:gdLst>
                  <a:gd name="T0" fmla="*/ 0 w 9"/>
                  <a:gd name="T1" fmla="*/ 19 h 19"/>
                  <a:gd name="T2" fmla="*/ 0 w 9"/>
                  <a:gd name="T3" fmla="*/ 14 h 19"/>
                  <a:gd name="T4" fmla="*/ 2 w 9"/>
                  <a:gd name="T5" fmla="*/ 9 h 19"/>
                  <a:gd name="T6" fmla="*/ 6 w 9"/>
                  <a:gd name="T7" fmla="*/ 3 h 19"/>
                  <a:gd name="T8" fmla="*/ 9 w 9"/>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9">
                    <a:moveTo>
                      <a:pt x="0" y="19"/>
                    </a:moveTo>
                    <a:lnTo>
                      <a:pt x="0" y="14"/>
                    </a:lnTo>
                    <a:lnTo>
                      <a:pt x="2" y="9"/>
                    </a:lnTo>
                    <a:lnTo>
                      <a:pt x="6" y="3"/>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39" name="Line 746"/>
              <p:cNvSpPr>
                <a:spLocks noChangeShapeType="1"/>
              </p:cNvSpPr>
              <p:nvPr userDrawn="1"/>
            </p:nvSpPr>
            <p:spPr bwMode="gray">
              <a:xfrm flipH="1" flipV="1">
                <a:off x="2503" y="1016"/>
                <a:ext cx="22" cy="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40" name="Line 747"/>
              <p:cNvSpPr>
                <a:spLocks noChangeShapeType="1"/>
              </p:cNvSpPr>
              <p:nvPr userDrawn="1"/>
            </p:nvSpPr>
            <p:spPr bwMode="gray">
              <a:xfrm flipH="1" flipV="1">
                <a:off x="2496" y="1008"/>
                <a:ext cx="29" cy="1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41" name="Freeform 748"/>
              <p:cNvSpPr>
                <a:spLocks/>
              </p:cNvSpPr>
              <p:nvPr userDrawn="1"/>
            </p:nvSpPr>
            <p:spPr bwMode="gray">
              <a:xfrm>
                <a:off x="2496" y="1008"/>
                <a:ext cx="8" cy="8"/>
              </a:xfrm>
              <a:custGeom>
                <a:avLst/>
                <a:gdLst>
                  <a:gd name="T0" fmla="*/ 0 w 8"/>
                  <a:gd name="T1" fmla="*/ 0 h 8"/>
                  <a:gd name="T2" fmla="*/ 0 w 8"/>
                  <a:gd name="T3" fmla="*/ 3 h 8"/>
                  <a:gd name="T4" fmla="*/ 1 w 8"/>
                  <a:gd name="T5" fmla="*/ 7 h 8"/>
                  <a:gd name="T6" fmla="*/ 3 w 8"/>
                  <a:gd name="T7" fmla="*/ 8 h 8"/>
                  <a:gd name="T8" fmla="*/ 5 w 8"/>
                  <a:gd name="T9" fmla="*/ 8 h 8"/>
                  <a:gd name="T10" fmla="*/ 8 w 8"/>
                  <a:gd name="T11" fmla="*/ 8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8">
                    <a:moveTo>
                      <a:pt x="0" y="0"/>
                    </a:moveTo>
                    <a:lnTo>
                      <a:pt x="0" y="3"/>
                    </a:lnTo>
                    <a:lnTo>
                      <a:pt x="1" y="7"/>
                    </a:lnTo>
                    <a:lnTo>
                      <a:pt x="3" y="8"/>
                    </a:lnTo>
                    <a:lnTo>
                      <a:pt x="5" y="8"/>
                    </a:lnTo>
                    <a:lnTo>
                      <a:pt x="8"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42" name="Freeform 749"/>
              <p:cNvSpPr>
                <a:spLocks/>
              </p:cNvSpPr>
              <p:nvPr userDrawn="1"/>
            </p:nvSpPr>
            <p:spPr bwMode="gray">
              <a:xfrm>
                <a:off x="2490" y="885"/>
                <a:ext cx="4" cy="9"/>
              </a:xfrm>
              <a:custGeom>
                <a:avLst/>
                <a:gdLst>
                  <a:gd name="T0" fmla="*/ 4 w 4"/>
                  <a:gd name="T1" fmla="*/ 9 h 9"/>
                  <a:gd name="T2" fmla="*/ 2 w 4"/>
                  <a:gd name="T3" fmla="*/ 7 h 9"/>
                  <a:gd name="T4" fmla="*/ 0 w 4"/>
                  <a:gd name="T5" fmla="*/ 5 h 9"/>
                  <a:gd name="T6" fmla="*/ 0 w 4"/>
                  <a:gd name="T7" fmla="*/ 4 h 9"/>
                  <a:gd name="T8" fmla="*/ 2 w 4"/>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9">
                    <a:moveTo>
                      <a:pt x="4" y="9"/>
                    </a:moveTo>
                    <a:lnTo>
                      <a:pt x="2" y="7"/>
                    </a:lnTo>
                    <a:lnTo>
                      <a:pt x="0" y="5"/>
                    </a:lnTo>
                    <a:lnTo>
                      <a:pt x="0" y="4"/>
                    </a:lnTo>
                    <a:lnTo>
                      <a:pt x="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43" name="Line 750"/>
              <p:cNvSpPr>
                <a:spLocks noChangeShapeType="1"/>
              </p:cNvSpPr>
              <p:nvPr userDrawn="1"/>
            </p:nvSpPr>
            <p:spPr bwMode="gray">
              <a:xfrm flipH="1" flipV="1">
                <a:off x="2489" y="775"/>
                <a:ext cx="1" cy="22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44" name="Line 751"/>
              <p:cNvSpPr>
                <a:spLocks noChangeShapeType="1"/>
              </p:cNvSpPr>
              <p:nvPr userDrawn="1"/>
            </p:nvSpPr>
            <p:spPr bwMode="gray">
              <a:xfrm flipH="1" flipV="1">
                <a:off x="2494" y="778"/>
                <a:ext cx="2" cy="23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45" name="Freeform 752"/>
              <p:cNvSpPr>
                <a:spLocks/>
              </p:cNvSpPr>
              <p:nvPr userDrawn="1"/>
            </p:nvSpPr>
            <p:spPr bwMode="gray">
              <a:xfrm>
                <a:off x="2489" y="771"/>
                <a:ext cx="5" cy="7"/>
              </a:xfrm>
              <a:custGeom>
                <a:avLst/>
                <a:gdLst>
                  <a:gd name="T0" fmla="*/ 5 w 5"/>
                  <a:gd name="T1" fmla="*/ 7 h 7"/>
                  <a:gd name="T2" fmla="*/ 1 w 5"/>
                  <a:gd name="T3" fmla="*/ 6 h 7"/>
                  <a:gd name="T4" fmla="*/ 0 w 5"/>
                  <a:gd name="T5" fmla="*/ 4 h 7"/>
                  <a:gd name="T6" fmla="*/ 0 w 5"/>
                  <a:gd name="T7" fmla="*/ 2 h 7"/>
                  <a:gd name="T8" fmla="*/ 3 w 5"/>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7">
                    <a:moveTo>
                      <a:pt x="5" y="7"/>
                    </a:moveTo>
                    <a:lnTo>
                      <a:pt x="1" y="6"/>
                    </a:lnTo>
                    <a:lnTo>
                      <a:pt x="0" y="4"/>
                    </a:lnTo>
                    <a:lnTo>
                      <a:pt x="0" y="2"/>
                    </a:lnTo>
                    <a:lnTo>
                      <a:pt x="3"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46" name="Line 753"/>
              <p:cNvSpPr>
                <a:spLocks noChangeShapeType="1"/>
              </p:cNvSpPr>
              <p:nvPr userDrawn="1"/>
            </p:nvSpPr>
            <p:spPr bwMode="gray">
              <a:xfrm>
                <a:off x="2492" y="771"/>
                <a:ext cx="2" cy="23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47" name="Freeform 754"/>
              <p:cNvSpPr>
                <a:spLocks/>
              </p:cNvSpPr>
              <p:nvPr userDrawn="1"/>
            </p:nvSpPr>
            <p:spPr bwMode="gray">
              <a:xfrm>
                <a:off x="2492" y="1001"/>
                <a:ext cx="4" cy="7"/>
              </a:xfrm>
              <a:custGeom>
                <a:avLst/>
                <a:gdLst>
                  <a:gd name="T0" fmla="*/ 4 w 4"/>
                  <a:gd name="T1" fmla="*/ 7 h 7"/>
                  <a:gd name="T2" fmla="*/ 2 w 4"/>
                  <a:gd name="T3" fmla="*/ 5 h 7"/>
                  <a:gd name="T4" fmla="*/ 0 w 4"/>
                  <a:gd name="T5" fmla="*/ 3 h 7"/>
                  <a:gd name="T6" fmla="*/ 0 w 4"/>
                  <a:gd name="T7" fmla="*/ 1 h 7"/>
                  <a:gd name="T8" fmla="*/ 2 w 4"/>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7">
                    <a:moveTo>
                      <a:pt x="4" y="7"/>
                    </a:moveTo>
                    <a:lnTo>
                      <a:pt x="2" y="5"/>
                    </a:lnTo>
                    <a:lnTo>
                      <a:pt x="0" y="3"/>
                    </a:lnTo>
                    <a:lnTo>
                      <a:pt x="0" y="1"/>
                    </a:lnTo>
                    <a:lnTo>
                      <a:pt x="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48" name="Freeform 755"/>
              <p:cNvSpPr>
                <a:spLocks/>
              </p:cNvSpPr>
              <p:nvPr userDrawn="1"/>
            </p:nvSpPr>
            <p:spPr bwMode="gray">
              <a:xfrm>
                <a:off x="2590" y="791"/>
                <a:ext cx="9" cy="17"/>
              </a:xfrm>
              <a:custGeom>
                <a:avLst/>
                <a:gdLst>
                  <a:gd name="T0" fmla="*/ 0 w 9"/>
                  <a:gd name="T1" fmla="*/ 17 h 17"/>
                  <a:gd name="T2" fmla="*/ 0 w 9"/>
                  <a:gd name="T3" fmla="*/ 12 h 17"/>
                  <a:gd name="T4" fmla="*/ 2 w 9"/>
                  <a:gd name="T5" fmla="*/ 7 h 17"/>
                  <a:gd name="T6" fmla="*/ 5 w 9"/>
                  <a:gd name="T7" fmla="*/ 3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0" y="12"/>
                    </a:lnTo>
                    <a:lnTo>
                      <a:pt x="2" y="7"/>
                    </a:lnTo>
                    <a:lnTo>
                      <a:pt x="5" y="3"/>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49" name="Line 756"/>
              <p:cNvSpPr>
                <a:spLocks noChangeShapeType="1"/>
              </p:cNvSpPr>
              <p:nvPr userDrawn="1"/>
            </p:nvSpPr>
            <p:spPr bwMode="gray">
              <a:xfrm>
                <a:off x="2496" y="768"/>
                <a:ext cx="201" cy="6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50" name="Line 757"/>
              <p:cNvSpPr>
                <a:spLocks noChangeShapeType="1"/>
              </p:cNvSpPr>
              <p:nvPr userDrawn="1"/>
            </p:nvSpPr>
            <p:spPr bwMode="gray">
              <a:xfrm>
                <a:off x="2494" y="778"/>
                <a:ext cx="194" cy="6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51" name="Freeform 758"/>
              <p:cNvSpPr>
                <a:spLocks/>
              </p:cNvSpPr>
              <p:nvPr userDrawn="1"/>
            </p:nvSpPr>
            <p:spPr bwMode="gray">
              <a:xfrm>
                <a:off x="2688" y="826"/>
                <a:ext cx="19" cy="14"/>
              </a:xfrm>
              <a:custGeom>
                <a:avLst/>
                <a:gdLst>
                  <a:gd name="T0" fmla="*/ 0 w 19"/>
                  <a:gd name="T1" fmla="*/ 14 h 14"/>
                  <a:gd name="T2" fmla="*/ 3 w 19"/>
                  <a:gd name="T3" fmla="*/ 8 h 14"/>
                  <a:gd name="T4" fmla="*/ 9 w 19"/>
                  <a:gd name="T5" fmla="*/ 3 h 14"/>
                  <a:gd name="T6" fmla="*/ 14 w 19"/>
                  <a:gd name="T7" fmla="*/ 1 h 14"/>
                  <a:gd name="T8" fmla="*/ 19 w 19"/>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4">
                    <a:moveTo>
                      <a:pt x="0" y="14"/>
                    </a:moveTo>
                    <a:lnTo>
                      <a:pt x="3" y="8"/>
                    </a:lnTo>
                    <a:lnTo>
                      <a:pt x="9" y="3"/>
                    </a:lnTo>
                    <a:lnTo>
                      <a:pt x="14" y="1"/>
                    </a:lnTo>
                    <a:lnTo>
                      <a:pt x="1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52" name="Line 759"/>
              <p:cNvSpPr>
                <a:spLocks noChangeShapeType="1"/>
              </p:cNvSpPr>
              <p:nvPr userDrawn="1"/>
            </p:nvSpPr>
            <p:spPr bwMode="gray">
              <a:xfrm flipH="1" flipV="1">
                <a:off x="2503" y="761"/>
                <a:ext cx="204" cy="6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53" name="Freeform 760"/>
              <p:cNvSpPr>
                <a:spLocks/>
              </p:cNvSpPr>
              <p:nvPr userDrawn="1"/>
            </p:nvSpPr>
            <p:spPr bwMode="gray">
              <a:xfrm>
                <a:off x="2494" y="761"/>
                <a:ext cx="9" cy="17"/>
              </a:xfrm>
              <a:custGeom>
                <a:avLst/>
                <a:gdLst>
                  <a:gd name="T0" fmla="*/ 9 w 9"/>
                  <a:gd name="T1" fmla="*/ 0 h 17"/>
                  <a:gd name="T2" fmla="*/ 3 w 9"/>
                  <a:gd name="T3" fmla="*/ 3 h 17"/>
                  <a:gd name="T4" fmla="*/ 2 w 9"/>
                  <a:gd name="T5" fmla="*/ 9 h 17"/>
                  <a:gd name="T6" fmla="*/ 0 w 9"/>
                  <a:gd name="T7" fmla="*/ 12 h 17"/>
                  <a:gd name="T8" fmla="*/ 0 w 9"/>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9" y="0"/>
                    </a:moveTo>
                    <a:lnTo>
                      <a:pt x="3" y="3"/>
                    </a:lnTo>
                    <a:lnTo>
                      <a:pt x="2" y="9"/>
                    </a:lnTo>
                    <a:lnTo>
                      <a:pt x="0" y="12"/>
                    </a:lnTo>
                    <a:lnTo>
                      <a:pt x="0" y="1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54" name="Freeform 761"/>
              <p:cNvSpPr>
                <a:spLocks/>
              </p:cNvSpPr>
              <p:nvPr userDrawn="1"/>
            </p:nvSpPr>
            <p:spPr bwMode="gray">
              <a:xfrm>
                <a:off x="3034" y="929"/>
                <a:ext cx="9" cy="17"/>
              </a:xfrm>
              <a:custGeom>
                <a:avLst/>
                <a:gdLst>
                  <a:gd name="T0" fmla="*/ 0 w 9"/>
                  <a:gd name="T1" fmla="*/ 17 h 17"/>
                  <a:gd name="T2" fmla="*/ 2 w 9"/>
                  <a:gd name="T3" fmla="*/ 12 h 17"/>
                  <a:gd name="T4" fmla="*/ 4 w 9"/>
                  <a:gd name="T5" fmla="*/ 7 h 17"/>
                  <a:gd name="T6" fmla="*/ 5 w 9"/>
                  <a:gd name="T7" fmla="*/ 3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2" y="12"/>
                    </a:lnTo>
                    <a:lnTo>
                      <a:pt x="4" y="7"/>
                    </a:lnTo>
                    <a:lnTo>
                      <a:pt x="5" y="3"/>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55" name="Line 762"/>
              <p:cNvSpPr>
                <a:spLocks noChangeShapeType="1"/>
              </p:cNvSpPr>
              <p:nvPr userDrawn="1"/>
            </p:nvSpPr>
            <p:spPr bwMode="gray">
              <a:xfrm>
                <a:off x="2929" y="903"/>
                <a:ext cx="212" cy="6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56" name="Line 763"/>
              <p:cNvSpPr>
                <a:spLocks noChangeShapeType="1"/>
              </p:cNvSpPr>
              <p:nvPr userDrawn="1"/>
            </p:nvSpPr>
            <p:spPr bwMode="gray">
              <a:xfrm>
                <a:off x="2933" y="915"/>
                <a:ext cx="204" cy="6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57" name="Freeform 764"/>
              <p:cNvSpPr>
                <a:spLocks/>
              </p:cNvSpPr>
              <p:nvPr userDrawn="1"/>
            </p:nvSpPr>
            <p:spPr bwMode="gray">
              <a:xfrm>
                <a:off x="3137" y="960"/>
                <a:ext cx="9" cy="20"/>
              </a:xfrm>
              <a:custGeom>
                <a:avLst/>
                <a:gdLst>
                  <a:gd name="T0" fmla="*/ 0 w 9"/>
                  <a:gd name="T1" fmla="*/ 20 h 20"/>
                  <a:gd name="T2" fmla="*/ 2 w 9"/>
                  <a:gd name="T3" fmla="*/ 14 h 20"/>
                  <a:gd name="T4" fmla="*/ 4 w 9"/>
                  <a:gd name="T5" fmla="*/ 9 h 20"/>
                  <a:gd name="T6" fmla="*/ 6 w 9"/>
                  <a:gd name="T7" fmla="*/ 4 h 20"/>
                  <a:gd name="T8" fmla="*/ 9 w 9"/>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20">
                    <a:moveTo>
                      <a:pt x="0" y="20"/>
                    </a:moveTo>
                    <a:lnTo>
                      <a:pt x="2" y="14"/>
                    </a:lnTo>
                    <a:lnTo>
                      <a:pt x="4" y="9"/>
                    </a:lnTo>
                    <a:lnTo>
                      <a:pt x="6" y="4"/>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58" name="Line 765"/>
              <p:cNvSpPr>
                <a:spLocks noChangeShapeType="1"/>
              </p:cNvSpPr>
              <p:nvPr userDrawn="1"/>
            </p:nvSpPr>
            <p:spPr bwMode="gray">
              <a:xfrm flipH="1" flipV="1">
                <a:off x="2929" y="894"/>
                <a:ext cx="217" cy="6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59" name="Freeform 766"/>
              <p:cNvSpPr>
                <a:spLocks/>
              </p:cNvSpPr>
              <p:nvPr userDrawn="1"/>
            </p:nvSpPr>
            <p:spPr bwMode="gray">
              <a:xfrm>
                <a:off x="2929" y="894"/>
                <a:ext cx="4" cy="21"/>
              </a:xfrm>
              <a:custGeom>
                <a:avLst/>
                <a:gdLst>
                  <a:gd name="T0" fmla="*/ 4 w 4"/>
                  <a:gd name="T1" fmla="*/ 21 h 21"/>
                  <a:gd name="T2" fmla="*/ 0 w 4"/>
                  <a:gd name="T3" fmla="*/ 14 h 21"/>
                  <a:gd name="T4" fmla="*/ 0 w 4"/>
                  <a:gd name="T5" fmla="*/ 7 h 21"/>
                  <a:gd name="T6" fmla="*/ 0 w 4"/>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21">
                    <a:moveTo>
                      <a:pt x="4" y="21"/>
                    </a:moveTo>
                    <a:lnTo>
                      <a:pt x="0" y="14"/>
                    </a:lnTo>
                    <a:lnTo>
                      <a:pt x="0" y="7"/>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60" name="Freeform 767"/>
              <p:cNvSpPr>
                <a:spLocks/>
              </p:cNvSpPr>
              <p:nvPr userDrawn="1"/>
            </p:nvSpPr>
            <p:spPr bwMode="gray">
              <a:xfrm>
                <a:off x="3136" y="1097"/>
                <a:ext cx="21" cy="1"/>
              </a:xfrm>
              <a:custGeom>
                <a:avLst/>
                <a:gdLst>
                  <a:gd name="T0" fmla="*/ 0 w 21"/>
                  <a:gd name="T1" fmla="*/ 0 h 1"/>
                  <a:gd name="T2" fmla="*/ 5 w 21"/>
                  <a:gd name="T3" fmla="*/ 1 h 1"/>
                  <a:gd name="T4" fmla="*/ 10 w 21"/>
                  <a:gd name="T5" fmla="*/ 1 h 1"/>
                  <a:gd name="T6" fmla="*/ 15 w 21"/>
                  <a:gd name="T7" fmla="*/ 1 h 1"/>
                  <a:gd name="T8" fmla="*/ 21 w 21"/>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
                    <a:moveTo>
                      <a:pt x="0" y="0"/>
                    </a:moveTo>
                    <a:lnTo>
                      <a:pt x="5" y="1"/>
                    </a:lnTo>
                    <a:lnTo>
                      <a:pt x="10" y="1"/>
                    </a:lnTo>
                    <a:lnTo>
                      <a:pt x="15" y="1"/>
                    </a:lnTo>
                    <a:lnTo>
                      <a:pt x="2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61" name="Line 768"/>
              <p:cNvSpPr>
                <a:spLocks noChangeShapeType="1"/>
              </p:cNvSpPr>
              <p:nvPr userDrawn="1"/>
            </p:nvSpPr>
            <p:spPr bwMode="gray">
              <a:xfrm flipH="1">
                <a:off x="3144" y="980"/>
                <a:ext cx="4" cy="23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62" name="Line 769"/>
              <p:cNvSpPr>
                <a:spLocks noChangeShapeType="1"/>
              </p:cNvSpPr>
              <p:nvPr userDrawn="1"/>
            </p:nvSpPr>
            <p:spPr bwMode="gray">
              <a:xfrm flipH="1">
                <a:off x="3134" y="980"/>
                <a:ext cx="3" cy="23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63" name="Freeform 770"/>
              <p:cNvSpPr>
                <a:spLocks/>
              </p:cNvSpPr>
              <p:nvPr userDrawn="1"/>
            </p:nvSpPr>
            <p:spPr bwMode="gray">
              <a:xfrm>
                <a:off x="3134" y="1214"/>
                <a:ext cx="21" cy="3"/>
              </a:xfrm>
              <a:custGeom>
                <a:avLst/>
                <a:gdLst>
                  <a:gd name="T0" fmla="*/ 0 w 21"/>
                  <a:gd name="T1" fmla="*/ 2 h 3"/>
                  <a:gd name="T2" fmla="*/ 5 w 21"/>
                  <a:gd name="T3" fmla="*/ 3 h 3"/>
                  <a:gd name="T4" fmla="*/ 10 w 21"/>
                  <a:gd name="T5" fmla="*/ 3 h 3"/>
                  <a:gd name="T6" fmla="*/ 16 w 21"/>
                  <a:gd name="T7" fmla="*/ 2 h 3"/>
                  <a:gd name="T8" fmla="*/ 21 w 21"/>
                  <a:gd name="T9" fmla="*/ 0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
                    <a:moveTo>
                      <a:pt x="0" y="2"/>
                    </a:moveTo>
                    <a:lnTo>
                      <a:pt x="5" y="3"/>
                    </a:lnTo>
                    <a:lnTo>
                      <a:pt x="10" y="3"/>
                    </a:lnTo>
                    <a:lnTo>
                      <a:pt x="16" y="2"/>
                    </a:lnTo>
                    <a:lnTo>
                      <a:pt x="2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64" name="Line 771"/>
              <p:cNvSpPr>
                <a:spLocks noChangeShapeType="1"/>
              </p:cNvSpPr>
              <p:nvPr userDrawn="1"/>
            </p:nvSpPr>
            <p:spPr bwMode="gray">
              <a:xfrm flipV="1">
                <a:off x="3155" y="978"/>
                <a:ext cx="3" cy="23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65" name="Freeform 772"/>
              <p:cNvSpPr>
                <a:spLocks/>
              </p:cNvSpPr>
              <p:nvPr userDrawn="1"/>
            </p:nvSpPr>
            <p:spPr bwMode="gray">
              <a:xfrm>
                <a:off x="3137" y="978"/>
                <a:ext cx="21" cy="3"/>
              </a:xfrm>
              <a:custGeom>
                <a:avLst/>
                <a:gdLst>
                  <a:gd name="T0" fmla="*/ 21 w 21"/>
                  <a:gd name="T1" fmla="*/ 0 h 3"/>
                  <a:gd name="T2" fmla="*/ 16 w 21"/>
                  <a:gd name="T3" fmla="*/ 2 h 3"/>
                  <a:gd name="T4" fmla="*/ 11 w 21"/>
                  <a:gd name="T5" fmla="*/ 3 h 3"/>
                  <a:gd name="T6" fmla="*/ 6 w 21"/>
                  <a:gd name="T7" fmla="*/ 2 h 3"/>
                  <a:gd name="T8" fmla="*/ 0 w 21"/>
                  <a:gd name="T9" fmla="*/ 2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
                    <a:moveTo>
                      <a:pt x="21" y="0"/>
                    </a:moveTo>
                    <a:lnTo>
                      <a:pt x="16" y="2"/>
                    </a:lnTo>
                    <a:lnTo>
                      <a:pt x="11" y="3"/>
                    </a:lnTo>
                    <a:lnTo>
                      <a:pt x="6" y="2"/>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66" name="Freeform 773"/>
              <p:cNvSpPr>
                <a:spLocks/>
              </p:cNvSpPr>
              <p:nvPr userDrawn="1"/>
            </p:nvSpPr>
            <p:spPr bwMode="gray">
              <a:xfrm>
                <a:off x="3032" y="1182"/>
                <a:ext cx="9" cy="9"/>
              </a:xfrm>
              <a:custGeom>
                <a:avLst/>
                <a:gdLst>
                  <a:gd name="T0" fmla="*/ 0 w 9"/>
                  <a:gd name="T1" fmla="*/ 0 h 9"/>
                  <a:gd name="T2" fmla="*/ 0 w 9"/>
                  <a:gd name="T3" fmla="*/ 4 h 9"/>
                  <a:gd name="T4" fmla="*/ 2 w 9"/>
                  <a:gd name="T5" fmla="*/ 7 h 9"/>
                  <a:gd name="T6" fmla="*/ 4 w 9"/>
                  <a:gd name="T7" fmla="*/ 9 h 9"/>
                  <a:gd name="T8" fmla="*/ 6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4"/>
                    </a:lnTo>
                    <a:lnTo>
                      <a:pt x="2" y="7"/>
                    </a:lnTo>
                    <a:lnTo>
                      <a:pt x="4" y="9"/>
                    </a:lnTo>
                    <a:lnTo>
                      <a:pt x="6" y="9"/>
                    </a:lnTo>
                    <a:lnTo>
                      <a:pt x="9"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67" name="Line 774"/>
              <p:cNvSpPr>
                <a:spLocks noChangeShapeType="1"/>
              </p:cNvSpPr>
              <p:nvPr userDrawn="1"/>
            </p:nvSpPr>
            <p:spPr bwMode="gray">
              <a:xfrm flipH="1" flipV="1">
                <a:off x="2927" y="1154"/>
                <a:ext cx="210" cy="6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68" name="Line 775"/>
              <p:cNvSpPr>
                <a:spLocks noChangeShapeType="1"/>
              </p:cNvSpPr>
              <p:nvPr userDrawn="1"/>
            </p:nvSpPr>
            <p:spPr bwMode="gray">
              <a:xfrm flipH="1" flipV="1">
                <a:off x="2931" y="1149"/>
                <a:ext cx="203" cy="6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69" name="Freeform 776"/>
              <p:cNvSpPr>
                <a:spLocks/>
              </p:cNvSpPr>
              <p:nvPr userDrawn="1"/>
            </p:nvSpPr>
            <p:spPr bwMode="gray">
              <a:xfrm>
                <a:off x="2929" y="1149"/>
                <a:ext cx="2" cy="5"/>
              </a:xfrm>
              <a:custGeom>
                <a:avLst/>
                <a:gdLst>
                  <a:gd name="T0" fmla="*/ 2 w 2"/>
                  <a:gd name="T1" fmla="*/ 0 h 5"/>
                  <a:gd name="T2" fmla="*/ 2 w 2"/>
                  <a:gd name="T3" fmla="*/ 2 h 5"/>
                  <a:gd name="T4" fmla="*/ 0 w 2"/>
                  <a:gd name="T5" fmla="*/ 4 h 5"/>
                  <a:gd name="T6" fmla="*/ 0 w 2"/>
                  <a:gd name="T7" fmla="*/ 5 h 5"/>
                  <a:gd name="T8" fmla="*/ 0 w 2"/>
                  <a:gd name="T9" fmla="*/ 5 h 5"/>
                  <a:gd name="T10" fmla="*/ 0 w 2"/>
                  <a:gd name="T11" fmla="*/ 5 h 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 h="5">
                    <a:moveTo>
                      <a:pt x="2" y="0"/>
                    </a:moveTo>
                    <a:lnTo>
                      <a:pt x="2" y="2"/>
                    </a:lnTo>
                    <a:lnTo>
                      <a:pt x="0" y="4"/>
                    </a:lnTo>
                    <a:lnTo>
                      <a:pt x="0" y="5"/>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70" name="Line 777"/>
              <p:cNvSpPr>
                <a:spLocks noChangeShapeType="1"/>
              </p:cNvSpPr>
              <p:nvPr userDrawn="1"/>
            </p:nvSpPr>
            <p:spPr bwMode="gray">
              <a:xfrm>
                <a:off x="2929" y="1154"/>
                <a:ext cx="214" cy="6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71" name="Freeform 778"/>
              <p:cNvSpPr>
                <a:spLocks/>
              </p:cNvSpPr>
              <p:nvPr userDrawn="1"/>
            </p:nvSpPr>
            <p:spPr bwMode="gray">
              <a:xfrm>
                <a:off x="3134" y="1216"/>
                <a:ext cx="9" cy="8"/>
              </a:xfrm>
              <a:custGeom>
                <a:avLst/>
                <a:gdLst>
                  <a:gd name="T0" fmla="*/ 0 w 9"/>
                  <a:gd name="T1" fmla="*/ 0 h 8"/>
                  <a:gd name="T2" fmla="*/ 2 w 9"/>
                  <a:gd name="T3" fmla="*/ 3 h 8"/>
                  <a:gd name="T4" fmla="*/ 2 w 9"/>
                  <a:gd name="T5" fmla="*/ 5 h 8"/>
                  <a:gd name="T6" fmla="*/ 3 w 9"/>
                  <a:gd name="T7" fmla="*/ 8 h 8"/>
                  <a:gd name="T8" fmla="*/ 5 w 9"/>
                  <a:gd name="T9" fmla="*/ 8 h 8"/>
                  <a:gd name="T10" fmla="*/ 9 w 9"/>
                  <a:gd name="T11" fmla="*/ 7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8">
                    <a:moveTo>
                      <a:pt x="0" y="0"/>
                    </a:moveTo>
                    <a:lnTo>
                      <a:pt x="2" y="3"/>
                    </a:lnTo>
                    <a:lnTo>
                      <a:pt x="2" y="5"/>
                    </a:lnTo>
                    <a:lnTo>
                      <a:pt x="3" y="8"/>
                    </a:lnTo>
                    <a:lnTo>
                      <a:pt x="5" y="8"/>
                    </a:lnTo>
                    <a:lnTo>
                      <a:pt x="9"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72" name="Freeform 779"/>
              <p:cNvSpPr>
                <a:spLocks/>
              </p:cNvSpPr>
              <p:nvPr userDrawn="1"/>
            </p:nvSpPr>
            <p:spPr bwMode="gray">
              <a:xfrm>
                <a:off x="2649" y="694"/>
                <a:ext cx="20" cy="2"/>
              </a:xfrm>
              <a:custGeom>
                <a:avLst/>
                <a:gdLst>
                  <a:gd name="T0" fmla="*/ 20 w 20"/>
                  <a:gd name="T1" fmla="*/ 2 h 2"/>
                  <a:gd name="T2" fmla="*/ 13 w 20"/>
                  <a:gd name="T3" fmla="*/ 0 h 2"/>
                  <a:gd name="T4" fmla="*/ 6 w 20"/>
                  <a:gd name="T5" fmla="*/ 0 h 2"/>
                  <a:gd name="T6" fmla="*/ 0 w 20"/>
                  <a:gd name="T7" fmla="*/ 2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
                    <a:moveTo>
                      <a:pt x="20" y="2"/>
                    </a:moveTo>
                    <a:lnTo>
                      <a:pt x="13" y="0"/>
                    </a:lnTo>
                    <a:lnTo>
                      <a:pt x="6"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73" name="Freeform 780"/>
              <p:cNvSpPr>
                <a:spLocks/>
              </p:cNvSpPr>
              <p:nvPr userDrawn="1"/>
            </p:nvSpPr>
            <p:spPr bwMode="gray">
              <a:xfrm>
                <a:off x="2756" y="715"/>
                <a:ext cx="9" cy="11"/>
              </a:xfrm>
              <a:custGeom>
                <a:avLst/>
                <a:gdLst>
                  <a:gd name="T0" fmla="*/ 9 w 9"/>
                  <a:gd name="T1" fmla="*/ 11 h 11"/>
                  <a:gd name="T2" fmla="*/ 9 w 9"/>
                  <a:gd name="T3" fmla="*/ 6 h 11"/>
                  <a:gd name="T4" fmla="*/ 7 w 9"/>
                  <a:gd name="T5" fmla="*/ 4 h 11"/>
                  <a:gd name="T6" fmla="*/ 5 w 9"/>
                  <a:gd name="T7" fmla="*/ 0 h 11"/>
                  <a:gd name="T8" fmla="*/ 4 w 9"/>
                  <a:gd name="T9" fmla="*/ 0 h 11"/>
                  <a:gd name="T10" fmla="*/ 0 w 9"/>
                  <a:gd name="T11" fmla="*/ 2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11">
                    <a:moveTo>
                      <a:pt x="9" y="11"/>
                    </a:moveTo>
                    <a:lnTo>
                      <a:pt x="9" y="6"/>
                    </a:lnTo>
                    <a:lnTo>
                      <a:pt x="7" y="4"/>
                    </a:lnTo>
                    <a:lnTo>
                      <a:pt x="5" y="0"/>
                    </a:lnTo>
                    <a:lnTo>
                      <a:pt x="4"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74" name="Line 781"/>
              <p:cNvSpPr>
                <a:spLocks noChangeShapeType="1"/>
              </p:cNvSpPr>
              <p:nvPr userDrawn="1"/>
            </p:nvSpPr>
            <p:spPr bwMode="gray">
              <a:xfrm>
                <a:off x="2665" y="687"/>
                <a:ext cx="200" cy="6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75" name="Line 782"/>
              <p:cNvSpPr>
                <a:spLocks noChangeShapeType="1"/>
              </p:cNvSpPr>
              <p:nvPr userDrawn="1"/>
            </p:nvSpPr>
            <p:spPr bwMode="gray">
              <a:xfrm>
                <a:off x="2669" y="696"/>
                <a:ext cx="192" cy="5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76" name="Freeform 783"/>
              <p:cNvSpPr>
                <a:spLocks/>
              </p:cNvSpPr>
              <p:nvPr userDrawn="1"/>
            </p:nvSpPr>
            <p:spPr bwMode="gray">
              <a:xfrm>
                <a:off x="2861" y="749"/>
                <a:ext cx="4" cy="5"/>
              </a:xfrm>
              <a:custGeom>
                <a:avLst/>
                <a:gdLst>
                  <a:gd name="T0" fmla="*/ 0 w 4"/>
                  <a:gd name="T1" fmla="*/ 5 h 5"/>
                  <a:gd name="T2" fmla="*/ 2 w 4"/>
                  <a:gd name="T3" fmla="*/ 3 h 5"/>
                  <a:gd name="T4" fmla="*/ 4 w 4"/>
                  <a:gd name="T5" fmla="*/ 1 h 5"/>
                  <a:gd name="T6" fmla="*/ 4 w 4"/>
                  <a:gd name="T7" fmla="*/ 0 h 5"/>
                  <a:gd name="T8" fmla="*/ 4 w 4"/>
                  <a:gd name="T9" fmla="*/ 0 h 5"/>
                  <a:gd name="T10" fmla="*/ 4 w 4"/>
                  <a:gd name="T11" fmla="*/ 0 h 5"/>
                  <a:gd name="T12" fmla="*/ 4 w 4"/>
                  <a:gd name="T13" fmla="*/ 0 h 5"/>
                  <a:gd name="T14" fmla="*/ 4 w 4"/>
                  <a:gd name="T15" fmla="*/ 0 h 5"/>
                  <a:gd name="T16" fmla="*/ 4 w 4"/>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 h="5">
                    <a:moveTo>
                      <a:pt x="0" y="5"/>
                    </a:moveTo>
                    <a:lnTo>
                      <a:pt x="2" y="3"/>
                    </a:lnTo>
                    <a:lnTo>
                      <a:pt x="4" y="1"/>
                    </a:lnTo>
                    <a:lnTo>
                      <a:pt x="4"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77" name="Line 784"/>
              <p:cNvSpPr>
                <a:spLocks noChangeShapeType="1"/>
              </p:cNvSpPr>
              <p:nvPr userDrawn="1"/>
            </p:nvSpPr>
            <p:spPr bwMode="gray">
              <a:xfrm flipH="1" flipV="1">
                <a:off x="2660" y="687"/>
                <a:ext cx="205" cy="6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78" name="Freeform 785"/>
              <p:cNvSpPr>
                <a:spLocks/>
              </p:cNvSpPr>
              <p:nvPr userDrawn="1"/>
            </p:nvSpPr>
            <p:spPr bwMode="gray">
              <a:xfrm>
                <a:off x="2660" y="686"/>
                <a:ext cx="9" cy="10"/>
              </a:xfrm>
              <a:custGeom>
                <a:avLst/>
                <a:gdLst>
                  <a:gd name="T0" fmla="*/ 0 w 9"/>
                  <a:gd name="T1" fmla="*/ 1 h 10"/>
                  <a:gd name="T2" fmla="*/ 3 w 9"/>
                  <a:gd name="T3" fmla="*/ 0 h 10"/>
                  <a:gd name="T4" fmla="*/ 5 w 9"/>
                  <a:gd name="T5" fmla="*/ 1 h 10"/>
                  <a:gd name="T6" fmla="*/ 7 w 9"/>
                  <a:gd name="T7" fmla="*/ 3 h 10"/>
                  <a:gd name="T8" fmla="*/ 7 w 9"/>
                  <a:gd name="T9" fmla="*/ 7 h 10"/>
                  <a:gd name="T10" fmla="*/ 9 w 9"/>
                  <a:gd name="T11" fmla="*/ 1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10">
                    <a:moveTo>
                      <a:pt x="0" y="1"/>
                    </a:moveTo>
                    <a:lnTo>
                      <a:pt x="3" y="0"/>
                    </a:lnTo>
                    <a:lnTo>
                      <a:pt x="5" y="1"/>
                    </a:lnTo>
                    <a:lnTo>
                      <a:pt x="7" y="3"/>
                    </a:lnTo>
                    <a:lnTo>
                      <a:pt x="7" y="7"/>
                    </a:lnTo>
                    <a:lnTo>
                      <a:pt x="9" y="1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79" name="Freeform 786"/>
              <p:cNvSpPr>
                <a:spLocks/>
              </p:cNvSpPr>
              <p:nvPr userDrawn="1"/>
            </p:nvSpPr>
            <p:spPr bwMode="gray">
              <a:xfrm>
                <a:off x="3197" y="848"/>
                <a:ext cx="9" cy="11"/>
              </a:xfrm>
              <a:custGeom>
                <a:avLst/>
                <a:gdLst>
                  <a:gd name="T0" fmla="*/ 9 w 9"/>
                  <a:gd name="T1" fmla="*/ 11 h 11"/>
                  <a:gd name="T2" fmla="*/ 9 w 9"/>
                  <a:gd name="T3" fmla="*/ 6 h 11"/>
                  <a:gd name="T4" fmla="*/ 7 w 9"/>
                  <a:gd name="T5" fmla="*/ 2 h 11"/>
                  <a:gd name="T6" fmla="*/ 5 w 9"/>
                  <a:gd name="T7" fmla="*/ 0 h 11"/>
                  <a:gd name="T8" fmla="*/ 3 w 9"/>
                  <a:gd name="T9" fmla="*/ 0 h 11"/>
                  <a:gd name="T10" fmla="*/ 0 w 9"/>
                  <a:gd name="T11" fmla="*/ 2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11">
                    <a:moveTo>
                      <a:pt x="9" y="11"/>
                    </a:moveTo>
                    <a:lnTo>
                      <a:pt x="9" y="6"/>
                    </a:lnTo>
                    <a:lnTo>
                      <a:pt x="7" y="2"/>
                    </a:lnTo>
                    <a:lnTo>
                      <a:pt x="5" y="0"/>
                    </a:lnTo>
                    <a:lnTo>
                      <a:pt x="3"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80" name="Line 787"/>
              <p:cNvSpPr>
                <a:spLocks noChangeShapeType="1"/>
              </p:cNvSpPr>
              <p:nvPr userDrawn="1"/>
            </p:nvSpPr>
            <p:spPr bwMode="gray">
              <a:xfrm>
                <a:off x="3097" y="819"/>
                <a:ext cx="210" cy="6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81" name="Line 788"/>
              <p:cNvSpPr>
                <a:spLocks noChangeShapeType="1"/>
              </p:cNvSpPr>
              <p:nvPr userDrawn="1"/>
            </p:nvSpPr>
            <p:spPr bwMode="gray">
              <a:xfrm>
                <a:off x="3104" y="827"/>
                <a:ext cx="205" cy="6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82" name="Freeform 789"/>
              <p:cNvSpPr>
                <a:spLocks/>
              </p:cNvSpPr>
              <p:nvPr userDrawn="1"/>
            </p:nvSpPr>
            <p:spPr bwMode="gray">
              <a:xfrm>
                <a:off x="3300" y="880"/>
                <a:ext cx="9" cy="10"/>
              </a:xfrm>
              <a:custGeom>
                <a:avLst/>
                <a:gdLst>
                  <a:gd name="T0" fmla="*/ 9 w 9"/>
                  <a:gd name="T1" fmla="*/ 10 h 10"/>
                  <a:gd name="T2" fmla="*/ 9 w 9"/>
                  <a:gd name="T3" fmla="*/ 7 h 10"/>
                  <a:gd name="T4" fmla="*/ 9 w 9"/>
                  <a:gd name="T5" fmla="*/ 3 h 10"/>
                  <a:gd name="T6" fmla="*/ 7 w 9"/>
                  <a:gd name="T7" fmla="*/ 2 h 10"/>
                  <a:gd name="T8" fmla="*/ 5 w 9"/>
                  <a:gd name="T9" fmla="*/ 0 h 10"/>
                  <a:gd name="T10" fmla="*/ 3 w 9"/>
                  <a:gd name="T11" fmla="*/ 0 h 10"/>
                  <a:gd name="T12" fmla="*/ 0 w 9"/>
                  <a:gd name="T13" fmla="*/ 2 h 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 h="10">
                    <a:moveTo>
                      <a:pt x="9" y="10"/>
                    </a:moveTo>
                    <a:lnTo>
                      <a:pt x="9" y="7"/>
                    </a:lnTo>
                    <a:lnTo>
                      <a:pt x="9" y="3"/>
                    </a:lnTo>
                    <a:lnTo>
                      <a:pt x="7" y="2"/>
                    </a:lnTo>
                    <a:lnTo>
                      <a:pt x="5" y="0"/>
                    </a:lnTo>
                    <a:lnTo>
                      <a:pt x="3"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83" name="Line 790"/>
              <p:cNvSpPr>
                <a:spLocks noChangeShapeType="1"/>
              </p:cNvSpPr>
              <p:nvPr userDrawn="1"/>
            </p:nvSpPr>
            <p:spPr bwMode="gray">
              <a:xfrm flipH="1" flipV="1">
                <a:off x="3085" y="815"/>
                <a:ext cx="215" cy="6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84" name="Freeform 791"/>
              <p:cNvSpPr>
                <a:spLocks/>
              </p:cNvSpPr>
              <p:nvPr userDrawn="1"/>
            </p:nvSpPr>
            <p:spPr bwMode="gray">
              <a:xfrm>
                <a:off x="3307" y="1008"/>
                <a:ext cx="5" cy="7"/>
              </a:xfrm>
              <a:custGeom>
                <a:avLst/>
                <a:gdLst>
                  <a:gd name="T0" fmla="*/ 0 w 5"/>
                  <a:gd name="T1" fmla="*/ 0 h 7"/>
                  <a:gd name="T2" fmla="*/ 2 w 5"/>
                  <a:gd name="T3" fmla="*/ 0 h 7"/>
                  <a:gd name="T4" fmla="*/ 3 w 5"/>
                  <a:gd name="T5" fmla="*/ 1 h 7"/>
                  <a:gd name="T6" fmla="*/ 5 w 5"/>
                  <a:gd name="T7" fmla="*/ 3 h 7"/>
                  <a:gd name="T8" fmla="*/ 3 w 5"/>
                  <a:gd name="T9" fmla="*/ 5 h 7"/>
                  <a:gd name="T10" fmla="*/ 2 w 5"/>
                  <a:gd name="T11" fmla="*/ 7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7">
                    <a:moveTo>
                      <a:pt x="0" y="0"/>
                    </a:moveTo>
                    <a:lnTo>
                      <a:pt x="2" y="0"/>
                    </a:lnTo>
                    <a:lnTo>
                      <a:pt x="3" y="1"/>
                    </a:lnTo>
                    <a:lnTo>
                      <a:pt x="5" y="3"/>
                    </a:lnTo>
                    <a:lnTo>
                      <a:pt x="3" y="5"/>
                    </a:lnTo>
                    <a:lnTo>
                      <a:pt x="2"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85" name="Line 792"/>
              <p:cNvSpPr>
                <a:spLocks noChangeShapeType="1"/>
              </p:cNvSpPr>
              <p:nvPr userDrawn="1"/>
            </p:nvSpPr>
            <p:spPr bwMode="gray">
              <a:xfrm flipH="1">
                <a:off x="3309" y="894"/>
                <a:ext cx="5" cy="23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86" name="Line 793"/>
              <p:cNvSpPr>
                <a:spLocks noChangeShapeType="1"/>
              </p:cNvSpPr>
              <p:nvPr userDrawn="1"/>
            </p:nvSpPr>
            <p:spPr bwMode="gray">
              <a:xfrm flipH="1">
                <a:off x="3303" y="890"/>
                <a:ext cx="6" cy="23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87" name="Freeform 794"/>
              <p:cNvSpPr>
                <a:spLocks/>
              </p:cNvSpPr>
              <p:nvPr userDrawn="1"/>
            </p:nvSpPr>
            <p:spPr bwMode="gray">
              <a:xfrm>
                <a:off x="3303" y="1123"/>
                <a:ext cx="6" cy="9"/>
              </a:xfrm>
              <a:custGeom>
                <a:avLst/>
                <a:gdLst>
                  <a:gd name="T0" fmla="*/ 0 w 6"/>
                  <a:gd name="T1" fmla="*/ 0 h 9"/>
                  <a:gd name="T2" fmla="*/ 4 w 6"/>
                  <a:gd name="T3" fmla="*/ 2 h 9"/>
                  <a:gd name="T4" fmla="*/ 6 w 6"/>
                  <a:gd name="T5" fmla="*/ 3 h 9"/>
                  <a:gd name="T6" fmla="*/ 6 w 6"/>
                  <a:gd name="T7" fmla="*/ 5 h 9"/>
                  <a:gd name="T8" fmla="*/ 6 w 6"/>
                  <a:gd name="T9" fmla="*/ 7 h 9"/>
                  <a:gd name="T10" fmla="*/ 4 w 6"/>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9">
                    <a:moveTo>
                      <a:pt x="0" y="0"/>
                    </a:moveTo>
                    <a:lnTo>
                      <a:pt x="4" y="2"/>
                    </a:lnTo>
                    <a:lnTo>
                      <a:pt x="6" y="3"/>
                    </a:lnTo>
                    <a:lnTo>
                      <a:pt x="6" y="5"/>
                    </a:lnTo>
                    <a:lnTo>
                      <a:pt x="6" y="7"/>
                    </a:lnTo>
                    <a:lnTo>
                      <a:pt x="4"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88" name="Line 795"/>
              <p:cNvSpPr>
                <a:spLocks noChangeShapeType="1"/>
              </p:cNvSpPr>
              <p:nvPr userDrawn="1"/>
            </p:nvSpPr>
            <p:spPr bwMode="gray">
              <a:xfrm flipV="1">
                <a:off x="3307" y="897"/>
                <a:ext cx="5" cy="23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89" name="Freeform 796"/>
              <p:cNvSpPr>
                <a:spLocks/>
              </p:cNvSpPr>
              <p:nvPr userDrawn="1"/>
            </p:nvSpPr>
            <p:spPr bwMode="gray">
              <a:xfrm>
                <a:off x="3309" y="890"/>
                <a:ext cx="5" cy="7"/>
              </a:xfrm>
              <a:custGeom>
                <a:avLst/>
                <a:gdLst>
                  <a:gd name="T0" fmla="*/ 3 w 5"/>
                  <a:gd name="T1" fmla="*/ 7 h 7"/>
                  <a:gd name="T2" fmla="*/ 5 w 5"/>
                  <a:gd name="T3" fmla="*/ 6 h 7"/>
                  <a:gd name="T4" fmla="*/ 5 w 5"/>
                  <a:gd name="T5" fmla="*/ 4 h 7"/>
                  <a:gd name="T6" fmla="*/ 3 w 5"/>
                  <a:gd name="T7" fmla="*/ 2 h 7"/>
                  <a:gd name="T8" fmla="*/ 1 w 5"/>
                  <a:gd name="T9" fmla="*/ 0 h 7"/>
                  <a:gd name="T10" fmla="*/ 0 w 5"/>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7">
                    <a:moveTo>
                      <a:pt x="3" y="7"/>
                    </a:moveTo>
                    <a:lnTo>
                      <a:pt x="5" y="6"/>
                    </a:lnTo>
                    <a:lnTo>
                      <a:pt x="5" y="4"/>
                    </a:lnTo>
                    <a:lnTo>
                      <a:pt x="3" y="2"/>
                    </a:lnTo>
                    <a:lnTo>
                      <a:pt x="1" y="0"/>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90" name="Freeform 797"/>
              <p:cNvSpPr>
                <a:spLocks/>
              </p:cNvSpPr>
              <p:nvPr userDrawn="1"/>
            </p:nvSpPr>
            <p:spPr bwMode="gray">
              <a:xfrm>
                <a:off x="3295" y="1123"/>
                <a:ext cx="8" cy="17"/>
              </a:xfrm>
              <a:custGeom>
                <a:avLst/>
                <a:gdLst>
                  <a:gd name="T0" fmla="*/ 8 w 8"/>
                  <a:gd name="T1" fmla="*/ 0 h 17"/>
                  <a:gd name="T2" fmla="*/ 8 w 8"/>
                  <a:gd name="T3" fmla="*/ 5 h 17"/>
                  <a:gd name="T4" fmla="*/ 7 w 8"/>
                  <a:gd name="T5" fmla="*/ 9 h 17"/>
                  <a:gd name="T6" fmla="*/ 3 w 8"/>
                  <a:gd name="T7" fmla="*/ 14 h 17"/>
                  <a:gd name="T8" fmla="*/ 0 w 8"/>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8" y="0"/>
                    </a:moveTo>
                    <a:lnTo>
                      <a:pt x="8" y="5"/>
                    </a:lnTo>
                    <a:lnTo>
                      <a:pt x="7" y="9"/>
                    </a:lnTo>
                    <a:lnTo>
                      <a:pt x="3" y="14"/>
                    </a:lnTo>
                    <a:lnTo>
                      <a:pt x="0" y="1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91" name="Freeform 798"/>
              <p:cNvSpPr>
                <a:spLocks/>
              </p:cNvSpPr>
              <p:nvPr userDrawn="1"/>
            </p:nvSpPr>
            <p:spPr bwMode="gray">
              <a:xfrm>
                <a:off x="2571" y="724"/>
                <a:ext cx="10" cy="9"/>
              </a:xfrm>
              <a:custGeom>
                <a:avLst/>
                <a:gdLst>
                  <a:gd name="T0" fmla="*/ 0 w 10"/>
                  <a:gd name="T1" fmla="*/ 9 h 9"/>
                  <a:gd name="T2" fmla="*/ 0 w 10"/>
                  <a:gd name="T3" fmla="*/ 5 h 9"/>
                  <a:gd name="T4" fmla="*/ 3 w 10"/>
                  <a:gd name="T5" fmla="*/ 2 h 9"/>
                  <a:gd name="T6" fmla="*/ 5 w 10"/>
                  <a:gd name="T7" fmla="*/ 0 h 9"/>
                  <a:gd name="T8" fmla="*/ 7 w 10"/>
                  <a:gd name="T9" fmla="*/ 0 h 9"/>
                  <a:gd name="T10" fmla="*/ 10 w 10"/>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0" y="9"/>
                    </a:moveTo>
                    <a:lnTo>
                      <a:pt x="0" y="5"/>
                    </a:lnTo>
                    <a:lnTo>
                      <a:pt x="3" y="2"/>
                    </a:lnTo>
                    <a:lnTo>
                      <a:pt x="5" y="0"/>
                    </a:lnTo>
                    <a:lnTo>
                      <a:pt x="7" y="0"/>
                    </a:lnTo>
                    <a:lnTo>
                      <a:pt x="1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92" name="Line 799"/>
              <p:cNvSpPr>
                <a:spLocks noChangeShapeType="1"/>
              </p:cNvSpPr>
              <p:nvPr userDrawn="1"/>
            </p:nvSpPr>
            <p:spPr bwMode="gray">
              <a:xfrm flipV="1">
                <a:off x="2494" y="689"/>
                <a:ext cx="157" cy="7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93" name="Line 800"/>
              <p:cNvSpPr>
                <a:spLocks noChangeShapeType="1"/>
              </p:cNvSpPr>
              <p:nvPr userDrawn="1"/>
            </p:nvSpPr>
            <p:spPr bwMode="gray">
              <a:xfrm flipV="1">
                <a:off x="2492" y="696"/>
                <a:ext cx="157" cy="7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94" name="Freeform 801"/>
              <p:cNvSpPr>
                <a:spLocks/>
              </p:cNvSpPr>
              <p:nvPr userDrawn="1"/>
            </p:nvSpPr>
            <p:spPr bwMode="gray">
              <a:xfrm>
                <a:off x="2649" y="687"/>
                <a:ext cx="11" cy="9"/>
              </a:xfrm>
              <a:custGeom>
                <a:avLst/>
                <a:gdLst>
                  <a:gd name="T0" fmla="*/ 0 w 11"/>
                  <a:gd name="T1" fmla="*/ 9 h 9"/>
                  <a:gd name="T2" fmla="*/ 0 w 11"/>
                  <a:gd name="T3" fmla="*/ 6 h 9"/>
                  <a:gd name="T4" fmla="*/ 2 w 11"/>
                  <a:gd name="T5" fmla="*/ 4 h 9"/>
                  <a:gd name="T6" fmla="*/ 4 w 11"/>
                  <a:gd name="T7" fmla="*/ 0 h 9"/>
                  <a:gd name="T8" fmla="*/ 7 w 11"/>
                  <a:gd name="T9" fmla="*/ 0 h 9"/>
                  <a:gd name="T10" fmla="*/ 11 w 11"/>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9">
                    <a:moveTo>
                      <a:pt x="0" y="9"/>
                    </a:moveTo>
                    <a:lnTo>
                      <a:pt x="0" y="6"/>
                    </a:lnTo>
                    <a:lnTo>
                      <a:pt x="2" y="4"/>
                    </a:lnTo>
                    <a:lnTo>
                      <a:pt x="4" y="0"/>
                    </a:lnTo>
                    <a:lnTo>
                      <a:pt x="7" y="0"/>
                    </a:lnTo>
                    <a:lnTo>
                      <a:pt x="1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95" name="Line 802"/>
              <p:cNvSpPr>
                <a:spLocks noChangeShapeType="1"/>
              </p:cNvSpPr>
              <p:nvPr userDrawn="1"/>
            </p:nvSpPr>
            <p:spPr bwMode="gray">
              <a:xfrm flipH="1">
                <a:off x="2503" y="687"/>
                <a:ext cx="157" cy="7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96" name="Freeform 803"/>
              <p:cNvSpPr>
                <a:spLocks/>
              </p:cNvSpPr>
              <p:nvPr userDrawn="1"/>
            </p:nvSpPr>
            <p:spPr bwMode="gray">
              <a:xfrm>
                <a:off x="2492" y="761"/>
                <a:ext cx="11" cy="10"/>
              </a:xfrm>
              <a:custGeom>
                <a:avLst/>
                <a:gdLst>
                  <a:gd name="T0" fmla="*/ 11 w 11"/>
                  <a:gd name="T1" fmla="*/ 0 h 10"/>
                  <a:gd name="T2" fmla="*/ 7 w 11"/>
                  <a:gd name="T3" fmla="*/ 0 h 10"/>
                  <a:gd name="T4" fmla="*/ 4 w 11"/>
                  <a:gd name="T5" fmla="*/ 2 h 10"/>
                  <a:gd name="T6" fmla="*/ 2 w 11"/>
                  <a:gd name="T7" fmla="*/ 3 h 10"/>
                  <a:gd name="T8" fmla="*/ 0 w 11"/>
                  <a:gd name="T9" fmla="*/ 7 h 10"/>
                  <a:gd name="T10" fmla="*/ 0 w 11"/>
                  <a:gd name="T11" fmla="*/ 1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10">
                    <a:moveTo>
                      <a:pt x="11" y="0"/>
                    </a:moveTo>
                    <a:lnTo>
                      <a:pt x="7" y="0"/>
                    </a:lnTo>
                    <a:lnTo>
                      <a:pt x="4" y="2"/>
                    </a:lnTo>
                    <a:lnTo>
                      <a:pt x="2" y="3"/>
                    </a:lnTo>
                    <a:lnTo>
                      <a:pt x="0" y="7"/>
                    </a:lnTo>
                    <a:lnTo>
                      <a:pt x="0" y="1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97" name="Freeform 804"/>
              <p:cNvSpPr>
                <a:spLocks/>
              </p:cNvSpPr>
              <p:nvPr userDrawn="1"/>
            </p:nvSpPr>
            <p:spPr bwMode="gray">
              <a:xfrm>
                <a:off x="3225" y="920"/>
                <a:ext cx="10" cy="18"/>
              </a:xfrm>
              <a:custGeom>
                <a:avLst/>
                <a:gdLst>
                  <a:gd name="T0" fmla="*/ 0 w 10"/>
                  <a:gd name="T1" fmla="*/ 0 h 18"/>
                  <a:gd name="T2" fmla="*/ 3 w 10"/>
                  <a:gd name="T3" fmla="*/ 4 h 18"/>
                  <a:gd name="T4" fmla="*/ 7 w 10"/>
                  <a:gd name="T5" fmla="*/ 7 h 18"/>
                  <a:gd name="T6" fmla="*/ 10 w 10"/>
                  <a:gd name="T7" fmla="*/ 12 h 18"/>
                  <a:gd name="T8" fmla="*/ 10 w 10"/>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8">
                    <a:moveTo>
                      <a:pt x="0" y="0"/>
                    </a:moveTo>
                    <a:lnTo>
                      <a:pt x="3" y="4"/>
                    </a:lnTo>
                    <a:lnTo>
                      <a:pt x="7" y="7"/>
                    </a:lnTo>
                    <a:lnTo>
                      <a:pt x="10" y="12"/>
                    </a:lnTo>
                    <a:lnTo>
                      <a:pt x="10" y="1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98" name="Line 805"/>
              <p:cNvSpPr>
                <a:spLocks noChangeShapeType="1"/>
              </p:cNvSpPr>
              <p:nvPr userDrawn="1"/>
            </p:nvSpPr>
            <p:spPr bwMode="gray">
              <a:xfrm flipV="1">
                <a:off x="3155" y="887"/>
                <a:ext cx="154" cy="8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99" name="Line 806"/>
              <p:cNvSpPr>
                <a:spLocks noChangeShapeType="1"/>
              </p:cNvSpPr>
              <p:nvPr userDrawn="1"/>
            </p:nvSpPr>
            <p:spPr bwMode="gray">
              <a:xfrm flipV="1">
                <a:off x="3146" y="882"/>
                <a:ext cx="154" cy="7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00" name="Freeform 807"/>
              <p:cNvSpPr>
                <a:spLocks/>
              </p:cNvSpPr>
              <p:nvPr userDrawn="1"/>
            </p:nvSpPr>
            <p:spPr bwMode="gray">
              <a:xfrm>
                <a:off x="3300" y="882"/>
                <a:ext cx="12" cy="15"/>
              </a:xfrm>
              <a:custGeom>
                <a:avLst/>
                <a:gdLst>
                  <a:gd name="T0" fmla="*/ 0 w 12"/>
                  <a:gd name="T1" fmla="*/ 0 h 15"/>
                  <a:gd name="T2" fmla="*/ 5 w 12"/>
                  <a:gd name="T3" fmla="*/ 1 h 15"/>
                  <a:gd name="T4" fmla="*/ 9 w 12"/>
                  <a:gd name="T5" fmla="*/ 5 h 15"/>
                  <a:gd name="T6" fmla="*/ 10 w 12"/>
                  <a:gd name="T7" fmla="*/ 10 h 15"/>
                  <a:gd name="T8" fmla="*/ 12 w 12"/>
                  <a:gd name="T9" fmla="*/ 15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5">
                    <a:moveTo>
                      <a:pt x="0" y="0"/>
                    </a:moveTo>
                    <a:lnTo>
                      <a:pt x="5" y="1"/>
                    </a:lnTo>
                    <a:lnTo>
                      <a:pt x="9" y="5"/>
                    </a:lnTo>
                    <a:lnTo>
                      <a:pt x="10" y="10"/>
                    </a:lnTo>
                    <a:lnTo>
                      <a:pt x="12" y="15"/>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01" name="Line 808"/>
              <p:cNvSpPr>
                <a:spLocks noChangeShapeType="1"/>
              </p:cNvSpPr>
              <p:nvPr userDrawn="1"/>
            </p:nvSpPr>
            <p:spPr bwMode="gray">
              <a:xfrm flipH="1">
                <a:off x="3158" y="897"/>
                <a:ext cx="154" cy="8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02" name="Freeform 809"/>
              <p:cNvSpPr>
                <a:spLocks/>
              </p:cNvSpPr>
              <p:nvPr userDrawn="1"/>
            </p:nvSpPr>
            <p:spPr bwMode="gray">
              <a:xfrm>
                <a:off x="3146" y="960"/>
                <a:ext cx="12" cy="18"/>
              </a:xfrm>
              <a:custGeom>
                <a:avLst/>
                <a:gdLst>
                  <a:gd name="T0" fmla="*/ 12 w 12"/>
                  <a:gd name="T1" fmla="*/ 18 h 18"/>
                  <a:gd name="T2" fmla="*/ 11 w 12"/>
                  <a:gd name="T3" fmla="*/ 13 h 18"/>
                  <a:gd name="T4" fmla="*/ 9 w 12"/>
                  <a:gd name="T5" fmla="*/ 7 h 18"/>
                  <a:gd name="T6" fmla="*/ 5 w 12"/>
                  <a:gd name="T7" fmla="*/ 4 h 18"/>
                  <a:gd name="T8" fmla="*/ 0 w 12"/>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8">
                    <a:moveTo>
                      <a:pt x="12" y="18"/>
                    </a:moveTo>
                    <a:lnTo>
                      <a:pt x="11" y="13"/>
                    </a:lnTo>
                    <a:lnTo>
                      <a:pt x="9" y="7"/>
                    </a:lnTo>
                    <a:lnTo>
                      <a:pt x="5"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03" name="Freeform 810"/>
              <p:cNvSpPr>
                <a:spLocks/>
              </p:cNvSpPr>
              <p:nvPr userDrawn="1"/>
            </p:nvSpPr>
            <p:spPr bwMode="gray">
              <a:xfrm>
                <a:off x="2119" y="1513"/>
                <a:ext cx="11" cy="16"/>
              </a:xfrm>
              <a:custGeom>
                <a:avLst/>
                <a:gdLst>
                  <a:gd name="T0" fmla="*/ 11 w 11"/>
                  <a:gd name="T1" fmla="*/ 16 h 16"/>
                  <a:gd name="T2" fmla="*/ 7 w 11"/>
                  <a:gd name="T3" fmla="*/ 14 h 16"/>
                  <a:gd name="T4" fmla="*/ 4 w 11"/>
                  <a:gd name="T5" fmla="*/ 10 h 16"/>
                  <a:gd name="T6" fmla="*/ 2 w 11"/>
                  <a:gd name="T7" fmla="*/ 5 h 16"/>
                  <a:gd name="T8" fmla="*/ 0 w 11"/>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11" y="16"/>
                    </a:moveTo>
                    <a:lnTo>
                      <a:pt x="7" y="14"/>
                    </a:lnTo>
                    <a:lnTo>
                      <a:pt x="4" y="10"/>
                    </a:lnTo>
                    <a:lnTo>
                      <a:pt x="2"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04" name="Line 811"/>
              <p:cNvSpPr>
                <a:spLocks noChangeShapeType="1"/>
              </p:cNvSpPr>
              <p:nvPr userDrawn="1"/>
            </p:nvSpPr>
            <p:spPr bwMode="gray">
              <a:xfrm>
                <a:off x="2123" y="1529"/>
                <a:ext cx="14" cy="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05" name="Line 812"/>
              <p:cNvSpPr>
                <a:spLocks noChangeShapeType="1"/>
              </p:cNvSpPr>
              <p:nvPr userDrawn="1"/>
            </p:nvSpPr>
            <p:spPr bwMode="gray">
              <a:xfrm>
                <a:off x="2130" y="1529"/>
                <a:ext cx="7" cy="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06" name="Line 813"/>
              <p:cNvSpPr>
                <a:spLocks noChangeShapeType="1"/>
              </p:cNvSpPr>
              <p:nvPr userDrawn="1"/>
            </p:nvSpPr>
            <p:spPr bwMode="gray">
              <a:xfrm flipH="1" flipV="1">
                <a:off x="2121" y="1522"/>
                <a:ext cx="16" cy="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07" name="Freeform 814"/>
              <p:cNvSpPr>
                <a:spLocks/>
              </p:cNvSpPr>
              <p:nvPr userDrawn="1"/>
            </p:nvSpPr>
            <p:spPr bwMode="gray">
              <a:xfrm>
                <a:off x="2121" y="1522"/>
                <a:ext cx="9" cy="8"/>
              </a:xfrm>
              <a:custGeom>
                <a:avLst/>
                <a:gdLst>
                  <a:gd name="T0" fmla="*/ 0 w 9"/>
                  <a:gd name="T1" fmla="*/ 0 h 8"/>
                  <a:gd name="T2" fmla="*/ 0 w 9"/>
                  <a:gd name="T3" fmla="*/ 3 h 8"/>
                  <a:gd name="T4" fmla="*/ 2 w 9"/>
                  <a:gd name="T5" fmla="*/ 7 h 8"/>
                  <a:gd name="T6" fmla="*/ 4 w 9"/>
                  <a:gd name="T7" fmla="*/ 8 h 8"/>
                  <a:gd name="T8" fmla="*/ 5 w 9"/>
                  <a:gd name="T9" fmla="*/ 8 h 8"/>
                  <a:gd name="T10" fmla="*/ 9 w 9"/>
                  <a:gd name="T11" fmla="*/ 7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8">
                    <a:moveTo>
                      <a:pt x="0" y="0"/>
                    </a:moveTo>
                    <a:lnTo>
                      <a:pt x="0" y="3"/>
                    </a:lnTo>
                    <a:lnTo>
                      <a:pt x="2" y="7"/>
                    </a:lnTo>
                    <a:lnTo>
                      <a:pt x="4" y="8"/>
                    </a:lnTo>
                    <a:lnTo>
                      <a:pt x="5" y="8"/>
                    </a:lnTo>
                    <a:lnTo>
                      <a:pt x="9"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08" name="Freeform 815"/>
              <p:cNvSpPr>
                <a:spLocks/>
              </p:cNvSpPr>
              <p:nvPr userDrawn="1"/>
            </p:nvSpPr>
            <p:spPr bwMode="gray">
              <a:xfrm>
                <a:off x="2737" y="1363"/>
                <a:ext cx="7" cy="8"/>
              </a:xfrm>
              <a:custGeom>
                <a:avLst/>
                <a:gdLst>
                  <a:gd name="T0" fmla="*/ 0 w 7"/>
                  <a:gd name="T1" fmla="*/ 8 h 8"/>
                  <a:gd name="T2" fmla="*/ 3 w 7"/>
                  <a:gd name="T3" fmla="*/ 8 h 8"/>
                  <a:gd name="T4" fmla="*/ 5 w 7"/>
                  <a:gd name="T5" fmla="*/ 7 h 8"/>
                  <a:gd name="T6" fmla="*/ 7 w 7"/>
                  <a:gd name="T7" fmla="*/ 3 h 8"/>
                  <a:gd name="T8" fmla="*/ 7 w 7"/>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8">
                    <a:moveTo>
                      <a:pt x="0" y="8"/>
                    </a:moveTo>
                    <a:lnTo>
                      <a:pt x="3" y="8"/>
                    </a:lnTo>
                    <a:lnTo>
                      <a:pt x="5" y="7"/>
                    </a:lnTo>
                    <a:lnTo>
                      <a:pt x="7" y="3"/>
                    </a:lnTo>
                    <a:lnTo>
                      <a:pt x="7"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09" name="Line 816"/>
              <p:cNvSpPr>
                <a:spLocks noChangeShapeType="1"/>
              </p:cNvSpPr>
              <p:nvPr userDrawn="1"/>
            </p:nvSpPr>
            <p:spPr bwMode="gray">
              <a:xfrm flipV="1">
                <a:off x="2739" y="1329"/>
                <a:ext cx="77" cy="4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10" name="Line 817"/>
              <p:cNvSpPr>
                <a:spLocks noChangeShapeType="1"/>
              </p:cNvSpPr>
              <p:nvPr userDrawn="1"/>
            </p:nvSpPr>
            <p:spPr bwMode="gray">
              <a:xfrm flipV="1">
                <a:off x="2737" y="1331"/>
                <a:ext cx="70" cy="3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11" name="Freeform 818"/>
              <p:cNvSpPr>
                <a:spLocks/>
              </p:cNvSpPr>
              <p:nvPr userDrawn="1"/>
            </p:nvSpPr>
            <p:spPr bwMode="gray">
              <a:xfrm>
                <a:off x="2807" y="1322"/>
                <a:ext cx="10" cy="9"/>
              </a:xfrm>
              <a:custGeom>
                <a:avLst/>
                <a:gdLst>
                  <a:gd name="T0" fmla="*/ 0 w 10"/>
                  <a:gd name="T1" fmla="*/ 9 h 9"/>
                  <a:gd name="T2" fmla="*/ 5 w 10"/>
                  <a:gd name="T3" fmla="*/ 9 h 9"/>
                  <a:gd name="T4" fmla="*/ 7 w 10"/>
                  <a:gd name="T5" fmla="*/ 9 h 9"/>
                  <a:gd name="T6" fmla="*/ 9 w 10"/>
                  <a:gd name="T7" fmla="*/ 7 h 9"/>
                  <a:gd name="T8" fmla="*/ 10 w 10"/>
                  <a:gd name="T9" fmla="*/ 4 h 9"/>
                  <a:gd name="T10" fmla="*/ 10 w 10"/>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0" y="9"/>
                    </a:moveTo>
                    <a:lnTo>
                      <a:pt x="5" y="9"/>
                    </a:lnTo>
                    <a:lnTo>
                      <a:pt x="7" y="9"/>
                    </a:lnTo>
                    <a:lnTo>
                      <a:pt x="9" y="7"/>
                    </a:lnTo>
                    <a:lnTo>
                      <a:pt x="10" y="4"/>
                    </a:lnTo>
                    <a:lnTo>
                      <a:pt x="1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12" name="Line 819"/>
              <p:cNvSpPr>
                <a:spLocks noChangeShapeType="1"/>
              </p:cNvSpPr>
              <p:nvPr userDrawn="1"/>
            </p:nvSpPr>
            <p:spPr bwMode="gray">
              <a:xfrm flipH="1">
                <a:off x="2737" y="1322"/>
                <a:ext cx="80" cy="4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13" name="Freeform 820"/>
              <p:cNvSpPr>
                <a:spLocks/>
              </p:cNvSpPr>
              <p:nvPr userDrawn="1"/>
            </p:nvSpPr>
            <p:spPr bwMode="gray">
              <a:xfrm>
                <a:off x="2807" y="1315"/>
                <a:ext cx="9" cy="16"/>
              </a:xfrm>
              <a:custGeom>
                <a:avLst/>
                <a:gdLst>
                  <a:gd name="T0" fmla="*/ 0 w 9"/>
                  <a:gd name="T1" fmla="*/ 16 h 16"/>
                  <a:gd name="T2" fmla="*/ 3 w 9"/>
                  <a:gd name="T3" fmla="*/ 13 h 16"/>
                  <a:gd name="T4" fmla="*/ 7 w 9"/>
                  <a:gd name="T5" fmla="*/ 9 h 16"/>
                  <a:gd name="T6" fmla="*/ 9 w 9"/>
                  <a:gd name="T7" fmla="*/ 4 h 16"/>
                  <a:gd name="T8" fmla="*/ 9 w 9"/>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6">
                    <a:moveTo>
                      <a:pt x="0" y="16"/>
                    </a:moveTo>
                    <a:lnTo>
                      <a:pt x="3" y="13"/>
                    </a:lnTo>
                    <a:lnTo>
                      <a:pt x="7" y="9"/>
                    </a:lnTo>
                    <a:lnTo>
                      <a:pt x="9" y="4"/>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14" name="Freeform 821"/>
              <p:cNvSpPr>
                <a:spLocks/>
              </p:cNvSpPr>
              <p:nvPr userDrawn="1"/>
            </p:nvSpPr>
            <p:spPr bwMode="gray">
              <a:xfrm>
                <a:off x="2195" y="1244"/>
                <a:ext cx="8" cy="8"/>
              </a:xfrm>
              <a:custGeom>
                <a:avLst/>
                <a:gdLst>
                  <a:gd name="T0" fmla="*/ 8 w 8"/>
                  <a:gd name="T1" fmla="*/ 0 h 8"/>
                  <a:gd name="T2" fmla="*/ 5 w 8"/>
                  <a:gd name="T3" fmla="*/ 0 h 8"/>
                  <a:gd name="T4" fmla="*/ 1 w 8"/>
                  <a:gd name="T5" fmla="*/ 1 h 8"/>
                  <a:gd name="T6" fmla="*/ 0 w 8"/>
                  <a:gd name="T7" fmla="*/ 5 h 8"/>
                  <a:gd name="T8" fmla="*/ 0 w 8"/>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8">
                    <a:moveTo>
                      <a:pt x="8" y="0"/>
                    </a:moveTo>
                    <a:lnTo>
                      <a:pt x="5" y="0"/>
                    </a:lnTo>
                    <a:lnTo>
                      <a:pt x="1" y="1"/>
                    </a:lnTo>
                    <a:lnTo>
                      <a:pt x="0" y="5"/>
                    </a:lnTo>
                    <a:lnTo>
                      <a:pt x="0"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15" name="Line 822"/>
              <p:cNvSpPr>
                <a:spLocks noChangeShapeType="1"/>
              </p:cNvSpPr>
              <p:nvPr userDrawn="1"/>
            </p:nvSpPr>
            <p:spPr bwMode="gray">
              <a:xfrm flipH="1">
                <a:off x="2116" y="1203"/>
                <a:ext cx="164" cy="8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16" name="Line 823"/>
              <p:cNvSpPr>
                <a:spLocks noChangeShapeType="1"/>
              </p:cNvSpPr>
              <p:nvPr userDrawn="1"/>
            </p:nvSpPr>
            <p:spPr bwMode="gray">
              <a:xfrm flipH="1">
                <a:off x="2123" y="1203"/>
                <a:ext cx="161" cy="8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17" name="Freeform 824"/>
              <p:cNvSpPr>
                <a:spLocks/>
              </p:cNvSpPr>
              <p:nvPr userDrawn="1"/>
            </p:nvSpPr>
            <p:spPr bwMode="gray">
              <a:xfrm>
                <a:off x="2112" y="1284"/>
                <a:ext cx="11" cy="9"/>
              </a:xfrm>
              <a:custGeom>
                <a:avLst/>
                <a:gdLst>
                  <a:gd name="T0" fmla="*/ 11 w 11"/>
                  <a:gd name="T1" fmla="*/ 0 h 9"/>
                  <a:gd name="T2" fmla="*/ 7 w 11"/>
                  <a:gd name="T3" fmla="*/ 0 h 9"/>
                  <a:gd name="T4" fmla="*/ 4 w 11"/>
                  <a:gd name="T5" fmla="*/ 0 h 9"/>
                  <a:gd name="T6" fmla="*/ 2 w 11"/>
                  <a:gd name="T7" fmla="*/ 2 h 9"/>
                  <a:gd name="T8" fmla="*/ 2 w 11"/>
                  <a:gd name="T9" fmla="*/ 5 h 9"/>
                  <a:gd name="T10" fmla="*/ 0 w 11"/>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9">
                    <a:moveTo>
                      <a:pt x="11" y="0"/>
                    </a:moveTo>
                    <a:lnTo>
                      <a:pt x="7" y="0"/>
                    </a:lnTo>
                    <a:lnTo>
                      <a:pt x="4" y="0"/>
                    </a:lnTo>
                    <a:lnTo>
                      <a:pt x="2" y="2"/>
                    </a:lnTo>
                    <a:lnTo>
                      <a:pt x="2" y="5"/>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18" name="Line 825"/>
              <p:cNvSpPr>
                <a:spLocks noChangeShapeType="1"/>
              </p:cNvSpPr>
              <p:nvPr userDrawn="1"/>
            </p:nvSpPr>
            <p:spPr bwMode="gray">
              <a:xfrm flipV="1">
                <a:off x="2112" y="1209"/>
                <a:ext cx="170" cy="8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19" name="Freeform 826"/>
              <p:cNvSpPr>
                <a:spLocks/>
              </p:cNvSpPr>
              <p:nvPr userDrawn="1"/>
            </p:nvSpPr>
            <p:spPr bwMode="gray">
              <a:xfrm>
                <a:off x="2280" y="1203"/>
                <a:ext cx="4" cy="6"/>
              </a:xfrm>
              <a:custGeom>
                <a:avLst/>
                <a:gdLst>
                  <a:gd name="T0" fmla="*/ 4 w 4"/>
                  <a:gd name="T1" fmla="*/ 0 h 6"/>
                  <a:gd name="T2" fmla="*/ 2 w 4"/>
                  <a:gd name="T3" fmla="*/ 0 h 6"/>
                  <a:gd name="T4" fmla="*/ 0 w 4"/>
                  <a:gd name="T5" fmla="*/ 0 h 6"/>
                  <a:gd name="T6" fmla="*/ 0 w 4"/>
                  <a:gd name="T7" fmla="*/ 0 h 6"/>
                  <a:gd name="T8" fmla="*/ 2 w 4"/>
                  <a:gd name="T9" fmla="*/ 2 h 6"/>
                  <a:gd name="T10" fmla="*/ 2 w 4"/>
                  <a:gd name="T11" fmla="*/ 6 h 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 h="6">
                    <a:moveTo>
                      <a:pt x="4" y="0"/>
                    </a:moveTo>
                    <a:lnTo>
                      <a:pt x="2" y="0"/>
                    </a:lnTo>
                    <a:lnTo>
                      <a:pt x="0" y="0"/>
                    </a:lnTo>
                    <a:lnTo>
                      <a:pt x="2" y="2"/>
                    </a:lnTo>
                    <a:lnTo>
                      <a:pt x="2" y="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20" name="Freeform 827"/>
              <p:cNvSpPr>
                <a:spLocks/>
              </p:cNvSpPr>
              <p:nvPr userDrawn="1"/>
            </p:nvSpPr>
            <p:spPr bwMode="gray">
              <a:xfrm>
                <a:off x="2207" y="1317"/>
                <a:ext cx="9" cy="16"/>
              </a:xfrm>
              <a:custGeom>
                <a:avLst/>
                <a:gdLst>
                  <a:gd name="T0" fmla="*/ 9 w 9"/>
                  <a:gd name="T1" fmla="*/ 0 h 16"/>
                  <a:gd name="T2" fmla="*/ 5 w 9"/>
                  <a:gd name="T3" fmla="*/ 2 h 16"/>
                  <a:gd name="T4" fmla="*/ 3 w 9"/>
                  <a:gd name="T5" fmla="*/ 7 h 16"/>
                  <a:gd name="T6" fmla="*/ 2 w 9"/>
                  <a:gd name="T7" fmla="*/ 11 h 16"/>
                  <a:gd name="T8" fmla="*/ 0 w 9"/>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6">
                    <a:moveTo>
                      <a:pt x="9" y="0"/>
                    </a:moveTo>
                    <a:lnTo>
                      <a:pt x="5" y="2"/>
                    </a:lnTo>
                    <a:lnTo>
                      <a:pt x="3" y="7"/>
                    </a:lnTo>
                    <a:lnTo>
                      <a:pt x="2" y="11"/>
                    </a:lnTo>
                    <a:lnTo>
                      <a:pt x="0"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21" name="Line 828"/>
              <p:cNvSpPr>
                <a:spLocks noChangeShapeType="1"/>
              </p:cNvSpPr>
              <p:nvPr userDrawn="1"/>
            </p:nvSpPr>
            <p:spPr bwMode="gray">
              <a:xfrm>
                <a:off x="2118" y="1291"/>
                <a:ext cx="185" cy="6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22" name="Line 829"/>
              <p:cNvSpPr>
                <a:spLocks noChangeShapeType="1"/>
              </p:cNvSpPr>
              <p:nvPr userDrawn="1"/>
            </p:nvSpPr>
            <p:spPr bwMode="gray">
              <a:xfrm>
                <a:off x="2123" y="1284"/>
                <a:ext cx="187" cy="66"/>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23" name="Freeform 830"/>
              <p:cNvSpPr>
                <a:spLocks/>
              </p:cNvSpPr>
              <p:nvPr userDrawn="1"/>
            </p:nvSpPr>
            <p:spPr bwMode="gray">
              <a:xfrm>
                <a:off x="2301" y="1350"/>
                <a:ext cx="9" cy="16"/>
              </a:xfrm>
              <a:custGeom>
                <a:avLst/>
                <a:gdLst>
                  <a:gd name="T0" fmla="*/ 9 w 9"/>
                  <a:gd name="T1" fmla="*/ 0 h 16"/>
                  <a:gd name="T2" fmla="*/ 6 w 9"/>
                  <a:gd name="T3" fmla="*/ 2 h 16"/>
                  <a:gd name="T4" fmla="*/ 2 w 9"/>
                  <a:gd name="T5" fmla="*/ 7 h 16"/>
                  <a:gd name="T6" fmla="*/ 0 w 9"/>
                  <a:gd name="T7" fmla="*/ 13 h 16"/>
                  <a:gd name="T8" fmla="*/ 0 w 9"/>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6">
                    <a:moveTo>
                      <a:pt x="9" y="0"/>
                    </a:moveTo>
                    <a:lnTo>
                      <a:pt x="6" y="2"/>
                    </a:lnTo>
                    <a:lnTo>
                      <a:pt x="2" y="7"/>
                    </a:lnTo>
                    <a:lnTo>
                      <a:pt x="0" y="13"/>
                    </a:lnTo>
                    <a:lnTo>
                      <a:pt x="0"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24" name="Line 831"/>
              <p:cNvSpPr>
                <a:spLocks noChangeShapeType="1"/>
              </p:cNvSpPr>
              <p:nvPr userDrawn="1"/>
            </p:nvSpPr>
            <p:spPr bwMode="gray">
              <a:xfrm flipH="1" flipV="1">
                <a:off x="2114" y="1301"/>
                <a:ext cx="187" cy="6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25" name="Freeform 832"/>
              <p:cNvSpPr>
                <a:spLocks/>
              </p:cNvSpPr>
              <p:nvPr userDrawn="1"/>
            </p:nvSpPr>
            <p:spPr bwMode="gray">
              <a:xfrm>
                <a:off x="2114" y="1284"/>
                <a:ext cx="9" cy="17"/>
              </a:xfrm>
              <a:custGeom>
                <a:avLst/>
                <a:gdLst>
                  <a:gd name="T0" fmla="*/ 0 w 9"/>
                  <a:gd name="T1" fmla="*/ 17 h 17"/>
                  <a:gd name="T2" fmla="*/ 0 w 9"/>
                  <a:gd name="T3" fmla="*/ 12 h 17"/>
                  <a:gd name="T4" fmla="*/ 2 w 9"/>
                  <a:gd name="T5" fmla="*/ 7 h 17"/>
                  <a:gd name="T6" fmla="*/ 5 w 9"/>
                  <a:gd name="T7" fmla="*/ 3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0" y="12"/>
                    </a:lnTo>
                    <a:lnTo>
                      <a:pt x="2" y="7"/>
                    </a:lnTo>
                    <a:lnTo>
                      <a:pt x="5" y="3"/>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26" name="Line 833"/>
              <p:cNvSpPr>
                <a:spLocks noChangeShapeType="1"/>
              </p:cNvSpPr>
              <p:nvPr userDrawn="1"/>
            </p:nvSpPr>
            <p:spPr bwMode="gray">
              <a:xfrm flipV="1">
                <a:off x="2317" y="1342"/>
                <a:ext cx="28" cy="1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27" name="Line 834"/>
              <p:cNvSpPr>
                <a:spLocks noChangeShapeType="1"/>
              </p:cNvSpPr>
              <p:nvPr userDrawn="1"/>
            </p:nvSpPr>
            <p:spPr bwMode="gray">
              <a:xfrm flipV="1">
                <a:off x="2310" y="1331"/>
                <a:ext cx="35" cy="19"/>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28" name="Line 835"/>
              <p:cNvSpPr>
                <a:spLocks noChangeShapeType="1"/>
              </p:cNvSpPr>
              <p:nvPr userDrawn="1"/>
            </p:nvSpPr>
            <p:spPr bwMode="gray">
              <a:xfrm flipH="1">
                <a:off x="2321" y="1354"/>
                <a:ext cx="24" cy="12"/>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29" name="Freeform 836"/>
              <p:cNvSpPr>
                <a:spLocks/>
              </p:cNvSpPr>
              <p:nvPr userDrawn="1"/>
            </p:nvSpPr>
            <p:spPr bwMode="gray">
              <a:xfrm>
                <a:off x="2310" y="1350"/>
                <a:ext cx="11" cy="16"/>
              </a:xfrm>
              <a:custGeom>
                <a:avLst/>
                <a:gdLst>
                  <a:gd name="T0" fmla="*/ 0 w 11"/>
                  <a:gd name="T1" fmla="*/ 0 h 16"/>
                  <a:gd name="T2" fmla="*/ 4 w 11"/>
                  <a:gd name="T3" fmla="*/ 2 h 16"/>
                  <a:gd name="T4" fmla="*/ 7 w 11"/>
                  <a:gd name="T5" fmla="*/ 6 h 16"/>
                  <a:gd name="T6" fmla="*/ 11 w 11"/>
                  <a:gd name="T7" fmla="*/ 11 h 16"/>
                  <a:gd name="T8" fmla="*/ 11 w 11"/>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0" y="0"/>
                    </a:moveTo>
                    <a:lnTo>
                      <a:pt x="4" y="2"/>
                    </a:lnTo>
                    <a:lnTo>
                      <a:pt x="7" y="6"/>
                    </a:lnTo>
                    <a:lnTo>
                      <a:pt x="11" y="11"/>
                    </a:lnTo>
                    <a:lnTo>
                      <a:pt x="11"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30" name="Freeform 837"/>
              <p:cNvSpPr>
                <a:spLocks/>
              </p:cNvSpPr>
              <p:nvPr userDrawn="1"/>
            </p:nvSpPr>
            <p:spPr bwMode="gray">
              <a:xfrm>
                <a:off x="2114" y="1403"/>
                <a:ext cx="4" cy="9"/>
              </a:xfrm>
              <a:custGeom>
                <a:avLst/>
                <a:gdLst>
                  <a:gd name="T0" fmla="*/ 2 w 4"/>
                  <a:gd name="T1" fmla="*/ 0 h 9"/>
                  <a:gd name="T2" fmla="*/ 0 w 4"/>
                  <a:gd name="T3" fmla="*/ 3 h 9"/>
                  <a:gd name="T4" fmla="*/ 0 w 4"/>
                  <a:gd name="T5" fmla="*/ 5 h 9"/>
                  <a:gd name="T6" fmla="*/ 0 w 4"/>
                  <a:gd name="T7" fmla="*/ 7 h 9"/>
                  <a:gd name="T8" fmla="*/ 4 w 4"/>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9">
                    <a:moveTo>
                      <a:pt x="2" y="0"/>
                    </a:moveTo>
                    <a:lnTo>
                      <a:pt x="0" y="3"/>
                    </a:lnTo>
                    <a:lnTo>
                      <a:pt x="0" y="5"/>
                    </a:lnTo>
                    <a:lnTo>
                      <a:pt x="0" y="7"/>
                    </a:lnTo>
                    <a:lnTo>
                      <a:pt x="4"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31" name="Line 838"/>
              <p:cNvSpPr>
                <a:spLocks noChangeShapeType="1"/>
              </p:cNvSpPr>
              <p:nvPr userDrawn="1"/>
            </p:nvSpPr>
            <p:spPr bwMode="gray">
              <a:xfrm flipH="1" flipV="1">
                <a:off x="2111" y="1298"/>
                <a:ext cx="5" cy="22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32" name="Line 839"/>
              <p:cNvSpPr>
                <a:spLocks noChangeShapeType="1"/>
              </p:cNvSpPr>
              <p:nvPr userDrawn="1"/>
            </p:nvSpPr>
            <p:spPr bwMode="gray">
              <a:xfrm flipH="1" flipV="1">
                <a:off x="2112" y="1293"/>
                <a:ext cx="7" cy="22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33" name="Freeform 840"/>
              <p:cNvSpPr>
                <a:spLocks/>
              </p:cNvSpPr>
              <p:nvPr userDrawn="1"/>
            </p:nvSpPr>
            <p:spPr bwMode="gray">
              <a:xfrm>
                <a:off x="2111" y="1293"/>
                <a:ext cx="3" cy="8"/>
              </a:xfrm>
              <a:custGeom>
                <a:avLst/>
                <a:gdLst>
                  <a:gd name="T0" fmla="*/ 1 w 3"/>
                  <a:gd name="T1" fmla="*/ 0 h 8"/>
                  <a:gd name="T2" fmla="*/ 0 w 3"/>
                  <a:gd name="T3" fmla="*/ 1 h 8"/>
                  <a:gd name="T4" fmla="*/ 0 w 3"/>
                  <a:gd name="T5" fmla="*/ 5 h 8"/>
                  <a:gd name="T6" fmla="*/ 1 w 3"/>
                  <a:gd name="T7" fmla="*/ 7 h 8"/>
                  <a:gd name="T8" fmla="*/ 3 w 3"/>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8">
                    <a:moveTo>
                      <a:pt x="1" y="0"/>
                    </a:moveTo>
                    <a:lnTo>
                      <a:pt x="0" y="1"/>
                    </a:lnTo>
                    <a:lnTo>
                      <a:pt x="0" y="5"/>
                    </a:lnTo>
                    <a:lnTo>
                      <a:pt x="1" y="7"/>
                    </a:lnTo>
                    <a:lnTo>
                      <a:pt x="3"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34" name="Line 841"/>
              <p:cNvSpPr>
                <a:spLocks noChangeShapeType="1"/>
              </p:cNvSpPr>
              <p:nvPr userDrawn="1"/>
            </p:nvSpPr>
            <p:spPr bwMode="gray">
              <a:xfrm>
                <a:off x="2114" y="1301"/>
                <a:ext cx="7" cy="221"/>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35" name="Freeform 842"/>
              <p:cNvSpPr>
                <a:spLocks/>
              </p:cNvSpPr>
              <p:nvPr userDrawn="1"/>
            </p:nvSpPr>
            <p:spPr bwMode="gray">
              <a:xfrm>
                <a:off x="2116" y="1513"/>
                <a:ext cx="5" cy="9"/>
              </a:xfrm>
              <a:custGeom>
                <a:avLst/>
                <a:gdLst>
                  <a:gd name="T0" fmla="*/ 5 w 5"/>
                  <a:gd name="T1" fmla="*/ 9 h 9"/>
                  <a:gd name="T2" fmla="*/ 2 w 5"/>
                  <a:gd name="T3" fmla="*/ 7 h 9"/>
                  <a:gd name="T4" fmla="*/ 0 w 5"/>
                  <a:gd name="T5" fmla="*/ 5 h 9"/>
                  <a:gd name="T6" fmla="*/ 2 w 5"/>
                  <a:gd name="T7" fmla="*/ 2 h 9"/>
                  <a:gd name="T8" fmla="*/ 3 w 5"/>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9">
                    <a:moveTo>
                      <a:pt x="5" y="9"/>
                    </a:moveTo>
                    <a:lnTo>
                      <a:pt x="2" y="7"/>
                    </a:lnTo>
                    <a:lnTo>
                      <a:pt x="0" y="5"/>
                    </a:lnTo>
                    <a:lnTo>
                      <a:pt x="2" y="2"/>
                    </a:lnTo>
                    <a:lnTo>
                      <a:pt x="3"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36" name="Freeform 843"/>
              <p:cNvSpPr>
                <a:spLocks/>
              </p:cNvSpPr>
              <p:nvPr userDrawn="1"/>
            </p:nvSpPr>
            <p:spPr bwMode="gray">
              <a:xfrm>
                <a:off x="3526" y="1214"/>
                <a:ext cx="14" cy="12"/>
              </a:xfrm>
              <a:custGeom>
                <a:avLst/>
                <a:gdLst>
                  <a:gd name="T0" fmla="*/ 14 w 14"/>
                  <a:gd name="T1" fmla="*/ 12 h 12"/>
                  <a:gd name="T2" fmla="*/ 14 w 14"/>
                  <a:gd name="T3" fmla="*/ 9 h 12"/>
                  <a:gd name="T4" fmla="*/ 10 w 14"/>
                  <a:gd name="T5" fmla="*/ 5 h 12"/>
                  <a:gd name="T6" fmla="*/ 8 w 14"/>
                  <a:gd name="T7" fmla="*/ 2 h 12"/>
                  <a:gd name="T8" fmla="*/ 5 w 14"/>
                  <a:gd name="T9" fmla="*/ 0 h 12"/>
                  <a:gd name="T10" fmla="*/ 0 w 14"/>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 h="12">
                    <a:moveTo>
                      <a:pt x="14" y="12"/>
                    </a:moveTo>
                    <a:lnTo>
                      <a:pt x="14" y="9"/>
                    </a:lnTo>
                    <a:lnTo>
                      <a:pt x="10" y="5"/>
                    </a:lnTo>
                    <a:lnTo>
                      <a:pt x="8" y="2"/>
                    </a:lnTo>
                    <a:lnTo>
                      <a:pt x="5" y="0"/>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37" name="Freeform 844"/>
              <p:cNvSpPr>
                <a:spLocks/>
              </p:cNvSpPr>
              <p:nvPr userDrawn="1"/>
            </p:nvSpPr>
            <p:spPr bwMode="gray">
              <a:xfrm>
                <a:off x="3533" y="1216"/>
                <a:ext cx="5" cy="8"/>
              </a:xfrm>
              <a:custGeom>
                <a:avLst/>
                <a:gdLst>
                  <a:gd name="T0" fmla="*/ 0 w 5"/>
                  <a:gd name="T1" fmla="*/ 0 h 8"/>
                  <a:gd name="T2" fmla="*/ 1 w 5"/>
                  <a:gd name="T3" fmla="*/ 0 h 8"/>
                  <a:gd name="T4" fmla="*/ 3 w 5"/>
                  <a:gd name="T5" fmla="*/ 1 h 8"/>
                  <a:gd name="T6" fmla="*/ 3 w 5"/>
                  <a:gd name="T7" fmla="*/ 3 h 8"/>
                  <a:gd name="T8" fmla="*/ 5 w 5"/>
                  <a:gd name="T9" fmla="*/ 5 h 8"/>
                  <a:gd name="T10" fmla="*/ 3 w 5"/>
                  <a:gd name="T11" fmla="*/ 8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8">
                    <a:moveTo>
                      <a:pt x="0" y="0"/>
                    </a:moveTo>
                    <a:lnTo>
                      <a:pt x="1" y="0"/>
                    </a:lnTo>
                    <a:lnTo>
                      <a:pt x="3" y="1"/>
                    </a:lnTo>
                    <a:lnTo>
                      <a:pt x="3" y="3"/>
                    </a:lnTo>
                    <a:lnTo>
                      <a:pt x="5" y="5"/>
                    </a:lnTo>
                    <a:lnTo>
                      <a:pt x="3"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38" name="Freeform 845"/>
              <p:cNvSpPr>
                <a:spLocks/>
              </p:cNvSpPr>
              <p:nvPr userDrawn="1"/>
            </p:nvSpPr>
            <p:spPr bwMode="gray">
              <a:xfrm>
                <a:off x="2142" y="1686"/>
                <a:ext cx="7" cy="16"/>
              </a:xfrm>
              <a:custGeom>
                <a:avLst/>
                <a:gdLst>
                  <a:gd name="T0" fmla="*/ 2 w 7"/>
                  <a:gd name="T1" fmla="*/ 0 h 16"/>
                  <a:gd name="T2" fmla="*/ 0 w 7"/>
                  <a:gd name="T3" fmla="*/ 4 h 16"/>
                  <a:gd name="T4" fmla="*/ 0 w 7"/>
                  <a:gd name="T5" fmla="*/ 7 h 16"/>
                  <a:gd name="T6" fmla="*/ 2 w 7"/>
                  <a:gd name="T7" fmla="*/ 12 h 16"/>
                  <a:gd name="T8" fmla="*/ 4 w 7"/>
                  <a:gd name="T9" fmla="*/ 14 h 16"/>
                  <a:gd name="T10" fmla="*/ 7 w 7"/>
                  <a:gd name="T11" fmla="*/ 16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6">
                    <a:moveTo>
                      <a:pt x="2" y="0"/>
                    </a:moveTo>
                    <a:lnTo>
                      <a:pt x="0" y="4"/>
                    </a:lnTo>
                    <a:lnTo>
                      <a:pt x="0" y="7"/>
                    </a:lnTo>
                    <a:lnTo>
                      <a:pt x="2" y="12"/>
                    </a:lnTo>
                    <a:lnTo>
                      <a:pt x="4" y="14"/>
                    </a:lnTo>
                    <a:lnTo>
                      <a:pt x="7"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39" name="Freeform 846"/>
              <p:cNvSpPr>
                <a:spLocks/>
              </p:cNvSpPr>
              <p:nvPr userDrawn="1"/>
            </p:nvSpPr>
            <p:spPr bwMode="gray">
              <a:xfrm>
                <a:off x="2142" y="1693"/>
                <a:ext cx="9" cy="5"/>
              </a:xfrm>
              <a:custGeom>
                <a:avLst/>
                <a:gdLst>
                  <a:gd name="T0" fmla="*/ 9 w 9"/>
                  <a:gd name="T1" fmla="*/ 5 h 5"/>
                  <a:gd name="T2" fmla="*/ 5 w 9"/>
                  <a:gd name="T3" fmla="*/ 5 h 5"/>
                  <a:gd name="T4" fmla="*/ 2 w 9"/>
                  <a:gd name="T5" fmla="*/ 5 h 5"/>
                  <a:gd name="T6" fmla="*/ 0 w 9"/>
                  <a:gd name="T7" fmla="*/ 2 h 5"/>
                  <a:gd name="T8" fmla="*/ 0 w 9"/>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5">
                    <a:moveTo>
                      <a:pt x="9" y="5"/>
                    </a:moveTo>
                    <a:lnTo>
                      <a:pt x="5" y="5"/>
                    </a:lnTo>
                    <a:lnTo>
                      <a:pt x="2" y="5"/>
                    </a:lnTo>
                    <a:lnTo>
                      <a:pt x="0"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40" name="Freeform 847"/>
              <p:cNvSpPr>
                <a:spLocks/>
              </p:cNvSpPr>
              <p:nvPr userDrawn="1"/>
            </p:nvSpPr>
            <p:spPr bwMode="gray">
              <a:xfrm>
                <a:off x="2779" y="1933"/>
                <a:ext cx="17" cy="7"/>
              </a:xfrm>
              <a:custGeom>
                <a:avLst/>
                <a:gdLst>
                  <a:gd name="T0" fmla="*/ 0 w 17"/>
                  <a:gd name="T1" fmla="*/ 0 h 7"/>
                  <a:gd name="T2" fmla="*/ 2 w 17"/>
                  <a:gd name="T3" fmla="*/ 3 h 7"/>
                  <a:gd name="T4" fmla="*/ 5 w 17"/>
                  <a:gd name="T5" fmla="*/ 5 h 7"/>
                  <a:gd name="T6" fmla="*/ 10 w 17"/>
                  <a:gd name="T7" fmla="*/ 7 h 7"/>
                  <a:gd name="T8" fmla="*/ 14 w 17"/>
                  <a:gd name="T9" fmla="*/ 7 h 7"/>
                  <a:gd name="T10" fmla="*/ 17 w 17"/>
                  <a:gd name="T11" fmla="*/ 7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 h="7">
                    <a:moveTo>
                      <a:pt x="0" y="0"/>
                    </a:moveTo>
                    <a:lnTo>
                      <a:pt x="2" y="3"/>
                    </a:lnTo>
                    <a:lnTo>
                      <a:pt x="5" y="5"/>
                    </a:lnTo>
                    <a:lnTo>
                      <a:pt x="10" y="7"/>
                    </a:lnTo>
                    <a:lnTo>
                      <a:pt x="14" y="7"/>
                    </a:lnTo>
                    <a:lnTo>
                      <a:pt x="17"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41" name="Freeform 848"/>
              <p:cNvSpPr>
                <a:spLocks/>
              </p:cNvSpPr>
              <p:nvPr userDrawn="1"/>
            </p:nvSpPr>
            <p:spPr bwMode="gray">
              <a:xfrm>
                <a:off x="2784" y="1933"/>
                <a:ext cx="11" cy="8"/>
              </a:xfrm>
              <a:custGeom>
                <a:avLst/>
                <a:gdLst>
                  <a:gd name="T0" fmla="*/ 0 w 11"/>
                  <a:gd name="T1" fmla="*/ 8 h 8"/>
                  <a:gd name="T2" fmla="*/ 2 w 11"/>
                  <a:gd name="T3" fmla="*/ 8 h 8"/>
                  <a:gd name="T4" fmla="*/ 5 w 11"/>
                  <a:gd name="T5" fmla="*/ 7 h 8"/>
                  <a:gd name="T6" fmla="*/ 7 w 11"/>
                  <a:gd name="T7" fmla="*/ 5 h 8"/>
                  <a:gd name="T8" fmla="*/ 11 w 11"/>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8">
                    <a:moveTo>
                      <a:pt x="0" y="8"/>
                    </a:moveTo>
                    <a:lnTo>
                      <a:pt x="2" y="8"/>
                    </a:lnTo>
                    <a:lnTo>
                      <a:pt x="5" y="7"/>
                    </a:lnTo>
                    <a:lnTo>
                      <a:pt x="7" y="5"/>
                    </a:lnTo>
                    <a:lnTo>
                      <a:pt x="1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42" name="Freeform 849"/>
              <p:cNvSpPr>
                <a:spLocks/>
              </p:cNvSpPr>
              <p:nvPr userDrawn="1"/>
            </p:nvSpPr>
            <p:spPr bwMode="gray">
              <a:xfrm>
                <a:off x="2135" y="1452"/>
                <a:ext cx="12" cy="14"/>
              </a:xfrm>
              <a:custGeom>
                <a:avLst/>
                <a:gdLst>
                  <a:gd name="T0" fmla="*/ 0 w 12"/>
                  <a:gd name="T1" fmla="*/ 14 h 14"/>
                  <a:gd name="T2" fmla="*/ 0 w 12"/>
                  <a:gd name="T3" fmla="*/ 8 h 14"/>
                  <a:gd name="T4" fmla="*/ 4 w 12"/>
                  <a:gd name="T5" fmla="*/ 3 h 14"/>
                  <a:gd name="T6" fmla="*/ 7 w 12"/>
                  <a:gd name="T7" fmla="*/ 2 h 14"/>
                  <a:gd name="T8" fmla="*/ 12 w 12"/>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4">
                    <a:moveTo>
                      <a:pt x="0" y="14"/>
                    </a:moveTo>
                    <a:lnTo>
                      <a:pt x="0" y="8"/>
                    </a:lnTo>
                    <a:lnTo>
                      <a:pt x="4" y="3"/>
                    </a:lnTo>
                    <a:lnTo>
                      <a:pt x="7" y="2"/>
                    </a:lnTo>
                    <a:lnTo>
                      <a:pt x="1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43" name="Freeform 850"/>
              <p:cNvSpPr>
                <a:spLocks/>
              </p:cNvSpPr>
              <p:nvPr userDrawn="1"/>
            </p:nvSpPr>
            <p:spPr bwMode="gray">
              <a:xfrm>
                <a:off x="2137" y="1455"/>
                <a:ext cx="3" cy="7"/>
              </a:xfrm>
              <a:custGeom>
                <a:avLst/>
                <a:gdLst>
                  <a:gd name="T0" fmla="*/ 3 w 3"/>
                  <a:gd name="T1" fmla="*/ 7 h 7"/>
                  <a:gd name="T2" fmla="*/ 2 w 3"/>
                  <a:gd name="T3" fmla="*/ 5 h 7"/>
                  <a:gd name="T4" fmla="*/ 0 w 3"/>
                  <a:gd name="T5" fmla="*/ 2 h 7"/>
                  <a:gd name="T6" fmla="*/ 0 w 3"/>
                  <a:gd name="T7" fmla="*/ 0 h 7"/>
                  <a:gd name="T8" fmla="*/ 2 w 3"/>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7">
                    <a:moveTo>
                      <a:pt x="3" y="7"/>
                    </a:moveTo>
                    <a:lnTo>
                      <a:pt x="2" y="5"/>
                    </a:lnTo>
                    <a:lnTo>
                      <a:pt x="0" y="2"/>
                    </a:lnTo>
                    <a:lnTo>
                      <a:pt x="0" y="0"/>
                    </a:lnTo>
                    <a:lnTo>
                      <a:pt x="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44" name="Freeform 851"/>
              <p:cNvSpPr>
                <a:spLocks/>
              </p:cNvSpPr>
              <p:nvPr userDrawn="1"/>
            </p:nvSpPr>
            <p:spPr bwMode="gray">
              <a:xfrm>
                <a:off x="2788" y="1683"/>
                <a:ext cx="1" cy="19"/>
              </a:xfrm>
              <a:custGeom>
                <a:avLst/>
                <a:gdLst>
                  <a:gd name="T0" fmla="*/ 1 w 1"/>
                  <a:gd name="T1" fmla="*/ 19 h 19"/>
                  <a:gd name="T2" fmla="*/ 1 w 1"/>
                  <a:gd name="T3" fmla="*/ 14 h 19"/>
                  <a:gd name="T4" fmla="*/ 1 w 1"/>
                  <a:gd name="T5" fmla="*/ 10 h 19"/>
                  <a:gd name="T6" fmla="*/ 0 w 1"/>
                  <a:gd name="T7" fmla="*/ 5 h 19"/>
                  <a:gd name="T8" fmla="*/ 0 w 1"/>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9">
                    <a:moveTo>
                      <a:pt x="1" y="19"/>
                    </a:moveTo>
                    <a:lnTo>
                      <a:pt x="1" y="14"/>
                    </a:lnTo>
                    <a:lnTo>
                      <a:pt x="1" y="10"/>
                    </a:lnTo>
                    <a:lnTo>
                      <a:pt x="0"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45" name="Freeform 852"/>
              <p:cNvSpPr>
                <a:spLocks/>
              </p:cNvSpPr>
              <p:nvPr userDrawn="1"/>
            </p:nvSpPr>
            <p:spPr bwMode="gray">
              <a:xfrm>
                <a:off x="2779" y="1693"/>
                <a:ext cx="19" cy="1"/>
              </a:xfrm>
              <a:custGeom>
                <a:avLst/>
                <a:gdLst>
                  <a:gd name="T0" fmla="*/ 19 w 19"/>
                  <a:gd name="T1" fmla="*/ 0 h 1"/>
                  <a:gd name="T2" fmla="*/ 14 w 19"/>
                  <a:gd name="T3" fmla="*/ 0 h 1"/>
                  <a:gd name="T4" fmla="*/ 10 w 19"/>
                  <a:gd name="T5" fmla="*/ 0 h 1"/>
                  <a:gd name="T6" fmla="*/ 5 w 19"/>
                  <a:gd name="T7" fmla="*/ 0 h 1"/>
                  <a:gd name="T8" fmla="*/ 0 w 19"/>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
                    <a:moveTo>
                      <a:pt x="19" y="0"/>
                    </a:moveTo>
                    <a:lnTo>
                      <a:pt x="14" y="0"/>
                    </a:lnTo>
                    <a:lnTo>
                      <a:pt x="10" y="0"/>
                    </a:lnTo>
                    <a:lnTo>
                      <a:pt x="5" y="0"/>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46" name="Freeform 853"/>
              <p:cNvSpPr>
                <a:spLocks/>
              </p:cNvSpPr>
              <p:nvPr userDrawn="1"/>
            </p:nvSpPr>
            <p:spPr bwMode="gray">
              <a:xfrm>
                <a:off x="2359" y="2013"/>
                <a:ext cx="7" cy="18"/>
              </a:xfrm>
              <a:custGeom>
                <a:avLst/>
                <a:gdLst>
                  <a:gd name="T0" fmla="*/ 2 w 7"/>
                  <a:gd name="T1" fmla="*/ 0 h 18"/>
                  <a:gd name="T2" fmla="*/ 0 w 7"/>
                  <a:gd name="T3" fmla="*/ 5 h 18"/>
                  <a:gd name="T4" fmla="*/ 0 w 7"/>
                  <a:gd name="T5" fmla="*/ 9 h 18"/>
                  <a:gd name="T6" fmla="*/ 2 w 7"/>
                  <a:gd name="T7" fmla="*/ 12 h 18"/>
                  <a:gd name="T8" fmla="*/ 4 w 7"/>
                  <a:gd name="T9" fmla="*/ 16 h 18"/>
                  <a:gd name="T10" fmla="*/ 7 w 7"/>
                  <a:gd name="T11" fmla="*/ 18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8">
                    <a:moveTo>
                      <a:pt x="2" y="0"/>
                    </a:moveTo>
                    <a:lnTo>
                      <a:pt x="0" y="5"/>
                    </a:lnTo>
                    <a:lnTo>
                      <a:pt x="0" y="9"/>
                    </a:lnTo>
                    <a:lnTo>
                      <a:pt x="2" y="12"/>
                    </a:lnTo>
                    <a:lnTo>
                      <a:pt x="4" y="16"/>
                    </a:lnTo>
                    <a:lnTo>
                      <a:pt x="7" y="1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47" name="Freeform 854"/>
              <p:cNvSpPr>
                <a:spLocks/>
              </p:cNvSpPr>
              <p:nvPr userDrawn="1"/>
            </p:nvSpPr>
            <p:spPr bwMode="gray">
              <a:xfrm>
                <a:off x="2359" y="2020"/>
                <a:ext cx="9" cy="7"/>
              </a:xfrm>
              <a:custGeom>
                <a:avLst/>
                <a:gdLst>
                  <a:gd name="T0" fmla="*/ 9 w 9"/>
                  <a:gd name="T1" fmla="*/ 7 h 7"/>
                  <a:gd name="T2" fmla="*/ 5 w 9"/>
                  <a:gd name="T3" fmla="*/ 7 h 7"/>
                  <a:gd name="T4" fmla="*/ 2 w 9"/>
                  <a:gd name="T5" fmla="*/ 5 h 7"/>
                  <a:gd name="T6" fmla="*/ 0 w 9"/>
                  <a:gd name="T7" fmla="*/ 4 h 7"/>
                  <a:gd name="T8" fmla="*/ 0 w 9"/>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7">
                    <a:moveTo>
                      <a:pt x="9" y="7"/>
                    </a:moveTo>
                    <a:lnTo>
                      <a:pt x="5" y="7"/>
                    </a:lnTo>
                    <a:lnTo>
                      <a:pt x="2" y="5"/>
                    </a:lnTo>
                    <a:lnTo>
                      <a:pt x="0"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48" name="Freeform 855"/>
              <p:cNvSpPr>
                <a:spLocks/>
              </p:cNvSpPr>
              <p:nvPr userDrawn="1"/>
            </p:nvSpPr>
            <p:spPr bwMode="gray">
              <a:xfrm>
                <a:off x="2345" y="1277"/>
                <a:ext cx="7" cy="3"/>
              </a:xfrm>
              <a:custGeom>
                <a:avLst/>
                <a:gdLst>
                  <a:gd name="T0" fmla="*/ 2 w 7"/>
                  <a:gd name="T1" fmla="*/ 3 h 3"/>
                  <a:gd name="T2" fmla="*/ 2 w 7"/>
                  <a:gd name="T3" fmla="*/ 2 h 3"/>
                  <a:gd name="T4" fmla="*/ 0 w 7"/>
                  <a:gd name="T5" fmla="*/ 0 h 3"/>
                  <a:gd name="T6" fmla="*/ 0 w 7"/>
                  <a:gd name="T7" fmla="*/ 0 h 3"/>
                  <a:gd name="T8" fmla="*/ 2 w 7"/>
                  <a:gd name="T9" fmla="*/ 0 h 3"/>
                  <a:gd name="T10" fmla="*/ 4 w 7"/>
                  <a:gd name="T11" fmla="*/ 0 h 3"/>
                  <a:gd name="T12" fmla="*/ 7 w 7"/>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 h="3">
                    <a:moveTo>
                      <a:pt x="2" y="3"/>
                    </a:moveTo>
                    <a:lnTo>
                      <a:pt x="2" y="2"/>
                    </a:lnTo>
                    <a:lnTo>
                      <a:pt x="0" y="0"/>
                    </a:lnTo>
                    <a:lnTo>
                      <a:pt x="2" y="0"/>
                    </a:lnTo>
                    <a:lnTo>
                      <a:pt x="4" y="0"/>
                    </a:lnTo>
                    <a:lnTo>
                      <a:pt x="7"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49" name="Freeform 856"/>
              <p:cNvSpPr>
                <a:spLocks/>
              </p:cNvSpPr>
              <p:nvPr userDrawn="1"/>
            </p:nvSpPr>
            <p:spPr bwMode="gray">
              <a:xfrm>
                <a:off x="2345" y="1270"/>
                <a:ext cx="9" cy="16"/>
              </a:xfrm>
              <a:custGeom>
                <a:avLst/>
                <a:gdLst>
                  <a:gd name="T0" fmla="*/ 0 w 9"/>
                  <a:gd name="T1" fmla="*/ 16 h 16"/>
                  <a:gd name="T2" fmla="*/ 0 w 9"/>
                  <a:gd name="T3" fmla="*/ 10 h 16"/>
                  <a:gd name="T4" fmla="*/ 2 w 9"/>
                  <a:gd name="T5" fmla="*/ 7 h 16"/>
                  <a:gd name="T6" fmla="*/ 4 w 9"/>
                  <a:gd name="T7" fmla="*/ 3 h 16"/>
                  <a:gd name="T8" fmla="*/ 9 w 9"/>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6">
                    <a:moveTo>
                      <a:pt x="0" y="16"/>
                    </a:moveTo>
                    <a:lnTo>
                      <a:pt x="0" y="10"/>
                    </a:lnTo>
                    <a:lnTo>
                      <a:pt x="2" y="7"/>
                    </a:lnTo>
                    <a:lnTo>
                      <a:pt x="4" y="3"/>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50" name="Freeform 857"/>
              <p:cNvSpPr>
                <a:spLocks/>
              </p:cNvSpPr>
              <p:nvPr userDrawn="1"/>
            </p:nvSpPr>
            <p:spPr bwMode="gray">
              <a:xfrm>
                <a:off x="2565" y="2101"/>
                <a:ext cx="2" cy="7"/>
              </a:xfrm>
              <a:custGeom>
                <a:avLst/>
                <a:gdLst>
                  <a:gd name="T0" fmla="*/ 0 w 2"/>
                  <a:gd name="T1" fmla="*/ 5 h 7"/>
                  <a:gd name="T2" fmla="*/ 2 w 2"/>
                  <a:gd name="T3" fmla="*/ 7 h 7"/>
                  <a:gd name="T4" fmla="*/ 2 w 2"/>
                  <a:gd name="T5" fmla="*/ 7 h 7"/>
                  <a:gd name="T6" fmla="*/ 2 w 2"/>
                  <a:gd name="T7" fmla="*/ 7 h 7"/>
                  <a:gd name="T8" fmla="*/ 2 w 2"/>
                  <a:gd name="T9" fmla="*/ 7 h 7"/>
                  <a:gd name="T10" fmla="*/ 2 w 2"/>
                  <a:gd name="T11" fmla="*/ 5 h 7"/>
                  <a:gd name="T12" fmla="*/ 2 w 2"/>
                  <a:gd name="T13" fmla="*/ 3 h 7"/>
                  <a:gd name="T14" fmla="*/ 2 w 2"/>
                  <a:gd name="T15" fmla="*/ 0 h 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 h="7">
                    <a:moveTo>
                      <a:pt x="0" y="5"/>
                    </a:moveTo>
                    <a:lnTo>
                      <a:pt x="2" y="7"/>
                    </a:lnTo>
                    <a:lnTo>
                      <a:pt x="2" y="5"/>
                    </a:lnTo>
                    <a:lnTo>
                      <a:pt x="2" y="3"/>
                    </a:lnTo>
                    <a:lnTo>
                      <a:pt x="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51" name="Freeform 858"/>
              <p:cNvSpPr>
                <a:spLocks/>
              </p:cNvSpPr>
              <p:nvPr userDrawn="1"/>
            </p:nvSpPr>
            <p:spPr bwMode="gray">
              <a:xfrm>
                <a:off x="2558" y="2102"/>
                <a:ext cx="18" cy="4"/>
              </a:xfrm>
              <a:custGeom>
                <a:avLst/>
                <a:gdLst>
                  <a:gd name="T0" fmla="*/ 18 w 18"/>
                  <a:gd name="T1" fmla="*/ 0 h 4"/>
                  <a:gd name="T2" fmla="*/ 14 w 18"/>
                  <a:gd name="T3" fmla="*/ 4 h 4"/>
                  <a:gd name="T4" fmla="*/ 9 w 18"/>
                  <a:gd name="T5" fmla="*/ 4 h 4"/>
                  <a:gd name="T6" fmla="*/ 4 w 18"/>
                  <a:gd name="T7" fmla="*/ 4 h 4"/>
                  <a:gd name="T8" fmla="*/ 0 w 18"/>
                  <a:gd name="T9" fmla="*/ 2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4">
                    <a:moveTo>
                      <a:pt x="18" y="0"/>
                    </a:moveTo>
                    <a:lnTo>
                      <a:pt x="14" y="4"/>
                    </a:lnTo>
                    <a:lnTo>
                      <a:pt x="9" y="4"/>
                    </a:lnTo>
                    <a:lnTo>
                      <a:pt x="4" y="4"/>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52" name="Freeform 859"/>
              <p:cNvSpPr>
                <a:spLocks/>
              </p:cNvSpPr>
              <p:nvPr userDrawn="1"/>
            </p:nvSpPr>
            <p:spPr bwMode="gray">
              <a:xfrm>
                <a:off x="2558" y="1340"/>
                <a:ext cx="2" cy="19"/>
              </a:xfrm>
              <a:custGeom>
                <a:avLst/>
                <a:gdLst>
                  <a:gd name="T0" fmla="*/ 2 w 2"/>
                  <a:gd name="T1" fmla="*/ 19 h 19"/>
                  <a:gd name="T2" fmla="*/ 2 w 2"/>
                  <a:gd name="T3" fmla="*/ 14 h 19"/>
                  <a:gd name="T4" fmla="*/ 2 w 2"/>
                  <a:gd name="T5" fmla="*/ 10 h 19"/>
                  <a:gd name="T6" fmla="*/ 2 w 2"/>
                  <a:gd name="T7" fmla="*/ 5 h 19"/>
                  <a:gd name="T8" fmla="*/ 0 w 2"/>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19">
                    <a:moveTo>
                      <a:pt x="2" y="19"/>
                    </a:moveTo>
                    <a:lnTo>
                      <a:pt x="2" y="14"/>
                    </a:lnTo>
                    <a:lnTo>
                      <a:pt x="2" y="10"/>
                    </a:lnTo>
                    <a:lnTo>
                      <a:pt x="2"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53" name="Freeform 860"/>
              <p:cNvSpPr>
                <a:spLocks/>
              </p:cNvSpPr>
              <p:nvPr userDrawn="1"/>
            </p:nvSpPr>
            <p:spPr bwMode="gray">
              <a:xfrm>
                <a:off x="2550" y="1350"/>
                <a:ext cx="19" cy="1"/>
              </a:xfrm>
              <a:custGeom>
                <a:avLst/>
                <a:gdLst>
                  <a:gd name="T0" fmla="*/ 19 w 19"/>
                  <a:gd name="T1" fmla="*/ 0 h 1"/>
                  <a:gd name="T2" fmla="*/ 14 w 19"/>
                  <a:gd name="T3" fmla="*/ 0 h 1"/>
                  <a:gd name="T4" fmla="*/ 10 w 19"/>
                  <a:gd name="T5" fmla="*/ 0 h 1"/>
                  <a:gd name="T6" fmla="*/ 5 w 19"/>
                  <a:gd name="T7" fmla="*/ 0 h 1"/>
                  <a:gd name="T8" fmla="*/ 0 w 19"/>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
                    <a:moveTo>
                      <a:pt x="19" y="0"/>
                    </a:moveTo>
                    <a:lnTo>
                      <a:pt x="14" y="0"/>
                    </a:lnTo>
                    <a:lnTo>
                      <a:pt x="10" y="0"/>
                    </a:lnTo>
                    <a:lnTo>
                      <a:pt x="5" y="0"/>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54" name="Freeform 861"/>
              <p:cNvSpPr>
                <a:spLocks/>
              </p:cNvSpPr>
              <p:nvPr userDrawn="1"/>
            </p:nvSpPr>
            <p:spPr bwMode="gray">
              <a:xfrm>
                <a:off x="3610" y="1212"/>
                <a:ext cx="12" cy="11"/>
              </a:xfrm>
              <a:custGeom>
                <a:avLst/>
                <a:gdLst>
                  <a:gd name="T0" fmla="*/ 12 w 12"/>
                  <a:gd name="T1" fmla="*/ 11 h 11"/>
                  <a:gd name="T2" fmla="*/ 12 w 12"/>
                  <a:gd name="T3" fmla="*/ 7 h 11"/>
                  <a:gd name="T4" fmla="*/ 10 w 12"/>
                  <a:gd name="T5" fmla="*/ 4 h 11"/>
                  <a:gd name="T6" fmla="*/ 7 w 12"/>
                  <a:gd name="T7" fmla="*/ 2 h 11"/>
                  <a:gd name="T8" fmla="*/ 3 w 12"/>
                  <a:gd name="T9" fmla="*/ 0 h 11"/>
                  <a:gd name="T10" fmla="*/ 0 w 12"/>
                  <a:gd name="T11" fmla="*/ 0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11">
                    <a:moveTo>
                      <a:pt x="12" y="11"/>
                    </a:moveTo>
                    <a:lnTo>
                      <a:pt x="12" y="7"/>
                    </a:lnTo>
                    <a:lnTo>
                      <a:pt x="10" y="4"/>
                    </a:lnTo>
                    <a:lnTo>
                      <a:pt x="7" y="2"/>
                    </a:lnTo>
                    <a:lnTo>
                      <a:pt x="3" y="0"/>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55" name="Freeform 862"/>
              <p:cNvSpPr>
                <a:spLocks/>
              </p:cNvSpPr>
              <p:nvPr userDrawn="1"/>
            </p:nvSpPr>
            <p:spPr bwMode="gray">
              <a:xfrm>
                <a:off x="3617" y="1214"/>
                <a:ext cx="3" cy="7"/>
              </a:xfrm>
              <a:custGeom>
                <a:avLst/>
                <a:gdLst>
                  <a:gd name="T0" fmla="*/ 0 w 3"/>
                  <a:gd name="T1" fmla="*/ 0 h 7"/>
                  <a:gd name="T2" fmla="*/ 0 w 3"/>
                  <a:gd name="T3" fmla="*/ 0 h 7"/>
                  <a:gd name="T4" fmla="*/ 1 w 3"/>
                  <a:gd name="T5" fmla="*/ 2 h 7"/>
                  <a:gd name="T6" fmla="*/ 3 w 3"/>
                  <a:gd name="T7" fmla="*/ 2 h 7"/>
                  <a:gd name="T8" fmla="*/ 3 w 3"/>
                  <a:gd name="T9" fmla="*/ 5 h 7"/>
                  <a:gd name="T10" fmla="*/ 1 w 3"/>
                  <a:gd name="T11" fmla="*/ 7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 h="7">
                    <a:moveTo>
                      <a:pt x="0" y="0"/>
                    </a:moveTo>
                    <a:lnTo>
                      <a:pt x="0" y="0"/>
                    </a:lnTo>
                    <a:lnTo>
                      <a:pt x="1" y="2"/>
                    </a:lnTo>
                    <a:lnTo>
                      <a:pt x="3" y="2"/>
                    </a:lnTo>
                    <a:lnTo>
                      <a:pt x="3" y="5"/>
                    </a:lnTo>
                    <a:lnTo>
                      <a:pt x="1"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56" name="Freeform 863"/>
              <p:cNvSpPr>
                <a:spLocks/>
              </p:cNvSpPr>
              <p:nvPr userDrawn="1"/>
            </p:nvSpPr>
            <p:spPr bwMode="gray">
              <a:xfrm>
                <a:off x="3195" y="840"/>
                <a:ext cx="14" cy="7"/>
              </a:xfrm>
              <a:custGeom>
                <a:avLst/>
                <a:gdLst>
                  <a:gd name="T0" fmla="*/ 0 w 14"/>
                  <a:gd name="T1" fmla="*/ 0 h 7"/>
                  <a:gd name="T2" fmla="*/ 4 w 14"/>
                  <a:gd name="T3" fmla="*/ 0 h 7"/>
                  <a:gd name="T4" fmla="*/ 9 w 14"/>
                  <a:gd name="T5" fmla="*/ 1 h 7"/>
                  <a:gd name="T6" fmla="*/ 12 w 14"/>
                  <a:gd name="T7" fmla="*/ 5 h 7"/>
                  <a:gd name="T8" fmla="*/ 14 w 14"/>
                  <a:gd name="T9" fmla="*/ 7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7">
                    <a:moveTo>
                      <a:pt x="0" y="0"/>
                    </a:moveTo>
                    <a:lnTo>
                      <a:pt x="4" y="0"/>
                    </a:lnTo>
                    <a:lnTo>
                      <a:pt x="9" y="1"/>
                    </a:lnTo>
                    <a:lnTo>
                      <a:pt x="12" y="5"/>
                    </a:lnTo>
                    <a:lnTo>
                      <a:pt x="14"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57" name="Freeform 864"/>
              <p:cNvSpPr>
                <a:spLocks/>
              </p:cNvSpPr>
              <p:nvPr userDrawn="1"/>
            </p:nvSpPr>
            <p:spPr bwMode="gray">
              <a:xfrm>
                <a:off x="3195" y="838"/>
                <a:ext cx="11" cy="9"/>
              </a:xfrm>
              <a:custGeom>
                <a:avLst/>
                <a:gdLst>
                  <a:gd name="T0" fmla="*/ 11 w 11"/>
                  <a:gd name="T1" fmla="*/ 0 h 9"/>
                  <a:gd name="T2" fmla="*/ 7 w 11"/>
                  <a:gd name="T3" fmla="*/ 0 h 9"/>
                  <a:gd name="T4" fmla="*/ 5 w 11"/>
                  <a:gd name="T5" fmla="*/ 2 h 9"/>
                  <a:gd name="T6" fmla="*/ 2 w 11"/>
                  <a:gd name="T7" fmla="*/ 5 h 9"/>
                  <a:gd name="T8" fmla="*/ 0 w 11"/>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9">
                    <a:moveTo>
                      <a:pt x="11" y="0"/>
                    </a:moveTo>
                    <a:lnTo>
                      <a:pt x="7" y="0"/>
                    </a:lnTo>
                    <a:lnTo>
                      <a:pt x="5" y="2"/>
                    </a:lnTo>
                    <a:lnTo>
                      <a:pt x="2" y="5"/>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58" name="Freeform 865"/>
              <p:cNvSpPr>
                <a:spLocks/>
              </p:cNvSpPr>
              <p:nvPr userDrawn="1"/>
            </p:nvSpPr>
            <p:spPr bwMode="gray">
              <a:xfrm>
                <a:off x="3403" y="903"/>
                <a:ext cx="4" cy="3"/>
              </a:xfrm>
              <a:custGeom>
                <a:avLst/>
                <a:gdLst>
                  <a:gd name="T0" fmla="*/ 0 w 4"/>
                  <a:gd name="T1" fmla="*/ 1 h 3"/>
                  <a:gd name="T2" fmla="*/ 2 w 4"/>
                  <a:gd name="T3" fmla="*/ 0 h 3"/>
                  <a:gd name="T4" fmla="*/ 4 w 4"/>
                  <a:gd name="T5" fmla="*/ 0 h 3"/>
                  <a:gd name="T6" fmla="*/ 4 w 4"/>
                  <a:gd name="T7" fmla="*/ 0 h 3"/>
                  <a:gd name="T8" fmla="*/ 4 w 4"/>
                  <a:gd name="T9" fmla="*/ 1 h 3"/>
                  <a:gd name="T10" fmla="*/ 2 w 4"/>
                  <a:gd name="T11" fmla="*/ 1 h 3"/>
                  <a:gd name="T12" fmla="*/ 2 w 4"/>
                  <a:gd name="T13" fmla="*/ 1 h 3"/>
                  <a:gd name="T14" fmla="*/ 0 w 4"/>
                  <a:gd name="T15" fmla="*/ 3 h 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 h="3">
                    <a:moveTo>
                      <a:pt x="0" y="1"/>
                    </a:moveTo>
                    <a:lnTo>
                      <a:pt x="2" y="0"/>
                    </a:lnTo>
                    <a:lnTo>
                      <a:pt x="4" y="0"/>
                    </a:lnTo>
                    <a:lnTo>
                      <a:pt x="4" y="1"/>
                    </a:lnTo>
                    <a:lnTo>
                      <a:pt x="2" y="1"/>
                    </a:lnTo>
                    <a:lnTo>
                      <a:pt x="0" y="3"/>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59" name="Freeform 866"/>
              <p:cNvSpPr>
                <a:spLocks/>
              </p:cNvSpPr>
              <p:nvPr userDrawn="1"/>
            </p:nvSpPr>
            <p:spPr bwMode="gray">
              <a:xfrm>
                <a:off x="3400" y="897"/>
                <a:ext cx="8" cy="14"/>
              </a:xfrm>
              <a:custGeom>
                <a:avLst/>
                <a:gdLst>
                  <a:gd name="T0" fmla="*/ 8 w 8"/>
                  <a:gd name="T1" fmla="*/ 14 h 14"/>
                  <a:gd name="T2" fmla="*/ 8 w 8"/>
                  <a:gd name="T3" fmla="*/ 9 h 14"/>
                  <a:gd name="T4" fmla="*/ 7 w 8"/>
                  <a:gd name="T5" fmla="*/ 6 h 14"/>
                  <a:gd name="T6" fmla="*/ 3 w 8"/>
                  <a:gd name="T7" fmla="*/ 2 h 14"/>
                  <a:gd name="T8" fmla="*/ 0 w 8"/>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4">
                    <a:moveTo>
                      <a:pt x="8" y="14"/>
                    </a:moveTo>
                    <a:lnTo>
                      <a:pt x="8" y="9"/>
                    </a:lnTo>
                    <a:lnTo>
                      <a:pt x="7" y="6"/>
                    </a:lnTo>
                    <a:lnTo>
                      <a:pt x="3"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60" name="Freeform 867"/>
              <p:cNvSpPr>
                <a:spLocks/>
              </p:cNvSpPr>
              <p:nvPr userDrawn="1"/>
            </p:nvSpPr>
            <p:spPr bwMode="gray">
              <a:xfrm>
                <a:off x="3186" y="1910"/>
                <a:ext cx="20" cy="9"/>
              </a:xfrm>
              <a:custGeom>
                <a:avLst/>
                <a:gdLst>
                  <a:gd name="T0" fmla="*/ 0 w 20"/>
                  <a:gd name="T1" fmla="*/ 9 h 9"/>
                  <a:gd name="T2" fmla="*/ 7 w 20"/>
                  <a:gd name="T3" fmla="*/ 9 h 9"/>
                  <a:gd name="T4" fmla="*/ 11 w 20"/>
                  <a:gd name="T5" fmla="*/ 7 h 9"/>
                  <a:gd name="T6" fmla="*/ 16 w 20"/>
                  <a:gd name="T7" fmla="*/ 3 h 9"/>
                  <a:gd name="T8" fmla="*/ 20 w 20"/>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9">
                    <a:moveTo>
                      <a:pt x="0" y="9"/>
                    </a:moveTo>
                    <a:lnTo>
                      <a:pt x="7" y="9"/>
                    </a:lnTo>
                    <a:lnTo>
                      <a:pt x="11" y="7"/>
                    </a:lnTo>
                    <a:lnTo>
                      <a:pt x="16" y="3"/>
                    </a:lnTo>
                    <a:lnTo>
                      <a:pt x="2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61" name="Freeform 868"/>
              <p:cNvSpPr>
                <a:spLocks/>
              </p:cNvSpPr>
              <p:nvPr userDrawn="1"/>
            </p:nvSpPr>
            <p:spPr bwMode="gray">
              <a:xfrm>
                <a:off x="3192" y="1912"/>
                <a:ext cx="7" cy="7"/>
              </a:xfrm>
              <a:custGeom>
                <a:avLst/>
                <a:gdLst>
                  <a:gd name="T0" fmla="*/ 7 w 7"/>
                  <a:gd name="T1" fmla="*/ 7 h 7"/>
                  <a:gd name="T2" fmla="*/ 5 w 7"/>
                  <a:gd name="T3" fmla="*/ 7 h 7"/>
                  <a:gd name="T4" fmla="*/ 5 w 7"/>
                  <a:gd name="T5" fmla="*/ 7 h 7"/>
                  <a:gd name="T6" fmla="*/ 3 w 7"/>
                  <a:gd name="T7" fmla="*/ 7 h 7"/>
                  <a:gd name="T8" fmla="*/ 1 w 7"/>
                  <a:gd name="T9" fmla="*/ 3 h 7"/>
                  <a:gd name="T10" fmla="*/ 0 w 7"/>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7">
                    <a:moveTo>
                      <a:pt x="7" y="7"/>
                    </a:moveTo>
                    <a:lnTo>
                      <a:pt x="5" y="7"/>
                    </a:lnTo>
                    <a:lnTo>
                      <a:pt x="3" y="7"/>
                    </a:lnTo>
                    <a:lnTo>
                      <a:pt x="1" y="3"/>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62" name="Freeform 869"/>
              <p:cNvSpPr>
                <a:spLocks/>
              </p:cNvSpPr>
              <p:nvPr userDrawn="1"/>
            </p:nvSpPr>
            <p:spPr bwMode="gray">
              <a:xfrm>
                <a:off x="3669" y="1609"/>
                <a:ext cx="14" cy="14"/>
              </a:xfrm>
              <a:custGeom>
                <a:avLst/>
                <a:gdLst>
                  <a:gd name="T0" fmla="*/ 0 w 14"/>
                  <a:gd name="T1" fmla="*/ 14 h 14"/>
                  <a:gd name="T2" fmla="*/ 5 w 14"/>
                  <a:gd name="T3" fmla="*/ 12 h 14"/>
                  <a:gd name="T4" fmla="*/ 11 w 14"/>
                  <a:gd name="T5" fmla="*/ 11 h 14"/>
                  <a:gd name="T6" fmla="*/ 12 w 14"/>
                  <a:gd name="T7" fmla="*/ 5 h 14"/>
                  <a:gd name="T8" fmla="*/ 14 w 14"/>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14">
                    <a:moveTo>
                      <a:pt x="0" y="14"/>
                    </a:moveTo>
                    <a:lnTo>
                      <a:pt x="5" y="12"/>
                    </a:lnTo>
                    <a:lnTo>
                      <a:pt x="11" y="11"/>
                    </a:lnTo>
                    <a:lnTo>
                      <a:pt x="12" y="5"/>
                    </a:lnTo>
                    <a:lnTo>
                      <a:pt x="14"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463" name="Freeform 870"/>
              <p:cNvSpPr>
                <a:spLocks/>
              </p:cNvSpPr>
              <p:nvPr userDrawn="1"/>
            </p:nvSpPr>
            <p:spPr bwMode="gray">
              <a:xfrm>
                <a:off x="3676" y="1611"/>
                <a:ext cx="5" cy="9"/>
              </a:xfrm>
              <a:custGeom>
                <a:avLst/>
                <a:gdLst>
                  <a:gd name="T0" fmla="*/ 0 w 5"/>
                  <a:gd name="T1" fmla="*/ 0 h 9"/>
                  <a:gd name="T2" fmla="*/ 4 w 5"/>
                  <a:gd name="T3" fmla="*/ 3 h 9"/>
                  <a:gd name="T4" fmla="*/ 5 w 5"/>
                  <a:gd name="T5" fmla="*/ 7 h 9"/>
                  <a:gd name="T6" fmla="*/ 5 w 5"/>
                  <a:gd name="T7" fmla="*/ 7 h 9"/>
                  <a:gd name="T8" fmla="*/ 5 w 5"/>
                  <a:gd name="T9" fmla="*/ 9 h 9"/>
                  <a:gd name="T10" fmla="*/ 4 w 5"/>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9">
                    <a:moveTo>
                      <a:pt x="0" y="0"/>
                    </a:moveTo>
                    <a:lnTo>
                      <a:pt x="4" y="3"/>
                    </a:lnTo>
                    <a:lnTo>
                      <a:pt x="5" y="7"/>
                    </a:lnTo>
                    <a:lnTo>
                      <a:pt x="5" y="9"/>
                    </a:lnTo>
                    <a:lnTo>
                      <a:pt x="4"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grpSp>
        <p:sp>
          <p:nvSpPr>
            <p:cNvPr id="210" name="Freeform 871"/>
            <p:cNvSpPr>
              <a:spLocks/>
            </p:cNvSpPr>
            <p:nvPr userDrawn="1"/>
          </p:nvSpPr>
          <p:spPr bwMode="gray">
            <a:xfrm>
              <a:off x="3197" y="1660"/>
              <a:ext cx="2" cy="19"/>
            </a:xfrm>
            <a:custGeom>
              <a:avLst/>
              <a:gdLst>
                <a:gd name="T0" fmla="*/ 2 w 2"/>
                <a:gd name="T1" fmla="*/ 19 h 19"/>
                <a:gd name="T2" fmla="*/ 2 w 2"/>
                <a:gd name="T3" fmla="*/ 16 h 19"/>
                <a:gd name="T4" fmla="*/ 2 w 2"/>
                <a:gd name="T5" fmla="*/ 10 h 19"/>
                <a:gd name="T6" fmla="*/ 2 w 2"/>
                <a:gd name="T7" fmla="*/ 5 h 19"/>
                <a:gd name="T8" fmla="*/ 0 w 2"/>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19">
                  <a:moveTo>
                    <a:pt x="2" y="19"/>
                  </a:moveTo>
                  <a:lnTo>
                    <a:pt x="2" y="16"/>
                  </a:lnTo>
                  <a:lnTo>
                    <a:pt x="2" y="10"/>
                  </a:lnTo>
                  <a:lnTo>
                    <a:pt x="2"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11" name="Freeform 872"/>
            <p:cNvSpPr>
              <a:spLocks/>
            </p:cNvSpPr>
            <p:nvPr userDrawn="1"/>
          </p:nvSpPr>
          <p:spPr bwMode="gray">
            <a:xfrm>
              <a:off x="3190" y="1670"/>
              <a:ext cx="17" cy="2"/>
            </a:xfrm>
            <a:custGeom>
              <a:avLst/>
              <a:gdLst>
                <a:gd name="T0" fmla="*/ 17 w 17"/>
                <a:gd name="T1" fmla="*/ 0 h 2"/>
                <a:gd name="T2" fmla="*/ 14 w 17"/>
                <a:gd name="T3" fmla="*/ 0 h 2"/>
                <a:gd name="T4" fmla="*/ 9 w 17"/>
                <a:gd name="T5" fmla="*/ 0 h 2"/>
                <a:gd name="T6" fmla="*/ 5 w 17"/>
                <a:gd name="T7" fmla="*/ 2 h 2"/>
                <a:gd name="T8" fmla="*/ 0 w 17"/>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
                  <a:moveTo>
                    <a:pt x="17" y="0"/>
                  </a:moveTo>
                  <a:lnTo>
                    <a:pt x="14" y="0"/>
                  </a:lnTo>
                  <a:lnTo>
                    <a:pt x="9" y="0"/>
                  </a:lnTo>
                  <a:lnTo>
                    <a:pt x="5" y="2"/>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12" name="Freeform 873"/>
            <p:cNvSpPr>
              <a:spLocks/>
            </p:cNvSpPr>
            <p:nvPr userDrawn="1"/>
          </p:nvSpPr>
          <p:spPr bwMode="gray">
            <a:xfrm>
              <a:off x="3687" y="1380"/>
              <a:ext cx="3" cy="2"/>
            </a:xfrm>
            <a:custGeom>
              <a:avLst/>
              <a:gdLst>
                <a:gd name="T0" fmla="*/ 0 w 3"/>
                <a:gd name="T1" fmla="*/ 2 h 2"/>
                <a:gd name="T2" fmla="*/ 1 w 3"/>
                <a:gd name="T3" fmla="*/ 0 h 2"/>
                <a:gd name="T4" fmla="*/ 3 w 3"/>
                <a:gd name="T5" fmla="*/ 0 h 2"/>
                <a:gd name="T6" fmla="*/ 3 w 3"/>
                <a:gd name="T7" fmla="*/ 0 h 2"/>
                <a:gd name="T8" fmla="*/ 3 w 3"/>
                <a:gd name="T9" fmla="*/ 0 h 2"/>
                <a:gd name="T10" fmla="*/ 1 w 3"/>
                <a:gd name="T11" fmla="*/ 0 h 2"/>
                <a:gd name="T12" fmla="*/ 1 w 3"/>
                <a:gd name="T13" fmla="*/ 2 h 2"/>
                <a:gd name="T14" fmla="*/ 0 w 3"/>
                <a:gd name="T15" fmla="*/ 2 h 2"/>
                <a:gd name="T16" fmla="*/ 0 w 3"/>
                <a:gd name="T17" fmla="*/ 2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 h="2">
                  <a:moveTo>
                    <a:pt x="0" y="2"/>
                  </a:moveTo>
                  <a:lnTo>
                    <a:pt x="1" y="0"/>
                  </a:lnTo>
                  <a:lnTo>
                    <a:pt x="3" y="0"/>
                  </a:lnTo>
                  <a:lnTo>
                    <a:pt x="1" y="0"/>
                  </a:lnTo>
                  <a:lnTo>
                    <a:pt x="1" y="2"/>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13" name="Freeform 874"/>
            <p:cNvSpPr>
              <a:spLocks/>
            </p:cNvSpPr>
            <p:nvPr userDrawn="1"/>
          </p:nvSpPr>
          <p:spPr bwMode="gray">
            <a:xfrm>
              <a:off x="3681" y="1375"/>
              <a:ext cx="11" cy="14"/>
            </a:xfrm>
            <a:custGeom>
              <a:avLst/>
              <a:gdLst>
                <a:gd name="T0" fmla="*/ 11 w 11"/>
                <a:gd name="T1" fmla="*/ 14 h 14"/>
                <a:gd name="T2" fmla="*/ 11 w 11"/>
                <a:gd name="T3" fmla="*/ 9 h 14"/>
                <a:gd name="T4" fmla="*/ 9 w 11"/>
                <a:gd name="T5" fmla="*/ 5 h 14"/>
                <a:gd name="T6" fmla="*/ 6 w 11"/>
                <a:gd name="T7" fmla="*/ 2 h 14"/>
                <a:gd name="T8" fmla="*/ 0 w 11"/>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4">
                  <a:moveTo>
                    <a:pt x="11" y="14"/>
                  </a:moveTo>
                  <a:lnTo>
                    <a:pt x="11" y="9"/>
                  </a:lnTo>
                  <a:lnTo>
                    <a:pt x="9" y="5"/>
                  </a:lnTo>
                  <a:lnTo>
                    <a:pt x="6"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14" name="Freeform 875"/>
            <p:cNvSpPr>
              <a:spLocks/>
            </p:cNvSpPr>
            <p:nvPr userDrawn="1"/>
          </p:nvSpPr>
          <p:spPr bwMode="gray">
            <a:xfrm>
              <a:off x="3349" y="2055"/>
              <a:ext cx="16" cy="7"/>
            </a:xfrm>
            <a:custGeom>
              <a:avLst/>
              <a:gdLst>
                <a:gd name="T0" fmla="*/ 0 w 16"/>
                <a:gd name="T1" fmla="*/ 0 h 7"/>
                <a:gd name="T2" fmla="*/ 2 w 16"/>
                <a:gd name="T3" fmla="*/ 4 h 7"/>
                <a:gd name="T4" fmla="*/ 5 w 16"/>
                <a:gd name="T5" fmla="*/ 5 h 7"/>
                <a:gd name="T6" fmla="*/ 10 w 16"/>
                <a:gd name="T7" fmla="*/ 7 h 7"/>
                <a:gd name="T8" fmla="*/ 12 w 16"/>
                <a:gd name="T9" fmla="*/ 7 h 7"/>
                <a:gd name="T10" fmla="*/ 16 w 16"/>
                <a:gd name="T11" fmla="*/ 5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7">
                  <a:moveTo>
                    <a:pt x="0" y="0"/>
                  </a:moveTo>
                  <a:lnTo>
                    <a:pt x="2" y="4"/>
                  </a:lnTo>
                  <a:lnTo>
                    <a:pt x="5" y="5"/>
                  </a:lnTo>
                  <a:lnTo>
                    <a:pt x="10" y="7"/>
                  </a:lnTo>
                  <a:lnTo>
                    <a:pt x="12" y="7"/>
                  </a:lnTo>
                  <a:lnTo>
                    <a:pt x="16" y="5"/>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15" name="Freeform 876"/>
            <p:cNvSpPr>
              <a:spLocks/>
            </p:cNvSpPr>
            <p:nvPr userDrawn="1"/>
          </p:nvSpPr>
          <p:spPr bwMode="gray">
            <a:xfrm>
              <a:off x="3352" y="2055"/>
              <a:ext cx="11" cy="9"/>
            </a:xfrm>
            <a:custGeom>
              <a:avLst/>
              <a:gdLst>
                <a:gd name="T0" fmla="*/ 0 w 11"/>
                <a:gd name="T1" fmla="*/ 7 h 9"/>
                <a:gd name="T2" fmla="*/ 4 w 11"/>
                <a:gd name="T3" fmla="*/ 9 h 9"/>
                <a:gd name="T4" fmla="*/ 7 w 11"/>
                <a:gd name="T5" fmla="*/ 7 h 9"/>
                <a:gd name="T6" fmla="*/ 9 w 11"/>
                <a:gd name="T7" fmla="*/ 4 h 9"/>
                <a:gd name="T8" fmla="*/ 11 w 11"/>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9">
                  <a:moveTo>
                    <a:pt x="0" y="7"/>
                  </a:moveTo>
                  <a:lnTo>
                    <a:pt x="4" y="9"/>
                  </a:lnTo>
                  <a:lnTo>
                    <a:pt x="7" y="7"/>
                  </a:lnTo>
                  <a:lnTo>
                    <a:pt x="9" y="4"/>
                  </a:lnTo>
                  <a:lnTo>
                    <a:pt x="1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16" name="Freeform 877"/>
            <p:cNvSpPr>
              <a:spLocks/>
            </p:cNvSpPr>
            <p:nvPr userDrawn="1"/>
          </p:nvSpPr>
          <p:spPr bwMode="gray">
            <a:xfrm>
              <a:off x="3366" y="1305"/>
              <a:ext cx="18" cy="12"/>
            </a:xfrm>
            <a:custGeom>
              <a:avLst/>
              <a:gdLst>
                <a:gd name="T0" fmla="*/ 0 w 18"/>
                <a:gd name="T1" fmla="*/ 12 h 12"/>
                <a:gd name="T2" fmla="*/ 9 w 18"/>
                <a:gd name="T3" fmla="*/ 5 h 12"/>
                <a:gd name="T4" fmla="*/ 18 w 18"/>
                <a:gd name="T5" fmla="*/ 0 h 12"/>
                <a:gd name="T6" fmla="*/ 0 60000 65536"/>
                <a:gd name="T7" fmla="*/ 0 60000 65536"/>
                <a:gd name="T8" fmla="*/ 0 60000 65536"/>
              </a:gdLst>
              <a:ahLst/>
              <a:cxnLst>
                <a:cxn ang="T6">
                  <a:pos x="T0" y="T1"/>
                </a:cxn>
                <a:cxn ang="T7">
                  <a:pos x="T2" y="T3"/>
                </a:cxn>
                <a:cxn ang="T8">
                  <a:pos x="T4" y="T5"/>
                </a:cxn>
              </a:cxnLst>
              <a:rect l="0" t="0" r="r" b="b"/>
              <a:pathLst>
                <a:path w="18" h="12">
                  <a:moveTo>
                    <a:pt x="0" y="12"/>
                  </a:moveTo>
                  <a:lnTo>
                    <a:pt x="9" y="5"/>
                  </a:lnTo>
                  <a:lnTo>
                    <a:pt x="18"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17" name="Freeform 878"/>
            <p:cNvSpPr>
              <a:spLocks/>
            </p:cNvSpPr>
            <p:nvPr userDrawn="1"/>
          </p:nvSpPr>
          <p:spPr bwMode="gray">
            <a:xfrm>
              <a:off x="3372" y="1303"/>
              <a:ext cx="10" cy="14"/>
            </a:xfrm>
            <a:custGeom>
              <a:avLst/>
              <a:gdLst>
                <a:gd name="T0" fmla="*/ 10 w 10"/>
                <a:gd name="T1" fmla="*/ 14 h 14"/>
                <a:gd name="T2" fmla="*/ 7 w 10"/>
                <a:gd name="T3" fmla="*/ 11 h 14"/>
                <a:gd name="T4" fmla="*/ 5 w 10"/>
                <a:gd name="T5" fmla="*/ 7 h 14"/>
                <a:gd name="T6" fmla="*/ 1 w 10"/>
                <a:gd name="T7" fmla="*/ 4 h 14"/>
                <a:gd name="T8" fmla="*/ 0 w 10"/>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4">
                  <a:moveTo>
                    <a:pt x="10" y="14"/>
                  </a:moveTo>
                  <a:lnTo>
                    <a:pt x="7" y="11"/>
                  </a:lnTo>
                  <a:lnTo>
                    <a:pt x="5" y="7"/>
                  </a:lnTo>
                  <a:lnTo>
                    <a:pt x="1"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18" name="Freeform 879"/>
            <p:cNvSpPr>
              <a:spLocks/>
            </p:cNvSpPr>
            <p:nvPr userDrawn="1"/>
          </p:nvSpPr>
          <p:spPr bwMode="gray">
            <a:xfrm>
              <a:off x="3503" y="1954"/>
              <a:ext cx="14" cy="14"/>
            </a:xfrm>
            <a:custGeom>
              <a:avLst/>
              <a:gdLst>
                <a:gd name="T0" fmla="*/ 0 w 14"/>
                <a:gd name="T1" fmla="*/ 14 h 14"/>
                <a:gd name="T2" fmla="*/ 5 w 14"/>
                <a:gd name="T3" fmla="*/ 12 h 14"/>
                <a:gd name="T4" fmla="*/ 10 w 14"/>
                <a:gd name="T5" fmla="*/ 10 h 14"/>
                <a:gd name="T6" fmla="*/ 12 w 14"/>
                <a:gd name="T7" fmla="*/ 5 h 14"/>
                <a:gd name="T8" fmla="*/ 14 w 14"/>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14">
                  <a:moveTo>
                    <a:pt x="0" y="14"/>
                  </a:moveTo>
                  <a:lnTo>
                    <a:pt x="5" y="12"/>
                  </a:lnTo>
                  <a:lnTo>
                    <a:pt x="10" y="10"/>
                  </a:lnTo>
                  <a:lnTo>
                    <a:pt x="12" y="5"/>
                  </a:lnTo>
                  <a:lnTo>
                    <a:pt x="14"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19" name="Freeform 880"/>
            <p:cNvSpPr>
              <a:spLocks/>
            </p:cNvSpPr>
            <p:nvPr userDrawn="1"/>
          </p:nvSpPr>
          <p:spPr bwMode="gray">
            <a:xfrm>
              <a:off x="3510" y="1955"/>
              <a:ext cx="5" cy="9"/>
            </a:xfrm>
            <a:custGeom>
              <a:avLst/>
              <a:gdLst>
                <a:gd name="T0" fmla="*/ 0 w 5"/>
                <a:gd name="T1" fmla="*/ 0 h 9"/>
                <a:gd name="T2" fmla="*/ 3 w 5"/>
                <a:gd name="T3" fmla="*/ 4 h 9"/>
                <a:gd name="T4" fmla="*/ 5 w 5"/>
                <a:gd name="T5" fmla="*/ 7 h 9"/>
                <a:gd name="T6" fmla="*/ 5 w 5"/>
                <a:gd name="T7" fmla="*/ 7 h 9"/>
                <a:gd name="T8" fmla="*/ 5 w 5"/>
                <a:gd name="T9" fmla="*/ 9 h 9"/>
                <a:gd name="T10" fmla="*/ 3 w 5"/>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9">
                  <a:moveTo>
                    <a:pt x="0" y="0"/>
                  </a:moveTo>
                  <a:lnTo>
                    <a:pt x="3" y="4"/>
                  </a:lnTo>
                  <a:lnTo>
                    <a:pt x="5" y="7"/>
                  </a:lnTo>
                  <a:lnTo>
                    <a:pt x="5" y="9"/>
                  </a:lnTo>
                  <a:lnTo>
                    <a:pt x="3"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20" name="Freeform 881"/>
            <p:cNvSpPr>
              <a:spLocks/>
            </p:cNvSpPr>
            <p:nvPr userDrawn="1"/>
          </p:nvSpPr>
          <p:spPr bwMode="gray">
            <a:xfrm>
              <a:off x="2284" y="950"/>
              <a:ext cx="5" cy="16"/>
            </a:xfrm>
            <a:custGeom>
              <a:avLst/>
              <a:gdLst>
                <a:gd name="T0" fmla="*/ 3 w 5"/>
                <a:gd name="T1" fmla="*/ 16 h 16"/>
                <a:gd name="T2" fmla="*/ 2 w 5"/>
                <a:gd name="T3" fmla="*/ 12 h 16"/>
                <a:gd name="T4" fmla="*/ 0 w 5"/>
                <a:gd name="T5" fmla="*/ 9 h 16"/>
                <a:gd name="T6" fmla="*/ 2 w 5"/>
                <a:gd name="T7" fmla="*/ 3 h 16"/>
                <a:gd name="T8" fmla="*/ 2 w 5"/>
                <a:gd name="T9" fmla="*/ 2 h 16"/>
                <a:gd name="T10" fmla="*/ 5 w 5"/>
                <a:gd name="T11" fmla="*/ 0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16">
                  <a:moveTo>
                    <a:pt x="3" y="16"/>
                  </a:moveTo>
                  <a:lnTo>
                    <a:pt x="2" y="12"/>
                  </a:lnTo>
                  <a:lnTo>
                    <a:pt x="0" y="9"/>
                  </a:lnTo>
                  <a:lnTo>
                    <a:pt x="2" y="3"/>
                  </a:lnTo>
                  <a:lnTo>
                    <a:pt x="2" y="2"/>
                  </a:lnTo>
                  <a:lnTo>
                    <a:pt x="5"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21" name="Freeform 882"/>
            <p:cNvSpPr>
              <a:spLocks/>
            </p:cNvSpPr>
            <p:nvPr userDrawn="1"/>
          </p:nvSpPr>
          <p:spPr bwMode="gray">
            <a:xfrm>
              <a:off x="2284" y="952"/>
              <a:ext cx="9" cy="8"/>
            </a:xfrm>
            <a:custGeom>
              <a:avLst/>
              <a:gdLst>
                <a:gd name="T0" fmla="*/ 9 w 9"/>
                <a:gd name="T1" fmla="*/ 0 h 8"/>
                <a:gd name="T2" fmla="*/ 5 w 9"/>
                <a:gd name="T3" fmla="*/ 0 h 8"/>
                <a:gd name="T4" fmla="*/ 2 w 9"/>
                <a:gd name="T5" fmla="*/ 1 h 8"/>
                <a:gd name="T6" fmla="*/ 0 w 9"/>
                <a:gd name="T7" fmla="*/ 5 h 8"/>
                <a:gd name="T8" fmla="*/ 0 w 9"/>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8">
                  <a:moveTo>
                    <a:pt x="9" y="0"/>
                  </a:moveTo>
                  <a:lnTo>
                    <a:pt x="5" y="0"/>
                  </a:lnTo>
                  <a:lnTo>
                    <a:pt x="2" y="1"/>
                  </a:lnTo>
                  <a:lnTo>
                    <a:pt x="0" y="5"/>
                  </a:lnTo>
                  <a:lnTo>
                    <a:pt x="0" y="8"/>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22" name="Freeform 883"/>
            <p:cNvSpPr>
              <a:spLocks/>
            </p:cNvSpPr>
            <p:nvPr userDrawn="1"/>
          </p:nvSpPr>
          <p:spPr bwMode="gray">
            <a:xfrm>
              <a:off x="2452" y="873"/>
              <a:ext cx="2" cy="7"/>
            </a:xfrm>
            <a:custGeom>
              <a:avLst/>
              <a:gdLst>
                <a:gd name="T0" fmla="*/ 0 w 2"/>
                <a:gd name="T1" fmla="*/ 7 h 7"/>
                <a:gd name="T2" fmla="*/ 0 w 2"/>
                <a:gd name="T3" fmla="*/ 3 h 7"/>
                <a:gd name="T4" fmla="*/ 0 w 2"/>
                <a:gd name="T5" fmla="*/ 2 h 7"/>
                <a:gd name="T6" fmla="*/ 0 w 2"/>
                <a:gd name="T7" fmla="*/ 0 h 7"/>
                <a:gd name="T8" fmla="*/ 0 w 2"/>
                <a:gd name="T9" fmla="*/ 0 h 7"/>
                <a:gd name="T10" fmla="*/ 0 w 2"/>
                <a:gd name="T11" fmla="*/ 0 h 7"/>
                <a:gd name="T12" fmla="*/ 2 w 2"/>
                <a:gd name="T13" fmla="*/ 0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 h="7">
                  <a:moveTo>
                    <a:pt x="0" y="7"/>
                  </a:moveTo>
                  <a:lnTo>
                    <a:pt x="0" y="3"/>
                  </a:lnTo>
                  <a:lnTo>
                    <a:pt x="0" y="2"/>
                  </a:lnTo>
                  <a:lnTo>
                    <a:pt x="0" y="0"/>
                  </a:lnTo>
                  <a:lnTo>
                    <a:pt x="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23" name="Freeform 884"/>
            <p:cNvSpPr>
              <a:spLocks/>
            </p:cNvSpPr>
            <p:nvPr userDrawn="1"/>
          </p:nvSpPr>
          <p:spPr bwMode="gray">
            <a:xfrm>
              <a:off x="2443" y="875"/>
              <a:ext cx="18" cy="1"/>
            </a:xfrm>
            <a:custGeom>
              <a:avLst/>
              <a:gdLst>
                <a:gd name="T0" fmla="*/ 0 w 18"/>
                <a:gd name="T1" fmla="*/ 1 h 1"/>
                <a:gd name="T2" fmla="*/ 5 w 18"/>
                <a:gd name="T3" fmla="*/ 0 h 1"/>
                <a:gd name="T4" fmla="*/ 9 w 18"/>
                <a:gd name="T5" fmla="*/ 0 h 1"/>
                <a:gd name="T6" fmla="*/ 14 w 18"/>
                <a:gd name="T7" fmla="*/ 0 h 1"/>
                <a:gd name="T8" fmla="*/ 18 w 18"/>
                <a:gd name="T9" fmla="*/ 1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
                  <a:moveTo>
                    <a:pt x="0" y="1"/>
                  </a:moveTo>
                  <a:lnTo>
                    <a:pt x="5" y="0"/>
                  </a:lnTo>
                  <a:lnTo>
                    <a:pt x="9" y="0"/>
                  </a:lnTo>
                  <a:lnTo>
                    <a:pt x="14" y="0"/>
                  </a:lnTo>
                  <a:lnTo>
                    <a:pt x="18" y="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24" name="Freeform 885"/>
            <p:cNvSpPr>
              <a:spLocks/>
            </p:cNvSpPr>
            <p:nvPr userDrawn="1"/>
          </p:nvSpPr>
          <p:spPr bwMode="gray">
            <a:xfrm>
              <a:off x="3123" y="2213"/>
              <a:ext cx="18" cy="8"/>
            </a:xfrm>
            <a:custGeom>
              <a:avLst/>
              <a:gdLst>
                <a:gd name="T0" fmla="*/ 0 w 18"/>
                <a:gd name="T1" fmla="*/ 7 h 8"/>
                <a:gd name="T2" fmla="*/ 6 w 18"/>
                <a:gd name="T3" fmla="*/ 8 h 8"/>
                <a:gd name="T4" fmla="*/ 11 w 18"/>
                <a:gd name="T5" fmla="*/ 7 h 8"/>
                <a:gd name="T6" fmla="*/ 14 w 18"/>
                <a:gd name="T7" fmla="*/ 3 h 8"/>
                <a:gd name="T8" fmla="*/ 18 w 18"/>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8">
                  <a:moveTo>
                    <a:pt x="0" y="7"/>
                  </a:moveTo>
                  <a:lnTo>
                    <a:pt x="6" y="8"/>
                  </a:lnTo>
                  <a:lnTo>
                    <a:pt x="11" y="7"/>
                  </a:lnTo>
                  <a:lnTo>
                    <a:pt x="14" y="3"/>
                  </a:lnTo>
                  <a:lnTo>
                    <a:pt x="18"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25" name="Freeform 886"/>
            <p:cNvSpPr>
              <a:spLocks/>
            </p:cNvSpPr>
            <p:nvPr userDrawn="1"/>
          </p:nvSpPr>
          <p:spPr bwMode="gray">
            <a:xfrm>
              <a:off x="3127" y="2214"/>
              <a:ext cx="7" cy="7"/>
            </a:xfrm>
            <a:custGeom>
              <a:avLst/>
              <a:gdLst>
                <a:gd name="T0" fmla="*/ 7 w 7"/>
                <a:gd name="T1" fmla="*/ 6 h 7"/>
                <a:gd name="T2" fmla="*/ 5 w 7"/>
                <a:gd name="T3" fmla="*/ 7 h 7"/>
                <a:gd name="T4" fmla="*/ 3 w 7"/>
                <a:gd name="T5" fmla="*/ 6 h 7"/>
                <a:gd name="T6" fmla="*/ 2 w 7"/>
                <a:gd name="T7" fmla="*/ 4 h 7"/>
                <a:gd name="T8" fmla="*/ 0 w 7"/>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7" y="6"/>
                  </a:moveTo>
                  <a:lnTo>
                    <a:pt x="5" y="7"/>
                  </a:lnTo>
                  <a:lnTo>
                    <a:pt x="3" y="6"/>
                  </a:lnTo>
                  <a:lnTo>
                    <a:pt x="2" y="4"/>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26" name="Freeform 887"/>
            <p:cNvSpPr>
              <a:spLocks/>
            </p:cNvSpPr>
            <p:nvPr userDrawn="1"/>
          </p:nvSpPr>
          <p:spPr bwMode="gray">
            <a:xfrm>
              <a:off x="3283" y="2108"/>
              <a:ext cx="3" cy="17"/>
            </a:xfrm>
            <a:custGeom>
              <a:avLst/>
              <a:gdLst>
                <a:gd name="T0" fmla="*/ 0 w 3"/>
                <a:gd name="T1" fmla="*/ 17 h 17"/>
                <a:gd name="T2" fmla="*/ 3 w 3"/>
                <a:gd name="T3" fmla="*/ 15 h 17"/>
                <a:gd name="T4" fmla="*/ 3 w 3"/>
                <a:gd name="T5" fmla="*/ 12 h 17"/>
                <a:gd name="T6" fmla="*/ 3 w 3"/>
                <a:gd name="T7" fmla="*/ 8 h 17"/>
                <a:gd name="T8" fmla="*/ 3 w 3"/>
                <a:gd name="T9" fmla="*/ 3 h 17"/>
                <a:gd name="T10" fmla="*/ 1 w 3"/>
                <a:gd name="T11" fmla="*/ 0 h 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 h="17">
                  <a:moveTo>
                    <a:pt x="0" y="17"/>
                  </a:moveTo>
                  <a:lnTo>
                    <a:pt x="3" y="15"/>
                  </a:lnTo>
                  <a:lnTo>
                    <a:pt x="3" y="12"/>
                  </a:lnTo>
                  <a:lnTo>
                    <a:pt x="3" y="8"/>
                  </a:lnTo>
                  <a:lnTo>
                    <a:pt x="3" y="3"/>
                  </a:lnTo>
                  <a:lnTo>
                    <a:pt x="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27" name="Freeform 888"/>
            <p:cNvSpPr>
              <a:spLocks/>
            </p:cNvSpPr>
            <p:nvPr userDrawn="1"/>
          </p:nvSpPr>
          <p:spPr bwMode="gray">
            <a:xfrm>
              <a:off x="3279" y="2115"/>
              <a:ext cx="11" cy="7"/>
            </a:xfrm>
            <a:custGeom>
              <a:avLst/>
              <a:gdLst>
                <a:gd name="T0" fmla="*/ 0 w 11"/>
                <a:gd name="T1" fmla="*/ 7 h 7"/>
                <a:gd name="T2" fmla="*/ 4 w 11"/>
                <a:gd name="T3" fmla="*/ 7 h 7"/>
                <a:gd name="T4" fmla="*/ 7 w 11"/>
                <a:gd name="T5" fmla="*/ 5 h 7"/>
                <a:gd name="T6" fmla="*/ 9 w 11"/>
                <a:gd name="T7" fmla="*/ 3 h 7"/>
                <a:gd name="T8" fmla="*/ 11 w 11"/>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7">
                  <a:moveTo>
                    <a:pt x="0" y="7"/>
                  </a:moveTo>
                  <a:lnTo>
                    <a:pt x="4" y="7"/>
                  </a:lnTo>
                  <a:lnTo>
                    <a:pt x="7" y="5"/>
                  </a:lnTo>
                  <a:lnTo>
                    <a:pt x="9" y="3"/>
                  </a:lnTo>
                  <a:lnTo>
                    <a:pt x="11"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28" name="Freeform 889"/>
            <p:cNvSpPr>
              <a:spLocks/>
            </p:cNvSpPr>
            <p:nvPr userDrawn="1"/>
          </p:nvSpPr>
          <p:spPr bwMode="gray">
            <a:xfrm>
              <a:off x="2541" y="2150"/>
              <a:ext cx="5" cy="17"/>
            </a:xfrm>
            <a:custGeom>
              <a:avLst/>
              <a:gdLst>
                <a:gd name="T0" fmla="*/ 0 w 5"/>
                <a:gd name="T1" fmla="*/ 0 h 17"/>
                <a:gd name="T2" fmla="*/ 0 w 5"/>
                <a:gd name="T3" fmla="*/ 5 h 17"/>
                <a:gd name="T4" fmla="*/ 0 w 5"/>
                <a:gd name="T5" fmla="*/ 8 h 17"/>
                <a:gd name="T6" fmla="*/ 0 w 5"/>
                <a:gd name="T7" fmla="*/ 12 h 17"/>
                <a:gd name="T8" fmla="*/ 2 w 5"/>
                <a:gd name="T9" fmla="*/ 15 h 17"/>
                <a:gd name="T10" fmla="*/ 5 w 5"/>
                <a:gd name="T11" fmla="*/ 17 h 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17">
                  <a:moveTo>
                    <a:pt x="0" y="0"/>
                  </a:moveTo>
                  <a:lnTo>
                    <a:pt x="0" y="5"/>
                  </a:lnTo>
                  <a:lnTo>
                    <a:pt x="0" y="8"/>
                  </a:lnTo>
                  <a:lnTo>
                    <a:pt x="0" y="12"/>
                  </a:lnTo>
                  <a:lnTo>
                    <a:pt x="2" y="15"/>
                  </a:lnTo>
                  <a:lnTo>
                    <a:pt x="5" y="1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29" name="Freeform 890"/>
            <p:cNvSpPr>
              <a:spLocks/>
            </p:cNvSpPr>
            <p:nvPr userDrawn="1"/>
          </p:nvSpPr>
          <p:spPr bwMode="gray">
            <a:xfrm>
              <a:off x="2539" y="2157"/>
              <a:ext cx="9" cy="7"/>
            </a:xfrm>
            <a:custGeom>
              <a:avLst/>
              <a:gdLst>
                <a:gd name="T0" fmla="*/ 9 w 9"/>
                <a:gd name="T1" fmla="*/ 7 h 7"/>
                <a:gd name="T2" fmla="*/ 5 w 9"/>
                <a:gd name="T3" fmla="*/ 7 h 7"/>
                <a:gd name="T4" fmla="*/ 2 w 9"/>
                <a:gd name="T5" fmla="*/ 5 h 7"/>
                <a:gd name="T6" fmla="*/ 0 w 9"/>
                <a:gd name="T7" fmla="*/ 3 h 7"/>
                <a:gd name="T8" fmla="*/ 0 w 9"/>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7">
                  <a:moveTo>
                    <a:pt x="9" y="7"/>
                  </a:moveTo>
                  <a:lnTo>
                    <a:pt x="5" y="7"/>
                  </a:lnTo>
                  <a:lnTo>
                    <a:pt x="2" y="5"/>
                  </a:lnTo>
                  <a:lnTo>
                    <a:pt x="0" y="3"/>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30" name="Freeform 891"/>
            <p:cNvSpPr>
              <a:spLocks/>
            </p:cNvSpPr>
            <p:nvPr userDrawn="1"/>
          </p:nvSpPr>
          <p:spPr bwMode="gray">
            <a:xfrm>
              <a:off x="2744" y="2237"/>
              <a:ext cx="2" cy="7"/>
            </a:xfrm>
            <a:custGeom>
              <a:avLst/>
              <a:gdLst>
                <a:gd name="T0" fmla="*/ 0 w 2"/>
                <a:gd name="T1" fmla="*/ 5 h 7"/>
                <a:gd name="T2" fmla="*/ 0 w 2"/>
                <a:gd name="T3" fmla="*/ 5 h 7"/>
                <a:gd name="T4" fmla="*/ 0 w 2"/>
                <a:gd name="T5" fmla="*/ 7 h 7"/>
                <a:gd name="T6" fmla="*/ 0 w 2"/>
                <a:gd name="T7" fmla="*/ 7 h 7"/>
                <a:gd name="T8" fmla="*/ 0 w 2"/>
                <a:gd name="T9" fmla="*/ 5 h 7"/>
                <a:gd name="T10" fmla="*/ 2 w 2"/>
                <a:gd name="T11" fmla="*/ 5 h 7"/>
                <a:gd name="T12" fmla="*/ 2 w 2"/>
                <a:gd name="T13" fmla="*/ 2 h 7"/>
                <a:gd name="T14" fmla="*/ 2 w 2"/>
                <a:gd name="T15" fmla="*/ 0 h 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 h="7">
                  <a:moveTo>
                    <a:pt x="0" y="5"/>
                  </a:moveTo>
                  <a:lnTo>
                    <a:pt x="0" y="5"/>
                  </a:lnTo>
                  <a:lnTo>
                    <a:pt x="0" y="7"/>
                  </a:lnTo>
                  <a:lnTo>
                    <a:pt x="0" y="5"/>
                  </a:lnTo>
                  <a:lnTo>
                    <a:pt x="2" y="5"/>
                  </a:lnTo>
                  <a:lnTo>
                    <a:pt x="2" y="2"/>
                  </a:lnTo>
                  <a:lnTo>
                    <a:pt x="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31" name="Freeform 892"/>
            <p:cNvSpPr>
              <a:spLocks/>
            </p:cNvSpPr>
            <p:nvPr userDrawn="1"/>
          </p:nvSpPr>
          <p:spPr bwMode="gray">
            <a:xfrm>
              <a:off x="2735" y="2239"/>
              <a:ext cx="18" cy="3"/>
            </a:xfrm>
            <a:custGeom>
              <a:avLst/>
              <a:gdLst>
                <a:gd name="T0" fmla="*/ 18 w 18"/>
                <a:gd name="T1" fmla="*/ 0 h 3"/>
                <a:gd name="T2" fmla="*/ 14 w 18"/>
                <a:gd name="T3" fmla="*/ 3 h 3"/>
                <a:gd name="T4" fmla="*/ 11 w 18"/>
                <a:gd name="T5" fmla="*/ 3 h 3"/>
                <a:gd name="T6" fmla="*/ 5 w 18"/>
                <a:gd name="T7" fmla="*/ 3 h 3"/>
                <a:gd name="T8" fmla="*/ 0 w 18"/>
                <a:gd name="T9" fmla="*/ 2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
                  <a:moveTo>
                    <a:pt x="18" y="0"/>
                  </a:moveTo>
                  <a:lnTo>
                    <a:pt x="14" y="3"/>
                  </a:lnTo>
                  <a:lnTo>
                    <a:pt x="11" y="3"/>
                  </a:lnTo>
                  <a:lnTo>
                    <a:pt x="5" y="3"/>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32" name="Freeform 893"/>
            <p:cNvSpPr>
              <a:spLocks/>
            </p:cNvSpPr>
            <p:nvPr userDrawn="1"/>
          </p:nvSpPr>
          <p:spPr bwMode="gray">
            <a:xfrm>
              <a:off x="2527" y="922"/>
              <a:ext cx="5" cy="3"/>
            </a:xfrm>
            <a:custGeom>
              <a:avLst/>
              <a:gdLst>
                <a:gd name="T0" fmla="*/ 2 w 5"/>
                <a:gd name="T1" fmla="*/ 3 h 3"/>
                <a:gd name="T2" fmla="*/ 0 w 5"/>
                <a:gd name="T3" fmla="*/ 2 h 3"/>
                <a:gd name="T4" fmla="*/ 0 w 5"/>
                <a:gd name="T5" fmla="*/ 2 h 3"/>
                <a:gd name="T6" fmla="*/ 0 w 5"/>
                <a:gd name="T7" fmla="*/ 0 h 3"/>
                <a:gd name="T8" fmla="*/ 0 w 5"/>
                <a:gd name="T9" fmla="*/ 0 h 3"/>
                <a:gd name="T10" fmla="*/ 3 w 5"/>
                <a:gd name="T11" fmla="*/ 0 h 3"/>
                <a:gd name="T12" fmla="*/ 5 w 5"/>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 h="3">
                  <a:moveTo>
                    <a:pt x="2" y="3"/>
                  </a:moveTo>
                  <a:lnTo>
                    <a:pt x="0" y="2"/>
                  </a:lnTo>
                  <a:lnTo>
                    <a:pt x="0" y="0"/>
                  </a:lnTo>
                  <a:lnTo>
                    <a:pt x="3" y="0"/>
                  </a:lnTo>
                  <a:lnTo>
                    <a:pt x="5"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33" name="Freeform 894"/>
            <p:cNvSpPr>
              <a:spLocks/>
            </p:cNvSpPr>
            <p:nvPr userDrawn="1"/>
          </p:nvSpPr>
          <p:spPr bwMode="gray">
            <a:xfrm>
              <a:off x="2525" y="915"/>
              <a:ext cx="9" cy="16"/>
            </a:xfrm>
            <a:custGeom>
              <a:avLst/>
              <a:gdLst>
                <a:gd name="T0" fmla="*/ 2 w 9"/>
                <a:gd name="T1" fmla="*/ 16 h 16"/>
                <a:gd name="T2" fmla="*/ 0 w 9"/>
                <a:gd name="T3" fmla="*/ 12 h 16"/>
                <a:gd name="T4" fmla="*/ 2 w 9"/>
                <a:gd name="T5" fmla="*/ 7 h 16"/>
                <a:gd name="T6" fmla="*/ 5 w 9"/>
                <a:gd name="T7" fmla="*/ 3 h 16"/>
                <a:gd name="T8" fmla="*/ 9 w 9"/>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6">
                  <a:moveTo>
                    <a:pt x="2" y="16"/>
                  </a:moveTo>
                  <a:lnTo>
                    <a:pt x="0" y="12"/>
                  </a:lnTo>
                  <a:lnTo>
                    <a:pt x="2" y="7"/>
                  </a:lnTo>
                  <a:lnTo>
                    <a:pt x="5" y="3"/>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34" name="Freeform 895"/>
            <p:cNvSpPr>
              <a:spLocks/>
            </p:cNvSpPr>
            <p:nvPr userDrawn="1"/>
          </p:nvSpPr>
          <p:spPr bwMode="gray">
            <a:xfrm>
              <a:off x="3041" y="670"/>
              <a:ext cx="2" cy="9"/>
            </a:xfrm>
            <a:custGeom>
              <a:avLst/>
              <a:gdLst>
                <a:gd name="T0" fmla="*/ 0 w 2"/>
                <a:gd name="T1" fmla="*/ 9 h 9"/>
                <a:gd name="T2" fmla="*/ 0 w 2"/>
                <a:gd name="T3" fmla="*/ 5 h 9"/>
                <a:gd name="T4" fmla="*/ 0 w 2"/>
                <a:gd name="T5" fmla="*/ 2 h 9"/>
                <a:gd name="T6" fmla="*/ 0 w 2"/>
                <a:gd name="T7" fmla="*/ 0 h 9"/>
                <a:gd name="T8" fmla="*/ 2 w 2"/>
                <a:gd name="T9" fmla="*/ 0 h 9"/>
                <a:gd name="T10" fmla="*/ 2 w 2"/>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 h="9">
                  <a:moveTo>
                    <a:pt x="0" y="9"/>
                  </a:moveTo>
                  <a:lnTo>
                    <a:pt x="0" y="5"/>
                  </a:lnTo>
                  <a:lnTo>
                    <a:pt x="0" y="2"/>
                  </a:lnTo>
                  <a:lnTo>
                    <a:pt x="0" y="0"/>
                  </a:lnTo>
                  <a:lnTo>
                    <a:pt x="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35" name="Freeform 896"/>
            <p:cNvSpPr>
              <a:spLocks/>
            </p:cNvSpPr>
            <p:nvPr userDrawn="1"/>
          </p:nvSpPr>
          <p:spPr bwMode="gray">
            <a:xfrm>
              <a:off x="3034" y="672"/>
              <a:ext cx="16" cy="3"/>
            </a:xfrm>
            <a:custGeom>
              <a:avLst/>
              <a:gdLst>
                <a:gd name="T0" fmla="*/ 0 w 16"/>
                <a:gd name="T1" fmla="*/ 3 h 3"/>
                <a:gd name="T2" fmla="*/ 4 w 16"/>
                <a:gd name="T3" fmla="*/ 1 h 3"/>
                <a:gd name="T4" fmla="*/ 7 w 16"/>
                <a:gd name="T5" fmla="*/ 0 h 3"/>
                <a:gd name="T6" fmla="*/ 12 w 16"/>
                <a:gd name="T7" fmla="*/ 0 h 3"/>
                <a:gd name="T8" fmla="*/ 16 w 16"/>
                <a:gd name="T9" fmla="*/ 1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 h="3">
                  <a:moveTo>
                    <a:pt x="0" y="3"/>
                  </a:moveTo>
                  <a:lnTo>
                    <a:pt x="4" y="1"/>
                  </a:lnTo>
                  <a:lnTo>
                    <a:pt x="7" y="0"/>
                  </a:lnTo>
                  <a:lnTo>
                    <a:pt x="12" y="0"/>
                  </a:lnTo>
                  <a:lnTo>
                    <a:pt x="16" y="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36" name="Freeform 897"/>
            <p:cNvSpPr>
              <a:spLocks/>
            </p:cNvSpPr>
            <p:nvPr userDrawn="1"/>
          </p:nvSpPr>
          <p:spPr bwMode="gray">
            <a:xfrm>
              <a:off x="2740" y="980"/>
              <a:ext cx="2" cy="19"/>
            </a:xfrm>
            <a:custGeom>
              <a:avLst/>
              <a:gdLst>
                <a:gd name="T0" fmla="*/ 2 w 2"/>
                <a:gd name="T1" fmla="*/ 19 h 19"/>
                <a:gd name="T2" fmla="*/ 2 w 2"/>
                <a:gd name="T3" fmla="*/ 15 h 19"/>
                <a:gd name="T4" fmla="*/ 2 w 2"/>
                <a:gd name="T5" fmla="*/ 10 h 19"/>
                <a:gd name="T6" fmla="*/ 2 w 2"/>
                <a:gd name="T7" fmla="*/ 5 h 19"/>
                <a:gd name="T8" fmla="*/ 0 w 2"/>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19">
                  <a:moveTo>
                    <a:pt x="2" y="19"/>
                  </a:moveTo>
                  <a:lnTo>
                    <a:pt x="2" y="15"/>
                  </a:lnTo>
                  <a:lnTo>
                    <a:pt x="2" y="10"/>
                  </a:lnTo>
                  <a:lnTo>
                    <a:pt x="2" y="5"/>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37" name="Freeform 898"/>
            <p:cNvSpPr>
              <a:spLocks/>
            </p:cNvSpPr>
            <p:nvPr userDrawn="1"/>
          </p:nvSpPr>
          <p:spPr bwMode="gray">
            <a:xfrm>
              <a:off x="2732" y="990"/>
              <a:ext cx="19" cy="2"/>
            </a:xfrm>
            <a:custGeom>
              <a:avLst/>
              <a:gdLst>
                <a:gd name="T0" fmla="*/ 19 w 19"/>
                <a:gd name="T1" fmla="*/ 0 h 2"/>
                <a:gd name="T2" fmla="*/ 14 w 19"/>
                <a:gd name="T3" fmla="*/ 0 h 2"/>
                <a:gd name="T4" fmla="*/ 10 w 19"/>
                <a:gd name="T5" fmla="*/ 0 h 2"/>
                <a:gd name="T6" fmla="*/ 5 w 19"/>
                <a:gd name="T7" fmla="*/ 0 h 2"/>
                <a:gd name="T8" fmla="*/ 0 w 19"/>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
                  <a:moveTo>
                    <a:pt x="19" y="0"/>
                  </a:moveTo>
                  <a:lnTo>
                    <a:pt x="14" y="0"/>
                  </a:lnTo>
                  <a:lnTo>
                    <a:pt x="10" y="0"/>
                  </a:lnTo>
                  <a:lnTo>
                    <a:pt x="5"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38" name="Freeform 899"/>
            <p:cNvSpPr>
              <a:spLocks/>
            </p:cNvSpPr>
            <p:nvPr userDrawn="1"/>
          </p:nvSpPr>
          <p:spPr bwMode="gray">
            <a:xfrm>
              <a:off x="3249" y="733"/>
              <a:ext cx="4" cy="5"/>
            </a:xfrm>
            <a:custGeom>
              <a:avLst/>
              <a:gdLst>
                <a:gd name="T0" fmla="*/ 0 w 4"/>
                <a:gd name="T1" fmla="*/ 2 h 5"/>
                <a:gd name="T2" fmla="*/ 0 w 4"/>
                <a:gd name="T3" fmla="*/ 2 h 5"/>
                <a:gd name="T4" fmla="*/ 2 w 4"/>
                <a:gd name="T5" fmla="*/ 0 h 5"/>
                <a:gd name="T6" fmla="*/ 4 w 4"/>
                <a:gd name="T7" fmla="*/ 2 h 5"/>
                <a:gd name="T8" fmla="*/ 2 w 4"/>
                <a:gd name="T9" fmla="*/ 2 h 5"/>
                <a:gd name="T10" fmla="*/ 2 w 4"/>
                <a:gd name="T11" fmla="*/ 3 h 5"/>
                <a:gd name="T12" fmla="*/ 0 w 4"/>
                <a:gd name="T13" fmla="*/ 3 h 5"/>
                <a:gd name="T14" fmla="*/ 0 w 4"/>
                <a:gd name="T15" fmla="*/ 5 h 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 h="5">
                  <a:moveTo>
                    <a:pt x="0" y="2"/>
                  </a:moveTo>
                  <a:lnTo>
                    <a:pt x="0" y="2"/>
                  </a:lnTo>
                  <a:lnTo>
                    <a:pt x="2" y="0"/>
                  </a:lnTo>
                  <a:lnTo>
                    <a:pt x="4" y="2"/>
                  </a:lnTo>
                  <a:lnTo>
                    <a:pt x="2" y="2"/>
                  </a:lnTo>
                  <a:lnTo>
                    <a:pt x="2" y="3"/>
                  </a:lnTo>
                  <a:lnTo>
                    <a:pt x="0" y="3"/>
                  </a:lnTo>
                  <a:lnTo>
                    <a:pt x="0" y="5"/>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39" name="Freeform 900"/>
            <p:cNvSpPr>
              <a:spLocks/>
            </p:cNvSpPr>
            <p:nvPr userDrawn="1"/>
          </p:nvSpPr>
          <p:spPr bwMode="gray">
            <a:xfrm>
              <a:off x="3244" y="728"/>
              <a:ext cx="11" cy="15"/>
            </a:xfrm>
            <a:custGeom>
              <a:avLst/>
              <a:gdLst>
                <a:gd name="T0" fmla="*/ 11 w 11"/>
                <a:gd name="T1" fmla="*/ 15 h 15"/>
                <a:gd name="T2" fmla="*/ 11 w 11"/>
                <a:gd name="T3" fmla="*/ 10 h 15"/>
                <a:gd name="T4" fmla="*/ 7 w 11"/>
                <a:gd name="T5" fmla="*/ 5 h 15"/>
                <a:gd name="T6" fmla="*/ 5 w 11"/>
                <a:gd name="T7" fmla="*/ 1 h 15"/>
                <a:gd name="T8" fmla="*/ 0 w 11"/>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5">
                  <a:moveTo>
                    <a:pt x="11" y="15"/>
                  </a:moveTo>
                  <a:lnTo>
                    <a:pt x="11" y="10"/>
                  </a:lnTo>
                  <a:lnTo>
                    <a:pt x="7" y="5"/>
                  </a:lnTo>
                  <a:lnTo>
                    <a:pt x="5" y="1"/>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40" name="Freeform 901"/>
            <p:cNvSpPr>
              <a:spLocks/>
            </p:cNvSpPr>
            <p:nvPr userDrawn="1"/>
          </p:nvSpPr>
          <p:spPr bwMode="gray">
            <a:xfrm>
              <a:off x="2490" y="763"/>
              <a:ext cx="4" cy="15"/>
            </a:xfrm>
            <a:custGeom>
              <a:avLst/>
              <a:gdLst>
                <a:gd name="T0" fmla="*/ 4 w 4"/>
                <a:gd name="T1" fmla="*/ 15 h 15"/>
                <a:gd name="T2" fmla="*/ 0 w 4"/>
                <a:gd name="T3" fmla="*/ 12 h 15"/>
                <a:gd name="T4" fmla="*/ 0 w 4"/>
                <a:gd name="T5" fmla="*/ 8 h 15"/>
                <a:gd name="T6" fmla="*/ 0 w 4"/>
                <a:gd name="T7" fmla="*/ 5 h 15"/>
                <a:gd name="T8" fmla="*/ 2 w 4"/>
                <a:gd name="T9" fmla="*/ 1 h 15"/>
                <a:gd name="T10" fmla="*/ 4 w 4"/>
                <a:gd name="T11" fmla="*/ 0 h 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 h="15">
                  <a:moveTo>
                    <a:pt x="4" y="15"/>
                  </a:moveTo>
                  <a:lnTo>
                    <a:pt x="0" y="12"/>
                  </a:lnTo>
                  <a:lnTo>
                    <a:pt x="0" y="8"/>
                  </a:lnTo>
                  <a:lnTo>
                    <a:pt x="0" y="5"/>
                  </a:lnTo>
                  <a:lnTo>
                    <a:pt x="2" y="1"/>
                  </a:lnTo>
                  <a:lnTo>
                    <a:pt x="4"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41" name="Freeform 902"/>
            <p:cNvSpPr>
              <a:spLocks/>
            </p:cNvSpPr>
            <p:nvPr userDrawn="1"/>
          </p:nvSpPr>
          <p:spPr bwMode="gray">
            <a:xfrm>
              <a:off x="2489" y="764"/>
              <a:ext cx="8" cy="9"/>
            </a:xfrm>
            <a:custGeom>
              <a:avLst/>
              <a:gdLst>
                <a:gd name="T0" fmla="*/ 8 w 8"/>
                <a:gd name="T1" fmla="*/ 0 h 9"/>
                <a:gd name="T2" fmla="*/ 5 w 8"/>
                <a:gd name="T3" fmla="*/ 2 h 9"/>
                <a:gd name="T4" fmla="*/ 1 w 8"/>
                <a:gd name="T5" fmla="*/ 4 h 9"/>
                <a:gd name="T6" fmla="*/ 0 w 8"/>
                <a:gd name="T7" fmla="*/ 6 h 9"/>
                <a:gd name="T8" fmla="*/ 0 w 8"/>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9">
                  <a:moveTo>
                    <a:pt x="8" y="0"/>
                  </a:moveTo>
                  <a:lnTo>
                    <a:pt x="5" y="2"/>
                  </a:lnTo>
                  <a:lnTo>
                    <a:pt x="1" y="4"/>
                  </a:lnTo>
                  <a:lnTo>
                    <a:pt x="0" y="6"/>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42" name="Freeform 903"/>
            <p:cNvSpPr>
              <a:spLocks/>
            </p:cNvSpPr>
            <p:nvPr userDrawn="1"/>
          </p:nvSpPr>
          <p:spPr bwMode="gray">
            <a:xfrm>
              <a:off x="3146" y="960"/>
              <a:ext cx="2" cy="20"/>
            </a:xfrm>
            <a:custGeom>
              <a:avLst/>
              <a:gdLst>
                <a:gd name="T0" fmla="*/ 2 w 2"/>
                <a:gd name="T1" fmla="*/ 20 h 20"/>
                <a:gd name="T2" fmla="*/ 2 w 2"/>
                <a:gd name="T3" fmla="*/ 16 h 20"/>
                <a:gd name="T4" fmla="*/ 2 w 2"/>
                <a:gd name="T5" fmla="*/ 11 h 20"/>
                <a:gd name="T6" fmla="*/ 2 w 2"/>
                <a:gd name="T7" fmla="*/ 6 h 20"/>
                <a:gd name="T8" fmla="*/ 0 w 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20">
                  <a:moveTo>
                    <a:pt x="2" y="20"/>
                  </a:moveTo>
                  <a:lnTo>
                    <a:pt x="2" y="16"/>
                  </a:lnTo>
                  <a:lnTo>
                    <a:pt x="2" y="11"/>
                  </a:lnTo>
                  <a:lnTo>
                    <a:pt x="2" y="6"/>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43" name="Freeform 904"/>
            <p:cNvSpPr>
              <a:spLocks/>
            </p:cNvSpPr>
            <p:nvPr userDrawn="1"/>
          </p:nvSpPr>
          <p:spPr bwMode="gray">
            <a:xfrm>
              <a:off x="3139" y="971"/>
              <a:ext cx="18" cy="2"/>
            </a:xfrm>
            <a:custGeom>
              <a:avLst/>
              <a:gdLst>
                <a:gd name="T0" fmla="*/ 18 w 18"/>
                <a:gd name="T1" fmla="*/ 0 h 2"/>
                <a:gd name="T2" fmla="*/ 14 w 18"/>
                <a:gd name="T3" fmla="*/ 0 h 2"/>
                <a:gd name="T4" fmla="*/ 9 w 18"/>
                <a:gd name="T5" fmla="*/ 0 h 2"/>
                <a:gd name="T6" fmla="*/ 5 w 18"/>
                <a:gd name="T7" fmla="*/ 0 h 2"/>
                <a:gd name="T8" fmla="*/ 0 w 18"/>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2">
                  <a:moveTo>
                    <a:pt x="18" y="0"/>
                  </a:moveTo>
                  <a:lnTo>
                    <a:pt x="14" y="0"/>
                  </a:lnTo>
                  <a:lnTo>
                    <a:pt x="9" y="0"/>
                  </a:lnTo>
                  <a:lnTo>
                    <a:pt x="5" y="0"/>
                  </a:lnTo>
                  <a:lnTo>
                    <a:pt x="0" y="2"/>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44" name="Freeform 905"/>
            <p:cNvSpPr>
              <a:spLocks/>
            </p:cNvSpPr>
            <p:nvPr userDrawn="1"/>
          </p:nvSpPr>
          <p:spPr bwMode="gray">
            <a:xfrm>
              <a:off x="2651" y="687"/>
              <a:ext cx="18" cy="9"/>
            </a:xfrm>
            <a:custGeom>
              <a:avLst/>
              <a:gdLst>
                <a:gd name="T0" fmla="*/ 0 w 18"/>
                <a:gd name="T1" fmla="*/ 2 h 9"/>
                <a:gd name="T2" fmla="*/ 5 w 18"/>
                <a:gd name="T3" fmla="*/ 0 h 9"/>
                <a:gd name="T4" fmla="*/ 11 w 18"/>
                <a:gd name="T5" fmla="*/ 2 h 9"/>
                <a:gd name="T6" fmla="*/ 14 w 18"/>
                <a:gd name="T7" fmla="*/ 6 h 9"/>
                <a:gd name="T8" fmla="*/ 18 w 18"/>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9">
                  <a:moveTo>
                    <a:pt x="0" y="2"/>
                  </a:moveTo>
                  <a:lnTo>
                    <a:pt x="5" y="0"/>
                  </a:lnTo>
                  <a:lnTo>
                    <a:pt x="11" y="2"/>
                  </a:lnTo>
                  <a:lnTo>
                    <a:pt x="14" y="6"/>
                  </a:lnTo>
                  <a:lnTo>
                    <a:pt x="18"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45" name="Freeform 906"/>
            <p:cNvSpPr>
              <a:spLocks/>
            </p:cNvSpPr>
            <p:nvPr userDrawn="1"/>
          </p:nvSpPr>
          <p:spPr bwMode="gray">
            <a:xfrm>
              <a:off x="2653" y="687"/>
              <a:ext cx="10" cy="9"/>
            </a:xfrm>
            <a:custGeom>
              <a:avLst/>
              <a:gdLst>
                <a:gd name="T0" fmla="*/ 10 w 10"/>
                <a:gd name="T1" fmla="*/ 0 h 9"/>
                <a:gd name="T2" fmla="*/ 7 w 10"/>
                <a:gd name="T3" fmla="*/ 0 h 9"/>
                <a:gd name="T4" fmla="*/ 5 w 10"/>
                <a:gd name="T5" fmla="*/ 2 h 9"/>
                <a:gd name="T6" fmla="*/ 3 w 10"/>
                <a:gd name="T7" fmla="*/ 4 h 9"/>
                <a:gd name="T8" fmla="*/ 0 w 10"/>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9">
                  <a:moveTo>
                    <a:pt x="10" y="0"/>
                  </a:moveTo>
                  <a:lnTo>
                    <a:pt x="7" y="0"/>
                  </a:lnTo>
                  <a:lnTo>
                    <a:pt x="5" y="2"/>
                  </a:lnTo>
                  <a:lnTo>
                    <a:pt x="3" y="4"/>
                  </a:lnTo>
                  <a:lnTo>
                    <a:pt x="0" y="9"/>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46" name="Freeform 907"/>
            <p:cNvSpPr>
              <a:spLocks/>
            </p:cNvSpPr>
            <p:nvPr userDrawn="1"/>
          </p:nvSpPr>
          <p:spPr bwMode="gray">
            <a:xfrm>
              <a:off x="3300" y="882"/>
              <a:ext cx="14" cy="12"/>
            </a:xfrm>
            <a:custGeom>
              <a:avLst/>
              <a:gdLst>
                <a:gd name="T0" fmla="*/ 14 w 14"/>
                <a:gd name="T1" fmla="*/ 12 h 12"/>
                <a:gd name="T2" fmla="*/ 14 w 14"/>
                <a:gd name="T3" fmla="*/ 7 h 12"/>
                <a:gd name="T4" fmla="*/ 12 w 14"/>
                <a:gd name="T5" fmla="*/ 3 h 12"/>
                <a:gd name="T6" fmla="*/ 9 w 14"/>
                <a:gd name="T7" fmla="*/ 1 h 12"/>
                <a:gd name="T8" fmla="*/ 5 w 14"/>
                <a:gd name="T9" fmla="*/ 0 h 12"/>
                <a:gd name="T10" fmla="*/ 0 w 14"/>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 h="12">
                  <a:moveTo>
                    <a:pt x="14" y="12"/>
                  </a:moveTo>
                  <a:lnTo>
                    <a:pt x="14" y="7"/>
                  </a:lnTo>
                  <a:lnTo>
                    <a:pt x="12" y="3"/>
                  </a:lnTo>
                  <a:lnTo>
                    <a:pt x="9" y="1"/>
                  </a:lnTo>
                  <a:lnTo>
                    <a:pt x="5" y="0"/>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47" name="Freeform 908"/>
            <p:cNvSpPr>
              <a:spLocks/>
            </p:cNvSpPr>
            <p:nvPr userDrawn="1"/>
          </p:nvSpPr>
          <p:spPr bwMode="gray">
            <a:xfrm>
              <a:off x="3307" y="885"/>
              <a:ext cx="5" cy="7"/>
            </a:xfrm>
            <a:custGeom>
              <a:avLst/>
              <a:gdLst>
                <a:gd name="T0" fmla="*/ 0 w 5"/>
                <a:gd name="T1" fmla="*/ 0 h 7"/>
                <a:gd name="T2" fmla="*/ 3 w 5"/>
                <a:gd name="T3" fmla="*/ 0 h 7"/>
                <a:gd name="T4" fmla="*/ 5 w 5"/>
                <a:gd name="T5" fmla="*/ 2 h 7"/>
                <a:gd name="T6" fmla="*/ 5 w 5"/>
                <a:gd name="T7" fmla="*/ 4 h 7"/>
                <a:gd name="T8" fmla="*/ 3 w 5"/>
                <a:gd name="T9" fmla="*/ 7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7">
                  <a:moveTo>
                    <a:pt x="0" y="0"/>
                  </a:moveTo>
                  <a:lnTo>
                    <a:pt x="3" y="0"/>
                  </a:lnTo>
                  <a:lnTo>
                    <a:pt x="5" y="2"/>
                  </a:lnTo>
                  <a:lnTo>
                    <a:pt x="5" y="4"/>
                  </a:lnTo>
                  <a:lnTo>
                    <a:pt x="3"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48" name="Freeform 909"/>
            <p:cNvSpPr>
              <a:spLocks/>
            </p:cNvSpPr>
            <p:nvPr userDrawn="1"/>
          </p:nvSpPr>
          <p:spPr bwMode="gray">
            <a:xfrm>
              <a:off x="2118" y="1513"/>
              <a:ext cx="5" cy="16"/>
            </a:xfrm>
            <a:custGeom>
              <a:avLst/>
              <a:gdLst>
                <a:gd name="T0" fmla="*/ 1 w 5"/>
                <a:gd name="T1" fmla="*/ 0 h 16"/>
                <a:gd name="T2" fmla="*/ 0 w 5"/>
                <a:gd name="T3" fmla="*/ 3 h 16"/>
                <a:gd name="T4" fmla="*/ 0 w 5"/>
                <a:gd name="T5" fmla="*/ 7 h 16"/>
                <a:gd name="T6" fmla="*/ 1 w 5"/>
                <a:gd name="T7" fmla="*/ 12 h 16"/>
                <a:gd name="T8" fmla="*/ 3 w 5"/>
                <a:gd name="T9" fmla="*/ 14 h 16"/>
                <a:gd name="T10" fmla="*/ 5 w 5"/>
                <a:gd name="T11" fmla="*/ 16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16">
                  <a:moveTo>
                    <a:pt x="1" y="0"/>
                  </a:moveTo>
                  <a:lnTo>
                    <a:pt x="0" y="3"/>
                  </a:lnTo>
                  <a:lnTo>
                    <a:pt x="0" y="7"/>
                  </a:lnTo>
                  <a:lnTo>
                    <a:pt x="1" y="12"/>
                  </a:lnTo>
                  <a:lnTo>
                    <a:pt x="3" y="14"/>
                  </a:lnTo>
                  <a:lnTo>
                    <a:pt x="5" y="16"/>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49" name="Freeform 910"/>
            <p:cNvSpPr>
              <a:spLocks/>
            </p:cNvSpPr>
            <p:nvPr userDrawn="1"/>
          </p:nvSpPr>
          <p:spPr bwMode="gray">
            <a:xfrm>
              <a:off x="2118" y="1520"/>
              <a:ext cx="7" cy="7"/>
            </a:xfrm>
            <a:custGeom>
              <a:avLst/>
              <a:gdLst>
                <a:gd name="T0" fmla="*/ 7 w 7"/>
                <a:gd name="T1" fmla="*/ 7 h 7"/>
                <a:gd name="T2" fmla="*/ 3 w 7"/>
                <a:gd name="T3" fmla="*/ 5 h 7"/>
                <a:gd name="T4" fmla="*/ 1 w 7"/>
                <a:gd name="T5" fmla="*/ 5 h 7"/>
                <a:gd name="T6" fmla="*/ 0 w 7"/>
                <a:gd name="T7" fmla="*/ 2 h 7"/>
                <a:gd name="T8" fmla="*/ 0 w 7"/>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7" y="7"/>
                  </a:moveTo>
                  <a:lnTo>
                    <a:pt x="3" y="5"/>
                  </a:lnTo>
                  <a:lnTo>
                    <a:pt x="1" y="5"/>
                  </a:lnTo>
                  <a:lnTo>
                    <a:pt x="0" y="2"/>
                  </a:lnTo>
                  <a:lnTo>
                    <a:pt x="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50" name="Freeform 911"/>
            <p:cNvSpPr>
              <a:spLocks/>
            </p:cNvSpPr>
            <p:nvPr userDrawn="1"/>
          </p:nvSpPr>
          <p:spPr bwMode="gray">
            <a:xfrm>
              <a:off x="2111" y="1284"/>
              <a:ext cx="12" cy="14"/>
            </a:xfrm>
            <a:custGeom>
              <a:avLst/>
              <a:gdLst>
                <a:gd name="T0" fmla="*/ 0 w 12"/>
                <a:gd name="T1" fmla="*/ 14 h 14"/>
                <a:gd name="T2" fmla="*/ 0 w 12"/>
                <a:gd name="T3" fmla="*/ 9 h 14"/>
                <a:gd name="T4" fmla="*/ 3 w 12"/>
                <a:gd name="T5" fmla="*/ 3 h 14"/>
                <a:gd name="T6" fmla="*/ 7 w 12"/>
                <a:gd name="T7" fmla="*/ 2 h 14"/>
                <a:gd name="T8" fmla="*/ 12 w 12"/>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4">
                  <a:moveTo>
                    <a:pt x="0" y="14"/>
                  </a:moveTo>
                  <a:lnTo>
                    <a:pt x="0" y="9"/>
                  </a:lnTo>
                  <a:lnTo>
                    <a:pt x="3" y="3"/>
                  </a:lnTo>
                  <a:lnTo>
                    <a:pt x="7" y="2"/>
                  </a:lnTo>
                  <a:lnTo>
                    <a:pt x="1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51" name="Freeform 912"/>
            <p:cNvSpPr>
              <a:spLocks/>
            </p:cNvSpPr>
            <p:nvPr userDrawn="1"/>
          </p:nvSpPr>
          <p:spPr bwMode="gray">
            <a:xfrm>
              <a:off x="2112" y="1287"/>
              <a:ext cx="4" cy="7"/>
            </a:xfrm>
            <a:custGeom>
              <a:avLst/>
              <a:gdLst>
                <a:gd name="T0" fmla="*/ 4 w 4"/>
                <a:gd name="T1" fmla="*/ 7 h 7"/>
                <a:gd name="T2" fmla="*/ 2 w 4"/>
                <a:gd name="T3" fmla="*/ 6 h 7"/>
                <a:gd name="T4" fmla="*/ 0 w 4"/>
                <a:gd name="T5" fmla="*/ 2 h 7"/>
                <a:gd name="T6" fmla="*/ 0 w 4"/>
                <a:gd name="T7" fmla="*/ 2 h 7"/>
                <a:gd name="T8" fmla="*/ 2 w 4"/>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7">
                  <a:moveTo>
                    <a:pt x="4" y="7"/>
                  </a:moveTo>
                  <a:lnTo>
                    <a:pt x="2" y="6"/>
                  </a:lnTo>
                  <a:lnTo>
                    <a:pt x="0" y="2"/>
                  </a:lnTo>
                  <a:lnTo>
                    <a:pt x="2"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52" name="Line 913"/>
            <p:cNvSpPr>
              <a:spLocks noChangeShapeType="1"/>
            </p:cNvSpPr>
            <p:nvPr userDrawn="1"/>
          </p:nvSpPr>
          <p:spPr bwMode="gray">
            <a:xfrm flipH="1" flipV="1">
              <a:off x="3314" y="931"/>
              <a:ext cx="10" cy="5"/>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53" name="Line 914"/>
            <p:cNvSpPr>
              <a:spLocks noChangeShapeType="1"/>
            </p:cNvSpPr>
            <p:nvPr userDrawn="1"/>
          </p:nvSpPr>
          <p:spPr bwMode="gray">
            <a:xfrm flipV="1">
              <a:off x="3248" y="1887"/>
              <a:ext cx="1" cy="13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54" name="Freeform 915"/>
            <p:cNvSpPr>
              <a:spLocks/>
            </p:cNvSpPr>
            <p:nvPr userDrawn="1"/>
          </p:nvSpPr>
          <p:spPr bwMode="gray">
            <a:xfrm>
              <a:off x="3146" y="1980"/>
              <a:ext cx="9" cy="9"/>
            </a:xfrm>
            <a:custGeom>
              <a:avLst/>
              <a:gdLst>
                <a:gd name="T0" fmla="*/ 0 w 9"/>
                <a:gd name="T1" fmla="*/ 0 h 9"/>
                <a:gd name="T2" fmla="*/ 0 w 9"/>
                <a:gd name="T3" fmla="*/ 3 h 9"/>
                <a:gd name="T4" fmla="*/ 2 w 9"/>
                <a:gd name="T5" fmla="*/ 5 h 9"/>
                <a:gd name="T6" fmla="*/ 4 w 9"/>
                <a:gd name="T7" fmla="*/ 7 h 9"/>
                <a:gd name="T8" fmla="*/ 5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3"/>
                  </a:lnTo>
                  <a:lnTo>
                    <a:pt x="2" y="5"/>
                  </a:lnTo>
                  <a:lnTo>
                    <a:pt x="4" y="7"/>
                  </a:lnTo>
                  <a:lnTo>
                    <a:pt x="5" y="9"/>
                  </a:lnTo>
                  <a:lnTo>
                    <a:pt x="9"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55" name="Line 916"/>
            <p:cNvSpPr>
              <a:spLocks noChangeShapeType="1"/>
            </p:cNvSpPr>
            <p:nvPr userDrawn="1"/>
          </p:nvSpPr>
          <p:spPr bwMode="gray">
            <a:xfrm flipV="1">
              <a:off x="3141" y="1901"/>
              <a:ext cx="2" cy="74"/>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56" name="Line 917"/>
            <p:cNvSpPr>
              <a:spLocks noChangeShapeType="1"/>
            </p:cNvSpPr>
            <p:nvPr userDrawn="1"/>
          </p:nvSpPr>
          <p:spPr bwMode="gray">
            <a:xfrm flipV="1">
              <a:off x="3146" y="1903"/>
              <a:ext cx="2" cy="77"/>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57" name="Line 918"/>
            <p:cNvSpPr>
              <a:spLocks noChangeShapeType="1"/>
            </p:cNvSpPr>
            <p:nvPr userDrawn="1"/>
          </p:nvSpPr>
          <p:spPr bwMode="gray">
            <a:xfrm>
              <a:off x="3144" y="1903"/>
              <a:ext cx="1" cy="68"/>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58" name="Freeform 919"/>
            <p:cNvSpPr>
              <a:spLocks/>
            </p:cNvSpPr>
            <p:nvPr userDrawn="1"/>
          </p:nvSpPr>
          <p:spPr bwMode="gray">
            <a:xfrm>
              <a:off x="3141" y="1971"/>
              <a:ext cx="5" cy="9"/>
            </a:xfrm>
            <a:custGeom>
              <a:avLst/>
              <a:gdLst>
                <a:gd name="T0" fmla="*/ 5 w 5"/>
                <a:gd name="T1" fmla="*/ 9 h 9"/>
                <a:gd name="T2" fmla="*/ 2 w 5"/>
                <a:gd name="T3" fmla="*/ 7 h 9"/>
                <a:gd name="T4" fmla="*/ 0 w 5"/>
                <a:gd name="T5" fmla="*/ 5 h 9"/>
                <a:gd name="T6" fmla="*/ 0 w 5"/>
                <a:gd name="T7" fmla="*/ 2 h 9"/>
                <a:gd name="T8" fmla="*/ 3 w 5"/>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9">
                  <a:moveTo>
                    <a:pt x="5" y="9"/>
                  </a:moveTo>
                  <a:lnTo>
                    <a:pt x="2" y="7"/>
                  </a:lnTo>
                  <a:lnTo>
                    <a:pt x="0" y="5"/>
                  </a:lnTo>
                  <a:lnTo>
                    <a:pt x="0" y="2"/>
                  </a:lnTo>
                  <a:lnTo>
                    <a:pt x="3"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59" name="Freeform 920"/>
            <p:cNvSpPr>
              <a:spLocks/>
            </p:cNvSpPr>
            <p:nvPr userDrawn="1"/>
          </p:nvSpPr>
          <p:spPr bwMode="gray">
            <a:xfrm>
              <a:off x="3143" y="1985"/>
              <a:ext cx="12" cy="11"/>
            </a:xfrm>
            <a:custGeom>
              <a:avLst/>
              <a:gdLst>
                <a:gd name="T0" fmla="*/ 12 w 12"/>
                <a:gd name="T1" fmla="*/ 2 h 11"/>
                <a:gd name="T2" fmla="*/ 8 w 12"/>
                <a:gd name="T3" fmla="*/ 0 h 11"/>
                <a:gd name="T4" fmla="*/ 5 w 12"/>
                <a:gd name="T5" fmla="*/ 2 h 11"/>
                <a:gd name="T6" fmla="*/ 1 w 12"/>
                <a:gd name="T7" fmla="*/ 4 h 11"/>
                <a:gd name="T8" fmla="*/ 1 w 12"/>
                <a:gd name="T9" fmla="*/ 5 h 11"/>
                <a:gd name="T10" fmla="*/ 0 w 12"/>
                <a:gd name="T11" fmla="*/ 1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11">
                  <a:moveTo>
                    <a:pt x="12" y="2"/>
                  </a:moveTo>
                  <a:lnTo>
                    <a:pt x="8" y="0"/>
                  </a:lnTo>
                  <a:lnTo>
                    <a:pt x="5" y="2"/>
                  </a:lnTo>
                  <a:lnTo>
                    <a:pt x="1" y="4"/>
                  </a:lnTo>
                  <a:lnTo>
                    <a:pt x="1" y="5"/>
                  </a:lnTo>
                  <a:lnTo>
                    <a:pt x="0" y="11"/>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60" name="Freeform 921"/>
            <p:cNvSpPr>
              <a:spLocks/>
            </p:cNvSpPr>
            <p:nvPr userDrawn="1"/>
          </p:nvSpPr>
          <p:spPr bwMode="gray">
            <a:xfrm>
              <a:off x="3132" y="1971"/>
              <a:ext cx="12" cy="9"/>
            </a:xfrm>
            <a:custGeom>
              <a:avLst/>
              <a:gdLst>
                <a:gd name="T0" fmla="*/ 12 w 12"/>
                <a:gd name="T1" fmla="*/ 0 h 9"/>
                <a:gd name="T2" fmla="*/ 11 w 12"/>
                <a:gd name="T3" fmla="*/ 4 h 9"/>
                <a:gd name="T4" fmla="*/ 11 w 12"/>
                <a:gd name="T5" fmla="*/ 7 h 9"/>
                <a:gd name="T6" fmla="*/ 7 w 12"/>
                <a:gd name="T7" fmla="*/ 9 h 9"/>
                <a:gd name="T8" fmla="*/ 4 w 12"/>
                <a:gd name="T9" fmla="*/ 9 h 9"/>
                <a:gd name="T10" fmla="*/ 0 w 12"/>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9">
                  <a:moveTo>
                    <a:pt x="12" y="0"/>
                  </a:moveTo>
                  <a:lnTo>
                    <a:pt x="11" y="4"/>
                  </a:lnTo>
                  <a:lnTo>
                    <a:pt x="11" y="7"/>
                  </a:lnTo>
                  <a:lnTo>
                    <a:pt x="7" y="9"/>
                  </a:lnTo>
                  <a:lnTo>
                    <a:pt x="4" y="9"/>
                  </a:lnTo>
                  <a:lnTo>
                    <a:pt x="0" y="7"/>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61" name="Freeform 922"/>
            <p:cNvSpPr>
              <a:spLocks/>
            </p:cNvSpPr>
            <p:nvPr userDrawn="1"/>
          </p:nvSpPr>
          <p:spPr bwMode="gray">
            <a:xfrm>
              <a:off x="3123" y="1978"/>
              <a:ext cx="9" cy="18"/>
            </a:xfrm>
            <a:custGeom>
              <a:avLst/>
              <a:gdLst>
                <a:gd name="T0" fmla="*/ 0 w 9"/>
                <a:gd name="T1" fmla="*/ 18 h 18"/>
                <a:gd name="T2" fmla="*/ 2 w 9"/>
                <a:gd name="T3" fmla="*/ 14 h 18"/>
                <a:gd name="T4" fmla="*/ 4 w 9"/>
                <a:gd name="T5" fmla="*/ 9 h 18"/>
                <a:gd name="T6" fmla="*/ 6 w 9"/>
                <a:gd name="T7" fmla="*/ 4 h 18"/>
                <a:gd name="T8" fmla="*/ 9 w 9"/>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0" y="18"/>
                  </a:moveTo>
                  <a:lnTo>
                    <a:pt x="2" y="14"/>
                  </a:lnTo>
                  <a:lnTo>
                    <a:pt x="4" y="9"/>
                  </a:lnTo>
                  <a:lnTo>
                    <a:pt x="6" y="4"/>
                  </a:lnTo>
                  <a:lnTo>
                    <a:pt x="9"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62" name="Freeform 923"/>
            <p:cNvSpPr>
              <a:spLocks/>
            </p:cNvSpPr>
            <p:nvPr userDrawn="1"/>
          </p:nvSpPr>
          <p:spPr bwMode="gray">
            <a:xfrm>
              <a:off x="3123" y="1996"/>
              <a:ext cx="20" cy="1"/>
            </a:xfrm>
            <a:custGeom>
              <a:avLst/>
              <a:gdLst>
                <a:gd name="T0" fmla="*/ 0 w 20"/>
                <a:gd name="T1" fmla="*/ 0 h 1"/>
                <a:gd name="T2" fmla="*/ 6 w 20"/>
                <a:gd name="T3" fmla="*/ 1 h 1"/>
                <a:gd name="T4" fmla="*/ 11 w 20"/>
                <a:gd name="T5" fmla="*/ 1 h 1"/>
                <a:gd name="T6" fmla="*/ 16 w 20"/>
                <a:gd name="T7" fmla="*/ 1 h 1"/>
                <a:gd name="T8" fmla="*/ 20 w 20"/>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
                  <a:moveTo>
                    <a:pt x="0" y="0"/>
                  </a:moveTo>
                  <a:lnTo>
                    <a:pt x="6" y="1"/>
                  </a:lnTo>
                  <a:lnTo>
                    <a:pt x="11" y="1"/>
                  </a:lnTo>
                  <a:lnTo>
                    <a:pt x="16" y="1"/>
                  </a:lnTo>
                  <a:lnTo>
                    <a:pt x="20" y="0"/>
                  </a:lnTo>
                </a:path>
              </a:pathLst>
            </a:custGeom>
            <a:noFill/>
            <a:ln w="31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263" name="Line 924"/>
            <p:cNvSpPr>
              <a:spLocks noChangeShapeType="1"/>
            </p:cNvSpPr>
            <p:nvPr userDrawn="1"/>
          </p:nvSpPr>
          <p:spPr bwMode="gray">
            <a:xfrm>
              <a:off x="2837" y="1216"/>
              <a:ext cx="314" cy="103"/>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grpSp>
      <p:grpSp>
        <p:nvGrpSpPr>
          <p:cNvPr id="864" name="Group 925"/>
          <p:cNvGrpSpPr>
            <a:grpSpLocks/>
          </p:cNvGrpSpPr>
          <p:nvPr userDrawn="1"/>
        </p:nvGrpSpPr>
        <p:grpSpPr bwMode="auto">
          <a:xfrm>
            <a:off x="5867400" y="3789363"/>
            <a:ext cx="2798763" cy="2786062"/>
            <a:chOff x="4059" y="2614"/>
            <a:chExt cx="1581" cy="1574"/>
          </a:xfrm>
        </p:grpSpPr>
        <p:sp>
          <p:nvSpPr>
            <p:cNvPr id="865" name="Line 926"/>
            <p:cNvSpPr>
              <a:spLocks noChangeShapeType="1"/>
            </p:cNvSpPr>
            <p:nvPr userDrawn="1"/>
          </p:nvSpPr>
          <p:spPr bwMode="gray">
            <a:xfrm flipH="1">
              <a:off x="5040" y="3476"/>
              <a:ext cx="156"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66" name="Line 927"/>
            <p:cNvSpPr>
              <a:spLocks noChangeShapeType="1"/>
            </p:cNvSpPr>
            <p:nvPr userDrawn="1"/>
          </p:nvSpPr>
          <p:spPr bwMode="gray">
            <a:xfrm flipH="1" flipV="1">
              <a:off x="5049" y="3467"/>
              <a:ext cx="206" cy="7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67" name="Line 928"/>
            <p:cNvSpPr>
              <a:spLocks noChangeShapeType="1"/>
            </p:cNvSpPr>
            <p:nvPr userDrawn="1"/>
          </p:nvSpPr>
          <p:spPr bwMode="gray">
            <a:xfrm flipV="1">
              <a:off x="5029" y="3586"/>
              <a:ext cx="2" cy="2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68" name="Line 929"/>
            <p:cNvSpPr>
              <a:spLocks noChangeShapeType="1"/>
            </p:cNvSpPr>
            <p:nvPr userDrawn="1"/>
          </p:nvSpPr>
          <p:spPr bwMode="gray">
            <a:xfrm flipV="1">
              <a:off x="5397" y="3462"/>
              <a:ext cx="7" cy="2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69" name="Line 930"/>
            <p:cNvSpPr>
              <a:spLocks noChangeShapeType="1"/>
            </p:cNvSpPr>
            <p:nvPr userDrawn="1"/>
          </p:nvSpPr>
          <p:spPr bwMode="gray">
            <a:xfrm flipH="1">
              <a:off x="5404" y="3217"/>
              <a:ext cx="7" cy="2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70" name="Line 931"/>
            <p:cNvSpPr>
              <a:spLocks noChangeShapeType="1"/>
            </p:cNvSpPr>
            <p:nvPr userDrawn="1"/>
          </p:nvSpPr>
          <p:spPr bwMode="gray">
            <a:xfrm flipV="1">
              <a:off x="4938" y="2878"/>
              <a:ext cx="2" cy="23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71" name="Freeform 932"/>
            <p:cNvSpPr>
              <a:spLocks/>
            </p:cNvSpPr>
            <p:nvPr userDrawn="1"/>
          </p:nvSpPr>
          <p:spPr bwMode="gray">
            <a:xfrm>
              <a:off x="5031" y="3567"/>
              <a:ext cx="9" cy="19"/>
            </a:xfrm>
            <a:custGeom>
              <a:avLst/>
              <a:gdLst>
                <a:gd name="T0" fmla="*/ 9 w 9"/>
                <a:gd name="T1" fmla="*/ 0 h 19"/>
                <a:gd name="T2" fmla="*/ 5 w 9"/>
                <a:gd name="T3" fmla="*/ 4 h 19"/>
                <a:gd name="T4" fmla="*/ 4 w 9"/>
                <a:gd name="T5" fmla="*/ 9 h 19"/>
                <a:gd name="T6" fmla="*/ 2 w 9"/>
                <a:gd name="T7" fmla="*/ 12 h 19"/>
                <a:gd name="T8" fmla="*/ 0 w 9"/>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9">
                  <a:moveTo>
                    <a:pt x="9" y="0"/>
                  </a:moveTo>
                  <a:lnTo>
                    <a:pt x="5" y="4"/>
                  </a:lnTo>
                  <a:lnTo>
                    <a:pt x="4" y="9"/>
                  </a:lnTo>
                  <a:lnTo>
                    <a:pt x="2" y="12"/>
                  </a:lnTo>
                  <a:lnTo>
                    <a:pt x="0" y="1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72" name="Line 933"/>
            <p:cNvSpPr>
              <a:spLocks noChangeShapeType="1"/>
            </p:cNvSpPr>
            <p:nvPr userDrawn="1"/>
          </p:nvSpPr>
          <p:spPr bwMode="gray">
            <a:xfrm>
              <a:off x="4931" y="3539"/>
              <a:ext cx="209"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73" name="Line 934"/>
            <p:cNvSpPr>
              <a:spLocks noChangeShapeType="1"/>
            </p:cNvSpPr>
            <p:nvPr userDrawn="1"/>
          </p:nvSpPr>
          <p:spPr bwMode="gray">
            <a:xfrm>
              <a:off x="4937" y="3532"/>
              <a:ext cx="208" cy="7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74" name="Line 935"/>
            <p:cNvSpPr>
              <a:spLocks noChangeShapeType="1"/>
            </p:cNvSpPr>
            <p:nvPr userDrawn="1"/>
          </p:nvSpPr>
          <p:spPr bwMode="gray">
            <a:xfrm flipH="1" flipV="1">
              <a:off x="4928" y="3550"/>
              <a:ext cx="208" cy="7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75" name="Line 936"/>
            <p:cNvSpPr>
              <a:spLocks noChangeShapeType="1"/>
            </p:cNvSpPr>
            <p:nvPr userDrawn="1"/>
          </p:nvSpPr>
          <p:spPr bwMode="gray">
            <a:xfrm>
              <a:off x="4905" y="3786"/>
              <a:ext cx="187"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76" name="Line 937"/>
            <p:cNvSpPr>
              <a:spLocks noChangeShapeType="1"/>
            </p:cNvSpPr>
            <p:nvPr userDrawn="1"/>
          </p:nvSpPr>
          <p:spPr bwMode="gray">
            <a:xfrm flipH="1" flipV="1">
              <a:off x="4179" y="3352"/>
              <a:ext cx="116" cy="4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77" name="Line 938"/>
            <p:cNvSpPr>
              <a:spLocks noChangeShapeType="1"/>
            </p:cNvSpPr>
            <p:nvPr userDrawn="1"/>
          </p:nvSpPr>
          <p:spPr bwMode="gray">
            <a:xfrm flipV="1">
              <a:off x="4232" y="3411"/>
              <a:ext cx="63" cy="3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78" name="Line 939"/>
            <p:cNvSpPr>
              <a:spLocks noChangeShapeType="1"/>
            </p:cNvSpPr>
            <p:nvPr userDrawn="1"/>
          </p:nvSpPr>
          <p:spPr bwMode="gray">
            <a:xfrm flipH="1" flipV="1">
              <a:off x="4613" y="3508"/>
              <a:ext cx="203" cy="7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79" name="Line 940"/>
            <p:cNvSpPr>
              <a:spLocks noChangeShapeType="1"/>
            </p:cNvSpPr>
            <p:nvPr userDrawn="1"/>
          </p:nvSpPr>
          <p:spPr bwMode="gray">
            <a:xfrm flipV="1">
              <a:off x="4590" y="3483"/>
              <a:ext cx="163"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80" name="Line 941"/>
            <p:cNvSpPr>
              <a:spLocks noChangeShapeType="1"/>
            </p:cNvSpPr>
            <p:nvPr userDrawn="1"/>
          </p:nvSpPr>
          <p:spPr bwMode="gray">
            <a:xfrm flipV="1">
              <a:off x="4828" y="3597"/>
              <a:ext cx="1" cy="23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81" name="Line 942"/>
            <p:cNvSpPr>
              <a:spLocks noChangeShapeType="1"/>
            </p:cNvSpPr>
            <p:nvPr userDrawn="1"/>
          </p:nvSpPr>
          <p:spPr bwMode="gray">
            <a:xfrm flipV="1">
              <a:off x="4746" y="3665"/>
              <a:ext cx="161" cy="9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82" name="Line 943"/>
            <p:cNvSpPr>
              <a:spLocks noChangeShapeType="1"/>
            </p:cNvSpPr>
            <p:nvPr userDrawn="1"/>
          </p:nvSpPr>
          <p:spPr bwMode="gray">
            <a:xfrm>
              <a:off x="4681" y="3450"/>
              <a:ext cx="11" cy="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83" name="Line 944"/>
            <p:cNvSpPr>
              <a:spLocks noChangeShapeType="1"/>
            </p:cNvSpPr>
            <p:nvPr userDrawn="1"/>
          </p:nvSpPr>
          <p:spPr bwMode="gray">
            <a:xfrm flipV="1">
              <a:off x="4692" y="3453"/>
              <a:ext cx="1" cy="1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84" name="Line 945"/>
            <p:cNvSpPr>
              <a:spLocks noChangeShapeType="1"/>
            </p:cNvSpPr>
            <p:nvPr userDrawn="1"/>
          </p:nvSpPr>
          <p:spPr bwMode="gray">
            <a:xfrm flipH="1" flipV="1">
              <a:off x="4400" y="3513"/>
              <a:ext cx="4" cy="25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85" name="Line 946"/>
            <p:cNvSpPr>
              <a:spLocks noChangeShapeType="1"/>
            </p:cNvSpPr>
            <p:nvPr userDrawn="1"/>
          </p:nvSpPr>
          <p:spPr bwMode="gray">
            <a:xfrm>
              <a:off x="4090" y="3527"/>
              <a:ext cx="637" cy="23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86" name="Line 947"/>
            <p:cNvSpPr>
              <a:spLocks noChangeShapeType="1"/>
            </p:cNvSpPr>
            <p:nvPr userDrawn="1"/>
          </p:nvSpPr>
          <p:spPr bwMode="gray">
            <a:xfrm flipV="1">
              <a:off x="4512" y="3553"/>
              <a:ext cx="1" cy="1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87" name="Line 948"/>
            <p:cNvSpPr>
              <a:spLocks noChangeShapeType="1"/>
            </p:cNvSpPr>
            <p:nvPr userDrawn="1"/>
          </p:nvSpPr>
          <p:spPr bwMode="gray">
            <a:xfrm flipH="1" flipV="1">
              <a:off x="4499" y="3550"/>
              <a:ext cx="13" cy="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88" name="Line 949"/>
            <p:cNvSpPr>
              <a:spLocks noChangeShapeType="1"/>
            </p:cNvSpPr>
            <p:nvPr userDrawn="1"/>
          </p:nvSpPr>
          <p:spPr bwMode="gray">
            <a:xfrm flipH="1" flipV="1">
              <a:off x="4302" y="3478"/>
              <a:ext cx="197"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89" name="Line 950"/>
            <p:cNvSpPr>
              <a:spLocks noChangeShapeType="1"/>
            </p:cNvSpPr>
            <p:nvPr userDrawn="1"/>
          </p:nvSpPr>
          <p:spPr bwMode="gray">
            <a:xfrm flipH="1" flipV="1">
              <a:off x="4291" y="3474"/>
              <a:ext cx="11"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90" name="Line 951"/>
            <p:cNvSpPr>
              <a:spLocks noChangeShapeType="1"/>
            </p:cNvSpPr>
            <p:nvPr userDrawn="1"/>
          </p:nvSpPr>
          <p:spPr bwMode="gray">
            <a:xfrm flipV="1">
              <a:off x="4291" y="3474"/>
              <a:ext cx="1" cy="1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91" name="Line 952"/>
            <p:cNvSpPr>
              <a:spLocks noChangeShapeType="1"/>
            </p:cNvSpPr>
            <p:nvPr userDrawn="1"/>
          </p:nvSpPr>
          <p:spPr bwMode="gray">
            <a:xfrm>
              <a:off x="4295" y="3714"/>
              <a:ext cx="1" cy="1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92" name="Line 953"/>
            <p:cNvSpPr>
              <a:spLocks noChangeShapeType="1"/>
            </p:cNvSpPr>
            <p:nvPr userDrawn="1"/>
          </p:nvSpPr>
          <p:spPr bwMode="gray">
            <a:xfrm>
              <a:off x="4295" y="3728"/>
              <a:ext cx="13"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93" name="Line 954"/>
            <p:cNvSpPr>
              <a:spLocks noChangeShapeType="1"/>
            </p:cNvSpPr>
            <p:nvPr userDrawn="1"/>
          </p:nvSpPr>
          <p:spPr bwMode="gray">
            <a:xfrm>
              <a:off x="4307" y="3732"/>
              <a:ext cx="195" cy="7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94" name="Line 955"/>
            <p:cNvSpPr>
              <a:spLocks noChangeShapeType="1"/>
            </p:cNvSpPr>
            <p:nvPr userDrawn="1"/>
          </p:nvSpPr>
          <p:spPr bwMode="gray">
            <a:xfrm>
              <a:off x="4503" y="3805"/>
              <a:ext cx="10" cy="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95" name="Line 956"/>
            <p:cNvSpPr>
              <a:spLocks noChangeShapeType="1"/>
            </p:cNvSpPr>
            <p:nvPr userDrawn="1"/>
          </p:nvSpPr>
          <p:spPr bwMode="gray">
            <a:xfrm>
              <a:off x="4513" y="3796"/>
              <a:ext cx="1" cy="1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96" name="Line 957"/>
            <p:cNvSpPr>
              <a:spLocks noChangeShapeType="1"/>
            </p:cNvSpPr>
            <p:nvPr userDrawn="1"/>
          </p:nvSpPr>
          <p:spPr bwMode="gray">
            <a:xfrm flipH="1" flipV="1">
              <a:off x="4604" y="3836"/>
              <a:ext cx="2" cy="15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97" name="Line 958"/>
            <p:cNvSpPr>
              <a:spLocks noChangeShapeType="1"/>
            </p:cNvSpPr>
            <p:nvPr userDrawn="1"/>
          </p:nvSpPr>
          <p:spPr bwMode="gray">
            <a:xfrm flipV="1">
              <a:off x="4524" y="3836"/>
              <a:ext cx="79" cy="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98" name="Line 959"/>
            <p:cNvSpPr>
              <a:spLocks noChangeShapeType="1"/>
            </p:cNvSpPr>
            <p:nvPr userDrawn="1"/>
          </p:nvSpPr>
          <p:spPr bwMode="gray">
            <a:xfrm flipH="1" flipV="1">
              <a:off x="4601" y="3256"/>
              <a:ext cx="4" cy="23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899" name="Line 960"/>
            <p:cNvSpPr>
              <a:spLocks noChangeShapeType="1"/>
            </p:cNvSpPr>
            <p:nvPr userDrawn="1"/>
          </p:nvSpPr>
          <p:spPr bwMode="gray">
            <a:xfrm flipV="1">
              <a:off x="4520" y="3378"/>
              <a:ext cx="163" cy="8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00" name="Line 961"/>
            <p:cNvSpPr>
              <a:spLocks noChangeShapeType="1"/>
            </p:cNvSpPr>
            <p:nvPr userDrawn="1"/>
          </p:nvSpPr>
          <p:spPr bwMode="gray">
            <a:xfrm>
              <a:off x="4389" y="3172"/>
              <a:ext cx="200" cy="6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01" name="Line 962"/>
            <p:cNvSpPr>
              <a:spLocks noChangeShapeType="1"/>
            </p:cNvSpPr>
            <p:nvPr userDrawn="1"/>
          </p:nvSpPr>
          <p:spPr bwMode="gray">
            <a:xfrm flipH="1">
              <a:off x="4405" y="3163"/>
              <a:ext cx="166" cy="8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02" name="Line 963"/>
            <p:cNvSpPr>
              <a:spLocks noChangeShapeType="1"/>
            </p:cNvSpPr>
            <p:nvPr userDrawn="1"/>
          </p:nvSpPr>
          <p:spPr bwMode="gray">
            <a:xfrm>
              <a:off x="4307" y="3808"/>
              <a:ext cx="195" cy="7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03" name="Line 964"/>
            <p:cNvSpPr>
              <a:spLocks noChangeShapeType="1"/>
            </p:cNvSpPr>
            <p:nvPr userDrawn="1"/>
          </p:nvSpPr>
          <p:spPr bwMode="gray">
            <a:xfrm>
              <a:off x="4403" y="3768"/>
              <a:ext cx="4" cy="23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04" name="Line 965"/>
            <p:cNvSpPr>
              <a:spLocks noChangeShapeType="1"/>
            </p:cNvSpPr>
            <p:nvPr userDrawn="1"/>
          </p:nvSpPr>
          <p:spPr bwMode="gray">
            <a:xfrm>
              <a:off x="4300" y="3398"/>
              <a:ext cx="199" cy="7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05" name="Line 966"/>
            <p:cNvSpPr>
              <a:spLocks noChangeShapeType="1"/>
            </p:cNvSpPr>
            <p:nvPr userDrawn="1"/>
          </p:nvSpPr>
          <p:spPr bwMode="gray">
            <a:xfrm>
              <a:off x="4396" y="3266"/>
              <a:ext cx="4" cy="24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06" name="Line 967"/>
            <p:cNvSpPr>
              <a:spLocks noChangeShapeType="1"/>
            </p:cNvSpPr>
            <p:nvPr userDrawn="1"/>
          </p:nvSpPr>
          <p:spPr bwMode="gray">
            <a:xfrm flipV="1">
              <a:off x="5386" y="3111"/>
              <a:ext cx="30" cy="1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07" name="Line 968"/>
            <p:cNvSpPr>
              <a:spLocks noChangeShapeType="1"/>
            </p:cNvSpPr>
            <p:nvPr userDrawn="1"/>
          </p:nvSpPr>
          <p:spPr bwMode="gray">
            <a:xfrm flipV="1">
              <a:off x="5496" y="3212"/>
              <a:ext cx="4" cy="6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08" name="Line 969"/>
            <p:cNvSpPr>
              <a:spLocks noChangeShapeType="1"/>
            </p:cNvSpPr>
            <p:nvPr userDrawn="1"/>
          </p:nvSpPr>
          <p:spPr bwMode="gray">
            <a:xfrm flipV="1">
              <a:off x="5547" y="3280"/>
              <a:ext cx="18" cy="1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09" name="Line 970"/>
            <p:cNvSpPr>
              <a:spLocks noChangeShapeType="1"/>
            </p:cNvSpPr>
            <p:nvPr userDrawn="1"/>
          </p:nvSpPr>
          <p:spPr bwMode="gray">
            <a:xfrm>
              <a:off x="5346" y="3083"/>
              <a:ext cx="10" cy="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10" name="Line 971"/>
            <p:cNvSpPr>
              <a:spLocks noChangeShapeType="1"/>
            </p:cNvSpPr>
            <p:nvPr userDrawn="1"/>
          </p:nvSpPr>
          <p:spPr bwMode="gray">
            <a:xfrm flipV="1">
              <a:off x="5356" y="3086"/>
              <a:ext cx="1" cy="1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11" name="Line 972"/>
            <p:cNvSpPr>
              <a:spLocks noChangeShapeType="1"/>
            </p:cNvSpPr>
            <p:nvPr userDrawn="1"/>
          </p:nvSpPr>
          <p:spPr bwMode="gray">
            <a:xfrm flipV="1">
              <a:off x="5087" y="3168"/>
              <a:ext cx="4" cy="21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12" name="Line 973"/>
            <p:cNvSpPr>
              <a:spLocks noChangeShapeType="1"/>
            </p:cNvSpPr>
            <p:nvPr userDrawn="1"/>
          </p:nvSpPr>
          <p:spPr bwMode="gray">
            <a:xfrm>
              <a:off x="4982" y="3333"/>
              <a:ext cx="1" cy="1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13" name="Line 974"/>
            <p:cNvSpPr>
              <a:spLocks noChangeShapeType="1"/>
            </p:cNvSpPr>
            <p:nvPr userDrawn="1"/>
          </p:nvSpPr>
          <p:spPr bwMode="gray">
            <a:xfrm>
              <a:off x="4982" y="3345"/>
              <a:ext cx="13"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14" name="Line 975"/>
            <p:cNvSpPr>
              <a:spLocks noChangeShapeType="1"/>
            </p:cNvSpPr>
            <p:nvPr userDrawn="1"/>
          </p:nvSpPr>
          <p:spPr bwMode="gray">
            <a:xfrm flipV="1">
              <a:off x="5279" y="2896"/>
              <a:ext cx="4" cy="19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15" name="Line 976"/>
            <p:cNvSpPr>
              <a:spLocks noChangeShapeType="1"/>
            </p:cNvSpPr>
            <p:nvPr userDrawn="1"/>
          </p:nvSpPr>
          <p:spPr bwMode="gray">
            <a:xfrm flipV="1">
              <a:off x="5257" y="3014"/>
              <a:ext cx="94" cy="5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16" name="Line 977"/>
            <p:cNvSpPr>
              <a:spLocks noChangeShapeType="1"/>
            </p:cNvSpPr>
            <p:nvPr userDrawn="1"/>
          </p:nvSpPr>
          <p:spPr bwMode="gray">
            <a:xfrm flipH="1">
              <a:off x="5232" y="2812"/>
              <a:ext cx="14" cy="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17" name="Line 978"/>
            <p:cNvSpPr>
              <a:spLocks noChangeShapeType="1"/>
            </p:cNvSpPr>
            <p:nvPr userDrawn="1"/>
          </p:nvSpPr>
          <p:spPr bwMode="gray">
            <a:xfrm>
              <a:off x="4991" y="3422"/>
              <a:ext cx="83" cy="2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18" name="Line 979"/>
            <p:cNvSpPr>
              <a:spLocks noChangeShapeType="1"/>
            </p:cNvSpPr>
            <p:nvPr userDrawn="1"/>
          </p:nvSpPr>
          <p:spPr bwMode="gray">
            <a:xfrm flipH="1" flipV="1">
              <a:off x="4993" y="3349"/>
              <a:ext cx="105" cy="3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19" name="Line 980"/>
            <p:cNvSpPr>
              <a:spLocks noChangeShapeType="1"/>
            </p:cNvSpPr>
            <p:nvPr userDrawn="1"/>
          </p:nvSpPr>
          <p:spPr bwMode="gray">
            <a:xfrm flipH="1">
              <a:off x="5482" y="3286"/>
              <a:ext cx="42" cy="2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20" name="Line 981"/>
            <p:cNvSpPr>
              <a:spLocks noChangeShapeType="1"/>
            </p:cNvSpPr>
            <p:nvPr userDrawn="1"/>
          </p:nvSpPr>
          <p:spPr bwMode="gray">
            <a:xfrm flipH="1" flipV="1">
              <a:off x="5481" y="3364"/>
              <a:ext cx="43" cy="1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21" name="Line 982"/>
            <p:cNvSpPr>
              <a:spLocks noChangeShapeType="1"/>
            </p:cNvSpPr>
            <p:nvPr userDrawn="1"/>
          </p:nvSpPr>
          <p:spPr bwMode="gray">
            <a:xfrm flipV="1">
              <a:off x="5091" y="3432"/>
              <a:ext cx="1" cy="1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22" name="Line 983"/>
            <p:cNvSpPr>
              <a:spLocks noChangeShapeType="1"/>
            </p:cNvSpPr>
            <p:nvPr userDrawn="1"/>
          </p:nvSpPr>
          <p:spPr bwMode="gray">
            <a:xfrm flipV="1">
              <a:off x="5091" y="3429"/>
              <a:ext cx="8" cy="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23" name="Line 984"/>
            <p:cNvSpPr>
              <a:spLocks noChangeShapeType="1"/>
            </p:cNvSpPr>
            <p:nvPr userDrawn="1"/>
          </p:nvSpPr>
          <p:spPr bwMode="gray">
            <a:xfrm>
              <a:off x="4928" y="3665"/>
              <a:ext cx="206"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24" name="Line 985"/>
            <p:cNvSpPr>
              <a:spLocks noChangeShapeType="1"/>
            </p:cNvSpPr>
            <p:nvPr userDrawn="1"/>
          </p:nvSpPr>
          <p:spPr bwMode="gray">
            <a:xfrm flipV="1">
              <a:off x="5155" y="3446"/>
              <a:ext cx="478" cy="2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25" name="Line 986"/>
            <p:cNvSpPr>
              <a:spLocks noChangeShapeType="1"/>
            </p:cNvSpPr>
            <p:nvPr userDrawn="1"/>
          </p:nvSpPr>
          <p:spPr bwMode="gray">
            <a:xfrm flipV="1">
              <a:off x="5486" y="3413"/>
              <a:ext cx="1" cy="1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26" name="Line 987"/>
            <p:cNvSpPr>
              <a:spLocks noChangeShapeType="1"/>
            </p:cNvSpPr>
            <p:nvPr userDrawn="1"/>
          </p:nvSpPr>
          <p:spPr bwMode="gray">
            <a:xfrm flipH="1">
              <a:off x="5477" y="3413"/>
              <a:ext cx="9"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27" name="Line 988"/>
            <p:cNvSpPr>
              <a:spLocks noChangeShapeType="1"/>
            </p:cNvSpPr>
            <p:nvPr userDrawn="1"/>
          </p:nvSpPr>
          <p:spPr bwMode="gray">
            <a:xfrm flipH="1">
              <a:off x="5328" y="3418"/>
              <a:ext cx="149"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28" name="Line 989"/>
            <p:cNvSpPr>
              <a:spLocks noChangeShapeType="1"/>
            </p:cNvSpPr>
            <p:nvPr userDrawn="1"/>
          </p:nvSpPr>
          <p:spPr bwMode="gray">
            <a:xfrm flipH="1">
              <a:off x="5320" y="3506"/>
              <a:ext cx="8"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29" name="Line 990"/>
            <p:cNvSpPr>
              <a:spLocks noChangeShapeType="1"/>
            </p:cNvSpPr>
            <p:nvPr userDrawn="1"/>
          </p:nvSpPr>
          <p:spPr bwMode="gray">
            <a:xfrm flipV="1">
              <a:off x="5320" y="3511"/>
              <a:ext cx="1" cy="1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30" name="Line 991"/>
            <p:cNvSpPr>
              <a:spLocks noChangeShapeType="1"/>
            </p:cNvSpPr>
            <p:nvPr userDrawn="1"/>
          </p:nvSpPr>
          <p:spPr bwMode="gray">
            <a:xfrm>
              <a:off x="5314" y="3754"/>
              <a:ext cx="4" cy="1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31" name="Line 992"/>
            <p:cNvSpPr>
              <a:spLocks noChangeShapeType="1"/>
            </p:cNvSpPr>
            <p:nvPr userDrawn="1"/>
          </p:nvSpPr>
          <p:spPr bwMode="gray">
            <a:xfrm flipV="1">
              <a:off x="5314" y="3761"/>
              <a:ext cx="7" cy="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32" name="Line 993"/>
            <p:cNvSpPr>
              <a:spLocks noChangeShapeType="1"/>
            </p:cNvSpPr>
            <p:nvPr userDrawn="1"/>
          </p:nvSpPr>
          <p:spPr bwMode="gray">
            <a:xfrm flipV="1">
              <a:off x="5321" y="3669"/>
              <a:ext cx="149" cy="9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33" name="Line 994"/>
            <p:cNvSpPr>
              <a:spLocks noChangeShapeType="1"/>
            </p:cNvSpPr>
            <p:nvPr userDrawn="1"/>
          </p:nvSpPr>
          <p:spPr bwMode="gray">
            <a:xfrm flipV="1">
              <a:off x="5470" y="3665"/>
              <a:ext cx="9"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34" name="Line 995"/>
            <p:cNvSpPr>
              <a:spLocks noChangeShapeType="1"/>
            </p:cNvSpPr>
            <p:nvPr userDrawn="1"/>
          </p:nvSpPr>
          <p:spPr bwMode="gray">
            <a:xfrm>
              <a:off x="5479" y="3651"/>
              <a:ext cx="4" cy="1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35" name="Line 996"/>
            <p:cNvSpPr>
              <a:spLocks noChangeShapeType="1"/>
            </p:cNvSpPr>
            <p:nvPr userDrawn="1"/>
          </p:nvSpPr>
          <p:spPr bwMode="gray">
            <a:xfrm flipH="1" flipV="1">
              <a:off x="5227" y="3814"/>
              <a:ext cx="74" cy="2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36" name="Line 997"/>
            <p:cNvSpPr>
              <a:spLocks noChangeShapeType="1"/>
            </p:cNvSpPr>
            <p:nvPr userDrawn="1"/>
          </p:nvSpPr>
          <p:spPr bwMode="gray">
            <a:xfrm flipV="1">
              <a:off x="5204" y="3226"/>
              <a:ext cx="4" cy="23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37" name="Line 998"/>
            <p:cNvSpPr>
              <a:spLocks noChangeShapeType="1"/>
            </p:cNvSpPr>
            <p:nvPr userDrawn="1"/>
          </p:nvSpPr>
          <p:spPr bwMode="gray">
            <a:xfrm flipH="1" flipV="1">
              <a:off x="5103" y="3357"/>
              <a:ext cx="208" cy="7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38" name="Line 999"/>
            <p:cNvSpPr>
              <a:spLocks noChangeShapeType="1"/>
            </p:cNvSpPr>
            <p:nvPr userDrawn="1"/>
          </p:nvSpPr>
          <p:spPr bwMode="gray">
            <a:xfrm flipV="1">
              <a:off x="5218" y="3125"/>
              <a:ext cx="152" cy="8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39" name="Line 1000"/>
            <p:cNvSpPr>
              <a:spLocks noChangeShapeType="1"/>
            </p:cNvSpPr>
            <p:nvPr userDrawn="1"/>
          </p:nvSpPr>
          <p:spPr bwMode="gray">
            <a:xfrm>
              <a:off x="5190" y="3133"/>
              <a:ext cx="208"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40" name="Line 1001"/>
            <p:cNvSpPr>
              <a:spLocks noChangeShapeType="1"/>
            </p:cNvSpPr>
            <p:nvPr userDrawn="1"/>
          </p:nvSpPr>
          <p:spPr bwMode="gray">
            <a:xfrm flipV="1">
              <a:off x="5320" y="3747"/>
              <a:ext cx="148" cy="9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41" name="Line 1002"/>
            <p:cNvSpPr>
              <a:spLocks noChangeShapeType="1"/>
            </p:cNvSpPr>
            <p:nvPr userDrawn="1"/>
          </p:nvSpPr>
          <p:spPr bwMode="gray">
            <a:xfrm flipH="1">
              <a:off x="5390" y="3714"/>
              <a:ext cx="7" cy="23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42" name="Line 1003"/>
            <p:cNvSpPr>
              <a:spLocks noChangeShapeType="1"/>
            </p:cNvSpPr>
            <p:nvPr userDrawn="1"/>
          </p:nvSpPr>
          <p:spPr bwMode="gray">
            <a:xfrm flipV="1">
              <a:off x="5330" y="3338"/>
              <a:ext cx="152" cy="8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43" name="Line 1004"/>
            <p:cNvSpPr>
              <a:spLocks noChangeShapeType="1"/>
            </p:cNvSpPr>
            <p:nvPr userDrawn="1"/>
          </p:nvSpPr>
          <p:spPr bwMode="gray">
            <a:xfrm flipH="1" flipV="1">
              <a:off x="4328" y="2939"/>
              <a:ext cx="5" cy="22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44" name="Line 1005"/>
            <p:cNvSpPr>
              <a:spLocks noChangeShapeType="1"/>
            </p:cNvSpPr>
            <p:nvPr userDrawn="1"/>
          </p:nvSpPr>
          <p:spPr bwMode="gray">
            <a:xfrm flipH="1" flipV="1">
              <a:off x="4239" y="3067"/>
              <a:ext cx="187" cy="6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45" name="Line 1006"/>
            <p:cNvSpPr>
              <a:spLocks noChangeShapeType="1"/>
            </p:cNvSpPr>
            <p:nvPr userDrawn="1"/>
          </p:nvSpPr>
          <p:spPr bwMode="gray">
            <a:xfrm flipV="1">
              <a:off x="4230" y="3140"/>
              <a:ext cx="1" cy="1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46" name="Line 1007"/>
            <p:cNvSpPr>
              <a:spLocks noChangeShapeType="1"/>
            </p:cNvSpPr>
            <p:nvPr userDrawn="1"/>
          </p:nvSpPr>
          <p:spPr bwMode="gray">
            <a:xfrm flipH="1">
              <a:off x="4230" y="3135"/>
              <a:ext cx="9"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47" name="Line 1008"/>
            <p:cNvSpPr>
              <a:spLocks noChangeShapeType="1"/>
            </p:cNvSpPr>
            <p:nvPr userDrawn="1"/>
          </p:nvSpPr>
          <p:spPr bwMode="gray">
            <a:xfrm flipV="1">
              <a:off x="4337" y="2873"/>
              <a:ext cx="101" cy="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48" name="Line 1009"/>
            <p:cNvSpPr>
              <a:spLocks noChangeShapeType="1"/>
            </p:cNvSpPr>
            <p:nvPr userDrawn="1"/>
          </p:nvSpPr>
          <p:spPr bwMode="gray">
            <a:xfrm>
              <a:off x="4323" y="2854"/>
              <a:ext cx="117" cy="3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49" name="Line 1010"/>
            <p:cNvSpPr>
              <a:spLocks noChangeShapeType="1"/>
            </p:cNvSpPr>
            <p:nvPr userDrawn="1"/>
          </p:nvSpPr>
          <p:spPr bwMode="gray">
            <a:xfrm>
              <a:off x="4874" y="3975"/>
              <a:ext cx="195"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50" name="Line 1011"/>
            <p:cNvSpPr>
              <a:spLocks noChangeShapeType="1"/>
            </p:cNvSpPr>
            <p:nvPr userDrawn="1"/>
          </p:nvSpPr>
          <p:spPr bwMode="gray">
            <a:xfrm flipV="1">
              <a:off x="4930" y="3887"/>
              <a:ext cx="1" cy="21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51" name="Line 1012"/>
            <p:cNvSpPr>
              <a:spLocks noChangeShapeType="1"/>
            </p:cNvSpPr>
            <p:nvPr userDrawn="1"/>
          </p:nvSpPr>
          <p:spPr bwMode="gray">
            <a:xfrm>
              <a:off x="4853" y="3847"/>
              <a:ext cx="13" cy="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52" name="Line 1013"/>
            <p:cNvSpPr>
              <a:spLocks noChangeShapeType="1"/>
            </p:cNvSpPr>
            <p:nvPr userDrawn="1"/>
          </p:nvSpPr>
          <p:spPr bwMode="gray">
            <a:xfrm flipH="1">
              <a:off x="4865" y="3845"/>
              <a:ext cx="7"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53" name="Line 1014"/>
            <p:cNvSpPr>
              <a:spLocks noChangeShapeType="1"/>
            </p:cNvSpPr>
            <p:nvPr userDrawn="1"/>
          </p:nvSpPr>
          <p:spPr bwMode="gray">
            <a:xfrm flipV="1">
              <a:off x="5091" y="3973"/>
              <a:ext cx="117"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54" name="Line 1015"/>
            <p:cNvSpPr>
              <a:spLocks noChangeShapeType="1"/>
            </p:cNvSpPr>
            <p:nvPr userDrawn="1"/>
          </p:nvSpPr>
          <p:spPr bwMode="gray">
            <a:xfrm flipH="1">
              <a:off x="5162" y="3955"/>
              <a:ext cx="2" cy="15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55" name="Line 1016"/>
            <p:cNvSpPr>
              <a:spLocks noChangeShapeType="1"/>
            </p:cNvSpPr>
            <p:nvPr userDrawn="1"/>
          </p:nvSpPr>
          <p:spPr bwMode="gray">
            <a:xfrm flipH="1">
              <a:off x="4863" y="4085"/>
              <a:ext cx="9" cy="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56" name="Line 1017"/>
            <p:cNvSpPr>
              <a:spLocks noChangeShapeType="1"/>
            </p:cNvSpPr>
            <p:nvPr userDrawn="1"/>
          </p:nvSpPr>
          <p:spPr bwMode="gray">
            <a:xfrm flipH="1" flipV="1">
              <a:off x="4853" y="4085"/>
              <a:ext cx="13" cy="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57" name="Line 1018"/>
            <p:cNvSpPr>
              <a:spLocks noChangeShapeType="1"/>
            </p:cNvSpPr>
            <p:nvPr userDrawn="1"/>
          </p:nvSpPr>
          <p:spPr bwMode="gray">
            <a:xfrm flipH="1">
              <a:off x="4702" y="3976"/>
              <a:ext cx="152"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58" name="Line 1019"/>
            <p:cNvSpPr>
              <a:spLocks noChangeShapeType="1"/>
            </p:cNvSpPr>
            <p:nvPr userDrawn="1"/>
          </p:nvSpPr>
          <p:spPr bwMode="gray">
            <a:xfrm flipV="1">
              <a:off x="4811" y="3894"/>
              <a:ext cx="1" cy="21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59" name="Line 1020"/>
            <p:cNvSpPr>
              <a:spLocks noChangeShapeType="1"/>
            </p:cNvSpPr>
            <p:nvPr userDrawn="1"/>
          </p:nvSpPr>
          <p:spPr bwMode="gray">
            <a:xfrm>
              <a:off x="4564" y="4025"/>
              <a:ext cx="119" cy="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60" name="Line 1021"/>
            <p:cNvSpPr>
              <a:spLocks noChangeShapeType="1"/>
            </p:cNvSpPr>
            <p:nvPr userDrawn="1"/>
          </p:nvSpPr>
          <p:spPr bwMode="gray">
            <a:xfrm>
              <a:off x="4585" y="4011"/>
              <a:ext cx="2" cy="1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61" name="Line 1022"/>
            <p:cNvSpPr>
              <a:spLocks noChangeShapeType="1"/>
            </p:cNvSpPr>
            <p:nvPr userDrawn="1"/>
          </p:nvSpPr>
          <p:spPr bwMode="gray">
            <a:xfrm flipH="1">
              <a:off x="4701" y="2978"/>
              <a:ext cx="159" cy="8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62" name="Line 1023"/>
            <p:cNvSpPr>
              <a:spLocks noChangeShapeType="1"/>
            </p:cNvSpPr>
            <p:nvPr userDrawn="1"/>
          </p:nvSpPr>
          <p:spPr bwMode="gray">
            <a:xfrm flipV="1">
              <a:off x="4813" y="2883"/>
              <a:ext cx="1" cy="23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63" name="Line 1024"/>
            <p:cNvSpPr>
              <a:spLocks noChangeShapeType="1"/>
            </p:cNvSpPr>
            <p:nvPr userDrawn="1"/>
          </p:nvSpPr>
          <p:spPr bwMode="gray">
            <a:xfrm flipV="1">
              <a:off x="5094" y="2742"/>
              <a:ext cx="1" cy="3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64" name="Line 1025"/>
            <p:cNvSpPr>
              <a:spLocks noChangeShapeType="1"/>
            </p:cNvSpPr>
            <p:nvPr userDrawn="1"/>
          </p:nvSpPr>
          <p:spPr bwMode="gray">
            <a:xfrm>
              <a:off x="4734" y="2731"/>
              <a:ext cx="222" cy="6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65" name="Line 1026"/>
            <p:cNvSpPr>
              <a:spLocks noChangeShapeType="1"/>
            </p:cNvSpPr>
            <p:nvPr userDrawn="1"/>
          </p:nvSpPr>
          <p:spPr bwMode="gray">
            <a:xfrm flipH="1">
              <a:off x="4587" y="2644"/>
              <a:ext cx="502" cy="2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66" name="Line 1027"/>
            <p:cNvSpPr>
              <a:spLocks noChangeShapeType="1"/>
            </p:cNvSpPr>
            <p:nvPr userDrawn="1"/>
          </p:nvSpPr>
          <p:spPr bwMode="gray">
            <a:xfrm>
              <a:off x="4858" y="2840"/>
              <a:ext cx="10" cy="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67" name="Line 1028"/>
            <p:cNvSpPr>
              <a:spLocks noChangeShapeType="1"/>
            </p:cNvSpPr>
            <p:nvPr userDrawn="1"/>
          </p:nvSpPr>
          <p:spPr bwMode="gray">
            <a:xfrm flipV="1">
              <a:off x="4868" y="2838"/>
              <a:ext cx="9"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68" name="Line 1029"/>
            <p:cNvSpPr>
              <a:spLocks noChangeShapeType="1"/>
            </p:cNvSpPr>
            <p:nvPr userDrawn="1"/>
          </p:nvSpPr>
          <p:spPr bwMode="gray">
            <a:xfrm flipV="1">
              <a:off x="4877" y="2759"/>
              <a:ext cx="156" cy="7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69" name="Line 1030"/>
            <p:cNvSpPr>
              <a:spLocks noChangeShapeType="1"/>
            </p:cNvSpPr>
            <p:nvPr userDrawn="1"/>
          </p:nvSpPr>
          <p:spPr bwMode="gray">
            <a:xfrm flipV="1">
              <a:off x="5033" y="2756"/>
              <a:ext cx="9"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70" name="Line 1031"/>
            <p:cNvSpPr>
              <a:spLocks noChangeShapeType="1"/>
            </p:cNvSpPr>
            <p:nvPr userDrawn="1"/>
          </p:nvSpPr>
          <p:spPr bwMode="gray">
            <a:xfrm>
              <a:off x="5029" y="2752"/>
              <a:ext cx="13"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71" name="Line 1032"/>
            <p:cNvSpPr>
              <a:spLocks noChangeShapeType="1"/>
            </p:cNvSpPr>
            <p:nvPr userDrawn="1"/>
          </p:nvSpPr>
          <p:spPr bwMode="gray">
            <a:xfrm flipH="1" flipV="1">
              <a:off x="4821" y="2689"/>
              <a:ext cx="11"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72" name="Line 1033"/>
            <p:cNvSpPr>
              <a:spLocks noChangeShapeType="1"/>
            </p:cNvSpPr>
            <p:nvPr userDrawn="1"/>
          </p:nvSpPr>
          <p:spPr bwMode="gray">
            <a:xfrm flipH="1">
              <a:off x="4813" y="2689"/>
              <a:ext cx="8"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73" name="Line 1034"/>
            <p:cNvSpPr>
              <a:spLocks noChangeShapeType="1"/>
            </p:cNvSpPr>
            <p:nvPr userDrawn="1"/>
          </p:nvSpPr>
          <p:spPr bwMode="gray">
            <a:xfrm flipH="1">
              <a:off x="4655" y="2693"/>
              <a:ext cx="158" cy="7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74" name="Line 1035"/>
            <p:cNvSpPr>
              <a:spLocks noChangeShapeType="1"/>
            </p:cNvSpPr>
            <p:nvPr userDrawn="1"/>
          </p:nvSpPr>
          <p:spPr bwMode="gray">
            <a:xfrm flipH="1">
              <a:off x="4646" y="2770"/>
              <a:ext cx="9" cy="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75" name="Line 1036"/>
            <p:cNvSpPr>
              <a:spLocks noChangeShapeType="1"/>
            </p:cNvSpPr>
            <p:nvPr userDrawn="1"/>
          </p:nvSpPr>
          <p:spPr bwMode="gray">
            <a:xfrm flipH="1" flipV="1">
              <a:off x="4646" y="2773"/>
              <a:ext cx="11"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76" name="Line 1037"/>
            <p:cNvSpPr>
              <a:spLocks noChangeShapeType="1"/>
            </p:cNvSpPr>
            <p:nvPr userDrawn="1"/>
          </p:nvSpPr>
          <p:spPr bwMode="gray">
            <a:xfrm>
              <a:off x="4480" y="2995"/>
              <a:ext cx="200"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77" name="Line 1038"/>
            <p:cNvSpPr>
              <a:spLocks noChangeShapeType="1"/>
            </p:cNvSpPr>
            <p:nvPr userDrawn="1"/>
          </p:nvSpPr>
          <p:spPr bwMode="gray">
            <a:xfrm>
              <a:off x="4578" y="2910"/>
              <a:ext cx="2" cy="23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78" name="Line 1039"/>
            <p:cNvSpPr>
              <a:spLocks noChangeShapeType="1"/>
            </p:cNvSpPr>
            <p:nvPr userDrawn="1"/>
          </p:nvSpPr>
          <p:spPr bwMode="gray">
            <a:xfrm flipH="1">
              <a:off x="4868" y="3098"/>
              <a:ext cx="9"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79" name="Line 1040"/>
            <p:cNvSpPr>
              <a:spLocks noChangeShapeType="1"/>
            </p:cNvSpPr>
            <p:nvPr userDrawn="1"/>
          </p:nvSpPr>
          <p:spPr bwMode="gray">
            <a:xfrm>
              <a:off x="4856" y="3098"/>
              <a:ext cx="12"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80" name="Line 1041"/>
            <p:cNvSpPr>
              <a:spLocks noChangeShapeType="1"/>
            </p:cNvSpPr>
            <p:nvPr userDrawn="1"/>
          </p:nvSpPr>
          <p:spPr bwMode="gray">
            <a:xfrm>
              <a:off x="4442" y="2838"/>
              <a:ext cx="50" cy="1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81" name="Line 1042"/>
            <p:cNvSpPr>
              <a:spLocks noChangeShapeType="1"/>
            </p:cNvSpPr>
            <p:nvPr userDrawn="1"/>
          </p:nvSpPr>
          <p:spPr bwMode="gray">
            <a:xfrm flipH="1" flipV="1">
              <a:off x="4578" y="2764"/>
              <a:ext cx="2" cy="4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82" name="Line 1043"/>
            <p:cNvSpPr>
              <a:spLocks noChangeShapeType="1"/>
            </p:cNvSpPr>
            <p:nvPr userDrawn="1"/>
          </p:nvSpPr>
          <p:spPr bwMode="gray">
            <a:xfrm>
              <a:off x="4879" y="2976"/>
              <a:ext cx="205"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83" name="Line 1044"/>
            <p:cNvSpPr>
              <a:spLocks noChangeShapeType="1"/>
            </p:cNvSpPr>
            <p:nvPr userDrawn="1"/>
          </p:nvSpPr>
          <p:spPr bwMode="gray">
            <a:xfrm flipV="1">
              <a:off x="4949" y="2782"/>
              <a:ext cx="154" cy="7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84" name="Line 1045"/>
            <p:cNvSpPr>
              <a:spLocks noChangeShapeType="1"/>
            </p:cNvSpPr>
            <p:nvPr userDrawn="1"/>
          </p:nvSpPr>
          <p:spPr bwMode="gray">
            <a:xfrm>
              <a:off x="4956" y="2799"/>
              <a:ext cx="217"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85" name="Line 1046"/>
            <p:cNvSpPr>
              <a:spLocks noChangeShapeType="1"/>
            </p:cNvSpPr>
            <p:nvPr userDrawn="1"/>
          </p:nvSpPr>
          <p:spPr bwMode="gray">
            <a:xfrm flipV="1">
              <a:off x="4587" y="2673"/>
              <a:ext cx="157" cy="7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86" name="Line 1047"/>
            <p:cNvSpPr>
              <a:spLocks noChangeShapeType="1"/>
            </p:cNvSpPr>
            <p:nvPr userDrawn="1"/>
          </p:nvSpPr>
          <p:spPr bwMode="gray">
            <a:xfrm>
              <a:off x="4529" y="2668"/>
              <a:ext cx="205" cy="6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87" name="Line 1048"/>
            <p:cNvSpPr>
              <a:spLocks noChangeShapeType="1"/>
            </p:cNvSpPr>
            <p:nvPr userDrawn="1"/>
          </p:nvSpPr>
          <p:spPr bwMode="gray">
            <a:xfrm flipV="1">
              <a:off x="5105" y="2959"/>
              <a:ext cx="152" cy="8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88" name="Line 1049"/>
            <p:cNvSpPr>
              <a:spLocks noChangeShapeType="1"/>
            </p:cNvSpPr>
            <p:nvPr userDrawn="1"/>
          </p:nvSpPr>
          <p:spPr bwMode="gray">
            <a:xfrm flipH="1">
              <a:off x="5180" y="2882"/>
              <a:ext cx="3" cy="23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89" name="Line 1050"/>
            <p:cNvSpPr>
              <a:spLocks noChangeShapeType="1"/>
            </p:cNvSpPr>
            <p:nvPr userDrawn="1"/>
          </p:nvSpPr>
          <p:spPr bwMode="gray">
            <a:xfrm flipH="1">
              <a:off x="4164" y="3179"/>
              <a:ext cx="161" cy="8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90" name="Line 1051"/>
            <p:cNvSpPr>
              <a:spLocks noChangeShapeType="1"/>
            </p:cNvSpPr>
            <p:nvPr userDrawn="1"/>
          </p:nvSpPr>
          <p:spPr bwMode="gray">
            <a:xfrm flipH="1" flipV="1">
              <a:off x="4185" y="3170"/>
              <a:ext cx="117" cy="4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91" name="Line 1052"/>
            <p:cNvSpPr>
              <a:spLocks noChangeShapeType="1"/>
            </p:cNvSpPr>
            <p:nvPr userDrawn="1"/>
          </p:nvSpPr>
          <p:spPr bwMode="gray">
            <a:xfrm flipH="1" flipV="1">
              <a:off x="4155" y="3277"/>
              <a:ext cx="2" cy="8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92" name="Line 1053"/>
            <p:cNvSpPr>
              <a:spLocks noChangeShapeType="1"/>
            </p:cNvSpPr>
            <p:nvPr userDrawn="1"/>
          </p:nvSpPr>
          <p:spPr bwMode="gray">
            <a:xfrm>
              <a:off x="4066" y="3356"/>
              <a:ext cx="59" cy="2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93" name="Line 1054"/>
            <p:cNvSpPr>
              <a:spLocks noChangeShapeType="1"/>
            </p:cNvSpPr>
            <p:nvPr userDrawn="1"/>
          </p:nvSpPr>
          <p:spPr bwMode="gray">
            <a:xfrm flipV="1">
              <a:off x="4680" y="3160"/>
              <a:ext cx="85" cy="4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94" name="Freeform 1055"/>
            <p:cNvSpPr>
              <a:spLocks/>
            </p:cNvSpPr>
            <p:nvPr userDrawn="1"/>
          </p:nvSpPr>
          <p:spPr bwMode="gray">
            <a:xfrm>
              <a:off x="5369" y="3123"/>
              <a:ext cx="8" cy="10"/>
            </a:xfrm>
            <a:custGeom>
              <a:avLst/>
              <a:gdLst>
                <a:gd name="T0" fmla="*/ 8 w 8"/>
                <a:gd name="T1" fmla="*/ 10 h 10"/>
                <a:gd name="T2" fmla="*/ 8 w 8"/>
                <a:gd name="T3" fmla="*/ 5 h 10"/>
                <a:gd name="T4" fmla="*/ 7 w 8"/>
                <a:gd name="T5" fmla="*/ 2 h 10"/>
                <a:gd name="T6" fmla="*/ 5 w 8"/>
                <a:gd name="T7" fmla="*/ 0 h 10"/>
                <a:gd name="T8" fmla="*/ 1 w 8"/>
                <a:gd name="T9" fmla="*/ 0 h 10"/>
                <a:gd name="T10" fmla="*/ 0 w 8"/>
                <a:gd name="T11" fmla="*/ 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10">
                  <a:moveTo>
                    <a:pt x="8" y="10"/>
                  </a:moveTo>
                  <a:lnTo>
                    <a:pt x="8" y="5"/>
                  </a:lnTo>
                  <a:lnTo>
                    <a:pt x="7" y="2"/>
                  </a:lnTo>
                  <a:lnTo>
                    <a:pt x="5" y="0"/>
                  </a:lnTo>
                  <a:lnTo>
                    <a:pt x="1"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95" name="Line 1056"/>
            <p:cNvSpPr>
              <a:spLocks noChangeShapeType="1"/>
            </p:cNvSpPr>
            <p:nvPr userDrawn="1"/>
          </p:nvSpPr>
          <p:spPr bwMode="gray">
            <a:xfrm>
              <a:off x="5272" y="3091"/>
              <a:ext cx="204" cy="6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96" name="Line 1057"/>
            <p:cNvSpPr>
              <a:spLocks noChangeShapeType="1"/>
            </p:cNvSpPr>
            <p:nvPr userDrawn="1"/>
          </p:nvSpPr>
          <p:spPr bwMode="gray">
            <a:xfrm>
              <a:off x="5274" y="3100"/>
              <a:ext cx="207"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97" name="Freeform 1058"/>
            <p:cNvSpPr>
              <a:spLocks/>
            </p:cNvSpPr>
            <p:nvPr userDrawn="1"/>
          </p:nvSpPr>
          <p:spPr bwMode="gray">
            <a:xfrm>
              <a:off x="5474" y="3156"/>
              <a:ext cx="7" cy="9"/>
            </a:xfrm>
            <a:custGeom>
              <a:avLst/>
              <a:gdLst>
                <a:gd name="T0" fmla="*/ 7 w 7"/>
                <a:gd name="T1" fmla="*/ 9 h 9"/>
                <a:gd name="T2" fmla="*/ 7 w 7"/>
                <a:gd name="T3" fmla="*/ 7 h 9"/>
                <a:gd name="T4" fmla="*/ 7 w 7"/>
                <a:gd name="T5" fmla="*/ 4 h 9"/>
                <a:gd name="T6" fmla="*/ 7 w 7"/>
                <a:gd name="T7" fmla="*/ 2 h 9"/>
                <a:gd name="T8" fmla="*/ 5 w 7"/>
                <a:gd name="T9" fmla="*/ 0 h 9"/>
                <a:gd name="T10" fmla="*/ 3 w 7"/>
                <a:gd name="T11" fmla="*/ 0 h 9"/>
                <a:gd name="T12" fmla="*/ 0 w 7"/>
                <a:gd name="T13" fmla="*/ 2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 h="9">
                  <a:moveTo>
                    <a:pt x="7" y="9"/>
                  </a:moveTo>
                  <a:lnTo>
                    <a:pt x="7" y="7"/>
                  </a:lnTo>
                  <a:lnTo>
                    <a:pt x="7" y="4"/>
                  </a:lnTo>
                  <a:lnTo>
                    <a:pt x="7" y="2"/>
                  </a:lnTo>
                  <a:lnTo>
                    <a:pt x="5" y="0"/>
                  </a:lnTo>
                  <a:lnTo>
                    <a:pt x="3"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98" name="Line 1059"/>
            <p:cNvSpPr>
              <a:spLocks noChangeShapeType="1"/>
            </p:cNvSpPr>
            <p:nvPr userDrawn="1"/>
          </p:nvSpPr>
          <p:spPr bwMode="gray">
            <a:xfrm flipH="1" flipV="1">
              <a:off x="5265" y="3091"/>
              <a:ext cx="209" cy="6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999" name="Freeform 1060"/>
            <p:cNvSpPr>
              <a:spLocks/>
            </p:cNvSpPr>
            <p:nvPr userDrawn="1"/>
          </p:nvSpPr>
          <p:spPr bwMode="gray">
            <a:xfrm>
              <a:off x="5265" y="3090"/>
              <a:ext cx="9" cy="10"/>
            </a:xfrm>
            <a:custGeom>
              <a:avLst/>
              <a:gdLst>
                <a:gd name="T0" fmla="*/ 9 w 9"/>
                <a:gd name="T1" fmla="*/ 10 h 10"/>
                <a:gd name="T2" fmla="*/ 9 w 9"/>
                <a:gd name="T3" fmla="*/ 7 h 10"/>
                <a:gd name="T4" fmla="*/ 7 w 9"/>
                <a:gd name="T5" fmla="*/ 3 h 10"/>
                <a:gd name="T6" fmla="*/ 7 w 9"/>
                <a:gd name="T7" fmla="*/ 1 h 10"/>
                <a:gd name="T8" fmla="*/ 4 w 9"/>
                <a:gd name="T9" fmla="*/ 0 h 10"/>
                <a:gd name="T10" fmla="*/ 0 w 9"/>
                <a:gd name="T11" fmla="*/ 1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10">
                  <a:moveTo>
                    <a:pt x="9" y="10"/>
                  </a:moveTo>
                  <a:lnTo>
                    <a:pt x="9" y="7"/>
                  </a:lnTo>
                  <a:lnTo>
                    <a:pt x="7" y="3"/>
                  </a:lnTo>
                  <a:lnTo>
                    <a:pt x="7" y="1"/>
                  </a:lnTo>
                  <a:lnTo>
                    <a:pt x="4" y="0"/>
                  </a:lnTo>
                  <a:lnTo>
                    <a:pt x="0" y="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00" name="Freeform 1061"/>
            <p:cNvSpPr>
              <a:spLocks/>
            </p:cNvSpPr>
            <p:nvPr userDrawn="1"/>
          </p:nvSpPr>
          <p:spPr bwMode="gray">
            <a:xfrm>
              <a:off x="4092" y="3630"/>
              <a:ext cx="10" cy="16"/>
            </a:xfrm>
            <a:custGeom>
              <a:avLst/>
              <a:gdLst>
                <a:gd name="T0" fmla="*/ 10 w 10"/>
                <a:gd name="T1" fmla="*/ 16 h 16"/>
                <a:gd name="T2" fmla="*/ 7 w 10"/>
                <a:gd name="T3" fmla="*/ 14 h 16"/>
                <a:gd name="T4" fmla="*/ 3 w 10"/>
                <a:gd name="T5" fmla="*/ 9 h 16"/>
                <a:gd name="T6" fmla="*/ 2 w 10"/>
                <a:gd name="T7" fmla="*/ 5 h 16"/>
                <a:gd name="T8" fmla="*/ 0 w 10"/>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10" y="16"/>
                  </a:moveTo>
                  <a:lnTo>
                    <a:pt x="7" y="14"/>
                  </a:lnTo>
                  <a:lnTo>
                    <a:pt x="3" y="9"/>
                  </a:lnTo>
                  <a:lnTo>
                    <a:pt x="2"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01" name="Freeform 1062"/>
            <p:cNvSpPr>
              <a:spLocks/>
            </p:cNvSpPr>
            <p:nvPr userDrawn="1"/>
          </p:nvSpPr>
          <p:spPr bwMode="gray">
            <a:xfrm>
              <a:off x="4213" y="3684"/>
              <a:ext cx="10" cy="9"/>
            </a:xfrm>
            <a:custGeom>
              <a:avLst/>
              <a:gdLst>
                <a:gd name="T0" fmla="*/ 10 w 10"/>
                <a:gd name="T1" fmla="*/ 7 h 9"/>
                <a:gd name="T2" fmla="*/ 7 w 10"/>
                <a:gd name="T3" fmla="*/ 9 h 9"/>
                <a:gd name="T4" fmla="*/ 3 w 10"/>
                <a:gd name="T5" fmla="*/ 7 h 9"/>
                <a:gd name="T6" fmla="*/ 1 w 10"/>
                <a:gd name="T7" fmla="*/ 4 h 9"/>
                <a:gd name="T8" fmla="*/ 0 w 10"/>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9">
                  <a:moveTo>
                    <a:pt x="10" y="7"/>
                  </a:moveTo>
                  <a:lnTo>
                    <a:pt x="7" y="9"/>
                  </a:lnTo>
                  <a:lnTo>
                    <a:pt x="3" y="7"/>
                  </a:lnTo>
                  <a:lnTo>
                    <a:pt x="1"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02" name="Line 1063"/>
            <p:cNvSpPr>
              <a:spLocks noChangeShapeType="1"/>
            </p:cNvSpPr>
            <p:nvPr userDrawn="1"/>
          </p:nvSpPr>
          <p:spPr bwMode="gray">
            <a:xfrm>
              <a:off x="4097" y="3646"/>
              <a:ext cx="196" cy="7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03" name="Line 1064"/>
            <p:cNvSpPr>
              <a:spLocks noChangeShapeType="1"/>
            </p:cNvSpPr>
            <p:nvPr userDrawn="1"/>
          </p:nvSpPr>
          <p:spPr bwMode="gray">
            <a:xfrm>
              <a:off x="4102" y="3646"/>
              <a:ext cx="193" cy="7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04" name="Freeform 1065"/>
            <p:cNvSpPr>
              <a:spLocks/>
            </p:cNvSpPr>
            <p:nvPr userDrawn="1"/>
          </p:nvSpPr>
          <p:spPr bwMode="gray">
            <a:xfrm>
              <a:off x="4293" y="3714"/>
              <a:ext cx="2" cy="5"/>
            </a:xfrm>
            <a:custGeom>
              <a:avLst/>
              <a:gdLst>
                <a:gd name="T0" fmla="*/ 2 w 2"/>
                <a:gd name="T1" fmla="*/ 4 h 5"/>
                <a:gd name="T2" fmla="*/ 0 w 2"/>
                <a:gd name="T3" fmla="*/ 5 h 5"/>
                <a:gd name="T4" fmla="*/ 0 w 2"/>
                <a:gd name="T5" fmla="*/ 5 h 5"/>
                <a:gd name="T6" fmla="*/ 0 w 2"/>
                <a:gd name="T7" fmla="*/ 5 h 5"/>
                <a:gd name="T8" fmla="*/ 0 w 2"/>
                <a:gd name="T9" fmla="*/ 5 h 5"/>
                <a:gd name="T10" fmla="*/ 0 w 2"/>
                <a:gd name="T11" fmla="*/ 5 h 5"/>
                <a:gd name="T12" fmla="*/ 2 w 2"/>
                <a:gd name="T13" fmla="*/ 2 h 5"/>
                <a:gd name="T14" fmla="*/ 2 w 2"/>
                <a:gd name="T15" fmla="*/ 0 h 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 h="5">
                  <a:moveTo>
                    <a:pt x="2" y="4"/>
                  </a:moveTo>
                  <a:lnTo>
                    <a:pt x="0" y="5"/>
                  </a:lnTo>
                  <a:lnTo>
                    <a:pt x="2" y="2"/>
                  </a:lnTo>
                  <a:lnTo>
                    <a:pt x="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05" name="Line 1066"/>
            <p:cNvSpPr>
              <a:spLocks noChangeShapeType="1"/>
            </p:cNvSpPr>
            <p:nvPr userDrawn="1"/>
          </p:nvSpPr>
          <p:spPr bwMode="gray">
            <a:xfrm flipH="1" flipV="1">
              <a:off x="4094" y="3639"/>
              <a:ext cx="201"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06" name="Freeform 1067"/>
            <p:cNvSpPr>
              <a:spLocks/>
            </p:cNvSpPr>
            <p:nvPr userDrawn="1"/>
          </p:nvSpPr>
          <p:spPr bwMode="gray">
            <a:xfrm>
              <a:off x="4094" y="3639"/>
              <a:ext cx="8" cy="9"/>
            </a:xfrm>
            <a:custGeom>
              <a:avLst/>
              <a:gdLst>
                <a:gd name="T0" fmla="*/ 0 w 8"/>
                <a:gd name="T1" fmla="*/ 0 h 9"/>
                <a:gd name="T2" fmla="*/ 0 w 8"/>
                <a:gd name="T3" fmla="*/ 3 h 9"/>
                <a:gd name="T4" fmla="*/ 1 w 8"/>
                <a:gd name="T5" fmla="*/ 7 h 9"/>
                <a:gd name="T6" fmla="*/ 3 w 8"/>
                <a:gd name="T7" fmla="*/ 9 h 9"/>
                <a:gd name="T8" fmla="*/ 5 w 8"/>
                <a:gd name="T9" fmla="*/ 9 h 9"/>
                <a:gd name="T10" fmla="*/ 8 w 8"/>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9">
                  <a:moveTo>
                    <a:pt x="0" y="0"/>
                  </a:moveTo>
                  <a:lnTo>
                    <a:pt x="0" y="3"/>
                  </a:lnTo>
                  <a:lnTo>
                    <a:pt x="1" y="7"/>
                  </a:lnTo>
                  <a:lnTo>
                    <a:pt x="3" y="9"/>
                  </a:lnTo>
                  <a:lnTo>
                    <a:pt x="5" y="9"/>
                  </a:lnTo>
                  <a:lnTo>
                    <a:pt x="8"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07" name="Freeform 1068"/>
            <p:cNvSpPr>
              <a:spLocks/>
            </p:cNvSpPr>
            <p:nvPr userDrawn="1"/>
          </p:nvSpPr>
          <p:spPr bwMode="gray">
            <a:xfrm>
              <a:off x="4522" y="3807"/>
              <a:ext cx="13" cy="10"/>
            </a:xfrm>
            <a:custGeom>
              <a:avLst/>
              <a:gdLst>
                <a:gd name="T0" fmla="*/ 12 w 12"/>
                <a:gd name="T1" fmla="*/ 1 h 10"/>
                <a:gd name="T2" fmla="*/ 7 w 12"/>
                <a:gd name="T3" fmla="*/ 0 h 10"/>
                <a:gd name="T4" fmla="*/ 5 w 12"/>
                <a:gd name="T5" fmla="*/ 1 h 10"/>
                <a:gd name="T6" fmla="*/ 2 w 12"/>
                <a:gd name="T7" fmla="*/ 3 h 10"/>
                <a:gd name="T8" fmla="*/ 2 w 12"/>
                <a:gd name="T9" fmla="*/ 5 h 10"/>
                <a:gd name="T10" fmla="*/ 0 w 12"/>
                <a:gd name="T11" fmla="*/ 1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10">
                  <a:moveTo>
                    <a:pt x="12" y="1"/>
                  </a:moveTo>
                  <a:lnTo>
                    <a:pt x="7" y="0"/>
                  </a:lnTo>
                  <a:lnTo>
                    <a:pt x="5" y="1"/>
                  </a:lnTo>
                  <a:lnTo>
                    <a:pt x="2" y="3"/>
                  </a:lnTo>
                  <a:lnTo>
                    <a:pt x="2" y="5"/>
                  </a:lnTo>
                  <a:lnTo>
                    <a:pt x="0" y="1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08" name="Line 1069"/>
            <p:cNvSpPr>
              <a:spLocks noChangeShapeType="1"/>
            </p:cNvSpPr>
            <p:nvPr userDrawn="1"/>
          </p:nvSpPr>
          <p:spPr bwMode="gray">
            <a:xfrm flipV="1">
              <a:off x="4522" y="3810"/>
              <a:ext cx="13"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09" name="Freeform 1070"/>
            <p:cNvSpPr>
              <a:spLocks/>
            </p:cNvSpPr>
            <p:nvPr userDrawn="1"/>
          </p:nvSpPr>
          <p:spPr bwMode="gray">
            <a:xfrm>
              <a:off x="4599" y="3829"/>
              <a:ext cx="9" cy="7"/>
            </a:xfrm>
            <a:custGeom>
              <a:avLst/>
              <a:gdLst>
                <a:gd name="T0" fmla="*/ 9 w 9"/>
                <a:gd name="T1" fmla="*/ 7 h 7"/>
                <a:gd name="T2" fmla="*/ 7 w 9"/>
                <a:gd name="T3" fmla="*/ 7 h 7"/>
                <a:gd name="T4" fmla="*/ 5 w 9"/>
                <a:gd name="T5" fmla="*/ 7 h 7"/>
                <a:gd name="T6" fmla="*/ 2 w 9"/>
                <a:gd name="T7" fmla="*/ 7 h 7"/>
                <a:gd name="T8" fmla="*/ 0 w 9"/>
                <a:gd name="T9" fmla="*/ 4 h 7"/>
                <a:gd name="T10" fmla="*/ 0 w 9"/>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7">
                  <a:moveTo>
                    <a:pt x="9" y="7"/>
                  </a:moveTo>
                  <a:lnTo>
                    <a:pt x="7" y="7"/>
                  </a:lnTo>
                  <a:lnTo>
                    <a:pt x="5" y="7"/>
                  </a:lnTo>
                  <a:lnTo>
                    <a:pt x="2" y="7"/>
                  </a:lnTo>
                  <a:lnTo>
                    <a:pt x="0"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10" name="Line 1071"/>
            <p:cNvSpPr>
              <a:spLocks noChangeShapeType="1"/>
            </p:cNvSpPr>
            <p:nvPr userDrawn="1"/>
          </p:nvSpPr>
          <p:spPr bwMode="gray">
            <a:xfrm>
              <a:off x="4522" y="3807"/>
              <a:ext cx="207" cy="7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11" name="Line 1072"/>
            <p:cNvSpPr>
              <a:spLocks noChangeShapeType="1"/>
            </p:cNvSpPr>
            <p:nvPr userDrawn="1"/>
          </p:nvSpPr>
          <p:spPr bwMode="gray">
            <a:xfrm>
              <a:off x="4534" y="3808"/>
              <a:ext cx="202" cy="7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12" name="Freeform 1073"/>
            <p:cNvSpPr>
              <a:spLocks/>
            </p:cNvSpPr>
            <p:nvPr userDrawn="1"/>
          </p:nvSpPr>
          <p:spPr bwMode="gray">
            <a:xfrm>
              <a:off x="4727" y="3877"/>
              <a:ext cx="9" cy="8"/>
            </a:xfrm>
            <a:custGeom>
              <a:avLst/>
              <a:gdLst>
                <a:gd name="T0" fmla="*/ 9 w 9"/>
                <a:gd name="T1" fmla="*/ 7 h 8"/>
                <a:gd name="T2" fmla="*/ 5 w 9"/>
                <a:gd name="T3" fmla="*/ 8 h 8"/>
                <a:gd name="T4" fmla="*/ 3 w 9"/>
                <a:gd name="T5" fmla="*/ 8 h 8"/>
                <a:gd name="T6" fmla="*/ 2 w 9"/>
                <a:gd name="T7" fmla="*/ 7 h 8"/>
                <a:gd name="T8" fmla="*/ 0 w 9"/>
                <a:gd name="T9" fmla="*/ 3 h 8"/>
                <a:gd name="T10" fmla="*/ 0 w 9"/>
                <a:gd name="T11" fmla="*/ 0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8">
                  <a:moveTo>
                    <a:pt x="9" y="7"/>
                  </a:moveTo>
                  <a:lnTo>
                    <a:pt x="5" y="8"/>
                  </a:lnTo>
                  <a:lnTo>
                    <a:pt x="3" y="8"/>
                  </a:lnTo>
                  <a:lnTo>
                    <a:pt x="2" y="7"/>
                  </a:lnTo>
                  <a:lnTo>
                    <a:pt x="0" y="3"/>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13" name="Line 1074"/>
            <p:cNvSpPr>
              <a:spLocks noChangeShapeType="1"/>
            </p:cNvSpPr>
            <p:nvPr userDrawn="1"/>
          </p:nvSpPr>
          <p:spPr bwMode="gray">
            <a:xfrm flipH="1" flipV="1">
              <a:off x="4513" y="3796"/>
              <a:ext cx="214" cy="8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14" name="Freeform 1075"/>
            <p:cNvSpPr>
              <a:spLocks/>
            </p:cNvSpPr>
            <p:nvPr userDrawn="1"/>
          </p:nvSpPr>
          <p:spPr bwMode="gray">
            <a:xfrm>
              <a:off x="4513" y="3796"/>
              <a:ext cx="22" cy="12"/>
            </a:xfrm>
            <a:custGeom>
              <a:avLst/>
              <a:gdLst>
                <a:gd name="T0" fmla="*/ 21 w 21"/>
                <a:gd name="T1" fmla="*/ 12 h 12"/>
                <a:gd name="T2" fmla="*/ 14 w 21"/>
                <a:gd name="T3" fmla="*/ 12 h 12"/>
                <a:gd name="T4" fmla="*/ 11 w 21"/>
                <a:gd name="T5" fmla="*/ 11 h 12"/>
                <a:gd name="T6" fmla="*/ 7 w 21"/>
                <a:gd name="T7" fmla="*/ 9 h 12"/>
                <a:gd name="T8" fmla="*/ 4 w 21"/>
                <a:gd name="T9" fmla="*/ 5 h 12"/>
                <a:gd name="T10" fmla="*/ 0 w 21"/>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 h="12">
                  <a:moveTo>
                    <a:pt x="21" y="12"/>
                  </a:moveTo>
                  <a:lnTo>
                    <a:pt x="14" y="12"/>
                  </a:lnTo>
                  <a:lnTo>
                    <a:pt x="11" y="11"/>
                  </a:lnTo>
                  <a:lnTo>
                    <a:pt x="7" y="9"/>
                  </a:lnTo>
                  <a:lnTo>
                    <a:pt x="4"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15" name="Freeform 1076"/>
            <p:cNvSpPr>
              <a:spLocks/>
            </p:cNvSpPr>
            <p:nvPr userDrawn="1"/>
          </p:nvSpPr>
          <p:spPr bwMode="gray">
            <a:xfrm>
              <a:off x="4816" y="3828"/>
              <a:ext cx="13" cy="8"/>
            </a:xfrm>
            <a:custGeom>
              <a:avLst/>
              <a:gdLst>
                <a:gd name="T0" fmla="*/ 0 w 12"/>
                <a:gd name="T1" fmla="*/ 8 h 8"/>
                <a:gd name="T2" fmla="*/ 4 w 12"/>
                <a:gd name="T3" fmla="*/ 8 h 8"/>
                <a:gd name="T4" fmla="*/ 5 w 12"/>
                <a:gd name="T5" fmla="*/ 8 h 8"/>
                <a:gd name="T6" fmla="*/ 9 w 12"/>
                <a:gd name="T7" fmla="*/ 7 h 8"/>
                <a:gd name="T8" fmla="*/ 11 w 12"/>
                <a:gd name="T9" fmla="*/ 3 h 8"/>
                <a:gd name="T10" fmla="*/ 12 w 12"/>
                <a:gd name="T11" fmla="*/ 0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8">
                  <a:moveTo>
                    <a:pt x="0" y="8"/>
                  </a:moveTo>
                  <a:lnTo>
                    <a:pt x="4" y="8"/>
                  </a:lnTo>
                  <a:lnTo>
                    <a:pt x="5" y="8"/>
                  </a:lnTo>
                  <a:lnTo>
                    <a:pt x="9" y="7"/>
                  </a:lnTo>
                  <a:lnTo>
                    <a:pt x="11" y="3"/>
                  </a:lnTo>
                  <a:lnTo>
                    <a:pt x="1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16" name="Line 1077"/>
            <p:cNvSpPr>
              <a:spLocks noChangeShapeType="1"/>
            </p:cNvSpPr>
            <p:nvPr userDrawn="1"/>
          </p:nvSpPr>
          <p:spPr bwMode="gray">
            <a:xfrm flipV="1">
              <a:off x="4744" y="3788"/>
              <a:ext cx="159" cy="9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17" name="Line 1078"/>
            <p:cNvSpPr>
              <a:spLocks noChangeShapeType="1"/>
            </p:cNvSpPr>
            <p:nvPr userDrawn="1"/>
          </p:nvSpPr>
          <p:spPr bwMode="gray">
            <a:xfrm flipV="1">
              <a:off x="4736" y="3789"/>
              <a:ext cx="159" cy="9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18" name="Freeform 1079"/>
            <p:cNvSpPr>
              <a:spLocks/>
            </p:cNvSpPr>
            <p:nvPr userDrawn="1"/>
          </p:nvSpPr>
          <p:spPr bwMode="gray">
            <a:xfrm>
              <a:off x="4895" y="3781"/>
              <a:ext cx="13" cy="8"/>
            </a:xfrm>
            <a:custGeom>
              <a:avLst/>
              <a:gdLst>
                <a:gd name="T0" fmla="*/ 0 w 12"/>
                <a:gd name="T1" fmla="*/ 8 h 8"/>
                <a:gd name="T2" fmla="*/ 5 w 12"/>
                <a:gd name="T3" fmla="*/ 8 h 8"/>
                <a:gd name="T4" fmla="*/ 7 w 12"/>
                <a:gd name="T5" fmla="*/ 8 h 8"/>
                <a:gd name="T6" fmla="*/ 10 w 12"/>
                <a:gd name="T7" fmla="*/ 7 h 8"/>
                <a:gd name="T8" fmla="*/ 12 w 12"/>
                <a:gd name="T9" fmla="*/ 3 h 8"/>
                <a:gd name="T10" fmla="*/ 12 w 12"/>
                <a:gd name="T11" fmla="*/ 0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8">
                  <a:moveTo>
                    <a:pt x="0" y="8"/>
                  </a:moveTo>
                  <a:lnTo>
                    <a:pt x="5" y="8"/>
                  </a:lnTo>
                  <a:lnTo>
                    <a:pt x="7" y="8"/>
                  </a:lnTo>
                  <a:lnTo>
                    <a:pt x="10" y="7"/>
                  </a:lnTo>
                  <a:lnTo>
                    <a:pt x="12" y="3"/>
                  </a:lnTo>
                  <a:lnTo>
                    <a:pt x="1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19" name="Line 1080"/>
            <p:cNvSpPr>
              <a:spLocks noChangeShapeType="1"/>
            </p:cNvSpPr>
            <p:nvPr userDrawn="1"/>
          </p:nvSpPr>
          <p:spPr bwMode="gray">
            <a:xfrm flipH="1">
              <a:off x="4746" y="3781"/>
              <a:ext cx="161" cy="9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20" name="Freeform 1081"/>
            <p:cNvSpPr>
              <a:spLocks/>
            </p:cNvSpPr>
            <p:nvPr userDrawn="1"/>
          </p:nvSpPr>
          <p:spPr bwMode="gray">
            <a:xfrm>
              <a:off x="4736" y="3875"/>
              <a:ext cx="10" cy="10"/>
            </a:xfrm>
            <a:custGeom>
              <a:avLst/>
              <a:gdLst>
                <a:gd name="T0" fmla="*/ 10 w 10"/>
                <a:gd name="T1" fmla="*/ 0 h 10"/>
                <a:gd name="T2" fmla="*/ 10 w 10"/>
                <a:gd name="T3" fmla="*/ 5 h 10"/>
                <a:gd name="T4" fmla="*/ 8 w 10"/>
                <a:gd name="T5" fmla="*/ 7 h 10"/>
                <a:gd name="T6" fmla="*/ 7 w 10"/>
                <a:gd name="T7" fmla="*/ 9 h 10"/>
                <a:gd name="T8" fmla="*/ 3 w 10"/>
                <a:gd name="T9" fmla="*/ 10 h 10"/>
                <a:gd name="T10" fmla="*/ 0 w 10"/>
                <a:gd name="T11" fmla="*/ 9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10">
                  <a:moveTo>
                    <a:pt x="10" y="0"/>
                  </a:moveTo>
                  <a:lnTo>
                    <a:pt x="10" y="5"/>
                  </a:lnTo>
                  <a:lnTo>
                    <a:pt x="8" y="7"/>
                  </a:lnTo>
                  <a:lnTo>
                    <a:pt x="7" y="9"/>
                  </a:lnTo>
                  <a:lnTo>
                    <a:pt x="3" y="10"/>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21" name="Freeform 1082"/>
            <p:cNvSpPr>
              <a:spLocks/>
            </p:cNvSpPr>
            <p:nvPr userDrawn="1"/>
          </p:nvSpPr>
          <p:spPr bwMode="gray">
            <a:xfrm>
              <a:off x="4895" y="3770"/>
              <a:ext cx="8" cy="19"/>
            </a:xfrm>
            <a:custGeom>
              <a:avLst/>
              <a:gdLst>
                <a:gd name="T0" fmla="*/ 0 w 8"/>
                <a:gd name="T1" fmla="*/ 19 h 19"/>
                <a:gd name="T2" fmla="*/ 3 w 8"/>
                <a:gd name="T3" fmla="*/ 16 h 19"/>
                <a:gd name="T4" fmla="*/ 7 w 8"/>
                <a:gd name="T5" fmla="*/ 11 h 19"/>
                <a:gd name="T6" fmla="*/ 8 w 8"/>
                <a:gd name="T7" fmla="*/ 5 h 19"/>
                <a:gd name="T8" fmla="*/ 8 w 8"/>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9">
                  <a:moveTo>
                    <a:pt x="0" y="19"/>
                  </a:moveTo>
                  <a:lnTo>
                    <a:pt x="3" y="16"/>
                  </a:lnTo>
                  <a:lnTo>
                    <a:pt x="7" y="11"/>
                  </a:lnTo>
                  <a:lnTo>
                    <a:pt x="8" y="5"/>
                  </a:lnTo>
                  <a:lnTo>
                    <a:pt x="8"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22" name="Freeform 1083"/>
            <p:cNvSpPr>
              <a:spLocks/>
            </p:cNvSpPr>
            <p:nvPr userDrawn="1"/>
          </p:nvSpPr>
          <p:spPr bwMode="gray">
            <a:xfrm>
              <a:off x="4290" y="3457"/>
              <a:ext cx="10" cy="9"/>
            </a:xfrm>
            <a:custGeom>
              <a:avLst/>
              <a:gdLst>
                <a:gd name="T0" fmla="*/ 0 w 10"/>
                <a:gd name="T1" fmla="*/ 9 h 9"/>
                <a:gd name="T2" fmla="*/ 3 w 10"/>
                <a:gd name="T3" fmla="*/ 9 h 9"/>
                <a:gd name="T4" fmla="*/ 7 w 10"/>
                <a:gd name="T5" fmla="*/ 9 h 9"/>
                <a:gd name="T6" fmla="*/ 8 w 10"/>
                <a:gd name="T7" fmla="*/ 7 h 9"/>
                <a:gd name="T8" fmla="*/ 10 w 10"/>
                <a:gd name="T9" fmla="*/ 3 h 9"/>
                <a:gd name="T10" fmla="*/ 10 w 10"/>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0" y="9"/>
                  </a:moveTo>
                  <a:lnTo>
                    <a:pt x="3" y="9"/>
                  </a:lnTo>
                  <a:lnTo>
                    <a:pt x="7" y="9"/>
                  </a:lnTo>
                  <a:lnTo>
                    <a:pt x="8" y="7"/>
                  </a:lnTo>
                  <a:lnTo>
                    <a:pt x="10" y="3"/>
                  </a:lnTo>
                  <a:lnTo>
                    <a:pt x="1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23" name="Line 1084"/>
            <p:cNvSpPr>
              <a:spLocks noChangeShapeType="1"/>
            </p:cNvSpPr>
            <p:nvPr userDrawn="1"/>
          </p:nvSpPr>
          <p:spPr bwMode="gray">
            <a:xfrm flipH="1" flipV="1">
              <a:off x="4267" y="3310"/>
              <a:ext cx="26" cy="1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24" name="Line 1085"/>
            <p:cNvSpPr>
              <a:spLocks noChangeShapeType="1"/>
            </p:cNvSpPr>
            <p:nvPr userDrawn="1"/>
          </p:nvSpPr>
          <p:spPr bwMode="gray">
            <a:xfrm flipH="1" flipV="1">
              <a:off x="4262" y="3310"/>
              <a:ext cx="31" cy="1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25" name="Freeform 1086"/>
            <p:cNvSpPr>
              <a:spLocks/>
            </p:cNvSpPr>
            <p:nvPr userDrawn="1"/>
          </p:nvSpPr>
          <p:spPr bwMode="gray">
            <a:xfrm>
              <a:off x="4262" y="3308"/>
              <a:ext cx="8" cy="11"/>
            </a:xfrm>
            <a:custGeom>
              <a:avLst/>
              <a:gdLst>
                <a:gd name="T0" fmla="*/ 0 w 8"/>
                <a:gd name="T1" fmla="*/ 2 h 11"/>
                <a:gd name="T2" fmla="*/ 3 w 8"/>
                <a:gd name="T3" fmla="*/ 0 h 11"/>
                <a:gd name="T4" fmla="*/ 5 w 8"/>
                <a:gd name="T5" fmla="*/ 2 h 11"/>
                <a:gd name="T6" fmla="*/ 7 w 8"/>
                <a:gd name="T7" fmla="*/ 4 h 11"/>
                <a:gd name="T8" fmla="*/ 8 w 8"/>
                <a:gd name="T9" fmla="*/ 7 h 11"/>
                <a:gd name="T10" fmla="*/ 8 w 8"/>
                <a:gd name="T11" fmla="*/ 1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11">
                  <a:moveTo>
                    <a:pt x="0" y="2"/>
                  </a:moveTo>
                  <a:lnTo>
                    <a:pt x="3" y="0"/>
                  </a:lnTo>
                  <a:lnTo>
                    <a:pt x="5" y="2"/>
                  </a:lnTo>
                  <a:lnTo>
                    <a:pt x="7" y="4"/>
                  </a:lnTo>
                  <a:lnTo>
                    <a:pt x="8" y="7"/>
                  </a:lnTo>
                  <a:lnTo>
                    <a:pt x="8" y="1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26" name="Line 1087"/>
            <p:cNvSpPr>
              <a:spLocks noChangeShapeType="1"/>
            </p:cNvSpPr>
            <p:nvPr userDrawn="1"/>
          </p:nvSpPr>
          <p:spPr bwMode="gray">
            <a:xfrm>
              <a:off x="4270" y="3319"/>
              <a:ext cx="23" cy="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27" name="Freeform 1088"/>
            <p:cNvSpPr>
              <a:spLocks/>
            </p:cNvSpPr>
            <p:nvPr userDrawn="1"/>
          </p:nvSpPr>
          <p:spPr bwMode="gray">
            <a:xfrm>
              <a:off x="4169" y="3352"/>
              <a:ext cx="10" cy="9"/>
            </a:xfrm>
            <a:custGeom>
              <a:avLst/>
              <a:gdLst>
                <a:gd name="T0" fmla="*/ 10 w 10"/>
                <a:gd name="T1" fmla="*/ 0 h 9"/>
                <a:gd name="T2" fmla="*/ 7 w 10"/>
                <a:gd name="T3" fmla="*/ 0 h 9"/>
                <a:gd name="T4" fmla="*/ 5 w 10"/>
                <a:gd name="T5" fmla="*/ 0 h 9"/>
                <a:gd name="T6" fmla="*/ 3 w 10"/>
                <a:gd name="T7" fmla="*/ 2 h 9"/>
                <a:gd name="T8" fmla="*/ 0 w 10"/>
                <a:gd name="T9" fmla="*/ 5 h 9"/>
                <a:gd name="T10" fmla="*/ 0 w 10"/>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10" y="0"/>
                  </a:moveTo>
                  <a:lnTo>
                    <a:pt x="7" y="0"/>
                  </a:lnTo>
                  <a:lnTo>
                    <a:pt x="5" y="0"/>
                  </a:lnTo>
                  <a:lnTo>
                    <a:pt x="3" y="2"/>
                  </a:lnTo>
                  <a:lnTo>
                    <a:pt x="0" y="5"/>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28" name="Line 1089"/>
            <p:cNvSpPr>
              <a:spLocks noChangeShapeType="1"/>
            </p:cNvSpPr>
            <p:nvPr userDrawn="1"/>
          </p:nvSpPr>
          <p:spPr bwMode="gray">
            <a:xfrm flipH="1">
              <a:off x="4088" y="3312"/>
              <a:ext cx="165" cy="8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29" name="Line 1090"/>
            <p:cNvSpPr>
              <a:spLocks noChangeShapeType="1"/>
            </p:cNvSpPr>
            <p:nvPr userDrawn="1"/>
          </p:nvSpPr>
          <p:spPr bwMode="gray">
            <a:xfrm flipH="1">
              <a:off x="4095" y="3310"/>
              <a:ext cx="167" cy="8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30" name="Freeform 1091"/>
            <p:cNvSpPr>
              <a:spLocks/>
            </p:cNvSpPr>
            <p:nvPr userDrawn="1"/>
          </p:nvSpPr>
          <p:spPr bwMode="gray">
            <a:xfrm>
              <a:off x="4087" y="3394"/>
              <a:ext cx="8" cy="10"/>
            </a:xfrm>
            <a:custGeom>
              <a:avLst/>
              <a:gdLst>
                <a:gd name="T0" fmla="*/ 8 w 8"/>
                <a:gd name="T1" fmla="*/ 2 h 10"/>
                <a:gd name="T2" fmla="*/ 5 w 8"/>
                <a:gd name="T3" fmla="*/ 0 h 10"/>
                <a:gd name="T4" fmla="*/ 3 w 8"/>
                <a:gd name="T5" fmla="*/ 2 h 10"/>
                <a:gd name="T6" fmla="*/ 0 w 8"/>
                <a:gd name="T7" fmla="*/ 4 h 10"/>
                <a:gd name="T8" fmla="*/ 0 w 8"/>
                <a:gd name="T9" fmla="*/ 7 h 10"/>
                <a:gd name="T10" fmla="*/ 0 w 8"/>
                <a:gd name="T11" fmla="*/ 1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10">
                  <a:moveTo>
                    <a:pt x="8" y="2"/>
                  </a:moveTo>
                  <a:lnTo>
                    <a:pt x="5" y="0"/>
                  </a:lnTo>
                  <a:lnTo>
                    <a:pt x="3" y="2"/>
                  </a:lnTo>
                  <a:lnTo>
                    <a:pt x="0" y="4"/>
                  </a:lnTo>
                  <a:lnTo>
                    <a:pt x="0" y="7"/>
                  </a:lnTo>
                  <a:lnTo>
                    <a:pt x="0" y="1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31" name="Line 1092"/>
            <p:cNvSpPr>
              <a:spLocks noChangeShapeType="1"/>
            </p:cNvSpPr>
            <p:nvPr userDrawn="1"/>
          </p:nvSpPr>
          <p:spPr bwMode="gray">
            <a:xfrm flipV="1">
              <a:off x="4087" y="3319"/>
              <a:ext cx="164" cy="8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32" name="Freeform 1093"/>
            <p:cNvSpPr>
              <a:spLocks/>
            </p:cNvSpPr>
            <p:nvPr userDrawn="1"/>
          </p:nvSpPr>
          <p:spPr bwMode="gray">
            <a:xfrm>
              <a:off x="4251" y="3310"/>
              <a:ext cx="11" cy="9"/>
            </a:xfrm>
            <a:custGeom>
              <a:avLst/>
              <a:gdLst>
                <a:gd name="T0" fmla="*/ 11 w 11"/>
                <a:gd name="T1" fmla="*/ 0 h 9"/>
                <a:gd name="T2" fmla="*/ 5 w 11"/>
                <a:gd name="T3" fmla="*/ 0 h 9"/>
                <a:gd name="T4" fmla="*/ 4 w 11"/>
                <a:gd name="T5" fmla="*/ 0 h 9"/>
                <a:gd name="T6" fmla="*/ 2 w 11"/>
                <a:gd name="T7" fmla="*/ 2 h 9"/>
                <a:gd name="T8" fmla="*/ 0 w 11"/>
                <a:gd name="T9" fmla="*/ 5 h 9"/>
                <a:gd name="T10" fmla="*/ 0 w 11"/>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9">
                  <a:moveTo>
                    <a:pt x="11" y="0"/>
                  </a:moveTo>
                  <a:lnTo>
                    <a:pt x="5" y="0"/>
                  </a:lnTo>
                  <a:lnTo>
                    <a:pt x="4" y="0"/>
                  </a:lnTo>
                  <a:lnTo>
                    <a:pt x="2" y="2"/>
                  </a:lnTo>
                  <a:lnTo>
                    <a:pt x="0" y="5"/>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33" name="Freeform 1094"/>
            <p:cNvSpPr>
              <a:spLocks/>
            </p:cNvSpPr>
            <p:nvPr userDrawn="1"/>
          </p:nvSpPr>
          <p:spPr bwMode="gray">
            <a:xfrm>
              <a:off x="4209" y="3439"/>
              <a:ext cx="9" cy="18"/>
            </a:xfrm>
            <a:custGeom>
              <a:avLst/>
              <a:gdLst>
                <a:gd name="T0" fmla="*/ 9 w 9"/>
                <a:gd name="T1" fmla="*/ 0 h 18"/>
                <a:gd name="T2" fmla="*/ 4 w 9"/>
                <a:gd name="T3" fmla="*/ 4 h 18"/>
                <a:gd name="T4" fmla="*/ 2 w 9"/>
                <a:gd name="T5" fmla="*/ 7 h 18"/>
                <a:gd name="T6" fmla="*/ 0 w 9"/>
                <a:gd name="T7" fmla="*/ 13 h 18"/>
                <a:gd name="T8" fmla="*/ 0 w 9"/>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9" y="0"/>
                  </a:moveTo>
                  <a:lnTo>
                    <a:pt x="4" y="4"/>
                  </a:lnTo>
                  <a:lnTo>
                    <a:pt x="2" y="7"/>
                  </a:lnTo>
                  <a:lnTo>
                    <a:pt x="0" y="13"/>
                  </a:lnTo>
                  <a:lnTo>
                    <a:pt x="0" y="1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34" name="Line 1095"/>
            <p:cNvSpPr>
              <a:spLocks noChangeShapeType="1"/>
            </p:cNvSpPr>
            <p:nvPr userDrawn="1"/>
          </p:nvSpPr>
          <p:spPr bwMode="gray">
            <a:xfrm>
              <a:off x="4090" y="3403"/>
              <a:ext cx="195" cy="7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35" name="Line 1096"/>
            <p:cNvSpPr>
              <a:spLocks noChangeShapeType="1"/>
            </p:cNvSpPr>
            <p:nvPr userDrawn="1"/>
          </p:nvSpPr>
          <p:spPr bwMode="gray">
            <a:xfrm>
              <a:off x="4095" y="3396"/>
              <a:ext cx="195" cy="7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36" name="Freeform 1097"/>
            <p:cNvSpPr>
              <a:spLocks/>
            </p:cNvSpPr>
            <p:nvPr userDrawn="1"/>
          </p:nvSpPr>
          <p:spPr bwMode="gray">
            <a:xfrm>
              <a:off x="4288" y="3466"/>
              <a:ext cx="4" cy="21"/>
            </a:xfrm>
            <a:custGeom>
              <a:avLst/>
              <a:gdLst>
                <a:gd name="T0" fmla="*/ 2 w 3"/>
                <a:gd name="T1" fmla="*/ 0 h 21"/>
                <a:gd name="T2" fmla="*/ 0 w 3"/>
                <a:gd name="T3" fmla="*/ 7 h 21"/>
                <a:gd name="T4" fmla="*/ 0 w 3"/>
                <a:gd name="T5" fmla="*/ 14 h 21"/>
                <a:gd name="T6" fmla="*/ 3 w 3"/>
                <a:gd name="T7" fmla="*/ 21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 h="21">
                  <a:moveTo>
                    <a:pt x="2" y="0"/>
                  </a:moveTo>
                  <a:lnTo>
                    <a:pt x="0" y="7"/>
                  </a:lnTo>
                  <a:lnTo>
                    <a:pt x="0" y="14"/>
                  </a:lnTo>
                  <a:lnTo>
                    <a:pt x="3" y="2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37" name="Line 1098"/>
            <p:cNvSpPr>
              <a:spLocks noChangeShapeType="1"/>
            </p:cNvSpPr>
            <p:nvPr userDrawn="1"/>
          </p:nvSpPr>
          <p:spPr bwMode="gray">
            <a:xfrm flipH="1" flipV="1">
              <a:off x="4087" y="3413"/>
              <a:ext cx="204"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38" name="Freeform 1099"/>
            <p:cNvSpPr>
              <a:spLocks/>
            </p:cNvSpPr>
            <p:nvPr userDrawn="1"/>
          </p:nvSpPr>
          <p:spPr bwMode="gray">
            <a:xfrm>
              <a:off x="4087" y="3396"/>
              <a:ext cx="8" cy="17"/>
            </a:xfrm>
            <a:custGeom>
              <a:avLst/>
              <a:gdLst>
                <a:gd name="T0" fmla="*/ 0 w 8"/>
                <a:gd name="T1" fmla="*/ 17 h 17"/>
                <a:gd name="T2" fmla="*/ 1 w 8"/>
                <a:gd name="T3" fmla="*/ 12 h 17"/>
                <a:gd name="T4" fmla="*/ 3 w 8"/>
                <a:gd name="T5" fmla="*/ 7 h 17"/>
                <a:gd name="T6" fmla="*/ 5 w 8"/>
                <a:gd name="T7" fmla="*/ 3 h 17"/>
                <a:gd name="T8" fmla="*/ 8 w 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7"/>
                  </a:moveTo>
                  <a:lnTo>
                    <a:pt x="1" y="12"/>
                  </a:lnTo>
                  <a:lnTo>
                    <a:pt x="3" y="7"/>
                  </a:lnTo>
                  <a:lnTo>
                    <a:pt x="5" y="3"/>
                  </a:lnTo>
                  <a:lnTo>
                    <a:pt x="8"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39" name="Freeform 1100"/>
            <p:cNvSpPr>
              <a:spLocks/>
            </p:cNvSpPr>
            <p:nvPr userDrawn="1"/>
          </p:nvSpPr>
          <p:spPr bwMode="gray">
            <a:xfrm>
              <a:off x="4603" y="3490"/>
              <a:ext cx="10" cy="18"/>
            </a:xfrm>
            <a:custGeom>
              <a:avLst/>
              <a:gdLst>
                <a:gd name="T0" fmla="*/ 10 w 10"/>
                <a:gd name="T1" fmla="*/ 18 h 18"/>
                <a:gd name="T2" fmla="*/ 7 w 10"/>
                <a:gd name="T3" fmla="*/ 14 h 18"/>
                <a:gd name="T4" fmla="*/ 3 w 10"/>
                <a:gd name="T5" fmla="*/ 11 h 18"/>
                <a:gd name="T6" fmla="*/ 0 w 10"/>
                <a:gd name="T7" fmla="*/ 5 h 18"/>
                <a:gd name="T8" fmla="*/ 0 w 10"/>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8">
                  <a:moveTo>
                    <a:pt x="10" y="18"/>
                  </a:moveTo>
                  <a:lnTo>
                    <a:pt x="7" y="14"/>
                  </a:lnTo>
                  <a:lnTo>
                    <a:pt x="3" y="11"/>
                  </a:lnTo>
                  <a:lnTo>
                    <a:pt x="0"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40" name="Line 1101"/>
            <p:cNvSpPr>
              <a:spLocks noChangeShapeType="1"/>
            </p:cNvSpPr>
            <p:nvPr userDrawn="1"/>
          </p:nvSpPr>
          <p:spPr bwMode="gray">
            <a:xfrm flipH="1">
              <a:off x="4524" y="3455"/>
              <a:ext cx="161"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41" name="Line 1102"/>
            <p:cNvSpPr>
              <a:spLocks noChangeShapeType="1"/>
            </p:cNvSpPr>
            <p:nvPr userDrawn="1"/>
          </p:nvSpPr>
          <p:spPr bwMode="gray">
            <a:xfrm flipH="1">
              <a:off x="4531" y="3462"/>
              <a:ext cx="163"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42" name="Freeform 1103"/>
            <p:cNvSpPr>
              <a:spLocks/>
            </p:cNvSpPr>
            <p:nvPr userDrawn="1"/>
          </p:nvSpPr>
          <p:spPr bwMode="gray">
            <a:xfrm>
              <a:off x="4520" y="3536"/>
              <a:ext cx="11" cy="17"/>
            </a:xfrm>
            <a:custGeom>
              <a:avLst/>
              <a:gdLst>
                <a:gd name="T0" fmla="*/ 11 w 11"/>
                <a:gd name="T1" fmla="*/ 17 h 17"/>
                <a:gd name="T2" fmla="*/ 7 w 11"/>
                <a:gd name="T3" fmla="*/ 14 h 17"/>
                <a:gd name="T4" fmla="*/ 4 w 11"/>
                <a:gd name="T5" fmla="*/ 10 h 17"/>
                <a:gd name="T6" fmla="*/ 0 w 11"/>
                <a:gd name="T7" fmla="*/ 5 h 17"/>
                <a:gd name="T8" fmla="*/ 0 w 1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7">
                  <a:moveTo>
                    <a:pt x="11" y="17"/>
                  </a:moveTo>
                  <a:lnTo>
                    <a:pt x="7" y="14"/>
                  </a:lnTo>
                  <a:lnTo>
                    <a:pt x="4" y="10"/>
                  </a:lnTo>
                  <a:lnTo>
                    <a:pt x="0"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43" name="Line 1104"/>
            <p:cNvSpPr>
              <a:spLocks noChangeShapeType="1"/>
            </p:cNvSpPr>
            <p:nvPr userDrawn="1"/>
          </p:nvSpPr>
          <p:spPr bwMode="gray">
            <a:xfrm flipV="1">
              <a:off x="4520" y="3446"/>
              <a:ext cx="163" cy="9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44" name="Freeform 1105"/>
            <p:cNvSpPr>
              <a:spLocks/>
            </p:cNvSpPr>
            <p:nvPr userDrawn="1"/>
          </p:nvSpPr>
          <p:spPr bwMode="gray">
            <a:xfrm>
              <a:off x="4683" y="3446"/>
              <a:ext cx="11" cy="16"/>
            </a:xfrm>
            <a:custGeom>
              <a:avLst/>
              <a:gdLst>
                <a:gd name="T0" fmla="*/ 11 w 11"/>
                <a:gd name="T1" fmla="*/ 16 h 16"/>
                <a:gd name="T2" fmla="*/ 7 w 11"/>
                <a:gd name="T3" fmla="*/ 14 h 16"/>
                <a:gd name="T4" fmla="*/ 4 w 11"/>
                <a:gd name="T5" fmla="*/ 9 h 16"/>
                <a:gd name="T6" fmla="*/ 0 w 11"/>
                <a:gd name="T7" fmla="*/ 4 h 16"/>
                <a:gd name="T8" fmla="*/ 0 w 11"/>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11" y="16"/>
                  </a:moveTo>
                  <a:lnTo>
                    <a:pt x="7" y="14"/>
                  </a:lnTo>
                  <a:lnTo>
                    <a:pt x="4" y="9"/>
                  </a:lnTo>
                  <a:lnTo>
                    <a:pt x="0"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45" name="Freeform 1106"/>
            <p:cNvSpPr>
              <a:spLocks/>
            </p:cNvSpPr>
            <p:nvPr userDrawn="1"/>
          </p:nvSpPr>
          <p:spPr bwMode="gray">
            <a:xfrm>
              <a:off x="4597" y="3579"/>
              <a:ext cx="9" cy="18"/>
            </a:xfrm>
            <a:custGeom>
              <a:avLst/>
              <a:gdLst>
                <a:gd name="T0" fmla="*/ 9 w 9"/>
                <a:gd name="T1" fmla="*/ 0 h 18"/>
                <a:gd name="T2" fmla="*/ 6 w 9"/>
                <a:gd name="T3" fmla="*/ 4 h 18"/>
                <a:gd name="T4" fmla="*/ 2 w 9"/>
                <a:gd name="T5" fmla="*/ 7 h 18"/>
                <a:gd name="T6" fmla="*/ 0 w 9"/>
                <a:gd name="T7" fmla="*/ 13 h 18"/>
                <a:gd name="T8" fmla="*/ 0 w 9"/>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9" y="0"/>
                  </a:moveTo>
                  <a:lnTo>
                    <a:pt x="6" y="4"/>
                  </a:lnTo>
                  <a:lnTo>
                    <a:pt x="2" y="7"/>
                  </a:lnTo>
                  <a:lnTo>
                    <a:pt x="0" y="13"/>
                  </a:lnTo>
                  <a:lnTo>
                    <a:pt x="0" y="1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46" name="Line 1107"/>
            <p:cNvSpPr>
              <a:spLocks noChangeShapeType="1"/>
            </p:cNvSpPr>
            <p:nvPr userDrawn="1"/>
          </p:nvSpPr>
          <p:spPr bwMode="gray">
            <a:xfrm>
              <a:off x="4519" y="3558"/>
              <a:ext cx="210"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47" name="Line 1108"/>
            <p:cNvSpPr>
              <a:spLocks noChangeShapeType="1"/>
            </p:cNvSpPr>
            <p:nvPr userDrawn="1"/>
          </p:nvSpPr>
          <p:spPr bwMode="gray">
            <a:xfrm>
              <a:off x="4531" y="3553"/>
              <a:ext cx="205"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48" name="Freeform 1109"/>
            <p:cNvSpPr>
              <a:spLocks/>
            </p:cNvSpPr>
            <p:nvPr userDrawn="1"/>
          </p:nvSpPr>
          <p:spPr bwMode="gray">
            <a:xfrm>
              <a:off x="4727" y="3627"/>
              <a:ext cx="9" cy="17"/>
            </a:xfrm>
            <a:custGeom>
              <a:avLst/>
              <a:gdLst>
                <a:gd name="T0" fmla="*/ 9 w 9"/>
                <a:gd name="T1" fmla="*/ 0 h 17"/>
                <a:gd name="T2" fmla="*/ 5 w 9"/>
                <a:gd name="T3" fmla="*/ 3 h 17"/>
                <a:gd name="T4" fmla="*/ 2 w 9"/>
                <a:gd name="T5" fmla="*/ 7 h 17"/>
                <a:gd name="T6" fmla="*/ 0 w 9"/>
                <a:gd name="T7" fmla="*/ 12 h 17"/>
                <a:gd name="T8" fmla="*/ 0 w 9"/>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9" y="0"/>
                  </a:moveTo>
                  <a:lnTo>
                    <a:pt x="5" y="3"/>
                  </a:lnTo>
                  <a:lnTo>
                    <a:pt x="2" y="7"/>
                  </a:lnTo>
                  <a:lnTo>
                    <a:pt x="0" y="12"/>
                  </a:lnTo>
                  <a:lnTo>
                    <a:pt x="0" y="1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49" name="Line 1110"/>
            <p:cNvSpPr>
              <a:spLocks noChangeShapeType="1"/>
            </p:cNvSpPr>
            <p:nvPr userDrawn="1"/>
          </p:nvSpPr>
          <p:spPr bwMode="gray">
            <a:xfrm flipH="1" flipV="1">
              <a:off x="4512" y="3567"/>
              <a:ext cx="215"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50" name="Freeform 1111"/>
            <p:cNvSpPr>
              <a:spLocks/>
            </p:cNvSpPr>
            <p:nvPr userDrawn="1"/>
          </p:nvSpPr>
          <p:spPr bwMode="gray">
            <a:xfrm>
              <a:off x="4512" y="3553"/>
              <a:ext cx="19" cy="14"/>
            </a:xfrm>
            <a:custGeom>
              <a:avLst/>
              <a:gdLst>
                <a:gd name="T0" fmla="*/ 19 w 19"/>
                <a:gd name="T1" fmla="*/ 0 h 14"/>
                <a:gd name="T2" fmla="*/ 14 w 19"/>
                <a:gd name="T3" fmla="*/ 2 h 14"/>
                <a:gd name="T4" fmla="*/ 8 w 19"/>
                <a:gd name="T5" fmla="*/ 4 h 14"/>
                <a:gd name="T6" fmla="*/ 3 w 19"/>
                <a:gd name="T7" fmla="*/ 9 h 14"/>
                <a:gd name="T8" fmla="*/ 0 w 19"/>
                <a:gd name="T9" fmla="*/ 14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4">
                  <a:moveTo>
                    <a:pt x="19" y="0"/>
                  </a:moveTo>
                  <a:lnTo>
                    <a:pt x="14" y="2"/>
                  </a:lnTo>
                  <a:lnTo>
                    <a:pt x="8" y="4"/>
                  </a:lnTo>
                  <a:lnTo>
                    <a:pt x="3" y="9"/>
                  </a:lnTo>
                  <a:lnTo>
                    <a:pt x="0" y="14"/>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51" name="Freeform 1112"/>
            <p:cNvSpPr>
              <a:spLocks/>
            </p:cNvSpPr>
            <p:nvPr userDrawn="1"/>
          </p:nvSpPr>
          <p:spPr bwMode="gray">
            <a:xfrm>
              <a:off x="4816" y="3579"/>
              <a:ext cx="13" cy="18"/>
            </a:xfrm>
            <a:custGeom>
              <a:avLst/>
              <a:gdLst>
                <a:gd name="T0" fmla="*/ 0 w 12"/>
                <a:gd name="T1" fmla="*/ 0 h 18"/>
                <a:gd name="T2" fmla="*/ 5 w 12"/>
                <a:gd name="T3" fmla="*/ 2 h 18"/>
                <a:gd name="T4" fmla="*/ 9 w 12"/>
                <a:gd name="T5" fmla="*/ 7 h 18"/>
                <a:gd name="T6" fmla="*/ 11 w 12"/>
                <a:gd name="T7" fmla="*/ 13 h 18"/>
                <a:gd name="T8" fmla="*/ 12 w 12"/>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8">
                  <a:moveTo>
                    <a:pt x="0" y="0"/>
                  </a:moveTo>
                  <a:lnTo>
                    <a:pt x="5" y="2"/>
                  </a:lnTo>
                  <a:lnTo>
                    <a:pt x="9" y="7"/>
                  </a:lnTo>
                  <a:lnTo>
                    <a:pt x="11" y="13"/>
                  </a:lnTo>
                  <a:lnTo>
                    <a:pt x="12" y="1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52" name="Line 1113"/>
            <p:cNvSpPr>
              <a:spLocks noChangeShapeType="1"/>
            </p:cNvSpPr>
            <p:nvPr userDrawn="1"/>
          </p:nvSpPr>
          <p:spPr bwMode="gray">
            <a:xfrm flipV="1">
              <a:off x="4744" y="3541"/>
              <a:ext cx="161"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53" name="Line 1114"/>
            <p:cNvSpPr>
              <a:spLocks noChangeShapeType="1"/>
            </p:cNvSpPr>
            <p:nvPr userDrawn="1"/>
          </p:nvSpPr>
          <p:spPr bwMode="gray">
            <a:xfrm flipV="1">
              <a:off x="4736" y="3534"/>
              <a:ext cx="160"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54" name="Freeform 1115"/>
            <p:cNvSpPr>
              <a:spLocks/>
            </p:cNvSpPr>
            <p:nvPr userDrawn="1"/>
          </p:nvSpPr>
          <p:spPr bwMode="gray">
            <a:xfrm>
              <a:off x="4896" y="3534"/>
              <a:ext cx="13" cy="16"/>
            </a:xfrm>
            <a:custGeom>
              <a:avLst/>
              <a:gdLst>
                <a:gd name="T0" fmla="*/ 0 w 13"/>
                <a:gd name="T1" fmla="*/ 0 h 16"/>
                <a:gd name="T2" fmla="*/ 6 w 13"/>
                <a:gd name="T3" fmla="*/ 2 h 16"/>
                <a:gd name="T4" fmla="*/ 9 w 13"/>
                <a:gd name="T5" fmla="*/ 7 h 16"/>
                <a:gd name="T6" fmla="*/ 11 w 13"/>
                <a:gd name="T7" fmla="*/ 10 h 16"/>
                <a:gd name="T8" fmla="*/ 13 w 13"/>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6">
                  <a:moveTo>
                    <a:pt x="0" y="0"/>
                  </a:moveTo>
                  <a:lnTo>
                    <a:pt x="6" y="2"/>
                  </a:lnTo>
                  <a:lnTo>
                    <a:pt x="9" y="7"/>
                  </a:lnTo>
                  <a:lnTo>
                    <a:pt x="11" y="10"/>
                  </a:lnTo>
                  <a:lnTo>
                    <a:pt x="13"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55" name="Line 1116"/>
            <p:cNvSpPr>
              <a:spLocks noChangeShapeType="1"/>
            </p:cNvSpPr>
            <p:nvPr userDrawn="1"/>
          </p:nvSpPr>
          <p:spPr bwMode="gray">
            <a:xfrm flipH="1">
              <a:off x="4746" y="3550"/>
              <a:ext cx="163"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56" name="Freeform 1117"/>
            <p:cNvSpPr>
              <a:spLocks/>
            </p:cNvSpPr>
            <p:nvPr userDrawn="1"/>
          </p:nvSpPr>
          <p:spPr bwMode="gray">
            <a:xfrm>
              <a:off x="4736" y="3627"/>
              <a:ext cx="10" cy="15"/>
            </a:xfrm>
            <a:custGeom>
              <a:avLst/>
              <a:gdLst>
                <a:gd name="T0" fmla="*/ 10 w 10"/>
                <a:gd name="T1" fmla="*/ 15 h 15"/>
                <a:gd name="T2" fmla="*/ 10 w 10"/>
                <a:gd name="T3" fmla="*/ 10 h 15"/>
                <a:gd name="T4" fmla="*/ 8 w 10"/>
                <a:gd name="T5" fmla="*/ 7 h 15"/>
                <a:gd name="T6" fmla="*/ 5 w 10"/>
                <a:gd name="T7" fmla="*/ 1 h 15"/>
                <a:gd name="T8" fmla="*/ 0 w 10"/>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5">
                  <a:moveTo>
                    <a:pt x="10" y="15"/>
                  </a:moveTo>
                  <a:lnTo>
                    <a:pt x="10" y="10"/>
                  </a:lnTo>
                  <a:lnTo>
                    <a:pt x="8" y="7"/>
                  </a:lnTo>
                  <a:lnTo>
                    <a:pt x="5" y="1"/>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57" name="Freeform 1118"/>
            <p:cNvSpPr>
              <a:spLocks/>
            </p:cNvSpPr>
            <p:nvPr userDrawn="1"/>
          </p:nvSpPr>
          <p:spPr bwMode="gray">
            <a:xfrm>
              <a:off x="4769" y="3487"/>
              <a:ext cx="9" cy="8"/>
            </a:xfrm>
            <a:custGeom>
              <a:avLst/>
              <a:gdLst>
                <a:gd name="T0" fmla="*/ 0 w 9"/>
                <a:gd name="T1" fmla="*/ 1 h 8"/>
                <a:gd name="T2" fmla="*/ 3 w 9"/>
                <a:gd name="T3" fmla="*/ 0 h 8"/>
                <a:gd name="T4" fmla="*/ 5 w 9"/>
                <a:gd name="T5" fmla="*/ 1 h 8"/>
                <a:gd name="T6" fmla="*/ 9 w 9"/>
                <a:gd name="T7" fmla="*/ 5 h 8"/>
                <a:gd name="T8" fmla="*/ 9 w 9"/>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8">
                  <a:moveTo>
                    <a:pt x="0" y="1"/>
                  </a:moveTo>
                  <a:lnTo>
                    <a:pt x="3" y="0"/>
                  </a:lnTo>
                  <a:lnTo>
                    <a:pt x="5" y="1"/>
                  </a:lnTo>
                  <a:lnTo>
                    <a:pt x="9" y="5"/>
                  </a:lnTo>
                  <a:lnTo>
                    <a:pt x="9"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58" name="Line 1119"/>
            <p:cNvSpPr>
              <a:spLocks noChangeShapeType="1"/>
            </p:cNvSpPr>
            <p:nvPr userDrawn="1"/>
          </p:nvSpPr>
          <p:spPr bwMode="gray">
            <a:xfrm flipH="1" flipV="1">
              <a:off x="4695" y="3460"/>
              <a:ext cx="208"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59" name="Line 1120"/>
            <p:cNvSpPr>
              <a:spLocks noChangeShapeType="1"/>
            </p:cNvSpPr>
            <p:nvPr userDrawn="1"/>
          </p:nvSpPr>
          <p:spPr bwMode="gray">
            <a:xfrm flipH="1" flipV="1">
              <a:off x="4694" y="3462"/>
              <a:ext cx="202" cy="7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60" name="Freeform 1121"/>
            <p:cNvSpPr>
              <a:spLocks/>
            </p:cNvSpPr>
            <p:nvPr userDrawn="1"/>
          </p:nvSpPr>
          <p:spPr bwMode="gray">
            <a:xfrm>
              <a:off x="4692" y="3460"/>
              <a:ext cx="3" cy="6"/>
            </a:xfrm>
            <a:custGeom>
              <a:avLst/>
              <a:gdLst>
                <a:gd name="T0" fmla="*/ 2 w 3"/>
                <a:gd name="T1" fmla="*/ 2 h 6"/>
                <a:gd name="T2" fmla="*/ 2 w 3"/>
                <a:gd name="T3" fmla="*/ 0 h 6"/>
                <a:gd name="T4" fmla="*/ 2 w 3"/>
                <a:gd name="T5" fmla="*/ 0 h 6"/>
                <a:gd name="T6" fmla="*/ 3 w 3"/>
                <a:gd name="T7" fmla="*/ 0 h 6"/>
                <a:gd name="T8" fmla="*/ 3 w 3"/>
                <a:gd name="T9" fmla="*/ 0 h 6"/>
                <a:gd name="T10" fmla="*/ 3 w 3"/>
                <a:gd name="T11" fmla="*/ 2 h 6"/>
                <a:gd name="T12" fmla="*/ 2 w 3"/>
                <a:gd name="T13" fmla="*/ 2 h 6"/>
                <a:gd name="T14" fmla="*/ 2 w 3"/>
                <a:gd name="T15" fmla="*/ 4 h 6"/>
                <a:gd name="T16" fmla="*/ 0 w 3"/>
                <a:gd name="T17" fmla="*/ 6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 h="6">
                  <a:moveTo>
                    <a:pt x="2" y="2"/>
                  </a:moveTo>
                  <a:lnTo>
                    <a:pt x="2" y="0"/>
                  </a:lnTo>
                  <a:lnTo>
                    <a:pt x="3" y="0"/>
                  </a:lnTo>
                  <a:lnTo>
                    <a:pt x="3" y="2"/>
                  </a:lnTo>
                  <a:lnTo>
                    <a:pt x="2" y="2"/>
                  </a:lnTo>
                  <a:lnTo>
                    <a:pt x="2" y="4"/>
                  </a:lnTo>
                  <a:lnTo>
                    <a:pt x="0" y="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61" name="Line 1122"/>
            <p:cNvSpPr>
              <a:spLocks noChangeShapeType="1"/>
            </p:cNvSpPr>
            <p:nvPr userDrawn="1"/>
          </p:nvSpPr>
          <p:spPr bwMode="gray">
            <a:xfrm>
              <a:off x="4692" y="3466"/>
              <a:ext cx="213"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62" name="Freeform 1123"/>
            <p:cNvSpPr>
              <a:spLocks/>
            </p:cNvSpPr>
            <p:nvPr userDrawn="1"/>
          </p:nvSpPr>
          <p:spPr bwMode="gray">
            <a:xfrm>
              <a:off x="4896" y="3532"/>
              <a:ext cx="9" cy="9"/>
            </a:xfrm>
            <a:custGeom>
              <a:avLst/>
              <a:gdLst>
                <a:gd name="T0" fmla="*/ 0 w 9"/>
                <a:gd name="T1" fmla="*/ 2 h 9"/>
                <a:gd name="T2" fmla="*/ 4 w 9"/>
                <a:gd name="T3" fmla="*/ 0 h 9"/>
                <a:gd name="T4" fmla="*/ 7 w 9"/>
                <a:gd name="T5" fmla="*/ 0 h 9"/>
                <a:gd name="T6" fmla="*/ 9 w 9"/>
                <a:gd name="T7" fmla="*/ 4 h 9"/>
                <a:gd name="T8" fmla="*/ 9 w 9"/>
                <a:gd name="T9" fmla="*/ 5 h 9"/>
                <a:gd name="T10" fmla="*/ 9 w 9"/>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2"/>
                  </a:moveTo>
                  <a:lnTo>
                    <a:pt x="4" y="0"/>
                  </a:lnTo>
                  <a:lnTo>
                    <a:pt x="7" y="0"/>
                  </a:lnTo>
                  <a:lnTo>
                    <a:pt x="9" y="4"/>
                  </a:lnTo>
                  <a:lnTo>
                    <a:pt x="9" y="5"/>
                  </a:lnTo>
                  <a:lnTo>
                    <a:pt x="9"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63" name="Freeform 1124"/>
            <p:cNvSpPr>
              <a:spLocks/>
            </p:cNvSpPr>
            <p:nvPr userDrawn="1"/>
          </p:nvSpPr>
          <p:spPr bwMode="gray">
            <a:xfrm>
              <a:off x="4907" y="3663"/>
              <a:ext cx="21" cy="2"/>
            </a:xfrm>
            <a:custGeom>
              <a:avLst/>
              <a:gdLst>
                <a:gd name="T0" fmla="*/ 0 w 21"/>
                <a:gd name="T1" fmla="*/ 2 h 2"/>
                <a:gd name="T2" fmla="*/ 5 w 21"/>
                <a:gd name="T3" fmla="*/ 0 h 2"/>
                <a:gd name="T4" fmla="*/ 10 w 21"/>
                <a:gd name="T5" fmla="*/ 0 h 2"/>
                <a:gd name="T6" fmla="*/ 16 w 21"/>
                <a:gd name="T7" fmla="*/ 0 h 2"/>
                <a:gd name="T8" fmla="*/ 21 w 21"/>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2">
                  <a:moveTo>
                    <a:pt x="0" y="2"/>
                  </a:moveTo>
                  <a:lnTo>
                    <a:pt x="5" y="0"/>
                  </a:lnTo>
                  <a:lnTo>
                    <a:pt x="10" y="0"/>
                  </a:lnTo>
                  <a:lnTo>
                    <a:pt x="16" y="0"/>
                  </a:lnTo>
                  <a:lnTo>
                    <a:pt x="21"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grpSp>
          <p:nvGrpSpPr>
            <p:cNvPr id="1064" name="Group 1125"/>
            <p:cNvGrpSpPr>
              <a:grpSpLocks/>
            </p:cNvGrpSpPr>
            <p:nvPr userDrawn="1"/>
          </p:nvGrpSpPr>
          <p:grpSpPr bwMode="auto">
            <a:xfrm>
              <a:off x="4083" y="2782"/>
              <a:ext cx="1546" cy="1270"/>
              <a:chOff x="2135" y="838"/>
              <a:chExt cx="1546" cy="1270"/>
            </a:xfrm>
          </p:grpSpPr>
          <p:sp>
            <p:nvSpPr>
              <p:cNvPr id="1521" name="Line 1126"/>
              <p:cNvSpPr>
                <a:spLocks noChangeShapeType="1"/>
              </p:cNvSpPr>
              <p:nvPr userDrawn="1"/>
            </p:nvSpPr>
            <p:spPr bwMode="gray">
              <a:xfrm flipV="1">
                <a:off x="2968" y="1604"/>
                <a:ext cx="1" cy="22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22" name="Line 1127"/>
              <p:cNvSpPr>
                <a:spLocks noChangeShapeType="1"/>
              </p:cNvSpPr>
              <p:nvPr userDrawn="1"/>
            </p:nvSpPr>
            <p:spPr bwMode="gray">
              <a:xfrm flipV="1">
                <a:off x="2959" y="1605"/>
                <a:ext cx="2" cy="23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23" name="Freeform 1128"/>
              <p:cNvSpPr>
                <a:spLocks/>
              </p:cNvSpPr>
              <p:nvPr userDrawn="1"/>
            </p:nvSpPr>
            <p:spPr bwMode="gray">
              <a:xfrm>
                <a:off x="2961" y="1604"/>
                <a:ext cx="19" cy="2"/>
              </a:xfrm>
              <a:custGeom>
                <a:avLst/>
                <a:gdLst>
                  <a:gd name="T0" fmla="*/ 0 w 19"/>
                  <a:gd name="T1" fmla="*/ 2 h 2"/>
                  <a:gd name="T2" fmla="*/ 5 w 19"/>
                  <a:gd name="T3" fmla="*/ 0 h 2"/>
                  <a:gd name="T4" fmla="*/ 8 w 19"/>
                  <a:gd name="T5" fmla="*/ 0 h 2"/>
                  <a:gd name="T6" fmla="*/ 14 w 19"/>
                  <a:gd name="T7" fmla="*/ 0 h 2"/>
                  <a:gd name="T8" fmla="*/ 19 w 19"/>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
                    <a:moveTo>
                      <a:pt x="0" y="2"/>
                    </a:moveTo>
                    <a:lnTo>
                      <a:pt x="5" y="0"/>
                    </a:lnTo>
                    <a:lnTo>
                      <a:pt x="8" y="0"/>
                    </a:lnTo>
                    <a:lnTo>
                      <a:pt x="14" y="0"/>
                    </a:lnTo>
                    <a:lnTo>
                      <a:pt x="19"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24" name="Line 1129"/>
              <p:cNvSpPr>
                <a:spLocks noChangeShapeType="1"/>
              </p:cNvSpPr>
              <p:nvPr userDrawn="1"/>
            </p:nvSpPr>
            <p:spPr bwMode="gray">
              <a:xfrm flipH="1">
                <a:off x="2978" y="1605"/>
                <a:ext cx="2" cy="2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25" name="Freeform 1130"/>
              <p:cNvSpPr>
                <a:spLocks/>
              </p:cNvSpPr>
              <p:nvPr userDrawn="1"/>
            </p:nvSpPr>
            <p:spPr bwMode="gray">
              <a:xfrm>
                <a:off x="2959" y="1831"/>
                <a:ext cx="19" cy="4"/>
              </a:xfrm>
              <a:custGeom>
                <a:avLst/>
                <a:gdLst>
                  <a:gd name="T0" fmla="*/ 0 w 19"/>
                  <a:gd name="T1" fmla="*/ 4 h 4"/>
                  <a:gd name="T2" fmla="*/ 5 w 19"/>
                  <a:gd name="T3" fmla="*/ 0 h 4"/>
                  <a:gd name="T4" fmla="*/ 9 w 19"/>
                  <a:gd name="T5" fmla="*/ 0 h 4"/>
                  <a:gd name="T6" fmla="*/ 14 w 19"/>
                  <a:gd name="T7" fmla="*/ 0 h 4"/>
                  <a:gd name="T8" fmla="*/ 19 w 19"/>
                  <a:gd name="T9" fmla="*/ 2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
                    <a:moveTo>
                      <a:pt x="0" y="4"/>
                    </a:moveTo>
                    <a:lnTo>
                      <a:pt x="5" y="0"/>
                    </a:lnTo>
                    <a:lnTo>
                      <a:pt x="9" y="0"/>
                    </a:lnTo>
                    <a:lnTo>
                      <a:pt x="14" y="0"/>
                    </a:lnTo>
                    <a:lnTo>
                      <a:pt x="19"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26" name="Freeform 1131"/>
              <p:cNvSpPr>
                <a:spLocks/>
              </p:cNvSpPr>
              <p:nvPr userDrawn="1"/>
            </p:nvSpPr>
            <p:spPr bwMode="gray">
              <a:xfrm>
                <a:off x="2319" y="1366"/>
                <a:ext cx="4" cy="9"/>
              </a:xfrm>
              <a:custGeom>
                <a:avLst/>
                <a:gdLst>
                  <a:gd name="T0" fmla="*/ 3 w 3"/>
                  <a:gd name="T1" fmla="*/ 9 h 9"/>
                  <a:gd name="T2" fmla="*/ 0 w 3"/>
                  <a:gd name="T3" fmla="*/ 7 h 9"/>
                  <a:gd name="T4" fmla="*/ 0 w 3"/>
                  <a:gd name="T5" fmla="*/ 4 h 9"/>
                  <a:gd name="T6" fmla="*/ 0 w 3"/>
                  <a:gd name="T7" fmla="*/ 2 h 9"/>
                  <a:gd name="T8" fmla="*/ 2 w 3"/>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9">
                    <a:moveTo>
                      <a:pt x="3" y="9"/>
                    </a:moveTo>
                    <a:lnTo>
                      <a:pt x="0" y="7"/>
                    </a:lnTo>
                    <a:lnTo>
                      <a:pt x="0" y="4"/>
                    </a:lnTo>
                    <a:lnTo>
                      <a:pt x="0" y="2"/>
                    </a:lnTo>
                    <a:lnTo>
                      <a:pt x="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27" name="Freeform 1132"/>
              <p:cNvSpPr>
                <a:spLocks/>
              </p:cNvSpPr>
              <p:nvPr userDrawn="1"/>
            </p:nvSpPr>
            <p:spPr bwMode="gray">
              <a:xfrm>
                <a:off x="2958" y="1709"/>
                <a:ext cx="19" cy="4"/>
              </a:xfrm>
              <a:custGeom>
                <a:avLst/>
                <a:gdLst>
                  <a:gd name="T0" fmla="*/ 0 w 19"/>
                  <a:gd name="T1" fmla="*/ 0 h 2"/>
                  <a:gd name="T2" fmla="*/ 5 w 19"/>
                  <a:gd name="T3" fmla="*/ 2 h 2"/>
                  <a:gd name="T4" fmla="*/ 11 w 19"/>
                  <a:gd name="T5" fmla="*/ 2 h 2"/>
                  <a:gd name="T6" fmla="*/ 16 w 19"/>
                  <a:gd name="T7" fmla="*/ 2 h 2"/>
                  <a:gd name="T8" fmla="*/ 19 w 19"/>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
                    <a:moveTo>
                      <a:pt x="0" y="0"/>
                    </a:moveTo>
                    <a:lnTo>
                      <a:pt x="5" y="2"/>
                    </a:lnTo>
                    <a:lnTo>
                      <a:pt x="11" y="2"/>
                    </a:lnTo>
                    <a:lnTo>
                      <a:pt x="16" y="2"/>
                    </a:lnTo>
                    <a:lnTo>
                      <a:pt x="1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28" name="Line 1133"/>
              <p:cNvSpPr>
                <a:spLocks noChangeShapeType="1"/>
              </p:cNvSpPr>
              <p:nvPr userDrawn="1"/>
            </p:nvSpPr>
            <p:spPr bwMode="gray">
              <a:xfrm flipH="1">
                <a:off x="2967" y="1596"/>
                <a:ext cx="2" cy="2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29" name="Line 1134"/>
              <p:cNvSpPr>
                <a:spLocks noChangeShapeType="1"/>
              </p:cNvSpPr>
              <p:nvPr userDrawn="1"/>
            </p:nvSpPr>
            <p:spPr bwMode="gray">
              <a:xfrm flipH="1">
                <a:off x="2955" y="1596"/>
                <a:ext cx="4" cy="2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30" name="Freeform 1135"/>
              <p:cNvSpPr>
                <a:spLocks/>
              </p:cNvSpPr>
              <p:nvPr userDrawn="1"/>
            </p:nvSpPr>
            <p:spPr bwMode="gray">
              <a:xfrm>
                <a:off x="2955" y="1826"/>
                <a:ext cx="22" cy="4"/>
              </a:xfrm>
              <a:custGeom>
                <a:avLst/>
                <a:gdLst>
                  <a:gd name="T0" fmla="*/ 0 w 21"/>
                  <a:gd name="T1" fmla="*/ 0 h 4"/>
                  <a:gd name="T2" fmla="*/ 6 w 21"/>
                  <a:gd name="T3" fmla="*/ 2 h 4"/>
                  <a:gd name="T4" fmla="*/ 11 w 21"/>
                  <a:gd name="T5" fmla="*/ 4 h 4"/>
                  <a:gd name="T6" fmla="*/ 16 w 21"/>
                  <a:gd name="T7" fmla="*/ 2 h 4"/>
                  <a:gd name="T8" fmla="*/ 21 w 21"/>
                  <a:gd name="T9" fmla="*/ 0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4">
                    <a:moveTo>
                      <a:pt x="0" y="0"/>
                    </a:moveTo>
                    <a:lnTo>
                      <a:pt x="6" y="2"/>
                    </a:lnTo>
                    <a:lnTo>
                      <a:pt x="11" y="4"/>
                    </a:lnTo>
                    <a:lnTo>
                      <a:pt x="16" y="2"/>
                    </a:lnTo>
                    <a:lnTo>
                      <a:pt x="2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31" name="Line 1136"/>
              <p:cNvSpPr>
                <a:spLocks noChangeShapeType="1"/>
              </p:cNvSpPr>
              <p:nvPr userDrawn="1"/>
            </p:nvSpPr>
            <p:spPr bwMode="gray">
              <a:xfrm flipV="1">
                <a:off x="2976" y="1596"/>
                <a:ext cx="2" cy="2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32" name="Freeform 1137"/>
              <p:cNvSpPr>
                <a:spLocks/>
              </p:cNvSpPr>
              <p:nvPr userDrawn="1"/>
            </p:nvSpPr>
            <p:spPr bwMode="gray">
              <a:xfrm>
                <a:off x="2958" y="1596"/>
                <a:ext cx="21" cy="2"/>
              </a:xfrm>
              <a:custGeom>
                <a:avLst/>
                <a:gdLst>
                  <a:gd name="T0" fmla="*/ 0 w 21"/>
                  <a:gd name="T1" fmla="*/ 0 h 2"/>
                  <a:gd name="T2" fmla="*/ 5 w 21"/>
                  <a:gd name="T3" fmla="*/ 2 h 2"/>
                  <a:gd name="T4" fmla="*/ 11 w 21"/>
                  <a:gd name="T5" fmla="*/ 2 h 2"/>
                  <a:gd name="T6" fmla="*/ 16 w 21"/>
                  <a:gd name="T7" fmla="*/ 2 h 2"/>
                  <a:gd name="T8" fmla="*/ 21 w 21"/>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2">
                    <a:moveTo>
                      <a:pt x="0" y="0"/>
                    </a:moveTo>
                    <a:lnTo>
                      <a:pt x="5" y="2"/>
                    </a:lnTo>
                    <a:lnTo>
                      <a:pt x="11" y="2"/>
                    </a:lnTo>
                    <a:lnTo>
                      <a:pt x="16" y="2"/>
                    </a:lnTo>
                    <a:lnTo>
                      <a:pt x="2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33" name="Freeform 1138"/>
              <p:cNvSpPr>
                <a:spLocks/>
              </p:cNvSpPr>
              <p:nvPr userDrawn="1"/>
            </p:nvSpPr>
            <p:spPr bwMode="gray">
              <a:xfrm>
                <a:off x="2301" y="1366"/>
                <a:ext cx="4" cy="9"/>
              </a:xfrm>
              <a:custGeom>
                <a:avLst/>
                <a:gdLst>
                  <a:gd name="T0" fmla="*/ 2 w 4"/>
                  <a:gd name="T1" fmla="*/ 9 h 9"/>
                  <a:gd name="T2" fmla="*/ 4 w 4"/>
                  <a:gd name="T3" fmla="*/ 7 h 9"/>
                  <a:gd name="T4" fmla="*/ 4 w 4"/>
                  <a:gd name="T5" fmla="*/ 5 h 9"/>
                  <a:gd name="T6" fmla="*/ 4 w 4"/>
                  <a:gd name="T7" fmla="*/ 2 h 9"/>
                  <a:gd name="T8" fmla="*/ 0 w 4"/>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9">
                    <a:moveTo>
                      <a:pt x="2" y="9"/>
                    </a:moveTo>
                    <a:lnTo>
                      <a:pt x="4" y="7"/>
                    </a:lnTo>
                    <a:lnTo>
                      <a:pt x="4" y="5"/>
                    </a:lnTo>
                    <a:lnTo>
                      <a:pt x="4"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34" name="Freeform 1139"/>
              <p:cNvSpPr>
                <a:spLocks/>
              </p:cNvSpPr>
              <p:nvPr userDrawn="1"/>
            </p:nvSpPr>
            <p:spPr bwMode="gray">
              <a:xfrm>
                <a:off x="2139" y="1574"/>
                <a:ext cx="4" cy="9"/>
              </a:xfrm>
              <a:custGeom>
                <a:avLst/>
                <a:gdLst>
                  <a:gd name="T0" fmla="*/ 1 w 3"/>
                  <a:gd name="T1" fmla="*/ 0 h 9"/>
                  <a:gd name="T2" fmla="*/ 0 w 3"/>
                  <a:gd name="T3" fmla="*/ 2 h 9"/>
                  <a:gd name="T4" fmla="*/ 0 w 3"/>
                  <a:gd name="T5" fmla="*/ 4 h 9"/>
                  <a:gd name="T6" fmla="*/ 0 w 3"/>
                  <a:gd name="T7" fmla="*/ 7 h 9"/>
                  <a:gd name="T8" fmla="*/ 3 w 3"/>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9">
                    <a:moveTo>
                      <a:pt x="1" y="0"/>
                    </a:moveTo>
                    <a:lnTo>
                      <a:pt x="0" y="2"/>
                    </a:lnTo>
                    <a:lnTo>
                      <a:pt x="0" y="4"/>
                    </a:lnTo>
                    <a:lnTo>
                      <a:pt x="0" y="7"/>
                    </a:lnTo>
                    <a:lnTo>
                      <a:pt x="3"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35" name="Line 1140"/>
              <p:cNvSpPr>
                <a:spLocks noChangeShapeType="1"/>
              </p:cNvSpPr>
              <p:nvPr userDrawn="1"/>
            </p:nvSpPr>
            <p:spPr bwMode="gray">
              <a:xfrm flipH="1" flipV="1">
                <a:off x="2135" y="1466"/>
                <a:ext cx="5" cy="22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36" name="Line 1141"/>
              <p:cNvSpPr>
                <a:spLocks noChangeShapeType="1"/>
              </p:cNvSpPr>
              <p:nvPr userDrawn="1"/>
            </p:nvSpPr>
            <p:spPr bwMode="gray">
              <a:xfrm flipH="1" flipV="1">
                <a:off x="2139" y="1460"/>
                <a:ext cx="5" cy="22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37" name="Freeform 1142"/>
              <p:cNvSpPr>
                <a:spLocks/>
              </p:cNvSpPr>
              <p:nvPr userDrawn="1"/>
            </p:nvSpPr>
            <p:spPr bwMode="gray">
              <a:xfrm>
                <a:off x="2135" y="1460"/>
                <a:ext cx="4" cy="9"/>
              </a:xfrm>
              <a:custGeom>
                <a:avLst/>
                <a:gdLst>
                  <a:gd name="T0" fmla="*/ 4 w 4"/>
                  <a:gd name="T1" fmla="*/ 0 h 9"/>
                  <a:gd name="T2" fmla="*/ 0 w 4"/>
                  <a:gd name="T3" fmla="*/ 2 h 9"/>
                  <a:gd name="T4" fmla="*/ 0 w 4"/>
                  <a:gd name="T5" fmla="*/ 6 h 9"/>
                  <a:gd name="T6" fmla="*/ 2 w 4"/>
                  <a:gd name="T7" fmla="*/ 7 h 9"/>
                  <a:gd name="T8" fmla="*/ 4 w 4"/>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9">
                    <a:moveTo>
                      <a:pt x="4" y="0"/>
                    </a:moveTo>
                    <a:lnTo>
                      <a:pt x="0" y="2"/>
                    </a:lnTo>
                    <a:lnTo>
                      <a:pt x="0" y="6"/>
                    </a:lnTo>
                    <a:lnTo>
                      <a:pt x="2" y="7"/>
                    </a:lnTo>
                    <a:lnTo>
                      <a:pt x="4"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38" name="Line 1143"/>
              <p:cNvSpPr>
                <a:spLocks noChangeShapeType="1"/>
              </p:cNvSpPr>
              <p:nvPr userDrawn="1"/>
            </p:nvSpPr>
            <p:spPr bwMode="gray">
              <a:xfrm>
                <a:off x="2139" y="1469"/>
                <a:ext cx="7" cy="22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39" name="Freeform 1144"/>
              <p:cNvSpPr>
                <a:spLocks/>
              </p:cNvSpPr>
              <p:nvPr userDrawn="1"/>
            </p:nvSpPr>
            <p:spPr bwMode="gray">
              <a:xfrm>
                <a:off x="2141" y="1683"/>
                <a:ext cx="4" cy="13"/>
              </a:xfrm>
              <a:custGeom>
                <a:avLst/>
                <a:gdLst>
                  <a:gd name="T0" fmla="*/ 6 w 6"/>
                  <a:gd name="T1" fmla="*/ 9 h 9"/>
                  <a:gd name="T2" fmla="*/ 2 w 6"/>
                  <a:gd name="T3" fmla="*/ 7 h 9"/>
                  <a:gd name="T4" fmla="*/ 0 w 6"/>
                  <a:gd name="T5" fmla="*/ 5 h 9"/>
                  <a:gd name="T6" fmla="*/ 2 w 6"/>
                  <a:gd name="T7" fmla="*/ 2 h 9"/>
                  <a:gd name="T8" fmla="*/ 4 w 6"/>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9">
                    <a:moveTo>
                      <a:pt x="6" y="9"/>
                    </a:moveTo>
                    <a:lnTo>
                      <a:pt x="2" y="7"/>
                    </a:lnTo>
                    <a:lnTo>
                      <a:pt x="0" y="5"/>
                    </a:lnTo>
                    <a:lnTo>
                      <a:pt x="2" y="2"/>
                    </a:lnTo>
                    <a:lnTo>
                      <a:pt x="4"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40" name="Freeform 1145"/>
              <p:cNvSpPr>
                <a:spLocks/>
              </p:cNvSpPr>
              <p:nvPr userDrawn="1"/>
            </p:nvSpPr>
            <p:spPr bwMode="gray">
              <a:xfrm>
                <a:off x="2779" y="1814"/>
                <a:ext cx="19" cy="4"/>
              </a:xfrm>
              <a:custGeom>
                <a:avLst/>
                <a:gdLst>
                  <a:gd name="T0" fmla="*/ 0 w 19"/>
                  <a:gd name="T1" fmla="*/ 1 h 3"/>
                  <a:gd name="T2" fmla="*/ 5 w 19"/>
                  <a:gd name="T3" fmla="*/ 3 h 3"/>
                  <a:gd name="T4" fmla="*/ 10 w 19"/>
                  <a:gd name="T5" fmla="*/ 3 h 3"/>
                  <a:gd name="T6" fmla="*/ 16 w 19"/>
                  <a:gd name="T7" fmla="*/ 1 h 3"/>
                  <a:gd name="T8" fmla="*/ 19 w 19"/>
                  <a:gd name="T9" fmla="*/ 0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
                    <a:moveTo>
                      <a:pt x="0" y="1"/>
                    </a:moveTo>
                    <a:lnTo>
                      <a:pt x="5" y="3"/>
                    </a:lnTo>
                    <a:lnTo>
                      <a:pt x="10" y="3"/>
                    </a:lnTo>
                    <a:lnTo>
                      <a:pt x="16" y="1"/>
                    </a:lnTo>
                    <a:lnTo>
                      <a:pt x="1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41" name="Line 1146"/>
              <p:cNvSpPr>
                <a:spLocks noChangeShapeType="1"/>
              </p:cNvSpPr>
              <p:nvPr userDrawn="1"/>
            </p:nvSpPr>
            <p:spPr bwMode="gray">
              <a:xfrm flipV="1">
                <a:off x="2789" y="1700"/>
                <a:ext cx="1" cy="23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42" name="Line 1147"/>
              <p:cNvSpPr>
                <a:spLocks noChangeShapeType="1"/>
              </p:cNvSpPr>
              <p:nvPr userDrawn="1"/>
            </p:nvSpPr>
            <p:spPr bwMode="gray">
              <a:xfrm flipV="1">
                <a:off x="2779" y="1700"/>
                <a:ext cx="1" cy="23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43" name="Freeform 1148"/>
              <p:cNvSpPr>
                <a:spLocks/>
              </p:cNvSpPr>
              <p:nvPr userDrawn="1"/>
            </p:nvSpPr>
            <p:spPr bwMode="gray">
              <a:xfrm>
                <a:off x="2779" y="1698"/>
                <a:ext cx="19" cy="4"/>
              </a:xfrm>
              <a:custGeom>
                <a:avLst/>
                <a:gdLst>
                  <a:gd name="T0" fmla="*/ 0 w 19"/>
                  <a:gd name="T1" fmla="*/ 2 h 4"/>
                  <a:gd name="T2" fmla="*/ 5 w 19"/>
                  <a:gd name="T3" fmla="*/ 4 h 4"/>
                  <a:gd name="T4" fmla="*/ 10 w 19"/>
                  <a:gd name="T5" fmla="*/ 4 h 4"/>
                  <a:gd name="T6" fmla="*/ 14 w 19"/>
                  <a:gd name="T7" fmla="*/ 4 h 4"/>
                  <a:gd name="T8" fmla="*/ 19 w 19"/>
                  <a:gd name="T9" fmla="*/ 0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
                    <a:moveTo>
                      <a:pt x="0" y="2"/>
                    </a:moveTo>
                    <a:lnTo>
                      <a:pt x="5" y="4"/>
                    </a:lnTo>
                    <a:lnTo>
                      <a:pt x="10" y="4"/>
                    </a:lnTo>
                    <a:lnTo>
                      <a:pt x="14" y="4"/>
                    </a:lnTo>
                    <a:lnTo>
                      <a:pt x="1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44" name="Line 1149"/>
              <p:cNvSpPr>
                <a:spLocks noChangeShapeType="1"/>
              </p:cNvSpPr>
              <p:nvPr userDrawn="1"/>
            </p:nvSpPr>
            <p:spPr bwMode="gray">
              <a:xfrm>
                <a:off x="2798" y="1698"/>
                <a:ext cx="1" cy="23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45" name="Freeform 1150"/>
              <p:cNvSpPr>
                <a:spLocks/>
              </p:cNvSpPr>
              <p:nvPr userDrawn="1"/>
            </p:nvSpPr>
            <p:spPr bwMode="gray">
              <a:xfrm>
                <a:off x="2779" y="1931"/>
                <a:ext cx="19" cy="3"/>
              </a:xfrm>
              <a:custGeom>
                <a:avLst/>
                <a:gdLst>
                  <a:gd name="T0" fmla="*/ 19 w 19"/>
                  <a:gd name="T1" fmla="*/ 0 h 3"/>
                  <a:gd name="T2" fmla="*/ 16 w 19"/>
                  <a:gd name="T3" fmla="*/ 3 h 3"/>
                  <a:gd name="T4" fmla="*/ 10 w 19"/>
                  <a:gd name="T5" fmla="*/ 3 h 3"/>
                  <a:gd name="T6" fmla="*/ 5 w 19"/>
                  <a:gd name="T7" fmla="*/ 3 h 3"/>
                  <a:gd name="T8" fmla="*/ 0 w 19"/>
                  <a:gd name="T9" fmla="*/ 2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
                    <a:moveTo>
                      <a:pt x="19" y="0"/>
                    </a:moveTo>
                    <a:lnTo>
                      <a:pt x="16" y="3"/>
                    </a:lnTo>
                    <a:lnTo>
                      <a:pt x="10" y="3"/>
                    </a:lnTo>
                    <a:lnTo>
                      <a:pt x="5" y="3"/>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46" name="Freeform 1151"/>
              <p:cNvSpPr>
                <a:spLocks/>
              </p:cNvSpPr>
              <p:nvPr userDrawn="1"/>
            </p:nvSpPr>
            <p:spPr bwMode="gray">
              <a:xfrm>
                <a:off x="2356" y="1901"/>
                <a:ext cx="5" cy="9"/>
              </a:xfrm>
              <a:custGeom>
                <a:avLst/>
                <a:gdLst>
                  <a:gd name="T0" fmla="*/ 3 w 5"/>
                  <a:gd name="T1" fmla="*/ 0 h 9"/>
                  <a:gd name="T2" fmla="*/ 1 w 5"/>
                  <a:gd name="T3" fmla="*/ 2 h 9"/>
                  <a:gd name="T4" fmla="*/ 0 w 5"/>
                  <a:gd name="T5" fmla="*/ 5 h 9"/>
                  <a:gd name="T6" fmla="*/ 1 w 5"/>
                  <a:gd name="T7" fmla="*/ 7 h 9"/>
                  <a:gd name="T8" fmla="*/ 5 w 5"/>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9">
                    <a:moveTo>
                      <a:pt x="3" y="0"/>
                    </a:moveTo>
                    <a:lnTo>
                      <a:pt x="1" y="2"/>
                    </a:lnTo>
                    <a:lnTo>
                      <a:pt x="0" y="5"/>
                    </a:lnTo>
                    <a:lnTo>
                      <a:pt x="1" y="7"/>
                    </a:lnTo>
                    <a:lnTo>
                      <a:pt x="5"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47" name="Line 1152"/>
              <p:cNvSpPr>
                <a:spLocks noChangeShapeType="1"/>
              </p:cNvSpPr>
              <p:nvPr userDrawn="1"/>
            </p:nvSpPr>
            <p:spPr bwMode="gray">
              <a:xfrm>
                <a:off x="2354" y="1787"/>
                <a:ext cx="4" cy="2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48" name="Line 1153"/>
              <p:cNvSpPr>
                <a:spLocks noChangeShapeType="1"/>
              </p:cNvSpPr>
              <p:nvPr userDrawn="1"/>
            </p:nvSpPr>
            <p:spPr bwMode="gray">
              <a:xfrm>
                <a:off x="2359" y="1791"/>
                <a:ext cx="4" cy="22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49" name="Freeform 1154"/>
              <p:cNvSpPr>
                <a:spLocks/>
              </p:cNvSpPr>
              <p:nvPr userDrawn="1"/>
            </p:nvSpPr>
            <p:spPr bwMode="gray">
              <a:xfrm>
                <a:off x="2359" y="2013"/>
                <a:ext cx="4" cy="11"/>
              </a:xfrm>
              <a:custGeom>
                <a:avLst/>
                <a:gdLst>
                  <a:gd name="T0" fmla="*/ 4 w 6"/>
                  <a:gd name="T1" fmla="*/ 0 h 11"/>
                  <a:gd name="T2" fmla="*/ 2 w 6"/>
                  <a:gd name="T3" fmla="*/ 4 h 11"/>
                  <a:gd name="T4" fmla="*/ 0 w 6"/>
                  <a:gd name="T5" fmla="*/ 5 h 11"/>
                  <a:gd name="T6" fmla="*/ 2 w 6"/>
                  <a:gd name="T7" fmla="*/ 9 h 11"/>
                  <a:gd name="T8" fmla="*/ 6 w 6"/>
                  <a:gd name="T9" fmla="*/ 11 h 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11">
                    <a:moveTo>
                      <a:pt x="4" y="0"/>
                    </a:moveTo>
                    <a:lnTo>
                      <a:pt x="2" y="4"/>
                    </a:lnTo>
                    <a:lnTo>
                      <a:pt x="0" y="5"/>
                    </a:lnTo>
                    <a:lnTo>
                      <a:pt x="2" y="9"/>
                    </a:lnTo>
                    <a:lnTo>
                      <a:pt x="6" y="1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50" name="Line 1155"/>
              <p:cNvSpPr>
                <a:spLocks noChangeShapeType="1"/>
              </p:cNvSpPr>
              <p:nvPr userDrawn="1"/>
            </p:nvSpPr>
            <p:spPr bwMode="gray">
              <a:xfrm flipH="1" flipV="1">
                <a:off x="2359" y="1787"/>
                <a:ext cx="4" cy="23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51" name="Freeform 1156"/>
              <p:cNvSpPr>
                <a:spLocks/>
              </p:cNvSpPr>
              <p:nvPr userDrawn="1"/>
            </p:nvSpPr>
            <p:spPr bwMode="gray">
              <a:xfrm>
                <a:off x="2354" y="1787"/>
                <a:ext cx="5" cy="4"/>
              </a:xfrm>
              <a:custGeom>
                <a:avLst/>
                <a:gdLst>
                  <a:gd name="T0" fmla="*/ 3 w 5"/>
                  <a:gd name="T1" fmla="*/ 3 h 3"/>
                  <a:gd name="T2" fmla="*/ 2 w 5"/>
                  <a:gd name="T3" fmla="*/ 3 h 3"/>
                  <a:gd name="T4" fmla="*/ 0 w 5"/>
                  <a:gd name="T5" fmla="*/ 1 h 3"/>
                  <a:gd name="T6" fmla="*/ 0 w 5"/>
                  <a:gd name="T7" fmla="*/ 1 h 3"/>
                  <a:gd name="T8" fmla="*/ 0 w 5"/>
                  <a:gd name="T9" fmla="*/ 1 h 3"/>
                  <a:gd name="T10" fmla="*/ 2 w 5"/>
                  <a:gd name="T11" fmla="*/ 0 h 3"/>
                  <a:gd name="T12" fmla="*/ 5 w 5"/>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 h="3">
                    <a:moveTo>
                      <a:pt x="3" y="3"/>
                    </a:moveTo>
                    <a:lnTo>
                      <a:pt x="2" y="3"/>
                    </a:lnTo>
                    <a:lnTo>
                      <a:pt x="0" y="1"/>
                    </a:lnTo>
                    <a:lnTo>
                      <a:pt x="2" y="0"/>
                    </a:lnTo>
                    <a:lnTo>
                      <a:pt x="5"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52" name="Freeform 1157"/>
              <p:cNvSpPr>
                <a:spLocks/>
              </p:cNvSpPr>
              <p:nvPr userDrawn="1"/>
            </p:nvSpPr>
            <p:spPr bwMode="gray">
              <a:xfrm>
                <a:off x="2361" y="2013"/>
                <a:ext cx="10" cy="18"/>
              </a:xfrm>
              <a:custGeom>
                <a:avLst/>
                <a:gdLst>
                  <a:gd name="T0" fmla="*/ 10 w 10"/>
                  <a:gd name="T1" fmla="*/ 18 h 18"/>
                  <a:gd name="T2" fmla="*/ 7 w 10"/>
                  <a:gd name="T3" fmla="*/ 14 h 18"/>
                  <a:gd name="T4" fmla="*/ 3 w 10"/>
                  <a:gd name="T5" fmla="*/ 11 h 18"/>
                  <a:gd name="T6" fmla="*/ 2 w 10"/>
                  <a:gd name="T7" fmla="*/ 5 h 18"/>
                  <a:gd name="T8" fmla="*/ 0 w 10"/>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8">
                    <a:moveTo>
                      <a:pt x="10" y="18"/>
                    </a:moveTo>
                    <a:lnTo>
                      <a:pt x="7" y="14"/>
                    </a:lnTo>
                    <a:lnTo>
                      <a:pt x="3" y="11"/>
                    </a:lnTo>
                    <a:lnTo>
                      <a:pt x="2"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53" name="Freeform 1158"/>
              <p:cNvSpPr>
                <a:spLocks/>
              </p:cNvSpPr>
              <p:nvPr userDrawn="1"/>
            </p:nvSpPr>
            <p:spPr bwMode="gray">
              <a:xfrm>
                <a:off x="2515" y="1193"/>
                <a:ext cx="19" cy="2"/>
              </a:xfrm>
              <a:custGeom>
                <a:avLst/>
                <a:gdLst>
                  <a:gd name="T0" fmla="*/ 0 w 19"/>
                  <a:gd name="T1" fmla="*/ 2 h 2"/>
                  <a:gd name="T2" fmla="*/ 7 w 19"/>
                  <a:gd name="T3" fmla="*/ 0 h 2"/>
                  <a:gd name="T4" fmla="*/ 14 w 19"/>
                  <a:gd name="T5" fmla="*/ 0 h 2"/>
                  <a:gd name="T6" fmla="*/ 19 w 19"/>
                  <a:gd name="T7" fmla="*/ 2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
                    <a:moveTo>
                      <a:pt x="0" y="2"/>
                    </a:moveTo>
                    <a:lnTo>
                      <a:pt x="7" y="0"/>
                    </a:lnTo>
                    <a:lnTo>
                      <a:pt x="14" y="0"/>
                    </a:lnTo>
                    <a:lnTo>
                      <a:pt x="19"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54" name="Freeform 1159"/>
              <p:cNvSpPr>
                <a:spLocks/>
              </p:cNvSpPr>
              <p:nvPr userDrawn="1"/>
            </p:nvSpPr>
            <p:spPr bwMode="gray">
              <a:xfrm>
                <a:off x="2431" y="1226"/>
                <a:ext cx="10" cy="11"/>
              </a:xfrm>
              <a:custGeom>
                <a:avLst/>
                <a:gdLst>
                  <a:gd name="T0" fmla="*/ 0 w 10"/>
                  <a:gd name="T1" fmla="*/ 11 h 11"/>
                  <a:gd name="T2" fmla="*/ 0 w 10"/>
                  <a:gd name="T3" fmla="*/ 7 h 11"/>
                  <a:gd name="T4" fmla="*/ 3 w 10"/>
                  <a:gd name="T5" fmla="*/ 4 h 11"/>
                  <a:gd name="T6" fmla="*/ 5 w 10"/>
                  <a:gd name="T7" fmla="*/ 2 h 11"/>
                  <a:gd name="T8" fmla="*/ 9 w 10"/>
                  <a:gd name="T9" fmla="*/ 0 h 11"/>
                  <a:gd name="T10" fmla="*/ 10 w 10"/>
                  <a:gd name="T11" fmla="*/ 2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11">
                    <a:moveTo>
                      <a:pt x="0" y="11"/>
                    </a:moveTo>
                    <a:lnTo>
                      <a:pt x="0" y="7"/>
                    </a:lnTo>
                    <a:lnTo>
                      <a:pt x="3" y="4"/>
                    </a:lnTo>
                    <a:lnTo>
                      <a:pt x="5" y="2"/>
                    </a:lnTo>
                    <a:lnTo>
                      <a:pt x="9" y="0"/>
                    </a:lnTo>
                    <a:lnTo>
                      <a:pt x="1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55" name="Line 1160"/>
              <p:cNvSpPr>
                <a:spLocks noChangeShapeType="1"/>
              </p:cNvSpPr>
              <p:nvPr userDrawn="1"/>
            </p:nvSpPr>
            <p:spPr bwMode="gray">
              <a:xfrm flipH="1">
                <a:off x="2350" y="1187"/>
                <a:ext cx="166" cy="8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56" name="Line 1161"/>
              <p:cNvSpPr>
                <a:spLocks noChangeShapeType="1"/>
              </p:cNvSpPr>
              <p:nvPr userDrawn="1"/>
            </p:nvSpPr>
            <p:spPr bwMode="gray">
              <a:xfrm flipH="1">
                <a:off x="2347" y="1195"/>
                <a:ext cx="169" cy="8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57" name="Freeform 1162"/>
              <p:cNvSpPr>
                <a:spLocks/>
              </p:cNvSpPr>
              <p:nvPr userDrawn="1"/>
            </p:nvSpPr>
            <p:spPr bwMode="gray">
              <a:xfrm>
                <a:off x="2347" y="1270"/>
                <a:ext cx="13" cy="10"/>
              </a:xfrm>
              <a:custGeom>
                <a:avLst/>
                <a:gdLst>
                  <a:gd name="T0" fmla="*/ 0 w 10"/>
                  <a:gd name="T1" fmla="*/ 10 h 10"/>
                  <a:gd name="T2" fmla="*/ 2 w 10"/>
                  <a:gd name="T3" fmla="*/ 5 h 10"/>
                  <a:gd name="T4" fmla="*/ 3 w 10"/>
                  <a:gd name="T5" fmla="*/ 2 h 10"/>
                  <a:gd name="T6" fmla="*/ 5 w 10"/>
                  <a:gd name="T7" fmla="*/ 0 h 10"/>
                  <a:gd name="T8" fmla="*/ 9 w 10"/>
                  <a:gd name="T9" fmla="*/ 0 h 10"/>
                  <a:gd name="T10" fmla="*/ 10 w 10"/>
                  <a:gd name="T11" fmla="*/ 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10">
                    <a:moveTo>
                      <a:pt x="0" y="10"/>
                    </a:moveTo>
                    <a:lnTo>
                      <a:pt x="2" y="5"/>
                    </a:lnTo>
                    <a:lnTo>
                      <a:pt x="3" y="2"/>
                    </a:lnTo>
                    <a:lnTo>
                      <a:pt x="5" y="0"/>
                    </a:lnTo>
                    <a:lnTo>
                      <a:pt x="9" y="0"/>
                    </a:lnTo>
                    <a:lnTo>
                      <a:pt x="1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58" name="Line 1163"/>
              <p:cNvSpPr>
                <a:spLocks noChangeShapeType="1"/>
              </p:cNvSpPr>
              <p:nvPr userDrawn="1"/>
            </p:nvSpPr>
            <p:spPr bwMode="gray">
              <a:xfrm flipV="1">
                <a:off x="2359" y="1186"/>
                <a:ext cx="166" cy="8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59" name="Freeform 1164"/>
              <p:cNvSpPr>
                <a:spLocks/>
              </p:cNvSpPr>
              <p:nvPr userDrawn="1"/>
            </p:nvSpPr>
            <p:spPr bwMode="gray">
              <a:xfrm>
                <a:off x="2515" y="1186"/>
                <a:ext cx="10" cy="9"/>
              </a:xfrm>
              <a:custGeom>
                <a:avLst/>
                <a:gdLst>
                  <a:gd name="T0" fmla="*/ 0 w 10"/>
                  <a:gd name="T1" fmla="*/ 9 h 9"/>
                  <a:gd name="T2" fmla="*/ 0 w 10"/>
                  <a:gd name="T3" fmla="*/ 5 h 9"/>
                  <a:gd name="T4" fmla="*/ 2 w 10"/>
                  <a:gd name="T5" fmla="*/ 2 h 9"/>
                  <a:gd name="T6" fmla="*/ 3 w 10"/>
                  <a:gd name="T7" fmla="*/ 0 h 9"/>
                  <a:gd name="T8" fmla="*/ 7 w 10"/>
                  <a:gd name="T9" fmla="*/ 0 h 9"/>
                  <a:gd name="T10" fmla="*/ 10 w 10"/>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0" y="9"/>
                    </a:moveTo>
                    <a:lnTo>
                      <a:pt x="0" y="5"/>
                    </a:lnTo>
                    <a:lnTo>
                      <a:pt x="2" y="2"/>
                    </a:lnTo>
                    <a:lnTo>
                      <a:pt x="3" y="0"/>
                    </a:lnTo>
                    <a:lnTo>
                      <a:pt x="7" y="0"/>
                    </a:lnTo>
                    <a:lnTo>
                      <a:pt x="1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60" name="Freeform 1165"/>
              <p:cNvSpPr>
                <a:spLocks/>
              </p:cNvSpPr>
              <p:nvPr userDrawn="1"/>
            </p:nvSpPr>
            <p:spPr bwMode="gray">
              <a:xfrm>
                <a:off x="2347" y="1396"/>
                <a:ext cx="5" cy="9"/>
              </a:xfrm>
              <a:custGeom>
                <a:avLst/>
                <a:gdLst>
                  <a:gd name="T0" fmla="*/ 3 w 5"/>
                  <a:gd name="T1" fmla="*/ 0 h 9"/>
                  <a:gd name="T2" fmla="*/ 0 w 5"/>
                  <a:gd name="T3" fmla="*/ 3 h 9"/>
                  <a:gd name="T4" fmla="*/ 0 w 5"/>
                  <a:gd name="T5" fmla="*/ 5 h 9"/>
                  <a:gd name="T6" fmla="*/ 2 w 5"/>
                  <a:gd name="T7" fmla="*/ 7 h 9"/>
                  <a:gd name="T8" fmla="*/ 5 w 5"/>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9">
                    <a:moveTo>
                      <a:pt x="3" y="0"/>
                    </a:moveTo>
                    <a:lnTo>
                      <a:pt x="0" y="3"/>
                    </a:lnTo>
                    <a:lnTo>
                      <a:pt x="0" y="5"/>
                    </a:lnTo>
                    <a:lnTo>
                      <a:pt x="2" y="7"/>
                    </a:lnTo>
                    <a:lnTo>
                      <a:pt x="5"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61" name="Line 1166"/>
              <p:cNvSpPr>
                <a:spLocks noChangeShapeType="1"/>
              </p:cNvSpPr>
              <p:nvPr userDrawn="1"/>
            </p:nvSpPr>
            <p:spPr bwMode="gray">
              <a:xfrm>
                <a:off x="2343" y="1283"/>
                <a:ext cx="6" cy="23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62" name="Line 1167"/>
              <p:cNvSpPr>
                <a:spLocks noChangeShapeType="1"/>
              </p:cNvSpPr>
              <p:nvPr userDrawn="1"/>
            </p:nvSpPr>
            <p:spPr bwMode="gray">
              <a:xfrm>
                <a:off x="2347" y="1280"/>
                <a:ext cx="5" cy="23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63" name="Freeform 1168"/>
              <p:cNvSpPr>
                <a:spLocks/>
              </p:cNvSpPr>
              <p:nvPr userDrawn="1"/>
            </p:nvSpPr>
            <p:spPr bwMode="gray">
              <a:xfrm>
                <a:off x="2350" y="1513"/>
                <a:ext cx="4" cy="21"/>
              </a:xfrm>
              <a:custGeom>
                <a:avLst/>
                <a:gdLst>
                  <a:gd name="T0" fmla="*/ 3 w 5"/>
                  <a:gd name="T1" fmla="*/ 0 h 21"/>
                  <a:gd name="T2" fmla="*/ 0 w 5"/>
                  <a:gd name="T3" fmla="*/ 5 h 21"/>
                  <a:gd name="T4" fmla="*/ 0 w 5"/>
                  <a:gd name="T5" fmla="*/ 10 h 21"/>
                  <a:gd name="T6" fmla="*/ 1 w 5"/>
                  <a:gd name="T7" fmla="*/ 16 h 21"/>
                  <a:gd name="T8" fmla="*/ 5 w 5"/>
                  <a:gd name="T9" fmla="*/ 21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21">
                    <a:moveTo>
                      <a:pt x="3" y="0"/>
                    </a:moveTo>
                    <a:lnTo>
                      <a:pt x="0" y="5"/>
                    </a:lnTo>
                    <a:lnTo>
                      <a:pt x="0" y="10"/>
                    </a:lnTo>
                    <a:lnTo>
                      <a:pt x="1" y="16"/>
                    </a:lnTo>
                    <a:lnTo>
                      <a:pt x="5" y="2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64" name="Line 1169"/>
              <p:cNvSpPr>
                <a:spLocks noChangeShapeType="1"/>
              </p:cNvSpPr>
              <p:nvPr userDrawn="1"/>
            </p:nvSpPr>
            <p:spPr bwMode="gray">
              <a:xfrm flipH="1" flipV="1">
                <a:off x="2350" y="1287"/>
                <a:ext cx="4" cy="24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65" name="Freeform 1170"/>
              <p:cNvSpPr>
                <a:spLocks/>
              </p:cNvSpPr>
              <p:nvPr userDrawn="1"/>
            </p:nvSpPr>
            <p:spPr bwMode="gray">
              <a:xfrm>
                <a:off x="2345" y="1280"/>
                <a:ext cx="4" cy="7"/>
              </a:xfrm>
              <a:custGeom>
                <a:avLst/>
                <a:gdLst>
                  <a:gd name="T0" fmla="*/ 4 w 4"/>
                  <a:gd name="T1" fmla="*/ 7 h 7"/>
                  <a:gd name="T2" fmla="*/ 2 w 4"/>
                  <a:gd name="T3" fmla="*/ 6 h 7"/>
                  <a:gd name="T4" fmla="*/ 0 w 4"/>
                  <a:gd name="T5" fmla="*/ 4 h 7"/>
                  <a:gd name="T6" fmla="*/ 0 w 4"/>
                  <a:gd name="T7" fmla="*/ 2 h 7"/>
                  <a:gd name="T8" fmla="*/ 2 w 4"/>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7">
                    <a:moveTo>
                      <a:pt x="4" y="7"/>
                    </a:moveTo>
                    <a:lnTo>
                      <a:pt x="2" y="6"/>
                    </a:lnTo>
                    <a:lnTo>
                      <a:pt x="0" y="4"/>
                    </a:lnTo>
                    <a:lnTo>
                      <a:pt x="0" y="2"/>
                    </a:lnTo>
                    <a:lnTo>
                      <a:pt x="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66" name="Freeform 1171"/>
              <p:cNvSpPr>
                <a:spLocks/>
              </p:cNvSpPr>
              <p:nvPr userDrawn="1"/>
            </p:nvSpPr>
            <p:spPr bwMode="gray">
              <a:xfrm>
                <a:off x="2558" y="1985"/>
                <a:ext cx="19" cy="4"/>
              </a:xfrm>
              <a:custGeom>
                <a:avLst/>
                <a:gdLst>
                  <a:gd name="T0" fmla="*/ 19 w 19"/>
                  <a:gd name="T1" fmla="*/ 0 h 4"/>
                  <a:gd name="T2" fmla="*/ 14 w 19"/>
                  <a:gd name="T3" fmla="*/ 2 h 4"/>
                  <a:gd name="T4" fmla="*/ 10 w 19"/>
                  <a:gd name="T5" fmla="*/ 4 h 4"/>
                  <a:gd name="T6" fmla="*/ 5 w 19"/>
                  <a:gd name="T7" fmla="*/ 4 h 4"/>
                  <a:gd name="T8" fmla="*/ 0 w 19"/>
                  <a:gd name="T9" fmla="*/ 2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
                    <a:moveTo>
                      <a:pt x="19" y="0"/>
                    </a:moveTo>
                    <a:lnTo>
                      <a:pt x="14" y="2"/>
                    </a:lnTo>
                    <a:lnTo>
                      <a:pt x="10" y="4"/>
                    </a:lnTo>
                    <a:lnTo>
                      <a:pt x="5" y="4"/>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67" name="Line 1172"/>
              <p:cNvSpPr>
                <a:spLocks noChangeShapeType="1"/>
              </p:cNvSpPr>
              <p:nvPr userDrawn="1"/>
            </p:nvSpPr>
            <p:spPr bwMode="gray">
              <a:xfrm>
                <a:off x="2567" y="1870"/>
                <a:ext cx="2" cy="2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68" name="Line 1173"/>
              <p:cNvSpPr>
                <a:spLocks noChangeShapeType="1"/>
              </p:cNvSpPr>
              <p:nvPr userDrawn="1"/>
            </p:nvSpPr>
            <p:spPr bwMode="gray">
              <a:xfrm>
                <a:off x="2576" y="1873"/>
                <a:ext cx="4" cy="22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69" name="Freeform 1174"/>
              <p:cNvSpPr>
                <a:spLocks/>
              </p:cNvSpPr>
              <p:nvPr userDrawn="1"/>
            </p:nvSpPr>
            <p:spPr bwMode="gray">
              <a:xfrm>
                <a:off x="2558" y="2097"/>
                <a:ext cx="21" cy="4"/>
              </a:xfrm>
              <a:custGeom>
                <a:avLst/>
                <a:gdLst>
                  <a:gd name="T0" fmla="*/ 21 w 21"/>
                  <a:gd name="T1" fmla="*/ 0 h 4"/>
                  <a:gd name="T2" fmla="*/ 15 w 21"/>
                  <a:gd name="T3" fmla="*/ 4 h 4"/>
                  <a:gd name="T4" fmla="*/ 10 w 21"/>
                  <a:gd name="T5" fmla="*/ 4 h 4"/>
                  <a:gd name="T6" fmla="*/ 5 w 21"/>
                  <a:gd name="T7" fmla="*/ 4 h 4"/>
                  <a:gd name="T8" fmla="*/ 0 w 21"/>
                  <a:gd name="T9" fmla="*/ 2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4">
                    <a:moveTo>
                      <a:pt x="21" y="0"/>
                    </a:moveTo>
                    <a:lnTo>
                      <a:pt x="15" y="4"/>
                    </a:lnTo>
                    <a:lnTo>
                      <a:pt x="10" y="4"/>
                    </a:lnTo>
                    <a:lnTo>
                      <a:pt x="5" y="4"/>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70" name="Line 1175"/>
              <p:cNvSpPr>
                <a:spLocks noChangeShapeType="1"/>
              </p:cNvSpPr>
              <p:nvPr userDrawn="1"/>
            </p:nvSpPr>
            <p:spPr bwMode="gray">
              <a:xfrm flipH="1" flipV="1">
                <a:off x="2555" y="1861"/>
                <a:ext cx="4" cy="23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71" name="Freeform 1176"/>
              <p:cNvSpPr>
                <a:spLocks/>
              </p:cNvSpPr>
              <p:nvPr userDrawn="1"/>
            </p:nvSpPr>
            <p:spPr bwMode="gray">
              <a:xfrm>
                <a:off x="2555" y="1861"/>
                <a:ext cx="22" cy="12"/>
              </a:xfrm>
              <a:custGeom>
                <a:avLst/>
                <a:gdLst>
                  <a:gd name="T0" fmla="*/ 19 w 19"/>
                  <a:gd name="T1" fmla="*/ 12 h 12"/>
                  <a:gd name="T2" fmla="*/ 12 w 19"/>
                  <a:gd name="T3" fmla="*/ 9 h 12"/>
                  <a:gd name="T4" fmla="*/ 5 w 19"/>
                  <a:gd name="T5" fmla="*/ 5 h 12"/>
                  <a:gd name="T6" fmla="*/ 0 w 19"/>
                  <a:gd name="T7" fmla="*/ 0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19" y="12"/>
                    </a:moveTo>
                    <a:lnTo>
                      <a:pt x="12" y="9"/>
                    </a:lnTo>
                    <a:lnTo>
                      <a:pt x="5"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72" name="Freeform 1177"/>
              <p:cNvSpPr>
                <a:spLocks/>
              </p:cNvSpPr>
              <p:nvPr userDrawn="1"/>
            </p:nvSpPr>
            <p:spPr bwMode="gray">
              <a:xfrm>
                <a:off x="2646" y="2048"/>
                <a:ext cx="12" cy="9"/>
              </a:xfrm>
              <a:custGeom>
                <a:avLst/>
                <a:gdLst>
                  <a:gd name="T0" fmla="*/ 12 w 12"/>
                  <a:gd name="T1" fmla="*/ 0 h 9"/>
                  <a:gd name="T2" fmla="*/ 10 w 12"/>
                  <a:gd name="T3" fmla="*/ 3 h 9"/>
                  <a:gd name="T4" fmla="*/ 9 w 12"/>
                  <a:gd name="T5" fmla="*/ 7 h 9"/>
                  <a:gd name="T6" fmla="*/ 5 w 12"/>
                  <a:gd name="T7" fmla="*/ 9 h 9"/>
                  <a:gd name="T8" fmla="*/ 0 w 12"/>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9">
                    <a:moveTo>
                      <a:pt x="12" y="0"/>
                    </a:moveTo>
                    <a:lnTo>
                      <a:pt x="10" y="3"/>
                    </a:lnTo>
                    <a:lnTo>
                      <a:pt x="9" y="7"/>
                    </a:lnTo>
                    <a:lnTo>
                      <a:pt x="5" y="9"/>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73" name="Line 1178"/>
              <p:cNvSpPr>
                <a:spLocks noChangeShapeType="1"/>
              </p:cNvSpPr>
              <p:nvPr userDrawn="1"/>
            </p:nvSpPr>
            <p:spPr bwMode="gray">
              <a:xfrm flipV="1">
                <a:off x="2576" y="2010"/>
                <a:ext cx="159" cy="9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74" name="Line 1179"/>
              <p:cNvSpPr>
                <a:spLocks noChangeShapeType="1"/>
              </p:cNvSpPr>
              <p:nvPr userDrawn="1"/>
            </p:nvSpPr>
            <p:spPr bwMode="gray">
              <a:xfrm flipV="1">
                <a:off x="2578" y="2003"/>
                <a:ext cx="159" cy="9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75" name="Freeform 1180"/>
              <p:cNvSpPr>
                <a:spLocks/>
              </p:cNvSpPr>
              <p:nvPr userDrawn="1"/>
            </p:nvSpPr>
            <p:spPr bwMode="gray">
              <a:xfrm>
                <a:off x="2726" y="2003"/>
                <a:ext cx="11" cy="8"/>
              </a:xfrm>
              <a:custGeom>
                <a:avLst/>
                <a:gdLst>
                  <a:gd name="T0" fmla="*/ 11 w 11"/>
                  <a:gd name="T1" fmla="*/ 0 h 8"/>
                  <a:gd name="T2" fmla="*/ 11 w 11"/>
                  <a:gd name="T3" fmla="*/ 3 h 8"/>
                  <a:gd name="T4" fmla="*/ 9 w 11"/>
                  <a:gd name="T5" fmla="*/ 7 h 8"/>
                  <a:gd name="T6" fmla="*/ 7 w 11"/>
                  <a:gd name="T7" fmla="*/ 8 h 8"/>
                  <a:gd name="T8" fmla="*/ 4 w 11"/>
                  <a:gd name="T9" fmla="*/ 8 h 8"/>
                  <a:gd name="T10" fmla="*/ 0 w 11"/>
                  <a:gd name="T11" fmla="*/ 7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8">
                    <a:moveTo>
                      <a:pt x="11" y="0"/>
                    </a:moveTo>
                    <a:lnTo>
                      <a:pt x="11" y="3"/>
                    </a:lnTo>
                    <a:lnTo>
                      <a:pt x="9" y="7"/>
                    </a:lnTo>
                    <a:lnTo>
                      <a:pt x="7" y="8"/>
                    </a:lnTo>
                    <a:lnTo>
                      <a:pt x="4" y="8"/>
                    </a:lnTo>
                    <a:lnTo>
                      <a:pt x="0"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76" name="Line 1181"/>
              <p:cNvSpPr>
                <a:spLocks noChangeShapeType="1"/>
              </p:cNvSpPr>
              <p:nvPr userDrawn="1"/>
            </p:nvSpPr>
            <p:spPr bwMode="gray">
              <a:xfrm flipH="1">
                <a:off x="2567" y="2010"/>
                <a:ext cx="161" cy="9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77" name="Freeform 1182"/>
              <p:cNvSpPr>
                <a:spLocks/>
              </p:cNvSpPr>
              <p:nvPr userDrawn="1"/>
            </p:nvSpPr>
            <p:spPr bwMode="gray">
              <a:xfrm>
                <a:off x="2567" y="2097"/>
                <a:ext cx="13" cy="11"/>
              </a:xfrm>
              <a:custGeom>
                <a:avLst/>
                <a:gdLst>
                  <a:gd name="T0" fmla="*/ 0 w 13"/>
                  <a:gd name="T1" fmla="*/ 9 h 11"/>
                  <a:gd name="T2" fmla="*/ 6 w 13"/>
                  <a:gd name="T3" fmla="*/ 11 h 11"/>
                  <a:gd name="T4" fmla="*/ 7 w 13"/>
                  <a:gd name="T5" fmla="*/ 9 h 11"/>
                  <a:gd name="T6" fmla="*/ 11 w 13"/>
                  <a:gd name="T7" fmla="*/ 7 h 11"/>
                  <a:gd name="T8" fmla="*/ 11 w 13"/>
                  <a:gd name="T9" fmla="*/ 5 h 11"/>
                  <a:gd name="T10" fmla="*/ 13 w 13"/>
                  <a:gd name="T11" fmla="*/ 0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 h="11">
                    <a:moveTo>
                      <a:pt x="0" y="9"/>
                    </a:moveTo>
                    <a:lnTo>
                      <a:pt x="6" y="11"/>
                    </a:lnTo>
                    <a:lnTo>
                      <a:pt x="7" y="9"/>
                    </a:lnTo>
                    <a:lnTo>
                      <a:pt x="11" y="7"/>
                    </a:lnTo>
                    <a:lnTo>
                      <a:pt x="11" y="5"/>
                    </a:lnTo>
                    <a:lnTo>
                      <a:pt x="13"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78" name="Line 1183"/>
              <p:cNvSpPr>
                <a:spLocks noChangeShapeType="1"/>
              </p:cNvSpPr>
              <p:nvPr userDrawn="1"/>
            </p:nvSpPr>
            <p:spPr bwMode="gray">
              <a:xfrm flipV="1">
                <a:off x="2741" y="1924"/>
                <a:ext cx="1" cy="7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79" name="Line 1184"/>
              <p:cNvSpPr>
                <a:spLocks noChangeShapeType="1"/>
              </p:cNvSpPr>
              <p:nvPr userDrawn="1"/>
            </p:nvSpPr>
            <p:spPr bwMode="gray">
              <a:xfrm flipV="1">
                <a:off x="2737" y="1924"/>
                <a:ext cx="1" cy="7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80" name="Line 1185"/>
              <p:cNvSpPr>
                <a:spLocks noChangeShapeType="1"/>
              </p:cNvSpPr>
              <p:nvPr userDrawn="1"/>
            </p:nvSpPr>
            <p:spPr bwMode="gray">
              <a:xfrm>
                <a:off x="2733" y="1922"/>
                <a:ext cx="2" cy="7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81" name="Freeform 1186"/>
              <p:cNvSpPr>
                <a:spLocks/>
              </p:cNvSpPr>
              <p:nvPr userDrawn="1"/>
            </p:nvSpPr>
            <p:spPr bwMode="gray">
              <a:xfrm>
                <a:off x="2735" y="1992"/>
                <a:ext cx="4" cy="11"/>
              </a:xfrm>
              <a:custGeom>
                <a:avLst/>
                <a:gdLst>
                  <a:gd name="T0" fmla="*/ 2 w 4"/>
                  <a:gd name="T1" fmla="*/ 11 h 11"/>
                  <a:gd name="T2" fmla="*/ 4 w 4"/>
                  <a:gd name="T3" fmla="*/ 7 h 11"/>
                  <a:gd name="T4" fmla="*/ 4 w 4"/>
                  <a:gd name="T5" fmla="*/ 5 h 11"/>
                  <a:gd name="T6" fmla="*/ 2 w 4"/>
                  <a:gd name="T7" fmla="*/ 4 h 11"/>
                  <a:gd name="T8" fmla="*/ 0 w 4"/>
                  <a:gd name="T9" fmla="*/ 0 h 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11">
                    <a:moveTo>
                      <a:pt x="2" y="11"/>
                    </a:moveTo>
                    <a:lnTo>
                      <a:pt x="4" y="7"/>
                    </a:lnTo>
                    <a:lnTo>
                      <a:pt x="4" y="5"/>
                    </a:lnTo>
                    <a:lnTo>
                      <a:pt x="2"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82" name="Freeform 1187"/>
              <p:cNvSpPr>
                <a:spLocks/>
              </p:cNvSpPr>
              <p:nvPr userDrawn="1"/>
            </p:nvSpPr>
            <p:spPr bwMode="gray">
              <a:xfrm>
                <a:off x="2732" y="1377"/>
                <a:ext cx="4" cy="8"/>
              </a:xfrm>
              <a:custGeom>
                <a:avLst/>
                <a:gdLst>
                  <a:gd name="T0" fmla="*/ 3 w 5"/>
                  <a:gd name="T1" fmla="*/ 8 h 8"/>
                  <a:gd name="T2" fmla="*/ 5 w 5"/>
                  <a:gd name="T3" fmla="*/ 7 h 8"/>
                  <a:gd name="T4" fmla="*/ 5 w 5"/>
                  <a:gd name="T5" fmla="*/ 5 h 8"/>
                  <a:gd name="T6" fmla="*/ 3 w 5"/>
                  <a:gd name="T7" fmla="*/ 1 h 8"/>
                  <a:gd name="T8" fmla="*/ 0 w 5"/>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8">
                    <a:moveTo>
                      <a:pt x="3" y="8"/>
                    </a:moveTo>
                    <a:lnTo>
                      <a:pt x="5" y="7"/>
                    </a:lnTo>
                    <a:lnTo>
                      <a:pt x="5" y="5"/>
                    </a:lnTo>
                    <a:lnTo>
                      <a:pt x="3" y="1"/>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83" name="Line 1188"/>
              <p:cNvSpPr>
                <a:spLocks noChangeShapeType="1"/>
              </p:cNvSpPr>
              <p:nvPr userDrawn="1"/>
            </p:nvSpPr>
            <p:spPr bwMode="gray">
              <a:xfrm flipH="1" flipV="1">
                <a:off x="2737" y="1265"/>
                <a:ext cx="4" cy="23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84" name="Line 1189"/>
              <p:cNvSpPr>
                <a:spLocks noChangeShapeType="1"/>
              </p:cNvSpPr>
              <p:nvPr userDrawn="1"/>
            </p:nvSpPr>
            <p:spPr bwMode="gray">
              <a:xfrm flipV="1">
                <a:off x="2735" y="1270"/>
                <a:ext cx="1" cy="2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85" name="Freeform 1190"/>
              <p:cNvSpPr>
                <a:spLocks/>
              </p:cNvSpPr>
              <p:nvPr userDrawn="1"/>
            </p:nvSpPr>
            <p:spPr bwMode="gray">
              <a:xfrm>
                <a:off x="2732" y="1261"/>
                <a:ext cx="4" cy="9"/>
              </a:xfrm>
              <a:custGeom>
                <a:avLst/>
                <a:gdLst>
                  <a:gd name="T0" fmla="*/ 3 w 5"/>
                  <a:gd name="T1" fmla="*/ 9 h 9"/>
                  <a:gd name="T2" fmla="*/ 5 w 5"/>
                  <a:gd name="T3" fmla="*/ 5 h 9"/>
                  <a:gd name="T4" fmla="*/ 5 w 5"/>
                  <a:gd name="T5" fmla="*/ 4 h 9"/>
                  <a:gd name="T6" fmla="*/ 3 w 5"/>
                  <a:gd name="T7" fmla="*/ 2 h 9"/>
                  <a:gd name="T8" fmla="*/ 0 w 5"/>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9">
                    <a:moveTo>
                      <a:pt x="3" y="9"/>
                    </a:moveTo>
                    <a:lnTo>
                      <a:pt x="5" y="5"/>
                    </a:lnTo>
                    <a:lnTo>
                      <a:pt x="5" y="4"/>
                    </a:lnTo>
                    <a:lnTo>
                      <a:pt x="3"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86" name="Line 1191"/>
              <p:cNvSpPr>
                <a:spLocks noChangeShapeType="1"/>
              </p:cNvSpPr>
              <p:nvPr userDrawn="1"/>
            </p:nvSpPr>
            <p:spPr bwMode="gray">
              <a:xfrm>
                <a:off x="2732" y="1261"/>
                <a:ext cx="1" cy="24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87" name="Freeform 1192"/>
              <p:cNvSpPr>
                <a:spLocks/>
              </p:cNvSpPr>
              <p:nvPr userDrawn="1"/>
            </p:nvSpPr>
            <p:spPr bwMode="gray">
              <a:xfrm>
                <a:off x="2733" y="1500"/>
                <a:ext cx="6" cy="4"/>
              </a:xfrm>
              <a:custGeom>
                <a:avLst/>
                <a:gdLst>
                  <a:gd name="T0" fmla="*/ 2 w 6"/>
                  <a:gd name="T1" fmla="*/ 0 h 4"/>
                  <a:gd name="T2" fmla="*/ 4 w 6"/>
                  <a:gd name="T3" fmla="*/ 0 h 4"/>
                  <a:gd name="T4" fmla="*/ 6 w 6"/>
                  <a:gd name="T5" fmla="*/ 0 h 4"/>
                  <a:gd name="T6" fmla="*/ 4 w 6"/>
                  <a:gd name="T7" fmla="*/ 2 h 4"/>
                  <a:gd name="T8" fmla="*/ 2 w 6"/>
                  <a:gd name="T9" fmla="*/ 2 h 4"/>
                  <a:gd name="T10" fmla="*/ 0 w 6"/>
                  <a:gd name="T11" fmla="*/ 4 h 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4">
                    <a:moveTo>
                      <a:pt x="2" y="0"/>
                    </a:moveTo>
                    <a:lnTo>
                      <a:pt x="4" y="0"/>
                    </a:lnTo>
                    <a:lnTo>
                      <a:pt x="6" y="0"/>
                    </a:lnTo>
                    <a:lnTo>
                      <a:pt x="4" y="2"/>
                    </a:lnTo>
                    <a:lnTo>
                      <a:pt x="2" y="2"/>
                    </a:lnTo>
                    <a:lnTo>
                      <a:pt x="0" y="4"/>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88" name="Freeform 1193"/>
              <p:cNvSpPr>
                <a:spLocks/>
              </p:cNvSpPr>
              <p:nvPr userDrawn="1"/>
            </p:nvSpPr>
            <p:spPr bwMode="gray">
              <a:xfrm>
                <a:off x="2641" y="1296"/>
                <a:ext cx="13" cy="13"/>
              </a:xfrm>
              <a:custGeom>
                <a:avLst/>
                <a:gdLst>
                  <a:gd name="T0" fmla="*/ 12 w 12"/>
                  <a:gd name="T1" fmla="*/ 16 h 16"/>
                  <a:gd name="T2" fmla="*/ 10 w 12"/>
                  <a:gd name="T3" fmla="*/ 11 h 16"/>
                  <a:gd name="T4" fmla="*/ 8 w 12"/>
                  <a:gd name="T5" fmla="*/ 5 h 16"/>
                  <a:gd name="T6" fmla="*/ 5 w 12"/>
                  <a:gd name="T7" fmla="*/ 2 h 16"/>
                  <a:gd name="T8" fmla="*/ 0 w 12"/>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6">
                    <a:moveTo>
                      <a:pt x="12" y="16"/>
                    </a:moveTo>
                    <a:lnTo>
                      <a:pt x="10" y="11"/>
                    </a:lnTo>
                    <a:lnTo>
                      <a:pt x="8" y="5"/>
                    </a:lnTo>
                    <a:lnTo>
                      <a:pt x="5"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89" name="Line 1194"/>
              <p:cNvSpPr>
                <a:spLocks noChangeShapeType="1"/>
              </p:cNvSpPr>
              <p:nvPr userDrawn="1"/>
            </p:nvSpPr>
            <p:spPr bwMode="gray">
              <a:xfrm flipH="1">
                <a:off x="2567" y="1257"/>
                <a:ext cx="165" cy="8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90" name="Line 1195"/>
              <p:cNvSpPr>
                <a:spLocks noChangeShapeType="1"/>
              </p:cNvSpPr>
              <p:nvPr userDrawn="1"/>
            </p:nvSpPr>
            <p:spPr bwMode="gray">
              <a:xfrm flipH="1">
                <a:off x="2571" y="1270"/>
                <a:ext cx="164" cy="8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91" name="Freeform 1196"/>
              <p:cNvSpPr>
                <a:spLocks/>
              </p:cNvSpPr>
              <p:nvPr userDrawn="1"/>
            </p:nvSpPr>
            <p:spPr bwMode="gray">
              <a:xfrm>
                <a:off x="2558" y="1340"/>
                <a:ext cx="13" cy="16"/>
              </a:xfrm>
              <a:custGeom>
                <a:avLst/>
                <a:gdLst>
                  <a:gd name="T0" fmla="*/ 13 w 13"/>
                  <a:gd name="T1" fmla="*/ 16 h 16"/>
                  <a:gd name="T2" fmla="*/ 11 w 13"/>
                  <a:gd name="T3" fmla="*/ 10 h 16"/>
                  <a:gd name="T4" fmla="*/ 9 w 13"/>
                  <a:gd name="T5" fmla="*/ 7 h 16"/>
                  <a:gd name="T6" fmla="*/ 6 w 13"/>
                  <a:gd name="T7" fmla="*/ 2 h 16"/>
                  <a:gd name="T8" fmla="*/ 0 w 13"/>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6">
                    <a:moveTo>
                      <a:pt x="13" y="16"/>
                    </a:moveTo>
                    <a:lnTo>
                      <a:pt x="11" y="10"/>
                    </a:lnTo>
                    <a:lnTo>
                      <a:pt x="9" y="7"/>
                    </a:lnTo>
                    <a:lnTo>
                      <a:pt x="6"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92" name="Line 1197"/>
              <p:cNvSpPr>
                <a:spLocks noChangeShapeType="1"/>
              </p:cNvSpPr>
              <p:nvPr userDrawn="1"/>
            </p:nvSpPr>
            <p:spPr bwMode="gray">
              <a:xfrm flipV="1">
                <a:off x="2558" y="1252"/>
                <a:ext cx="165" cy="8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93" name="Freeform 1198"/>
              <p:cNvSpPr>
                <a:spLocks/>
              </p:cNvSpPr>
              <p:nvPr userDrawn="1"/>
            </p:nvSpPr>
            <p:spPr bwMode="gray">
              <a:xfrm>
                <a:off x="2723" y="1252"/>
                <a:ext cx="12" cy="18"/>
              </a:xfrm>
              <a:custGeom>
                <a:avLst/>
                <a:gdLst>
                  <a:gd name="T0" fmla="*/ 12 w 12"/>
                  <a:gd name="T1" fmla="*/ 18 h 18"/>
                  <a:gd name="T2" fmla="*/ 10 w 12"/>
                  <a:gd name="T3" fmla="*/ 13 h 18"/>
                  <a:gd name="T4" fmla="*/ 9 w 12"/>
                  <a:gd name="T5" fmla="*/ 7 h 18"/>
                  <a:gd name="T6" fmla="*/ 5 w 12"/>
                  <a:gd name="T7" fmla="*/ 4 h 18"/>
                  <a:gd name="T8" fmla="*/ 0 w 12"/>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8">
                    <a:moveTo>
                      <a:pt x="12" y="18"/>
                    </a:moveTo>
                    <a:lnTo>
                      <a:pt x="10" y="13"/>
                    </a:lnTo>
                    <a:lnTo>
                      <a:pt x="9" y="7"/>
                    </a:lnTo>
                    <a:lnTo>
                      <a:pt x="5"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94" name="Freeform 1199"/>
              <p:cNvSpPr>
                <a:spLocks/>
              </p:cNvSpPr>
              <p:nvPr userDrawn="1"/>
            </p:nvSpPr>
            <p:spPr bwMode="gray">
              <a:xfrm>
                <a:off x="2551" y="1474"/>
                <a:ext cx="20" cy="2"/>
              </a:xfrm>
              <a:custGeom>
                <a:avLst/>
                <a:gdLst>
                  <a:gd name="T0" fmla="*/ 20 w 20"/>
                  <a:gd name="T1" fmla="*/ 0 h 2"/>
                  <a:gd name="T2" fmla="*/ 16 w 20"/>
                  <a:gd name="T3" fmla="*/ 2 h 2"/>
                  <a:gd name="T4" fmla="*/ 11 w 20"/>
                  <a:gd name="T5" fmla="*/ 2 h 2"/>
                  <a:gd name="T6" fmla="*/ 6 w 20"/>
                  <a:gd name="T7" fmla="*/ 2 h 2"/>
                  <a:gd name="T8" fmla="*/ 0 w 20"/>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2">
                    <a:moveTo>
                      <a:pt x="20" y="0"/>
                    </a:moveTo>
                    <a:lnTo>
                      <a:pt x="16" y="2"/>
                    </a:lnTo>
                    <a:lnTo>
                      <a:pt x="11" y="2"/>
                    </a:lnTo>
                    <a:lnTo>
                      <a:pt x="6" y="2"/>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95" name="Line 1200"/>
              <p:cNvSpPr>
                <a:spLocks noChangeShapeType="1"/>
              </p:cNvSpPr>
              <p:nvPr userDrawn="1"/>
            </p:nvSpPr>
            <p:spPr bwMode="gray">
              <a:xfrm>
                <a:off x="2560" y="1359"/>
                <a:ext cx="2" cy="24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96" name="Line 1201"/>
              <p:cNvSpPr>
                <a:spLocks noChangeShapeType="1"/>
              </p:cNvSpPr>
              <p:nvPr userDrawn="1"/>
            </p:nvSpPr>
            <p:spPr bwMode="gray">
              <a:xfrm>
                <a:off x="2571" y="1356"/>
                <a:ext cx="1" cy="23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97" name="Freeform 1202"/>
              <p:cNvSpPr>
                <a:spLocks/>
              </p:cNvSpPr>
              <p:nvPr userDrawn="1"/>
            </p:nvSpPr>
            <p:spPr bwMode="gray">
              <a:xfrm>
                <a:off x="2551" y="1592"/>
                <a:ext cx="21" cy="13"/>
              </a:xfrm>
              <a:custGeom>
                <a:avLst/>
                <a:gdLst>
                  <a:gd name="T0" fmla="*/ 21 w 21"/>
                  <a:gd name="T1" fmla="*/ 0 h 14"/>
                  <a:gd name="T2" fmla="*/ 16 w 21"/>
                  <a:gd name="T3" fmla="*/ 5 h 14"/>
                  <a:gd name="T4" fmla="*/ 13 w 21"/>
                  <a:gd name="T5" fmla="*/ 8 h 14"/>
                  <a:gd name="T6" fmla="*/ 7 w 21"/>
                  <a:gd name="T7" fmla="*/ 10 h 14"/>
                  <a:gd name="T8" fmla="*/ 0 w 21"/>
                  <a:gd name="T9" fmla="*/ 14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4">
                    <a:moveTo>
                      <a:pt x="21" y="0"/>
                    </a:moveTo>
                    <a:lnTo>
                      <a:pt x="16" y="5"/>
                    </a:lnTo>
                    <a:lnTo>
                      <a:pt x="13" y="8"/>
                    </a:lnTo>
                    <a:lnTo>
                      <a:pt x="7" y="10"/>
                    </a:lnTo>
                    <a:lnTo>
                      <a:pt x="0" y="14"/>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98" name="Line 1203"/>
              <p:cNvSpPr>
                <a:spLocks noChangeShapeType="1"/>
              </p:cNvSpPr>
              <p:nvPr userDrawn="1"/>
            </p:nvSpPr>
            <p:spPr bwMode="gray">
              <a:xfrm flipH="1" flipV="1">
                <a:off x="2550" y="1357"/>
                <a:ext cx="1" cy="2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99" name="Freeform 1204"/>
              <p:cNvSpPr>
                <a:spLocks/>
              </p:cNvSpPr>
              <p:nvPr userDrawn="1"/>
            </p:nvSpPr>
            <p:spPr bwMode="gray">
              <a:xfrm>
                <a:off x="2550" y="1356"/>
                <a:ext cx="21" cy="3"/>
              </a:xfrm>
              <a:custGeom>
                <a:avLst/>
                <a:gdLst>
                  <a:gd name="T0" fmla="*/ 0 w 21"/>
                  <a:gd name="T1" fmla="*/ 1 h 3"/>
                  <a:gd name="T2" fmla="*/ 7 w 21"/>
                  <a:gd name="T3" fmla="*/ 3 h 3"/>
                  <a:gd name="T4" fmla="*/ 14 w 21"/>
                  <a:gd name="T5" fmla="*/ 3 h 3"/>
                  <a:gd name="T6" fmla="*/ 21 w 21"/>
                  <a:gd name="T7" fmla="*/ 0 h 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 h="3">
                    <a:moveTo>
                      <a:pt x="0" y="1"/>
                    </a:moveTo>
                    <a:lnTo>
                      <a:pt x="7" y="3"/>
                    </a:lnTo>
                    <a:lnTo>
                      <a:pt x="14" y="3"/>
                    </a:lnTo>
                    <a:lnTo>
                      <a:pt x="2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00" name="Freeform 1205"/>
              <p:cNvSpPr>
                <a:spLocks/>
              </p:cNvSpPr>
              <p:nvPr userDrawn="1"/>
            </p:nvSpPr>
            <p:spPr bwMode="gray">
              <a:xfrm>
                <a:off x="2726" y="2010"/>
                <a:ext cx="9" cy="7"/>
              </a:xfrm>
              <a:custGeom>
                <a:avLst/>
                <a:gdLst>
                  <a:gd name="T0" fmla="*/ 0 w 9"/>
                  <a:gd name="T1" fmla="*/ 0 h 7"/>
                  <a:gd name="T2" fmla="*/ 2 w 9"/>
                  <a:gd name="T3" fmla="*/ 0 h 7"/>
                  <a:gd name="T4" fmla="*/ 6 w 9"/>
                  <a:gd name="T5" fmla="*/ 0 h 7"/>
                  <a:gd name="T6" fmla="*/ 7 w 9"/>
                  <a:gd name="T7" fmla="*/ 1 h 7"/>
                  <a:gd name="T8" fmla="*/ 7 w 9"/>
                  <a:gd name="T9" fmla="*/ 5 h 7"/>
                  <a:gd name="T10" fmla="*/ 9 w 9"/>
                  <a:gd name="T11" fmla="*/ 7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7">
                    <a:moveTo>
                      <a:pt x="0" y="0"/>
                    </a:moveTo>
                    <a:lnTo>
                      <a:pt x="2" y="0"/>
                    </a:lnTo>
                    <a:lnTo>
                      <a:pt x="6" y="0"/>
                    </a:lnTo>
                    <a:lnTo>
                      <a:pt x="7" y="1"/>
                    </a:lnTo>
                    <a:lnTo>
                      <a:pt x="7" y="5"/>
                    </a:lnTo>
                    <a:lnTo>
                      <a:pt x="9"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01" name="Freeform 1206"/>
              <p:cNvSpPr>
                <a:spLocks/>
              </p:cNvSpPr>
              <p:nvPr userDrawn="1"/>
            </p:nvSpPr>
            <p:spPr bwMode="gray">
              <a:xfrm>
                <a:off x="2735" y="1992"/>
                <a:ext cx="9" cy="9"/>
              </a:xfrm>
              <a:custGeom>
                <a:avLst/>
                <a:gdLst>
                  <a:gd name="T0" fmla="*/ 0 w 9"/>
                  <a:gd name="T1" fmla="*/ 0 h 9"/>
                  <a:gd name="T2" fmla="*/ 0 w 9"/>
                  <a:gd name="T3" fmla="*/ 4 h 9"/>
                  <a:gd name="T4" fmla="*/ 0 w 9"/>
                  <a:gd name="T5" fmla="*/ 7 h 9"/>
                  <a:gd name="T6" fmla="*/ 2 w 9"/>
                  <a:gd name="T7" fmla="*/ 9 h 9"/>
                  <a:gd name="T8" fmla="*/ 5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4"/>
                    </a:lnTo>
                    <a:lnTo>
                      <a:pt x="0" y="7"/>
                    </a:lnTo>
                    <a:lnTo>
                      <a:pt x="2" y="9"/>
                    </a:lnTo>
                    <a:lnTo>
                      <a:pt x="5" y="9"/>
                    </a:lnTo>
                    <a:lnTo>
                      <a:pt x="9"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02" name="Freeform 1207"/>
              <p:cNvSpPr>
                <a:spLocks/>
              </p:cNvSpPr>
              <p:nvPr userDrawn="1"/>
            </p:nvSpPr>
            <p:spPr bwMode="gray">
              <a:xfrm>
                <a:off x="2632" y="1209"/>
                <a:ext cx="9" cy="19"/>
              </a:xfrm>
              <a:custGeom>
                <a:avLst/>
                <a:gdLst>
                  <a:gd name="T0" fmla="*/ 0 w 9"/>
                  <a:gd name="T1" fmla="*/ 19 h 19"/>
                  <a:gd name="T2" fmla="*/ 0 w 9"/>
                  <a:gd name="T3" fmla="*/ 12 h 19"/>
                  <a:gd name="T4" fmla="*/ 2 w 9"/>
                  <a:gd name="T5" fmla="*/ 8 h 19"/>
                  <a:gd name="T6" fmla="*/ 5 w 9"/>
                  <a:gd name="T7" fmla="*/ 3 h 19"/>
                  <a:gd name="T8" fmla="*/ 9 w 9"/>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9">
                    <a:moveTo>
                      <a:pt x="0" y="19"/>
                    </a:moveTo>
                    <a:lnTo>
                      <a:pt x="0" y="12"/>
                    </a:lnTo>
                    <a:lnTo>
                      <a:pt x="2" y="8"/>
                    </a:lnTo>
                    <a:lnTo>
                      <a:pt x="5" y="3"/>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03" name="Line 1208"/>
              <p:cNvSpPr>
                <a:spLocks noChangeShapeType="1"/>
              </p:cNvSpPr>
              <p:nvPr userDrawn="1"/>
            </p:nvSpPr>
            <p:spPr bwMode="gray">
              <a:xfrm>
                <a:off x="2536" y="1184"/>
                <a:ext cx="199"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04" name="Line 1209"/>
              <p:cNvSpPr>
                <a:spLocks noChangeShapeType="1"/>
              </p:cNvSpPr>
              <p:nvPr userDrawn="1"/>
            </p:nvSpPr>
            <p:spPr bwMode="gray">
              <a:xfrm>
                <a:off x="2532" y="1195"/>
                <a:ext cx="200" cy="6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05" name="Freeform 1210"/>
              <p:cNvSpPr>
                <a:spLocks/>
              </p:cNvSpPr>
              <p:nvPr userDrawn="1"/>
            </p:nvSpPr>
            <p:spPr bwMode="gray">
              <a:xfrm>
                <a:off x="2732" y="1244"/>
                <a:ext cx="8" cy="17"/>
              </a:xfrm>
              <a:custGeom>
                <a:avLst/>
                <a:gdLst>
                  <a:gd name="T0" fmla="*/ 0 w 8"/>
                  <a:gd name="T1" fmla="*/ 17 h 17"/>
                  <a:gd name="T2" fmla="*/ 1 w 8"/>
                  <a:gd name="T3" fmla="*/ 12 h 17"/>
                  <a:gd name="T4" fmla="*/ 3 w 8"/>
                  <a:gd name="T5" fmla="*/ 7 h 17"/>
                  <a:gd name="T6" fmla="*/ 5 w 8"/>
                  <a:gd name="T7" fmla="*/ 1 h 17"/>
                  <a:gd name="T8" fmla="*/ 8 w 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7"/>
                    </a:moveTo>
                    <a:lnTo>
                      <a:pt x="1" y="12"/>
                    </a:lnTo>
                    <a:lnTo>
                      <a:pt x="3" y="7"/>
                    </a:lnTo>
                    <a:lnTo>
                      <a:pt x="5" y="1"/>
                    </a:lnTo>
                    <a:lnTo>
                      <a:pt x="8"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06" name="Line 1211"/>
              <p:cNvSpPr>
                <a:spLocks noChangeShapeType="1"/>
              </p:cNvSpPr>
              <p:nvPr userDrawn="1"/>
            </p:nvSpPr>
            <p:spPr bwMode="gray">
              <a:xfrm flipH="1" flipV="1">
                <a:off x="2543" y="1177"/>
                <a:ext cx="197" cy="6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07" name="Freeform 1212"/>
              <p:cNvSpPr>
                <a:spLocks/>
              </p:cNvSpPr>
              <p:nvPr userDrawn="1"/>
            </p:nvSpPr>
            <p:spPr bwMode="gray">
              <a:xfrm>
                <a:off x="2532" y="1177"/>
                <a:ext cx="11" cy="18"/>
              </a:xfrm>
              <a:custGeom>
                <a:avLst/>
                <a:gdLst>
                  <a:gd name="T0" fmla="*/ 0 w 11"/>
                  <a:gd name="T1" fmla="*/ 18 h 18"/>
                  <a:gd name="T2" fmla="*/ 2 w 11"/>
                  <a:gd name="T3" fmla="*/ 12 h 18"/>
                  <a:gd name="T4" fmla="*/ 4 w 11"/>
                  <a:gd name="T5" fmla="*/ 7 h 18"/>
                  <a:gd name="T6" fmla="*/ 5 w 11"/>
                  <a:gd name="T7" fmla="*/ 2 h 18"/>
                  <a:gd name="T8" fmla="*/ 11 w 11"/>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8">
                    <a:moveTo>
                      <a:pt x="0" y="18"/>
                    </a:moveTo>
                    <a:lnTo>
                      <a:pt x="2" y="12"/>
                    </a:lnTo>
                    <a:lnTo>
                      <a:pt x="4" y="7"/>
                    </a:lnTo>
                    <a:lnTo>
                      <a:pt x="5" y="2"/>
                    </a:lnTo>
                    <a:lnTo>
                      <a:pt x="1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08" name="Freeform 1213"/>
              <p:cNvSpPr>
                <a:spLocks/>
              </p:cNvSpPr>
              <p:nvPr userDrawn="1"/>
            </p:nvSpPr>
            <p:spPr bwMode="gray">
              <a:xfrm>
                <a:off x="2623" y="1202"/>
                <a:ext cx="9" cy="17"/>
              </a:xfrm>
              <a:custGeom>
                <a:avLst/>
                <a:gdLst>
                  <a:gd name="T0" fmla="*/ 0 w 9"/>
                  <a:gd name="T1" fmla="*/ 17 h 17"/>
                  <a:gd name="T2" fmla="*/ 4 w 9"/>
                  <a:gd name="T3" fmla="*/ 14 h 17"/>
                  <a:gd name="T4" fmla="*/ 5 w 9"/>
                  <a:gd name="T5" fmla="*/ 10 h 17"/>
                  <a:gd name="T6" fmla="*/ 9 w 9"/>
                  <a:gd name="T7" fmla="*/ 5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4" y="14"/>
                    </a:lnTo>
                    <a:lnTo>
                      <a:pt x="5" y="10"/>
                    </a:lnTo>
                    <a:lnTo>
                      <a:pt x="9" y="5"/>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09" name="Line 1214"/>
              <p:cNvSpPr>
                <a:spLocks noChangeShapeType="1"/>
              </p:cNvSpPr>
              <p:nvPr userDrawn="1"/>
            </p:nvSpPr>
            <p:spPr bwMode="gray">
              <a:xfrm flipH="1" flipV="1">
                <a:off x="2530" y="1179"/>
                <a:ext cx="204" cy="6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10" name="Line 1215"/>
              <p:cNvSpPr>
                <a:spLocks noChangeShapeType="1"/>
              </p:cNvSpPr>
              <p:nvPr userDrawn="1"/>
            </p:nvSpPr>
            <p:spPr bwMode="gray">
              <a:xfrm flipH="1" flipV="1">
                <a:off x="2524" y="1186"/>
                <a:ext cx="200" cy="6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11" name="Freeform 1216"/>
              <p:cNvSpPr>
                <a:spLocks/>
              </p:cNvSpPr>
              <p:nvPr userDrawn="1"/>
            </p:nvSpPr>
            <p:spPr bwMode="gray">
              <a:xfrm>
                <a:off x="2524" y="1168"/>
                <a:ext cx="9" cy="18"/>
              </a:xfrm>
              <a:custGeom>
                <a:avLst/>
                <a:gdLst>
                  <a:gd name="T0" fmla="*/ 0 w 9"/>
                  <a:gd name="T1" fmla="*/ 18 h 18"/>
                  <a:gd name="T2" fmla="*/ 4 w 9"/>
                  <a:gd name="T3" fmla="*/ 14 h 18"/>
                  <a:gd name="T4" fmla="*/ 7 w 9"/>
                  <a:gd name="T5" fmla="*/ 9 h 18"/>
                  <a:gd name="T6" fmla="*/ 9 w 9"/>
                  <a:gd name="T7" fmla="*/ 6 h 18"/>
                  <a:gd name="T8" fmla="*/ 9 w 9"/>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0" y="18"/>
                    </a:moveTo>
                    <a:lnTo>
                      <a:pt x="4" y="14"/>
                    </a:lnTo>
                    <a:lnTo>
                      <a:pt x="7" y="9"/>
                    </a:lnTo>
                    <a:lnTo>
                      <a:pt x="9" y="6"/>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12" name="Line 1217"/>
              <p:cNvSpPr>
                <a:spLocks noChangeShapeType="1"/>
              </p:cNvSpPr>
              <p:nvPr userDrawn="1"/>
            </p:nvSpPr>
            <p:spPr bwMode="gray">
              <a:xfrm>
                <a:off x="2532" y="1168"/>
                <a:ext cx="200" cy="6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13" name="Freeform 1218"/>
              <p:cNvSpPr>
                <a:spLocks/>
              </p:cNvSpPr>
              <p:nvPr userDrawn="1"/>
            </p:nvSpPr>
            <p:spPr bwMode="gray">
              <a:xfrm>
                <a:off x="2723" y="1235"/>
                <a:ext cx="9" cy="17"/>
              </a:xfrm>
              <a:custGeom>
                <a:avLst/>
                <a:gdLst>
                  <a:gd name="T0" fmla="*/ 0 w 9"/>
                  <a:gd name="T1" fmla="*/ 17 h 17"/>
                  <a:gd name="T2" fmla="*/ 3 w 9"/>
                  <a:gd name="T3" fmla="*/ 14 h 17"/>
                  <a:gd name="T4" fmla="*/ 7 w 9"/>
                  <a:gd name="T5" fmla="*/ 10 h 17"/>
                  <a:gd name="T6" fmla="*/ 9 w 9"/>
                  <a:gd name="T7" fmla="*/ 5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3" y="14"/>
                    </a:lnTo>
                    <a:lnTo>
                      <a:pt x="7" y="10"/>
                    </a:lnTo>
                    <a:lnTo>
                      <a:pt x="9" y="5"/>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14" name="Freeform 1219"/>
              <p:cNvSpPr>
                <a:spLocks/>
              </p:cNvSpPr>
              <p:nvPr userDrawn="1"/>
            </p:nvSpPr>
            <p:spPr bwMode="gray">
              <a:xfrm>
                <a:off x="2448" y="1305"/>
                <a:ext cx="9" cy="17"/>
              </a:xfrm>
              <a:custGeom>
                <a:avLst/>
                <a:gdLst>
                  <a:gd name="T0" fmla="*/ 9 w 9"/>
                  <a:gd name="T1" fmla="*/ 0 h 17"/>
                  <a:gd name="T2" fmla="*/ 6 w 9"/>
                  <a:gd name="T3" fmla="*/ 3 h 17"/>
                  <a:gd name="T4" fmla="*/ 4 w 9"/>
                  <a:gd name="T5" fmla="*/ 7 h 17"/>
                  <a:gd name="T6" fmla="*/ 2 w 9"/>
                  <a:gd name="T7" fmla="*/ 12 h 17"/>
                  <a:gd name="T8" fmla="*/ 0 w 9"/>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9" y="0"/>
                    </a:moveTo>
                    <a:lnTo>
                      <a:pt x="6" y="3"/>
                    </a:lnTo>
                    <a:lnTo>
                      <a:pt x="4" y="7"/>
                    </a:lnTo>
                    <a:lnTo>
                      <a:pt x="2" y="12"/>
                    </a:lnTo>
                    <a:lnTo>
                      <a:pt x="0" y="1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15" name="Line 1220"/>
              <p:cNvSpPr>
                <a:spLocks noChangeShapeType="1"/>
              </p:cNvSpPr>
              <p:nvPr userDrawn="1"/>
            </p:nvSpPr>
            <p:spPr bwMode="gray">
              <a:xfrm>
                <a:off x="2352" y="1274"/>
                <a:ext cx="199"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16" name="Line 1221"/>
              <p:cNvSpPr>
                <a:spLocks noChangeShapeType="1"/>
              </p:cNvSpPr>
              <p:nvPr userDrawn="1"/>
            </p:nvSpPr>
            <p:spPr bwMode="gray">
              <a:xfrm>
                <a:off x="2359" y="1270"/>
                <a:ext cx="201" cy="7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17" name="Freeform 1222"/>
              <p:cNvSpPr>
                <a:spLocks/>
              </p:cNvSpPr>
              <p:nvPr userDrawn="1"/>
            </p:nvSpPr>
            <p:spPr bwMode="gray">
              <a:xfrm>
                <a:off x="2550" y="1340"/>
                <a:ext cx="8" cy="17"/>
              </a:xfrm>
              <a:custGeom>
                <a:avLst/>
                <a:gdLst>
                  <a:gd name="T0" fmla="*/ 8 w 8"/>
                  <a:gd name="T1" fmla="*/ 0 h 17"/>
                  <a:gd name="T2" fmla="*/ 5 w 8"/>
                  <a:gd name="T3" fmla="*/ 3 h 17"/>
                  <a:gd name="T4" fmla="*/ 1 w 8"/>
                  <a:gd name="T5" fmla="*/ 7 h 17"/>
                  <a:gd name="T6" fmla="*/ 0 w 8"/>
                  <a:gd name="T7" fmla="*/ 12 h 17"/>
                  <a:gd name="T8" fmla="*/ 0 w 8"/>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8" y="0"/>
                    </a:moveTo>
                    <a:lnTo>
                      <a:pt x="5" y="3"/>
                    </a:lnTo>
                    <a:lnTo>
                      <a:pt x="1" y="7"/>
                    </a:lnTo>
                    <a:lnTo>
                      <a:pt x="0" y="12"/>
                    </a:lnTo>
                    <a:lnTo>
                      <a:pt x="0" y="1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18" name="Line 1223"/>
              <p:cNvSpPr>
                <a:spLocks noChangeShapeType="1"/>
              </p:cNvSpPr>
              <p:nvPr userDrawn="1"/>
            </p:nvSpPr>
            <p:spPr bwMode="gray">
              <a:xfrm flipH="1" flipV="1">
                <a:off x="2350" y="1287"/>
                <a:ext cx="201" cy="7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19" name="Freeform 1224"/>
              <p:cNvSpPr>
                <a:spLocks/>
              </p:cNvSpPr>
              <p:nvPr userDrawn="1"/>
            </p:nvSpPr>
            <p:spPr bwMode="gray">
              <a:xfrm>
                <a:off x="2350" y="1270"/>
                <a:ext cx="8" cy="17"/>
              </a:xfrm>
              <a:custGeom>
                <a:avLst/>
                <a:gdLst>
                  <a:gd name="T0" fmla="*/ 0 w 8"/>
                  <a:gd name="T1" fmla="*/ 17 h 17"/>
                  <a:gd name="T2" fmla="*/ 1 w 8"/>
                  <a:gd name="T3" fmla="*/ 14 h 17"/>
                  <a:gd name="T4" fmla="*/ 3 w 8"/>
                  <a:gd name="T5" fmla="*/ 9 h 17"/>
                  <a:gd name="T6" fmla="*/ 5 w 8"/>
                  <a:gd name="T7" fmla="*/ 3 h 17"/>
                  <a:gd name="T8" fmla="*/ 8 w 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7"/>
                    </a:moveTo>
                    <a:lnTo>
                      <a:pt x="1" y="14"/>
                    </a:lnTo>
                    <a:lnTo>
                      <a:pt x="3" y="9"/>
                    </a:lnTo>
                    <a:lnTo>
                      <a:pt x="5" y="3"/>
                    </a:lnTo>
                    <a:lnTo>
                      <a:pt x="8"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20" name="Freeform 1225"/>
              <p:cNvSpPr>
                <a:spLocks/>
              </p:cNvSpPr>
              <p:nvPr userDrawn="1"/>
            </p:nvSpPr>
            <p:spPr bwMode="gray">
              <a:xfrm>
                <a:off x="2459" y="2057"/>
                <a:ext cx="10" cy="13"/>
              </a:xfrm>
              <a:custGeom>
                <a:avLst/>
                <a:gdLst>
                  <a:gd name="T0" fmla="*/ 0 w 10"/>
                  <a:gd name="T1" fmla="*/ 0 h 9"/>
                  <a:gd name="T2" fmla="*/ 2 w 10"/>
                  <a:gd name="T3" fmla="*/ 6 h 9"/>
                  <a:gd name="T4" fmla="*/ 3 w 10"/>
                  <a:gd name="T5" fmla="*/ 7 h 9"/>
                  <a:gd name="T6" fmla="*/ 7 w 10"/>
                  <a:gd name="T7" fmla="*/ 9 h 9"/>
                  <a:gd name="T8" fmla="*/ 10 w 10"/>
                  <a:gd name="T9" fmla="*/ 7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9">
                    <a:moveTo>
                      <a:pt x="0" y="0"/>
                    </a:moveTo>
                    <a:lnTo>
                      <a:pt x="2" y="6"/>
                    </a:lnTo>
                    <a:lnTo>
                      <a:pt x="3" y="7"/>
                    </a:lnTo>
                    <a:lnTo>
                      <a:pt x="7" y="9"/>
                    </a:lnTo>
                    <a:lnTo>
                      <a:pt x="10"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21" name="Line 1226"/>
              <p:cNvSpPr>
                <a:spLocks noChangeShapeType="1"/>
              </p:cNvSpPr>
              <p:nvPr userDrawn="1"/>
            </p:nvSpPr>
            <p:spPr bwMode="gray">
              <a:xfrm>
                <a:off x="2367" y="2031"/>
                <a:ext cx="194"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22" name="Line 1227"/>
              <p:cNvSpPr>
                <a:spLocks noChangeShapeType="1"/>
              </p:cNvSpPr>
              <p:nvPr userDrawn="1"/>
            </p:nvSpPr>
            <p:spPr bwMode="gray">
              <a:xfrm>
                <a:off x="2363" y="2022"/>
                <a:ext cx="195"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23" name="Freeform 1228"/>
              <p:cNvSpPr>
                <a:spLocks/>
              </p:cNvSpPr>
              <p:nvPr userDrawn="1"/>
            </p:nvSpPr>
            <p:spPr bwMode="gray">
              <a:xfrm>
                <a:off x="2558" y="2099"/>
                <a:ext cx="8" cy="9"/>
              </a:xfrm>
              <a:custGeom>
                <a:avLst/>
                <a:gdLst>
                  <a:gd name="T0" fmla="*/ 0 w 8"/>
                  <a:gd name="T1" fmla="*/ 0 h 9"/>
                  <a:gd name="T2" fmla="*/ 0 w 8"/>
                  <a:gd name="T3" fmla="*/ 3 h 9"/>
                  <a:gd name="T4" fmla="*/ 1 w 8"/>
                  <a:gd name="T5" fmla="*/ 7 h 9"/>
                  <a:gd name="T6" fmla="*/ 3 w 8"/>
                  <a:gd name="T7" fmla="*/ 9 h 9"/>
                  <a:gd name="T8" fmla="*/ 7 w 8"/>
                  <a:gd name="T9" fmla="*/ 9 h 9"/>
                  <a:gd name="T10" fmla="*/ 8 w 8"/>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9">
                    <a:moveTo>
                      <a:pt x="0" y="0"/>
                    </a:moveTo>
                    <a:lnTo>
                      <a:pt x="0" y="3"/>
                    </a:lnTo>
                    <a:lnTo>
                      <a:pt x="1" y="7"/>
                    </a:lnTo>
                    <a:lnTo>
                      <a:pt x="3" y="9"/>
                    </a:lnTo>
                    <a:lnTo>
                      <a:pt x="7" y="9"/>
                    </a:lnTo>
                    <a:lnTo>
                      <a:pt x="8"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24" name="Line 1229"/>
              <p:cNvSpPr>
                <a:spLocks noChangeShapeType="1"/>
              </p:cNvSpPr>
              <p:nvPr userDrawn="1"/>
            </p:nvSpPr>
            <p:spPr bwMode="gray">
              <a:xfrm flipH="1" flipV="1">
                <a:off x="2371" y="2031"/>
                <a:ext cx="195"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25" name="Freeform 1230"/>
              <p:cNvSpPr>
                <a:spLocks/>
              </p:cNvSpPr>
              <p:nvPr userDrawn="1"/>
            </p:nvSpPr>
            <p:spPr bwMode="gray">
              <a:xfrm>
                <a:off x="2363" y="2022"/>
                <a:ext cx="8" cy="7"/>
              </a:xfrm>
              <a:custGeom>
                <a:avLst/>
                <a:gdLst>
                  <a:gd name="T0" fmla="*/ 8 w 8"/>
                  <a:gd name="T1" fmla="*/ 7 h 7"/>
                  <a:gd name="T2" fmla="*/ 7 w 8"/>
                  <a:gd name="T3" fmla="*/ 7 h 7"/>
                  <a:gd name="T4" fmla="*/ 3 w 8"/>
                  <a:gd name="T5" fmla="*/ 7 h 7"/>
                  <a:gd name="T6" fmla="*/ 1 w 8"/>
                  <a:gd name="T7" fmla="*/ 5 h 7"/>
                  <a:gd name="T8" fmla="*/ 0 w 8"/>
                  <a:gd name="T9" fmla="*/ 3 h 7"/>
                  <a:gd name="T10" fmla="*/ 0 w 8"/>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7">
                    <a:moveTo>
                      <a:pt x="8" y="7"/>
                    </a:moveTo>
                    <a:lnTo>
                      <a:pt x="7" y="7"/>
                    </a:lnTo>
                    <a:lnTo>
                      <a:pt x="3" y="7"/>
                    </a:lnTo>
                    <a:lnTo>
                      <a:pt x="1" y="5"/>
                    </a:lnTo>
                    <a:lnTo>
                      <a:pt x="0" y="3"/>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26" name="Freeform 1231"/>
              <p:cNvSpPr>
                <a:spLocks/>
              </p:cNvSpPr>
              <p:nvPr userDrawn="1"/>
            </p:nvSpPr>
            <p:spPr bwMode="gray">
              <a:xfrm>
                <a:off x="3031" y="1392"/>
                <a:ext cx="10" cy="16"/>
              </a:xfrm>
              <a:custGeom>
                <a:avLst/>
                <a:gdLst>
                  <a:gd name="T0" fmla="*/ 0 w 10"/>
                  <a:gd name="T1" fmla="*/ 0 h 16"/>
                  <a:gd name="T2" fmla="*/ 5 w 10"/>
                  <a:gd name="T3" fmla="*/ 2 h 16"/>
                  <a:gd name="T4" fmla="*/ 7 w 10"/>
                  <a:gd name="T5" fmla="*/ 7 h 16"/>
                  <a:gd name="T6" fmla="*/ 10 w 10"/>
                  <a:gd name="T7" fmla="*/ 11 h 16"/>
                  <a:gd name="T8" fmla="*/ 10 w 10"/>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0" y="0"/>
                    </a:moveTo>
                    <a:lnTo>
                      <a:pt x="5" y="2"/>
                    </a:lnTo>
                    <a:lnTo>
                      <a:pt x="7" y="7"/>
                    </a:lnTo>
                    <a:lnTo>
                      <a:pt x="10" y="11"/>
                    </a:lnTo>
                    <a:lnTo>
                      <a:pt x="10"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27" name="Freeform 1232"/>
              <p:cNvSpPr>
                <a:spLocks/>
              </p:cNvSpPr>
              <p:nvPr userDrawn="1"/>
            </p:nvSpPr>
            <p:spPr bwMode="gray">
              <a:xfrm>
                <a:off x="2836" y="1314"/>
                <a:ext cx="9" cy="13"/>
              </a:xfrm>
              <a:custGeom>
                <a:avLst/>
                <a:gdLst>
                  <a:gd name="T0" fmla="*/ 9 w 9"/>
                  <a:gd name="T1" fmla="*/ 15 h 15"/>
                  <a:gd name="T2" fmla="*/ 5 w 9"/>
                  <a:gd name="T3" fmla="*/ 14 h 15"/>
                  <a:gd name="T4" fmla="*/ 2 w 9"/>
                  <a:gd name="T5" fmla="*/ 10 h 15"/>
                  <a:gd name="T6" fmla="*/ 0 w 9"/>
                  <a:gd name="T7" fmla="*/ 5 h 15"/>
                  <a:gd name="T8" fmla="*/ 0 w 9"/>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5">
                    <a:moveTo>
                      <a:pt x="9" y="15"/>
                    </a:moveTo>
                    <a:lnTo>
                      <a:pt x="5" y="14"/>
                    </a:lnTo>
                    <a:lnTo>
                      <a:pt x="2" y="10"/>
                    </a:lnTo>
                    <a:lnTo>
                      <a:pt x="0"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28" name="Freeform 1233"/>
              <p:cNvSpPr>
                <a:spLocks/>
              </p:cNvSpPr>
              <p:nvPr userDrawn="1"/>
            </p:nvSpPr>
            <p:spPr bwMode="gray">
              <a:xfrm>
                <a:off x="2954" y="1361"/>
                <a:ext cx="7" cy="9"/>
              </a:xfrm>
              <a:custGeom>
                <a:avLst/>
                <a:gdLst>
                  <a:gd name="T0" fmla="*/ 7 w 7"/>
                  <a:gd name="T1" fmla="*/ 9 h 9"/>
                  <a:gd name="T2" fmla="*/ 5 w 7"/>
                  <a:gd name="T3" fmla="*/ 9 h 9"/>
                  <a:gd name="T4" fmla="*/ 1 w 7"/>
                  <a:gd name="T5" fmla="*/ 7 h 9"/>
                  <a:gd name="T6" fmla="*/ 0 w 7"/>
                  <a:gd name="T7" fmla="*/ 5 h 9"/>
                  <a:gd name="T8" fmla="*/ 0 w 7"/>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9">
                    <a:moveTo>
                      <a:pt x="7" y="9"/>
                    </a:moveTo>
                    <a:lnTo>
                      <a:pt x="5" y="9"/>
                    </a:lnTo>
                    <a:lnTo>
                      <a:pt x="1" y="7"/>
                    </a:lnTo>
                    <a:lnTo>
                      <a:pt x="0"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29" name="Line 1234"/>
              <p:cNvSpPr>
                <a:spLocks noChangeShapeType="1"/>
              </p:cNvSpPr>
              <p:nvPr userDrawn="1"/>
            </p:nvSpPr>
            <p:spPr bwMode="gray">
              <a:xfrm>
                <a:off x="2838" y="1327"/>
                <a:ext cx="193"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30" name="Line 1235"/>
              <p:cNvSpPr>
                <a:spLocks noChangeShapeType="1"/>
              </p:cNvSpPr>
              <p:nvPr userDrawn="1"/>
            </p:nvSpPr>
            <p:spPr bwMode="gray">
              <a:xfrm>
                <a:off x="2845" y="1327"/>
                <a:ext cx="187"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31" name="Freeform 1236"/>
              <p:cNvSpPr>
                <a:spLocks/>
              </p:cNvSpPr>
              <p:nvPr userDrawn="1"/>
            </p:nvSpPr>
            <p:spPr bwMode="gray">
              <a:xfrm>
                <a:off x="3031" y="1387"/>
                <a:ext cx="4" cy="5"/>
              </a:xfrm>
              <a:custGeom>
                <a:avLst/>
                <a:gdLst>
                  <a:gd name="T0" fmla="*/ 0 w 3"/>
                  <a:gd name="T1" fmla="*/ 3 h 5"/>
                  <a:gd name="T2" fmla="*/ 0 w 3"/>
                  <a:gd name="T3" fmla="*/ 5 h 5"/>
                  <a:gd name="T4" fmla="*/ 0 w 3"/>
                  <a:gd name="T5" fmla="*/ 5 h 5"/>
                  <a:gd name="T6" fmla="*/ 0 w 3"/>
                  <a:gd name="T7" fmla="*/ 5 h 5"/>
                  <a:gd name="T8" fmla="*/ 0 w 3"/>
                  <a:gd name="T9" fmla="*/ 3 h 5"/>
                  <a:gd name="T10" fmla="*/ 0 w 3"/>
                  <a:gd name="T11" fmla="*/ 3 h 5"/>
                  <a:gd name="T12" fmla="*/ 1 w 3"/>
                  <a:gd name="T13" fmla="*/ 2 h 5"/>
                  <a:gd name="T14" fmla="*/ 3 w 3"/>
                  <a:gd name="T15" fmla="*/ 0 h 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 h="5">
                    <a:moveTo>
                      <a:pt x="0" y="3"/>
                    </a:moveTo>
                    <a:lnTo>
                      <a:pt x="0" y="5"/>
                    </a:lnTo>
                    <a:lnTo>
                      <a:pt x="0" y="3"/>
                    </a:lnTo>
                    <a:lnTo>
                      <a:pt x="1" y="2"/>
                    </a:lnTo>
                    <a:lnTo>
                      <a:pt x="3"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32" name="Line 1237"/>
              <p:cNvSpPr>
                <a:spLocks noChangeShapeType="1"/>
              </p:cNvSpPr>
              <p:nvPr userDrawn="1"/>
            </p:nvSpPr>
            <p:spPr bwMode="gray">
              <a:xfrm flipH="1" flipV="1">
                <a:off x="2837" y="1322"/>
                <a:ext cx="197"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33" name="Freeform 1238"/>
              <p:cNvSpPr>
                <a:spLocks/>
              </p:cNvSpPr>
              <p:nvPr userDrawn="1"/>
            </p:nvSpPr>
            <p:spPr bwMode="gray">
              <a:xfrm>
                <a:off x="2837" y="1322"/>
                <a:ext cx="7" cy="9"/>
              </a:xfrm>
              <a:custGeom>
                <a:avLst/>
                <a:gdLst>
                  <a:gd name="T0" fmla="*/ 7 w 7"/>
                  <a:gd name="T1" fmla="*/ 7 h 9"/>
                  <a:gd name="T2" fmla="*/ 5 w 7"/>
                  <a:gd name="T3" fmla="*/ 9 h 9"/>
                  <a:gd name="T4" fmla="*/ 1 w 7"/>
                  <a:gd name="T5" fmla="*/ 7 h 9"/>
                  <a:gd name="T6" fmla="*/ 0 w 7"/>
                  <a:gd name="T7" fmla="*/ 6 h 9"/>
                  <a:gd name="T8" fmla="*/ 0 w 7"/>
                  <a:gd name="T9" fmla="*/ 4 h 9"/>
                  <a:gd name="T10" fmla="*/ 0 w 7"/>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7" y="7"/>
                    </a:moveTo>
                    <a:lnTo>
                      <a:pt x="5" y="9"/>
                    </a:lnTo>
                    <a:lnTo>
                      <a:pt x="1" y="7"/>
                    </a:lnTo>
                    <a:lnTo>
                      <a:pt x="0" y="6"/>
                    </a:lnTo>
                    <a:lnTo>
                      <a:pt x="0"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34" name="Line 1239"/>
              <p:cNvSpPr>
                <a:spLocks noChangeShapeType="1"/>
              </p:cNvSpPr>
              <p:nvPr userDrawn="1"/>
            </p:nvSpPr>
            <p:spPr bwMode="gray">
              <a:xfrm flipH="1">
                <a:off x="3370" y="1144"/>
                <a:ext cx="35" cy="1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35" name="Line 1240"/>
              <p:cNvSpPr>
                <a:spLocks noChangeShapeType="1"/>
              </p:cNvSpPr>
              <p:nvPr userDrawn="1"/>
            </p:nvSpPr>
            <p:spPr bwMode="gray">
              <a:xfrm flipH="1">
                <a:off x="3384" y="1149"/>
                <a:ext cx="30" cy="1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36" name="Line 1241"/>
              <p:cNvSpPr>
                <a:spLocks noChangeShapeType="1"/>
              </p:cNvSpPr>
              <p:nvPr userDrawn="1"/>
            </p:nvSpPr>
            <p:spPr bwMode="gray">
              <a:xfrm flipV="1">
                <a:off x="3358" y="1133"/>
                <a:ext cx="45" cy="2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37" name="Freeform 1242"/>
              <p:cNvSpPr>
                <a:spLocks/>
              </p:cNvSpPr>
              <p:nvPr userDrawn="1"/>
            </p:nvSpPr>
            <p:spPr bwMode="gray">
              <a:xfrm>
                <a:off x="3401" y="1133"/>
                <a:ext cx="11" cy="16"/>
              </a:xfrm>
              <a:custGeom>
                <a:avLst/>
                <a:gdLst>
                  <a:gd name="T0" fmla="*/ 11 w 11"/>
                  <a:gd name="T1" fmla="*/ 16 h 16"/>
                  <a:gd name="T2" fmla="*/ 6 w 11"/>
                  <a:gd name="T3" fmla="*/ 14 h 16"/>
                  <a:gd name="T4" fmla="*/ 4 w 11"/>
                  <a:gd name="T5" fmla="*/ 11 h 16"/>
                  <a:gd name="T6" fmla="*/ 0 w 11"/>
                  <a:gd name="T7" fmla="*/ 6 h 16"/>
                  <a:gd name="T8" fmla="*/ 0 w 11"/>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11" y="16"/>
                    </a:moveTo>
                    <a:lnTo>
                      <a:pt x="6" y="14"/>
                    </a:lnTo>
                    <a:lnTo>
                      <a:pt x="4" y="11"/>
                    </a:lnTo>
                    <a:lnTo>
                      <a:pt x="0" y="6"/>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38" name="Freeform 1243"/>
              <p:cNvSpPr>
                <a:spLocks/>
              </p:cNvSpPr>
              <p:nvPr userDrawn="1"/>
            </p:nvSpPr>
            <p:spPr bwMode="gray">
              <a:xfrm>
                <a:off x="3540" y="1252"/>
                <a:ext cx="10" cy="13"/>
              </a:xfrm>
              <a:custGeom>
                <a:avLst/>
                <a:gdLst>
                  <a:gd name="T0" fmla="*/ 0 w 10"/>
                  <a:gd name="T1" fmla="*/ 0 h 16"/>
                  <a:gd name="T2" fmla="*/ 3 w 10"/>
                  <a:gd name="T3" fmla="*/ 2 h 16"/>
                  <a:gd name="T4" fmla="*/ 7 w 10"/>
                  <a:gd name="T5" fmla="*/ 6 h 16"/>
                  <a:gd name="T6" fmla="*/ 8 w 10"/>
                  <a:gd name="T7" fmla="*/ 11 h 16"/>
                  <a:gd name="T8" fmla="*/ 10 w 10"/>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0" y="0"/>
                    </a:moveTo>
                    <a:lnTo>
                      <a:pt x="3" y="2"/>
                    </a:lnTo>
                    <a:lnTo>
                      <a:pt x="7" y="6"/>
                    </a:lnTo>
                    <a:lnTo>
                      <a:pt x="8" y="11"/>
                    </a:lnTo>
                    <a:lnTo>
                      <a:pt x="10"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39" name="Line 1244"/>
              <p:cNvSpPr>
                <a:spLocks noChangeShapeType="1"/>
              </p:cNvSpPr>
              <p:nvPr userDrawn="1"/>
            </p:nvSpPr>
            <p:spPr bwMode="gray">
              <a:xfrm flipV="1">
                <a:off x="3540" y="1217"/>
                <a:ext cx="79" cy="4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40" name="Line 1245"/>
              <p:cNvSpPr>
                <a:spLocks noChangeShapeType="1"/>
              </p:cNvSpPr>
              <p:nvPr userDrawn="1"/>
            </p:nvSpPr>
            <p:spPr bwMode="gray">
              <a:xfrm flipV="1">
                <a:off x="3540" y="1212"/>
                <a:ext cx="72" cy="4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41" name="Freeform 1246"/>
              <p:cNvSpPr>
                <a:spLocks/>
              </p:cNvSpPr>
              <p:nvPr userDrawn="1"/>
            </p:nvSpPr>
            <p:spPr bwMode="gray">
              <a:xfrm>
                <a:off x="3610" y="1212"/>
                <a:ext cx="10" cy="16"/>
              </a:xfrm>
              <a:custGeom>
                <a:avLst/>
                <a:gdLst>
                  <a:gd name="T0" fmla="*/ 0 w 10"/>
                  <a:gd name="T1" fmla="*/ 0 h 16"/>
                  <a:gd name="T2" fmla="*/ 3 w 10"/>
                  <a:gd name="T3" fmla="*/ 2 h 16"/>
                  <a:gd name="T4" fmla="*/ 7 w 10"/>
                  <a:gd name="T5" fmla="*/ 5 h 16"/>
                  <a:gd name="T6" fmla="*/ 8 w 10"/>
                  <a:gd name="T7" fmla="*/ 11 h 16"/>
                  <a:gd name="T8" fmla="*/ 10 w 10"/>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0" y="0"/>
                    </a:moveTo>
                    <a:lnTo>
                      <a:pt x="3" y="2"/>
                    </a:lnTo>
                    <a:lnTo>
                      <a:pt x="7" y="5"/>
                    </a:lnTo>
                    <a:lnTo>
                      <a:pt x="8" y="11"/>
                    </a:lnTo>
                    <a:lnTo>
                      <a:pt x="10"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42" name="Line 1247"/>
              <p:cNvSpPr>
                <a:spLocks noChangeShapeType="1"/>
              </p:cNvSpPr>
              <p:nvPr userDrawn="1"/>
            </p:nvSpPr>
            <p:spPr bwMode="gray">
              <a:xfrm flipH="1">
                <a:off x="3540" y="1228"/>
                <a:ext cx="82" cy="4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43" name="Freeform 1248"/>
              <p:cNvSpPr>
                <a:spLocks/>
              </p:cNvSpPr>
              <p:nvPr userDrawn="1"/>
            </p:nvSpPr>
            <p:spPr bwMode="gray">
              <a:xfrm>
                <a:off x="3484" y="1170"/>
                <a:ext cx="8" cy="9"/>
              </a:xfrm>
              <a:custGeom>
                <a:avLst/>
                <a:gdLst>
                  <a:gd name="T0" fmla="*/ 0 w 8"/>
                  <a:gd name="T1" fmla="*/ 0 h 9"/>
                  <a:gd name="T2" fmla="*/ 3 w 8"/>
                  <a:gd name="T3" fmla="*/ 0 h 9"/>
                  <a:gd name="T4" fmla="*/ 5 w 8"/>
                  <a:gd name="T5" fmla="*/ 2 h 9"/>
                  <a:gd name="T6" fmla="*/ 7 w 8"/>
                  <a:gd name="T7" fmla="*/ 3 h 9"/>
                  <a:gd name="T8" fmla="*/ 8 w 8"/>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9">
                    <a:moveTo>
                      <a:pt x="0" y="0"/>
                    </a:moveTo>
                    <a:lnTo>
                      <a:pt x="3" y="0"/>
                    </a:lnTo>
                    <a:lnTo>
                      <a:pt x="5" y="2"/>
                    </a:lnTo>
                    <a:lnTo>
                      <a:pt x="7" y="3"/>
                    </a:lnTo>
                    <a:lnTo>
                      <a:pt x="8"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44" name="Line 1249"/>
              <p:cNvSpPr>
                <a:spLocks noChangeShapeType="1"/>
              </p:cNvSpPr>
              <p:nvPr userDrawn="1"/>
            </p:nvSpPr>
            <p:spPr bwMode="gray">
              <a:xfrm flipH="1" flipV="1">
                <a:off x="3412" y="1147"/>
                <a:ext cx="203"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45" name="Line 1250"/>
              <p:cNvSpPr>
                <a:spLocks noChangeShapeType="1"/>
              </p:cNvSpPr>
              <p:nvPr userDrawn="1"/>
            </p:nvSpPr>
            <p:spPr bwMode="gray">
              <a:xfrm flipH="1" flipV="1">
                <a:off x="3412" y="1149"/>
                <a:ext cx="198" cy="6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46" name="Freeform 1251"/>
              <p:cNvSpPr>
                <a:spLocks/>
              </p:cNvSpPr>
              <p:nvPr userDrawn="1"/>
            </p:nvSpPr>
            <p:spPr bwMode="gray">
              <a:xfrm>
                <a:off x="3410" y="1149"/>
                <a:ext cx="4" cy="4"/>
              </a:xfrm>
              <a:custGeom>
                <a:avLst/>
                <a:gdLst>
                  <a:gd name="T0" fmla="*/ 4 w 4"/>
                  <a:gd name="T1" fmla="*/ 0 h 5"/>
                  <a:gd name="T2" fmla="*/ 4 w 4"/>
                  <a:gd name="T3" fmla="*/ 0 h 5"/>
                  <a:gd name="T4" fmla="*/ 4 w 4"/>
                  <a:gd name="T5" fmla="*/ 0 h 5"/>
                  <a:gd name="T6" fmla="*/ 2 w 4"/>
                  <a:gd name="T7" fmla="*/ 2 h 5"/>
                  <a:gd name="T8" fmla="*/ 2 w 4"/>
                  <a:gd name="T9" fmla="*/ 4 h 5"/>
                  <a:gd name="T10" fmla="*/ 0 w 4"/>
                  <a:gd name="T11" fmla="*/ 5 h 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 h="5">
                    <a:moveTo>
                      <a:pt x="4" y="0"/>
                    </a:moveTo>
                    <a:lnTo>
                      <a:pt x="4" y="0"/>
                    </a:lnTo>
                    <a:lnTo>
                      <a:pt x="2" y="2"/>
                    </a:lnTo>
                    <a:lnTo>
                      <a:pt x="2" y="4"/>
                    </a:lnTo>
                    <a:lnTo>
                      <a:pt x="0" y="5"/>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47" name="Line 1252"/>
              <p:cNvSpPr>
                <a:spLocks noChangeShapeType="1"/>
              </p:cNvSpPr>
              <p:nvPr userDrawn="1"/>
            </p:nvSpPr>
            <p:spPr bwMode="gray">
              <a:xfrm>
                <a:off x="3410" y="1153"/>
                <a:ext cx="209"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48" name="Freeform 1253"/>
              <p:cNvSpPr>
                <a:spLocks/>
              </p:cNvSpPr>
              <p:nvPr userDrawn="1"/>
            </p:nvSpPr>
            <p:spPr bwMode="gray">
              <a:xfrm>
                <a:off x="3610" y="1210"/>
                <a:ext cx="7" cy="9"/>
              </a:xfrm>
              <a:custGeom>
                <a:avLst/>
                <a:gdLst>
                  <a:gd name="T0" fmla="*/ 7 w 7"/>
                  <a:gd name="T1" fmla="*/ 9 h 9"/>
                  <a:gd name="T2" fmla="*/ 7 w 7"/>
                  <a:gd name="T3" fmla="*/ 6 h 9"/>
                  <a:gd name="T4" fmla="*/ 5 w 7"/>
                  <a:gd name="T5" fmla="*/ 4 h 9"/>
                  <a:gd name="T6" fmla="*/ 5 w 7"/>
                  <a:gd name="T7" fmla="*/ 2 h 9"/>
                  <a:gd name="T8" fmla="*/ 1 w 7"/>
                  <a:gd name="T9" fmla="*/ 0 h 9"/>
                  <a:gd name="T10" fmla="*/ 0 w 7"/>
                  <a:gd name="T11" fmla="*/ 2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7" y="9"/>
                    </a:moveTo>
                    <a:lnTo>
                      <a:pt x="7" y="6"/>
                    </a:lnTo>
                    <a:lnTo>
                      <a:pt x="5" y="4"/>
                    </a:lnTo>
                    <a:lnTo>
                      <a:pt x="5" y="2"/>
                    </a:lnTo>
                    <a:lnTo>
                      <a:pt x="1"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49" name="Freeform 1254"/>
              <p:cNvSpPr>
                <a:spLocks/>
              </p:cNvSpPr>
              <p:nvPr userDrawn="1"/>
            </p:nvSpPr>
            <p:spPr bwMode="gray">
              <a:xfrm>
                <a:off x="3613" y="1327"/>
                <a:ext cx="5" cy="7"/>
              </a:xfrm>
              <a:custGeom>
                <a:avLst/>
                <a:gdLst>
                  <a:gd name="T0" fmla="*/ 4 w 5"/>
                  <a:gd name="T1" fmla="*/ 7 h 7"/>
                  <a:gd name="T2" fmla="*/ 5 w 5"/>
                  <a:gd name="T3" fmla="*/ 6 h 7"/>
                  <a:gd name="T4" fmla="*/ 5 w 5"/>
                  <a:gd name="T5" fmla="*/ 4 h 7"/>
                  <a:gd name="T6" fmla="*/ 4 w 5"/>
                  <a:gd name="T7" fmla="*/ 2 h 7"/>
                  <a:gd name="T8" fmla="*/ 2 w 5"/>
                  <a:gd name="T9" fmla="*/ 2 h 7"/>
                  <a:gd name="T10" fmla="*/ 0 w 5"/>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7">
                    <a:moveTo>
                      <a:pt x="4" y="7"/>
                    </a:moveTo>
                    <a:lnTo>
                      <a:pt x="5" y="6"/>
                    </a:lnTo>
                    <a:lnTo>
                      <a:pt x="5" y="4"/>
                    </a:lnTo>
                    <a:lnTo>
                      <a:pt x="4" y="2"/>
                    </a:lnTo>
                    <a:lnTo>
                      <a:pt x="2"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50" name="Line 1255"/>
              <p:cNvSpPr>
                <a:spLocks noChangeShapeType="1"/>
              </p:cNvSpPr>
              <p:nvPr userDrawn="1"/>
            </p:nvSpPr>
            <p:spPr bwMode="gray">
              <a:xfrm flipV="1">
                <a:off x="3618" y="1222"/>
                <a:ext cx="4" cy="13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51" name="Line 1256"/>
              <p:cNvSpPr>
                <a:spLocks noChangeShapeType="1"/>
              </p:cNvSpPr>
              <p:nvPr userDrawn="1"/>
            </p:nvSpPr>
            <p:spPr bwMode="gray">
              <a:xfrm flipV="1">
                <a:off x="3615" y="1228"/>
                <a:ext cx="5" cy="12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52" name="Freeform 1257"/>
              <p:cNvSpPr>
                <a:spLocks/>
              </p:cNvSpPr>
              <p:nvPr userDrawn="1"/>
            </p:nvSpPr>
            <p:spPr bwMode="gray">
              <a:xfrm>
                <a:off x="3618" y="1219"/>
                <a:ext cx="4" cy="9"/>
              </a:xfrm>
              <a:custGeom>
                <a:avLst/>
                <a:gdLst>
                  <a:gd name="T0" fmla="*/ 3 w 5"/>
                  <a:gd name="T1" fmla="*/ 9 h 9"/>
                  <a:gd name="T2" fmla="*/ 5 w 5"/>
                  <a:gd name="T3" fmla="*/ 7 h 9"/>
                  <a:gd name="T4" fmla="*/ 5 w 5"/>
                  <a:gd name="T5" fmla="*/ 5 h 9"/>
                  <a:gd name="T6" fmla="*/ 3 w 5"/>
                  <a:gd name="T7" fmla="*/ 4 h 9"/>
                  <a:gd name="T8" fmla="*/ 1 w 5"/>
                  <a:gd name="T9" fmla="*/ 2 h 9"/>
                  <a:gd name="T10" fmla="*/ 0 w 5"/>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9">
                    <a:moveTo>
                      <a:pt x="3" y="9"/>
                    </a:moveTo>
                    <a:lnTo>
                      <a:pt x="5" y="7"/>
                    </a:lnTo>
                    <a:lnTo>
                      <a:pt x="5" y="5"/>
                    </a:lnTo>
                    <a:lnTo>
                      <a:pt x="3" y="4"/>
                    </a:lnTo>
                    <a:lnTo>
                      <a:pt x="1"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53" name="Line 1258"/>
              <p:cNvSpPr>
                <a:spLocks noChangeShapeType="1"/>
              </p:cNvSpPr>
              <p:nvPr userDrawn="1"/>
            </p:nvSpPr>
            <p:spPr bwMode="gray">
              <a:xfrm flipH="1">
                <a:off x="3611" y="1219"/>
                <a:ext cx="6" cy="13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54" name="Freeform 1259"/>
              <p:cNvSpPr>
                <a:spLocks/>
              </p:cNvSpPr>
              <p:nvPr userDrawn="1"/>
            </p:nvSpPr>
            <p:spPr bwMode="gray">
              <a:xfrm>
                <a:off x="2816" y="1205"/>
                <a:ext cx="22" cy="4"/>
              </a:xfrm>
              <a:custGeom>
                <a:avLst/>
                <a:gdLst>
                  <a:gd name="T0" fmla="*/ 19 w 19"/>
                  <a:gd name="T1" fmla="*/ 0 h 2"/>
                  <a:gd name="T2" fmla="*/ 14 w 19"/>
                  <a:gd name="T3" fmla="*/ 2 h 2"/>
                  <a:gd name="T4" fmla="*/ 10 w 19"/>
                  <a:gd name="T5" fmla="*/ 2 h 2"/>
                  <a:gd name="T6" fmla="*/ 5 w 19"/>
                  <a:gd name="T7" fmla="*/ 2 h 2"/>
                  <a:gd name="T8" fmla="*/ 0 w 19"/>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
                    <a:moveTo>
                      <a:pt x="19" y="0"/>
                    </a:moveTo>
                    <a:lnTo>
                      <a:pt x="14" y="2"/>
                    </a:lnTo>
                    <a:lnTo>
                      <a:pt x="10" y="2"/>
                    </a:lnTo>
                    <a:lnTo>
                      <a:pt x="5" y="2"/>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55" name="Line 1260"/>
              <p:cNvSpPr>
                <a:spLocks noChangeShapeType="1"/>
              </p:cNvSpPr>
              <p:nvPr userDrawn="1"/>
            </p:nvSpPr>
            <p:spPr bwMode="gray">
              <a:xfrm flipV="1">
                <a:off x="2828" y="1202"/>
                <a:ext cx="1" cy="11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56" name="Line 1261"/>
              <p:cNvSpPr>
                <a:spLocks noChangeShapeType="1"/>
              </p:cNvSpPr>
              <p:nvPr userDrawn="1"/>
            </p:nvSpPr>
            <p:spPr bwMode="gray">
              <a:xfrm flipV="1">
                <a:off x="2836" y="1196"/>
                <a:ext cx="1" cy="11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57" name="Line 1262"/>
              <p:cNvSpPr>
                <a:spLocks noChangeShapeType="1"/>
              </p:cNvSpPr>
              <p:nvPr userDrawn="1"/>
            </p:nvSpPr>
            <p:spPr bwMode="gray">
              <a:xfrm>
                <a:off x="2816" y="1205"/>
                <a:ext cx="4" cy="10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58" name="Freeform 1263"/>
              <p:cNvSpPr>
                <a:spLocks/>
              </p:cNvSpPr>
              <p:nvPr userDrawn="1"/>
            </p:nvSpPr>
            <p:spPr bwMode="gray">
              <a:xfrm>
                <a:off x="2816" y="1314"/>
                <a:ext cx="22" cy="3"/>
              </a:xfrm>
              <a:custGeom>
                <a:avLst/>
                <a:gdLst>
                  <a:gd name="T0" fmla="*/ 19 w 19"/>
                  <a:gd name="T1" fmla="*/ 0 h 3"/>
                  <a:gd name="T2" fmla="*/ 12 w 19"/>
                  <a:gd name="T3" fmla="*/ 3 h 3"/>
                  <a:gd name="T4" fmla="*/ 7 w 19"/>
                  <a:gd name="T5" fmla="*/ 3 h 3"/>
                  <a:gd name="T6" fmla="*/ 0 w 19"/>
                  <a:gd name="T7" fmla="*/ 1 h 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3">
                    <a:moveTo>
                      <a:pt x="19" y="0"/>
                    </a:moveTo>
                    <a:lnTo>
                      <a:pt x="12" y="3"/>
                    </a:lnTo>
                    <a:lnTo>
                      <a:pt x="7" y="3"/>
                    </a:lnTo>
                    <a:lnTo>
                      <a:pt x="0" y="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59" name="Freeform 1264"/>
              <p:cNvSpPr>
                <a:spLocks/>
              </p:cNvSpPr>
              <p:nvPr userDrawn="1"/>
            </p:nvSpPr>
            <p:spPr bwMode="gray">
              <a:xfrm>
                <a:off x="2819" y="1214"/>
                <a:ext cx="20" cy="2"/>
              </a:xfrm>
              <a:custGeom>
                <a:avLst/>
                <a:gdLst>
                  <a:gd name="T0" fmla="*/ 20 w 20"/>
                  <a:gd name="T1" fmla="*/ 2 h 2"/>
                  <a:gd name="T2" fmla="*/ 14 w 20"/>
                  <a:gd name="T3" fmla="*/ 0 h 2"/>
                  <a:gd name="T4" fmla="*/ 9 w 20"/>
                  <a:gd name="T5" fmla="*/ 0 h 2"/>
                  <a:gd name="T6" fmla="*/ 6 w 20"/>
                  <a:gd name="T7" fmla="*/ 0 h 2"/>
                  <a:gd name="T8" fmla="*/ 0 w 20"/>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2">
                    <a:moveTo>
                      <a:pt x="20" y="2"/>
                    </a:moveTo>
                    <a:lnTo>
                      <a:pt x="14" y="0"/>
                    </a:lnTo>
                    <a:lnTo>
                      <a:pt x="9" y="0"/>
                    </a:lnTo>
                    <a:lnTo>
                      <a:pt x="6"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60" name="Line 1265"/>
              <p:cNvSpPr>
                <a:spLocks noChangeShapeType="1"/>
              </p:cNvSpPr>
              <p:nvPr userDrawn="1"/>
            </p:nvSpPr>
            <p:spPr bwMode="gray">
              <a:xfrm>
                <a:off x="2828" y="1202"/>
                <a:ext cx="1" cy="11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61" name="Line 1266"/>
              <p:cNvSpPr>
                <a:spLocks noChangeShapeType="1"/>
              </p:cNvSpPr>
              <p:nvPr userDrawn="1"/>
            </p:nvSpPr>
            <p:spPr bwMode="gray">
              <a:xfrm>
                <a:off x="2837" y="1196"/>
                <a:ext cx="1" cy="12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62" name="Freeform 1267"/>
              <p:cNvSpPr>
                <a:spLocks/>
              </p:cNvSpPr>
              <p:nvPr userDrawn="1"/>
            </p:nvSpPr>
            <p:spPr bwMode="gray">
              <a:xfrm>
                <a:off x="2819" y="1321"/>
                <a:ext cx="20" cy="1"/>
              </a:xfrm>
              <a:custGeom>
                <a:avLst/>
                <a:gdLst>
                  <a:gd name="T0" fmla="*/ 20 w 20"/>
                  <a:gd name="T1" fmla="*/ 1 h 1"/>
                  <a:gd name="T2" fmla="*/ 13 w 20"/>
                  <a:gd name="T3" fmla="*/ 0 h 1"/>
                  <a:gd name="T4" fmla="*/ 7 w 20"/>
                  <a:gd name="T5" fmla="*/ 0 h 1"/>
                  <a:gd name="T6" fmla="*/ 0 w 20"/>
                  <a:gd name="T7" fmla="*/ 1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
                    <a:moveTo>
                      <a:pt x="20" y="1"/>
                    </a:moveTo>
                    <a:lnTo>
                      <a:pt x="13" y="0"/>
                    </a:lnTo>
                    <a:lnTo>
                      <a:pt x="7" y="0"/>
                    </a:lnTo>
                    <a:lnTo>
                      <a:pt x="0" y="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63" name="Line 1268"/>
              <p:cNvSpPr>
                <a:spLocks noChangeShapeType="1"/>
              </p:cNvSpPr>
              <p:nvPr userDrawn="1"/>
            </p:nvSpPr>
            <p:spPr bwMode="gray">
              <a:xfrm flipV="1">
                <a:off x="2819" y="1205"/>
                <a:ext cx="1" cy="11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64" name="Freeform 1269"/>
              <p:cNvSpPr>
                <a:spLocks/>
              </p:cNvSpPr>
              <p:nvPr userDrawn="1"/>
            </p:nvSpPr>
            <p:spPr bwMode="gray">
              <a:xfrm>
                <a:off x="3038" y="1515"/>
                <a:ext cx="5" cy="8"/>
              </a:xfrm>
              <a:custGeom>
                <a:avLst/>
                <a:gdLst>
                  <a:gd name="T0" fmla="*/ 3 w 5"/>
                  <a:gd name="T1" fmla="*/ 0 h 8"/>
                  <a:gd name="T2" fmla="*/ 0 w 5"/>
                  <a:gd name="T3" fmla="*/ 1 h 8"/>
                  <a:gd name="T4" fmla="*/ 0 w 5"/>
                  <a:gd name="T5" fmla="*/ 3 h 8"/>
                  <a:gd name="T6" fmla="*/ 1 w 5"/>
                  <a:gd name="T7" fmla="*/ 7 h 8"/>
                  <a:gd name="T8" fmla="*/ 5 w 5"/>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8">
                    <a:moveTo>
                      <a:pt x="3" y="0"/>
                    </a:moveTo>
                    <a:lnTo>
                      <a:pt x="0" y="1"/>
                    </a:lnTo>
                    <a:lnTo>
                      <a:pt x="0" y="3"/>
                    </a:lnTo>
                    <a:lnTo>
                      <a:pt x="1" y="7"/>
                    </a:lnTo>
                    <a:lnTo>
                      <a:pt x="5"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65" name="Line 1270"/>
              <p:cNvSpPr>
                <a:spLocks noChangeShapeType="1"/>
              </p:cNvSpPr>
              <p:nvPr userDrawn="1"/>
            </p:nvSpPr>
            <p:spPr bwMode="gray">
              <a:xfrm flipH="1">
                <a:off x="3038" y="1405"/>
                <a:ext cx="1" cy="15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66" name="Line 1271"/>
              <p:cNvSpPr>
                <a:spLocks noChangeShapeType="1"/>
              </p:cNvSpPr>
              <p:nvPr userDrawn="1"/>
            </p:nvSpPr>
            <p:spPr bwMode="gray">
              <a:xfrm flipH="1">
                <a:off x="3039" y="1408"/>
                <a:ext cx="2" cy="14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67" name="Line 1272"/>
              <p:cNvSpPr>
                <a:spLocks noChangeShapeType="1"/>
              </p:cNvSpPr>
              <p:nvPr userDrawn="1"/>
            </p:nvSpPr>
            <p:spPr bwMode="gray">
              <a:xfrm flipV="1">
                <a:off x="3045" y="1405"/>
                <a:ext cx="2" cy="1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68" name="Freeform 1273"/>
              <p:cNvSpPr>
                <a:spLocks/>
              </p:cNvSpPr>
              <p:nvPr userDrawn="1"/>
            </p:nvSpPr>
            <p:spPr bwMode="gray">
              <a:xfrm>
                <a:off x="3039" y="1405"/>
                <a:ext cx="6" cy="4"/>
              </a:xfrm>
              <a:custGeom>
                <a:avLst/>
                <a:gdLst>
                  <a:gd name="T0" fmla="*/ 2 w 6"/>
                  <a:gd name="T1" fmla="*/ 3 h 3"/>
                  <a:gd name="T2" fmla="*/ 0 w 6"/>
                  <a:gd name="T3" fmla="*/ 3 h 3"/>
                  <a:gd name="T4" fmla="*/ 0 w 6"/>
                  <a:gd name="T5" fmla="*/ 1 h 3"/>
                  <a:gd name="T6" fmla="*/ 0 w 6"/>
                  <a:gd name="T7" fmla="*/ 1 h 3"/>
                  <a:gd name="T8" fmla="*/ 2 w 6"/>
                  <a:gd name="T9" fmla="*/ 0 h 3"/>
                  <a:gd name="T10" fmla="*/ 6 w 6"/>
                  <a:gd name="T11" fmla="*/ 0 h 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3">
                    <a:moveTo>
                      <a:pt x="2" y="3"/>
                    </a:moveTo>
                    <a:lnTo>
                      <a:pt x="0" y="3"/>
                    </a:lnTo>
                    <a:lnTo>
                      <a:pt x="0" y="1"/>
                    </a:lnTo>
                    <a:lnTo>
                      <a:pt x="2" y="0"/>
                    </a:lnTo>
                    <a:lnTo>
                      <a:pt x="6"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69" name="Freeform 1274"/>
              <p:cNvSpPr>
                <a:spLocks/>
              </p:cNvSpPr>
              <p:nvPr userDrawn="1"/>
            </p:nvSpPr>
            <p:spPr bwMode="gray">
              <a:xfrm>
                <a:off x="3193" y="847"/>
                <a:ext cx="17" cy="1"/>
              </a:xfrm>
              <a:custGeom>
                <a:avLst/>
                <a:gdLst>
                  <a:gd name="T0" fmla="*/ 0 w 17"/>
                  <a:gd name="T1" fmla="*/ 1 h 1"/>
                  <a:gd name="T2" fmla="*/ 5 w 17"/>
                  <a:gd name="T3" fmla="*/ 0 h 1"/>
                  <a:gd name="T4" fmla="*/ 12 w 17"/>
                  <a:gd name="T5" fmla="*/ 0 h 1"/>
                  <a:gd name="T6" fmla="*/ 17 w 17"/>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
                    <a:moveTo>
                      <a:pt x="0" y="1"/>
                    </a:moveTo>
                    <a:lnTo>
                      <a:pt x="5" y="0"/>
                    </a:lnTo>
                    <a:lnTo>
                      <a:pt x="12" y="0"/>
                    </a:lnTo>
                    <a:lnTo>
                      <a:pt x="17"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70" name="Line 1275"/>
              <p:cNvSpPr>
                <a:spLocks noChangeShapeType="1"/>
              </p:cNvSpPr>
              <p:nvPr userDrawn="1"/>
            </p:nvSpPr>
            <p:spPr bwMode="gray">
              <a:xfrm flipH="1">
                <a:off x="3185" y="840"/>
                <a:ext cx="10" cy="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71" name="Line 1276"/>
              <p:cNvSpPr>
                <a:spLocks noChangeShapeType="1"/>
              </p:cNvSpPr>
              <p:nvPr userDrawn="1"/>
            </p:nvSpPr>
            <p:spPr bwMode="gray">
              <a:xfrm flipV="1">
                <a:off x="3188" y="840"/>
                <a:ext cx="14" cy="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72" name="Freeform 1277"/>
              <p:cNvSpPr>
                <a:spLocks/>
              </p:cNvSpPr>
              <p:nvPr userDrawn="1"/>
            </p:nvSpPr>
            <p:spPr bwMode="gray">
              <a:xfrm>
                <a:off x="3193" y="840"/>
                <a:ext cx="10" cy="8"/>
              </a:xfrm>
              <a:custGeom>
                <a:avLst/>
                <a:gdLst>
                  <a:gd name="T0" fmla="*/ 10 w 10"/>
                  <a:gd name="T1" fmla="*/ 0 h 8"/>
                  <a:gd name="T2" fmla="*/ 5 w 10"/>
                  <a:gd name="T3" fmla="*/ 0 h 8"/>
                  <a:gd name="T4" fmla="*/ 1 w 10"/>
                  <a:gd name="T5" fmla="*/ 1 h 8"/>
                  <a:gd name="T6" fmla="*/ 0 w 10"/>
                  <a:gd name="T7" fmla="*/ 3 h 8"/>
                  <a:gd name="T8" fmla="*/ 0 w 10"/>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8">
                    <a:moveTo>
                      <a:pt x="10" y="0"/>
                    </a:moveTo>
                    <a:lnTo>
                      <a:pt x="5" y="0"/>
                    </a:lnTo>
                    <a:lnTo>
                      <a:pt x="1" y="1"/>
                    </a:lnTo>
                    <a:lnTo>
                      <a:pt x="0" y="3"/>
                    </a:lnTo>
                    <a:lnTo>
                      <a:pt x="0"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73" name="Freeform 1278"/>
              <p:cNvSpPr>
                <a:spLocks/>
              </p:cNvSpPr>
              <p:nvPr userDrawn="1"/>
            </p:nvSpPr>
            <p:spPr bwMode="gray">
              <a:xfrm>
                <a:off x="3401" y="1013"/>
                <a:ext cx="4" cy="7"/>
              </a:xfrm>
              <a:custGeom>
                <a:avLst/>
                <a:gdLst>
                  <a:gd name="T0" fmla="*/ 2 w 6"/>
                  <a:gd name="T1" fmla="*/ 7 h 7"/>
                  <a:gd name="T2" fmla="*/ 6 w 6"/>
                  <a:gd name="T3" fmla="*/ 7 h 7"/>
                  <a:gd name="T4" fmla="*/ 6 w 6"/>
                  <a:gd name="T5" fmla="*/ 6 h 7"/>
                  <a:gd name="T6" fmla="*/ 4 w 6"/>
                  <a:gd name="T7" fmla="*/ 4 h 7"/>
                  <a:gd name="T8" fmla="*/ 2 w 6"/>
                  <a:gd name="T9" fmla="*/ 2 h 7"/>
                  <a:gd name="T10" fmla="*/ 0 w 6"/>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7">
                    <a:moveTo>
                      <a:pt x="2" y="7"/>
                    </a:moveTo>
                    <a:lnTo>
                      <a:pt x="6" y="7"/>
                    </a:lnTo>
                    <a:lnTo>
                      <a:pt x="6" y="6"/>
                    </a:lnTo>
                    <a:lnTo>
                      <a:pt x="4" y="4"/>
                    </a:lnTo>
                    <a:lnTo>
                      <a:pt x="2"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74" name="Line 1279"/>
              <p:cNvSpPr>
                <a:spLocks noChangeShapeType="1"/>
              </p:cNvSpPr>
              <p:nvPr userDrawn="1"/>
            </p:nvSpPr>
            <p:spPr bwMode="gray">
              <a:xfrm flipV="1">
                <a:off x="3403" y="909"/>
                <a:ext cx="5" cy="22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75" name="Line 1280"/>
              <p:cNvSpPr>
                <a:spLocks noChangeShapeType="1"/>
              </p:cNvSpPr>
              <p:nvPr userDrawn="1"/>
            </p:nvSpPr>
            <p:spPr bwMode="gray">
              <a:xfrm flipV="1">
                <a:off x="3401" y="913"/>
                <a:ext cx="4" cy="22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76" name="Freeform 1281"/>
              <p:cNvSpPr>
                <a:spLocks/>
              </p:cNvSpPr>
              <p:nvPr userDrawn="1"/>
            </p:nvSpPr>
            <p:spPr bwMode="gray">
              <a:xfrm>
                <a:off x="3403" y="906"/>
                <a:ext cx="5" cy="7"/>
              </a:xfrm>
              <a:custGeom>
                <a:avLst/>
                <a:gdLst>
                  <a:gd name="T0" fmla="*/ 4 w 5"/>
                  <a:gd name="T1" fmla="*/ 7 h 7"/>
                  <a:gd name="T2" fmla="*/ 5 w 5"/>
                  <a:gd name="T3" fmla="*/ 5 h 7"/>
                  <a:gd name="T4" fmla="*/ 5 w 5"/>
                  <a:gd name="T5" fmla="*/ 4 h 7"/>
                  <a:gd name="T6" fmla="*/ 5 w 5"/>
                  <a:gd name="T7" fmla="*/ 2 h 7"/>
                  <a:gd name="T8" fmla="*/ 4 w 5"/>
                  <a:gd name="T9" fmla="*/ 0 h 7"/>
                  <a:gd name="T10" fmla="*/ 0 w 5"/>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7">
                    <a:moveTo>
                      <a:pt x="4" y="7"/>
                    </a:moveTo>
                    <a:lnTo>
                      <a:pt x="5" y="5"/>
                    </a:lnTo>
                    <a:lnTo>
                      <a:pt x="5" y="4"/>
                    </a:lnTo>
                    <a:lnTo>
                      <a:pt x="5" y="2"/>
                    </a:lnTo>
                    <a:lnTo>
                      <a:pt x="4" y="0"/>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77" name="Line 1282"/>
              <p:cNvSpPr>
                <a:spLocks noChangeShapeType="1"/>
              </p:cNvSpPr>
              <p:nvPr userDrawn="1"/>
            </p:nvSpPr>
            <p:spPr bwMode="gray">
              <a:xfrm flipH="1">
                <a:off x="3398" y="906"/>
                <a:ext cx="5" cy="23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78" name="Freeform 1283"/>
              <p:cNvSpPr>
                <a:spLocks/>
              </p:cNvSpPr>
              <p:nvPr userDrawn="1"/>
            </p:nvSpPr>
            <p:spPr bwMode="gray">
              <a:xfrm>
                <a:off x="3398" y="1133"/>
                <a:ext cx="5" cy="6"/>
              </a:xfrm>
              <a:custGeom>
                <a:avLst/>
                <a:gdLst>
                  <a:gd name="T0" fmla="*/ 3 w 5"/>
                  <a:gd name="T1" fmla="*/ 0 h 6"/>
                  <a:gd name="T2" fmla="*/ 5 w 5"/>
                  <a:gd name="T3" fmla="*/ 2 h 6"/>
                  <a:gd name="T4" fmla="*/ 5 w 5"/>
                  <a:gd name="T5" fmla="*/ 2 h 6"/>
                  <a:gd name="T6" fmla="*/ 5 w 5"/>
                  <a:gd name="T7" fmla="*/ 4 h 6"/>
                  <a:gd name="T8" fmla="*/ 2 w 5"/>
                  <a:gd name="T9" fmla="*/ 4 h 6"/>
                  <a:gd name="T10" fmla="*/ 0 w 5"/>
                  <a:gd name="T11" fmla="*/ 6 h 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6">
                    <a:moveTo>
                      <a:pt x="3" y="0"/>
                    </a:moveTo>
                    <a:lnTo>
                      <a:pt x="5" y="2"/>
                    </a:lnTo>
                    <a:lnTo>
                      <a:pt x="5" y="4"/>
                    </a:lnTo>
                    <a:lnTo>
                      <a:pt x="2" y="4"/>
                    </a:lnTo>
                    <a:lnTo>
                      <a:pt x="0" y="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79" name="Freeform 1284"/>
              <p:cNvSpPr>
                <a:spLocks/>
              </p:cNvSpPr>
              <p:nvPr userDrawn="1"/>
            </p:nvSpPr>
            <p:spPr bwMode="gray">
              <a:xfrm>
                <a:off x="3324" y="935"/>
                <a:ext cx="11" cy="16"/>
              </a:xfrm>
              <a:custGeom>
                <a:avLst/>
                <a:gdLst>
                  <a:gd name="T0" fmla="*/ 11 w 11"/>
                  <a:gd name="T1" fmla="*/ 16 h 16"/>
                  <a:gd name="T2" fmla="*/ 11 w 11"/>
                  <a:gd name="T3" fmla="*/ 10 h 16"/>
                  <a:gd name="T4" fmla="*/ 9 w 11"/>
                  <a:gd name="T5" fmla="*/ 5 h 16"/>
                  <a:gd name="T6" fmla="*/ 6 w 11"/>
                  <a:gd name="T7" fmla="*/ 2 h 16"/>
                  <a:gd name="T8" fmla="*/ 0 w 11"/>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11" y="16"/>
                    </a:moveTo>
                    <a:lnTo>
                      <a:pt x="11" y="10"/>
                    </a:lnTo>
                    <a:lnTo>
                      <a:pt x="9" y="5"/>
                    </a:lnTo>
                    <a:lnTo>
                      <a:pt x="6"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80" name="Line 1285"/>
              <p:cNvSpPr>
                <a:spLocks noChangeShapeType="1"/>
              </p:cNvSpPr>
              <p:nvPr userDrawn="1"/>
            </p:nvSpPr>
            <p:spPr bwMode="gray">
              <a:xfrm flipH="1">
                <a:off x="3314" y="904"/>
                <a:ext cx="91" cy="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81" name="Line 1286"/>
              <p:cNvSpPr>
                <a:spLocks noChangeShapeType="1"/>
              </p:cNvSpPr>
              <p:nvPr userDrawn="1"/>
            </p:nvSpPr>
            <p:spPr bwMode="gray">
              <a:xfrm flipH="1">
                <a:off x="3314" y="913"/>
                <a:ext cx="91" cy="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82" name="Line 1287"/>
              <p:cNvSpPr>
                <a:spLocks noChangeShapeType="1"/>
              </p:cNvSpPr>
              <p:nvPr userDrawn="1"/>
            </p:nvSpPr>
            <p:spPr bwMode="gray">
              <a:xfrm flipV="1">
                <a:off x="3314" y="897"/>
                <a:ext cx="82" cy="4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83" name="Freeform 1288"/>
              <p:cNvSpPr>
                <a:spLocks/>
              </p:cNvSpPr>
              <p:nvPr userDrawn="1"/>
            </p:nvSpPr>
            <p:spPr bwMode="gray">
              <a:xfrm>
                <a:off x="3396" y="897"/>
                <a:ext cx="11" cy="16"/>
              </a:xfrm>
              <a:custGeom>
                <a:avLst/>
                <a:gdLst>
                  <a:gd name="T0" fmla="*/ 0 w 11"/>
                  <a:gd name="T1" fmla="*/ 0 h 16"/>
                  <a:gd name="T2" fmla="*/ 4 w 11"/>
                  <a:gd name="T3" fmla="*/ 4 h 16"/>
                  <a:gd name="T4" fmla="*/ 7 w 11"/>
                  <a:gd name="T5" fmla="*/ 7 h 16"/>
                  <a:gd name="T6" fmla="*/ 11 w 11"/>
                  <a:gd name="T7" fmla="*/ 11 h 16"/>
                  <a:gd name="T8" fmla="*/ 11 w 11"/>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0" y="0"/>
                    </a:moveTo>
                    <a:lnTo>
                      <a:pt x="4" y="4"/>
                    </a:lnTo>
                    <a:lnTo>
                      <a:pt x="7" y="7"/>
                    </a:lnTo>
                    <a:lnTo>
                      <a:pt x="11" y="11"/>
                    </a:lnTo>
                    <a:lnTo>
                      <a:pt x="11"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84" name="Freeform 1289"/>
              <p:cNvSpPr>
                <a:spLocks/>
              </p:cNvSpPr>
              <p:nvPr userDrawn="1"/>
            </p:nvSpPr>
            <p:spPr bwMode="gray">
              <a:xfrm>
                <a:off x="3298" y="866"/>
                <a:ext cx="9" cy="8"/>
              </a:xfrm>
              <a:custGeom>
                <a:avLst/>
                <a:gdLst>
                  <a:gd name="T0" fmla="*/ 9 w 9"/>
                  <a:gd name="T1" fmla="*/ 8 h 8"/>
                  <a:gd name="T2" fmla="*/ 7 w 9"/>
                  <a:gd name="T3" fmla="*/ 5 h 8"/>
                  <a:gd name="T4" fmla="*/ 5 w 9"/>
                  <a:gd name="T5" fmla="*/ 1 h 8"/>
                  <a:gd name="T6" fmla="*/ 4 w 9"/>
                  <a:gd name="T7" fmla="*/ 0 h 8"/>
                  <a:gd name="T8" fmla="*/ 0 w 9"/>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8">
                    <a:moveTo>
                      <a:pt x="9" y="8"/>
                    </a:moveTo>
                    <a:lnTo>
                      <a:pt x="7" y="5"/>
                    </a:lnTo>
                    <a:lnTo>
                      <a:pt x="5" y="1"/>
                    </a:lnTo>
                    <a:lnTo>
                      <a:pt x="4" y="0"/>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85" name="Line 1290"/>
              <p:cNvSpPr>
                <a:spLocks noChangeShapeType="1"/>
              </p:cNvSpPr>
              <p:nvPr userDrawn="1"/>
            </p:nvSpPr>
            <p:spPr bwMode="gray">
              <a:xfrm>
                <a:off x="3207" y="840"/>
                <a:ext cx="195" cy="5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86" name="Line 1291"/>
              <p:cNvSpPr>
                <a:spLocks noChangeShapeType="1"/>
              </p:cNvSpPr>
              <p:nvPr userDrawn="1"/>
            </p:nvSpPr>
            <p:spPr bwMode="gray">
              <a:xfrm>
                <a:off x="3210" y="847"/>
                <a:ext cx="194" cy="5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87" name="Freeform 1292"/>
              <p:cNvSpPr>
                <a:spLocks/>
              </p:cNvSpPr>
              <p:nvPr userDrawn="1"/>
            </p:nvSpPr>
            <p:spPr bwMode="gray">
              <a:xfrm>
                <a:off x="3396" y="897"/>
                <a:ext cx="7" cy="9"/>
              </a:xfrm>
              <a:custGeom>
                <a:avLst/>
                <a:gdLst>
                  <a:gd name="T0" fmla="*/ 7 w 7"/>
                  <a:gd name="T1" fmla="*/ 9 h 9"/>
                  <a:gd name="T2" fmla="*/ 7 w 7"/>
                  <a:gd name="T3" fmla="*/ 6 h 9"/>
                  <a:gd name="T4" fmla="*/ 7 w 7"/>
                  <a:gd name="T5" fmla="*/ 2 h 9"/>
                  <a:gd name="T6" fmla="*/ 5 w 7"/>
                  <a:gd name="T7" fmla="*/ 0 h 9"/>
                  <a:gd name="T8" fmla="*/ 4 w 7"/>
                  <a:gd name="T9" fmla="*/ 0 h 9"/>
                  <a:gd name="T10" fmla="*/ 0 w 7"/>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7" y="9"/>
                    </a:moveTo>
                    <a:lnTo>
                      <a:pt x="7" y="6"/>
                    </a:lnTo>
                    <a:lnTo>
                      <a:pt x="7" y="2"/>
                    </a:lnTo>
                    <a:lnTo>
                      <a:pt x="5" y="0"/>
                    </a:lnTo>
                    <a:lnTo>
                      <a:pt x="4" y="0"/>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88" name="Line 1293"/>
              <p:cNvSpPr>
                <a:spLocks noChangeShapeType="1"/>
              </p:cNvSpPr>
              <p:nvPr userDrawn="1"/>
            </p:nvSpPr>
            <p:spPr bwMode="gray">
              <a:xfrm flipH="1" flipV="1">
                <a:off x="3202" y="840"/>
                <a:ext cx="194" cy="5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89" name="Freeform 1294"/>
              <p:cNvSpPr>
                <a:spLocks/>
              </p:cNvSpPr>
              <p:nvPr userDrawn="1"/>
            </p:nvSpPr>
            <p:spPr bwMode="gray">
              <a:xfrm>
                <a:off x="3202" y="838"/>
                <a:ext cx="7" cy="9"/>
              </a:xfrm>
              <a:custGeom>
                <a:avLst/>
                <a:gdLst>
                  <a:gd name="T0" fmla="*/ 0 w 7"/>
                  <a:gd name="T1" fmla="*/ 2 h 9"/>
                  <a:gd name="T2" fmla="*/ 4 w 7"/>
                  <a:gd name="T3" fmla="*/ 0 h 9"/>
                  <a:gd name="T4" fmla="*/ 5 w 7"/>
                  <a:gd name="T5" fmla="*/ 2 h 9"/>
                  <a:gd name="T6" fmla="*/ 7 w 7"/>
                  <a:gd name="T7" fmla="*/ 3 h 9"/>
                  <a:gd name="T8" fmla="*/ 7 w 7"/>
                  <a:gd name="T9" fmla="*/ 7 h 9"/>
                  <a:gd name="T10" fmla="*/ 7 w 7"/>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0" y="2"/>
                    </a:moveTo>
                    <a:lnTo>
                      <a:pt x="4" y="0"/>
                    </a:lnTo>
                    <a:lnTo>
                      <a:pt x="5" y="2"/>
                    </a:lnTo>
                    <a:lnTo>
                      <a:pt x="7" y="3"/>
                    </a:lnTo>
                    <a:lnTo>
                      <a:pt x="7" y="7"/>
                    </a:lnTo>
                    <a:lnTo>
                      <a:pt x="7"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90" name="Freeform 1295"/>
              <p:cNvSpPr>
                <a:spLocks/>
              </p:cNvSpPr>
              <p:nvPr userDrawn="1"/>
            </p:nvSpPr>
            <p:spPr bwMode="gray">
              <a:xfrm>
                <a:off x="3345" y="1822"/>
                <a:ext cx="9" cy="8"/>
              </a:xfrm>
              <a:custGeom>
                <a:avLst/>
                <a:gdLst>
                  <a:gd name="T0" fmla="*/ 0 w 9"/>
                  <a:gd name="T1" fmla="*/ 0 h 8"/>
                  <a:gd name="T2" fmla="*/ 4 w 9"/>
                  <a:gd name="T3" fmla="*/ 0 h 8"/>
                  <a:gd name="T4" fmla="*/ 6 w 9"/>
                  <a:gd name="T5" fmla="*/ 0 h 8"/>
                  <a:gd name="T6" fmla="*/ 7 w 9"/>
                  <a:gd name="T7" fmla="*/ 1 h 8"/>
                  <a:gd name="T8" fmla="*/ 9 w 9"/>
                  <a:gd name="T9" fmla="*/ 5 h 8"/>
                  <a:gd name="T10" fmla="*/ 9 w 9"/>
                  <a:gd name="T11" fmla="*/ 8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8">
                    <a:moveTo>
                      <a:pt x="0" y="0"/>
                    </a:moveTo>
                    <a:lnTo>
                      <a:pt x="4" y="0"/>
                    </a:lnTo>
                    <a:lnTo>
                      <a:pt x="6" y="0"/>
                    </a:lnTo>
                    <a:lnTo>
                      <a:pt x="7" y="1"/>
                    </a:lnTo>
                    <a:lnTo>
                      <a:pt x="9" y="5"/>
                    </a:lnTo>
                    <a:lnTo>
                      <a:pt x="9"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91" name="Freeform 1296"/>
              <p:cNvSpPr>
                <a:spLocks/>
              </p:cNvSpPr>
              <p:nvPr userDrawn="1"/>
            </p:nvSpPr>
            <p:spPr bwMode="gray">
              <a:xfrm>
                <a:off x="2976" y="1826"/>
                <a:ext cx="11" cy="13"/>
              </a:xfrm>
              <a:custGeom>
                <a:avLst/>
                <a:gdLst>
                  <a:gd name="T0" fmla="*/ 11 w 11"/>
                  <a:gd name="T1" fmla="*/ 16 h 16"/>
                  <a:gd name="T2" fmla="*/ 7 w 11"/>
                  <a:gd name="T3" fmla="*/ 14 h 16"/>
                  <a:gd name="T4" fmla="*/ 4 w 11"/>
                  <a:gd name="T5" fmla="*/ 11 h 16"/>
                  <a:gd name="T6" fmla="*/ 0 w 11"/>
                  <a:gd name="T7" fmla="*/ 5 h 16"/>
                  <a:gd name="T8" fmla="*/ 0 w 11"/>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11" y="16"/>
                    </a:moveTo>
                    <a:lnTo>
                      <a:pt x="7" y="14"/>
                    </a:lnTo>
                    <a:lnTo>
                      <a:pt x="4" y="11"/>
                    </a:lnTo>
                    <a:lnTo>
                      <a:pt x="0"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92" name="Freeform 1297"/>
              <p:cNvSpPr>
                <a:spLocks/>
              </p:cNvSpPr>
              <p:nvPr userDrawn="1"/>
            </p:nvSpPr>
            <p:spPr bwMode="gray">
              <a:xfrm>
                <a:off x="3081" y="1873"/>
                <a:ext cx="9" cy="7"/>
              </a:xfrm>
              <a:custGeom>
                <a:avLst/>
                <a:gdLst>
                  <a:gd name="T0" fmla="*/ 9 w 9"/>
                  <a:gd name="T1" fmla="*/ 7 h 7"/>
                  <a:gd name="T2" fmla="*/ 7 w 9"/>
                  <a:gd name="T3" fmla="*/ 7 h 7"/>
                  <a:gd name="T4" fmla="*/ 4 w 9"/>
                  <a:gd name="T5" fmla="*/ 7 h 7"/>
                  <a:gd name="T6" fmla="*/ 2 w 9"/>
                  <a:gd name="T7" fmla="*/ 7 h 7"/>
                  <a:gd name="T8" fmla="*/ 0 w 9"/>
                  <a:gd name="T9" fmla="*/ 4 h 7"/>
                  <a:gd name="T10" fmla="*/ 0 w 9"/>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7">
                    <a:moveTo>
                      <a:pt x="9" y="7"/>
                    </a:moveTo>
                    <a:lnTo>
                      <a:pt x="7" y="7"/>
                    </a:lnTo>
                    <a:lnTo>
                      <a:pt x="4" y="7"/>
                    </a:lnTo>
                    <a:lnTo>
                      <a:pt x="2" y="7"/>
                    </a:lnTo>
                    <a:lnTo>
                      <a:pt x="0"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93" name="Line 1298"/>
              <p:cNvSpPr>
                <a:spLocks noChangeShapeType="1"/>
              </p:cNvSpPr>
              <p:nvPr userDrawn="1"/>
            </p:nvSpPr>
            <p:spPr bwMode="gray">
              <a:xfrm>
                <a:off x="2984" y="1840"/>
                <a:ext cx="204" cy="7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94" name="Line 1299"/>
              <p:cNvSpPr>
                <a:spLocks noChangeShapeType="1"/>
              </p:cNvSpPr>
              <p:nvPr userDrawn="1"/>
            </p:nvSpPr>
            <p:spPr bwMode="gray">
              <a:xfrm>
                <a:off x="2987" y="1840"/>
                <a:ext cx="206"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95" name="Freeform 1300"/>
              <p:cNvSpPr>
                <a:spLocks/>
              </p:cNvSpPr>
              <p:nvPr userDrawn="1"/>
            </p:nvSpPr>
            <p:spPr bwMode="gray">
              <a:xfrm>
                <a:off x="3185" y="1909"/>
                <a:ext cx="8" cy="9"/>
              </a:xfrm>
              <a:custGeom>
                <a:avLst/>
                <a:gdLst>
                  <a:gd name="T0" fmla="*/ 8 w 8"/>
                  <a:gd name="T1" fmla="*/ 7 h 9"/>
                  <a:gd name="T2" fmla="*/ 5 w 8"/>
                  <a:gd name="T3" fmla="*/ 9 h 9"/>
                  <a:gd name="T4" fmla="*/ 3 w 8"/>
                  <a:gd name="T5" fmla="*/ 9 h 9"/>
                  <a:gd name="T6" fmla="*/ 1 w 8"/>
                  <a:gd name="T7" fmla="*/ 7 h 9"/>
                  <a:gd name="T8" fmla="*/ 0 w 8"/>
                  <a:gd name="T9" fmla="*/ 3 h 9"/>
                  <a:gd name="T10" fmla="*/ 0 w 8"/>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9">
                    <a:moveTo>
                      <a:pt x="8" y="7"/>
                    </a:moveTo>
                    <a:lnTo>
                      <a:pt x="5" y="9"/>
                    </a:lnTo>
                    <a:lnTo>
                      <a:pt x="3" y="9"/>
                    </a:lnTo>
                    <a:lnTo>
                      <a:pt x="1" y="7"/>
                    </a:lnTo>
                    <a:lnTo>
                      <a:pt x="0" y="3"/>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96" name="Line 1301"/>
              <p:cNvSpPr>
                <a:spLocks noChangeShapeType="1"/>
              </p:cNvSpPr>
              <p:nvPr userDrawn="1"/>
            </p:nvSpPr>
            <p:spPr bwMode="gray">
              <a:xfrm flipH="1" flipV="1">
                <a:off x="2978" y="1835"/>
                <a:ext cx="207"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97" name="Freeform 1302"/>
              <p:cNvSpPr>
                <a:spLocks/>
              </p:cNvSpPr>
              <p:nvPr userDrawn="1"/>
            </p:nvSpPr>
            <p:spPr bwMode="gray">
              <a:xfrm>
                <a:off x="2978" y="1835"/>
                <a:ext cx="9" cy="9"/>
              </a:xfrm>
              <a:custGeom>
                <a:avLst/>
                <a:gdLst>
                  <a:gd name="T0" fmla="*/ 9 w 9"/>
                  <a:gd name="T1" fmla="*/ 7 h 9"/>
                  <a:gd name="T2" fmla="*/ 5 w 9"/>
                  <a:gd name="T3" fmla="*/ 9 h 9"/>
                  <a:gd name="T4" fmla="*/ 4 w 9"/>
                  <a:gd name="T5" fmla="*/ 9 h 9"/>
                  <a:gd name="T6" fmla="*/ 2 w 9"/>
                  <a:gd name="T7" fmla="*/ 7 h 9"/>
                  <a:gd name="T8" fmla="*/ 0 w 9"/>
                  <a:gd name="T9" fmla="*/ 3 h 9"/>
                  <a:gd name="T10" fmla="*/ 0 w 9"/>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9" y="7"/>
                    </a:moveTo>
                    <a:lnTo>
                      <a:pt x="5" y="9"/>
                    </a:lnTo>
                    <a:lnTo>
                      <a:pt x="4" y="9"/>
                    </a:lnTo>
                    <a:lnTo>
                      <a:pt x="2" y="7"/>
                    </a:lnTo>
                    <a:lnTo>
                      <a:pt x="0" y="3"/>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98" name="Freeform 1303"/>
              <p:cNvSpPr>
                <a:spLocks/>
              </p:cNvSpPr>
              <p:nvPr userDrawn="1"/>
            </p:nvSpPr>
            <p:spPr bwMode="gray">
              <a:xfrm>
                <a:off x="3290" y="1848"/>
                <a:ext cx="12" cy="10"/>
              </a:xfrm>
              <a:custGeom>
                <a:avLst/>
                <a:gdLst>
                  <a:gd name="T0" fmla="*/ 0 w 12"/>
                  <a:gd name="T1" fmla="*/ 8 h 10"/>
                  <a:gd name="T2" fmla="*/ 3 w 12"/>
                  <a:gd name="T3" fmla="*/ 10 h 10"/>
                  <a:gd name="T4" fmla="*/ 7 w 12"/>
                  <a:gd name="T5" fmla="*/ 8 h 10"/>
                  <a:gd name="T6" fmla="*/ 8 w 12"/>
                  <a:gd name="T7" fmla="*/ 8 h 10"/>
                  <a:gd name="T8" fmla="*/ 10 w 12"/>
                  <a:gd name="T9" fmla="*/ 5 h 10"/>
                  <a:gd name="T10" fmla="*/ 12 w 12"/>
                  <a:gd name="T11" fmla="*/ 3 h 10"/>
                  <a:gd name="T12" fmla="*/ 12 w 12"/>
                  <a:gd name="T13" fmla="*/ 0 h 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 h="10">
                    <a:moveTo>
                      <a:pt x="0" y="8"/>
                    </a:moveTo>
                    <a:lnTo>
                      <a:pt x="3" y="10"/>
                    </a:lnTo>
                    <a:lnTo>
                      <a:pt x="7" y="8"/>
                    </a:lnTo>
                    <a:lnTo>
                      <a:pt x="8" y="8"/>
                    </a:lnTo>
                    <a:lnTo>
                      <a:pt x="10" y="5"/>
                    </a:lnTo>
                    <a:lnTo>
                      <a:pt x="12" y="3"/>
                    </a:lnTo>
                    <a:lnTo>
                      <a:pt x="1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699" name="Line 1304"/>
              <p:cNvSpPr>
                <a:spLocks noChangeShapeType="1"/>
              </p:cNvSpPr>
              <p:nvPr userDrawn="1"/>
            </p:nvSpPr>
            <p:spPr bwMode="gray">
              <a:xfrm flipV="1">
                <a:off x="3202" y="1819"/>
                <a:ext cx="156" cy="9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00" name="Line 1305"/>
              <p:cNvSpPr>
                <a:spLocks noChangeShapeType="1"/>
              </p:cNvSpPr>
              <p:nvPr userDrawn="1"/>
            </p:nvSpPr>
            <p:spPr bwMode="gray">
              <a:xfrm flipV="1">
                <a:off x="3193" y="1822"/>
                <a:ext cx="152" cy="9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01" name="Freeform 1306"/>
              <p:cNvSpPr>
                <a:spLocks/>
              </p:cNvSpPr>
              <p:nvPr userDrawn="1"/>
            </p:nvSpPr>
            <p:spPr bwMode="gray">
              <a:xfrm>
                <a:off x="3345" y="1810"/>
                <a:ext cx="22" cy="13"/>
              </a:xfrm>
              <a:custGeom>
                <a:avLst/>
                <a:gdLst>
                  <a:gd name="T0" fmla="*/ 0 w 21"/>
                  <a:gd name="T1" fmla="*/ 13 h 13"/>
                  <a:gd name="T2" fmla="*/ 7 w 21"/>
                  <a:gd name="T3" fmla="*/ 13 h 13"/>
                  <a:gd name="T4" fmla="*/ 13 w 21"/>
                  <a:gd name="T5" fmla="*/ 9 h 13"/>
                  <a:gd name="T6" fmla="*/ 18 w 21"/>
                  <a:gd name="T7" fmla="*/ 6 h 13"/>
                  <a:gd name="T8" fmla="*/ 21 w 21"/>
                  <a:gd name="T9" fmla="*/ 0 h 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3">
                    <a:moveTo>
                      <a:pt x="0" y="13"/>
                    </a:moveTo>
                    <a:lnTo>
                      <a:pt x="7" y="13"/>
                    </a:lnTo>
                    <a:lnTo>
                      <a:pt x="13" y="9"/>
                    </a:lnTo>
                    <a:lnTo>
                      <a:pt x="18" y="6"/>
                    </a:lnTo>
                    <a:lnTo>
                      <a:pt x="2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02" name="Line 1307"/>
              <p:cNvSpPr>
                <a:spLocks noChangeShapeType="1"/>
              </p:cNvSpPr>
              <p:nvPr userDrawn="1"/>
            </p:nvSpPr>
            <p:spPr bwMode="gray">
              <a:xfrm flipH="1">
                <a:off x="3206" y="1810"/>
                <a:ext cx="161" cy="10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03" name="Freeform 1308"/>
              <p:cNvSpPr>
                <a:spLocks/>
              </p:cNvSpPr>
              <p:nvPr userDrawn="1"/>
            </p:nvSpPr>
            <p:spPr bwMode="gray">
              <a:xfrm>
                <a:off x="3193" y="1909"/>
                <a:ext cx="13" cy="9"/>
              </a:xfrm>
              <a:custGeom>
                <a:avLst/>
                <a:gdLst>
                  <a:gd name="T0" fmla="*/ 13 w 13"/>
                  <a:gd name="T1" fmla="*/ 0 h 9"/>
                  <a:gd name="T2" fmla="*/ 11 w 13"/>
                  <a:gd name="T3" fmla="*/ 3 h 9"/>
                  <a:gd name="T4" fmla="*/ 9 w 13"/>
                  <a:gd name="T5" fmla="*/ 7 h 9"/>
                  <a:gd name="T6" fmla="*/ 6 w 13"/>
                  <a:gd name="T7" fmla="*/ 9 h 9"/>
                  <a:gd name="T8" fmla="*/ 0 w 13"/>
                  <a:gd name="T9" fmla="*/ 7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9">
                    <a:moveTo>
                      <a:pt x="13" y="0"/>
                    </a:moveTo>
                    <a:lnTo>
                      <a:pt x="11" y="3"/>
                    </a:lnTo>
                    <a:lnTo>
                      <a:pt x="9" y="7"/>
                    </a:lnTo>
                    <a:lnTo>
                      <a:pt x="6" y="9"/>
                    </a:lnTo>
                    <a:lnTo>
                      <a:pt x="0"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04" name="Freeform 1309"/>
              <p:cNvSpPr>
                <a:spLocks/>
              </p:cNvSpPr>
              <p:nvPr userDrawn="1"/>
            </p:nvSpPr>
            <p:spPr bwMode="gray">
              <a:xfrm>
                <a:off x="3519" y="1709"/>
                <a:ext cx="8" cy="17"/>
              </a:xfrm>
              <a:custGeom>
                <a:avLst/>
                <a:gdLst>
                  <a:gd name="T0" fmla="*/ 8 w 8"/>
                  <a:gd name="T1" fmla="*/ 0 h 17"/>
                  <a:gd name="T2" fmla="*/ 5 w 8"/>
                  <a:gd name="T3" fmla="*/ 3 h 17"/>
                  <a:gd name="T4" fmla="*/ 1 w 8"/>
                  <a:gd name="T5" fmla="*/ 8 h 17"/>
                  <a:gd name="T6" fmla="*/ 0 w 8"/>
                  <a:gd name="T7" fmla="*/ 14 h 17"/>
                  <a:gd name="T8" fmla="*/ 0 w 8"/>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8" y="0"/>
                    </a:moveTo>
                    <a:lnTo>
                      <a:pt x="5" y="3"/>
                    </a:lnTo>
                    <a:lnTo>
                      <a:pt x="1" y="8"/>
                    </a:lnTo>
                    <a:lnTo>
                      <a:pt x="0" y="14"/>
                    </a:lnTo>
                    <a:lnTo>
                      <a:pt x="0" y="1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05" name="Freeform 1310"/>
              <p:cNvSpPr>
                <a:spLocks/>
              </p:cNvSpPr>
              <p:nvPr userDrawn="1"/>
            </p:nvSpPr>
            <p:spPr bwMode="gray">
              <a:xfrm>
                <a:off x="3580" y="1670"/>
                <a:ext cx="13" cy="9"/>
              </a:xfrm>
              <a:custGeom>
                <a:avLst/>
                <a:gdLst>
                  <a:gd name="T0" fmla="*/ 0 w 12"/>
                  <a:gd name="T1" fmla="*/ 9 h 9"/>
                  <a:gd name="T2" fmla="*/ 3 w 12"/>
                  <a:gd name="T3" fmla="*/ 9 h 9"/>
                  <a:gd name="T4" fmla="*/ 9 w 12"/>
                  <a:gd name="T5" fmla="*/ 7 h 9"/>
                  <a:gd name="T6" fmla="*/ 10 w 12"/>
                  <a:gd name="T7" fmla="*/ 4 h 9"/>
                  <a:gd name="T8" fmla="*/ 12 w 12"/>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9">
                    <a:moveTo>
                      <a:pt x="0" y="9"/>
                    </a:moveTo>
                    <a:lnTo>
                      <a:pt x="3" y="9"/>
                    </a:lnTo>
                    <a:lnTo>
                      <a:pt x="9" y="7"/>
                    </a:lnTo>
                    <a:lnTo>
                      <a:pt x="10" y="4"/>
                    </a:lnTo>
                    <a:lnTo>
                      <a:pt x="1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06" name="Line 1311"/>
              <p:cNvSpPr>
                <a:spLocks noChangeShapeType="1"/>
              </p:cNvSpPr>
              <p:nvPr userDrawn="1"/>
            </p:nvSpPr>
            <p:spPr bwMode="gray">
              <a:xfrm flipV="1">
                <a:off x="3531" y="1621"/>
                <a:ext cx="147"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07" name="Line 1312"/>
              <p:cNvSpPr>
                <a:spLocks noChangeShapeType="1"/>
              </p:cNvSpPr>
              <p:nvPr userDrawn="1"/>
            </p:nvSpPr>
            <p:spPr bwMode="gray">
              <a:xfrm flipV="1">
                <a:off x="3527" y="1622"/>
                <a:ext cx="143" cy="8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08" name="Freeform 1313"/>
              <p:cNvSpPr>
                <a:spLocks/>
              </p:cNvSpPr>
              <p:nvPr userDrawn="1"/>
            </p:nvSpPr>
            <p:spPr bwMode="gray">
              <a:xfrm>
                <a:off x="3670" y="1614"/>
                <a:ext cx="12" cy="9"/>
              </a:xfrm>
              <a:custGeom>
                <a:avLst/>
                <a:gdLst>
                  <a:gd name="T0" fmla="*/ 0 w 12"/>
                  <a:gd name="T1" fmla="*/ 9 h 9"/>
                  <a:gd name="T2" fmla="*/ 5 w 12"/>
                  <a:gd name="T3" fmla="*/ 9 h 9"/>
                  <a:gd name="T4" fmla="*/ 9 w 12"/>
                  <a:gd name="T5" fmla="*/ 7 h 9"/>
                  <a:gd name="T6" fmla="*/ 11 w 12"/>
                  <a:gd name="T7" fmla="*/ 6 h 9"/>
                  <a:gd name="T8" fmla="*/ 12 w 12"/>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9">
                    <a:moveTo>
                      <a:pt x="0" y="9"/>
                    </a:moveTo>
                    <a:lnTo>
                      <a:pt x="5" y="9"/>
                    </a:lnTo>
                    <a:lnTo>
                      <a:pt x="9" y="7"/>
                    </a:lnTo>
                    <a:lnTo>
                      <a:pt x="11" y="6"/>
                    </a:lnTo>
                    <a:lnTo>
                      <a:pt x="1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09" name="Line 1314"/>
              <p:cNvSpPr>
                <a:spLocks noChangeShapeType="1"/>
              </p:cNvSpPr>
              <p:nvPr userDrawn="1"/>
            </p:nvSpPr>
            <p:spPr bwMode="gray">
              <a:xfrm flipH="1">
                <a:off x="3531" y="1614"/>
                <a:ext cx="150" cy="9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10" name="Freeform 1315"/>
              <p:cNvSpPr>
                <a:spLocks/>
              </p:cNvSpPr>
              <p:nvPr userDrawn="1"/>
            </p:nvSpPr>
            <p:spPr bwMode="gray">
              <a:xfrm>
                <a:off x="3527" y="1707"/>
                <a:ext cx="4" cy="7"/>
              </a:xfrm>
              <a:custGeom>
                <a:avLst/>
                <a:gdLst>
                  <a:gd name="T0" fmla="*/ 0 w 4"/>
                  <a:gd name="T1" fmla="*/ 4 h 7"/>
                  <a:gd name="T2" fmla="*/ 0 w 4"/>
                  <a:gd name="T3" fmla="*/ 5 h 7"/>
                  <a:gd name="T4" fmla="*/ 2 w 4"/>
                  <a:gd name="T5" fmla="*/ 7 h 7"/>
                  <a:gd name="T6" fmla="*/ 4 w 4"/>
                  <a:gd name="T7" fmla="*/ 5 h 7"/>
                  <a:gd name="T8" fmla="*/ 4 w 4"/>
                  <a:gd name="T9" fmla="*/ 4 h 7"/>
                  <a:gd name="T10" fmla="*/ 4 w 4"/>
                  <a:gd name="T11" fmla="*/ 2 h 7"/>
                  <a:gd name="T12" fmla="*/ 4 w 4"/>
                  <a:gd name="T13" fmla="*/ 0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7">
                    <a:moveTo>
                      <a:pt x="0" y="4"/>
                    </a:moveTo>
                    <a:lnTo>
                      <a:pt x="0" y="5"/>
                    </a:lnTo>
                    <a:lnTo>
                      <a:pt x="2" y="7"/>
                    </a:lnTo>
                    <a:lnTo>
                      <a:pt x="4" y="5"/>
                    </a:lnTo>
                    <a:lnTo>
                      <a:pt x="4" y="4"/>
                    </a:lnTo>
                    <a:lnTo>
                      <a:pt x="4" y="2"/>
                    </a:lnTo>
                    <a:lnTo>
                      <a:pt x="4"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11" name="Freeform 1316"/>
              <p:cNvSpPr>
                <a:spLocks/>
              </p:cNvSpPr>
              <p:nvPr userDrawn="1"/>
            </p:nvSpPr>
            <p:spPr bwMode="gray">
              <a:xfrm>
                <a:off x="3670" y="1605"/>
                <a:ext cx="9" cy="17"/>
              </a:xfrm>
              <a:custGeom>
                <a:avLst/>
                <a:gdLst>
                  <a:gd name="T0" fmla="*/ 9 w 9"/>
                  <a:gd name="T1" fmla="*/ 0 h 17"/>
                  <a:gd name="T2" fmla="*/ 9 w 9"/>
                  <a:gd name="T3" fmla="*/ 5 h 17"/>
                  <a:gd name="T4" fmla="*/ 7 w 9"/>
                  <a:gd name="T5" fmla="*/ 8 h 17"/>
                  <a:gd name="T6" fmla="*/ 4 w 9"/>
                  <a:gd name="T7" fmla="*/ 14 h 17"/>
                  <a:gd name="T8" fmla="*/ 0 w 9"/>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9" y="0"/>
                    </a:moveTo>
                    <a:lnTo>
                      <a:pt x="9" y="5"/>
                    </a:lnTo>
                    <a:lnTo>
                      <a:pt x="7" y="8"/>
                    </a:lnTo>
                    <a:lnTo>
                      <a:pt x="4" y="14"/>
                    </a:lnTo>
                    <a:lnTo>
                      <a:pt x="0" y="1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12" name="Freeform 1317"/>
              <p:cNvSpPr>
                <a:spLocks/>
              </p:cNvSpPr>
              <p:nvPr userDrawn="1"/>
            </p:nvSpPr>
            <p:spPr bwMode="gray">
              <a:xfrm>
                <a:off x="3248" y="1515"/>
                <a:ext cx="8" cy="17"/>
              </a:xfrm>
              <a:custGeom>
                <a:avLst/>
                <a:gdLst>
                  <a:gd name="T0" fmla="*/ 0 w 8"/>
                  <a:gd name="T1" fmla="*/ 17 h 17"/>
                  <a:gd name="T2" fmla="*/ 3 w 8"/>
                  <a:gd name="T3" fmla="*/ 15 h 17"/>
                  <a:gd name="T4" fmla="*/ 7 w 8"/>
                  <a:gd name="T5" fmla="*/ 10 h 17"/>
                  <a:gd name="T6" fmla="*/ 8 w 8"/>
                  <a:gd name="T7" fmla="*/ 5 h 17"/>
                  <a:gd name="T8" fmla="*/ 8 w 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7"/>
                    </a:moveTo>
                    <a:lnTo>
                      <a:pt x="3" y="15"/>
                    </a:lnTo>
                    <a:lnTo>
                      <a:pt x="7" y="10"/>
                    </a:lnTo>
                    <a:lnTo>
                      <a:pt x="8" y="5"/>
                    </a:lnTo>
                    <a:lnTo>
                      <a:pt x="8"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13" name="Line 1318"/>
              <p:cNvSpPr>
                <a:spLocks noChangeShapeType="1"/>
              </p:cNvSpPr>
              <p:nvPr userDrawn="1"/>
            </p:nvSpPr>
            <p:spPr bwMode="gray">
              <a:xfrm flipH="1" flipV="1">
                <a:off x="3151" y="1490"/>
                <a:ext cx="207" cy="7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14" name="Line 1319"/>
              <p:cNvSpPr>
                <a:spLocks noChangeShapeType="1"/>
              </p:cNvSpPr>
              <p:nvPr userDrawn="1"/>
            </p:nvSpPr>
            <p:spPr bwMode="gray">
              <a:xfrm flipH="1" flipV="1">
                <a:off x="3144" y="1497"/>
                <a:ext cx="208" cy="7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15" name="Freeform 1320"/>
              <p:cNvSpPr>
                <a:spLocks/>
              </p:cNvSpPr>
              <p:nvPr userDrawn="1"/>
            </p:nvSpPr>
            <p:spPr bwMode="gray">
              <a:xfrm>
                <a:off x="3144" y="1480"/>
                <a:ext cx="9" cy="17"/>
              </a:xfrm>
              <a:custGeom>
                <a:avLst/>
                <a:gdLst>
                  <a:gd name="T0" fmla="*/ 0 w 9"/>
                  <a:gd name="T1" fmla="*/ 17 h 17"/>
                  <a:gd name="T2" fmla="*/ 4 w 9"/>
                  <a:gd name="T3" fmla="*/ 15 h 17"/>
                  <a:gd name="T4" fmla="*/ 7 w 9"/>
                  <a:gd name="T5" fmla="*/ 10 h 17"/>
                  <a:gd name="T6" fmla="*/ 9 w 9"/>
                  <a:gd name="T7" fmla="*/ 5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4" y="15"/>
                    </a:lnTo>
                    <a:lnTo>
                      <a:pt x="7" y="10"/>
                    </a:lnTo>
                    <a:lnTo>
                      <a:pt x="9" y="5"/>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16" name="Line 1321"/>
              <p:cNvSpPr>
                <a:spLocks noChangeShapeType="1"/>
              </p:cNvSpPr>
              <p:nvPr userDrawn="1"/>
            </p:nvSpPr>
            <p:spPr bwMode="gray">
              <a:xfrm>
                <a:off x="3153" y="1480"/>
                <a:ext cx="208" cy="7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17" name="Freeform 1322"/>
              <p:cNvSpPr>
                <a:spLocks/>
              </p:cNvSpPr>
              <p:nvPr userDrawn="1"/>
            </p:nvSpPr>
            <p:spPr bwMode="gray">
              <a:xfrm>
                <a:off x="3352" y="1551"/>
                <a:ext cx="9" cy="18"/>
              </a:xfrm>
              <a:custGeom>
                <a:avLst/>
                <a:gdLst>
                  <a:gd name="T0" fmla="*/ 0 w 9"/>
                  <a:gd name="T1" fmla="*/ 18 h 18"/>
                  <a:gd name="T2" fmla="*/ 4 w 9"/>
                  <a:gd name="T3" fmla="*/ 14 h 18"/>
                  <a:gd name="T4" fmla="*/ 6 w 9"/>
                  <a:gd name="T5" fmla="*/ 9 h 18"/>
                  <a:gd name="T6" fmla="*/ 7 w 9"/>
                  <a:gd name="T7" fmla="*/ 4 h 18"/>
                  <a:gd name="T8" fmla="*/ 9 w 9"/>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0" y="18"/>
                    </a:moveTo>
                    <a:lnTo>
                      <a:pt x="4" y="14"/>
                    </a:lnTo>
                    <a:lnTo>
                      <a:pt x="6" y="9"/>
                    </a:lnTo>
                    <a:lnTo>
                      <a:pt x="7" y="4"/>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18" name="Freeform 1323"/>
              <p:cNvSpPr>
                <a:spLocks/>
              </p:cNvSpPr>
              <p:nvPr userDrawn="1"/>
            </p:nvSpPr>
            <p:spPr bwMode="gray">
              <a:xfrm>
                <a:off x="3076" y="1530"/>
                <a:ext cx="13" cy="9"/>
              </a:xfrm>
              <a:custGeom>
                <a:avLst/>
                <a:gdLst>
                  <a:gd name="T0" fmla="*/ 12 w 12"/>
                  <a:gd name="T1" fmla="*/ 0 h 9"/>
                  <a:gd name="T2" fmla="*/ 9 w 12"/>
                  <a:gd name="T3" fmla="*/ 0 h 9"/>
                  <a:gd name="T4" fmla="*/ 7 w 12"/>
                  <a:gd name="T5" fmla="*/ 0 h 9"/>
                  <a:gd name="T6" fmla="*/ 4 w 12"/>
                  <a:gd name="T7" fmla="*/ 2 h 9"/>
                  <a:gd name="T8" fmla="*/ 2 w 12"/>
                  <a:gd name="T9" fmla="*/ 6 h 9"/>
                  <a:gd name="T10" fmla="*/ 0 w 12"/>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9">
                    <a:moveTo>
                      <a:pt x="12" y="0"/>
                    </a:moveTo>
                    <a:lnTo>
                      <a:pt x="9" y="0"/>
                    </a:lnTo>
                    <a:lnTo>
                      <a:pt x="7" y="0"/>
                    </a:lnTo>
                    <a:lnTo>
                      <a:pt x="4" y="2"/>
                    </a:lnTo>
                    <a:lnTo>
                      <a:pt x="2" y="6"/>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19" name="Line 1324"/>
              <p:cNvSpPr>
                <a:spLocks noChangeShapeType="1"/>
              </p:cNvSpPr>
              <p:nvPr userDrawn="1"/>
            </p:nvSpPr>
            <p:spPr bwMode="gray">
              <a:xfrm flipH="1">
                <a:off x="2984" y="1497"/>
                <a:ext cx="159"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720" name="Line 1325"/>
              <p:cNvSpPr>
                <a:spLocks noChangeShapeType="1"/>
              </p:cNvSpPr>
              <p:nvPr userDrawn="1"/>
            </p:nvSpPr>
            <p:spPr bwMode="gray">
              <a:xfrm flipH="1">
                <a:off x="2989" y="1497"/>
                <a:ext cx="155"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grpSp>
        <p:grpSp>
          <p:nvGrpSpPr>
            <p:cNvPr id="1065" name="Group 1326"/>
            <p:cNvGrpSpPr>
              <a:grpSpLocks/>
            </p:cNvGrpSpPr>
            <p:nvPr userDrawn="1"/>
          </p:nvGrpSpPr>
          <p:grpSpPr bwMode="auto">
            <a:xfrm>
              <a:off x="4230" y="2817"/>
              <a:ext cx="1410" cy="1369"/>
              <a:chOff x="2282" y="873"/>
              <a:chExt cx="1410" cy="1369"/>
            </a:xfrm>
          </p:grpSpPr>
          <p:sp>
            <p:nvSpPr>
              <p:cNvPr id="1321" name="Freeform 1327"/>
              <p:cNvSpPr>
                <a:spLocks/>
              </p:cNvSpPr>
              <p:nvPr userDrawn="1"/>
            </p:nvSpPr>
            <p:spPr bwMode="gray">
              <a:xfrm>
                <a:off x="2978" y="1586"/>
                <a:ext cx="11" cy="13"/>
              </a:xfrm>
              <a:custGeom>
                <a:avLst/>
                <a:gdLst>
                  <a:gd name="T0" fmla="*/ 11 w 11"/>
                  <a:gd name="T1" fmla="*/ 2 h 11"/>
                  <a:gd name="T2" fmla="*/ 7 w 11"/>
                  <a:gd name="T3" fmla="*/ 0 h 11"/>
                  <a:gd name="T4" fmla="*/ 4 w 11"/>
                  <a:gd name="T5" fmla="*/ 2 h 11"/>
                  <a:gd name="T6" fmla="*/ 0 w 11"/>
                  <a:gd name="T7" fmla="*/ 6 h 11"/>
                  <a:gd name="T8" fmla="*/ 0 w 11"/>
                  <a:gd name="T9" fmla="*/ 11 h 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1">
                    <a:moveTo>
                      <a:pt x="11" y="2"/>
                    </a:moveTo>
                    <a:lnTo>
                      <a:pt x="7" y="0"/>
                    </a:lnTo>
                    <a:lnTo>
                      <a:pt x="4" y="2"/>
                    </a:lnTo>
                    <a:lnTo>
                      <a:pt x="0" y="6"/>
                    </a:lnTo>
                    <a:lnTo>
                      <a:pt x="0" y="1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22" name="Line 1328"/>
              <p:cNvSpPr>
                <a:spLocks noChangeShapeType="1"/>
              </p:cNvSpPr>
              <p:nvPr userDrawn="1"/>
            </p:nvSpPr>
            <p:spPr bwMode="gray">
              <a:xfrm flipV="1">
                <a:off x="2978" y="1502"/>
                <a:ext cx="165" cy="9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23" name="Freeform 1329"/>
              <p:cNvSpPr>
                <a:spLocks/>
              </p:cNvSpPr>
              <p:nvPr userDrawn="1"/>
            </p:nvSpPr>
            <p:spPr bwMode="gray">
              <a:xfrm>
                <a:off x="3141" y="1495"/>
                <a:ext cx="3" cy="7"/>
              </a:xfrm>
              <a:custGeom>
                <a:avLst/>
                <a:gdLst>
                  <a:gd name="T0" fmla="*/ 3 w 3"/>
                  <a:gd name="T1" fmla="*/ 2 h 7"/>
                  <a:gd name="T2" fmla="*/ 3 w 3"/>
                  <a:gd name="T3" fmla="*/ 2 h 7"/>
                  <a:gd name="T4" fmla="*/ 2 w 3"/>
                  <a:gd name="T5" fmla="*/ 0 h 7"/>
                  <a:gd name="T6" fmla="*/ 2 w 3"/>
                  <a:gd name="T7" fmla="*/ 0 h 7"/>
                  <a:gd name="T8" fmla="*/ 0 w 3"/>
                  <a:gd name="T9" fmla="*/ 2 h 7"/>
                  <a:gd name="T10" fmla="*/ 0 w 3"/>
                  <a:gd name="T11" fmla="*/ 4 h 7"/>
                  <a:gd name="T12" fmla="*/ 2 w 3"/>
                  <a:gd name="T13" fmla="*/ 7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 h="7">
                    <a:moveTo>
                      <a:pt x="3" y="2"/>
                    </a:moveTo>
                    <a:lnTo>
                      <a:pt x="3" y="2"/>
                    </a:lnTo>
                    <a:lnTo>
                      <a:pt x="2" y="0"/>
                    </a:lnTo>
                    <a:lnTo>
                      <a:pt x="0" y="2"/>
                    </a:lnTo>
                    <a:lnTo>
                      <a:pt x="0" y="4"/>
                    </a:lnTo>
                    <a:lnTo>
                      <a:pt x="2"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24" name="Freeform 1330"/>
              <p:cNvSpPr>
                <a:spLocks/>
              </p:cNvSpPr>
              <p:nvPr userDrawn="1"/>
            </p:nvSpPr>
            <p:spPr bwMode="gray">
              <a:xfrm>
                <a:off x="3188" y="1660"/>
                <a:ext cx="9" cy="19"/>
              </a:xfrm>
              <a:custGeom>
                <a:avLst/>
                <a:gdLst>
                  <a:gd name="T0" fmla="*/ 9 w 9"/>
                  <a:gd name="T1" fmla="*/ 0 h 19"/>
                  <a:gd name="T2" fmla="*/ 5 w 9"/>
                  <a:gd name="T3" fmla="*/ 3 h 19"/>
                  <a:gd name="T4" fmla="*/ 4 w 9"/>
                  <a:gd name="T5" fmla="*/ 9 h 19"/>
                  <a:gd name="T6" fmla="*/ 2 w 9"/>
                  <a:gd name="T7" fmla="*/ 14 h 19"/>
                  <a:gd name="T8" fmla="*/ 0 w 9"/>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9">
                    <a:moveTo>
                      <a:pt x="9" y="0"/>
                    </a:moveTo>
                    <a:lnTo>
                      <a:pt x="5" y="3"/>
                    </a:lnTo>
                    <a:lnTo>
                      <a:pt x="4" y="9"/>
                    </a:lnTo>
                    <a:lnTo>
                      <a:pt x="2" y="14"/>
                    </a:lnTo>
                    <a:lnTo>
                      <a:pt x="0" y="1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25" name="Freeform 1331"/>
              <p:cNvSpPr>
                <a:spLocks/>
              </p:cNvSpPr>
              <p:nvPr userDrawn="1"/>
            </p:nvSpPr>
            <p:spPr bwMode="gray">
              <a:xfrm>
                <a:off x="2980" y="1588"/>
                <a:ext cx="9" cy="18"/>
              </a:xfrm>
              <a:custGeom>
                <a:avLst/>
                <a:gdLst>
                  <a:gd name="T0" fmla="*/ 9 w 9"/>
                  <a:gd name="T1" fmla="*/ 0 h 18"/>
                  <a:gd name="T2" fmla="*/ 5 w 9"/>
                  <a:gd name="T3" fmla="*/ 2 h 18"/>
                  <a:gd name="T4" fmla="*/ 3 w 9"/>
                  <a:gd name="T5" fmla="*/ 7 h 18"/>
                  <a:gd name="T6" fmla="*/ 2 w 9"/>
                  <a:gd name="T7" fmla="*/ 12 h 18"/>
                  <a:gd name="T8" fmla="*/ 0 w 9"/>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9" y="0"/>
                    </a:moveTo>
                    <a:lnTo>
                      <a:pt x="5" y="2"/>
                    </a:lnTo>
                    <a:lnTo>
                      <a:pt x="3" y="7"/>
                    </a:lnTo>
                    <a:lnTo>
                      <a:pt x="2" y="12"/>
                    </a:lnTo>
                    <a:lnTo>
                      <a:pt x="0" y="1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26" name="Freeform 1332"/>
              <p:cNvSpPr>
                <a:spLocks/>
              </p:cNvSpPr>
              <p:nvPr userDrawn="1"/>
            </p:nvSpPr>
            <p:spPr bwMode="gray">
              <a:xfrm>
                <a:off x="3295" y="1602"/>
                <a:ext cx="13" cy="18"/>
              </a:xfrm>
              <a:custGeom>
                <a:avLst/>
                <a:gdLst>
                  <a:gd name="T0" fmla="*/ 0 w 12"/>
                  <a:gd name="T1" fmla="*/ 0 h 18"/>
                  <a:gd name="T2" fmla="*/ 5 w 12"/>
                  <a:gd name="T3" fmla="*/ 4 h 18"/>
                  <a:gd name="T4" fmla="*/ 8 w 12"/>
                  <a:gd name="T5" fmla="*/ 7 h 18"/>
                  <a:gd name="T6" fmla="*/ 10 w 12"/>
                  <a:gd name="T7" fmla="*/ 12 h 18"/>
                  <a:gd name="T8" fmla="*/ 12 w 12"/>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8">
                    <a:moveTo>
                      <a:pt x="0" y="0"/>
                    </a:moveTo>
                    <a:lnTo>
                      <a:pt x="5" y="4"/>
                    </a:lnTo>
                    <a:lnTo>
                      <a:pt x="8" y="7"/>
                    </a:lnTo>
                    <a:lnTo>
                      <a:pt x="10" y="12"/>
                    </a:lnTo>
                    <a:lnTo>
                      <a:pt x="12" y="1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27" name="Line 1333"/>
              <p:cNvSpPr>
                <a:spLocks noChangeShapeType="1"/>
              </p:cNvSpPr>
              <p:nvPr userDrawn="1"/>
            </p:nvSpPr>
            <p:spPr bwMode="gray">
              <a:xfrm flipV="1">
                <a:off x="3206" y="1572"/>
                <a:ext cx="159" cy="9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28" name="Line 1334"/>
              <p:cNvSpPr>
                <a:spLocks noChangeShapeType="1"/>
              </p:cNvSpPr>
              <p:nvPr userDrawn="1"/>
            </p:nvSpPr>
            <p:spPr bwMode="gray">
              <a:xfrm flipV="1">
                <a:off x="3197" y="1569"/>
                <a:ext cx="155" cy="9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29" name="Freeform 1335"/>
              <p:cNvSpPr>
                <a:spLocks/>
              </p:cNvSpPr>
              <p:nvPr userDrawn="1"/>
            </p:nvSpPr>
            <p:spPr bwMode="gray">
              <a:xfrm>
                <a:off x="3352" y="1569"/>
                <a:ext cx="20" cy="13"/>
              </a:xfrm>
              <a:custGeom>
                <a:avLst/>
                <a:gdLst>
                  <a:gd name="T0" fmla="*/ 0 w 20"/>
                  <a:gd name="T1" fmla="*/ 0 h 12"/>
                  <a:gd name="T2" fmla="*/ 6 w 20"/>
                  <a:gd name="T3" fmla="*/ 0 h 12"/>
                  <a:gd name="T4" fmla="*/ 11 w 20"/>
                  <a:gd name="T5" fmla="*/ 2 h 12"/>
                  <a:gd name="T6" fmla="*/ 16 w 20"/>
                  <a:gd name="T7" fmla="*/ 7 h 12"/>
                  <a:gd name="T8" fmla="*/ 20 w 20"/>
                  <a:gd name="T9" fmla="*/ 12 h 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2">
                    <a:moveTo>
                      <a:pt x="0" y="0"/>
                    </a:moveTo>
                    <a:lnTo>
                      <a:pt x="6" y="0"/>
                    </a:lnTo>
                    <a:lnTo>
                      <a:pt x="11" y="2"/>
                    </a:lnTo>
                    <a:lnTo>
                      <a:pt x="16" y="7"/>
                    </a:lnTo>
                    <a:lnTo>
                      <a:pt x="20" y="1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30" name="Line 1336"/>
              <p:cNvSpPr>
                <a:spLocks noChangeShapeType="1"/>
              </p:cNvSpPr>
              <p:nvPr userDrawn="1"/>
            </p:nvSpPr>
            <p:spPr bwMode="gray">
              <a:xfrm flipH="1">
                <a:off x="3210" y="1581"/>
                <a:ext cx="161" cy="9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31" name="Freeform 1337"/>
              <p:cNvSpPr>
                <a:spLocks/>
              </p:cNvSpPr>
              <p:nvPr userDrawn="1"/>
            </p:nvSpPr>
            <p:spPr bwMode="gray">
              <a:xfrm>
                <a:off x="3197" y="1660"/>
                <a:ext cx="13" cy="17"/>
              </a:xfrm>
              <a:custGeom>
                <a:avLst/>
                <a:gdLst>
                  <a:gd name="T0" fmla="*/ 12 w 12"/>
                  <a:gd name="T1" fmla="*/ 17 h 17"/>
                  <a:gd name="T2" fmla="*/ 10 w 12"/>
                  <a:gd name="T3" fmla="*/ 12 h 17"/>
                  <a:gd name="T4" fmla="*/ 9 w 12"/>
                  <a:gd name="T5" fmla="*/ 7 h 17"/>
                  <a:gd name="T6" fmla="*/ 5 w 12"/>
                  <a:gd name="T7" fmla="*/ 3 h 17"/>
                  <a:gd name="T8" fmla="*/ 0 w 12"/>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7">
                    <a:moveTo>
                      <a:pt x="12" y="17"/>
                    </a:moveTo>
                    <a:lnTo>
                      <a:pt x="10" y="12"/>
                    </a:lnTo>
                    <a:lnTo>
                      <a:pt x="9" y="7"/>
                    </a:lnTo>
                    <a:lnTo>
                      <a:pt x="5" y="3"/>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32" name="Freeform 1338"/>
              <p:cNvSpPr>
                <a:spLocks/>
              </p:cNvSpPr>
              <p:nvPr userDrawn="1"/>
            </p:nvSpPr>
            <p:spPr bwMode="gray">
              <a:xfrm>
                <a:off x="3527" y="1452"/>
                <a:ext cx="7" cy="10"/>
              </a:xfrm>
              <a:custGeom>
                <a:avLst/>
                <a:gdLst>
                  <a:gd name="T0" fmla="*/ 7 w 7"/>
                  <a:gd name="T1" fmla="*/ 8 h 10"/>
                  <a:gd name="T2" fmla="*/ 4 w 7"/>
                  <a:gd name="T3" fmla="*/ 10 h 10"/>
                  <a:gd name="T4" fmla="*/ 2 w 7"/>
                  <a:gd name="T5" fmla="*/ 8 h 10"/>
                  <a:gd name="T6" fmla="*/ 0 w 7"/>
                  <a:gd name="T7" fmla="*/ 7 h 10"/>
                  <a:gd name="T8" fmla="*/ 0 w 7"/>
                  <a:gd name="T9" fmla="*/ 3 h 10"/>
                  <a:gd name="T10" fmla="*/ 0 w 7"/>
                  <a:gd name="T11" fmla="*/ 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0">
                    <a:moveTo>
                      <a:pt x="7" y="8"/>
                    </a:moveTo>
                    <a:lnTo>
                      <a:pt x="4" y="10"/>
                    </a:lnTo>
                    <a:lnTo>
                      <a:pt x="2" y="8"/>
                    </a:lnTo>
                    <a:lnTo>
                      <a:pt x="0" y="7"/>
                    </a:lnTo>
                    <a:lnTo>
                      <a:pt x="0" y="3"/>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33" name="Freeform 1339"/>
              <p:cNvSpPr>
                <a:spLocks/>
              </p:cNvSpPr>
              <p:nvPr userDrawn="1"/>
            </p:nvSpPr>
            <p:spPr bwMode="gray">
              <a:xfrm>
                <a:off x="3589" y="1429"/>
                <a:ext cx="10" cy="16"/>
              </a:xfrm>
              <a:custGeom>
                <a:avLst/>
                <a:gdLst>
                  <a:gd name="T0" fmla="*/ 0 w 10"/>
                  <a:gd name="T1" fmla="*/ 0 h 16"/>
                  <a:gd name="T2" fmla="*/ 3 w 10"/>
                  <a:gd name="T3" fmla="*/ 2 h 16"/>
                  <a:gd name="T4" fmla="*/ 7 w 10"/>
                  <a:gd name="T5" fmla="*/ 5 h 16"/>
                  <a:gd name="T6" fmla="*/ 10 w 10"/>
                  <a:gd name="T7" fmla="*/ 11 h 16"/>
                  <a:gd name="T8" fmla="*/ 10 w 10"/>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0" y="0"/>
                    </a:moveTo>
                    <a:lnTo>
                      <a:pt x="3" y="2"/>
                    </a:lnTo>
                    <a:lnTo>
                      <a:pt x="7" y="5"/>
                    </a:lnTo>
                    <a:lnTo>
                      <a:pt x="10" y="11"/>
                    </a:lnTo>
                    <a:lnTo>
                      <a:pt x="10"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34" name="Line 1340"/>
              <p:cNvSpPr>
                <a:spLocks noChangeShapeType="1"/>
              </p:cNvSpPr>
              <p:nvPr userDrawn="1"/>
            </p:nvSpPr>
            <p:spPr bwMode="gray">
              <a:xfrm flipV="1">
                <a:off x="3538" y="1382"/>
                <a:ext cx="149" cy="8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35" name="Line 1341"/>
              <p:cNvSpPr>
                <a:spLocks noChangeShapeType="1"/>
              </p:cNvSpPr>
              <p:nvPr userDrawn="1"/>
            </p:nvSpPr>
            <p:spPr bwMode="gray">
              <a:xfrm flipV="1">
                <a:off x="3534" y="1375"/>
                <a:ext cx="143" cy="8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36" name="Freeform 1342"/>
              <p:cNvSpPr>
                <a:spLocks/>
              </p:cNvSpPr>
              <p:nvPr userDrawn="1"/>
            </p:nvSpPr>
            <p:spPr bwMode="gray">
              <a:xfrm>
                <a:off x="3678" y="1375"/>
                <a:ext cx="13" cy="16"/>
              </a:xfrm>
              <a:custGeom>
                <a:avLst/>
                <a:gdLst>
                  <a:gd name="T0" fmla="*/ 0 w 12"/>
                  <a:gd name="T1" fmla="*/ 0 h 16"/>
                  <a:gd name="T2" fmla="*/ 5 w 12"/>
                  <a:gd name="T3" fmla="*/ 2 h 16"/>
                  <a:gd name="T4" fmla="*/ 9 w 12"/>
                  <a:gd name="T5" fmla="*/ 7 h 16"/>
                  <a:gd name="T6" fmla="*/ 10 w 12"/>
                  <a:gd name="T7" fmla="*/ 10 h 16"/>
                  <a:gd name="T8" fmla="*/ 12 w 12"/>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6">
                    <a:moveTo>
                      <a:pt x="0" y="0"/>
                    </a:moveTo>
                    <a:lnTo>
                      <a:pt x="5" y="2"/>
                    </a:lnTo>
                    <a:lnTo>
                      <a:pt x="9" y="7"/>
                    </a:lnTo>
                    <a:lnTo>
                      <a:pt x="10" y="10"/>
                    </a:lnTo>
                    <a:lnTo>
                      <a:pt x="12"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37" name="Line 1343"/>
              <p:cNvSpPr>
                <a:spLocks noChangeShapeType="1"/>
              </p:cNvSpPr>
              <p:nvPr userDrawn="1"/>
            </p:nvSpPr>
            <p:spPr bwMode="gray">
              <a:xfrm flipH="1">
                <a:off x="3538" y="1391"/>
                <a:ext cx="152" cy="9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38" name="Freeform 1344"/>
              <p:cNvSpPr>
                <a:spLocks/>
              </p:cNvSpPr>
              <p:nvPr userDrawn="1"/>
            </p:nvSpPr>
            <p:spPr bwMode="gray">
              <a:xfrm>
                <a:off x="3534" y="1460"/>
                <a:ext cx="4" cy="21"/>
              </a:xfrm>
              <a:custGeom>
                <a:avLst/>
                <a:gdLst>
                  <a:gd name="T0" fmla="*/ 0 w 4"/>
                  <a:gd name="T1" fmla="*/ 0 h 21"/>
                  <a:gd name="T2" fmla="*/ 4 w 4"/>
                  <a:gd name="T3" fmla="*/ 6 h 21"/>
                  <a:gd name="T4" fmla="*/ 4 w 4"/>
                  <a:gd name="T5" fmla="*/ 11 h 21"/>
                  <a:gd name="T6" fmla="*/ 4 w 4"/>
                  <a:gd name="T7" fmla="*/ 16 h 21"/>
                  <a:gd name="T8" fmla="*/ 4 w 4"/>
                  <a:gd name="T9" fmla="*/ 21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21">
                    <a:moveTo>
                      <a:pt x="0" y="0"/>
                    </a:moveTo>
                    <a:lnTo>
                      <a:pt x="4" y="6"/>
                    </a:lnTo>
                    <a:lnTo>
                      <a:pt x="4" y="11"/>
                    </a:lnTo>
                    <a:lnTo>
                      <a:pt x="4" y="16"/>
                    </a:lnTo>
                    <a:lnTo>
                      <a:pt x="4" y="2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39" name="Freeform 1345"/>
              <p:cNvSpPr>
                <a:spLocks/>
              </p:cNvSpPr>
              <p:nvPr userDrawn="1"/>
            </p:nvSpPr>
            <p:spPr bwMode="gray">
              <a:xfrm>
                <a:off x="3576" y="1340"/>
                <a:ext cx="4" cy="9"/>
              </a:xfrm>
              <a:custGeom>
                <a:avLst/>
                <a:gdLst>
                  <a:gd name="T0" fmla="*/ 0 w 7"/>
                  <a:gd name="T1" fmla="*/ 2 h 9"/>
                  <a:gd name="T2" fmla="*/ 2 w 7"/>
                  <a:gd name="T3" fmla="*/ 0 h 9"/>
                  <a:gd name="T4" fmla="*/ 4 w 7"/>
                  <a:gd name="T5" fmla="*/ 2 h 9"/>
                  <a:gd name="T6" fmla="*/ 6 w 7"/>
                  <a:gd name="T7" fmla="*/ 2 h 9"/>
                  <a:gd name="T8" fmla="*/ 7 w 7"/>
                  <a:gd name="T9" fmla="*/ 5 h 9"/>
                  <a:gd name="T10" fmla="*/ 7 w 7"/>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0" y="2"/>
                    </a:moveTo>
                    <a:lnTo>
                      <a:pt x="2" y="0"/>
                    </a:lnTo>
                    <a:lnTo>
                      <a:pt x="4" y="2"/>
                    </a:lnTo>
                    <a:lnTo>
                      <a:pt x="6" y="2"/>
                    </a:lnTo>
                    <a:lnTo>
                      <a:pt x="7" y="5"/>
                    </a:lnTo>
                    <a:lnTo>
                      <a:pt x="7"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40" name="Line 1346"/>
              <p:cNvSpPr>
                <a:spLocks noChangeShapeType="1"/>
              </p:cNvSpPr>
              <p:nvPr userDrawn="1"/>
            </p:nvSpPr>
            <p:spPr bwMode="gray">
              <a:xfrm flipH="1" flipV="1">
                <a:off x="3536" y="1328"/>
                <a:ext cx="149" cy="4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41" name="Line 1347"/>
              <p:cNvSpPr>
                <a:spLocks noChangeShapeType="1"/>
              </p:cNvSpPr>
              <p:nvPr userDrawn="1"/>
            </p:nvSpPr>
            <p:spPr bwMode="gray">
              <a:xfrm flipH="1" flipV="1">
                <a:off x="3536" y="1329"/>
                <a:ext cx="142" cy="4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42" name="Line 1348"/>
              <p:cNvSpPr>
                <a:spLocks noChangeShapeType="1"/>
              </p:cNvSpPr>
              <p:nvPr userDrawn="1"/>
            </p:nvSpPr>
            <p:spPr bwMode="gray">
              <a:xfrm>
                <a:off x="3536" y="1335"/>
                <a:ext cx="151" cy="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43" name="Freeform 1349"/>
              <p:cNvSpPr>
                <a:spLocks/>
              </p:cNvSpPr>
              <p:nvPr userDrawn="1"/>
            </p:nvSpPr>
            <p:spPr bwMode="gray">
              <a:xfrm>
                <a:off x="3678" y="1373"/>
                <a:ext cx="9" cy="9"/>
              </a:xfrm>
              <a:custGeom>
                <a:avLst/>
                <a:gdLst>
                  <a:gd name="T0" fmla="*/ 9 w 9"/>
                  <a:gd name="T1" fmla="*/ 9 h 9"/>
                  <a:gd name="T2" fmla="*/ 9 w 9"/>
                  <a:gd name="T3" fmla="*/ 7 h 9"/>
                  <a:gd name="T4" fmla="*/ 7 w 9"/>
                  <a:gd name="T5" fmla="*/ 4 h 9"/>
                  <a:gd name="T6" fmla="*/ 5 w 9"/>
                  <a:gd name="T7" fmla="*/ 2 h 9"/>
                  <a:gd name="T8" fmla="*/ 3 w 9"/>
                  <a:gd name="T9" fmla="*/ 0 h 9"/>
                  <a:gd name="T10" fmla="*/ 0 w 9"/>
                  <a:gd name="T11" fmla="*/ 2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9" y="9"/>
                    </a:moveTo>
                    <a:lnTo>
                      <a:pt x="9" y="7"/>
                    </a:lnTo>
                    <a:lnTo>
                      <a:pt x="7" y="4"/>
                    </a:lnTo>
                    <a:lnTo>
                      <a:pt x="5" y="2"/>
                    </a:lnTo>
                    <a:lnTo>
                      <a:pt x="3"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44" name="Freeform 1350"/>
              <p:cNvSpPr>
                <a:spLocks/>
              </p:cNvSpPr>
              <p:nvPr userDrawn="1"/>
            </p:nvSpPr>
            <p:spPr bwMode="gray">
              <a:xfrm>
                <a:off x="3186" y="1795"/>
                <a:ext cx="21" cy="4"/>
              </a:xfrm>
              <a:custGeom>
                <a:avLst/>
                <a:gdLst>
                  <a:gd name="T0" fmla="*/ 0 w 21"/>
                  <a:gd name="T1" fmla="*/ 0 h 1"/>
                  <a:gd name="T2" fmla="*/ 6 w 21"/>
                  <a:gd name="T3" fmla="*/ 1 h 1"/>
                  <a:gd name="T4" fmla="*/ 11 w 21"/>
                  <a:gd name="T5" fmla="*/ 1 h 1"/>
                  <a:gd name="T6" fmla="*/ 16 w 21"/>
                  <a:gd name="T7" fmla="*/ 1 h 1"/>
                  <a:gd name="T8" fmla="*/ 21 w 21"/>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
                    <a:moveTo>
                      <a:pt x="0" y="0"/>
                    </a:moveTo>
                    <a:lnTo>
                      <a:pt x="6" y="1"/>
                    </a:lnTo>
                    <a:lnTo>
                      <a:pt x="11" y="1"/>
                    </a:lnTo>
                    <a:lnTo>
                      <a:pt x="16" y="1"/>
                    </a:lnTo>
                    <a:lnTo>
                      <a:pt x="2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45" name="Line 1351"/>
              <p:cNvSpPr>
                <a:spLocks noChangeShapeType="1"/>
              </p:cNvSpPr>
              <p:nvPr userDrawn="1"/>
            </p:nvSpPr>
            <p:spPr bwMode="gray">
              <a:xfrm flipV="1">
                <a:off x="3195" y="1679"/>
                <a:ext cx="4" cy="23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46" name="Line 1352"/>
              <p:cNvSpPr>
                <a:spLocks noChangeShapeType="1"/>
              </p:cNvSpPr>
              <p:nvPr userDrawn="1"/>
            </p:nvSpPr>
            <p:spPr bwMode="gray">
              <a:xfrm flipV="1">
                <a:off x="3185" y="1679"/>
                <a:ext cx="3" cy="23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47" name="Freeform 1353"/>
              <p:cNvSpPr>
                <a:spLocks/>
              </p:cNvSpPr>
              <p:nvPr userDrawn="1"/>
            </p:nvSpPr>
            <p:spPr bwMode="gray">
              <a:xfrm>
                <a:off x="3188" y="1677"/>
                <a:ext cx="22" cy="4"/>
              </a:xfrm>
              <a:custGeom>
                <a:avLst/>
                <a:gdLst>
                  <a:gd name="T0" fmla="*/ 0 w 21"/>
                  <a:gd name="T1" fmla="*/ 2 h 4"/>
                  <a:gd name="T2" fmla="*/ 5 w 21"/>
                  <a:gd name="T3" fmla="*/ 4 h 4"/>
                  <a:gd name="T4" fmla="*/ 11 w 21"/>
                  <a:gd name="T5" fmla="*/ 4 h 4"/>
                  <a:gd name="T6" fmla="*/ 16 w 21"/>
                  <a:gd name="T7" fmla="*/ 2 h 4"/>
                  <a:gd name="T8" fmla="*/ 21 w 21"/>
                  <a:gd name="T9" fmla="*/ 0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4">
                    <a:moveTo>
                      <a:pt x="0" y="2"/>
                    </a:moveTo>
                    <a:lnTo>
                      <a:pt x="5" y="4"/>
                    </a:lnTo>
                    <a:lnTo>
                      <a:pt x="11" y="4"/>
                    </a:lnTo>
                    <a:lnTo>
                      <a:pt x="16" y="2"/>
                    </a:lnTo>
                    <a:lnTo>
                      <a:pt x="2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48" name="Line 1354"/>
              <p:cNvSpPr>
                <a:spLocks noChangeShapeType="1"/>
              </p:cNvSpPr>
              <p:nvPr userDrawn="1"/>
            </p:nvSpPr>
            <p:spPr bwMode="gray">
              <a:xfrm flipH="1">
                <a:off x="3206" y="1677"/>
                <a:ext cx="4" cy="23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49" name="Freeform 1355"/>
              <p:cNvSpPr>
                <a:spLocks/>
              </p:cNvSpPr>
              <p:nvPr userDrawn="1"/>
            </p:nvSpPr>
            <p:spPr bwMode="gray">
              <a:xfrm>
                <a:off x="3185" y="1910"/>
                <a:ext cx="21" cy="2"/>
              </a:xfrm>
              <a:custGeom>
                <a:avLst/>
                <a:gdLst>
                  <a:gd name="T0" fmla="*/ 21 w 21"/>
                  <a:gd name="T1" fmla="*/ 0 h 2"/>
                  <a:gd name="T2" fmla="*/ 15 w 21"/>
                  <a:gd name="T3" fmla="*/ 2 h 2"/>
                  <a:gd name="T4" fmla="*/ 10 w 21"/>
                  <a:gd name="T5" fmla="*/ 2 h 2"/>
                  <a:gd name="T6" fmla="*/ 5 w 21"/>
                  <a:gd name="T7" fmla="*/ 2 h 2"/>
                  <a:gd name="T8" fmla="*/ 0 w 21"/>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2">
                    <a:moveTo>
                      <a:pt x="21" y="0"/>
                    </a:moveTo>
                    <a:lnTo>
                      <a:pt x="15" y="2"/>
                    </a:lnTo>
                    <a:lnTo>
                      <a:pt x="10" y="2"/>
                    </a:lnTo>
                    <a:lnTo>
                      <a:pt x="5"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50" name="Freeform 1356"/>
              <p:cNvSpPr>
                <a:spLocks/>
              </p:cNvSpPr>
              <p:nvPr userDrawn="1"/>
            </p:nvSpPr>
            <p:spPr bwMode="gray">
              <a:xfrm>
                <a:off x="3681" y="1495"/>
                <a:ext cx="7" cy="7"/>
              </a:xfrm>
              <a:custGeom>
                <a:avLst/>
                <a:gdLst>
                  <a:gd name="T0" fmla="*/ 4 w 7"/>
                  <a:gd name="T1" fmla="*/ 7 h 7"/>
                  <a:gd name="T2" fmla="*/ 7 w 7"/>
                  <a:gd name="T3" fmla="*/ 6 h 7"/>
                  <a:gd name="T4" fmla="*/ 7 w 7"/>
                  <a:gd name="T5" fmla="*/ 4 h 7"/>
                  <a:gd name="T6" fmla="*/ 6 w 7"/>
                  <a:gd name="T7" fmla="*/ 2 h 7"/>
                  <a:gd name="T8" fmla="*/ 4 w 7"/>
                  <a:gd name="T9" fmla="*/ 0 h 7"/>
                  <a:gd name="T10" fmla="*/ 0 w 7"/>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7">
                    <a:moveTo>
                      <a:pt x="4" y="7"/>
                    </a:moveTo>
                    <a:lnTo>
                      <a:pt x="7" y="6"/>
                    </a:lnTo>
                    <a:lnTo>
                      <a:pt x="7" y="4"/>
                    </a:lnTo>
                    <a:lnTo>
                      <a:pt x="6" y="2"/>
                    </a:lnTo>
                    <a:lnTo>
                      <a:pt x="4" y="0"/>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51" name="Line 1357"/>
              <p:cNvSpPr>
                <a:spLocks noChangeShapeType="1"/>
              </p:cNvSpPr>
              <p:nvPr userDrawn="1"/>
            </p:nvSpPr>
            <p:spPr bwMode="gray">
              <a:xfrm flipV="1">
                <a:off x="3683" y="1387"/>
                <a:ext cx="9" cy="22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52" name="Line 1358"/>
              <p:cNvSpPr>
                <a:spLocks noChangeShapeType="1"/>
              </p:cNvSpPr>
              <p:nvPr userDrawn="1"/>
            </p:nvSpPr>
            <p:spPr bwMode="gray">
              <a:xfrm flipV="1">
                <a:off x="3681" y="1391"/>
                <a:ext cx="9" cy="22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53" name="Freeform 1359"/>
              <p:cNvSpPr>
                <a:spLocks/>
              </p:cNvSpPr>
              <p:nvPr userDrawn="1"/>
            </p:nvSpPr>
            <p:spPr bwMode="gray">
              <a:xfrm>
                <a:off x="3687" y="1382"/>
                <a:ext cx="5" cy="9"/>
              </a:xfrm>
              <a:custGeom>
                <a:avLst/>
                <a:gdLst>
                  <a:gd name="T0" fmla="*/ 3 w 5"/>
                  <a:gd name="T1" fmla="*/ 9 h 9"/>
                  <a:gd name="T2" fmla="*/ 5 w 5"/>
                  <a:gd name="T3" fmla="*/ 7 h 9"/>
                  <a:gd name="T4" fmla="*/ 5 w 5"/>
                  <a:gd name="T5" fmla="*/ 5 h 9"/>
                  <a:gd name="T6" fmla="*/ 3 w 5"/>
                  <a:gd name="T7" fmla="*/ 3 h 9"/>
                  <a:gd name="T8" fmla="*/ 1 w 5"/>
                  <a:gd name="T9" fmla="*/ 2 h 9"/>
                  <a:gd name="T10" fmla="*/ 0 w 5"/>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9">
                    <a:moveTo>
                      <a:pt x="3" y="9"/>
                    </a:moveTo>
                    <a:lnTo>
                      <a:pt x="5" y="7"/>
                    </a:lnTo>
                    <a:lnTo>
                      <a:pt x="5" y="5"/>
                    </a:lnTo>
                    <a:lnTo>
                      <a:pt x="3" y="3"/>
                    </a:lnTo>
                    <a:lnTo>
                      <a:pt x="1"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54" name="Line 1360"/>
              <p:cNvSpPr>
                <a:spLocks noChangeShapeType="1"/>
              </p:cNvSpPr>
              <p:nvPr userDrawn="1"/>
            </p:nvSpPr>
            <p:spPr bwMode="gray">
              <a:xfrm flipH="1">
                <a:off x="3678" y="1382"/>
                <a:ext cx="9" cy="22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55" name="Freeform 1361"/>
              <p:cNvSpPr>
                <a:spLocks/>
              </p:cNvSpPr>
              <p:nvPr userDrawn="1"/>
            </p:nvSpPr>
            <p:spPr bwMode="gray">
              <a:xfrm>
                <a:off x="3678" y="1606"/>
                <a:ext cx="5" cy="8"/>
              </a:xfrm>
              <a:custGeom>
                <a:avLst/>
                <a:gdLst>
                  <a:gd name="T0" fmla="*/ 0 w 5"/>
                  <a:gd name="T1" fmla="*/ 0 h 8"/>
                  <a:gd name="T2" fmla="*/ 2 w 5"/>
                  <a:gd name="T3" fmla="*/ 1 h 8"/>
                  <a:gd name="T4" fmla="*/ 5 w 5"/>
                  <a:gd name="T5" fmla="*/ 3 h 8"/>
                  <a:gd name="T6" fmla="*/ 5 w 5"/>
                  <a:gd name="T7" fmla="*/ 5 h 8"/>
                  <a:gd name="T8" fmla="*/ 5 w 5"/>
                  <a:gd name="T9" fmla="*/ 7 h 8"/>
                  <a:gd name="T10" fmla="*/ 3 w 5"/>
                  <a:gd name="T11" fmla="*/ 8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8">
                    <a:moveTo>
                      <a:pt x="0" y="0"/>
                    </a:moveTo>
                    <a:lnTo>
                      <a:pt x="2" y="1"/>
                    </a:lnTo>
                    <a:lnTo>
                      <a:pt x="5" y="3"/>
                    </a:lnTo>
                    <a:lnTo>
                      <a:pt x="5" y="5"/>
                    </a:lnTo>
                    <a:lnTo>
                      <a:pt x="5" y="7"/>
                    </a:lnTo>
                    <a:lnTo>
                      <a:pt x="3"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56" name="Freeform 1362"/>
              <p:cNvSpPr>
                <a:spLocks/>
              </p:cNvSpPr>
              <p:nvPr userDrawn="1"/>
            </p:nvSpPr>
            <p:spPr bwMode="gray">
              <a:xfrm>
                <a:off x="3351" y="1941"/>
                <a:ext cx="21" cy="4"/>
              </a:xfrm>
              <a:custGeom>
                <a:avLst/>
                <a:gdLst>
                  <a:gd name="T0" fmla="*/ 0 w 21"/>
                  <a:gd name="T1" fmla="*/ 2 h 4"/>
                  <a:gd name="T2" fmla="*/ 5 w 21"/>
                  <a:gd name="T3" fmla="*/ 4 h 4"/>
                  <a:gd name="T4" fmla="*/ 10 w 21"/>
                  <a:gd name="T5" fmla="*/ 4 h 4"/>
                  <a:gd name="T6" fmla="*/ 15 w 21"/>
                  <a:gd name="T7" fmla="*/ 2 h 4"/>
                  <a:gd name="T8" fmla="*/ 21 w 21"/>
                  <a:gd name="T9" fmla="*/ 0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4">
                    <a:moveTo>
                      <a:pt x="0" y="2"/>
                    </a:moveTo>
                    <a:lnTo>
                      <a:pt x="5" y="4"/>
                    </a:lnTo>
                    <a:lnTo>
                      <a:pt x="10" y="4"/>
                    </a:lnTo>
                    <a:lnTo>
                      <a:pt x="15" y="2"/>
                    </a:lnTo>
                    <a:lnTo>
                      <a:pt x="2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57" name="Line 1363"/>
              <p:cNvSpPr>
                <a:spLocks noChangeShapeType="1"/>
              </p:cNvSpPr>
              <p:nvPr userDrawn="1"/>
            </p:nvSpPr>
            <p:spPr bwMode="gray">
              <a:xfrm flipH="1">
                <a:off x="3359" y="1826"/>
                <a:ext cx="4" cy="23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58" name="Line 1364"/>
              <p:cNvSpPr>
                <a:spLocks noChangeShapeType="1"/>
              </p:cNvSpPr>
              <p:nvPr userDrawn="1"/>
            </p:nvSpPr>
            <p:spPr bwMode="gray">
              <a:xfrm flipH="1">
                <a:off x="3349" y="1831"/>
                <a:ext cx="4" cy="22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59" name="Freeform 1365"/>
              <p:cNvSpPr>
                <a:spLocks/>
              </p:cNvSpPr>
              <p:nvPr userDrawn="1"/>
            </p:nvSpPr>
            <p:spPr bwMode="gray">
              <a:xfrm>
                <a:off x="3349" y="2053"/>
                <a:ext cx="19" cy="4"/>
              </a:xfrm>
              <a:custGeom>
                <a:avLst/>
                <a:gdLst>
                  <a:gd name="T0" fmla="*/ 0 w 19"/>
                  <a:gd name="T1" fmla="*/ 2 h 4"/>
                  <a:gd name="T2" fmla="*/ 5 w 19"/>
                  <a:gd name="T3" fmla="*/ 4 h 4"/>
                  <a:gd name="T4" fmla="*/ 10 w 19"/>
                  <a:gd name="T5" fmla="*/ 4 h 4"/>
                  <a:gd name="T6" fmla="*/ 14 w 19"/>
                  <a:gd name="T7" fmla="*/ 2 h 4"/>
                  <a:gd name="T8" fmla="*/ 19 w 19"/>
                  <a:gd name="T9" fmla="*/ 0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
                    <a:moveTo>
                      <a:pt x="0" y="2"/>
                    </a:moveTo>
                    <a:lnTo>
                      <a:pt x="5" y="4"/>
                    </a:lnTo>
                    <a:lnTo>
                      <a:pt x="10" y="4"/>
                    </a:lnTo>
                    <a:lnTo>
                      <a:pt x="14" y="2"/>
                    </a:lnTo>
                    <a:lnTo>
                      <a:pt x="1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60" name="Line 1366"/>
              <p:cNvSpPr>
                <a:spLocks noChangeShapeType="1"/>
              </p:cNvSpPr>
              <p:nvPr userDrawn="1"/>
            </p:nvSpPr>
            <p:spPr bwMode="gray">
              <a:xfrm flipV="1">
                <a:off x="3368" y="1817"/>
                <a:ext cx="4" cy="23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61" name="Freeform 1367"/>
              <p:cNvSpPr>
                <a:spLocks/>
              </p:cNvSpPr>
              <p:nvPr userDrawn="1"/>
            </p:nvSpPr>
            <p:spPr bwMode="gray">
              <a:xfrm>
                <a:off x="3354" y="1817"/>
                <a:ext cx="19" cy="14"/>
              </a:xfrm>
              <a:custGeom>
                <a:avLst/>
                <a:gdLst>
                  <a:gd name="T0" fmla="*/ 0 w 19"/>
                  <a:gd name="T1" fmla="*/ 14 h 14"/>
                  <a:gd name="T2" fmla="*/ 5 w 19"/>
                  <a:gd name="T3" fmla="*/ 11 h 14"/>
                  <a:gd name="T4" fmla="*/ 11 w 19"/>
                  <a:gd name="T5" fmla="*/ 9 h 14"/>
                  <a:gd name="T6" fmla="*/ 16 w 19"/>
                  <a:gd name="T7" fmla="*/ 6 h 14"/>
                  <a:gd name="T8" fmla="*/ 19 w 19"/>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4">
                    <a:moveTo>
                      <a:pt x="0" y="14"/>
                    </a:moveTo>
                    <a:lnTo>
                      <a:pt x="5" y="11"/>
                    </a:lnTo>
                    <a:lnTo>
                      <a:pt x="11" y="9"/>
                    </a:lnTo>
                    <a:lnTo>
                      <a:pt x="16" y="6"/>
                    </a:lnTo>
                    <a:lnTo>
                      <a:pt x="1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62" name="Freeform 1368"/>
              <p:cNvSpPr>
                <a:spLocks/>
              </p:cNvSpPr>
              <p:nvPr userDrawn="1"/>
            </p:nvSpPr>
            <p:spPr bwMode="gray">
              <a:xfrm>
                <a:off x="3248" y="2017"/>
                <a:ext cx="7" cy="8"/>
              </a:xfrm>
              <a:custGeom>
                <a:avLst/>
                <a:gdLst>
                  <a:gd name="T0" fmla="*/ 0 w 7"/>
                  <a:gd name="T1" fmla="*/ 0 h 8"/>
                  <a:gd name="T2" fmla="*/ 0 w 7"/>
                  <a:gd name="T3" fmla="*/ 3 h 8"/>
                  <a:gd name="T4" fmla="*/ 1 w 7"/>
                  <a:gd name="T5" fmla="*/ 7 h 8"/>
                  <a:gd name="T6" fmla="*/ 3 w 7"/>
                  <a:gd name="T7" fmla="*/ 8 h 8"/>
                  <a:gd name="T8" fmla="*/ 5 w 7"/>
                  <a:gd name="T9" fmla="*/ 8 h 8"/>
                  <a:gd name="T10" fmla="*/ 7 w 7"/>
                  <a:gd name="T11" fmla="*/ 7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8">
                    <a:moveTo>
                      <a:pt x="0" y="0"/>
                    </a:moveTo>
                    <a:lnTo>
                      <a:pt x="0" y="3"/>
                    </a:lnTo>
                    <a:lnTo>
                      <a:pt x="1" y="7"/>
                    </a:lnTo>
                    <a:lnTo>
                      <a:pt x="3" y="8"/>
                    </a:lnTo>
                    <a:lnTo>
                      <a:pt x="5" y="8"/>
                    </a:lnTo>
                    <a:lnTo>
                      <a:pt x="7"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63" name="Line 1369"/>
              <p:cNvSpPr>
                <a:spLocks noChangeShapeType="1"/>
              </p:cNvSpPr>
              <p:nvPr userDrawn="1"/>
            </p:nvSpPr>
            <p:spPr bwMode="gray">
              <a:xfrm flipH="1" flipV="1">
                <a:off x="3150" y="1987"/>
                <a:ext cx="201"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64" name="Line 1370"/>
              <p:cNvSpPr>
                <a:spLocks noChangeShapeType="1"/>
              </p:cNvSpPr>
              <p:nvPr userDrawn="1"/>
            </p:nvSpPr>
            <p:spPr bwMode="gray">
              <a:xfrm flipH="1" flipV="1">
                <a:off x="3146" y="1980"/>
                <a:ext cx="204"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65" name="Freeform 1371"/>
              <p:cNvSpPr>
                <a:spLocks/>
              </p:cNvSpPr>
              <p:nvPr userDrawn="1"/>
            </p:nvSpPr>
            <p:spPr bwMode="gray">
              <a:xfrm>
                <a:off x="3146" y="1980"/>
                <a:ext cx="9" cy="9"/>
              </a:xfrm>
              <a:custGeom>
                <a:avLst/>
                <a:gdLst>
                  <a:gd name="T0" fmla="*/ 0 w 9"/>
                  <a:gd name="T1" fmla="*/ 0 h 9"/>
                  <a:gd name="T2" fmla="*/ 0 w 9"/>
                  <a:gd name="T3" fmla="*/ 3 h 9"/>
                  <a:gd name="T4" fmla="*/ 2 w 9"/>
                  <a:gd name="T5" fmla="*/ 5 h 9"/>
                  <a:gd name="T6" fmla="*/ 4 w 9"/>
                  <a:gd name="T7" fmla="*/ 7 h 9"/>
                  <a:gd name="T8" fmla="*/ 5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3"/>
                    </a:lnTo>
                    <a:lnTo>
                      <a:pt x="2" y="5"/>
                    </a:lnTo>
                    <a:lnTo>
                      <a:pt x="4" y="7"/>
                    </a:lnTo>
                    <a:lnTo>
                      <a:pt x="5" y="9"/>
                    </a:lnTo>
                    <a:lnTo>
                      <a:pt x="9"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66" name="Line 1372"/>
              <p:cNvSpPr>
                <a:spLocks noChangeShapeType="1"/>
              </p:cNvSpPr>
              <p:nvPr userDrawn="1"/>
            </p:nvSpPr>
            <p:spPr bwMode="gray">
              <a:xfrm>
                <a:off x="3155" y="1987"/>
                <a:ext cx="204"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67" name="Freeform 1373"/>
              <p:cNvSpPr>
                <a:spLocks/>
              </p:cNvSpPr>
              <p:nvPr userDrawn="1"/>
            </p:nvSpPr>
            <p:spPr bwMode="gray">
              <a:xfrm>
                <a:off x="3349" y="2055"/>
                <a:ext cx="9" cy="7"/>
              </a:xfrm>
              <a:custGeom>
                <a:avLst/>
                <a:gdLst>
                  <a:gd name="T0" fmla="*/ 9 w 9"/>
                  <a:gd name="T1" fmla="*/ 7 h 7"/>
                  <a:gd name="T2" fmla="*/ 5 w 9"/>
                  <a:gd name="T3" fmla="*/ 7 h 7"/>
                  <a:gd name="T4" fmla="*/ 2 w 9"/>
                  <a:gd name="T5" fmla="*/ 7 h 7"/>
                  <a:gd name="T6" fmla="*/ 2 w 9"/>
                  <a:gd name="T7" fmla="*/ 5 h 7"/>
                  <a:gd name="T8" fmla="*/ 0 w 9"/>
                  <a:gd name="T9" fmla="*/ 4 h 7"/>
                  <a:gd name="T10" fmla="*/ 0 w 9"/>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7">
                    <a:moveTo>
                      <a:pt x="9" y="7"/>
                    </a:moveTo>
                    <a:lnTo>
                      <a:pt x="5" y="7"/>
                    </a:lnTo>
                    <a:lnTo>
                      <a:pt x="2" y="7"/>
                    </a:lnTo>
                    <a:lnTo>
                      <a:pt x="2" y="5"/>
                    </a:lnTo>
                    <a:lnTo>
                      <a:pt x="0"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68" name="Freeform 1374"/>
              <p:cNvSpPr>
                <a:spLocks/>
              </p:cNvSpPr>
              <p:nvPr userDrawn="1"/>
            </p:nvSpPr>
            <p:spPr bwMode="gray">
              <a:xfrm>
                <a:off x="3150" y="1357"/>
                <a:ext cx="4" cy="7"/>
              </a:xfrm>
              <a:custGeom>
                <a:avLst/>
                <a:gdLst>
                  <a:gd name="T0" fmla="*/ 5 w 5"/>
                  <a:gd name="T1" fmla="*/ 7 h 7"/>
                  <a:gd name="T2" fmla="*/ 3 w 5"/>
                  <a:gd name="T3" fmla="*/ 7 h 7"/>
                  <a:gd name="T4" fmla="*/ 1 w 5"/>
                  <a:gd name="T5" fmla="*/ 6 h 7"/>
                  <a:gd name="T6" fmla="*/ 0 w 5"/>
                  <a:gd name="T7" fmla="*/ 4 h 7"/>
                  <a:gd name="T8" fmla="*/ 0 w 5"/>
                  <a:gd name="T9" fmla="*/ 2 h 7"/>
                  <a:gd name="T10" fmla="*/ 3 w 5"/>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7">
                    <a:moveTo>
                      <a:pt x="5" y="7"/>
                    </a:moveTo>
                    <a:lnTo>
                      <a:pt x="3" y="7"/>
                    </a:lnTo>
                    <a:lnTo>
                      <a:pt x="1" y="6"/>
                    </a:lnTo>
                    <a:lnTo>
                      <a:pt x="0" y="4"/>
                    </a:lnTo>
                    <a:lnTo>
                      <a:pt x="0" y="2"/>
                    </a:lnTo>
                    <a:lnTo>
                      <a:pt x="3"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69" name="Line 1375"/>
              <p:cNvSpPr>
                <a:spLocks noChangeShapeType="1"/>
              </p:cNvSpPr>
              <p:nvPr userDrawn="1"/>
            </p:nvSpPr>
            <p:spPr bwMode="gray">
              <a:xfrm flipV="1">
                <a:off x="3148" y="1245"/>
                <a:ext cx="4" cy="23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70" name="Line 1376"/>
              <p:cNvSpPr>
                <a:spLocks noChangeShapeType="1"/>
              </p:cNvSpPr>
              <p:nvPr userDrawn="1"/>
            </p:nvSpPr>
            <p:spPr bwMode="gray">
              <a:xfrm flipV="1">
                <a:off x="3153" y="1248"/>
                <a:ext cx="4" cy="23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71" name="Freeform 1377"/>
              <p:cNvSpPr>
                <a:spLocks/>
              </p:cNvSpPr>
              <p:nvPr userDrawn="1"/>
            </p:nvSpPr>
            <p:spPr bwMode="gray">
              <a:xfrm>
                <a:off x="3151" y="1240"/>
                <a:ext cx="6" cy="9"/>
              </a:xfrm>
              <a:custGeom>
                <a:avLst/>
                <a:gdLst>
                  <a:gd name="T0" fmla="*/ 6 w 6"/>
                  <a:gd name="T1" fmla="*/ 9 h 9"/>
                  <a:gd name="T2" fmla="*/ 4 w 6"/>
                  <a:gd name="T3" fmla="*/ 7 h 9"/>
                  <a:gd name="T4" fmla="*/ 2 w 6"/>
                  <a:gd name="T5" fmla="*/ 5 h 9"/>
                  <a:gd name="T6" fmla="*/ 0 w 6"/>
                  <a:gd name="T7" fmla="*/ 4 h 9"/>
                  <a:gd name="T8" fmla="*/ 0 w 6"/>
                  <a:gd name="T9" fmla="*/ 2 h 9"/>
                  <a:gd name="T10" fmla="*/ 4 w 6"/>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9">
                    <a:moveTo>
                      <a:pt x="6" y="9"/>
                    </a:moveTo>
                    <a:lnTo>
                      <a:pt x="4" y="7"/>
                    </a:lnTo>
                    <a:lnTo>
                      <a:pt x="2" y="5"/>
                    </a:lnTo>
                    <a:lnTo>
                      <a:pt x="0" y="4"/>
                    </a:lnTo>
                    <a:lnTo>
                      <a:pt x="0" y="2"/>
                    </a:lnTo>
                    <a:lnTo>
                      <a:pt x="4"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72" name="Line 1378"/>
              <p:cNvSpPr>
                <a:spLocks noChangeShapeType="1"/>
              </p:cNvSpPr>
              <p:nvPr userDrawn="1"/>
            </p:nvSpPr>
            <p:spPr bwMode="gray">
              <a:xfrm flipH="1">
                <a:off x="3151" y="1240"/>
                <a:ext cx="4" cy="2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73" name="Freeform 1379"/>
              <p:cNvSpPr>
                <a:spLocks/>
              </p:cNvSpPr>
              <p:nvPr userDrawn="1"/>
            </p:nvSpPr>
            <p:spPr bwMode="gray">
              <a:xfrm>
                <a:off x="3148" y="1480"/>
                <a:ext cx="5" cy="5"/>
              </a:xfrm>
              <a:custGeom>
                <a:avLst/>
                <a:gdLst>
                  <a:gd name="T0" fmla="*/ 5 w 5"/>
                  <a:gd name="T1" fmla="*/ 0 h 5"/>
                  <a:gd name="T2" fmla="*/ 3 w 5"/>
                  <a:gd name="T3" fmla="*/ 1 h 5"/>
                  <a:gd name="T4" fmla="*/ 2 w 5"/>
                  <a:gd name="T5" fmla="*/ 1 h 5"/>
                  <a:gd name="T6" fmla="*/ 0 w 5"/>
                  <a:gd name="T7" fmla="*/ 3 h 5"/>
                  <a:gd name="T8" fmla="*/ 2 w 5"/>
                  <a:gd name="T9" fmla="*/ 3 h 5"/>
                  <a:gd name="T10" fmla="*/ 3 w 5"/>
                  <a:gd name="T11" fmla="*/ 5 h 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5">
                    <a:moveTo>
                      <a:pt x="5" y="0"/>
                    </a:moveTo>
                    <a:lnTo>
                      <a:pt x="3" y="1"/>
                    </a:lnTo>
                    <a:lnTo>
                      <a:pt x="2" y="1"/>
                    </a:lnTo>
                    <a:lnTo>
                      <a:pt x="0" y="3"/>
                    </a:lnTo>
                    <a:lnTo>
                      <a:pt x="2" y="3"/>
                    </a:lnTo>
                    <a:lnTo>
                      <a:pt x="3" y="5"/>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74" name="Freeform 1380"/>
              <p:cNvSpPr>
                <a:spLocks/>
              </p:cNvSpPr>
              <p:nvPr userDrawn="1"/>
            </p:nvSpPr>
            <p:spPr bwMode="gray">
              <a:xfrm>
                <a:off x="3262" y="1265"/>
                <a:ext cx="8" cy="17"/>
              </a:xfrm>
              <a:custGeom>
                <a:avLst/>
                <a:gdLst>
                  <a:gd name="T0" fmla="*/ 0 w 8"/>
                  <a:gd name="T1" fmla="*/ 17 h 17"/>
                  <a:gd name="T2" fmla="*/ 0 w 8"/>
                  <a:gd name="T3" fmla="*/ 12 h 17"/>
                  <a:gd name="T4" fmla="*/ 1 w 8"/>
                  <a:gd name="T5" fmla="*/ 7 h 17"/>
                  <a:gd name="T6" fmla="*/ 5 w 8"/>
                  <a:gd name="T7" fmla="*/ 3 h 17"/>
                  <a:gd name="T8" fmla="*/ 8 w 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7"/>
                    </a:moveTo>
                    <a:lnTo>
                      <a:pt x="0" y="12"/>
                    </a:lnTo>
                    <a:lnTo>
                      <a:pt x="1" y="7"/>
                    </a:lnTo>
                    <a:lnTo>
                      <a:pt x="5" y="3"/>
                    </a:lnTo>
                    <a:lnTo>
                      <a:pt x="8"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75" name="Line 1381"/>
              <p:cNvSpPr>
                <a:spLocks noChangeShapeType="1"/>
              </p:cNvSpPr>
              <p:nvPr userDrawn="1"/>
            </p:nvSpPr>
            <p:spPr bwMode="gray">
              <a:xfrm>
                <a:off x="3160" y="1238"/>
                <a:ext cx="208" cy="6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76" name="Line 1382"/>
              <p:cNvSpPr>
                <a:spLocks noChangeShapeType="1"/>
              </p:cNvSpPr>
              <p:nvPr userDrawn="1"/>
            </p:nvSpPr>
            <p:spPr bwMode="gray">
              <a:xfrm>
                <a:off x="3158" y="1248"/>
                <a:ext cx="209" cy="6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77" name="Freeform 1383"/>
              <p:cNvSpPr>
                <a:spLocks/>
              </p:cNvSpPr>
              <p:nvPr userDrawn="1"/>
            </p:nvSpPr>
            <p:spPr bwMode="gray">
              <a:xfrm>
                <a:off x="3366" y="1300"/>
                <a:ext cx="9" cy="17"/>
              </a:xfrm>
              <a:custGeom>
                <a:avLst/>
                <a:gdLst>
                  <a:gd name="T0" fmla="*/ 0 w 9"/>
                  <a:gd name="T1" fmla="*/ 17 h 17"/>
                  <a:gd name="T2" fmla="*/ 0 w 9"/>
                  <a:gd name="T3" fmla="*/ 12 h 17"/>
                  <a:gd name="T4" fmla="*/ 2 w 9"/>
                  <a:gd name="T5" fmla="*/ 7 h 17"/>
                  <a:gd name="T6" fmla="*/ 6 w 9"/>
                  <a:gd name="T7" fmla="*/ 3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0" y="12"/>
                    </a:lnTo>
                    <a:lnTo>
                      <a:pt x="2" y="7"/>
                    </a:lnTo>
                    <a:lnTo>
                      <a:pt x="6" y="3"/>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78" name="Line 1384"/>
              <p:cNvSpPr>
                <a:spLocks noChangeShapeType="1"/>
              </p:cNvSpPr>
              <p:nvPr userDrawn="1"/>
            </p:nvSpPr>
            <p:spPr bwMode="gray">
              <a:xfrm flipH="1" flipV="1">
                <a:off x="3165" y="1231"/>
                <a:ext cx="213" cy="6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79" name="Freeform 1385"/>
              <p:cNvSpPr>
                <a:spLocks/>
              </p:cNvSpPr>
              <p:nvPr userDrawn="1"/>
            </p:nvSpPr>
            <p:spPr bwMode="gray">
              <a:xfrm>
                <a:off x="3158" y="1231"/>
                <a:ext cx="4" cy="18"/>
              </a:xfrm>
              <a:custGeom>
                <a:avLst/>
                <a:gdLst>
                  <a:gd name="T0" fmla="*/ 0 w 8"/>
                  <a:gd name="T1" fmla="*/ 18 h 18"/>
                  <a:gd name="T2" fmla="*/ 1 w 8"/>
                  <a:gd name="T3" fmla="*/ 13 h 18"/>
                  <a:gd name="T4" fmla="*/ 3 w 8"/>
                  <a:gd name="T5" fmla="*/ 7 h 18"/>
                  <a:gd name="T6" fmla="*/ 5 w 8"/>
                  <a:gd name="T7" fmla="*/ 4 h 18"/>
                  <a:gd name="T8" fmla="*/ 8 w 8"/>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8">
                    <a:moveTo>
                      <a:pt x="0" y="18"/>
                    </a:moveTo>
                    <a:lnTo>
                      <a:pt x="1" y="13"/>
                    </a:lnTo>
                    <a:lnTo>
                      <a:pt x="3" y="7"/>
                    </a:lnTo>
                    <a:lnTo>
                      <a:pt x="5" y="4"/>
                    </a:lnTo>
                    <a:lnTo>
                      <a:pt x="8"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80" name="Freeform 1386"/>
              <p:cNvSpPr>
                <a:spLocks/>
              </p:cNvSpPr>
              <p:nvPr userDrawn="1"/>
            </p:nvSpPr>
            <p:spPr bwMode="gray">
              <a:xfrm>
                <a:off x="3363" y="1433"/>
                <a:ext cx="22" cy="3"/>
              </a:xfrm>
              <a:custGeom>
                <a:avLst/>
                <a:gdLst>
                  <a:gd name="T0" fmla="*/ 0 w 21"/>
                  <a:gd name="T1" fmla="*/ 1 h 3"/>
                  <a:gd name="T2" fmla="*/ 5 w 21"/>
                  <a:gd name="T3" fmla="*/ 3 h 3"/>
                  <a:gd name="T4" fmla="*/ 10 w 21"/>
                  <a:gd name="T5" fmla="*/ 3 h 3"/>
                  <a:gd name="T6" fmla="*/ 16 w 21"/>
                  <a:gd name="T7" fmla="*/ 1 h 3"/>
                  <a:gd name="T8" fmla="*/ 21 w 21"/>
                  <a:gd name="T9" fmla="*/ 0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
                    <a:moveTo>
                      <a:pt x="0" y="1"/>
                    </a:moveTo>
                    <a:lnTo>
                      <a:pt x="5" y="3"/>
                    </a:lnTo>
                    <a:lnTo>
                      <a:pt x="10" y="3"/>
                    </a:lnTo>
                    <a:lnTo>
                      <a:pt x="16" y="1"/>
                    </a:lnTo>
                    <a:lnTo>
                      <a:pt x="2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81" name="Line 1387"/>
              <p:cNvSpPr>
                <a:spLocks noChangeShapeType="1"/>
              </p:cNvSpPr>
              <p:nvPr userDrawn="1"/>
            </p:nvSpPr>
            <p:spPr bwMode="gray">
              <a:xfrm flipH="1">
                <a:off x="3372" y="1318"/>
                <a:ext cx="5" cy="23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82" name="Line 1388"/>
              <p:cNvSpPr>
                <a:spLocks noChangeShapeType="1"/>
              </p:cNvSpPr>
              <p:nvPr userDrawn="1"/>
            </p:nvSpPr>
            <p:spPr bwMode="gray">
              <a:xfrm flipH="1">
                <a:off x="3361" y="1317"/>
                <a:ext cx="5" cy="23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83" name="Freeform 1389"/>
              <p:cNvSpPr>
                <a:spLocks/>
              </p:cNvSpPr>
              <p:nvPr userDrawn="1"/>
            </p:nvSpPr>
            <p:spPr bwMode="gray">
              <a:xfrm>
                <a:off x="3361" y="1551"/>
                <a:ext cx="19" cy="13"/>
              </a:xfrm>
              <a:custGeom>
                <a:avLst/>
                <a:gdLst>
                  <a:gd name="T0" fmla="*/ 0 w 19"/>
                  <a:gd name="T1" fmla="*/ 0 h 11"/>
                  <a:gd name="T2" fmla="*/ 5 w 19"/>
                  <a:gd name="T3" fmla="*/ 6 h 11"/>
                  <a:gd name="T4" fmla="*/ 12 w 19"/>
                  <a:gd name="T5" fmla="*/ 9 h 11"/>
                  <a:gd name="T6" fmla="*/ 19 w 19"/>
                  <a:gd name="T7" fmla="*/ 11 h 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1">
                    <a:moveTo>
                      <a:pt x="0" y="0"/>
                    </a:moveTo>
                    <a:lnTo>
                      <a:pt x="5" y="6"/>
                    </a:lnTo>
                    <a:lnTo>
                      <a:pt x="12" y="9"/>
                    </a:lnTo>
                    <a:lnTo>
                      <a:pt x="19" y="1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84" name="Line 1390"/>
              <p:cNvSpPr>
                <a:spLocks noChangeShapeType="1"/>
              </p:cNvSpPr>
              <p:nvPr userDrawn="1"/>
            </p:nvSpPr>
            <p:spPr bwMode="gray">
              <a:xfrm flipV="1">
                <a:off x="3380" y="1315"/>
                <a:ext cx="6" cy="2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85" name="Freeform 1391"/>
              <p:cNvSpPr>
                <a:spLocks/>
              </p:cNvSpPr>
              <p:nvPr userDrawn="1"/>
            </p:nvSpPr>
            <p:spPr bwMode="gray">
              <a:xfrm>
                <a:off x="3366" y="1315"/>
                <a:ext cx="20" cy="4"/>
              </a:xfrm>
              <a:custGeom>
                <a:avLst/>
                <a:gdLst>
                  <a:gd name="T0" fmla="*/ 20 w 20"/>
                  <a:gd name="T1" fmla="*/ 0 h 4"/>
                  <a:gd name="T2" fmla="*/ 14 w 20"/>
                  <a:gd name="T3" fmla="*/ 4 h 4"/>
                  <a:gd name="T4" fmla="*/ 11 w 20"/>
                  <a:gd name="T5" fmla="*/ 4 h 4"/>
                  <a:gd name="T6" fmla="*/ 6 w 20"/>
                  <a:gd name="T7" fmla="*/ 4 h 4"/>
                  <a:gd name="T8" fmla="*/ 0 w 20"/>
                  <a:gd name="T9" fmla="*/ 2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4">
                    <a:moveTo>
                      <a:pt x="20" y="0"/>
                    </a:moveTo>
                    <a:lnTo>
                      <a:pt x="14" y="4"/>
                    </a:lnTo>
                    <a:lnTo>
                      <a:pt x="11" y="4"/>
                    </a:lnTo>
                    <a:lnTo>
                      <a:pt x="6" y="4"/>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86" name="Freeform 1392"/>
              <p:cNvSpPr>
                <a:spLocks/>
              </p:cNvSpPr>
              <p:nvPr userDrawn="1"/>
            </p:nvSpPr>
            <p:spPr bwMode="gray">
              <a:xfrm>
                <a:off x="3515" y="1840"/>
                <a:ext cx="4" cy="9"/>
              </a:xfrm>
              <a:custGeom>
                <a:avLst/>
                <a:gdLst>
                  <a:gd name="T0" fmla="*/ 0 w 5"/>
                  <a:gd name="T1" fmla="*/ 0 h 9"/>
                  <a:gd name="T2" fmla="*/ 2 w 5"/>
                  <a:gd name="T3" fmla="*/ 2 h 9"/>
                  <a:gd name="T4" fmla="*/ 5 w 5"/>
                  <a:gd name="T5" fmla="*/ 4 h 9"/>
                  <a:gd name="T6" fmla="*/ 5 w 5"/>
                  <a:gd name="T7" fmla="*/ 5 h 9"/>
                  <a:gd name="T8" fmla="*/ 5 w 5"/>
                  <a:gd name="T9" fmla="*/ 7 h 9"/>
                  <a:gd name="T10" fmla="*/ 4 w 5"/>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9">
                    <a:moveTo>
                      <a:pt x="0" y="0"/>
                    </a:moveTo>
                    <a:lnTo>
                      <a:pt x="2" y="2"/>
                    </a:lnTo>
                    <a:lnTo>
                      <a:pt x="5" y="4"/>
                    </a:lnTo>
                    <a:lnTo>
                      <a:pt x="5" y="5"/>
                    </a:lnTo>
                    <a:lnTo>
                      <a:pt x="5" y="7"/>
                    </a:lnTo>
                    <a:lnTo>
                      <a:pt x="4"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87" name="Line 1393"/>
              <p:cNvSpPr>
                <a:spLocks noChangeShapeType="1"/>
              </p:cNvSpPr>
              <p:nvPr userDrawn="1"/>
            </p:nvSpPr>
            <p:spPr bwMode="gray">
              <a:xfrm flipH="1">
                <a:off x="3517" y="1726"/>
                <a:ext cx="7" cy="2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88" name="Line 1394"/>
              <p:cNvSpPr>
                <a:spLocks noChangeShapeType="1"/>
              </p:cNvSpPr>
              <p:nvPr userDrawn="1"/>
            </p:nvSpPr>
            <p:spPr bwMode="gray">
              <a:xfrm flipH="1">
                <a:off x="3512" y="1728"/>
                <a:ext cx="7" cy="22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89" name="Freeform 1395"/>
              <p:cNvSpPr>
                <a:spLocks/>
              </p:cNvSpPr>
              <p:nvPr userDrawn="1"/>
            </p:nvSpPr>
            <p:spPr bwMode="gray">
              <a:xfrm>
                <a:off x="3512" y="1950"/>
                <a:ext cx="5" cy="9"/>
              </a:xfrm>
              <a:custGeom>
                <a:avLst/>
                <a:gdLst>
                  <a:gd name="T0" fmla="*/ 0 w 5"/>
                  <a:gd name="T1" fmla="*/ 0 h 9"/>
                  <a:gd name="T2" fmla="*/ 3 w 5"/>
                  <a:gd name="T3" fmla="*/ 2 h 9"/>
                  <a:gd name="T4" fmla="*/ 5 w 5"/>
                  <a:gd name="T5" fmla="*/ 4 h 9"/>
                  <a:gd name="T6" fmla="*/ 5 w 5"/>
                  <a:gd name="T7" fmla="*/ 5 h 9"/>
                  <a:gd name="T8" fmla="*/ 5 w 5"/>
                  <a:gd name="T9" fmla="*/ 7 h 9"/>
                  <a:gd name="T10" fmla="*/ 3 w 5"/>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9">
                    <a:moveTo>
                      <a:pt x="0" y="0"/>
                    </a:moveTo>
                    <a:lnTo>
                      <a:pt x="3" y="2"/>
                    </a:lnTo>
                    <a:lnTo>
                      <a:pt x="5" y="4"/>
                    </a:lnTo>
                    <a:lnTo>
                      <a:pt x="5" y="5"/>
                    </a:lnTo>
                    <a:lnTo>
                      <a:pt x="5" y="7"/>
                    </a:lnTo>
                    <a:lnTo>
                      <a:pt x="3"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90" name="Line 1396"/>
              <p:cNvSpPr>
                <a:spLocks noChangeShapeType="1"/>
              </p:cNvSpPr>
              <p:nvPr userDrawn="1"/>
            </p:nvSpPr>
            <p:spPr bwMode="gray">
              <a:xfrm flipV="1">
                <a:off x="3515" y="1725"/>
                <a:ext cx="4" cy="23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91" name="Freeform 1397"/>
              <p:cNvSpPr>
                <a:spLocks/>
              </p:cNvSpPr>
              <p:nvPr userDrawn="1"/>
            </p:nvSpPr>
            <p:spPr bwMode="gray">
              <a:xfrm>
                <a:off x="3519" y="1725"/>
                <a:ext cx="5" cy="4"/>
              </a:xfrm>
              <a:custGeom>
                <a:avLst/>
                <a:gdLst>
                  <a:gd name="T0" fmla="*/ 0 w 5"/>
                  <a:gd name="T1" fmla="*/ 3 h 3"/>
                  <a:gd name="T2" fmla="*/ 1 w 5"/>
                  <a:gd name="T3" fmla="*/ 3 h 3"/>
                  <a:gd name="T4" fmla="*/ 3 w 5"/>
                  <a:gd name="T5" fmla="*/ 3 h 3"/>
                  <a:gd name="T6" fmla="*/ 5 w 5"/>
                  <a:gd name="T7" fmla="*/ 1 h 3"/>
                  <a:gd name="T8" fmla="*/ 5 w 5"/>
                  <a:gd name="T9" fmla="*/ 1 h 3"/>
                  <a:gd name="T10" fmla="*/ 5 w 5"/>
                  <a:gd name="T11" fmla="*/ 1 h 3"/>
                  <a:gd name="T12" fmla="*/ 5 w 5"/>
                  <a:gd name="T13" fmla="*/ 1 h 3"/>
                  <a:gd name="T14" fmla="*/ 3 w 5"/>
                  <a:gd name="T15" fmla="*/ 0 h 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 h="3">
                    <a:moveTo>
                      <a:pt x="0" y="3"/>
                    </a:moveTo>
                    <a:lnTo>
                      <a:pt x="1" y="3"/>
                    </a:lnTo>
                    <a:lnTo>
                      <a:pt x="3" y="3"/>
                    </a:lnTo>
                    <a:lnTo>
                      <a:pt x="5" y="1"/>
                    </a:lnTo>
                    <a:lnTo>
                      <a:pt x="3"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92" name="Freeform 1398"/>
              <p:cNvSpPr>
                <a:spLocks/>
              </p:cNvSpPr>
              <p:nvPr userDrawn="1"/>
            </p:nvSpPr>
            <p:spPr bwMode="gray">
              <a:xfrm>
                <a:off x="3503" y="1950"/>
                <a:ext cx="9" cy="18"/>
              </a:xfrm>
              <a:custGeom>
                <a:avLst/>
                <a:gdLst>
                  <a:gd name="T0" fmla="*/ 0 w 9"/>
                  <a:gd name="T1" fmla="*/ 18 h 18"/>
                  <a:gd name="T2" fmla="*/ 3 w 9"/>
                  <a:gd name="T3" fmla="*/ 14 h 18"/>
                  <a:gd name="T4" fmla="*/ 7 w 9"/>
                  <a:gd name="T5" fmla="*/ 9 h 18"/>
                  <a:gd name="T6" fmla="*/ 9 w 9"/>
                  <a:gd name="T7" fmla="*/ 5 h 18"/>
                  <a:gd name="T8" fmla="*/ 9 w 9"/>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0" y="18"/>
                    </a:moveTo>
                    <a:lnTo>
                      <a:pt x="3" y="14"/>
                    </a:lnTo>
                    <a:lnTo>
                      <a:pt x="7" y="9"/>
                    </a:lnTo>
                    <a:lnTo>
                      <a:pt x="9" y="5"/>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93" name="Freeform 1399"/>
              <p:cNvSpPr>
                <a:spLocks/>
              </p:cNvSpPr>
              <p:nvPr userDrawn="1"/>
            </p:nvSpPr>
            <p:spPr bwMode="gray">
              <a:xfrm>
                <a:off x="3307" y="1153"/>
                <a:ext cx="19" cy="4"/>
              </a:xfrm>
              <a:custGeom>
                <a:avLst/>
                <a:gdLst>
                  <a:gd name="T0" fmla="*/ 19 w 19"/>
                  <a:gd name="T1" fmla="*/ 2 h 2"/>
                  <a:gd name="T2" fmla="*/ 14 w 19"/>
                  <a:gd name="T3" fmla="*/ 0 h 2"/>
                  <a:gd name="T4" fmla="*/ 9 w 19"/>
                  <a:gd name="T5" fmla="*/ 0 h 2"/>
                  <a:gd name="T6" fmla="*/ 3 w 19"/>
                  <a:gd name="T7" fmla="*/ 0 h 2"/>
                  <a:gd name="T8" fmla="*/ 0 w 19"/>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
                    <a:moveTo>
                      <a:pt x="19" y="2"/>
                    </a:moveTo>
                    <a:lnTo>
                      <a:pt x="14" y="0"/>
                    </a:lnTo>
                    <a:lnTo>
                      <a:pt x="9" y="0"/>
                    </a:lnTo>
                    <a:lnTo>
                      <a:pt x="3"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94" name="Freeform 1400"/>
              <p:cNvSpPr>
                <a:spLocks/>
              </p:cNvSpPr>
              <p:nvPr userDrawn="1"/>
            </p:nvSpPr>
            <p:spPr bwMode="gray">
              <a:xfrm>
                <a:off x="2347" y="1774"/>
                <a:ext cx="13" cy="17"/>
              </a:xfrm>
              <a:custGeom>
                <a:avLst/>
                <a:gdLst>
                  <a:gd name="T0" fmla="*/ 0 w 10"/>
                  <a:gd name="T1" fmla="*/ 0 h 17"/>
                  <a:gd name="T2" fmla="*/ 3 w 10"/>
                  <a:gd name="T3" fmla="*/ 3 h 17"/>
                  <a:gd name="T4" fmla="*/ 7 w 10"/>
                  <a:gd name="T5" fmla="*/ 7 h 17"/>
                  <a:gd name="T6" fmla="*/ 9 w 10"/>
                  <a:gd name="T7" fmla="*/ 12 h 17"/>
                  <a:gd name="T8" fmla="*/ 10 w 10"/>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7">
                    <a:moveTo>
                      <a:pt x="0" y="0"/>
                    </a:moveTo>
                    <a:lnTo>
                      <a:pt x="3" y="3"/>
                    </a:lnTo>
                    <a:lnTo>
                      <a:pt x="7" y="7"/>
                    </a:lnTo>
                    <a:lnTo>
                      <a:pt x="9" y="12"/>
                    </a:lnTo>
                    <a:lnTo>
                      <a:pt x="10" y="1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95" name="Freeform 1401"/>
              <p:cNvSpPr>
                <a:spLocks/>
              </p:cNvSpPr>
              <p:nvPr userDrawn="1"/>
            </p:nvSpPr>
            <p:spPr bwMode="gray">
              <a:xfrm>
                <a:off x="3529" y="1338"/>
                <a:ext cx="7" cy="9"/>
              </a:xfrm>
              <a:custGeom>
                <a:avLst/>
                <a:gdLst>
                  <a:gd name="T0" fmla="*/ 0 w 7"/>
                  <a:gd name="T1" fmla="*/ 0 h 9"/>
                  <a:gd name="T2" fmla="*/ 4 w 7"/>
                  <a:gd name="T3" fmla="*/ 0 h 9"/>
                  <a:gd name="T4" fmla="*/ 5 w 7"/>
                  <a:gd name="T5" fmla="*/ 2 h 9"/>
                  <a:gd name="T6" fmla="*/ 7 w 7"/>
                  <a:gd name="T7" fmla="*/ 4 h 9"/>
                  <a:gd name="T8" fmla="*/ 7 w 7"/>
                  <a:gd name="T9" fmla="*/ 7 h 9"/>
                  <a:gd name="T10" fmla="*/ 4 w 7"/>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0" y="0"/>
                    </a:moveTo>
                    <a:lnTo>
                      <a:pt x="4" y="0"/>
                    </a:lnTo>
                    <a:lnTo>
                      <a:pt x="5" y="2"/>
                    </a:lnTo>
                    <a:lnTo>
                      <a:pt x="7" y="4"/>
                    </a:lnTo>
                    <a:lnTo>
                      <a:pt x="7" y="7"/>
                    </a:lnTo>
                    <a:lnTo>
                      <a:pt x="4"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96" name="Line 1402"/>
              <p:cNvSpPr>
                <a:spLocks noChangeShapeType="1"/>
              </p:cNvSpPr>
              <p:nvPr userDrawn="1"/>
            </p:nvSpPr>
            <p:spPr bwMode="gray">
              <a:xfrm flipH="1">
                <a:off x="3533" y="1226"/>
                <a:ext cx="7" cy="23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97" name="Line 1403"/>
              <p:cNvSpPr>
                <a:spLocks noChangeShapeType="1"/>
              </p:cNvSpPr>
              <p:nvPr userDrawn="1"/>
            </p:nvSpPr>
            <p:spPr bwMode="gray">
              <a:xfrm flipH="1">
                <a:off x="3527" y="1221"/>
                <a:ext cx="6" cy="23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98" name="Freeform 1404"/>
              <p:cNvSpPr>
                <a:spLocks/>
              </p:cNvSpPr>
              <p:nvPr userDrawn="1"/>
            </p:nvSpPr>
            <p:spPr bwMode="gray">
              <a:xfrm>
                <a:off x="3527" y="1452"/>
                <a:ext cx="6" cy="22"/>
              </a:xfrm>
              <a:custGeom>
                <a:avLst/>
                <a:gdLst>
                  <a:gd name="T0" fmla="*/ 0 w 6"/>
                  <a:gd name="T1" fmla="*/ 0 h 22"/>
                  <a:gd name="T2" fmla="*/ 2 w 6"/>
                  <a:gd name="T3" fmla="*/ 5 h 22"/>
                  <a:gd name="T4" fmla="*/ 6 w 6"/>
                  <a:gd name="T5" fmla="*/ 8 h 22"/>
                  <a:gd name="T6" fmla="*/ 6 w 6"/>
                  <a:gd name="T7" fmla="*/ 12 h 22"/>
                  <a:gd name="T8" fmla="*/ 6 w 6"/>
                  <a:gd name="T9" fmla="*/ 17 h 22"/>
                  <a:gd name="T10" fmla="*/ 2 w 6"/>
                  <a:gd name="T11" fmla="*/ 22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22">
                    <a:moveTo>
                      <a:pt x="0" y="0"/>
                    </a:moveTo>
                    <a:lnTo>
                      <a:pt x="2" y="5"/>
                    </a:lnTo>
                    <a:lnTo>
                      <a:pt x="6" y="8"/>
                    </a:lnTo>
                    <a:lnTo>
                      <a:pt x="6" y="12"/>
                    </a:lnTo>
                    <a:lnTo>
                      <a:pt x="6" y="17"/>
                    </a:lnTo>
                    <a:lnTo>
                      <a:pt x="2" y="2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99" name="Line 1405"/>
              <p:cNvSpPr>
                <a:spLocks noChangeShapeType="1"/>
              </p:cNvSpPr>
              <p:nvPr userDrawn="1"/>
            </p:nvSpPr>
            <p:spPr bwMode="gray">
              <a:xfrm flipV="1">
                <a:off x="3529" y="1230"/>
                <a:ext cx="7" cy="24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00" name="Freeform 1406"/>
              <p:cNvSpPr>
                <a:spLocks/>
              </p:cNvSpPr>
              <p:nvPr userDrawn="1"/>
            </p:nvSpPr>
            <p:spPr bwMode="gray">
              <a:xfrm>
                <a:off x="3533" y="1221"/>
                <a:ext cx="7" cy="9"/>
              </a:xfrm>
              <a:custGeom>
                <a:avLst/>
                <a:gdLst>
                  <a:gd name="T0" fmla="*/ 3 w 7"/>
                  <a:gd name="T1" fmla="*/ 9 h 9"/>
                  <a:gd name="T2" fmla="*/ 7 w 7"/>
                  <a:gd name="T3" fmla="*/ 7 h 9"/>
                  <a:gd name="T4" fmla="*/ 7 w 7"/>
                  <a:gd name="T5" fmla="*/ 5 h 9"/>
                  <a:gd name="T6" fmla="*/ 5 w 7"/>
                  <a:gd name="T7" fmla="*/ 3 h 9"/>
                  <a:gd name="T8" fmla="*/ 3 w 7"/>
                  <a:gd name="T9" fmla="*/ 2 h 9"/>
                  <a:gd name="T10" fmla="*/ 0 w 7"/>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9">
                    <a:moveTo>
                      <a:pt x="3" y="9"/>
                    </a:moveTo>
                    <a:lnTo>
                      <a:pt x="7" y="7"/>
                    </a:lnTo>
                    <a:lnTo>
                      <a:pt x="7" y="5"/>
                    </a:lnTo>
                    <a:lnTo>
                      <a:pt x="5" y="3"/>
                    </a:lnTo>
                    <a:lnTo>
                      <a:pt x="3"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01" name="Freeform 1407"/>
              <p:cNvSpPr>
                <a:spLocks/>
              </p:cNvSpPr>
              <p:nvPr userDrawn="1"/>
            </p:nvSpPr>
            <p:spPr bwMode="gray">
              <a:xfrm>
                <a:off x="3143" y="1985"/>
                <a:ext cx="12" cy="9"/>
              </a:xfrm>
              <a:custGeom>
                <a:avLst/>
                <a:gdLst>
                  <a:gd name="T0" fmla="*/ 12 w 12"/>
                  <a:gd name="T1" fmla="*/ 2 h 9"/>
                  <a:gd name="T2" fmla="*/ 8 w 12"/>
                  <a:gd name="T3" fmla="*/ 0 h 9"/>
                  <a:gd name="T4" fmla="*/ 5 w 12"/>
                  <a:gd name="T5" fmla="*/ 2 h 9"/>
                  <a:gd name="T6" fmla="*/ 1 w 12"/>
                  <a:gd name="T7" fmla="*/ 4 h 9"/>
                  <a:gd name="T8" fmla="*/ 1 w 12"/>
                  <a:gd name="T9" fmla="*/ 5 h 9"/>
                  <a:gd name="T10" fmla="*/ 0 w 12"/>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9">
                    <a:moveTo>
                      <a:pt x="12" y="2"/>
                    </a:moveTo>
                    <a:lnTo>
                      <a:pt x="8" y="0"/>
                    </a:lnTo>
                    <a:lnTo>
                      <a:pt x="5" y="2"/>
                    </a:lnTo>
                    <a:lnTo>
                      <a:pt x="1" y="4"/>
                    </a:lnTo>
                    <a:lnTo>
                      <a:pt x="1" y="5"/>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02" name="Freeform 1408"/>
              <p:cNvSpPr>
                <a:spLocks/>
              </p:cNvSpPr>
              <p:nvPr userDrawn="1"/>
            </p:nvSpPr>
            <p:spPr bwMode="gray">
              <a:xfrm>
                <a:off x="3220" y="1182"/>
                <a:ext cx="10" cy="16"/>
              </a:xfrm>
              <a:custGeom>
                <a:avLst/>
                <a:gdLst>
                  <a:gd name="T0" fmla="*/ 10 w 10"/>
                  <a:gd name="T1" fmla="*/ 16 h 16"/>
                  <a:gd name="T2" fmla="*/ 10 w 10"/>
                  <a:gd name="T3" fmla="*/ 11 h 16"/>
                  <a:gd name="T4" fmla="*/ 8 w 10"/>
                  <a:gd name="T5" fmla="*/ 6 h 16"/>
                  <a:gd name="T6" fmla="*/ 5 w 10"/>
                  <a:gd name="T7" fmla="*/ 2 h 16"/>
                  <a:gd name="T8" fmla="*/ 0 w 10"/>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10" y="16"/>
                    </a:moveTo>
                    <a:lnTo>
                      <a:pt x="10" y="11"/>
                    </a:lnTo>
                    <a:lnTo>
                      <a:pt x="8" y="6"/>
                    </a:lnTo>
                    <a:lnTo>
                      <a:pt x="5"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03" name="Line 1409"/>
              <p:cNvSpPr>
                <a:spLocks noChangeShapeType="1"/>
              </p:cNvSpPr>
              <p:nvPr userDrawn="1"/>
            </p:nvSpPr>
            <p:spPr bwMode="gray">
              <a:xfrm flipV="1">
                <a:off x="3151" y="1147"/>
                <a:ext cx="152" cy="8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04" name="Line 1410"/>
              <p:cNvSpPr>
                <a:spLocks noChangeShapeType="1"/>
              </p:cNvSpPr>
              <p:nvPr userDrawn="1"/>
            </p:nvSpPr>
            <p:spPr bwMode="gray">
              <a:xfrm flipV="1">
                <a:off x="3155" y="1156"/>
                <a:ext cx="152" cy="8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05" name="Freeform 1411"/>
              <p:cNvSpPr>
                <a:spLocks/>
              </p:cNvSpPr>
              <p:nvPr userDrawn="1"/>
            </p:nvSpPr>
            <p:spPr bwMode="gray">
              <a:xfrm>
                <a:off x="3295" y="1140"/>
                <a:ext cx="13" cy="16"/>
              </a:xfrm>
              <a:custGeom>
                <a:avLst/>
                <a:gdLst>
                  <a:gd name="T0" fmla="*/ 12 w 12"/>
                  <a:gd name="T1" fmla="*/ 16 h 16"/>
                  <a:gd name="T2" fmla="*/ 10 w 12"/>
                  <a:gd name="T3" fmla="*/ 11 h 16"/>
                  <a:gd name="T4" fmla="*/ 8 w 12"/>
                  <a:gd name="T5" fmla="*/ 7 h 16"/>
                  <a:gd name="T6" fmla="*/ 5 w 12"/>
                  <a:gd name="T7" fmla="*/ 2 h 16"/>
                  <a:gd name="T8" fmla="*/ 0 w 12"/>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6">
                    <a:moveTo>
                      <a:pt x="12" y="16"/>
                    </a:moveTo>
                    <a:lnTo>
                      <a:pt x="10" y="11"/>
                    </a:lnTo>
                    <a:lnTo>
                      <a:pt x="8" y="7"/>
                    </a:lnTo>
                    <a:lnTo>
                      <a:pt x="5"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06" name="Line 1412"/>
              <p:cNvSpPr>
                <a:spLocks noChangeShapeType="1"/>
              </p:cNvSpPr>
              <p:nvPr userDrawn="1"/>
            </p:nvSpPr>
            <p:spPr bwMode="gray">
              <a:xfrm flipH="1">
                <a:off x="3143" y="1140"/>
                <a:ext cx="152" cy="8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07" name="Freeform 1413"/>
              <p:cNvSpPr>
                <a:spLocks/>
              </p:cNvSpPr>
              <p:nvPr userDrawn="1"/>
            </p:nvSpPr>
            <p:spPr bwMode="gray">
              <a:xfrm>
                <a:off x="3143" y="1222"/>
                <a:ext cx="12" cy="17"/>
              </a:xfrm>
              <a:custGeom>
                <a:avLst/>
                <a:gdLst>
                  <a:gd name="T0" fmla="*/ 12 w 12"/>
                  <a:gd name="T1" fmla="*/ 17 h 17"/>
                  <a:gd name="T2" fmla="*/ 10 w 12"/>
                  <a:gd name="T3" fmla="*/ 12 h 17"/>
                  <a:gd name="T4" fmla="*/ 8 w 12"/>
                  <a:gd name="T5" fmla="*/ 7 h 17"/>
                  <a:gd name="T6" fmla="*/ 5 w 12"/>
                  <a:gd name="T7" fmla="*/ 3 h 17"/>
                  <a:gd name="T8" fmla="*/ 0 w 12"/>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7">
                    <a:moveTo>
                      <a:pt x="12" y="17"/>
                    </a:moveTo>
                    <a:lnTo>
                      <a:pt x="10" y="12"/>
                    </a:lnTo>
                    <a:lnTo>
                      <a:pt x="8" y="7"/>
                    </a:lnTo>
                    <a:lnTo>
                      <a:pt x="5" y="3"/>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08" name="Freeform 1414"/>
              <p:cNvSpPr>
                <a:spLocks/>
              </p:cNvSpPr>
              <p:nvPr userDrawn="1"/>
            </p:nvSpPr>
            <p:spPr bwMode="gray">
              <a:xfrm>
                <a:off x="3232" y="1172"/>
                <a:ext cx="10" cy="13"/>
              </a:xfrm>
              <a:custGeom>
                <a:avLst/>
                <a:gdLst>
                  <a:gd name="T0" fmla="*/ 10 w 10"/>
                  <a:gd name="T1" fmla="*/ 17 h 17"/>
                  <a:gd name="T2" fmla="*/ 7 w 10"/>
                  <a:gd name="T3" fmla="*/ 14 h 17"/>
                  <a:gd name="T4" fmla="*/ 3 w 10"/>
                  <a:gd name="T5" fmla="*/ 10 h 17"/>
                  <a:gd name="T6" fmla="*/ 0 w 10"/>
                  <a:gd name="T7" fmla="*/ 5 h 17"/>
                  <a:gd name="T8" fmla="*/ 0 w 1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7">
                    <a:moveTo>
                      <a:pt x="10" y="17"/>
                    </a:moveTo>
                    <a:lnTo>
                      <a:pt x="7" y="14"/>
                    </a:lnTo>
                    <a:lnTo>
                      <a:pt x="3" y="10"/>
                    </a:lnTo>
                    <a:lnTo>
                      <a:pt x="0"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09" name="Line 1415"/>
              <p:cNvSpPr>
                <a:spLocks noChangeShapeType="1"/>
              </p:cNvSpPr>
              <p:nvPr userDrawn="1"/>
            </p:nvSpPr>
            <p:spPr bwMode="gray">
              <a:xfrm flipH="1">
                <a:off x="3158" y="1140"/>
                <a:ext cx="152" cy="8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10" name="Line 1416"/>
              <p:cNvSpPr>
                <a:spLocks noChangeShapeType="1"/>
              </p:cNvSpPr>
              <p:nvPr userDrawn="1"/>
            </p:nvSpPr>
            <p:spPr bwMode="gray">
              <a:xfrm flipH="1">
                <a:off x="3165" y="1147"/>
                <a:ext cx="152" cy="8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11" name="Freeform 1417"/>
              <p:cNvSpPr>
                <a:spLocks/>
              </p:cNvSpPr>
              <p:nvPr userDrawn="1"/>
            </p:nvSpPr>
            <p:spPr bwMode="gray">
              <a:xfrm>
                <a:off x="3155" y="1214"/>
                <a:ext cx="10" cy="17"/>
              </a:xfrm>
              <a:custGeom>
                <a:avLst/>
                <a:gdLst>
                  <a:gd name="T0" fmla="*/ 10 w 10"/>
                  <a:gd name="T1" fmla="*/ 17 h 17"/>
                  <a:gd name="T2" fmla="*/ 7 w 10"/>
                  <a:gd name="T3" fmla="*/ 14 h 17"/>
                  <a:gd name="T4" fmla="*/ 3 w 10"/>
                  <a:gd name="T5" fmla="*/ 10 h 17"/>
                  <a:gd name="T6" fmla="*/ 0 w 10"/>
                  <a:gd name="T7" fmla="*/ 5 h 17"/>
                  <a:gd name="T8" fmla="*/ 0 w 1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7">
                    <a:moveTo>
                      <a:pt x="10" y="17"/>
                    </a:moveTo>
                    <a:lnTo>
                      <a:pt x="7" y="14"/>
                    </a:lnTo>
                    <a:lnTo>
                      <a:pt x="3" y="10"/>
                    </a:lnTo>
                    <a:lnTo>
                      <a:pt x="0"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12" name="Line 1418"/>
              <p:cNvSpPr>
                <a:spLocks noChangeShapeType="1"/>
              </p:cNvSpPr>
              <p:nvPr userDrawn="1"/>
            </p:nvSpPr>
            <p:spPr bwMode="gray">
              <a:xfrm flipV="1">
                <a:off x="3155" y="1132"/>
                <a:ext cx="152" cy="8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13" name="Freeform 1419"/>
              <p:cNvSpPr>
                <a:spLocks/>
              </p:cNvSpPr>
              <p:nvPr userDrawn="1"/>
            </p:nvSpPr>
            <p:spPr bwMode="gray">
              <a:xfrm>
                <a:off x="3307" y="1132"/>
                <a:ext cx="10" cy="15"/>
              </a:xfrm>
              <a:custGeom>
                <a:avLst/>
                <a:gdLst>
                  <a:gd name="T0" fmla="*/ 10 w 10"/>
                  <a:gd name="T1" fmla="*/ 15 h 15"/>
                  <a:gd name="T2" fmla="*/ 7 w 10"/>
                  <a:gd name="T3" fmla="*/ 14 h 15"/>
                  <a:gd name="T4" fmla="*/ 3 w 10"/>
                  <a:gd name="T5" fmla="*/ 8 h 15"/>
                  <a:gd name="T6" fmla="*/ 0 w 10"/>
                  <a:gd name="T7" fmla="*/ 5 h 15"/>
                  <a:gd name="T8" fmla="*/ 0 w 10"/>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5">
                    <a:moveTo>
                      <a:pt x="10" y="15"/>
                    </a:moveTo>
                    <a:lnTo>
                      <a:pt x="7" y="14"/>
                    </a:lnTo>
                    <a:lnTo>
                      <a:pt x="3" y="8"/>
                    </a:lnTo>
                    <a:lnTo>
                      <a:pt x="0"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14" name="Freeform 1420"/>
              <p:cNvSpPr>
                <a:spLocks/>
              </p:cNvSpPr>
              <p:nvPr userDrawn="1"/>
            </p:nvSpPr>
            <p:spPr bwMode="gray">
              <a:xfrm>
                <a:off x="3450" y="1256"/>
                <a:ext cx="13" cy="17"/>
              </a:xfrm>
              <a:custGeom>
                <a:avLst/>
                <a:gdLst>
                  <a:gd name="T0" fmla="*/ 0 w 13"/>
                  <a:gd name="T1" fmla="*/ 0 h 17"/>
                  <a:gd name="T2" fmla="*/ 6 w 13"/>
                  <a:gd name="T3" fmla="*/ 2 h 17"/>
                  <a:gd name="T4" fmla="*/ 9 w 13"/>
                  <a:gd name="T5" fmla="*/ 7 h 17"/>
                  <a:gd name="T6" fmla="*/ 11 w 13"/>
                  <a:gd name="T7" fmla="*/ 10 h 17"/>
                  <a:gd name="T8" fmla="*/ 13 w 1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7">
                    <a:moveTo>
                      <a:pt x="0" y="0"/>
                    </a:moveTo>
                    <a:lnTo>
                      <a:pt x="6" y="2"/>
                    </a:lnTo>
                    <a:lnTo>
                      <a:pt x="9" y="7"/>
                    </a:lnTo>
                    <a:lnTo>
                      <a:pt x="11" y="10"/>
                    </a:lnTo>
                    <a:lnTo>
                      <a:pt x="13" y="1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15" name="Line 1421"/>
              <p:cNvSpPr>
                <a:spLocks noChangeShapeType="1"/>
              </p:cNvSpPr>
              <p:nvPr userDrawn="1"/>
            </p:nvSpPr>
            <p:spPr bwMode="gray">
              <a:xfrm flipV="1">
                <a:off x="3384" y="1219"/>
                <a:ext cx="150" cy="8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16" name="Line 1422"/>
              <p:cNvSpPr>
                <a:spLocks noChangeShapeType="1"/>
              </p:cNvSpPr>
              <p:nvPr userDrawn="1"/>
            </p:nvSpPr>
            <p:spPr bwMode="gray">
              <a:xfrm flipV="1">
                <a:off x="3375" y="1214"/>
                <a:ext cx="151" cy="8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17" name="Freeform 1423"/>
              <p:cNvSpPr>
                <a:spLocks/>
              </p:cNvSpPr>
              <p:nvPr userDrawn="1"/>
            </p:nvSpPr>
            <p:spPr bwMode="gray">
              <a:xfrm>
                <a:off x="3526" y="1214"/>
                <a:ext cx="10" cy="16"/>
              </a:xfrm>
              <a:custGeom>
                <a:avLst/>
                <a:gdLst>
                  <a:gd name="T0" fmla="*/ 0 w 10"/>
                  <a:gd name="T1" fmla="*/ 0 h 16"/>
                  <a:gd name="T2" fmla="*/ 5 w 10"/>
                  <a:gd name="T3" fmla="*/ 2 h 16"/>
                  <a:gd name="T4" fmla="*/ 8 w 10"/>
                  <a:gd name="T5" fmla="*/ 5 h 16"/>
                  <a:gd name="T6" fmla="*/ 10 w 10"/>
                  <a:gd name="T7" fmla="*/ 10 h 16"/>
                  <a:gd name="T8" fmla="*/ 10 w 10"/>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0" y="0"/>
                    </a:moveTo>
                    <a:lnTo>
                      <a:pt x="5" y="2"/>
                    </a:lnTo>
                    <a:lnTo>
                      <a:pt x="8" y="5"/>
                    </a:lnTo>
                    <a:lnTo>
                      <a:pt x="10" y="10"/>
                    </a:lnTo>
                    <a:lnTo>
                      <a:pt x="10"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18" name="Line 1424"/>
              <p:cNvSpPr>
                <a:spLocks noChangeShapeType="1"/>
              </p:cNvSpPr>
              <p:nvPr userDrawn="1"/>
            </p:nvSpPr>
            <p:spPr bwMode="gray">
              <a:xfrm flipH="1">
                <a:off x="3386" y="1230"/>
                <a:ext cx="150" cy="8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19" name="Freeform 1425"/>
              <p:cNvSpPr>
                <a:spLocks/>
              </p:cNvSpPr>
              <p:nvPr userDrawn="1"/>
            </p:nvSpPr>
            <p:spPr bwMode="gray">
              <a:xfrm>
                <a:off x="3375" y="1300"/>
                <a:ext cx="11" cy="15"/>
              </a:xfrm>
              <a:custGeom>
                <a:avLst/>
                <a:gdLst>
                  <a:gd name="T0" fmla="*/ 11 w 11"/>
                  <a:gd name="T1" fmla="*/ 15 h 15"/>
                  <a:gd name="T2" fmla="*/ 11 w 11"/>
                  <a:gd name="T3" fmla="*/ 10 h 15"/>
                  <a:gd name="T4" fmla="*/ 9 w 11"/>
                  <a:gd name="T5" fmla="*/ 5 h 15"/>
                  <a:gd name="T6" fmla="*/ 5 w 11"/>
                  <a:gd name="T7" fmla="*/ 1 h 15"/>
                  <a:gd name="T8" fmla="*/ 0 w 11"/>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5">
                    <a:moveTo>
                      <a:pt x="11" y="15"/>
                    </a:moveTo>
                    <a:lnTo>
                      <a:pt x="11" y="10"/>
                    </a:lnTo>
                    <a:lnTo>
                      <a:pt x="9" y="5"/>
                    </a:lnTo>
                    <a:lnTo>
                      <a:pt x="5" y="1"/>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20" name="Freeform 1426"/>
              <p:cNvSpPr>
                <a:spLocks/>
              </p:cNvSpPr>
              <p:nvPr userDrawn="1"/>
            </p:nvSpPr>
            <p:spPr bwMode="gray">
              <a:xfrm>
                <a:off x="3431" y="2006"/>
                <a:ext cx="11" cy="9"/>
              </a:xfrm>
              <a:custGeom>
                <a:avLst/>
                <a:gdLst>
                  <a:gd name="T0" fmla="*/ 11 w 11"/>
                  <a:gd name="T1" fmla="*/ 0 h 9"/>
                  <a:gd name="T2" fmla="*/ 11 w 11"/>
                  <a:gd name="T3" fmla="*/ 4 h 9"/>
                  <a:gd name="T4" fmla="*/ 7 w 11"/>
                  <a:gd name="T5" fmla="*/ 7 h 9"/>
                  <a:gd name="T6" fmla="*/ 4 w 11"/>
                  <a:gd name="T7" fmla="*/ 9 h 9"/>
                  <a:gd name="T8" fmla="*/ 0 w 11"/>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9">
                    <a:moveTo>
                      <a:pt x="11" y="0"/>
                    </a:moveTo>
                    <a:lnTo>
                      <a:pt x="11" y="4"/>
                    </a:lnTo>
                    <a:lnTo>
                      <a:pt x="7" y="7"/>
                    </a:lnTo>
                    <a:lnTo>
                      <a:pt x="4" y="9"/>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21" name="Line 1427"/>
              <p:cNvSpPr>
                <a:spLocks noChangeShapeType="1"/>
              </p:cNvSpPr>
              <p:nvPr userDrawn="1"/>
            </p:nvSpPr>
            <p:spPr bwMode="gray">
              <a:xfrm flipV="1">
                <a:off x="3365" y="1966"/>
                <a:ext cx="147" cy="9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22" name="Line 1428"/>
              <p:cNvSpPr>
                <a:spLocks noChangeShapeType="1"/>
              </p:cNvSpPr>
              <p:nvPr userDrawn="1"/>
            </p:nvSpPr>
            <p:spPr bwMode="gray">
              <a:xfrm flipV="1">
                <a:off x="3368" y="1959"/>
                <a:ext cx="147" cy="9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23" name="Freeform 1429"/>
              <p:cNvSpPr>
                <a:spLocks/>
              </p:cNvSpPr>
              <p:nvPr userDrawn="1"/>
            </p:nvSpPr>
            <p:spPr bwMode="gray">
              <a:xfrm>
                <a:off x="3503" y="1959"/>
                <a:ext cx="13" cy="9"/>
              </a:xfrm>
              <a:custGeom>
                <a:avLst/>
                <a:gdLst>
                  <a:gd name="T0" fmla="*/ 12 w 12"/>
                  <a:gd name="T1" fmla="*/ 0 h 9"/>
                  <a:gd name="T2" fmla="*/ 10 w 12"/>
                  <a:gd name="T3" fmla="*/ 5 h 9"/>
                  <a:gd name="T4" fmla="*/ 9 w 12"/>
                  <a:gd name="T5" fmla="*/ 7 h 9"/>
                  <a:gd name="T6" fmla="*/ 5 w 12"/>
                  <a:gd name="T7" fmla="*/ 9 h 9"/>
                  <a:gd name="T8" fmla="*/ 0 w 12"/>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9">
                    <a:moveTo>
                      <a:pt x="12" y="0"/>
                    </a:moveTo>
                    <a:lnTo>
                      <a:pt x="10" y="5"/>
                    </a:lnTo>
                    <a:lnTo>
                      <a:pt x="9" y="7"/>
                    </a:lnTo>
                    <a:lnTo>
                      <a:pt x="5" y="9"/>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24" name="Line 1430"/>
              <p:cNvSpPr>
                <a:spLocks noChangeShapeType="1"/>
              </p:cNvSpPr>
              <p:nvPr userDrawn="1"/>
            </p:nvSpPr>
            <p:spPr bwMode="gray">
              <a:xfrm flipH="1">
                <a:off x="3358" y="1968"/>
                <a:ext cx="143" cy="9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25" name="Freeform 1431"/>
              <p:cNvSpPr>
                <a:spLocks/>
              </p:cNvSpPr>
              <p:nvPr userDrawn="1"/>
            </p:nvSpPr>
            <p:spPr bwMode="gray">
              <a:xfrm>
                <a:off x="3358" y="2053"/>
                <a:ext cx="10" cy="9"/>
              </a:xfrm>
              <a:custGeom>
                <a:avLst/>
                <a:gdLst>
                  <a:gd name="T0" fmla="*/ 0 w 10"/>
                  <a:gd name="T1" fmla="*/ 9 h 9"/>
                  <a:gd name="T2" fmla="*/ 3 w 10"/>
                  <a:gd name="T3" fmla="*/ 9 h 9"/>
                  <a:gd name="T4" fmla="*/ 7 w 10"/>
                  <a:gd name="T5" fmla="*/ 9 h 9"/>
                  <a:gd name="T6" fmla="*/ 10 w 10"/>
                  <a:gd name="T7" fmla="*/ 6 h 9"/>
                  <a:gd name="T8" fmla="*/ 10 w 10"/>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9">
                    <a:moveTo>
                      <a:pt x="0" y="9"/>
                    </a:moveTo>
                    <a:lnTo>
                      <a:pt x="3" y="9"/>
                    </a:lnTo>
                    <a:lnTo>
                      <a:pt x="7" y="9"/>
                    </a:lnTo>
                    <a:lnTo>
                      <a:pt x="10" y="6"/>
                    </a:lnTo>
                    <a:lnTo>
                      <a:pt x="1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26" name="Freeform 1432"/>
              <p:cNvSpPr>
                <a:spLocks/>
              </p:cNvSpPr>
              <p:nvPr userDrawn="1"/>
            </p:nvSpPr>
            <p:spPr bwMode="gray">
              <a:xfrm>
                <a:off x="2377" y="1219"/>
                <a:ext cx="8" cy="16"/>
              </a:xfrm>
              <a:custGeom>
                <a:avLst/>
                <a:gdLst>
                  <a:gd name="T0" fmla="*/ 8 w 8"/>
                  <a:gd name="T1" fmla="*/ 0 h 16"/>
                  <a:gd name="T2" fmla="*/ 7 w 8"/>
                  <a:gd name="T3" fmla="*/ 5 h 16"/>
                  <a:gd name="T4" fmla="*/ 5 w 8"/>
                  <a:gd name="T5" fmla="*/ 9 h 16"/>
                  <a:gd name="T6" fmla="*/ 3 w 8"/>
                  <a:gd name="T7" fmla="*/ 14 h 16"/>
                  <a:gd name="T8" fmla="*/ 0 w 8"/>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6">
                    <a:moveTo>
                      <a:pt x="8" y="0"/>
                    </a:moveTo>
                    <a:lnTo>
                      <a:pt x="7" y="5"/>
                    </a:lnTo>
                    <a:lnTo>
                      <a:pt x="5" y="9"/>
                    </a:lnTo>
                    <a:lnTo>
                      <a:pt x="3" y="14"/>
                    </a:lnTo>
                    <a:lnTo>
                      <a:pt x="0"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27" name="Line 1433"/>
              <p:cNvSpPr>
                <a:spLocks noChangeShapeType="1"/>
              </p:cNvSpPr>
              <p:nvPr userDrawn="1"/>
            </p:nvSpPr>
            <p:spPr bwMode="gray">
              <a:xfrm flipH="1" flipV="1">
                <a:off x="2289" y="1196"/>
                <a:ext cx="124" cy="4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28" name="Line 1434"/>
              <p:cNvSpPr>
                <a:spLocks noChangeShapeType="1"/>
              </p:cNvSpPr>
              <p:nvPr userDrawn="1"/>
            </p:nvSpPr>
            <p:spPr bwMode="gray">
              <a:xfrm flipH="1" flipV="1">
                <a:off x="2293" y="1187"/>
                <a:ext cx="135" cy="4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29" name="Freeform 1435"/>
              <p:cNvSpPr>
                <a:spLocks/>
              </p:cNvSpPr>
              <p:nvPr userDrawn="1"/>
            </p:nvSpPr>
            <p:spPr bwMode="gray">
              <a:xfrm>
                <a:off x="2284" y="1187"/>
                <a:ext cx="9" cy="15"/>
              </a:xfrm>
              <a:custGeom>
                <a:avLst/>
                <a:gdLst>
                  <a:gd name="T0" fmla="*/ 9 w 9"/>
                  <a:gd name="T1" fmla="*/ 0 h 15"/>
                  <a:gd name="T2" fmla="*/ 7 w 9"/>
                  <a:gd name="T3" fmla="*/ 3 h 15"/>
                  <a:gd name="T4" fmla="*/ 5 w 9"/>
                  <a:gd name="T5" fmla="*/ 8 h 15"/>
                  <a:gd name="T6" fmla="*/ 3 w 9"/>
                  <a:gd name="T7" fmla="*/ 12 h 15"/>
                  <a:gd name="T8" fmla="*/ 0 w 9"/>
                  <a:gd name="T9" fmla="*/ 15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5">
                    <a:moveTo>
                      <a:pt x="9" y="0"/>
                    </a:moveTo>
                    <a:lnTo>
                      <a:pt x="7" y="3"/>
                    </a:lnTo>
                    <a:lnTo>
                      <a:pt x="5" y="8"/>
                    </a:lnTo>
                    <a:lnTo>
                      <a:pt x="3" y="12"/>
                    </a:lnTo>
                    <a:lnTo>
                      <a:pt x="0" y="15"/>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30" name="Line 1436"/>
              <p:cNvSpPr>
                <a:spLocks noChangeShapeType="1"/>
              </p:cNvSpPr>
              <p:nvPr userDrawn="1"/>
            </p:nvSpPr>
            <p:spPr bwMode="gray">
              <a:xfrm>
                <a:off x="2284" y="1203"/>
                <a:ext cx="119" cy="4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31" name="Freeform 1437"/>
              <p:cNvSpPr>
                <a:spLocks/>
              </p:cNvSpPr>
              <p:nvPr userDrawn="1"/>
            </p:nvSpPr>
            <p:spPr bwMode="gray">
              <a:xfrm>
                <a:off x="2286" y="1097"/>
                <a:ext cx="5" cy="8"/>
              </a:xfrm>
              <a:custGeom>
                <a:avLst/>
                <a:gdLst>
                  <a:gd name="T0" fmla="*/ 5 w 5"/>
                  <a:gd name="T1" fmla="*/ 8 h 8"/>
                  <a:gd name="T2" fmla="*/ 1 w 5"/>
                  <a:gd name="T3" fmla="*/ 7 h 8"/>
                  <a:gd name="T4" fmla="*/ 0 w 5"/>
                  <a:gd name="T5" fmla="*/ 5 h 8"/>
                  <a:gd name="T6" fmla="*/ 1 w 5"/>
                  <a:gd name="T7" fmla="*/ 3 h 8"/>
                  <a:gd name="T8" fmla="*/ 3 w 5"/>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8">
                    <a:moveTo>
                      <a:pt x="5" y="8"/>
                    </a:moveTo>
                    <a:lnTo>
                      <a:pt x="1" y="7"/>
                    </a:lnTo>
                    <a:lnTo>
                      <a:pt x="0" y="5"/>
                    </a:lnTo>
                    <a:lnTo>
                      <a:pt x="1" y="3"/>
                    </a:lnTo>
                    <a:lnTo>
                      <a:pt x="3"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32" name="Line 1438"/>
              <p:cNvSpPr>
                <a:spLocks noChangeShapeType="1"/>
              </p:cNvSpPr>
              <p:nvPr userDrawn="1"/>
            </p:nvSpPr>
            <p:spPr bwMode="gray">
              <a:xfrm flipH="1" flipV="1">
                <a:off x="2282" y="960"/>
                <a:ext cx="5" cy="22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33" name="Line 1439"/>
              <p:cNvSpPr>
                <a:spLocks noChangeShapeType="1"/>
              </p:cNvSpPr>
              <p:nvPr userDrawn="1"/>
            </p:nvSpPr>
            <p:spPr bwMode="gray">
              <a:xfrm flipH="1" flipV="1">
                <a:off x="2289" y="966"/>
                <a:ext cx="4" cy="22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34" name="Freeform 1440"/>
              <p:cNvSpPr>
                <a:spLocks/>
              </p:cNvSpPr>
              <p:nvPr userDrawn="1"/>
            </p:nvSpPr>
            <p:spPr bwMode="gray">
              <a:xfrm>
                <a:off x="2284" y="957"/>
                <a:ext cx="4" cy="9"/>
              </a:xfrm>
              <a:custGeom>
                <a:avLst/>
                <a:gdLst>
                  <a:gd name="T0" fmla="*/ 3 w 3"/>
                  <a:gd name="T1" fmla="*/ 9 h 9"/>
                  <a:gd name="T2" fmla="*/ 0 w 3"/>
                  <a:gd name="T3" fmla="*/ 7 h 9"/>
                  <a:gd name="T4" fmla="*/ 0 w 3"/>
                  <a:gd name="T5" fmla="*/ 5 h 9"/>
                  <a:gd name="T6" fmla="*/ 0 w 3"/>
                  <a:gd name="T7" fmla="*/ 2 h 9"/>
                  <a:gd name="T8" fmla="*/ 2 w 3"/>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9">
                    <a:moveTo>
                      <a:pt x="3" y="9"/>
                    </a:moveTo>
                    <a:lnTo>
                      <a:pt x="0" y="7"/>
                    </a:lnTo>
                    <a:lnTo>
                      <a:pt x="0" y="5"/>
                    </a:lnTo>
                    <a:lnTo>
                      <a:pt x="0" y="2"/>
                    </a:lnTo>
                    <a:lnTo>
                      <a:pt x="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35" name="Line 1441"/>
              <p:cNvSpPr>
                <a:spLocks noChangeShapeType="1"/>
              </p:cNvSpPr>
              <p:nvPr userDrawn="1"/>
            </p:nvSpPr>
            <p:spPr bwMode="gray">
              <a:xfrm>
                <a:off x="2286" y="957"/>
                <a:ext cx="5" cy="23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36" name="Freeform 1442"/>
              <p:cNvSpPr>
                <a:spLocks/>
              </p:cNvSpPr>
              <p:nvPr userDrawn="1"/>
            </p:nvSpPr>
            <p:spPr bwMode="gray">
              <a:xfrm>
                <a:off x="2289" y="1187"/>
                <a:ext cx="4" cy="4"/>
              </a:xfrm>
              <a:custGeom>
                <a:avLst/>
                <a:gdLst>
                  <a:gd name="T0" fmla="*/ 6 w 6"/>
                  <a:gd name="T1" fmla="*/ 0 h 3"/>
                  <a:gd name="T2" fmla="*/ 2 w 6"/>
                  <a:gd name="T3" fmla="*/ 0 h 3"/>
                  <a:gd name="T4" fmla="*/ 0 w 6"/>
                  <a:gd name="T5" fmla="*/ 1 h 3"/>
                  <a:gd name="T6" fmla="*/ 0 w 6"/>
                  <a:gd name="T7" fmla="*/ 1 h 3"/>
                  <a:gd name="T8" fmla="*/ 0 w 6"/>
                  <a:gd name="T9" fmla="*/ 3 h 3"/>
                  <a:gd name="T10" fmla="*/ 2 w 6"/>
                  <a:gd name="T11" fmla="*/ 3 h 3"/>
                  <a:gd name="T12" fmla="*/ 4 w 6"/>
                  <a:gd name="T13" fmla="*/ 3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3">
                    <a:moveTo>
                      <a:pt x="6" y="0"/>
                    </a:moveTo>
                    <a:lnTo>
                      <a:pt x="2" y="0"/>
                    </a:lnTo>
                    <a:lnTo>
                      <a:pt x="0" y="1"/>
                    </a:lnTo>
                    <a:lnTo>
                      <a:pt x="0" y="3"/>
                    </a:lnTo>
                    <a:lnTo>
                      <a:pt x="2" y="3"/>
                    </a:lnTo>
                    <a:lnTo>
                      <a:pt x="4" y="3"/>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37" name="Freeform 1443"/>
              <p:cNvSpPr>
                <a:spLocks/>
              </p:cNvSpPr>
              <p:nvPr userDrawn="1"/>
            </p:nvSpPr>
            <p:spPr bwMode="gray">
              <a:xfrm>
                <a:off x="2380" y="978"/>
                <a:ext cx="9" cy="17"/>
              </a:xfrm>
              <a:custGeom>
                <a:avLst/>
                <a:gdLst>
                  <a:gd name="T0" fmla="*/ 0 w 9"/>
                  <a:gd name="T1" fmla="*/ 17 h 17"/>
                  <a:gd name="T2" fmla="*/ 2 w 9"/>
                  <a:gd name="T3" fmla="*/ 12 h 17"/>
                  <a:gd name="T4" fmla="*/ 4 w 9"/>
                  <a:gd name="T5" fmla="*/ 7 h 17"/>
                  <a:gd name="T6" fmla="*/ 5 w 9"/>
                  <a:gd name="T7" fmla="*/ 3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2" y="12"/>
                    </a:lnTo>
                    <a:lnTo>
                      <a:pt x="4" y="7"/>
                    </a:lnTo>
                    <a:lnTo>
                      <a:pt x="5" y="3"/>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38" name="Line 1444"/>
              <p:cNvSpPr>
                <a:spLocks noChangeShapeType="1"/>
              </p:cNvSpPr>
              <p:nvPr userDrawn="1"/>
            </p:nvSpPr>
            <p:spPr bwMode="gray">
              <a:xfrm>
                <a:off x="2289" y="953"/>
                <a:ext cx="189"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39" name="Line 1445"/>
              <p:cNvSpPr>
                <a:spLocks noChangeShapeType="1"/>
              </p:cNvSpPr>
              <p:nvPr userDrawn="1"/>
            </p:nvSpPr>
            <p:spPr bwMode="gray">
              <a:xfrm>
                <a:off x="2289" y="966"/>
                <a:ext cx="187" cy="6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40" name="Freeform 1446"/>
              <p:cNvSpPr>
                <a:spLocks/>
              </p:cNvSpPr>
              <p:nvPr userDrawn="1"/>
            </p:nvSpPr>
            <p:spPr bwMode="gray">
              <a:xfrm>
                <a:off x="2475" y="1009"/>
                <a:ext cx="8" cy="18"/>
              </a:xfrm>
              <a:custGeom>
                <a:avLst/>
                <a:gdLst>
                  <a:gd name="T0" fmla="*/ 0 w 8"/>
                  <a:gd name="T1" fmla="*/ 18 h 18"/>
                  <a:gd name="T2" fmla="*/ 1 w 8"/>
                  <a:gd name="T3" fmla="*/ 13 h 18"/>
                  <a:gd name="T4" fmla="*/ 3 w 8"/>
                  <a:gd name="T5" fmla="*/ 7 h 18"/>
                  <a:gd name="T6" fmla="*/ 5 w 8"/>
                  <a:gd name="T7" fmla="*/ 4 h 18"/>
                  <a:gd name="T8" fmla="*/ 8 w 8"/>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8">
                    <a:moveTo>
                      <a:pt x="0" y="18"/>
                    </a:moveTo>
                    <a:lnTo>
                      <a:pt x="1" y="13"/>
                    </a:lnTo>
                    <a:lnTo>
                      <a:pt x="3" y="7"/>
                    </a:lnTo>
                    <a:lnTo>
                      <a:pt x="5" y="4"/>
                    </a:lnTo>
                    <a:lnTo>
                      <a:pt x="8"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41" name="Line 1447"/>
              <p:cNvSpPr>
                <a:spLocks noChangeShapeType="1"/>
              </p:cNvSpPr>
              <p:nvPr userDrawn="1"/>
            </p:nvSpPr>
            <p:spPr bwMode="gray">
              <a:xfrm flipH="1" flipV="1">
                <a:off x="2298" y="948"/>
                <a:ext cx="187" cy="6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42" name="Freeform 1448"/>
              <p:cNvSpPr>
                <a:spLocks/>
              </p:cNvSpPr>
              <p:nvPr userDrawn="1"/>
            </p:nvSpPr>
            <p:spPr bwMode="gray">
              <a:xfrm>
                <a:off x="2289" y="948"/>
                <a:ext cx="9" cy="18"/>
              </a:xfrm>
              <a:custGeom>
                <a:avLst/>
                <a:gdLst>
                  <a:gd name="T0" fmla="*/ 9 w 9"/>
                  <a:gd name="T1" fmla="*/ 0 h 18"/>
                  <a:gd name="T2" fmla="*/ 6 w 9"/>
                  <a:gd name="T3" fmla="*/ 4 h 18"/>
                  <a:gd name="T4" fmla="*/ 2 w 9"/>
                  <a:gd name="T5" fmla="*/ 7 h 18"/>
                  <a:gd name="T6" fmla="*/ 0 w 9"/>
                  <a:gd name="T7" fmla="*/ 12 h 18"/>
                  <a:gd name="T8" fmla="*/ 0 w 9"/>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9" y="0"/>
                    </a:moveTo>
                    <a:lnTo>
                      <a:pt x="6" y="4"/>
                    </a:lnTo>
                    <a:lnTo>
                      <a:pt x="2" y="7"/>
                    </a:lnTo>
                    <a:lnTo>
                      <a:pt x="0" y="12"/>
                    </a:lnTo>
                    <a:lnTo>
                      <a:pt x="0" y="1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43" name="Freeform 1449"/>
              <p:cNvSpPr>
                <a:spLocks/>
              </p:cNvSpPr>
              <p:nvPr userDrawn="1"/>
            </p:nvSpPr>
            <p:spPr bwMode="gray">
              <a:xfrm>
                <a:off x="2476" y="1167"/>
                <a:ext cx="22" cy="1"/>
              </a:xfrm>
              <a:custGeom>
                <a:avLst/>
                <a:gdLst>
                  <a:gd name="T0" fmla="*/ 0 w 20"/>
                  <a:gd name="T1" fmla="*/ 1 h 1"/>
                  <a:gd name="T2" fmla="*/ 6 w 20"/>
                  <a:gd name="T3" fmla="*/ 1 h 1"/>
                  <a:gd name="T4" fmla="*/ 11 w 20"/>
                  <a:gd name="T5" fmla="*/ 1 h 1"/>
                  <a:gd name="T6" fmla="*/ 16 w 20"/>
                  <a:gd name="T7" fmla="*/ 1 h 1"/>
                  <a:gd name="T8" fmla="*/ 20 w 20"/>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
                    <a:moveTo>
                      <a:pt x="0" y="1"/>
                    </a:moveTo>
                    <a:lnTo>
                      <a:pt x="6" y="1"/>
                    </a:lnTo>
                    <a:lnTo>
                      <a:pt x="11" y="1"/>
                    </a:lnTo>
                    <a:lnTo>
                      <a:pt x="16" y="1"/>
                    </a:lnTo>
                    <a:lnTo>
                      <a:pt x="2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44" name="Line 1450"/>
              <p:cNvSpPr>
                <a:spLocks noChangeShapeType="1"/>
              </p:cNvSpPr>
              <p:nvPr userDrawn="1"/>
            </p:nvSpPr>
            <p:spPr bwMode="gray">
              <a:xfrm>
                <a:off x="2485" y="1027"/>
                <a:ext cx="4" cy="1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45" name="Line 1451"/>
              <p:cNvSpPr>
                <a:spLocks noChangeShapeType="1"/>
              </p:cNvSpPr>
              <p:nvPr userDrawn="1"/>
            </p:nvSpPr>
            <p:spPr bwMode="gray">
              <a:xfrm>
                <a:off x="2475" y="1027"/>
                <a:ext cx="4" cy="18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46" name="Line 1452"/>
              <p:cNvSpPr>
                <a:spLocks noChangeShapeType="1"/>
              </p:cNvSpPr>
              <p:nvPr userDrawn="1"/>
            </p:nvSpPr>
            <p:spPr bwMode="gray">
              <a:xfrm flipH="1" flipV="1">
                <a:off x="2494" y="1025"/>
                <a:ext cx="4" cy="17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47" name="Freeform 1453"/>
              <p:cNvSpPr>
                <a:spLocks/>
              </p:cNvSpPr>
              <p:nvPr userDrawn="1"/>
            </p:nvSpPr>
            <p:spPr bwMode="gray">
              <a:xfrm>
                <a:off x="2475" y="1025"/>
                <a:ext cx="19" cy="2"/>
              </a:xfrm>
              <a:custGeom>
                <a:avLst/>
                <a:gdLst>
                  <a:gd name="T0" fmla="*/ 0 w 19"/>
                  <a:gd name="T1" fmla="*/ 2 h 2"/>
                  <a:gd name="T2" fmla="*/ 7 w 19"/>
                  <a:gd name="T3" fmla="*/ 2 h 2"/>
                  <a:gd name="T4" fmla="*/ 14 w 19"/>
                  <a:gd name="T5" fmla="*/ 2 h 2"/>
                  <a:gd name="T6" fmla="*/ 19 w 19"/>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
                    <a:moveTo>
                      <a:pt x="0" y="2"/>
                    </a:moveTo>
                    <a:lnTo>
                      <a:pt x="7" y="2"/>
                    </a:lnTo>
                    <a:lnTo>
                      <a:pt x="14" y="2"/>
                    </a:lnTo>
                    <a:lnTo>
                      <a:pt x="1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48" name="Freeform 1454"/>
              <p:cNvSpPr>
                <a:spLocks/>
              </p:cNvSpPr>
              <p:nvPr userDrawn="1"/>
            </p:nvSpPr>
            <p:spPr bwMode="gray">
              <a:xfrm>
                <a:off x="2443" y="880"/>
                <a:ext cx="22" cy="2"/>
              </a:xfrm>
              <a:custGeom>
                <a:avLst/>
                <a:gdLst>
                  <a:gd name="T0" fmla="*/ 19 w 19"/>
                  <a:gd name="T1" fmla="*/ 2 h 2"/>
                  <a:gd name="T2" fmla="*/ 12 w 19"/>
                  <a:gd name="T3" fmla="*/ 0 h 2"/>
                  <a:gd name="T4" fmla="*/ 5 w 19"/>
                  <a:gd name="T5" fmla="*/ 0 h 2"/>
                  <a:gd name="T6" fmla="*/ 0 w 19"/>
                  <a:gd name="T7" fmla="*/ 2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
                    <a:moveTo>
                      <a:pt x="19" y="2"/>
                    </a:moveTo>
                    <a:lnTo>
                      <a:pt x="12" y="0"/>
                    </a:lnTo>
                    <a:lnTo>
                      <a:pt x="5"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49" name="Line 1455"/>
              <p:cNvSpPr>
                <a:spLocks noChangeShapeType="1"/>
              </p:cNvSpPr>
              <p:nvPr userDrawn="1"/>
            </p:nvSpPr>
            <p:spPr bwMode="gray">
              <a:xfrm>
                <a:off x="2459" y="873"/>
                <a:ext cx="31" cy="1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50" name="Line 1456"/>
              <p:cNvSpPr>
                <a:spLocks noChangeShapeType="1"/>
              </p:cNvSpPr>
              <p:nvPr userDrawn="1"/>
            </p:nvSpPr>
            <p:spPr bwMode="gray">
              <a:xfrm>
                <a:off x="2463" y="882"/>
                <a:ext cx="28" cy="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51" name="Line 1457"/>
              <p:cNvSpPr>
                <a:spLocks noChangeShapeType="1"/>
              </p:cNvSpPr>
              <p:nvPr userDrawn="1"/>
            </p:nvSpPr>
            <p:spPr bwMode="gray">
              <a:xfrm flipH="1" flipV="1">
                <a:off x="2454" y="873"/>
                <a:ext cx="36" cy="1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52" name="Freeform 1458"/>
              <p:cNvSpPr>
                <a:spLocks/>
              </p:cNvSpPr>
              <p:nvPr userDrawn="1"/>
            </p:nvSpPr>
            <p:spPr bwMode="gray">
              <a:xfrm>
                <a:off x="2454" y="873"/>
                <a:ext cx="8" cy="9"/>
              </a:xfrm>
              <a:custGeom>
                <a:avLst/>
                <a:gdLst>
                  <a:gd name="T0" fmla="*/ 0 w 8"/>
                  <a:gd name="T1" fmla="*/ 0 h 9"/>
                  <a:gd name="T2" fmla="*/ 3 w 8"/>
                  <a:gd name="T3" fmla="*/ 0 h 9"/>
                  <a:gd name="T4" fmla="*/ 5 w 8"/>
                  <a:gd name="T5" fmla="*/ 0 h 9"/>
                  <a:gd name="T6" fmla="*/ 7 w 8"/>
                  <a:gd name="T7" fmla="*/ 2 h 9"/>
                  <a:gd name="T8" fmla="*/ 7 w 8"/>
                  <a:gd name="T9" fmla="*/ 5 h 9"/>
                  <a:gd name="T10" fmla="*/ 8 w 8"/>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9">
                    <a:moveTo>
                      <a:pt x="0" y="0"/>
                    </a:moveTo>
                    <a:lnTo>
                      <a:pt x="3" y="0"/>
                    </a:lnTo>
                    <a:lnTo>
                      <a:pt x="5" y="0"/>
                    </a:lnTo>
                    <a:lnTo>
                      <a:pt x="7" y="2"/>
                    </a:lnTo>
                    <a:lnTo>
                      <a:pt x="7" y="5"/>
                    </a:lnTo>
                    <a:lnTo>
                      <a:pt x="8"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53" name="Freeform 1459"/>
              <p:cNvSpPr>
                <a:spLocks/>
              </p:cNvSpPr>
              <p:nvPr userDrawn="1"/>
            </p:nvSpPr>
            <p:spPr bwMode="gray">
              <a:xfrm>
                <a:off x="2364" y="909"/>
                <a:ext cx="13" cy="10"/>
              </a:xfrm>
              <a:custGeom>
                <a:avLst/>
                <a:gdLst>
                  <a:gd name="T0" fmla="*/ 0 w 11"/>
                  <a:gd name="T1" fmla="*/ 10 h 10"/>
                  <a:gd name="T2" fmla="*/ 2 w 11"/>
                  <a:gd name="T3" fmla="*/ 5 h 10"/>
                  <a:gd name="T4" fmla="*/ 4 w 11"/>
                  <a:gd name="T5" fmla="*/ 1 h 10"/>
                  <a:gd name="T6" fmla="*/ 6 w 11"/>
                  <a:gd name="T7" fmla="*/ 0 h 10"/>
                  <a:gd name="T8" fmla="*/ 9 w 11"/>
                  <a:gd name="T9" fmla="*/ 0 h 10"/>
                  <a:gd name="T10" fmla="*/ 11 w 11"/>
                  <a:gd name="T11" fmla="*/ 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10">
                    <a:moveTo>
                      <a:pt x="0" y="10"/>
                    </a:moveTo>
                    <a:lnTo>
                      <a:pt x="2" y="5"/>
                    </a:lnTo>
                    <a:lnTo>
                      <a:pt x="4" y="1"/>
                    </a:lnTo>
                    <a:lnTo>
                      <a:pt x="6" y="0"/>
                    </a:lnTo>
                    <a:lnTo>
                      <a:pt x="9" y="0"/>
                    </a:lnTo>
                    <a:lnTo>
                      <a:pt x="1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54" name="Line 1460"/>
              <p:cNvSpPr>
                <a:spLocks noChangeShapeType="1"/>
              </p:cNvSpPr>
              <p:nvPr userDrawn="1"/>
            </p:nvSpPr>
            <p:spPr bwMode="gray">
              <a:xfrm flipV="1">
                <a:off x="2289" y="874"/>
                <a:ext cx="158"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55" name="Line 1461"/>
              <p:cNvSpPr>
                <a:spLocks noChangeShapeType="1"/>
              </p:cNvSpPr>
              <p:nvPr userDrawn="1"/>
            </p:nvSpPr>
            <p:spPr bwMode="gray">
              <a:xfrm flipV="1">
                <a:off x="2286" y="882"/>
                <a:ext cx="157"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56" name="Freeform 1462"/>
              <p:cNvSpPr>
                <a:spLocks/>
              </p:cNvSpPr>
              <p:nvPr userDrawn="1"/>
            </p:nvSpPr>
            <p:spPr bwMode="gray">
              <a:xfrm>
                <a:off x="2443" y="873"/>
                <a:ext cx="13" cy="9"/>
              </a:xfrm>
              <a:custGeom>
                <a:avLst/>
                <a:gdLst>
                  <a:gd name="T0" fmla="*/ 0 w 11"/>
                  <a:gd name="T1" fmla="*/ 9 h 9"/>
                  <a:gd name="T2" fmla="*/ 0 w 11"/>
                  <a:gd name="T3" fmla="*/ 5 h 9"/>
                  <a:gd name="T4" fmla="*/ 2 w 11"/>
                  <a:gd name="T5" fmla="*/ 3 h 9"/>
                  <a:gd name="T6" fmla="*/ 4 w 11"/>
                  <a:gd name="T7" fmla="*/ 0 h 9"/>
                  <a:gd name="T8" fmla="*/ 7 w 11"/>
                  <a:gd name="T9" fmla="*/ 0 h 9"/>
                  <a:gd name="T10" fmla="*/ 11 w 11"/>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9">
                    <a:moveTo>
                      <a:pt x="0" y="9"/>
                    </a:moveTo>
                    <a:lnTo>
                      <a:pt x="0" y="5"/>
                    </a:lnTo>
                    <a:lnTo>
                      <a:pt x="2" y="3"/>
                    </a:lnTo>
                    <a:lnTo>
                      <a:pt x="4" y="0"/>
                    </a:lnTo>
                    <a:lnTo>
                      <a:pt x="7" y="0"/>
                    </a:lnTo>
                    <a:lnTo>
                      <a:pt x="1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57" name="Line 1463"/>
              <p:cNvSpPr>
                <a:spLocks noChangeShapeType="1"/>
              </p:cNvSpPr>
              <p:nvPr userDrawn="1"/>
            </p:nvSpPr>
            <p:spPr bwMode="gray">
              <a:xfrm flipH="1">
                <a:off x="2298" y="873"/>
                <a:ext cx="158"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58" name="Freeform 1464"/>
              <p:cNvSpPr>
                <a:spLocks/>
              </p:cNvSpPr>
              <p:nvPr userDrawn="1"/>
            </p:nvSpPr>
            <p:spPr bwMode="gray">
              <a:xfrm>
                <a:off x="2286" y="948"/>
                <a:ext cx="13" cy="9"/>
              </a:xfrm>
              <a:custGeom>
                <a:avLst/>
                <a:gdLst>
                  <a:gd name="T0" fmla="*/ 10 w 10"/>
                  <a:gd name="T1" fmla="*/ 0 h 9"/>
                  <a:gd name="T2" fmla="*/ 7 w 10"/>
                  <a:gd name="T3" fmla="*/ 0 h 9"/>
                  <a:gd name="T4" fmla="*/ 5 w 10"/>
                  <a:gd name="T5" fmla="*/ 0 h 9"/>
                  <a:gd name="T6" fmla="*/ 3 w 10"/>
                  <a:gd name="T7" fmla="*/ 2 h 9"/>
                  <a:gd name="T8" fmla="*/ 0 w 10"/>
                  <a:gd name="T9" fmla="*/ 5 h 9"/>
                  <a:gd name="T10" fmla="*/ 0 w 10"/>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10" y="0"/>
                    </a:moveTo>
                    <a:lnTo>
                      <a:pt x="7" y="0"/>
                    </a:lnTo>
                    <a:lnTo>
                      <a:pt x="5" y="0"/>
                    </a:lnTo>
                    <a:lnTo>
                      <a:pt x="3" y="2"/>
                    </a:lnTo>
                    <a:lnTo>
                      <a:pt x="0" y="5"/>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59" name="Freeform 1465"/>
              <p:cNvSpPr>
                <a:spLocks/>
              </p:cNvSpPr>
              <p:nvPr userDrawn="1"/>
            </p:nvSpPr>
            <p:spPr bwMode="gray">
              <a:xfrm>
                <a:off x="2483" y="1001"/>
                <a:ext cx="11" cy="8"/>
              </a:xfrm>
              <a:custGeom>
                <a:avLst/>
                <a:gdLst>
                  <a:gd name="T0" fmla="*/ 0 w 11"/>
                  <a:gd name="T1" fmla="*/ 8 h 8"/>
                  <a:gd name="T2" fmla="*/ 4 w 11"/>
                  <a:gd name="T3" fmla="*/ 8 h 8"/>
                  <a:gd name="T4" fmla="*/ 7 w 11"/>
                  <a:gd name="T5" fmla="*/ 8 h 8"/>
                  <a:gd name="T6" fmla="*/ 9 w 11"/>
                  <a:gd name="T7" fmla="*/ 5 h 8"/>
                  <a:gd name="T8" fmla="*/ 11 w 11"/>
                  <a:gd name="T9" fmla="*/ 3 h 8"/>
                  <a:gd name="T10" fmla="*/ 11 w 11"/>
                  <a:gd name="T11" fmla="*/ 0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8">
                    <a:moveTo>
                      <a:pt x="0" y="8"/>
                    </a:moveTo>
                    <a:lnTo>
                      <a:pt x="4" y="8"/>
                    </a:lnTo>
                    <a:lnTo>
                      <a:pt x="7" y="8"/>
                    </a:lnTo>
                    <a:lnTo>
                      <a:pt x="9" y="5"/>
                    </a:lnTo>
                    <a:lnTo>
                      <a:pt x="11" y="3"/>
                    </a:lnTo>
                    <a:lnTo>
                      <a:pt x="1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60" name="Line 1466"/>
              <p:cNvSpPr>
                <a:spLocks noChangeShapeType="1"/>
              </p:cNvSpPr>
              <p:nvPr userDrawn="1"/>
            </p:nvSpPr>
            <p:spPr bwMode="gray">
              <a:xfrm flipH="1">
                <a:off x="2494" y="1018"/>
                <a:ext cx="14" cy="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61" name="Freeform 1467"/>
              <p:cNvSpPr>
                <a:spLocks/>
              </p:cNvSpPr>
              <p:nvPr userDrawn="1"/>
            </p:nvSpPr>
            <p:spPr bwMode="gray">
              <a:xfrm>
                <a:off x="2494" y="1016"/>
                <a:ext cx="13" cy="9"/>
              </a:xfrm>
              <a:custGeom>
                <a:avLst/>
                <a:gdLst>
                  <a:gd name="T0" fmla="*/ 0 w 10"/>
                  <a:gd name="T1" fmla="*/ 9 h 9"/>
                  <a:gd name="T2" fmla="*/ 2 w 10"/>
                  <a:gd name="T3" fmla="*/ 6 h 9"/>
                  <a:gd name="T4" fmla="*/ 2 w 10"/>
                  <a:gd name="T5" fmla="*/ 2 h 9"/>
                  <a:gd name="T6" fmla="*/ 5 w 10"/>
                  <a:gd name="T7" fmla="*/ 0 h 9"/>
                  <a:gd name="T8" fmla="*/ 7 w 10"/>
                  <a:gd name="T9" fmla="*/ 0 h 9"/>
                  <a:gd name="T10" fmla="*/ 10 w 10"/>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0" y="9"/>
                    </a:moveTo>
                    <a:lnTo>
                      <a:pt x="2" y="6"/>
                    </a:lnTo>
                    <a:lnTo>
                      <a:pt x="2" y="2"/>
                    </a:lnTo>
                    <a:lnTo>
                      <a:pt x="5" y="0"/>
                    </a:lnTo>
                    <a:lnTo>
                      <a:pt x="7" y="0"/>
                    </a:lnTo>
                    <a:lnTo>
                      <a:pt x="1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62" name="Freeform 1468"/>
              <p:cNvSpPr>
                <a:spLocks/>
              </p:cNvSpPr>
              <p:nvPr userDrawn="1"/>
            </p:nvSpPr>
            <p:spPr bwMode="gray">
              <a:xfrm>
                <a:off x="2906" y="2029"/>
                <a:ext cx="20" cy="4"/>
              </a:xfrm>
              <a:custGeom>
                <a:avLst/>
                <a:gdLst>
                  <a:gd name="T0" fmla="*/ 20 w 20"/>
                  <a:gd name="T1" fmla="*/ 2 h 3"/>
                  <a:gd name="T2" fmla="*/ 16 w 20"/>
                  <a:gd name="T3" fmla="*/ 0 h 3"/>
                  <a:gd name="T4" fmla="*/ 11 w 20"/>
                  <a:gd name="T5" fmla="*/ 0 h 3"/>
                  <a:gd name="T6" fmla="*/ 6 w 20"/>
                  <a:gd name="T7" fmla="*/ 2 h 3"/>
                  <a:gd name="T8" fmla="*/ 0 w 20"/>
                  <a:gd name="T9" fmla="*/ 3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3">
                    <a:moveTo>
                      <a:pt x="20" y="2"/>
                    </a:moveTo>
                    <a:lnTo>
                      <a:pt x="16" y="0"/>
                    </a:lnTo>
                    <a:lnTo>
                      <a:pt x="11" y="0"/>
                    </a:lnTo>
                    <a:lnTo>
                      <a:pt x="6" y="2"/>
                    </a:lnTo>
                    <a:lnTo>
                      <a:pt x="0" y="3"/>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63" name="Line 1469"/>
              <p:cNvSpPr>
                <a:spLocks noChangeShapeType="1"/>
              </p:cNvSpPr>
              <p:nvPr userDrawn="1"/>
            </p:nvSpPr>
            <p:spPr bwMode="gray">
              <a:xfrm flipV="1">
                <a:off x="2915" y="1920"/>
                <a:ext cx="2" cy="21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64" name="Line 1470"/>
              <p:cNvSpPr>
                <a:spLocks noChangeShapeType="1"/>
              </p:cNvSpPr>
              <p:nvPr userDrawn="1"/>
            </p:nvSpPr>
            <p:spPr bwMode="gray">
              <a:xfrm flipV="1">
                <a:off x="2926" y="1922"/>
                <a:ext cx="1" cy="21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65" name="Freeform 1471"/>
              <p:cNvSpPr>
                <a:spLocks/>
              </p:cNvSpPr>
              <p:nvPr userDrawn="1"/>
            </p:nvSpPr>
            <p:spPr bwMode="gray">
              <a:xfrm>
                <a:off x="2908" y="1920"/>
                <a:ext cx="19" cy="4"/>
              </a:xfrm>
              <a:custGeom>
                <a:avLst/>
                <a:gdLst>
                  <a:gd name="T0" fmla="*/ 19 w 19"/>
                  <a:gd name="T1" fmla="*/ 2 h 4"/>
                  <a:gd name="T2" fmla="*/ 14 w 19"/>
                  <a:gd name="T3" fmla="*/ 0 h 4"/>
                  <a:gd name="T4" fmla="*/ 9 w 19"/>
                  <a:gd name="T5" fmla="*/ 0 h 4"/>
                  <a:gd name="T6" fmla="*/ 4 w 19"/>
                  <a:gd name="T7" fmla="*/ 2 h 4"/>
                  <a:gd name="T8" fmla="*/ 0 w 19"/>
                  <a:gd name="T9" fmla="*/ 4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
                    <a:moveTo>
                      <a:pt x="19" y="2"/>
                    </a:moveTo>
                    <a:lnTo>
                      <a:pt x="14" y="0"/>
                    </a:lnTo>
                    <a:lnTo>
                      <a:pt x="9" y="0"/>
                    </a:lnTo>
                    <a:lnTo>
                      <a:pt x="4" y="2"/>
                    </a:lnTo>
                    <a:lnTo>
                      <a:pt x="0" y="4"/>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66" name="Line 1472"/>
              <p:cNvSpPr>
                <a:spLocks noChangeShapeType="1"/>
              </p:cNvSpPr>
              <p:nvPr userDrawn="1"/>
            </p:nvSpPr>
            <p:spPr bwMode="gray">
              <a:xfrm flipH="1">
                <a:off x="2906" y="1924"/>
                <a:ext cx="2" cy="21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67" name="Freeform 1473"/>
              <p:cNvSpPr>
                <a:spLocks/>
              </p:cNvSpPr>
              <p:nvPr userDrawn="1"/>
            </p:nvSpPr>
            <p:spPr bwMode="gray">
              <a:xfrm>
                <a:off x="2906" y="2136"/>
                <a:ext cx="20" cy="3"/>
              </a:xfrm>
              <a:custGeom>
                <a:avLst/>
                <a:gdLst>
                  <a:gd name="T0" fmla="*/ 20 w 20"/>
                  <a:gd name="T1" fmla="*/ 1 h 3"/>
                  <a:gd name="T2" fmla="*/ 14 w 20"/>
                  <a:gd name="T3" fmla="*/ 1 h 3"/>
                  <a:gd name="T4" fmla="*/ 11 w 20"/>
                  <a:gd name="T5" fmla="*/ 0 h 3"/>
                  <a:gd name="T6" fmla="*/ 6 w 20"/>
                  <a:gd name="T7" fmla="*/ 1 h 3"/>
                  <a:gd name="T8" fmla="*/ 0 w 20"/>
                  <a:gd name="T9" fmla="*/ 3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3">
                    <a:moveTo>
                      <a:pt x="20" y="1"/>
                    </a:moveTo>
                    <a:lnTo>
                      <a:pt x="14" y="1"/>
                    </a:lnTo>
                    <a:lnTo>
                      <a:pt x="11" y="0"/>
                    </a:lnTo>
                    <a:lnTo>
                      <a:pt x="6" y="1"/>
                    </a:lnTo>
                    <a:lnTo>
                      <a:pt x="0" y="3"/>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68" name="Freeform 1474"/>
              <p:cNvSpPr>
                <a:spLocks/>
              </p:cNvSpPr>
              <p:nvPr userDrawn="1"/>
            </p:nvSpPr>
            <p:spPr bwMode="gray">
              <a:xfrm>
                <a:off x="2999" y="1933"/>
                <a:ext cx="9" cy="17"/>
              </a:xfrm>
              <a:custGeom>
                <a:avLst/>
                <a:gdLst>
                  <a:gd name="T0" fmla="*/ 0 w 9"/>
                  <a:gd name="T1" fmla="*/ 17 h 17"/>
                  <a:gd name="T2" fmla="*/ 0 w 9"/>
                  <a:gd name="T3" fmla="*/ 12 h 17"/>
                  <a:gd name="T4" fmla="*/ 2 w 9"/>
                  <a:gd name="T5" fmla="*/ 7 h 17"/>
                  <a:gd name="T6" fmla="*/ 5 w 9"/>
                  <a:gd name="T7" fmla="*/ 3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0" y="12"/>
                    </a:lnTo>
                    <a:lnTo>
                      <a:pt x="2" y="7"/>
                    </a:lnTo>
                    <a:lnTo>
                      <a:pt x="5" y="3"/>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69" name="Line 1475"/>
              <p:cNvSpPr>
                <a:spLocks noChangeShapeType="1"/>
              </p:cNvSpPr>
              <p:nvPr userDrawn="1"/>
            </p:nvSpPr>
            <p:spPr bwMode="gray">
              <a:xfrm>
                <a:off x="2924" y="1910"/>
                <a:ext cx="203"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70" name="Line 1476"/>
              <p:cNvSpPr>
                <a:spLocks noChangeShapeType="1"/>
              </p:cNvSpPr>
              <p:nvPr userDrawn="1"/>
            </p:nvSpPr>
            <p:spPr bwMode="gray">
              <a:xfrm>
                <a:off x="2927" y="1922"/>
                <a:ext cx="196"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71" name="Freeform 1477"/>
              <p:cNvSpPr>
                <a:spLocks/>
              </p:cNvSpPr>
              <p:nvPr userDrawn="1"/>
            </p:nvSpPr>
            <p:spPr bwMode="gray">
              <a:xfrm>
                <a:off x="3123" y="1979"/>
                <a:ext cx="9" cy="18"/>
              </a:xfrm>
              <a:custGeom>
                <a:avLst/>
                <a:gdLst>
                  <a:gd name="T0" fmla="*/ 0 w 9"/>
                  <a:gd name="T1" fmla="*/ 18 h 18"/>
                  <a:gd name="T2" fmla="*/ 2 w 9"/>
                  <a:gd name="T3" fmla="*/ 12 h 18"/>
                  <a:gd name="T4" fmla="*/ 4 w 9"/>
                  <a:gd name="T5" fmla="*/ 9 h 18"/>
                  <a:gd name="T6" fmla="*/ 6 w 9"/>
                  <a:gd name="T7" fmla="*/ 4 h 18"/>
                  <a:gd name="T8" fmla="*/ 9 w 9"/>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0" y="18"/>
                    </a:moveTo>
                    <a:lnTo>
                      <a:pt x="2" y="12"/>
                    </a:lnTo>
                    <a:lnTo>
                      <a:pt x="4" y="9"/>
                    </a:lnTo>
                    <a:lnTo>
                      <a:pt x="6" y="4"/>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72" name="Line 1478"/>
              <p:cNvSpPr>
                <a:spLocks noChangeShapeType="1"/>
              </p:cNvSpPr>
              <p:nvPr userDrawn="1"/>
            </p:nvSpPr>
            <p:spPr bwMode="gray">
              <a:xfrm flipH="1" flipV="1">
                <a:off x="2924" y="1901"/>
                <a:ext cx="208" cy="7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73" name="Freeform 1479"/>
              <p:cNvSpPr>
                <a:spLocks/>
              </p:cNvSpPr>
              <p:nvPr userDrawn="1"/>
            </p:nvSpPr>
            <p:spPr bwMode="gray">
              <a:xfrm>
                <a:off x="2924" y="1901"/>
                <a:ext cx="3" cy="21"/>
              </a:xfrm>
              <a:custGeom>
                <a:avLst/>
                <a:gdLst>
                  <a:gd name="T0" fmla="*/ 3 w 3"/>
                  <a:gd name="T1" fmla="*/ 21 h 21"/>
                  <a:gd name="T2" fmla="*/ 0 w 3"/>
                  <a:gd name="T3" fmla="*/ 14 h 21"/>
                  <a:gd name="T4" fmla="*/ 0 w 3"/>
                  <a:gd name="T5" fmla="*/ 7 h 21"/>
                  <a:gd name="T6" fmla="*/ 0 w 3"/>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 h="21">
                    <a:moveTo>
                      <a:pt x="3" y="21"/>
                    </a:moveTo>
                    <a:lnTo>
                      <a:pt x="0" y="14"/>
                    </a:lnTo>
                    <a:lnTo>
                      <a:pt x="0" y="7"/>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74" name="Freeform 1480"/>
              <p:cNvSpPr>
                <a:spLocks/>
              </p:cNvSpPr>
              <p:nvPr userDrawn="1"/>
            </p:nvSpPr>
            <p:spPr bwMode="gray">
              <a:xfrm>
                <a:off x="3123" y="2104"/>
                <a:ext cx="21" cy="2"/>
              </a:xfrm>
              <a:custGeom>
                <a:avLst/>
                <a:gdLst>
                  <a:gd name="T0" fmla="*/ 0 w 21"/>
                  <a:gd name="T1" fmla="*/ 2 h 2"/>
                  <a:gd name="T2" fmla="*/ 5 w 21"/>
                  <a:gd name="T3" fmla="*/ 2 h 2"/>
                  <a:gd name="T4" fmla="*/ 10 w 21"/>
                  <a:gd name="T5" fmla="*/ 2 h 2"/>
                  <a:gd name="T6" fmla="*/ 15 w 21"/>
                  <a:gd name="T7" fmla="*/ 2 h 2"/>
                  <a:gd name="T8" fmla="*/ 21 w 21"/>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2">
                    <a:moveTo>
                      <a:pt x="0" y="2"/>
                    </a:moveTo>
                    <a:lnTo>
                      <a:pt x="5" y="2"/>
                    </a:lnTo>
                    <a:lnTo>
                      <a:pt x="10" y="2"/>
                    </a:lnTo>
                    <a:lnTo>
                      <a:pt x="15" y="2"/>
                    </a:lnTo>
                    <a:lnTo>
                      <a:pt x="2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75" name="Line 1481"/>
              <p:cNvSpPr>
                <a:spLocks noChangeShapeType="1"/>
              </p:cNvSpPr>
              <p:nvPr userDrawn="1"/>
            </p:nvSpPr>
            <p:spPr bwMode="gray">
              <a:xfrm flipH="1">
                <a:off x="3130" y="1997"/>
                <a:ext cx="4" cy="21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76" name="Line 1482"/>
              <p:cNvSpPr>
                <a:spLocks noChangeShapeType="1"/>
              </p:cNvSpPr>
              <p:nvPr userDrawn="1"/>
            </p:nvSpPr>
            <p:spPr bwMode="gray">
              <a:xfrm flipH="1">
                <a:off x="3123" y="1996"/>
                <a:ext cx="1" cy="21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77" name="Freeform 1483"/>
              <p:cNvSpPr>
                <a:spLocks/>
              </p:cNvSpPr>
              <p:nvPr userDrawn="1"/>
            </p:nvSpPr>
            <p:spPr bwMode="gray">
              <a:xfrm>
                <a:off x="3123" y="2214"/>
                <a:ext cx="19" cy="3"/>
              </a:xfrm>
              <a:custGeom>
                <a:avLst/>
                <a:gdLst>
                  <a:gd name="T0" fmla="*/ 0 w 19"/>
                  <a:gd name="T1" fmla="*/ 0 h 3"/>
                  <a:gd name="T2" fmla="*/ 3 w 19"/>
                  <a:gd name="T3" fmla="*/ 1 h 3"/>
                  <a:gd name="T4" fmla="*/ 8 w 19"/>
                  <a:gd name="T5" fmla="*/ 3 h 3"/>
                  <a:gd name="T6" fmla="*/ 14 w 19"/>
                  <a:gd name="T7" fmla="*/ 1 h 3"/>
                  <a:gd name="T8" fmla="*/ 19 w 19"/>
                  <a:gd name="T9" fmla="*/ 0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
                    <a:moveTo>
                      <a:pt x="0" y="0"/>
                    </a:moveTo>
                    <a:lnTo>
                      <a:pt x="3" y="1"/>
                    </a:lnTo>
                    <a:lnTo>
                      <a:pt x="8" y="3"/>
                    </a:lnTo>
                    <a:lnTo>
                      <a:pt x="14" y="1"/>
                    </a:lnTo>
                    <a:lnTo>
                      <a:pt x="1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78" name="Line 1484"/>
              <p:cNvSpPr>
                <a:spLocks noChangeShapeType="1"/>
              </p:cNvSpPr>
              <p:nvPr userDrawn="1"/>
            </p:nvSpPr>
            <p:spPr bwMode="gray">
              <a:xfrm flipV="1">
                <a:off x="3141" y="1994"/>
                <a:ext cx="2" cy="22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79" name="Freeform 1485"/>
              <p:cNvSpPr>
                <a:spLocks/>
              </p:cNvSpPr>
              <p:nvPr userDrawn="1"/>
            </p:nvSpPr>
            <p:spPr bwMode="gray">
              <a:xfrm>
                <a:off x="3123" y="1994"/>
                <a:ext cx="20" cy="4"/>
              </a:xfrm>
              <a:custGeom>
                <a:avLst/>
                <a:gdLst>
                  <a:gd name="T0" fmla="*/ 0 w 20"/>
                  <a:gd name="T1" fmla="*/ 2 h 3"/>
                  <a:gd name="T2" fmla="*/ 6 w 20"/>
                  <a:gd name="T3" fmla="*/ 3 h 3"/>
                  <a:gd name="T4" fmla="*/ 11 w 20"/>
                  <a:gd name="T5" fmla="*/ 3 h 3"/>
                  <a:gd name="T6" fmla="*/ 16 w 20"/>
                  <a:gd name="T7" fmla="*/ 3 h 3"/>
                  <a:gd name="T8" fmla="*/ 20 w 20"/>
                  <a:gd name="T9" fmla="*/ 0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3">
                    <a:moveTo>
                      <a:pt x="0" y="2"/>
                    </a:moveTo>
                    <a:lnTo>
                      <a:pt x="6" y="3"/>
                    </a:lnTo>
                    <a:lnTo>
                      <a:pt x="11" y="3"/>
                    </a:lnTo>
                    <a:lnTo>
                      <a:pt x="16" y="3"/>
                    </a:lnTo>
                    <a:lnTo>
                      <a:pt x="2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80" name="Freeform 1486"/>
              <p:cNvSpPr>
                <a:spLocks/>
              </p:cNvSpPr>
              <p:nvPr userDrawn="1"/>
            </p:nvSpPr>
            <p:spPr bwMode="gray">
              <a:xfrm>
                <a:off x="2997" y="2165"/>
                <a:ext cx="9" cy="9"/>
              </a:xfrm>
              <a:custGeom>
                <a:avLst/>
                <a:gdLst>
                  <a:gd name="T0" fmla="*/ 0 w 9"/>
                  <a:gd name="T1" fmla="*/ 0 h 9"/>
                  <a:gd name="T2" fmla="*/ 0 w 9"/>
                  <a:gd name="T3" fmla="*/ 4 h 9"/>
                  <a:gd name="T4" fmla="*/ 2 w 9"/>
                  <a:gd name="T5" fmla="*/ 7 h 9"/>
                  <a:gd name="T6" fmla="*/ 4 w 9"/>
                  <a:gd name="T7" fmla="*/ 9 h 9"/>
                  <a:gd name="T8" fmla="*/ 7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4"/>
                    </a:lnTo>
                    <a:lnTo>
                      <a:pt x="2" y="7"/>
                    </a:lnTo>
                    <a:lnTo>
                      <a:pt x="4" y="9"/>
                    </a:lnTo>
                    <a:lnTo>
                      <a:pt x="7" y="9"/>
                    </a:lnTo>
                    <a:lnTo>
                      <a:pt x="9"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81" name="Line 1487"/>
              <p:cNvSpPr>
                <a:spLocks noChangeShapeType="1"/>
              </p:cNvSpPr>
              <p:nvPr userDrawn="1"/>
            </p:nvSpPr>
            <p:spPr bwMode="gray">
              <a:xfrm flipH="1" flipV="1">
                <a:off x="2923" y="2144"/>
                <a:ext cx="201"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82" name="Line 1488"/>
              <p:cNvSpPr>
                <a:spLocks noChangeShapeType="1"/>
              </p:cNvSpPr>
              <p:nvPr userDrawn="1"/>
            </p:nvSpPr>
            <p:spPr bwMode="gray">
              <a:xfrm flipH="1" flipV="1">
                <a:off x="2926" y="2137"/>
                <a:ext cx="196" cy="7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83" name="Freeform 1489"/>
              <p:cNvSpPr>
                <a:spLocks/>
              </p:cNvSpPr>
              <p:nvPr userDrawn="1"/>
            </p:nvSpPr>
            <p:spPr bwMode="gray">
              <a:xfrm>
                <a:off x="2923" y="2137"/>
                <a:ext cx="4" cy="6"/>
              </a:xfrm>
              <a:custGeom>
                <a:avLst/>
                <a:gdLst>
                  <a:gd name="T0" fmla="*/ 4 w 4"/>
                  <a:gd name="T1" fmla="*/ 0 h 6"/>
                  <a:gd name="T2" fmla="*/ 2 w 4"/>
                  <a:gd name="T3" fmla="*/ 2 h 6"/>
                  <a:gd name="T4" fmla="*/ 2 w 4"/>
                  <a:gd name="T5" fmla="*/ 4 h 6"/>
                  <a:gd name="T6" fmla="*/ 2 w 4"/>
                  <a:gd name="T7" fmla="*/ 6 h 6"/>
                  <a:gd name="T8" fmla="*/ 0 w 4"/>
                  <a:gd name="T9" fmla="*/ 6 h 6"/>
                  <a:gd name="T10" fmla="*/ 0 w 4"/>
                  <a:gd name="T11" fmla="*/ 6 h 6"/>
                  <a:gd name="T12" fmla="*/ 2 w 4"/>
                  <a:gd name="T13" fmla="*/ 4 h 6"/>
                  <a:gd name="T14" fmla="*/ 2 w 4"/>
                  <a:gd name="T15" fmla="*/ 4 h 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 h="6">
                    <a:moveTo>
                      <a:pt x="4" y="0"/>
                    </a:moveTo>
                    <a:lnTo>
                      <a:pt x="2" y="2"/>
                    </a:lnTo>
                    <a:lnTo>
                      <a:pt x="2" y="4"/>
                    </a:lnTo>
                    <a:lnTo>
                      <a:pt x="2" y="6"/>
                    </a:lnTo>
                    <a:lnTo>
                      <a:pt x="0" y="6"/>
                    </a:lnTo>
                    <a:lnTo>
                      <a:pt x="2" y="4"/>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84" name="Line 1490"/>
              <p:cNvSpPr>
                <a:spLocks noChangeShapeType="1"/>
              </p:cNvSpPr>
              <p:nvPr userDrawn="1"/>
            </p:nvSpPr>
            <p:spPr bwMode="gray">
              <a:xfrm>
                <a:off x="2924" y="2141"/>
                <a:ext cx="204" cy="7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85" name="Freeform 1491"/>
              <p:cNvSpPr>
                <a:spLocks/>
              </p:cNvSpPr>
              <p:nvPr userDrawn="1"/>
            </p:nvSpPr>
            <p:spPr bwMode="gray">
              <a:xfrm>
                <a:off x="3123" y="2214"/>
                <a:ext cx="4" cy="8"/>
              </a:xfrm>
              <a:custGeom>
                <a:avLst/>
                <a:gdLst>
                  <a:gd name="T0" fmla="*/ 7 w 7"/>
                  <a:gd name="T1" fmla="*/ 7 h 8"/>
                  <a:gd name="T2" fmla="*/ 5 w 7"/>
                  <a:gd name="T3" fmla="*/ 8 h 8"/>
                  <a:gd name="T4" fmla="*/ 1 w 7"/>
                  <a:gd name="T5" fmla="*/ 8 h 8"/>
                  <a:gd name="T6" fmla="*/ 0 w 7"/>
                  <a:gd name="T7" fmla="*/ 7 h 8"/>
                  <a:gd name="T8" fmla="*/ 0 w 7"/>
                  <a:gd name="T9" fmla="*/ 3 h 8"/>
                  <a:gd name="T10" fmla="*/ 0 w 7"/>
                  <a:gd name="T11" fmla="*/ 0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8">
                    <a:moveTo>
                      <a:pt x="7" y="7"/>
                    </a:moveTo>
                    <a:lnTo>
                      <a:pt x="5" y="8"/>
                    </a:lnTo>
                    <a:lnTo>
                      <a:pt x="1" y="8"/>
                    </a:lnTo>
                    <a:lnTo>
                      <a:pt x="0" y="7"/>
                    </a:lnTo>
                    <a:lnTo>
                      <a:pt x="0" y="3"/>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86" name="Freeform 1492"/>
              <p:cNvSpPr>
                <a:spLocks/>
              </p:cNvSpPr>
              <p:nvPr userDrawn="1"/>
            </p:nvSpPr>
            <p:spPr bwMode="gray">
              <a:xfrm>
                <a:off x="2782" y="1924"/>
                <a:ext cx="7" cy="16"/>
              </a:xfrm>
              <a:custGeom>
                <a:avLst/>
                <a:gdLst>
                  <a:gd name="T0" fmla="*/ 7 w 7"/>
                  <a:gd name="T1" fmla="*/ 0 h 16"/>
                  <a:gd name="T2" fmla="*/ 7 w 7"/>
                  <a:gd name="T3" fmla="*/ 3 h 16"/>
                  <a:gd name="T4" fmla="*/ 6 w 7"/>
                  <a:gd name="T5" fmla="*/ 9 h 16"/>
                  <a:gd name="T6" fmla="*/ 4 w 7"/>
                  <a:gd name="T7" fmla="*/ 12 h 16"/>
                  <a:gd name="T8" fmla="*/ 0 w 7"/>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16">
                    <a:moveTo>
                      <a:pt x="7" y="0"/>
                    </a:moveTo>
                    <a:lnTo>
                      <a:pt x="7" y="3"/>
                    </a:lnTo>
                    <a:lnTo>
                      <a:pt x="6" y="9"/>
                    </a:lnTo>
                    <a:lnTo>
                      <a:pt x="4" y="12"/>
                    </a:lnTo>
                    <a:lnTo>
                      <a:pt x="0"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87" name="Line 1493"/>
              <p:cNvSpPr>
                <a:spLocks noChangeShapeType="1"/>
              </p:cNvSpPr>
              <p:nvPr userDrawn="1"/>
            </p:nvSpPr>
            <p:spPr bwMode="gray">
              <a:xfrm flipH="1">
                <a:off x="3290" y="2040"/>
                <a:ext cx="1"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88" name="Line 1494"/>
              <p:cNvSpPr>
                <a:spLocks noChangeShapeType="1"/>
              </p:cNvSpPr>
              <p:nvPr userDrawn="1"/>
            </p:nvSpPr>
            <p:spPr bwMode="gray">
              <a:xfrm>
                <a:off x="3284" y="2038"/>
                <a:ext cx="1"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89" name="Freeform 1495"/>
              <p:cNvSpPr>
                <a:spLocks/>
              </p:cNvSpPr>
              <p:nvPr userDrawn="1"/>
            </p:nvSpPr>
            <p:spPr bwMode="gray">
              <a:xfrm>
                <a:off x="3284" y="2109"/>
                <a:ext cx="6" cy="10"/>
              </a:xfrm>
              <a:custGeom>
                <a:avLst/>
                <a:gdLst>
                  <a:gd name="T0" fmla="*/ 0 w 6"/>
                  <a:gd name="T1" fmla="*/ 0 h 10"/>
                  <a:gd name="T2" fmla="*/ 2 w 6"/>
                  <a:gd name="T3" fmla="*/ 1 h 10"/>
                  <a:gd name="T4" fmla="*/ 6 w 6"/>
                  <a:gd name="T5" fmla="*/ 5 h 10"/>
                  <a:gd name="T6" fmla="*/ 6 w 6"/>
                  <a:gd name="T7" fmla="*/ 7 h 10"/>
                  <a:gd name="T8" fmla="*/ 2 w 6"/>
                  <a:gd name="T9" fmla="*/ 10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10">
                    <a:moveTo>
                      <a:pt x="0" y="0"/>
                    </a:moveTo>
                    <a:lnTo>
                      <a:pt x="2" y="1"/>
                    </a:lnTo>
                    <a:lnTo>
                      <a:pt x="6" y="5"/>
                    </a:lnTo>
                    <a:lnTo>
                      <a:pt x="6" y="7"/>
                    </a:lnTo>
                    <a:lnTo>
                      <a:pt x="2" y="1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90" name="Line 1496"/>
              <p:cNvSpPr>
                <a:spLocks noChangeShapeType="1"/>
              </p:cNvSpPr>
              <p:nvPr userDrawn="1"/>
            </p:nvSpPr>
            <p:spPr bwMode="gray">
              <a:xfrm flipV="1">
                <a:off x="3286" y="2038"/>
                <a:ext cx="4" cy="8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91" name="Freeform 1497"/>
              <p:cNvSpPr>
                <a:spLocks/>
              </p:cNvSpPr>
              <p:nvPr userDrawn="1"/>
            </p:nvSpPr>
            <p:spPr bwMode="gray">
              <a:xfrm>
                <a:off x="3276" y="2109"/>
                <a:ext cx="8" cy="13"/>
              </a:xfrm>
              <a:custGeom>
                <a:avLst/>
                <a:gdLst>
                  <a:gd name="T0" fmla="*/ 0 w 8"/>
                  <a:gd name="T1" fmla="*/ 17 h 17"/>
                  <a:gd name="T2" fmla="*/ 3 w 8"/>
                  <a:gd name="T3" fmla="*/ 14 h 17"/>
                  <a:gd name="T4" fmla="*/ 7 w 8"/>
                  <a:gd name="T5" fmla="*/ 10 h 17"/>
                  <a:gd name="T6" fmla="*/ 7 w 8"/>
                  <a:gd name="T7" fmla="*/ 5 h 17"/>
                  <a:gd name="T8" fmla="*/ 8 w 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0" y="17"/>
                    </a:moveTo>
                    <a:lnTo>
                      <a:pt x="3" y="14"/>
                    </a:lnTo>
                    <a:lnTo>
                      <a:pt x="7" y="10"/>
                    </a:lnTo>
                    <a:lnTo>
                      <a:pt x="7" y="5"/>
                    </a:lnTo>
                    <a:lnTo>
                      <a:pt x="8"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92" name="Freeform 1498"/>
              <p:cNvSpPr>
                <a:spLocks/>
              </p:cNvSpPr>
              <p:nvPr userDrawn="1"/>
            </p:nvSpPr>
            <p:spPr bwMode="gray">
              <a:xfrm>
                <a:off x="3202" y="2165"/>
                <a:ext cx="12" cy="7"/>
              </a:xfrm>
              <a:custGeom>
                <a:avLst/>
                <a:gdLst>
                  <a:gd name="T0" fmla="*/ 12 w 12"/>
                  <a:gd name="T1" fmla="*/ 0 h 7"/>
                  <a:gd name="T2" fmla="*/ 11 w 12"/>
                  <a:gd name="T3" fmla="*/ 4 h 7"/>
                  <a:gd name="T4" fmla="*/ 9 w 12"/>
                  <a:gd name="T5" fmla="*/ 7 h 7"/>
                  <a:gd name="T6" fmla="*/ 5 w 12"/>
                  <a:gd name="T7" fmla="*/ 7 h 7"/>
                  <a:gd name="T8" fmla="*/ 0 w 12"/>
                  <a:gd name="T9" fmla="*/ 7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7">
                    <a:moveTo>
                      <a:pt x="12" y="0"/>
                    </a:moveTo>
                    <a:lnTo>
                      <a:pt x="11" y="4"/>
                    </a:lnTo>
                    <a:lnTo>
                      <a:pt x="9" y="7"/>
                    </a:lnTo>
                    <a:lnTo>
                      <a:pt x="5" y="7"/>
                    </a:lnTo>
                    <a:lnTo>
                      <a:pt x="0"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93" name="Line 1499"/>
              <p:cNvSpPr>
                <a:spLocks noChangeShapeType="1"/>
              </p:cNvSpPr>
              <p:nvPr userDrawn="1"/>
            </p:nvSpPr>
            <p:spPr bwMode="gray">
              <a:xfrm flipV="1">
                <a:off x="3137" y="2125"/>
                <a:ext cx="146" cy="9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94" name="Line 1500"/>
              <p:cNvSpPr>
                <a:spLocks noChangeShapeType="1"/>
              </p:cNvSpPr>
              <p:nvPr userDrawn="1"/>
            </p:nvSpPr>
            <p:spPr bwMode="gray">
              <a:xfrm flipV="1">
                <a:off x="3141" y="2118"/>
                <a:ext cx="143" cy="9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95" name="Freeform 1501"/>
              <p:cNvSpPr>
                <a:spLocks/>
              </p:cNvSpPr>
              <p:nvPr userDrawn="1"/>
            </p:nvSpPr>
            <p:spPr bwMode="gray">
              <a:xfrm>
                <a:off x="3276" y="2118"/>
                <a:ext cx="10" cy="9"/>
              </a:xfrm>
              <a:custGeom>
                <a:avLst/>
                <a:gdLst>
                  <a:gd name="T0" fmla="*/ 10 w 10"/>
                  <a:gd name="T1" fmla="*/ 0 h 9"/>
                  <a:gd name="T2" fmla="*/ 10 w 10"/>
                  <a:gd name="T3" fmla="*/ 4 h 9"/>
                  <a:gd name="T4" fmla="*/ 8 w 10"/>
                  <a:gd name="T5" fmla="*/ 7 h 9"/>
                  <a:gd name="T6" fmla="*/ 5 w 10"/>
                  <a:gd name="T7" fmla="*/ 9 h 9"/>
                  <a:gd name="T8" fmla="*/ 0 w 10"/>
                  <a:gd name="T9" fmla="*/ 7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9">
                    <a:moveTo>
                      <a:pt x="10" y="0"/>
                    </a:moveTo>
                    <a:lnTo>
                      <a:pt x="10" y="4"/>
                    </a:lnTo>
                    <a:lnTo>
                      <a:pt x="8" y="7"/>
                    </a:lnTo>
                    <a:lnTo>
                      <a:pt x="5" y="9"/>
                    </a:lnTo>
                    <a:lnTo>
                      <a:pt x="0"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96" name="Line 1502"/>
              <p:cNvSpPr>
                <a:spLocks noChangeShapeType="1"/>
              </p:cNvSpPr>
              <p:nvPr userDrawn="1"/>
            </p:nvSpPr>
            <p:spPr bwMode="gray">
              <a:xfrm flipH="1">
                <a:off x="3129" y="2125"/>
                <a:ext cx="147" cy="9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97" name="Freeform 1503"/>
              <p:cNvSpPr>
                <a:spLocks/>
              </p:cNvSpPr>
              <p:nvPr userDrawn="1"/>
            </p:nvSpPr>
            <p:spPr bwMode="gray">
              <a:xfrm>
                <a:off x="3129" y="2214"/>
                <a:ext cx="13" cy="8"/>
              </a:xfrm>
              <a:custGeom>
                <a:avLst/>
                <a:gdLst>
                  <a:gd name="T0" fmla="*/ 0 w 12"/>
                  <a:gd name="T1" fmla="*/ 7 h 8"/>
                  <a:gd name="T2" fmla="*/ 5 w 12"/>
                  <a:gd name="T3" fmla="*/ 8 h 8"/>
                  <a:gd name="T4" fmla="*/ 8 w 12"/>
                  <a:gd name="T5" fmla="*/ 7 h 8"/>
                  <a:gd name="T6" fmla="*/ 10 w 12"/>
                  <a:gd name="T7" fmla="*/ 3 h 8"/>
                  <a:gd name="T8" fmla="*/ 12 w 12"/>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8">
                    <a:moveTo>
                      <a:pt x="0" y="7"/>
                    </a:moveTo>
                    <a:lnTo>
                      <a:pt x="5" y="8"/>
                    </a:lnTo>
                    <a:lnTo>
                      <a:pt x="8" y="7"/>
                    </a:lnTo>
                    <a:lnTo>
                      <a:pt x="10" y="3"/>
                    </a:lnTo>
                    <a:lnTo>
                      <a:pt x="1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98" name="Line 1504"/>
              <p:cNvSpPr>
                <a:spLocks noChangeShapeType="1"/>
              </p:cNvSpPr>
              <p:nvPr userDrawn="1"/>
            </p:nvSpPr>
            <p:spPr bwMode="gray">
              <a:xfrm>
                <a:off x="2537" y="2097"/>
                <a:ext cx="4" cy="5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499" name="Line 1505"/>
              <p:cNvSpPr>
                <a:spLocks noChangeShapeType="1"/>
              </p:cNvSpPr>
              <p:nvPr userDrawn="1"/>
            </p:nvSpPr>
            <p:spPr bwMode="gray">
              <a:xfrm>
                <a:off x="2541" y="2099"/>
                <a:ext cx="1" cy="5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00" name="Freeform 1506"/>
              <p:cNvSpPr>
                <a:spLocks/>
              </p:cNvSpPr>
              <p:nvPr userDrawn="1"/>
            </p:nvSpPr>
            <p:spPr bwMode="gray">
              <a:xfrm>
                <a:off x="2541" y="2150"/>
                <a:ext cx="4" cy="13"/>
              </a:xfrm>
              <a:custGeom>
                <a:avLst/>
                <a:gdLst>
                  <a:gd name="T0" fmla="*/ 2 w 5"/>
                  <a:gd name="T1" fmla="*/ 0 h 10"/>
                  <a:gd name="T2" fmla="*/ 0 w 5"/>
                  <a:gd name="T3" fmla="*/ 3 h 10"/>
                  <a:gd name="T4" fmla="*/ 0 w 5"/>
                  <a:gd name="T5" fmla="*/ 5 h 10"/>
                  <a:gd name="T6" fmla="*/ 2 w 5"/>
                  <a:gd name="T7" fmla="*/ 8 h 10"/>
                  <a:gd name="T8" fmla="*/ 5 w 5"/>
                  <a:gd name="T9" fmla="*/ 10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10">
                    <a:moveTo>
                      <a:pt x="2" y="0"/>
                    </a:moveTo>
                    <a:lnTo>
                      <a:pt x="0" y="3"/>
                    </a:lnTo>
                    <a:lnTo>
                      <a:pt x="0" y="5"/>
                    </a:lnTo>
                    <a:lnTo>
                      <a:pt x="2" y="8"/>
                    </a:lnTo>
                    <a:lnTo>
                      <a:pt x="5" y="1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01" name="Line 1507"/>
              <p:cNvSpPr>
                <a:spLocks noChangeShapeType="1"/>
              </p:cNvSpPr>
              <p:nvPr userDrawn="1"/>
            </p:nvSpPr>
            <p:spPr bwMode="gray">
              <a:xfrm flipH="1" flipV="1">
                <a:off x="2543" y="2099"/>
                <a:ext cx="1"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02" name="Freeform 1508"/>
              <p:cNvSpPr>
                <a:spLocks/>
              </p:cNvSpPr>
              <p:nvPr userDrawn="1"/>
            </p:nvSpPr>
            <p:spPr bwMode="gray">
              <a:xfrm>
                <a:off x="2541" y="2150"/>
                <a:ext cx="12" cy="17"/>
              </a:xfrm>
              <a:custGeom>
                <a:avLst/>
                <a:gdLst>
                  <a:gd name="T0" fmla="*/ 12 w 12"/>
                  <a:gd name="T1" fmla="*/ 17 h 17"/>
                  <a:gd name="T2" fmla="*/ 7 w 12"/>
                  <a:gd name="T3" fmla="*/ 14 h 17"/>
                  <a:gd name="T4" fmla="*/ 3 w 12"/>
                  <a:gd name="T5" fmla="*/ 10 h 17"/>
                  <a:gd name="T6" fmla="*/ 2 w 12"/>
                  <a:gd name="T7" fmla="*/ 5 h 17"/>
                  <a:gd name="T8" fmla="*/ 0 w 12"/>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7">
                    <a:moveTo>
                      <a:pt x="12" y="17"/>
                    </a:moveTo>
                    <a:lnTo>
                      <a:pt x="7" y="14"/>
                    </a:lnTo>
                    <a:lnTo>
                      <a:pt x="3" y="10"/>
                    </a:lnTo>
                    <a:lnTo>
                      <a:pt x="2"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03" name="Freeform 1509"/>
              <p:cNvSpPr>
                <a:spLocks/>
              </p:cNvSpPr>
              <p:nvPr userDrawn="1"/>
            </p:nvSpPr>
            <p:spPr bwMode="gray">
              <a:xfrm>
                <a:off x="2821" y="1954"/>
                <a:ext cx="10" cy="13"/>
              </a:xfrm>
              <a:custGeom>
                <a:avLst/>
                <a:gdLst>
                  <a:gd name="T0" fmla="*/ 10 w 10"/>
                  <a:gd name="T1" fmla="*/ 15 h 15"/>
                  <a:gd name="T2" fmla="*/ 10 w 10"/>
                  <a:gd name="T3" fmla="*/ 10 h 15"/>
                  <a:gd name="T4" fmla="*/ 7 w 10"/>
                  <a:gd name="T5" fmla="*/ 7 h 15"/>
                  <a:gd name="T6" fmla="*/ 3 w 10"/>
                  <a:gd name="T7" fmla="*/ 1 h 15"/>
                  <a:gd name="T8" fmla="*/ 0 w 10"/>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5">
                    <a:moveTo>
                      <a:pt x="10" y="15"/>
                    </a:moveTo>
                    <a:lnTo>
                      <a:pt x="10" y="10"/>
                    </a:lnTo>
                    <a:lnTo>
                      <a:pt x="7" y="7"/>
                    </a:lnTo>
                    <a:lnTo>
                      <a:pt x="3" y="1"/>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04" name="Line 1510"/>
              <p:cNvSpPr>
                <a:spLocks noChangeShapeType="1"/>
              </p:cNvSpPr>
              <p:nvPr userDrawn="1"/>
            </p:nvSpPr>
            <p:spPr bwMode="gray">
              <a:xfrm flipH="1">
                <a:off x="2751" y="1912"/>
                <a:ext cx="157" cy="9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05" name="Line 1511"/>
              <p:cNvSpPr>
                <a:spLocks noChangeShapeType="1"/>
              </p:cNvSpPr>
              <p:nvPr userDrawn="1"/>
            </p:nvSpPr>
            <p:spPr bwMode="gray">
              <a:xfrm flipH="1">
                <a:off x="2754" y="1924"/>
                <a:ext cx="154" cy="9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06" name="Freeform 1512"/>
              <p:cNvSpPr>
                <a:spLocks/>
              </p:cNvSpPr>
              <p:nvPr userDrawn="1"/>
            </p:nvSpPr>
            <p:spPr bwMode="gray">
              <a:xfrm>
                <a:off x="2744" y="1999"/>
                <a:ext cx="10" cy="18"/>
              </a:xfrm>
              <a:custGeom>
                <a:avLst/>
                <a:gdLst>
                  <a:gd name="T0" fmla="*/ 10 w 10"/>
                  <a:gd name="T1" fmla="*/ 18 h 18"/>
                  <a:gd name="T2" fmla="*/ 9 w 10"/>
                  <a:gd name="T3" fmla="*/ 12 h 18"/>
                  <a:gd name="T4" fmla="*/ 7 w 10"/>
                  <a:gd name="T5" fmla="*/ 7 h 18"/>
                  <a:gd name="T6" fmla="*/ 3 w 10"/>
                  <a:gd name="T7" fmla="*/ 4 h 18"/>
                  <a:gd name="T8" fmla="*/ 0 w 10"/>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8">
                    <a:moveTo>
                      <a:pt x="10" y="18"/>
                    </a:moveTo>
                    <a:lnTo>
                      <a:pt x="9" y="12"/>
                    </a:lnTo>
                    <a:lnTo>
                      <a:pt x="7" y="7"/>
                    </a:lnTo>
                    <a:lnTo>
                      <a:pt x="3"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07" name="Line 1513"/>
              <p:cNvSpPr>
                <a:spLocks noChangeShapeType="1"/>
              </p:cNvSpPr>
              <p:nvPr userDrawn="1"/>
            </p:nvSpPr>
            <p:spPr bwMode="gray">
              <a:xfrm flipV="1">
                <a:off x="2744" y="1903"/>
                <a:ext cx="161" cy="9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08" name="Freeform 1514"/>
              <p:cNvSpPr>
                <a:spLocks/>
              </p:cNvSpPr>
              <p:nvPr userDrawn="1"/>
            </p:nvSpPr>
            <p:spPr bwMode="gray">
              <a:xfrm>
                <a:off x="2906" y="1903"/>
                <a:ext cx="4" cy="21"/>
              </a:xfrm>
              <a:custGeom>
                <a:avLst/>
                <a:gdLst>
                  <a:gd name="T0" fmla="*/ 3 w 5"/>
                  <a:gd name="T1" fmla="*/ 21 h 21"/>
                  <a:gd name="T2" fmla="*/ 5 w 5"/>
                  <a:gd name="T3" fmla="*/ 16 h 21"/>
                  <a:gd name="T4" fmla="*/ 5 w 5"/>
                  <a:gd name="T5" fmla="*/ 10 h 21"/>
                  <a:gd name="T6" fmla="*/ 3 w 5"/>
                  <a:gd name="T7" fmla="*/ 5 h 21"/>
                  <a:gd name="T8" fmla="*/ 0 w 5"/>
                  <a:gd name="T9" fmla="*/ 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21">
                    <a:moveTo>
                      <a:pt x="3" y="21"/>
                    </a:moveTo>
                    <a:lnTo>
                      <a:pt x="5" y="16"/>
                    </a:lnTo>
                    <a:lnTo>
                      <a:pt x="5" y="10"/>
                    </a:lnTo>
                    <a:lnTo>
                      <a:pt x="3"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09" name="Freeform 1515"/>
              <p:cNvSpPr>
                <a:spLocks/>
              </p:cNvSpPr>
              <p:nvPr userDrawn="1"/>
            </p:nvSpPr>
            <p:spPr bwMode="gray">
              <a:xfrm>
                <a:off x="2735" y="2125"/>
                <a:ext cx="19" cy="4"/>
              </a:xfrm>
              <a:custGeom>
                <a:avLst/>
                <a:gdLst>
                  <a:gd name="T0" fmla="*/ 19 w 19"/>
                  <a:gd name="T1" fmla="*/ 0 h 4"/>
                  <a:gd name="T2" fmla="*/ 14 w 19"/>
                  <a:gd name="T3" fmla="*/ 2 h 4"/>
                  <a:gd name="T4" fmla="*/ 11 w 19"/>
                  <a:gd name="T5" fmla="*/ 4 h 4"/>
                  <a:gd name="T6" fmla="*/ 5 w 19"/>
                  <a:gd name="T7" fmla="*/ 4 h 4"/>
                  <a:gd name="T8" fmla="*/ 0 w 19"/>
                  <a:gd name="T9" fmla="*/ 2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
                    <a:moveTo>
                      <a:pt x="19" y="0"/>
                    </a:moveTo>
                    <a:lnTo>
                      <a:pt x="14" y="2"/>
                    </a:lnTo>
                    <a:lnTo>
                      <a:pt x="11" y="4"/>
                    </a:lnTo>
                    <a:lnTo>
                      <a:pt x="5" y="4"/>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10" name="Line 1516"/>
              <p:cNvSpPr>
                <a:spLocks noChangeShapeType="1"/>
              </p:cNvSpPr>
              <p:nvPr userDrawn="1"/>
            </p:nvSpPr>
            <p:spPr bwMode="gray">
              <a:xfrm>
                <a:off x="2744" y="2018"/>
                <a:ext cx="2" cy="21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11" name="Line 1517"/>
              <p:cNvSpPr>
                <a:spLocks noChangeShapeType="1"/>
              </p:cNvSpPr>
              <p:nvPr userDrawn="1"/>
            </p:nvSpPr>
            <p:spPr bwMode="gray">
              <a:xfrm>
                <a:off x="2754" y="2017"/>
                <a:ext cx="1" cy="21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12" name="Freeform 1518"/>
              <p:cNvSpPr>
                <a:spLocks/>
              </p:cNvSpPr>
              <p:nvPr userDrawn="1"/>
            </p:nvSpPr>
            <p:spPr bwMode="gray">
              <a:xfrm>
                <a:off x="2735" y="2234"/>
                <a:ext cx="19" cy="3"/>
              </a:xfrm>
              <a:custGeom>
                <a:avLst/>
                <a:gdLst>
                  <a:gd name="T0" fmla="*/ 19 w 19"/>
                  <a:gd name="T1" fmla="*/ 0 h 3"/>
                  <a:gd name="T2" fmla="*/ 14 w 19"/>
                  <a:gd name="T3" fmla="*/ 3 h 3"/>
                  <a:gd name="T4" fmla="*/ 11 w 19"/>
                  <a:gd name="T5" fmla="*/ 3 h 3"/>
                  <a:gd name="T6" fmla="*/ 5 w 19"/>
                  <a:gd name="T7" fmla="*/ 3 h 3"/>
                  <a:gd name="T8" fmla="*/ 0 w 19"/>
                  <a:gd name="T9" fmla="*/ 1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
                    <a:moveTo>
                      <a:pt x="19" y="0"/>
                    </a:moveTo>
                    <a:lnTo>
                      <a:pt x="14" y="3"/>
                    </a:lnTo>
                    <a:lnTo>
                      <a:pt x="11" y="3"/>
                    </a:lnTo>
                    <a:lnTo>
                      <a:pt x="5" y="3"/>
                    </a:lnTo>
                    <a:lnTo>
                      <a:pt x="0" y="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13" name="Line 1519"/>
              <p:cNvSpPr>
                <a:spLocks noChangeShapeType="1"/>
              </p:cNvSpPr>
              <p:nvPr userDrawn="1"/>
            </p:nvSpPr>
            <p:spPr bwMode="gray">
              <a:xfrm flipV="1">
                <a:off x="2735" y="2017"/>
                <a:ext cx="1" cy="21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14" name="Freeform 1520"/>
              <p:cNvSpPr>
                <a:spLocks/>
              </p:cNvSpPr>
              <p:nvPr userDrawn="1"/>
            </p:nvSpPr>
            <p:spPr bwMode="gray">
              <a:xfrm>
                <a:off x="2735" y="2017"/>
                <a:ext cx="19" cy="3"/>
              </a:xfrm>
              <a:custGeom>
                <a:avLst/>
                <a:gdLst>
                  <a:gd name="T0" fmla="*/ 19 w 19"/>
                  <a:gd name="T1" fmla="*/ 0 h 3"/>
                  <a:gd name="T2" fmla="*/ 14 w 19"/>
                  <a:gd name="T3" fmla="*/ 1 h 3"/>
                  <a:gd name="T4" fmla="*/ 9 w 19"/>
                  <a:gd name="T5" fmla="*/ 3 h 3"/>
                  <a:gd name="T6" fmla="*/ 4 w 19"/>
                  <a:gd name="T7" fmla="*/ 1 h 3"/>
                  <a:gd name="T8" fmla="*/ 0 w 19"/>
                  <a:gd name="T9" fmla="*/ 0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
                    <a:moveTo>
                      <a:pt x="19" y="0"/>
                    </a:moveTo>
                    <a:lnTo>
                      <a:pt x="14" y="1"/>
                    </a:lnTo>
                    <a:lnTo>
                      <a:pt x="9" y="3"/>
                    </a:lnTo>
                    <a:lnTo>
                      <a:pt x="4" y="1"/>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15" name="Freeform 1521"/>
              <p:cNvSpPr>
                <a:spLocks/>
              </p:cNvSpPr>
              <p:nvPr userDrawn="1"/>
            </p:nvSpPr>
            <p:spPr bwMode="gray">
              <a:xfrm>
                <a:off x="2821" y="2187"/>
                <a:ext cx="10" cy="9"/>
              </a:xfrm>
              <a:custGeom>
                <a:avLst/>
                <a:gdLst>
                  <a:gd name="T0" fmla="*/ 10 w 10"/>
                  <a:gd name="T1" fmla="*/ 0 h 9"/>
                  <a:gd name="T2" fmla="*/ 10 w 10"/>
                  <a:gd name="T3" fmla="*/ 4 h 9"/>
                  <a:gd name="T4" fmla="*/ 7 w 10"/>
                  <a:gd name="T5" fmla="*/ 7 h 9"/>
                  <a:gd name="T6" fmla="*/ 3 w 10"/>
                  <a:gd name="T7" fmla="*/ 9 h 9"/>
                  <a:gd name="T8" fmla="*/ 0 w 10"/>
                  <a:gd name="T9" fmla="*/ 7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9">
                    <a:moveTo>
                      <a:pt x="10" y="0"/>
                    </a:moveTo>
                    <a:lnTo>
                      <a:pt x="10" y="4"/>
                    </a:lnTo>
                    <a:lnTo>
                      <a:pt x="7" y="7"/>
                    </a:lnTo>
                    <a:lnTo>
                      <a:pt x="3" y="9"/>
                    </a:lnTo>
                    <a:lnTo>
                      <a:pt x="0"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16" name="Line 1522"/>
              <p:cNvSpPr>
                <a:spLocks noChangeShapeType="1"/>
              </p:cNvSpPr>
              <p:nvPr userDrawn="1"/>
            </p:nvSpPr>
            <p:spPr bwMode="gray">
              <a:xfrm flipV="1">
                <a:off x="2751" y="2144"/>
                <a:ext cx="157" cy="9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17" name="Line 1523"/>
              <p:cNvSpPr>
                <a:spLocks noChangeShapeType="1"/>
              </p:cNvSpPr>
              <p:nvPr userDrawn="1"/>
            </p:nvSpPr>
            <p:spPr bwMode="gray">
              <a:xfrm flipV="1">
                <a:off x="2754" y="2139"/>
                <a:ext cx="152" cy="9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18" name="Freeform 1524"/>
              <p:cNvSpPr>
                <a:spLocks/>
              </p:cNvSpPr>
              <p:nvPr userDrawn="1"/>
            </p:nvSpPr>
            <p:spPr bwMode="gray">
              <a:xfrm>
                <a:off x="2906" y="2139"/>
                <a:ext cx="3" cy="5"/>
              </a:xfrm>
              <a:custGeom>
                <a:avLst/>
                <a:gdLst>
                  <a:gd name="T0" fmla="*/ 1 w 3"/>
                  <a:gd name="T1" fmla="*/ 0 h 5"/>
                  <a:gd name="T2" fmla="*/ 3 w 3"/>
                  <a:gd name="T3" fmla="*/ 2 h 5"/>
                  <a:gd name="T4" fmla="*/ 3 w 3"/>
                  <a:gd name="T5" fmla="*/ 4 h 5"/>
                  <a:gd name="T6" fmla="*/ 3 w 3"/>
                  <a:gd name="T7" fmla="*/ 4 h 5"/>
                  <a:gd name="T8" fmla="*/ 1 w 3"/>
                  <a:gd name="T9" fmla="*/ 5 h 5"/>
                  <a:gd name="T10" fmla="*/ 1 w 3"/>
                  <a:gd name="T11" fmla="*/ 5 h 5"/>
                  <a:gd name="T12" fmla="*/ 0 w 3"/>
                  <a:gd name="T13" fmla="*/ 4 h 5"/>
                  <a:gd name="T14" fmla="*/ 0 w 3"/>
                  <a:gd name="T15" fmla="*/ 2 h 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 h="5">
                    <a:moveTo>
                      <a:pt x="1" y="0"/>
                    </a:moveTo>
                    <a:lnTo>
                      <a:pt x="3" y="2"/>
                    </a:lnTo>
                    <a:lnTo>
                      <a:pt x="3" y="4"/>
                    </a:lnTo>
                    <a:lnTo>
                      <a:pt x="1" y="5"/>
                    </a:lnTo>
                    <a:lnTo>
                      <a:pt x="0" y="4"/>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19" name="Line 1525"/>
              <p:cNvSpPr>
                <a:spLocks noChangeShapeType="1"/>
              </p:cNvSpPr>
              <p:nvPr userDrawn="1"/>
            </p:nvSpPr>
            <p:spPr bwMode="gray">
              <a:xfrm flipH="1">
                <a:off x="2744" y="2141"/>
                <a:ext cx="161" cy="10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520" name="Freeform 1526"/>
              <p:cNvSpPr>
                <a:spLocks/>
              </p:cNvSpPr>
              <p:nvPr userDrawn="1"/>
            </p:nvSpPr>
            <p:spPr bwMode="gray">
              <a:xfrm>
                <a:off x="2744" y="2234"/>
                <a:ext cx="10" cy="8"/>
              </a:xfrm>
              <a:custGeom>
                <a:avLst/>
                <a:gdLst>
                  <a:gd name="T0" fmla="*/ 0 w 10"/>
                  <a:gd name="T1" fmla="*/ 8 h 8"/>
                  <a:gd name="T2" fmla="*/ 3 w 10"/>
                  <a:gd name="T3" fmla="*/ 8 h 8"/>
                  <a:gd name="T4" fmla="*/ 7 w 10"/>
                  <a:gd name="T5" fmla="*/ 8 h 8"/>
                  <a:gd name="T6" fmla="*/ 10 w 10"/>
                  <a:gd name="T7" fmla="*/ 5 h 8"/>
                  <a:gd name="T8" fmla="*/ 10 w 10"/>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8">
                    <a:moveTo>
                      <a:pt x="0" y="8"/>
                    </a:moveTo>
                    <a:lnTo>
                      <a:pt x="3" y="8"/>
                    </a:lnTo>
                    <a:lnTo>
                      <a:pt x="7" y="8"/>
                    </a:lnTo>
                    <a:lnTo>
                      <a:pt x="10" y="5"/>
                    </a:lnTo>
                    <a:lnTo>
                      <a:pt x="1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grpSp>
        <p:grpSp>
          <p:nvGrpSpPr>
            <p:cNvPr id="1066" name="Group 1527"/>
            <p:cNvGrpSpPr>
              <a:grpSpLocks/>
            </p:cNvGrpSpPr>
            <p:nvPr userDrawn="1"/>
          </p:nvGrpSpPr>
          <p:grpSpPr bwMode="auto">
            <a:xfrm>
              <a:off x="4059" y="2614"/>
              <a:ext cx="1572" cy="1574"/>
              <a:chOff x="2111" y="670"/>
              <a:chExt cx="1572" cy="1574"/>
            </a:xfrm>
          </p:grpSpPr>
          <p:sp>
            <p:nvSpPr>
              <p:cNvPr id="1121" name="Freeform 1528"/>
              <p:cNvSpPr>
                <a:spLocks/>
              </p:cNvSpPr>
              <p:nvPr userDrawn="1"/>
            </p:nvSpPr>
            <p:spPr bwMode="gray">
              <a:xfrm>
                <a:off x="2639" y="2197"/>
                <a:ext cx="9" cy="9"/>
              </a:xfrm>
              <a:custGeom>
                <a:avLst/>
                <a:gdLst>
                  <a:gd name="T0" fmla="*/ 0 w 9"/>
                  <a:gd name="T1" fmla="*/ 0 h 9"/>
                  <a:gd name="T2" fmla="*/ 0 w 9"/>
                  <a:gd name="T3" fmla="*/ 3 h 9"/>
                  <a:gd name="T4" fmla="*/ 2 w 9"/>
                  <a:gd name="T5" fmla="*/ 7 h 9"/>
                  <a:gd name="T6" fmla="*/ 5 w 9"/>
                  <a:gd name="T7" fmla="*/ 9 h 9"/>
                  <a:gd name="T8" fmla="*/ 7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3"/>
                    </a:lnTo>
                    <a:lnTo>
                      <a:pt x="2" y="7"/>
                    </a:lnTo>
                    <a:lnTo>
                      <a:pt x="5" y="9"/>
                    </a:lnTo>
                    <a:lnTo>
                      <a:pt x="7" y="9"/>
                    </a:lnTo>
                    <a:lnTo>
                      <a:pt x="9"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22" name="Line 1529"/>
              <p:cNvSpPr>
                <a:spLocks noChangeShapeType="1"/>
              </p:cNvSpPr>
              <p:nvPr userDrawn="1"/>
            </p:nvSpPr>
            <p:spPr bwMode="gray">
              <a:xfrm>
                <a:off x="2546" y="2167"/>
                <a:ext cx="191"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23" name="Line 1530"/>
              <p:cNvSpPr>
                <a:spLocks noChangeShapeType="1"/>
              </p:cNvSpPr>
              <p:nvPr userDrawn="1"/>
            </p:nvSpPr>
            <p:spPr bwMode="gray">
              <a:xfrm>
                <a:off x="2544" y="2160"/>
                <a:ext cx="191"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24" name="Freeform 1531"/>
              <p:cNvSpPr>
                <a:spLocks/>
              </p:cNvSpPr>
              <p:nvPr userDrawn="1"/>
            </p:nvSpPr>
            <p:spPr bwMode="gray">
              <a:xfrm>
                <a:off x="2735" y="2235"/>
                <a:ext cx="9" cy="9"/>
              </a:xfrm>
              <a:custGeom>
                <a:avLst/>
                <a:gdLst>
                  <a:gd name="T0" fmla="*/ 0 w 9"/>
                  <a:gd name="T1" fmla="*/ 0 h 9"/>
                  <a:gd name="T2" fmla="*/ 0 w 9"/>
                  <a:gd name="T3" fmla="*/ 4 h 9"/>
                  <a:gd name="T4" fmla="*/ 2 w 9"/>
                  <a:gd name="T5" fmla="*/ 6 h 9"/>
                  <a:gd name="T6" fmla="*/ 4 w 9"/>
                  <a:gd name="T7" fmla="*/ 7 h 9"/>
                  <a:gd name="T8" fmla="*/ 5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4"/>
                    </a:lnTo>
                    <a:lnTo>
                      <a:pt x="2" y="6"/>
                    </a:lnTo>
                    <a:lnTo>
                      <a:pt x="4" y="7"/>
                    </a:lnTo>
                    <a:lnTo>
                      <a:pt x="5" y="9"/>
                    </a:lnTo>
                    <a:lnTo>
                      <a:pt x="9"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25" name="Line 1532"/>
              <p:cNvSpPr>
                <a:spLocks noChangeShapeType="1"/>
              </p:cNvSpPr>
              <p:nvPr userDrawn="1"/>
            </p:nvSpPr>
            <p:spPr bwMode="gray">
              <a:xfrm flipH="1" flipV="1">
                <a:off x="2553" y="2167"/>
                <a:ext cx="191"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26" name="Freeform 1533"/>
              <p:cNvSpPr>
                <a:spLocks/>
              </p:cNvSpPr>
              <p:nvPr userDrawn="1"/>
            </p:nvSpPr>
            <p:spPr bwMode="gray">
              <a:xfrm>
                <a:off x="2544" y="2160"/>
                <a:ext cx="9" cy="7"/>
              </a:xfrm>
              <a:custGeom>
                <a:avLst/>
                <a:gdLst>
                  <a:gd name="T0" fmla="*/ 9 w 9"/>
                  <a:gd name="T1" fmla="*/ 7 h 7"/>
                  <a:gd name="T2" fmla="*/ 6 w 9"/>
                  <a:gd name="T3" fmla="*/ 7 h 7"/>
                  <a:gd name="T4" fmla="*/ 2 w 9"/>
                  <a:gd name="T5" fmla="*/ 7 h 7"/>
                  <a:gd name="T6" fmla="*/ 0 w 9"/>
                  <a:gd name="T7" fmla="*/ 5 h 7"/>
                  <a:gd name="T8" fmla="*/ 0 w 9"/>
                  <a:gd name="T9" fmla="*/ 4 h 7"/>
                  <a:gd name="T10" fmla="*/ 0 w 9"/>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7">
                    <a:moveTo>
                      <a:pt x="9" y="7"/>
                    </a:moveTo>
                    <a:lnTo>
                      <a:pt x="6" y="7"/>
                    </a:lnTo>
                    <a:lnTo>
                      <a:pt x="2" y="7"/>
                    </a:lnTo>
                    <a:lnTo>
                      <a:pt x="0" y="5"/>
                    </a:lnTo>
                    <a:lnTo>
                      <a:pt x="0"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27" name="Freeform 1534"/>
              <p:cNvSpPr>
                <a:spLocks/>
              </p:cNvSpPr>
              <p:nvPr userDrawn="1"/>
            </p:nvSpPr>
            <p:spPr bwMode="gray">
              <a:xfrm>
                <a:off x="2688" y="840"/>
                <a:ext cx="4" cy="4"/>
              </a:xfrm>
              <a:custGeom>
                <a:avLst/>
                <a:gdLst>
                  <a:gd name="T0" fmla="*/ 2 w 3"/>
                  <a:gd name="T1" fmla="*/ 7 h 7"/>
                  <a:gd name="T2" fmla="*/ 3 w 3"/>
                  <a:gd name="T3" fmla="*/ 5 h 7"/>
                  <a:gd name="T4" fmla="*/ 3 w 3"/>
                  <a:gd name="T5" fmla="*/ 3 h 7"/>
                  <a:gd name="T6" fmla="*/ 3 w 3"/>
                  <a:gd name="T7" fmla="*/ 0 h 7"/>
                  <a:gd name="T8" fmla="*/ 0 w 3"/>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7">
                    <a:moveTo>
                      <a:pt x="2" y="7"/>
                    </a:moveTo>
                    <a:lnTo>
                      <a:pt x="3" y="5"/>
                    </a:lnTo>
                    <a:lnTo>
                      <a:pt x="3" y="3"/>
                    </a:lnTo>
                    <a:lnTo>
                      <a:pt x="3" y="0"/>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28" name="Freeform 1535"/>
              <p:cNvSpPr>
                <a:spLocks/>
              </p:cNvSpPr>
              <p:nvPr userDrawn="1"/>
            </p:nvSpPr>
            <p:spPr bwMode="gray">
              <a:xfrm>
                <a:off x="2630" y="866"/>
                <a:ext cx="12" cy="9"/>
              </a:xfrm>
              <a:custGeom>
                <a:avLst/>
                <a:gdLst>
                  <a:gd name="T0" fmla="*/ 0 w 12"/>
                  <a:gd name="T1" fmla="*/ 9 h 9"/>
                  <a:gd name="T2" fmla="*/ 2 w 12"/>
                  <a:gd name="T3" fmla="*/ 5 h 9"/>
                  <a:gd name="T4" fmla="*/ 4 w 12"/>
                  <a:gd name="T5" fmla="*/ 2 h 9"/>
                  <a:gd name="T6" fmla="*/ 5 w 12"/>
                  <a:gd name="T7" fmla="*/ 0 h 9"/>
                  <a:gd name="T8" fmla="*/ 9 w 12"/>
                  <a:gd name="T9" fmla="*/ 0 h 9"/>
                  <a:gd name="T10" fmla="*/ 12 w 12"/>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9">
                    <a:moveTo>
                      <a:pt x="0" y="9"/>
                    </a:moveTo>
                    <a:lnTo>
                      <a:pt x="2" y="5"/>
                    </a:lnTo>
                    <a:lnTo>
                      <a:pt x="4" y="2"/>
                    </a:lnTo>
                    <a:lnTo>
                      <a:pt x="5" y="0"/>
                    </a:lnTo>
                    <a:lnTo>
                      <a:pt x="9" y="0"/>
                    </a:lnTo>
                    <a:lnTo>
                      <a:pt x="1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29" name="Line 1536"/>
              <p:cNvSpPr>
                <a:spLocks noChangeShapeType="1"/>
              </p:cNvSpPr>
              <p:nvPr userDrawn="1"/>
            </p:nvSpPr>
            <p:spPr bwMode="gray">
              <a:xfrm flipH="1">
                <a:off x="2530" y="836"/>
                <a:ext cx="167" cy="8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30" name="Line 1537"/>
              <p:cNvSpPr>
                <a:spLocks noChangeShapeType="1"/>
              </p:cNvSpPr>
              <p:nvPr userDrawn="1"/>
            </p:nvSpPr>
            <p:spPr bwMode="gray">
              <a:xfrm flipH="1">
                <a:off x="2529" y="847"/>
                <a:ext cx="161" cy="7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31" name="Freeform 1538"/>
              <p:cNvSpPr>
                <a:spLocks/>
              </p:cNvSpPr>
              <p:nvPr userDrawn="1"/>
            </p:nvSpPr>
            <p:spPr bwMode="gray">
              <a:xfrm>
                <a:off x="2529" y="915"/>
                <a:ext cx="10" cy="10"/>
              </a:xfrm>
              <a:custGeom>
                <a:avLst/>
                <a:gdLst>
                  <a:gd name="T0" fmla="*/ 0 w 10"/>
                  <a:gd name="T1" fmla="*/ 10 h 10"/>
                  <a:gd name="T2" fmla="*/ 0 w 10"/>
                  <a:gd name="T3" fmla="*/ 7 h 10"/>
                  <a:gd name="T4" fmla="*/ 1 w 10"/>
                  <a:gd name="T5" fmla="*/ 3 h 10"/>
                  <a:gd name="T6" fmla="*/ 3 w 10"/>
                  <a:gd name="T7" fmla="*/ 2 h 10"/>
                  <a:gd name="T8" fmla="*/ 7 w 10"/>
                  <a:gd name="T9" fmla="*/ 0 h 10"/>
                  <a:gd name="T10" fmla="*/ 10 w 10"/>
                  <a:gd name="T11" fmla="*/ 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10">
                    <a:moveTo>
                      <a:pt x="0" y="10"/>
                    </a:moveTo>
                    <a:lnTo>
                      <a:pt x="0" y="7"/>
                    </a:lnTo>
                    <a:lnTo>
                      <a:pt x="1" y="3"/>
                    </a:lnTo>
                    <a:lnTo>
                      <a:pt x="3" y="2"/>
                    </a:lnTo>
                    <a:lnTo>
                      <a:pt x="7" y="0"/>
                    </a:lnTo>
                    <a:lnTo>
                      <a:pt x="1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32" name="Line 1539"/>
              <p:cNvSpPr>
                <a:spLocks noChangeShapeType="1"/>
              </p:cNvSpPr>
              <p:nvPr userDrawn="1"/>
            </p:nvSpPr>
            <p:spPr bwMode="gray">
              <a:xfrm flipV="1">
                <a:off x="2539" y="833"/>
                <a:ext cx="170" cy="8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33" name="Freeform 1540"/>
              <p:cNvSpPr>
                <a:spLocks/>
              </p:cNvSpPr>
              <p:nvPr userDrawn="1"/>
            </p:nvSpPr>
            <p:spPr bwMode="gray">
              <a:xfrm>
                <a:off x="2690" y="833"/>
                <a:ext cx="19" cy="13"/>
              </a:xfrm>
              <a:custGeom>
                <a:avLst/>
                <a:gdLst>
                  <a:gd name="T0" fmla="*/ 0 w 19"/>
                  <a:gd name="T1" fmla="*/ 14 h 14"/>
                  <a:gd name="T2" fmla="*/ 3 w 19"/>
                  <a:gd name="T3" fmla="*/ 8 h 14"/>
                  <a:gd name="T4" fmla="*/ 5 w 19"/>
                  <a:gd name="T5" fmla="*/ 5 h 14"/>
                  <a:gd name="T6" fmla="*/ 8 w 19"/>
                  <a:gd name="T7" fmla="*/ 1 h 14"/>
                  <a:gd name="T8" fmla="*/ 14 w 19"/>
                  <a:gd name="T9" fmla="*/ 0 h 14"/>
                  <a:gd name="T10" fmla="*/ 19 w 19"/>
                  <a:gd name="T11" fmla="*/ 0 h 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 h="14">
                    <a:moveTo>
                      <a:pt x="0" y="14"/>
                    </a:moveTo>
                    <a:lnTo>
                      <a:pt x="3" y="8"/>
                    </a:lnTo>
                    <a:lnTo>
                      <a:pt x="5" y="5"/>
                    </a:lnTo>
                    <a:lnTo>
                      <a:pt x="8" y="1"/>
                    </a:lnTo>
                    <a:lnTo>
                      <a:pt x="14" y="0"/>
                    </a:lnTo>
                    <a:lnTo>
                      <a:pt x="1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34" name="Freeform 1541"/>
              <p:cNvSpPr>
                <a:spLocks/>
              </p:cNvSpPr>
              <p:nvPr userDrawn="1"/>
            </p:nvSpPr>
            <p:spPr bwMode="gray">
              <a:xfrm>
                <a:off x="2527" y="1043"/>
                <a:ext cx="4" cy="8"/>
              </a:xfrm>
              <a:custGeom>
                <a:avLst/>
                <a:gdLst>
                  <a:gd name="T0" fmla="*/ 2 w 5"/>
                  <a:gd name="T1" fmla="*/ 0 h 8"/>
                  <a:gd name="T2" fmla="*/ 0 w 5"/>
                  <a:gd name="T3" fmla="*/ 3 h 8"/>
                  <a:gd name="T4" fmla="*/ 0 w 5"/>
                  <a:gd name="T5" fmla="*/ 5 h 8"/>
                  <a:gd name="T6" fmla="*/ 2 w 5"/>
                  <a:gd name="T7" fmla="*/ 7 h 8"/>
                  <a:gd name="T8" fmla="*/ 5 w 5"/>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8">
                    <a:moveTo>
                      <a:pt x="2" y="0"/>
                    </a:moveTo>
                    <a:lnTo>
                      <a:pt x="0" y="3"/>
                    </a:lnTo>
                    <a:lnTo>
                      <a:pt x="0" y="5"/>
                    </a:lnTo>
                    <a:lnTo>
                      <a:pt x="2" y="7"/>
                    </a:lnTo>
                    <a:lnTo>
                      <a:pt x="5"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35" name="Line 1542"/>
              <p:cNvSpPr>
                <a:spLocks noChangeShapeType="1"/>
              </p:cNvSpPr>
              <p:nvPr userDrawn="1"/>
            </p:nvSpPr>
            <p:spPr bwMode="gray">
              <a:xfrm>
                <a:off x="2525" y="929"/>
                <a:ext cx="2" cy="23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36" name="Line 1543"/>
              <p:cNvSpPr>
                <a:spLocks noChangeShapeType="1"/>
              </p:cNvSpPr>
              <p:nvPr userDrawn="1"/>
            </p:nvSpPr>
            <p:spPr bwMode="gray">
              <a:xfrm>
                <a:off x="2529" y="925"/>
                <a:ext cx="1" cy="23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37" name="Freeform 1544"/>
              <p:cNvSpPr>
                <a:spLocks/>
              </p:cNvSpPr>
              <p:nvPr userDrawn="1"/>
            </p:nvSpPr>
            <p:spPr bwMode="gray">
              <a:xfrm>
                <a:off x="2529" y="1160"/>
                <a:ext cx="3" cy="8"/>
              </a:xfrm>
              <a:custGeom>
                <a:avLst/>
                <a:gdLst>
                  <a:gd name="T0" fmla="*/ 1 w 3"/>
                  <a:gd name="T1" fmla="*/ 0 h 8"/>
                  <a:gd name="T2" fmla="*/ 0 w 3"/>
                  <a:gd name="T3" fmla="*/ 1 h 8"/>
                  <a:gd name="T4" fmla="*/ 0 w 3"/>
                  <a:gd name="T5" fmla="*/ 5 h 8"/>
                  <a:gd name="T6" fmla="*/ 1 w 3"/>
                  <a:gd name="T7" fmla="*/ 7 h 8"/>
                  <a:gd name="T8" fmla="*/ 3 w 3"/>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8">
                    <a:moveTo>
                      <a:pt x="1" y="0"/>
                    </a:moveTo>
                    <a:lnTo>
                      <a:pt x="0" y="1"/>
                    </a:lnTo>
                    <a:lnTo>
                      <a:pt x="0" y="5"/>
                    </a:lnTo>
                    <a:lnTo>
                      <a:pt x="1" y="7"/>
                    </a:lnTo>
                    <a:lnTo>
                      <a:pt x="3"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38" name="Line 1545"/>
              <p:cNvSpPr>
                <a:spLocks noChangeShapeType="1"/>
              </p:cNvSpPr>
              <p:nvPr userDrawn="1"/>
            </p:nvSpPr>
            <p:spPr bwMode="gray">
              <a:xfrm flipH="1" flipV="1">
                <a:off x="2530" y="934"/>
                <a:ext cx="2" cy="23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39" name="Freeform 1546"/>
              <p:cNvSpPr>
                <a:spLocks/>
              </p:cNvSpPr>
              <p:nvPr userDrawn="1"/>
            </p:nvSpPr>
            <p:spPr bwMode="gray">
              <a:xfrm>
                <a:off x="2525" y="925"/>
                <a:ext cx="4" cy="9"/>
              </a:xfrm>
              <a:custGeom>
                <a:avLst/>
                <a:gdLst>
                  <a:gd name="T0" fmla="*/ 5 w 5"/>
                  <a:gd name="T1" fmla="*/ 9 h 9"/>
                  <a:gd name="T2" fmla="*/ 2 w 5"/>
                  <a:gd name="T3" fmla="*/ 7 h 9"/>
                  <a:gd name="T4" fmla="*/ 0 w 5"/>
                  <a:gd name="T5" fmla="*/ 4 h 9"/>
                  <a:gd name="T6" fmla="*/ 0 w 5"/>
                  <a:gd name="T7" fmla="*/ 2 h 9"/>
                  <a:gd name="T8" fmla="*/ 4 w 5"/>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9">
                    <a:moveTo>
                      <a:pt x="5" y="9"/>
                    </a:moveTo>
                    <a:lnTo>
                      <a:pt x="2" y="7"/>
                    </a:lnTo>
                    <a:lnTo>
                      <a:pt x="0" y="4"/>
                    </a:lnTo>
                    <a:lnTo>
                      <a:pt x="0" y="2"/>
                    </a:lnTo>
                    <a:lnTo>
                      <a:pt x="4"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40" name="Freeform 1547"/>
              <p:cNvSpPr>
                <a:spLocks/>
              </p:cNvSpPr>
              <p:nvPr userDrawn="1"/>
            </p:nvSpPr>
            <p:spPr bwMode="gray">
              <a:xfrm>
                <a:off x="2530" y="1160"/>
                <a:ext cx="13" cy="17"/>
              </a:xfrm>
              <a:custGeom>
                <a:avLst/>
                <a:gdLst>
                  <a:gd name="T0" fmla="*/ 0 w 13"/>
                  <a:gd name="T1" fmla="*/ 0 h 17"/>
                  <a:gd name="T2" fmla="*/ 2 w 13"/>
                  <a:gd name="T3" fmla="*/ 5 h 17"/>
                  <a:gd name="T4" fmla="*/ 4 w 13"/>
                  <a:gd name="T5" fmla="*/ 10 h 17"/>
                  <a:gd name="T6" fmla="*/ 7 w 13"/>
                  <a:gd name="T7" fmla="*/ 14 h 17"/>
                  <a:gd name="T8" fmla="*/ 13 w 1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7">
                    <a:moveTo>
                      <a:pt x="0" y="0"/>
                    </a:moveTo>
                    <a:lnTo>
                      <a:pt x="2" y="5"/>
                    </a:lnTo>
                    <a:lnTo>
                      <a:pt x="4" y="10"/>
                    </a:lnTo>
                    <a:lnTo>
                      <a:pt x="7" y="14"/>
                    </a:lnTo>
                    <a:lnTo>
                      <a:pt x="13" y="1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41" name="Freeform 1548"/>
              <p:cNvSpPr>
                <a:spLocks/>
              </p:cNvSpPr>
              <p:nvPr userDrawn="1"/>
            </p:nvSpPr>
            <p:spPr bwMode="gray">
              <a:xfrm>
                <a:off x="2861" y="754"/>
                <a:ext cx="22" cy="2"/>
              </a:xfrm>
              <a:custGeom>
                <a:avLst/>
                <a:gdLst>
                  <a:gd name="T0" fmla="*/ 19 w 19"/>
                  <a:gd name="T1" fmla="*/ 0 h 2"/>
                  <a:gd name="T2" fmla="*/ 14 w 19"/>
                  <a:gd name="T3" fmla="*/ 2 h 2"/>
                  <a:gd name="T4" fmla="*/ 7 w 19"/>
                  <a:gd name="T5" fmla="*/ 2 h 2"/>
                  <a:gd name="T6" fmla="*/ 0 w 19"/>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
                    <a:moveTo>
                      <a:pt x="19" y="0"/>
                    </a:moveTo>
                    <a:lnTo>
                      <a:pt x="14" y="2"/>
                    </a:lnTo>
                    <a:lnTo>
                      <a:pt x="7"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42" name="Freeform 1549"/>
              <p:cNvSpPr>
                <a:spLocks/>
              </p:cNvSpPr>
              <p:nvPr userDrawn="1"/>
            </p:nvSpPr>
            <p:spPr bwMode="gray">
              <a:xfrm>
                <a:off x="3032" y="679"/>
                <a:ext cx="20" cy="1"/>
              </a:xfrm>
              <a:custGeom>
                <a:avLst/>
                <a:gdLst>
                  <a:gd name="T0" fmla="*/ 0 w 20"/>
                  <a:gd name="T1" fmla="*/ 1 h 1"/>
                  <a:gd name="T2" fmla="*/ 7 w 20"/>
                  <a:gd name="T3" fmla="*/ 0 h 1"/>
                  <a:gd name="T4" fmla="*/ 13 w 20"/>
                  <a:gd name="T5" fmla="*/ 0 h 1"/>
                  <a:gd name="T6" fmla="*/ 20 w 20"/>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
                    <a:moveTo>
                      <a:pt x="0" y="1"/>
                    </a:moveTo>
                    <a:lnTo>
                      <a:pt x="7" y="0"/>
                    </a:lnTo>
                    <a:lnTo>
                      <a:pt x="13" y="0"/>
                    </a:lnTo>
                    <a:lnTo>
                      <a:pt x="2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43" name="Freeform 1550"/>
              <p:cNvSpPr>
                <a:spLocks/>
              </p:cNvSpPr>
              <p:nvPr userDrawn="1"/>
            </p:nvSpPr>
            <p:spPr bwMode="gray">
              <a:xfrm>
                <a:off x="2938" y="715"/>
                <a:ext cx="10" cy="11"/>
              </a:xfrm>
              <a:custGeom>
                <a:avLst/>
                <a:gdLst>
                  <a:gd name="T0" fmla="*/ 0 w 10"/>
                  <a:gd name="T1" fmla="*/ 11 h 11"/>
                  <a:gd name="T2" fmla="*/ 0 w 10"/>
                  <a:gd name="T3" fmla="*/ 7 h 11"/>
                  <a:gd name="T4" fmla="*/ 3 w 10"/>
                  <a:gd name="T5" fmla="*/ 4 h 11"/>
                  <a:gd name="T6" fmla="*/ 5 w 10"/>
                  <a:gd name="T7" fmla="*/ 2 h 11"/>
                  <a:gd name="T8" fmla="*/ 7 w 10"/>
                  <a:gd name="T9" fmla="*/ 0 h 11"/>
                  <a:gd name="T10" fmla="*/ 10 w 10"/>
                  <a:gd name="T11" fmla="*/ 2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11">
                    <a:moveTo>
                      <a:pt x="0" y="11"/>
                    </a:moveTo>
                    <a:lnTo>
                      <a:pt x="0" y="7"/>
                    </a:lnTo>
                    <a:lnTo>
                      <a:pt x="3" y="4"/>
                    </a:lnTo>
                    <a:lnTo>
                      <a:pt x="5" y="2"/>
                    </a:lnTo>
                    <a:lnTo>
                      <a:pt x="7" y="0"/>
                    </a:lnTo>
                    <a:lnTo>
                      <a:pt x="1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44" name="Line 1551"/>
              <p:cNvSpPr>
                <a:spLocks noChangeShapeType="1"/>
              </p:cNvSpPr>
              <p:nvPr userDrawn="1"/>
            </p:nvSpPr>
            <p:spPr bwMode="gray">
              <a:xfrm flipH="1">
                <a:off x="2880" y="672"/>
                <a:ext cx="156"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45" name="Line 1552"/>
              <p:cNvSpPr>
                <a:spLocks noChangeShapeType="1"/>
              </p:cNvSpPr>
              <p:nvPr userDrawn="1"/>
            </p:nvSpPr>
            <p:spPr bwMode="gray">
              <a:xfrm flipH="1">
                <a:off x="2880" y="680"/>
                <a:ext cx="152"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46" name="Freeform 1553"/>
              <p:cNvSpPr>
                <a:spLocks/>
              </p:cNvSpPr>
              <p:nvPr userDrawn="1"/>
            </p:nvSpPr>
            <p:spPr bwMode="gray">
              <a:xfrm>
                <a:off x="2880" y="747"/>
                <a:ext cx="4" cy="7"/>
              </a:xfrm>
              <a:custGeom>
                <a:avLst/>
                <a:gdLst>
                  <a:gd name="T0" fmla="*/ 0 w 4"/>
                  <a:gd name="T1" fmla="*/ 7 h 7"/>
                  <a:gd name="T2" fmla="*/ 0 w 4"/>
                  <a:gd name="T3" fmla="*/ 5 h 7"/>
                  <a:gd name="T4" fmla="*/ 0 w 4"/>
                  <a:gd name="T5" fmla="*/ 2 h 7"/>
                  <a:gd name="T6" fmla="*/ 0 w 4"/>
                  <a:gd name="T7" fmla="*/ 0 h 7"/>
                  <a:gd name="T8" fmla="*/ 2 w 4"/>
                  <a:gd name="T9" fmla="*/ 0 h 7"/>
                  <a:gd name="T10" fmla="*/ 4 w 4"/>
                  <a:gd name="T11" fmla="*/ 2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 h="7">
                    <a:moveTo>
                      <a:pt x="0" y="7"/>
                    </a:moveTo>
                    <a:lnTo>
                      <a:pt x="0" y="5"/>
                    </a:lnTo>
                    <a:lnTo>
                      <a:pt x="0" y="2"/>
                    </a:lnTo>
                    <a:lnTo>
                      <a:pt x="0" y="0"/>
                    </a:lnTo>
                    <a:lnTo>
                      <a:pt x="2" y="0"/>
                    </a:lnTo>
                    <a:lnTo>
                      <a:pt x="4"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47" name="Line 1554"/>
              <p:cNvSpPr>
                <a:spLocks noChangeShapeType="1"/>
              </p:cNvSpPr>
              <p:nvPr userDrawn="1"/>
            </p:nvSpPr>
            <p:spPr bwMode="gray">
              <a:xfrm flipV="1">
                <a:off x="2884" y="670"/>
                <a:ext cx="159" cy="7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48" name="Freeform 1555"/>
              <p:cNvSpPr>
                <a:spLocks/>
              </p:cNvSpPr>
              <p:nvPr userDrawn="1"/>
            </p:nvSpPr>
            <p:spPr bwMode="gray">
              <a:xfrm>
                <a:off x="3032" y="670"/>
                <a:ext cx="11" cy="10"/>
              </a:xfrm>
              <a:custGeom>
                <a:avLst/>
                <a:gdLst>
                  <a:gd name="T0" fmla="*/ 11 w 11"/>
                  <a:gd name="T1" fmla="*/ 0 h 10"/>
                  <a:gd name="T2" fmla="*/ 7 w 11"/>
                  <a:gd name="T3" fmla="*/ 0 h 10"/>
                  <a:gd name="T4" fmla="*/ 4 w 11"/>
                  <a:gd name="T5" fmla="*/ 2 h 10"/>
                  <a:gd name="T6" fmla="*/ 2 w 11"/>
                  <a:gd name="T7" fmla="*/ 3 h 10"/>
                  <a:gd name="T8" fmla="*/ 0 w 11"/>
                  <a:gd name="T9" fmla="*/ 7 h 10"/>
                  <a:gd name="T10" fmla="*/ 0 w 11"/>
                  <a:gd name="T11" fmla="*/ 1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10">
                    <a:moveTo>
                      <a:pt x="11" y="0"/>
                    </a:moveTo>
                    <a:lnTo>
                      <a:pt x="7" y="0"/>
                    </a:lnTo>
                    <a:lnTo>
                      <a:pt x="4" y="2"/>
                    </a:lnTo>
                    <a:lnTo>
                      <a:pt x="2" y="3"/>
                    </a:lnTo>
                    <a:lnTo>
                      <a:pt x="0" y="7"/>
                    </a:lnTo>
                    <a:lnTo>
                      <a:pt x="0" y="1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49" name="Freeform 1556"/>
              <p:cNvSpPr>
                <a:spLocks/>
              </p:cNvSpPr>
              <p:nvPr userDrawn="1"/>
            </p:nvSpPr>
            <p:spPr bwMode="gray">
              <a:xfrm>
                <a:off x="2912" y="1032"/>
                <a:ext cx="19" cy="2"/>
              </a:xfrm>
              <a:custGeom>
                <a:avLst/>
                <a:gdLst>
                  <a:gd name="T0" fmla="*/ 0 w 19"/>
                  <a:gd name="T1" fmla="*/ 2 h 2"/>
                  <a:gd name="T2" fmla="*/ 5 w 19"/>
                  <a:gd name="T3" fmla="*/ 0 h 2"/>
                  <a:gd name="T4" fmla="*/ 8 w 19"/>
                  <a:gd name="T5" fmla="*/ 0 h 2"/>
                  <a:gd name="T6" fmla="*/ 14 w 19"/>
                  <a:gd name="T7" fmla="*/ 0 h 2"/>
                  <a:gd name="T8" fmla="*/ 19 w 19"/>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
                    <a:moveTo>
                      <a:pt x="0" y="2"/>
                    </a:moveTo>
                    <a:lnTo>
                      <a:pt x="5" y="0"/>
                    </a:lnTo>
                    <a:lnTo>
                      <a:pt x="8" y="0"/>
                    </a:lnTo>
                    <a:lnTo>
                      <a:pt x="14" y="0"/>
                    </a:lnTo>
                    <a:lnTo>
                      <a:pt x="1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50" name="Line 1557"/>
              <p:cNvSpPr>
                <a:spLocks noChangeShapeType="1"/>
              </p:cNvSpPr>
              <p:nvPr userDrawn="1"/>
            </p:nvSpPr>
            <p:spPr bwMode="gray">
              <a:xfrm flipV="1">
                <a:off x="2920" y="913"/>
                <a:ext cx="2" cy="23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51" name="Line 1558"/>
              <p:cNvSpPr>
                <a:spLocks noChangeShapeType="1"/>
              </p:cNvSpPr>
              <p:nvPr userDrawn="1"/>
            </p:nvSpPr>
            <p:spPr bwMode="gray">
              <a:xfrm flipV="1">
                <a:off x="2912" y="917"/>
                <a:ext cx="1" cy="23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52" name="Freeform 1559"/>
              <p:cNvSpPr>
                <a:spLocks/>
              </p:cNvSpPr>
              <p:nvPr userDrawn="1"/>
            </p:nvSpPr>
            <p:spPr bwMode="gray">
              <a:xfrm>
                <a:off x="2912" y="913"/>
                <a:ext cx="22" cy="4"/>
              </a:xfrm>
              <a:custGeom>
                <a:avLst/>
                <a:gdLst>
                  <a:gd name="T0" fmla="*/ 0 w 21"/>
                  <a:gd name="T1" fmla="*/ 4 h 4"/>
                  <a:gd name="T2" fmla="*/ 7 w 21"/>
                  <a:gd name="T3" fmla="*/ 0 h 4"/>
                  <a:gd name="T4" fmla="*/ 14 w 21"/>
                  <a:gd name="T5" fmla="*/ 0 h 4"/>
                  <a:gd name="T6" fmla="*/ 21 w 21"/>
                  <a:gd name="T7" fmla="*/ 2 h 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 h="4">
                    <a:moveTo>
                      <a:pt x="0" y="4"/>
                    </a:moveTo>
                    <a:lnTo>
                      <a:pt x="7" y="0"/>
                    </a:lnTo>
                    <a:lnTo>
                      <a:pt x="14" y="0"/>
                    </a:lnTo>
                    <a:lnTo>
                      <a:pt x="21"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53" name="Line 1560"/>
              <p:cNvSpPr>
                <a:spLocks noChangeShapeType="1"/>
              </p:cNvSpPr>
              <p:nvPr userDrawn="1"/>
            </p:nvSpPr>
            <p:spPr bwMode="gray">
              <a:xfrm flipH="1">
                <a:off x="2931" y="915"/>
                <a:ext cx="4" cy="23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54" name="Freeform 1561"/>
              <p:cNvSpPr>
                <a:spLocks/>
              </p:cNvSpPr>
              <p:nvPr userDrawn="1"/>
            </p:nvSpPr>
            <p:spPr bwMode="gray">
              <a:xfrm>
                <a:off x="2912" y="1147"/>
                <a:ext cx="19" cy="2"/>
              </a:xfrm>
              <a:custGeom>
                <a:avLst/>
                <a:gdLst>
                  <a:gd name="T0" fmla="*/ 0 w 19"/>
                  <a:gd name="T1" fmla="*/ 2 h 2"/>
                  <a:gd name="T2" fmla="*/ 5 w 19"/>
                  <a:gd name="T3" fmla="*/ 0 h 2"/>
                  <a:gd name="T4" fmla="*/ 12 w 19"/>
                  <a:gd name="T5" fmla="*/ 0 h 2"/>
                  <a:gd name="T6" fmla="*/ 19 w 19"/>
                  <a:gd name="T7" fmla="*/ 2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
                    <a:moveTo>
                      <a:pt x="0" y="2"/>
                    </a:moveTo>
                    <a:lnTo>
                      <a:pt x="5" y="0"/>
                    </a:lnTo>
                    <a:lnTo>
                      <a:pt x="12" y="0"/>
                    </a:lnTo>
                    <a:lnTo>
                      <a:pt x="19"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55" name="Freeform 1562"/>
              <p:cNvSpPr>
                <a:spLocks/>
              </p:cNvSpPr>
              <p:nvPr userDrawn="1"/>
            </p:nvSpPr>
            <p:spPr bwMode="gray">
              <a:xfrm>
                <a:off x="2842" y="929"/>
                <a:ext cx="13" cy="16"/>
              </a:xfrm>
              <a:custGeom>
                <a:avLst/>
                <a:gdLst>
                  <a:gd name="T0" fmla="*/ 12 w 12"/>
                  <a:gd name="T1" fmla="*/ 16 h 16"/>
                  <a:gd name="T2" fmla="*/ 10 w 12"/>
                  <a:gd name="T3" fmla="*/ 10 h 16"/>
                  <a:gd name="T4" fmla="*/ 9 w 12"/>
                  <a:gd name="T5" fmla="*/ 7 h 16"/>
                  <a:gd name="T6" fmla="*/ 5 w 12"/>
                  <a:gd name="T7" fmla="*/ 2 h 16"/>
                  <a:gd name="T8" fmla="*/ 0 w 12"/>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6">
                    <a:moveTo>
                      <a:pt x="12" y="16"/>
                    </a:moveTo>
                    <a:lnTo>
                      <a:pt x="10" y="10"/>
                    </a:lnTo>
                    <a:lnTo>
                      <a:pt x="9" y="7"/>
                    </a:lnTo>
                    <a:lnTo>
                      <a:pt x="5"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56" name="Line 1563"/>
              <p:cNvSpPr>
                <a:spLocks noChangeShapeType="1"/>
              </p:cNvSpPr>
              <p:nvPr userDrawn="1"/>
            </p:nvSpPr>
            <p:spPr bwMode="gray">
              <a:xfrm flipH="1">
                <a:off x="2749" y="903"/>
                <a:ext cx="164" cy="8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57" name="Line 1564"/>
              <p:cNvSpPr>
                <a:spLocks noChangeShapeType="1"/>
              </p:cNvSpPr>
              <p:nvPr userDrawn="1"/>
            </p:nvSpPr>
            <p:spPr bwMode="gray">
              <a:xfrm flipH="1">
                <a:off x="2753" y="917"/>
                <a:ext cx="159" cy="8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58" name="Freeform 1565"/>
              <p:cNvSpPr>
                <a:spLocks/>
              </p:cNvSpPr>
              <p:nvPr userDrawn="1"/>
            </p:nvSpPr>
            <p:spPr bwMode="gray">
              <a:xfrm>
                <a:off x="2740" y="980"/>
                <a:ext cx="13" cy="17"/>
              </a:xfrm>
              <a:custGeom>
                <a:avLst/>
                <a:gdLst>
                  <a:gd name="T0" fmla="*/ 13 w 13"/>
                  <a:gd name="T1" fmla="*/ 17 h 17"/>
                  <a:gd name="T2" fmla="*/ 11 w 13"/>
                  <a:gd name="T3" fmla="*/ 12 h 17"/>
                  <a:gd name="T4" fmla="*/ 9 w 13"/>
                  <a:gd name="T5" fmla="*/ 7 h 17"/>
                  <a:gd name="T6" fmla="*/ 6 w 13"/>
                  <a:gd name="T7" fmla="*/ 3 h 17"/>
                  <a:gd name="T8" fmla="*/ 0 w 1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7">
                    <a:moveTo>
                      <a:pt x="13" y="17"/>
                    </a:moveTo>
                    <a:lnTo>
                      <a:pt x="11" y="12"/>
                    </a:lnTo>
                    <a:lnTo>
                      <a:pt x="9" y="7"/>
                    </a:lnTo>
                    <a:lnTo>
                      <a:pt x="6" y="3"/>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59" name="Line 1566"/>
              <p:cNvSpPr>
                <a:spLocks noChangeShapeType="1"/>
              </p:cNvSpPr>
              <p:nvPr userDrawn="1"/>
            </p:nvSpPr>
            <p:spPr bwMode="gray">
              <a:xfrm flipV="1">
                <a:off x="2740" y="896"/>
                <a:ext cx="170" cy="8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60" name="Freeform 1567"/>
              <p:cNvSpPr>
                <a:spLocks/>
              </p:cNvSpPr>
              <p:nvPr userDrawn="1"/>
            </p:nvSpPr>
            <p:spPr bwMode="gray">
              <a:xfrm>
                <a:off x="2910" y="896"/>
                <a:ext cx="3" cy="21"/>
              </a:xfrm>
              <a:custGeom>
                <a:avLst/>
                <a:gdLst>
                  <a:gd name="T0" fmla="*/ 2 w 3"/>
                  <a:gd name="T1" fmla="*/ 21 h 21"/>
                  <a:gd name="T2" fmla="*/ 3 w 3"/>
                  <a:gd name="T3" fmla="*/ 15 h 21"/>
                  <a:gd name="T4" fmla="*/ 3 w 3"/>
                  <a:gd name="T5" fmla="*/ 8 h 21"/>
                  <a:gd name="T6" fmla="*/ 2 w 3"/>
                  <a:gd name="T7" fmla="*/ 3 h 21"/>
                  <a:gd name="T8" fmla="*/ 0 w 3"/>
                  <a:gd name="T9" fmla="*/ 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21">
                    <a:moveTo>
                      <a:pt x="2" y="21"/>
                    </a:moveTo>
                    <a:lnTo>
                      <a:pt x="3" y="15"/>
                    </a:lnTo>
                    <a:lnTo>
                      <a:pt x="3" y="8"/>
                    </a:lnTo>
                    <a:lnTo>
                      <a:pt x="2" y="3"/>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61" name="Freeform 1568"/>
              <p:cNvSpPr>
                <a:spLocks/>
              </p:cNvSpPr>
              <p:nvPr userDrawn="1"/>
            </p:nvSpPr>
            <p:spPr bwMode="gray">
              <a:xfrm>
                <a:off x="2732" y="1116"/>
                <a:ext cx="21" cy="4"/>
              </a:xfrm>
              <a:custGeom>
                <a:avLst/>
                <a:gdLst>
                  <a:gd name="T0" fmla="*/ 21 w 21"/>
                  <a:gd name="T1" fmla="*/ 0 h 2"/>
                  <a:gd name="T2" fmla="*/ 15 w 21"/>
                  <a:gd name="T3" fmla="*/ 2 h 2"/>
                  <a:gd name="T4" fmla="*/ 10 w 21"/>
                  <a:gd name="T5" fmla="*/ 2 h 2"/>
                  <a:gd name="T6" fmla="*/ 5 w 21"/>
                  <a:gd name="T7" fmla="*/ 2 h 2"/>
                  <a:gd name="T8" fmla="*/ 0 w 21"/>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2">
                    <a:moveTo>
                      <a:pt x="21" y="0"/>
                    </a:moveTo>
                    <a:lnTo>
                      <a:pt x="15" y="2"/>
                    </a:lnTo>
                    <a:lnTo>
                      <a:pt x="10" y="2"/>
                    </a:lnTo>
                    <a:lnTo>
                      <a:pt x="5"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62" name="Line 1569"/>
              <p:cNvSpPr>
                <a:spLocks noChangeShapeType="1"/>
              </p:cNvSpPr>
              <p:nvPr userDrawn="1"/>
            </p:nvSpPr>
            <p:spPr bwMode="gray">
              <a:xfrm>
                <a:off x="2742" y="999"/>
                <a:ext cx="1" cy="23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63" name="Line 1570"/>
              <p:cNvSpPr>
                <a:spLocks noChangeShapeType="1"/>
              </p:cNvSpPr>
              <p:nvPr userDrawn="1"/>
            </p:nvSpPr>
            <p:spPr bwMode="gray">
              <a:xfrm>
                <a:off x="2753" y="997"/>
                <a:ext cx="1" cy="23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64" name="Freeform 1571"/>
              <p:cNvSpPr>
                <a:spLocks/>
              </p:cNvSpPr>
              <p:nvPr userDrawn="1"/>
            </p:nvSpPr>
            <p:spPr bwMode="gray">
              <a:xfrm>
                <a:off x="2732" y="1233"/>
                <a:ext cx="21" cy="4"/>
              </a:xfrm>
              <a:custGeom>
                <a:avLst/>
                <a:gdLst>
                  <a:gd name="T0" fmla="*/ 21 w 21"/>
                  <a:gd name="T1" fmla="*/ 0 h 4"/>
                  <a:gd name="T2" fmla="*/ 14 w 21"/>
                  <a:gd name="T3" fmla="*/ 4 h 4"/>
                  <a:gd name="T4" fmla="*/ 7 w 21"/>
                  <a:gd name="T5" fmla="*/ 4 h 4"/>
                  <a:gd name="T6" fmla="*/ 0 w 21"/>
                  <a:gd name="T7" fmla="*/ 2 h 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 h="4">
                    <a:moveTo>
                      <a:pt x="21" y="0"/>
                    </a:moveTo>
                    <a:lnTo>
                      <a:pt x="14" y="4"/>
                    </a:lnTo>
                    <a:lnTo>
                      <a:pt x="7" y="4"/>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65" name="Line 1572"/>
              <p:cNvSpPr>
                <a:spLocks noChangeShapeType="1"/>
              </p:cNvSpPr>
              <p:nvPr userDrawn="1"/>
            </p:nvSpPr>
            <p:spPr bwMode="gray">
              <a:xfrm flipV="1">
                <a:off x="2732" y="997"/>
                <a:ext cx="1" cy="23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66" name="Freeform 1573"/>
              <p:cNvSpPr>
                <a:spLocks/>
              </p:cNvSpPr>
              <p:nvPr userDrawn="1"/>
            </p:nvSpPr>
            <p:spPr bwMode="gray">
              <a:xfrm>
                <a:off x="2732" y="997"/>
                <a:ext cx="21" cy="2"/>
              </a:xfrm>
              <a:custGeom>
                <a:avLst/>
                <a:gdLst>
                  <a:gd name="T0" fmla="*/ 0 w 21"/>
                  <a:gd name="T1" fmla="*/ 0 h 2"/>
                  <a:gd name="T2" fmla="*/ 7 w 21"/>
                  <a:gd name="T3" fmla="*/ 2 h 2"/>
                  <a:gd name="T4" fmla="*/ 14 w 21"/>
                  <a:gd name="T5" fmla="*/ 2 h 2"/>
                  <a:gd name="T6" fmla="*/ 21 w 21"/>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 h="2">
                    <a:moveTo>
                      <a:pt x="0" y="0"/>
                    </a:moveTo>
                    <a:lnTo>
                      <a:pt x="7" y="2"/>
                    </a:lnTo>
                    <a:lnTo>
                      <a:pt x="14" y="2"/>
                    </a:lnTo>
                    <a:lnTo>
                      <a:pt x="2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67" name="Freeform 1574"/>
              <p:cNvSpPr>
                <a:spLocks/>
              </p:cNvSpPr>
              <p:nvPr userDrawn="1"/>
            </p:nvSpPr>
            <p:spPr bwMode="gray">
              <a:xfrm>
                <a:off x="2842" y="1181"/>
                <a:ext cx="10" cy="10"/>
              </a:xfrm>
              <a:custGeom>
                <a:avLst/>
                <a:gdLst>
                  <a:gd name="T0" fmla="*/ 10 w 10"/>
                  <a:gd name="T1" fmla="*/ 0 h 10"/>
                  <a:gd name="T2" fmla="*/ 10 w 10"/>
                  <a:gd name="T3" fmla="*/ 5 h 10"/>
                  <a:gd name="T4" fmla="*/ 9 w 10"/>
                  <a:gd name="T5" fmla="*/ 8 h 10"/>
                  <a:gd name="T6" fmla="*/ 5 w 10"/>
                  <a:gd name="T7" fmla="*/ 8 h 10"/>
                  <a:gd name="T8" fmla="*/ 3 w 10"/>
                  <a:gd name="T9" fmla="*/ 10 h 10"/>
                  <a:gd name="T10" fmla="*/ 0 w 10"/>
                  <a:gd name="T11" fmla="*/ 8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10">
                    <a:moveTo>
                      <a:pt x="10" y="0"/>
                    </a:moveTo>
                    <a:lnTo>
                      <a:pt x="10" y="5"/>
                    </a:lnTo>
                    <a:lnTo>
                      <a:pt x="9" y="8"/>
                    </a:lnTo>
                    <a:lnTo>
                      <a:pt x="5" y="8"/>
                    </a:lnTo>
                    <a:lnTo>
                      <a:pt x="3" y="10"/>
                    </a:lnTo>
                    <a:lnTo>
                      <a:pt x="0"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68" name="Line 1575"/>
              <p:cNvSpPr>
                <a:spLocks noChangeShapeType="1"/>
              </p:cNvSpPr>
              <p:nvPr userDrawn="1"/>
            </p:nvSpPr>
            <p:spPr bwMode="gray">
              <a:xfrm flipV="1">
                <a:off x="2749" y="1156"/>
                <a:ext cx="163" cy="8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69" name="Line 1576"/>
              <p:cNvSpPr>
                <a:spLocks noChangeShapeType="1"/>
              </p:cNvSpPr>
              <p:nvPr userDrawn="1"/>
            </p:nvSpPr>
            <p:spPr bwMode="gray">
              <a:xfrm flipV="1">
                <a:off x="2753" y="1149"/>
                <a:ext cx="159" cy="8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70" name="Freeform 1577"/>
              <p:cNvSpPr>
                <a:spLocks/>
              </p:cNvSpPr>
              <p:nvPr userDrawn="1"/>
            </p:nvSpPr>
            <p:spPr bwMode="gray">
              <a:xfrm>
                <a:off x="2908" y="1149"/>
                <a:ext cx="4" cy="7"/>
              </a:xfrm>
              <a:custGeom>
                <a:avLst/>
                <a:gdLst>
                  <a:gd name="T0" fmla="*/ 4 w 4"/>
                  <a:gd name="T1" fmla="*/ 0 h 7"/>
                  <a:gd name="T2" fmla="*/ 4 w 4"/>
                  <a:gd name="T3" fmla="*/ 4 h 7"/>
                  <a:gd name="T4" fmla="*/ 4 w 4"/>
                  <a:gd name="T5" fmla="*/ 5 h 7"/>
                  <a:gd name="T6" fmla="*/ 4 w 4"/>
                  <a:gd name="T7" fmla="*/ 7 h 7"/>
                  <a:gd name="T8" fmla="*/ 2 w 4"/>
                  <a:gd name="T9" fmla="*/ 7 h 7"/>
                  <a:gd name="T10" fmla="*/ 0 w 4"/>
                  <a:gd name="T11" fmla="*/ 5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 h="7">
                    <a:moveTo>
                      <a:pt x="4" y="0"/>
                    </a:moveTo>
                    <a:lnTo>
                      <a:pt x="4" y="4"/>
                    </a:lnTo>
                    <a:lnTo>
                      <a:pt x="4" y="5"/>
                    </a:lnTo>
                    <a:lnTo>
                      <a:pt x="4" y="7"/>
                    </a:lnTo>
                    <a:lnTo>
                      <a:pt x="2" y="7"/>
                    </a:lnTo>
                    <a:lnTo>
                      <a:pt x="0" y="5"/>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71" name="Line 1578"/>
              <p:cNvSpPr>
                <a:spLocks noChangeShapeType="1"/>
              </p:cNvSpPr>
              <p:nvPr userDrawn="1"/>
            </p:nvSpPr>
            <p:spPr bwMode="gray">
              <a:xfrm flipH="1">
                <a:off x="2740" y="1154"/>
                <a:ext cx="169" cy="9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72" name="Freeform 1579"/>
              <p:cNvSpPr>
                <a:spLocks/>
              </p:cNvSpPr>
              <p:nvPr userDrawn="1"/>
            </p:nvSpPr>
            <p:spPr bwMode="gray">
              <a:xfrm>
                <a:off x="2740" y="1233"/>
                <a:ext cx="13" cy="11"/>
              </a:xfrm>
              <a:custGeom>
                <a:avLst/>
                <a:gdLst>
                  <a:gd name="T0" fmla="*/ 13 w 13"/>
                  <a:gd name="T1" fmla="*/ 0 h 11"/>
                  <a:gd name="T2" fmla="*/ 13 w 13"/>
                  <a:gd name="T3" fmla="*/ 4 h 11"/>
                  <a:gd name="T4" fmla="*/ 11 w 13"/>
                  <a:gd name="T5" fmla="*/ 7 h 11"/>
                  <a:gd name="T6" fmla="*/ 7 w 13"/>
                  <a:gd name="T7" fmla="*/ 9 h 11"/>
                  <a:gd name="T8" fmla="*/ 6 w 13"/>
                  <a:gd name="T9" fmla="*/ 11 h 11"/>
                  <a:gd name="T10" fmla="*/ 0 w 13"/>
                  <a:gd name="T11" fmla="*/ 1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 h="11">
                    <a:moveTo>
                      <a:pt x="13" y="0"/>
                    </a:moveTo>
                    <a:lnTo>
                      <a:pt x="13" y="4"/>
                    </a:lnTo>
                    <a:lnTo>
                      <a:pt x="11" y="7"/>
                    </a:lnTo>
                    <a:lnTo>
                      <a:pt x="7" y="9"/>
                    </a:lnTo>
                    <a:lnTo>
                      <a:pt x="6" y="11"/>
                    </a:lnTo>
                    <a:lnTo>
                      <a:pt x="0" y="1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73" name="Freeform 1580"/>
              <p:cNvSpPr>
                <a:spLocks/>
              </p:cNvSpPr>
              <p:nvPr userDrawn="1"/>
            </p:nvSpPr>
            <p:spPr bwMode="gray">
              <a:xfrm>
                <a:off x="3099" y="820"/>
                <a:ext cx="4" cy="7"/>
              </a:xfrm>
              <a:custGeom>
                <a:avLst/>
                <a:gdLst>
                  <a:gd name="T0" fmla="*/ 3 w 5"/>
                  <a:gd name="T1" fmla="*/ 0 h 7"/>
                  <a:gd name="T2" fmla="*/ 0 w 5"/>
                  <a:gd name="T3" fmla="*/ 2 h 7"/>
                  <a:gd name="T4" fmla="*/ 0 w 5"/>
                  <a:gd name="T5" fmla="*/ 4 h 7"/>
                  <a:gd name="T6" fmla="*/ 2 w 5"/>
                  <a:gd name="T7" fmla="*/ 6 h 7"/>
                  <a:gd name="T8" fmla="*/ 3 w 5"/>
                  <a:gd name="T9" fmla="*/ 7 h 7"/>
                  <a:gd name="T10" fmla="*/ 5 w 5"/>
                  <a:gd name="T11" fmla="*/ 7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7">
                    <a:moveTo>
                      <a:pt x="3" y="0"/>
                    </a:moveTo>
                    <a:lnTo>
                      <a:pt x="0" y="2"/>
                    </a:lnTo>
                    <a:lnTo>
                      <a:pt x="0" y="4"/>
                    </a:lnTo>
                    <a:lnTo>
                      <a:pt x="2" y="6"/>
                    </a:lnTo>
                    <a:lnTo>
                      <a:pt x="3" y="7"/>
                    </a:lnTo>
                    <a:lnTo>
                      <a:pt x="5"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74" name="Line 1581"/>
              <p:cNvSpPr>
                <a:spLocks noChangeShapeType="1"/>
              </p:cNvSpPr>
              <p:nvPr userDrawn="1"/>
            </p:nvSpPr>
            <p:spPr bwMode="gray">
              <a:xfrm flipV="1">
                <a:off x="3253" y="742"/>
                <a:ext cx="4" cy="11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75" name="Line 1582"/>
              <p:cNvSpPr>
                <a:spLocks noChangeShapeType="1"/>
              </p:cNvSpPr>
              <p:nvPr userDrawn="1"/>
            </p:nvSpPr>
            <p:spPr bwMode="gray">
              <a:xfrm flipV="1">
                <a:off x="3249" y="745"/>
                <a:ext cx="2" cy="10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76" name="Freeform 1583"/>
              <p:cNvSpPr>
                <a:spLocks/>
              </p:cNvSpPr>
              <p:nvPr userDrawn="1"/>
            </p:nvSpPr>
            <p:spPr bwMode="gray">
              <a:xfrm>
                <a:off x="3249" y="738"/>
                <a:ext cx="6" cy="7"/>
              </a:xfrm>
              <a:custGeom>
                <a:avLst/>
                <a:gdLst>
                  <a:gd name="T0" fmla="*/ 2 w 6"/>
                  <a:gd name="T1" fmla="*/ 7 h 7"/>
                  <a:gd name="T2" fmla="*/ 4 w 6"/>
                  <a:gd name="T3" fmla="*/ 5 h 7"/>
                  <a:gd name="T4" fmla="*/ 6 w 6"/>
                  <a:gd name="T5" fmla="*/ 4 h 7"/>
                  <a:gd name="T6" fmla="*/ 4 w 6"/>
                  <a:gd name="T7" fmla="*/ 2 h 7"/>
                  <a:gd name="T8" fmla="*/ 2 w 6"/>
                  <a:gd name="T9" fmla="*/ 0 h 7"/>
                  <a:gd name="T10" fmla="*/ 0 w 6"/>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7">
                    <a:moveTo>
                      <a:pt x="2" y="7"/>
                    </a:moveTo>
                    <a:lnTo>
                      <a:pt x="4" y="5"/>
                    </a:lnTo>
                    <a:lnTo>
                      <a:pt x="6" y="4"/>
                    </a:lnTo>
                    <a:lnTo>
                      <a:pt x="4" y="2"/>
                    </a:lnTo>
                    <a:lnTo>
                      <a:pt x="2" y="0"/>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77" name="Line 1584"/>
              <p:cNvSpPr>
                <a:spLocks noChangeShapeType="1"/>
              </p:cNvSpPr>
              <p:nvPr userDrawn="1"/>
            </p:nvSpPr>
            <p:spPr bwMode="gray">
              <a:xfrm flipH="1">
                <a:off x="3246" y="738"/>
                <a:ext cx="3" cy="11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78" name="Freeform 1585"/>
              <p:cNvSpPr>
                <a:spLocks/>
              </p:cNvSpPr>
              <p:nvPr userDrawn="1"/>
            </p:nvSpPr>
            <p:spPr bwMode="gray">
              <a:xfrm>
                <a:off x="3146" y="777"/>
                <a:ext cx="13" cy="15"/>
              </a:xfrm>
              <a:custGeom>
                <a:avLst/>
                <a:gdLst>
                  <a:gd name="T0" fmla="*/ 12 w 12"/>
                  <a:gd name="T1" fmla="*/ 15 h 15"/>
                  <a:gd name="T2" fmla="*/ 11 w 12"/>
                  <a:gd name="T3" fmla="*/ 10 h 15"/>
                  <a:gd name="T4" fmla="*/ 9 w 12"/>
                  <a:gd name="T5" fmla="*/ 5 h 15"/>
                  <a:gd name="T6" fmla="*/ 5 w 12"/>
                  <a:gd name="T7" fmla="*/ 1 h 15"/>
                  <a:gd name="T8" fmla="*/ 0 w 12"/>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5">
                    <a:moveTo>
                      <a:pt x="12" y="15"/>
                    </a:moveTo>
                    <a:lnTo>
                      <a:pt x="11" y="10"/>
                    </a:lnTo>
                    <a:lnTo>
                      <a:pt x="9" y="5"/>
                    </a:lnTo>
                    <a:lnTo>
                      <a:pt x="5" y="1"/>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79" name="Line 1586"/>
              <p:cNvSpPr>
                <a:spLocks noChangeShapeType="1"/>
              </p:cNvSpPr>
              <p:nvPr userDrawn="1"/>
            </p:nvSpPr>
            <p:spPr bwMode="gray">
              <a:xfrm flipH="1">
                <a:off x="3094" y="735"/>
                <a:ext cx="155" cy="7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80" name="Line 1587"/>
              <p:cNvSpPr>
                <a:spLocks noChangeShapeType="1"/>
              </p:cNvSpPr>
              <p:nvPr userDrawn="1"/>
            </p:nvSpPr>
            <p:spPr bwMode="gray">
              <a:xfrm flipH="1">
                <a:off x="3102" y="745"/>
                <a:ext cx="149"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81" name="Freeform 1588"/>
              <p:cNvSpPr>
                <a:spLocks/>
              </p:cNvSpPr>
              <p:nvPr userDrawn="1"/>
            </p:nvSpPr>
            <p:spPr bwMode="gray">
              <a:xfrm>
                <a:off x="3081" y="808"/>
                <a:ext cx="21" cy="12"/>
              </a:xfrm>
              <a:custGeom>
                <a:avLst/>
                <a:gdLst>
                  <a:gd name="T0" fmla="*/ 21 w 21"/>
                  <a:gd name="T1" fmla="*/ 12 h 12"/>
                  <a:gd name="T2" fmla="*/ 18 w 21"/>
                  <a:gd name="T3" fmla="*/ 7 h 12"/>
                  <a:gd name="T4" fmla="*/ 13 w 21"/>
                  <a:gd name="T5" fmla="*/ 4 h 12"/>
                  <a:gd name="T6" fmla="*/ 7 w 21"/>
                  <a:gd name="T7" fmla="*/ 2 h 12"/>
                  <a:gd name="T8" fmla="*/ 0 w 21"/>
                  <a:gd name="T9" fmla="*/ 0 h 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2">
                    <a:moveTo>
                      <a:pt x="21" y="12"/>
                    </a:moveTo>
                    <a:lnTo>
                      <a:pt x="18" y="7"/>
                    </a:lnTo>
                    <a:lnTo>
                      <a:pt x="13" y="4"/>
                    </a:lnTo>
                    <a:lnTo>
                      <a:pt x="7"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82" name="Line 1589"/>
              <p:cNvSpPr>
                <a:spLocks noChangeShapeType="1"/>
              </p:cNvSpPr>
              <p:nvPr userDrawn="1"/>
            </p:nvSpPr>
            <p:spPr bwMode="gray">
              <a:xfrm flipV="1">
                <a:off x="3081" y="729"/>
                <a:ext cx="160" cy="7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83" name="Freeform 1590"/>
              <p:cNvSpPr>
                <a:spLocks/>
              </p:cNvSpPr>
              <p:nvPr userDrawn="1"/>
            </p:nvSpPr>
            <p:spPr bwMode="gray">
              <a:xfrm>
                <a:off x="3241" y="729"/>
                <a:ext cx="10" cy="16"/>
              </a:xfrm>
              <a:custGeom>
                <a:avLst/>
                <a:gdLst>
                  <a:gd name="T0" fmla="*/ 0 w 10"/>
                  <a:gd name="T1" fmla="*/ 0 h 16"/>
                  <a:gd name="T2" fmla="*/ 5 w 10"/>
                  <a:gd name="T3" fmla="*/ 2 h 16"/>
                  <a:gd name="T4" fmla="*/ 8 w 10"/>
                  <a:gd name="T5" fmla="*/ 6 h 16"/>
                  <a:gd name="T6" fmla="*/ 10 w 10"/>
                  <a:gd name="T7" fmla="*/ 11 h 16"/>
                  <a:gd name="T8" fmla="*/ 10 w 10"/>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6">
                    <a:moveTo>
                      <a:pt x="0" y="0"/>
                    </a:moveTo>
                    <a:lnTo>
                      <a:pt x="5" y="2"/>
                    </a:lnTo>
                    <a:lnTo>
                      <a:pt x="8" y="6"/>
                    </a:lnTo>
                    <a:lnTo>
                      <a:pt x="10" y="11"/>
                    </a:lnTo>
                    <a:lnTo>
                      <a:pt x="10"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84" name="Freeform 1591"/>
              <p:cNvSpPr>
                <a:spLocks/>
              </p:cNvSpPr>
              <p:nvPr userDrawn="1"/>
            </p:nvSpPr>
            <p:spPr bwMode="gray">
              <a:xfrm>
                <a:off x="3141" y="698"/>
                <a:ext cx="9" cy="10"/>
              </a:xfrm>
              <a:custGeom>
                <a:avLst/>
                <a:gdLst>
                  <a:gd name="T0" fmla="*/ 9 w 9"/>
                  <a:gd name="T1" fmla="*/ 10 h 10"/>
                  <a:gd name="T2" fmla="*/ 9 w 9"/>
                  <a:gd name="T3" fmla="*/ 5 h 10"/>
                  <a:gd name="T4" fmla="*/ 7 w 9"/>
                  <a:gd name="T5" fmla="*/ 2 h 10"/>
                  <a:gd name="T6" fmla="*/ 5 w 9"/>
                  <a:gd name="T7" fmla="*/ 2 h 10"/>
                  <a:gd name="T8" fmla="*/ 2 w 9"/>
                  <a:gd name="T9" fmla="*/ 0 h 10"/>
                  <a:gd name="T10" fmla="*/ 0 w 9"/>
                  <a:gd name="T11" fmla="*/ 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10">
                    <a:moveTo>
                      <a:pt x="9" y="10"/>
                    </a:moveTo>
                    <a:lnTo>
                      <a:pt x="9" y="5"/>
                    </a:lnTo>
                    <a:lnTo>
                      <a:pt x="7" y="2"/>
                    </a:lnTo>
                    <a:lnTo>
                      <a:pt x="5" y="2"/>
                    </a:lnTo>
                    <a:lnTo>
                      <a:pt x="2"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85" name="Line 1592"/>
              <p:cNvSpPr>
                <a:spLocks noChangeShapeType="1"/>
              </p:cNvSpPr>
              <p:nvPr userDrawn="1"/>
            </p:nvSpPr>
            <p:spPr bwMode="gray">
              <a:xfrm>
                <a:off x="3048" y="672"/>
                <a:ext cx="198" cy="5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86" name="Line 1593"/>
              <p:cNvSpPr>
                <a:spLocks noChangeShapeType="1"/>
              </p:cNvSpPr>
              <p:nvPr userDrawn="1"/>
            </p:nvSpPr>
            <p:spPr bwMode="gray">
              <a:xfrm>
                <a:off x="3052" y="679"/>
                <a:ext cx="197" cy="5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87" name="Freeform 1594"/>
              <p:cNvSpPr>
                <a:spLocks/>
              </p:cNvSpPr>
              <p:nvPr userDrawn="1"/>
            </p:nvSpPr>
            <p:spPr bwMode="gray">
              <a:xfrm>
                <a:off x="3241" y="728"/>
                <a:ext cx="8" cy="10"/>
              </a:xfrm>
              <a:custGeom>
                <a:avLst/>
                <a:gdLst>
                  <a:gd name="T0" fmla="*/ 8 w 8"/>
                  <a:gd name="T1" fmla="*/ 10 h 10"/>
                  <a:gd name="T2" fmla="*/ 8 w 8"/>
                  <a:gd name="T3" fmla="*/ 7 h 10"/>
                  <a:gd name="T4" fmla="*/ 7 w 8"/>
                  <a:gd name="T5" fmla="*/ 3 h 10"/>
                  <a:gd name="T6" fmla="*/ 7 w 8"/>
                  <a:gd name="T7" fmla="*/ 1 h 10"/>
                  <a:gd name="T8" fmla="*/ 5 w 8"/>
                  <a:gd name="T9" fmla="*/ 0 h 10"/>
                  <a:gd name="T10" fmla="*/ 3 w 8"/>
                  <a:gd name="T11" fmla="*/ 0 h 10"/>
                  <a:gd name="T12" fmla="*/ 0 w 8"/>
                  <a:gd name="T13" fmla="*/ 1 h 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10">
                    <a:moveTo>
                      <a:pt x="8" y="10"/>
                    </a:moveTo>
                    <a:lnTo>
                      <a:pt x="8" y="7"/>
                    </a:lnTo>
                    <a:lnTo>
                      <a:pt x="7" y="3"/>
                    </a:lnTo>
                    <a:lnTo>
                      <a:pt x="7" y="1"/>
                    </a:lnTo>
                    <a:lnTo>
                      <a:pt x="5" y="0"/>
                    </a:lnTo>
                    <a:lnTo>
                      <a:pt x="3" y="0"/>
                    </a:lnTo>
                    <a:lnTo>
                      <a:pt x="0" y="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88" name="Line 1595"/>
              <p:cNvSpPr>
                <a:spLocks noChangeShapeType="1"/>
              </p:cNvSpPr>
              <p:nvPr userDrawn="1"/>
            </p:nvSpPr>
            <p:spPr bwMode="gray">
              <a:xfrm flipH="1" flipV="1">
                <a:off x="3043" y="670"/>
                <a:ext cx="198" cy="5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89" name="Freeform 1596"/>
              <p:cNvSpPr>
                <a:spLocks/>
              </p:cNvSpPr>
              <p:nvPr userDrawn="1"/>
            </p:nvSpPr>
            <p:spPr bwMode="gray">
              <a:xfrm>
                <a:off x="3043" y="670"/>
                <a:ext cx="9" cy="9"/>
              </a:xfrm>
              <a:custGeom>
                <a:avLst/>
                <a:gdLst>
                  <a:gd name="T0" fmla="*/ 0 w 9"/>
                  <a:gd name="T1" fmla="*/ 0 h 9"/>
                  <a:gd name="T2" fmla="*/ 3 w 9"/>
                  <a:gd name="T3" fmla="*/ 0 h 9"/>
                  <a:gd name="T4" fmla="*/ 5 w 9"/>
                  <a:gd name="T5" fmla="*/ 0 h 9"/>
                  <a:gd name="T6" fmla="*/ 7 w 9"/>
                  <a:gd name="T7" fmla="*/ 2 h 9"/>
                  <a:gd name="T8" fmla="*/ 7 w 9"/>
                  <a:gd name="T9" fmla="*/ 3 h 9"/>
                  <a:gd name="T10" fmla="*/ 9 w 9"/>
                  <a:gd name="T11" fmla="*/ 7 h 9"/>
                  <a:gd name="T12" fmla="*/ 9 w 9"/>
                  <a:gd name="T13" fmla="*/ 9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 h="9">
                    <a:moveTo>
                      <a:pt x="0" y="0"/>
                    </a:moveTo>
                    <a:lnTo>
                      <a:pt x="3" y="0"/>
                    </a:lnTo>
                    <a:lnTo>
                      <a:pt x="5" y="0"/>
                    </a:lnTo>
                    <a:lnTo>
                      <a:pt x="7" y="2"/>
                    </a:lnTo>
                    <a:lnTo>
                      <a:pt x="7" y="3"/>
                    </a:lnTo>
                    <a:lnTo>
                      <a:pt x="9" y="7"/>
                    </a:lnTo>
                    <a:lnTo>
                      <a:pt x="9"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90" name="Freeform 1597"/>
              <p:cNvSpPr>
                <a:spLocks/>
              </p:cNvSpPr>
              <p:nvPr userDrawn="1"/>
            </p:nvSpPr>
            <p:spPr bwMode="gray">
              <a:xfrm>
                <a:off x="2630" y="948"/>
                <a:ext cx="9" cy="18"/>
              </a:xfrm>
              <a:custGeom>
                <a:avLst/>
                <a:gdLst>
                  <a:gd name="T0" fmla="*/ 9 w 9"/>
                  <a:gd name="T1" fmla="*/ 0 h 18"/>
                  <a:gd name="T2" fmla="*/ 5 w 9"/>
                  <a:gd name="T3" fmla="*/ 2 h 18"/>
                  <a:gd name="T4" fmla="*/ 2 w 9"/>
                  <a:gd name="T5" fmla="*/ 7 h 18"/>
                  <a:gd name="T6" fmla="*/ 0 w 9"/>
                  <a:gd name="T7" fmla="*/ 12 h 18"/>
                  <a:gd name="T8" fmla="*/ 0 w 9"/>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9" y="0"/>
                    </a:moveTo>
                    <a:lnTo>
                      <a:pt x="5" y="2"/>
                    </a:lnTo>
                    <a:lnTo>
                      <a:pt x="2" y="7"/>
                    </a:lnTo>
                    <a:lnTo>
                      <a:pt x="0" y="12"/>
                    </a:lnTo>
                    <a:lnTo>
                      <a:pt x="0" y="1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91" name="Line 1598"/>
              <p:cNvSpPr>
                <a:spLocks noChangeShapeType="1"/>
              </p:cNvSpPr>
              <p:nvPr userDrawn="1"/>
            </p:nvSpPr>
            <p:spPr bwMode="gray">
              <a:xfrm>
                <a:off x="2532" y="922"/>
                <a:ext cx="204"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92" name="Line 1599"/>
              <p:cNvSpPr>
                <a:spLocks noChangeShapeType="1"/>
              </p:cNvSpPr>
              <p:nvPr userDrawn="1"/>
            </p:nvSpPr>
            <p:spPr bwMode="gray">
              <a:xfrm>
                <a:off x="2539" y="915"/>
                <a:ext cx="201"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93" name="Freeform 1600"/>
              <p:cNvSpPr>
                <a:spLocks/>
              </p:cNvSpPr>
              <p:nvPr userDrawn="1"/>
            </p:nvSpPr>
            <p:spPr bwMode="gray">
              <a:xfrm>
                <a:off x="2732" y="980"/>
                <a:ext cx="4" cy="17"/>
              </a:xfrm>
              <a:custGeom>
                <a:avLst/>
                <a:gdLst>
                  <a:gd name="T0" fmla="*/ 8 w 8"/>
                  <a:gd name="T1" fmla="*/ 0 h 17"/>
                  <a:gd name="T2" fmla="*/ 5 w 8"/>
                  <a:gd name="T3" fmla="*/ 3 h 17"/>
                  <a:gd name="T4" fmla="*/ 1 w 8"/>
                  <a:gd name="T5" fmla="*/ 8 h 17"/>
                  <a:gd name="T6" fmla="*/ 0 w 8"/>
                  <a:gd name="T7" fmla="*/ 14 h 17"/>
                  <a:gd name="T8" fmla="*/ 0 w 8"/>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8" y="0"/>
                    </a:moveTo>
                    <a:lnTo>
                      <a:pt x="5" y="3"/>
                    </a:lnTo>
                    <a:lnTo>
                      <a:pt x="1" y="8"/>
                    </a:lnTo>
                    <a:lnTo>
                      <a:pt x="0" y="14"/>
                    </a:lnTo>
                    <a:lnTo>
                      <a:pt x="0" y="1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94" name="Line 1601"/>
              <p:cNvSpPr>
                <a:spLocks noChangeShapeType="1"/>
              </p:cNvSpPr>
              <p:nvPr userDrawn="1"/>
            </p:nvSpPr>
            <p:spPr bwMode="gray">
              <a:xfrm flipH="1" flipV="1">
                <a:off x="2530" y="934"/>
                <a:ext cx="204"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95" name="Freeform 1602"/>
              <p:cNvSpPr>
                <a:spLocks/>
              </p:cNvSpPr>
              <p:nvPr userDrawn="1"/>
            </p:nvSpPr>
            <p:spPr bwMode="gray">
              <a:xfrm>
                <a:off x="2530" y="915"/>
                <a:ext cx="9" cy="19"/>
              </a:xfrm>
              <a:custGeom>
                <a:avLst/>
                <a:gdLst>
                  <a:gd name="T0" fmla="*/ 0 w 9"/>
                  <a:gd name="T1" fmla="*/ 19 h 19"/>
                  <a:gd name="T2" fmla="*/ 0 w 9"/>
                  <a:gd name="T3" fmla="*/ 14 h 19"/>
                  <a:gd name="T4" fmla="*/ 2 w 9"/>
                  <a:gd name="T5" fmla="*/ 9 h 19"/>
                  <a:gd name="T6" fmla="*/ 6 w 9"/>
                  <a:gd name="T7" fmla="*/ 3 h 19"/>
                  <a:gd name="T8" fmla="*/ 9 w 9"/>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9">
                    <a:moveTo>
                      <a:pt x="0" y="19"/>
                    </a:moveTo>
                    <a:lnTo>
                      <a:pt x="0" y="14"/>
                    </a:lnTo>
                    <a:lnTo>
                      <a:pt x="2" y="9"/>
                    </a:lnTo>
                    <a:lnTo>
                      <a:pt x="6" y="3"/>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96" name="Line 1603"/>
              <p:cNvSpPr>
                <a:spLocks noChangeShapeType="1"/>
              </p:cNvSpPr>
              <p:nvPr userDrawn="1"/>
            </p:nvSpPr>
            <p:spPr bwMode="gray">
              <a:xfrm flipH="1" flipV="1">
                <a:off x="2503" y="1016"/>
                <a:ext cx="22" cy="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97" name="Line 1604"/>
              <p:cNvSpPr>
                <a:spLocks noChangeShapeType="1"/>
              </p:cNvSpPr>
              <p:nvPr userDrawn="1"/>
            </p:nvSpPr>
            <p:spPr bwMode="gray">
              <a:xfrm flipH="1" flipV="1">
                <a:off x="2496" y="1008"/>
                <a:ext cx="30" cy="1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98" name="Freeform 1605"/>
              <p:cNvSpPr>
                <a:spLocks/>
              </p:cNvSpPr>
              <p:nvPr userDrawn="1"/>
            </p:nvSpPr>
            <p:spPr bwMode="gray">
              <a:xfrm>
                <a:off x="2496" y="1008"/>
                <a:ext cx="8" cy="8"/>
              </a:xfrm>
              <a:custGeom>
                <a:avLst/>
                <a:gdLst>
                  <a:gd name="T0" fmla="*/ 0 w 8"/>
                  <a:gd name="T1" fmla="*/ 0 h 8"/>
                  <a:gd name="T2" fmla="*/ 0 w 8"/>
                  <a:gd name="T3" fmla="*/ 3 h 8"/>
                  <a:gd name="T4" fmla="*/ 1 w 8"/>
                  <a:gd name="T5" fmla="*/ 7 h 8"/>
                  <a:gd name="T6" fmla="*/ 3 w 8"/>
                  <a:gd name="T7" fmla="*/ 8 h 8"/>
                  <a:gd name="T8" fmla="*/ 5 w 8"/>
                  <a:gd name="T9" fmla="*/ 8 h 8"/>
                  <a:gd name="T10" fmla="*/ 8 w 8"/>
                  <a:gd name="T11" fmla="*/ 8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8">
                    <a:moveTo>
                      <a:pt x="0" y="0"/>
                    </a:moveTo>
                    <a:lnTo>
                      <a:pt x="0" y="3"/>
                    </a:lnTo>
                    <a:lnTo>
                      <a:pt x="1" y="7"/>
                    </a:lnTo>
                    <a:lnTo>
                      <a:pt x="3" y="8"/>
                    </a:lnTo>
                    <a:lnTo>
                      <a:pt x="5" y="8"/>
                    </a:lnTo>
                    <a:lnTo>
                      <a:pt x="8"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99" name="Freeform 1606"/>
              <p:cNvSpPr>
                <a:spLocks/>
              </p:cNvSpPr>
              <p:nvPr userDrawn="1"/>
            </p:nvSpPr>
            <p:spPr bwMode="gray">
              <a:xfrm>
                <a:off x="2490" y="885"/>
                <a:ext cx="4" cy="9"/>
              </a:xfrm>
              <a:custGeom>
                <a:avLst/>
                <a:gdLst>
                  <a:gd name="T0" fmla="*/ 4 w 4"/>
                  <a:gd name="T1" fmla="*/ 9 h 9"/>
                  <a:gd name="T2" fmla="*/ 2 w 4"/>
                  <a:gd name="T3" fmla="*/ 7 h 9"/>
                  <a:gd name="T4" fmla="*/ 0 w 4"/>
                  <a:gd name="T5" fmla="*/ 5 h 9"/>
                  <a:gd name="T6" fmla="*/ 0 w 4"/>
                  <a:gd name="T7" fmla="*/ 4 h 9"/>
                  <a:gd name="T8" fmla="*/ 2 w 4"/>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9">
                    <a:moveTo>
                      <a:pt x="4" y="9"/>
                    </a:moveTo>
                    <a:lnTo>
                      <a:pt x="2" y="7"/>
                    </a:lnTo>
                    <a:lnTo>
                      <a:pt x="0" y="5"/>
                    </a:lnTo>
                    <a:lnTo>
                      <a:pt x="0" y="4"/>
                    </a:lnTo>
                    <a:lnTo>
                      <a:pt x="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00" name="Line 1607"/>
              <p:cNvSpPr>
                <a:spLocks noChangeShapeType="1"/>
              </p:cNvSpPr>
              <p:nvPr userDrawn="1"/>
            </p:nvSpPr>
            <p:spPr bwMode="gray">
              <a:xfrm flipH="1" flipV="1">
                <a:off x="2489" y="775"/>
                <a:ext cx="1" cy="22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01" name="Line 1608"/>
              <p:cNvSpPr>
                <a:spLocks noChangeShapeType="1"/>
              </p:cNvSpPr>
              <p:nvPr userDrawn="1"/>
            </p:nvSpPr>
            <p:spPr bwMode="gray">
              <a:xfrm flipH="1" flipV="1">
                <a:off x="2494" y="778"/>
                <a:ext cx="2" cy="2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02" name="Freeform 1609"/>
              <p:cNvSpPr>
                <a:spLocks/>
              </p:cNvSpPr>
              <p:nvPr userDrawn="1"/>
            </p:nvSpPr>
            <p:spPr bwMode="gray">
              <a:xfrm>
                <a:off x="2489" y="771"/>
                <a:ext cx="4" cy="4"/>
              </a:xfrm>
              <a:custGeom>
                <a:avLst/>
                <a:gdLst>
                  <a:gd name="T0" fmla="*/ 5 w 5"/>
                  <a:gd name="T1" fmla="*/ 7 h 7"/>
                  <a:gd name="T2" fmla="*/ 1 w 5"/>
                  <a:gd name="T3" fmla="*/ 6 h 7"/>
                  <a:gd name="T4" fmla="*/ 0 w 5"/>
                  <a:gd name="T5" fmla="*/ 4 h 7"/>
                  <a:gd name="T6" fmla="*/ 0 w 5"/>
                  <a:gd name="T7" fmla="*/ 2 h 7"/>
                  <a:gd name="T8" fmla="*/ 3 w 5"/>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7">
                    <a:moveTo>
                      <a:pt x="5" y="7"/>
                    </a:moveTo>
                    <a:lnTo>
                      <a:pt x="1" y="6"/>
                    </a:lnTo>
                    <a:lnTo>
                      <a:pt x="0" y="4"/>
                    </a:lnTo>
                    <a:lnTo>
                      <a:pt x="0" y="2"/>
                    </a:lnTo>
                    <a:lnTo>
                      <a:pt x="3"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03" name="Line 1610"/>
              <p:cNvSpPr>
                <a:spLocks noChangeShapeType="1"/>
              </p:cNvSpPr>
              <p:nvPr userDrawn="1"/>
            </p:nvSpPr>
            <p:spPr bwMode="gray">
              <a:xfrm>
                <a:off x="2492" y="771"/>
                <a:ext cx="2" cy="2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04" name="Freeform 1611"/>
              <p:cNvSpPr>
                <a:spLocks/>
              </p:cNvSpPr>
              <p:nvPr userDrawn="1"/>
            </p:nvSpPr>
            <p:spPr bwMode="gray">
              <a:xfrm>
                <a:off x="2492" y="1001"/>
                <a:ext cx="4" cy="7"/>
              </a:xfrm>
              <a:custGeom>
                <a:avLst/>
                <a:gdLst>
                  <a:gd name="T0" fmla="*/ 4 w 4"/>
                  <a:gd name="T1" fmla="*/ 7 h 7"/>
                  <a:gd name="T2" fmla="*/ 2 w 4"/>
                  <a:gd name="T3" fmla="*/ 5 h 7"/>
                  <a:gd name="T4" fmla="*/ 0 w 4"/>
                  <a:gd name="T5" fmla="*/ 3 h 7"/>
                  <a:gd name="T6" fmla="*/ 0 w 4"/>
                  <a:gd name="T7" fmla="*/ 1 h 7"/>
                  <a:gd name="T8" fmla="*/ 2 w 4"/>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7">
                    <a:moveTo>
                      <a:pt x="4" y="7"/>
                    </a:moveTo>
                    <a:lnTo>
                      <a:pt x="2" y="5"/>
                    </a:lnTo>
                    <a:lnTo>
                      <a:pt x="0" y="3"/>
                    </a:lnTo>
                    <a:lnTo>
                      <a:pt x="0" y="1"/>
                    </a:lnTo>
                    <a:lnTo>
                      <a:pt x="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05" name="Freeform 1612"/>
              <p:cNvSpPr>
                <a:spLocks/>
              </p:cNvSpPr>
              <p:nvPr userDrawn="1"/>
            </p:nvSpPr>
            <p:spPr bwMode="gray">
              <a:xfrm>
                <a:off x="2590" y="791"/>
                <a:ext cx="9" cy="17"/>
              </a:xfrm>
              <a:custGeom>
                <a:avLst/>
                <a:gdLst>
                  <a:gd name="T0" fmla="*/ 0 w 9"/>
                  <a:gd name="T1" fmla="*/ 17 h 17"/>
                  <a:gd name="T2" fmla="*/ 0 w 9"/>
                  <a:gd name="T3" fmla="*/ 12 h 17"/>
                  <a:gd name="T4" fmla="*/ 2 w 9"/>
                  <a:gd name="T5" fmla="*/ 7 h 17"/>
                  <a:gd name="T6" fmla="*/ 5 w 9"/>
                  <a:gd name="T7" fmla="*/ 3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0" y="12"/>
                    </a:lnTo>
                    <a:lnTo>
                      <a:pt x="2" y="7"/>
                    </a:lnTo>
                    <a:lnTo>
                      <a:pt x="5" y="3"/>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06" name="Line 1613"/>
              <p:cNvSpPr>
                <a:spLocks noChangeShapeType="1"/>
              </p:cNvSpPr>
              <p:nvPr userDrawn="1"/>
            </p:nvSpPr>
            <p:spPr bwMode="gray">
              <a:xfrm>
                <a:off x="2496" y="768"/>
                <a:ext cx="201"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07" name="Line 1614"/>
              <p:cNvSpPr>
                <a:spLocks noChangeShapeType="1"/>
              </p:cNvSpPr>
              <p:nvPr userDrawn="1"/>
            </p:nvSpPr>
            <p:spPr bwMode="gray">
              <a:xfrm>
                <a:off x="2494" y="778"/>
                <a:ext cx="194"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08" name="Freeform 1615"/>
              <p:cNvSpPr>
                <a:spLocks/>
              </p:cNvSpPr>
              <p:nvPr userDrawn="1"/>
            </p:nvSpPr>
            <p:spPr bwMode="gray">
              <a:xfrm>
                <a:off x="2688" y="826"/>
                <a:ext cx="22" cy="14"/>
              </a:xfrm>
              <a:custGeom>
                <a:avLst/>
                <a:gdLst>
                  <a:gd name="T0" fmla="*/ 0 w 19"/>
                  <a:gd name="T1" fmla="*/ 14 h 14"/>
                  <a:gd name="T2" fmla="*/ 3 w 19"/>
                  <a:gd name="T3" fmla="*/ 8 h 14"/>
                  <a:gd name="T4" fmla="*/ 9 w 19"/>
                  <a:gd name="T5" fmla="*/ 3 h 14"/>
                  <a:gd name="T6" fmla="*/ 14 w 19"/>
                  <a:gd name="T7" fmla="*/ 1 h 14"/>
                  <a:gd name="T8" fmla="*/ 19 w 19"/>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4">
                    <a:moveTo>
                      <a:pt x="0" y="14"/>
                    </a:moveTo>
                    <a:lnTo>
                      <a:pt x="3" y="8"/>
                    </a:lnTo>
                    <a:lnTo>
                      <a:pt x="9" y="3"/>
                    </a:lnTo>
                    <a:lnTo>
                      <a:pt x="14" y="1"/>
                    </a:lnTo>
                    <a:lnTo>
                      <a:pt x="1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09" name="Line 1616"/>
              <p:cNvSpPr>
                <a:spLocks noChangeShapeType="1"/>
              </p:cNvSpPr>
              <p:nvPr userDrawn="1"/>
            </p:nvSpPr>
            <p:spPr bwMode="gray">
              <a:xfrm flipH="1" flipV="1">
                <a:off x="2503" y="761"/>
                <a:ext cx="204"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10" name="Freeform 1617"/>
              <p:cNvSpPr>
                <a:spLocks/>
              </p:cNvSpPr>
              <p:nvPr userDrawn="1"/>
            </p:nvSpPr>
            <p:spPr bwMode="gray">
              <a:xfrm>
                <a:off x="2494" y="761"/>
                <a:ext cx="9" cy="17"/>
              </a:xfrm>
              <a:custGeom>
                <a:avLst/>
                <a:gdLst>
                  <a:gd name="T0" fmla="*/ 9 w 9"/>
                  <a:gd name="T1" fmla="*/ 0 h 17"/>
                  <a:gd name="T2" fmla="*/ 3 w 9"/>
                  <a:gd name="T3" fmla="*/ 3 h 17"/>
                  <a:gd name="T4" fmla="*/ 2 w 9"/>
                  <a:gd name="T5" fmla="*/ 9 h 17"/>
                  <a:gd name="T6" fmla="*/ 0 w 9"/>
                  <a:gd name="T7" fmla="*/ 12 h 17"/>
                  <a:gd name="T8" fmla="*/ 0 w 9"/>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9" y="0"/>
                    </a:moveTo>
                    <a:lnTo>
                      <a:pt x="3" y="3"/>
                    </a:lnTo>
                    <a:lnTo>
                      <a:pt x="2" y="9"/>
                    </a:lnTo>
                    <a:lnTo>
                      <a:pt x="0" y="12"/>
                    </a:lnTo>
                    <a:lnTo>
                      <a:pt x="0" y="1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11" name="Freeform 1618"/>
              <p:cNvSpPr>
                <a:spLocks/>
              </p:cNvSpPr>
              <p:nvPr userDrawn="1"/>
            </p:nvSpPr>
            <p:spPr bwMode="gray">
              <a:xfrm>
                <a:off x="3034" y="929"/>
                <a:ext cx="9" cy="17"/>
              </a:xfrm>
              <a:custGeom>
                <a:avLst/>
                <a:gdLst>
                  <a:gd name="T0" fmla="*/ 0 w 9"/>
                  <a:gd name="T1" fmla="*/ 17 h 17"/>
                  <a:gd name="T2" fmla="*/ 2 w 9"/>
                  <a:gd name="T3" fmla="*/ 12 h 17"/>
                  <a:gd name="T4" fmla="*/ 4 w 9"/>
                  <a:gd name="T5" fmla="*/ 7 h 17"/>
                  <a:gd name="T6" fmla="*/ 5 w 9"/>
                  <a:gd name="T7" fmla="*/ 3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2" y="12"/>
                    </a:lnTo>
                    <a:lnTo>
                      <a:pt x="4" y="7"/>
                    </a:lnTo>
                    <a:lnTo>
                      <a:pt x="5" y="3"/>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12" name="Line 1619"/>
              <p:cNvSpPr>
                <a:spLocks noChangeShapeType="1"/>
              </p:cNvSpPr>
              <p:nvPr userDrawn="1"/>
            </p:nvSpPr>
            <p:spPr bwMode="gray">
              <a:xfrm>
                <a:off x="2929" y="903"/>
                <a:ext cx="213" cy="6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13" name="Line 1620"/>
              <p:cNvSpPr>
                <a:spLocks noChangeShapeType="1"/>
              </p:cNvSpPr>
              <p:nvPr userDrawn="1"/>
            </p:nvSpPr>
            <p:spPr bwMode="gray">
              <a:xfrm>
                <a:off x="2933" y="915"/>
                <a:ext cx="204"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14" name="Freeform 1621"/>
              <p:cNvSpPr>
                <a:spLocks/>
              </p:cNvSpPr>
              <p:nvPr userDrawn="1"/>
            </p:nvSpPr>
            <p:spPr bwMode="gray">
              <a:xfrm>
                <a:off x="3137" y="960"/>
                <a:ext cx="9" cy="22"/>
              </a:xfrm>
              <a:custGeom>
                <a:avLst/>
                <a:gdLst>
                  <a:gd name="T0" fmla="*/ 0 w 9"/>
                  <a:gd name="T1" fmla="*/ 20 h 20"/>
                  <a:gd name="T2" fmla="*/ 2 w 9"/>
                  <a:gd name="T3" fmla="*/ 14 h 20"/>
                  <a:gd name="T4" fmla="*/ 4 w 9"/>
                  <a:gd name="T5" fmla="*/ 9 h 20"/>
                  <a:gd name="T6" fmla="*/ 6 w 9"/>
                  <a:gd name="T7" fmla="*/ 4 h 20"/>
                  <a:gd name="T8" fmla="*/ 9 w 9"/>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20">
                    <a:moveTo>
                      <a:pt x="0" y="20"/>
                    </a:moveTo>
                    <a:lnTo>
                      <a:pt x="2" y="14"/>
                    </a:lnTo>
                    <a:lnTo>
                      <a:pt x="4" y="9"/>
                    </a:lnTo>
                    <a:lnTo>
                      <a:pt x="6" y="4"/>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15" name="Line 1622"/>
              <p:cNvSpPr>
                <a:spLocks noChangeShapeType="1"/>
              </p:cNvSpPr>
              <p:nvPr userDrawn="1"/>
            </p:nvSpPr>
            <p:spPr bwMode="gray">
              <a:xfrm flipH="1" flipV="1">
                <a:off x="2929" y="894"/>
                <a:ext cx="217"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16" name="Freeform 1623"/>
              <p:cNvSpPr>
                <a:spLocks/>
              </p:cNvSpPr>
              <p:nvPr userDrawn="1"/>
            </p:nvSpPr>
            <p:spPr bwMode="gray">
              <a:xfrm>
                <a:off x="2929" y="894"/>
                <a:ext cx="4" cy="21"/>
              </a:xfrm>
              <a:custGeom>
                <a:avLst/>
                <a:gdLst>
                  <a:gd name="T0" fmla="*/ 4 w 4"/>
                  <a:gd name="T1" fmla="*/ 21 h 21"/>
                  <a:gd name="T2" fmla="*/ 0 w 4"/>
                  <a:gd name="T3" fmla="*/ 14 h 21"/>
                  <a:gd name="T4" fmla="*/ 0 w 4"/>
                  <a:gd name="T5" fmla="*/ 7 h 21"/>
                  <a:gd name="T6" fmla="*/ 0 w 4"/>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21">
                    <a:moveTo>
                      <a:pt x="4" y="21"/>
                    </a:moveTo>
                    <a:lnTo>
                      <a:pt x="0" y="14"/>
                    </a:lnTo>
                    <a:lnTo>
                      <a:pt x="0" y="7"/>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17" name="Freeform 1624"/>
              <p:cNvSpPr>
                <a:spLocks/>
              </p:cNvSpPr>
              <p:nvPr userDrawn="1"/>
            </p:nvSpPr>
            <p:spPr bwMode="gray">
              <a:xfrm>
                <a:off x="3136" y="1097"/>
                <a:ext cx="21" cy="1"/>
              </a:xfrm>
              <a:custGeom>
                <a:avLst/>
                <a:gdLst>
                  <a:gd name="T0" fmla="*/ 0 w 21"/>
                  <a:gd name="T1" fmla="*/ 0 h 1"/>
                  <a:gd name="T2" fmla="*/ 5 w 21"/>
                  <a:gd name="T3" fmla="*/ 1 h 1"/>
                  <a:gd name="T4" fmla="*/ 10 w 21"/>
                  <a:gd name="T5" fmla="*/ 1 h 1"/>
                  <a:gd name="T6" fmla="*/ 15 w 21"/>
                  <a:gd name="T7" fmla="*/ 1 h 1"/>
                  <a:gd name="T8" fmla="*/ 21 w 21"/>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
                    <a:moveTo>
                      <a:pt x="0" y="0"/>
                    </a:moveTo>
                    <a:lnTo>
                      <a:pt x="5" y="1"/>
                    </a:lnTo>
                    <a:lnTo>
                      <a:pt x="10" y="1"/>
                    </a:lnTo>
                    <a:lnTo>
                      <a:pt x="15" y="1"/>
                    </a:lnTo>
                    <a:lnTo>
                      <a:pt x="2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18" name="Line 1625"/>
              <p:cNvSpPr>
                <a:spLocks noChangeShapeType="1"/>
              </p:cNvSpPr>
              <p:nvPr userDrawn="1"/>
            </p:nvSpPr>
            <p:spPr bwMode="gray">
              <a:xfrm flipH="1">
                <a:off x="3144" y="980"/>
                <a:ext cx="4" cy="23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19" name="Line 1626"/>
              <p:cNvSpPr>
                <a:spLocks noChangeShapeType="1"/>
              </p:cNvSpPr>
              <p:nvPr userDrawn="1"/>
            </p:nvSpPr>
            <p:spPr bwMode="gray">
              <a:xfrm flipH="1">
                <a:off x="3134" y="980"/>
                <a:ext cx="3" cy="23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20" name="Freeform 1627"/>
              <p:cNvSpPr>
                <a:spLocks/>
              </p:cNvSpPr>
              <p:nvPr userDrawn="1"/>
            </p:nvSpPr>
            <p:spPr bwMode="gray">
              <a:xfrm>
                <a:off x="3134" y="1214"/>
                <a:ext cx="21" cy="3"/>
              </a:xfrm>
              <a:custGeom>
                <a:avLst/>
                <a:gdLst>
                  <a:gd name="T0" fmla="*/ 0 w 21"/>
                  <a:gd name="T1" fmla="*/ 2 h 3"/>
                  <a:gd name="T2" fmla="*/ 5 w 21"/>
                  <a:gd name="T3" fmla="*/ 3 h 3"/>
                  <a:gd name="T4" fmla="*/ 10 w 21"/>
                  <a:gd name="T5" fmla="*/ 3 h 3"/>
                  <a:gd name="T6" fmla="*/ 16 w 21"/>
                  <a:gd name="T7" fmla="*/ 2 h 3"/>
                  <a:gd name="T8" fmla="*/ 21 w 21"/>
                  <a:gd name="T9" fmla="*/ 0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
                    <a:moveTo>
                      <a:pt x="0" y="2"/>
                    </a:moveTo>
                    <a:lnTo>
                      <a:pt x="5" y="3"/>
                    </a:lnTo>
                    <a:lnTo>
                      <a:pt x="10" y="3"/>
                    </a:lnTo>
                    <a:lnTo>
                      <a:pt x="16" y="2"/>
                    </a:lnTo>
                    <a:lnTo>
                      <a:pt x="2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21" name="Line 1628"/>
              <p:cNvSpPr>
                <a:spLocks noChangeShapeType="1"/>
              </p:cNvSpPr>
              <p:nvPr userDrawn="1"/>
            </p:nvSpPr>
            <p:spPr bwMode="gray">
              <a:xfrm flipV="1">
                <a:off x="3155" y="978"/>
                <a:ext cx="4" cy="23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22" name="Freeform 1629"/>
              <p:cNvSpPr>
                <a:spLocks/>
              </p:cNvSpPr>
              <p:nvPr userDrawn="1"/>
            </p:nvSpPr>
            <p:spPr bwMode="gray">
              <a:xfrm>
                <a:off x="3137" y="978"/>
                <a:ext cx="22" cy="4"/>
              </a:xfrm>
              <a:custGeom>
                <a:avLst/>
                <a:gdLst>
                  <a:gd name="T0" fmla="*/ 21 w 21"/>
                  <a:gd name="T1" fmla="*/ 0 h 3"/>
                  <a:gd name="T2" fmla="*/ 16 w 21"/>
                  <a:gd name="T3" fmla="*/ 2 h 3"/>
                  <a:gd name="T4" fmla="*/ 11 w 21"/>
                  <a:gd name="T5" fmla="*/ 3 h 3"/>
                  <a:gd name="T6" fmla="*/ 6 w 21"/>
                  <a:gd name="T7" fmla="*/ 2 h 3"/>
                  <a:gd name="T8" fmla="*/ 0 w 21"/>
                  <a:gd name="T9" fmla="*/ 2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
                    <a:moveTo>
                      <a:pt x="21" y="0"/>
                    </a:moveTo>
                    <a:lnTo>
                      <a:pt x="16" y="2"/>
                    </a:lnTo>
                    <a:lnTo>
                      <a:pt x="11" y="3"/>
                    </a:lnTo>
                    <a:lnTo>
                      <a:pt x="6" y="2"/>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23" name="Freeform 1630"/>
              <p:cNvSpPr>
                <a:spLocks/>
              </p:cNvSpPr>
              <p:nvPr userDrawn="1"/>
            </p:nvSpPr>
            <p:spPr bwMode="gray">
              <a:xfrm>
                <a:off x="3032" y="1182"/>
                <a:ext cx="9" cy="9"/>
              </a:xfrm>
              <a:custGeom>
                <a:avLst/>
                <a:gdLst>
                  <a:gd name="T0" fmla="*/ 0 w 9"/>
                  <a:gd name="T1" fmla="*/ 0 h 9"/>
                  <a:gd name="T2" fmla="*/ 0 w 9"/>
                  <a:gd name="T3" fmla="*/ 4 h 9"/>
                  <a:gd name="T4" fmla="*/ 2 w 9"/>
                  <a:gd name="T5" fmla="*/ 7 h 9"/>
                  <a:gd name="T6" fmla="*/ 4 w 9"/>
                  <a:gd name="T7" fmla="*/ 9 h 9"/>
                  <a:gd name="T8" fmla="*/ 6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4"/>
                    </a:lnTo>
                    <a:lnTo>
                      <a:pt x="2" y="7"/>
                    </a:lnTo>
                    <a:lnTo>
                      <a:pt x="4" y="9"/>
                    </a:lnTo>
                    <a:lnTo>
                      <a:pt x="6" y="9"/>
                    </a:lnTo>
                    <a:lnTo>
                      <a:pt x="9"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24" name="Line 1631"/>
              <p:cNvSpPr>
                <a:spLocks noChangeShapeType="1"/>
              </p:cNvSpPr>
              <p:nvPr userDrawn="1"/>
            </p:nvSpPr>
            <p:spPr bwMode="gray">
              <a:xfrm flipH="1" flipV="1">
                <a:off x="2927" y="1154"/>
                <a:ext cx="210" cy="6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25" name="Line 1632"/>
              <p:cNvSpPr>
                <a:spLocks noChangeShapeType="1"/>
              </p:cNvSpPr>
              <p:nvPr userDrawn="1"/>
            </p:nvSpPr>
            <p:spPr bwMode="gray">
              <a:xfrm flipH="1" flipV="1">
                <a:off x="2931" y="1149"/>
                <a:ext cx="204" cy="6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26" name="Freeform 1633"/>
              <p:cNvSpPr>
                <a:spLocks/>
              </p:cNvSpPr>
              <p:nvPr userDrawn="1"/>
            </p:nvSpPr>
            <p:spPr bwMode="gray">
              <a:xfrm>
                <a:off x="2929" y="1149"/>
                <a:ext cx="2" cy="5"/>
              </a:xfrm>
              <a:custGeom>
                <a:avLst/>
                <a:gdLst>
                  <a:gd name="T0" fmla="*/ 2 w 2"/>
                  <a:gd name="T1" fmla="*/ 0 h 5"/>
                  <a:gd name="T2" fmla="*/ 2 w 2"/>
                  <a:gd name="T3" fmla="*/ 2 h 5"/>
                  <a:gd name="T4" fmla="*/ 0 w 2"/>
                  <a:gd name="T5" fmla="*/ 4 h 5"/>
                  <a:gd name="T6" fmla="*/ 0 w 2"/>
                  <a:gd name="T7" fmla="*/ 5 h 5"/>
                  <a:gd name="T8" fmla="*/ 0 w 2"/>
                  <a:gd name="T9" fmla="*/ 5 h 5"/>
                  <a:gd name="T10" fmla="*/ 0 w 2"/>
                  <a:gd name="T11" fmla="*/ 5 h 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 h="5">
                    <a:moveTo>
                      <a:pt x="2" y="0"/>
                    </a:moveTo>
                    <a:lnTo>
                      <a:pt x="2" y="2"/>
                    </a:lnTo>
                    <a:lnTo>
                      <a:pt x="0" y="4"/>
                    </a:lnTo>
                    <a:lnTo>
                      <a:pt x="0" y="5"/>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27" name="Line 1634"/>
              <p:cNvSpPr>
                <a:spLocks noChangeShapeType="1"/>
              </p:cNvSpPr>
              <p:nvPr userDrawn="1"/>
            </p:nvSpPr>
            <p:spPr bwMode="gray">
              <a:xfrm>
                <a:off x="2929" y="1154"/>
                <a:ext cx="214" cy="6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28" name="Freeform 1635"/>
              <p:cNvSpPr>
                <a:spLocks/>
              </p:cNvSpPr>
              <p:nvPr userDrawn="1"/>
            </p:nvSpPr>
            <p:spPr bwMode="gray">
              <a:xfrm>
                <a:off x="3134" y="1216"/>
                <a:ext cx="9" cy="8"/>
              </a:xfrm>
              <a:custGeom>
                <a:avLst/>
                <a:gdLst>
                  <a:gd name="T0" fmla="*/ 0 w 9"/>
                  <a:gd name="T1" fmla="*/ 0 h 8"/>
                  <a:gd name="T2" fmla="*/ 2 w 9"/>
                  <a:gd name="T3" fmla="*/ 3 h 8"/>
                  <a:gd name="T4" fmla="*/ 2 w 9"/>
                  <a:gd name="T5" fmla="*/ 5 h 8"/>
                  <a:gd name="T6" fmla="*/ 3 w 9"/>
                  <a:gd name="T7" fmla="*/ 8 h 8"/>
                  <a:gd name="T8" fmla="*/ 5 w 9"/>
                  <a:gd name="T9" fmla="*/ 8 h 8"/>
                  <a:gd name="T10" fmla="*/ 9 w 9"/>
                  <a:gd name="T11" fmla="*/ 7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8">
                    <a:moveTo>
                      <a:pt x="0" y="0"/>
                    </a:moveTo>
                    <a:lnTo>
                      <a:pt x="2" y="3"/>
                    </a:lnTo>
                    <a:lnTo>
                      <a:pt x="2" y="5"/>
                    </a:lnTo>
                    <a:lnTo>
                      <a:pt x="3" y="8"/>
                    </a:lnTo>
                    <a:lnTo>
                      <a:pt x="5" y="8"/>
                    </a:lnTo>
                    <a:lnTo>
                      <a:pt x="9"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29" name="Freeform 1636"/>
              <p:cNvSpPr>
                <a:spLocks/>
              </p:cNvSpPr>
              <p:nvPr userDrawn="1"/>
            </p:nvSpPr>
            <p:spPr bwMode="gray">
              <a:xfrm>
                <a:off x="2649" y="694"/>
                <a:ext cx="20" cy="2"/>
              </a:xfrm>
              <a:custGeom>
                <a:avLst/>
                <a:gdLst>
                  <a:gd name="T0" fmla="*/ 20 w 20"/>
                  <a:gd name="T1" fmla="*/ 2 h 2"/>
                  <a:gd name="T2" fmla="*/ 13 w 20"/>
                  <a:gd name="T3" fmla="*/ 0 h 2"/>
                  <a:gd name="T4" fmla="*/ 6 w 20"/>
                  <a:gd name="T5" fmla="*/ 0 h 2"/>
                  <a:gd name="T6" fmla="*/ 0 w 20"/>
                  <a:gd name="T7" fmla="*/ 2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
                    <a:moveTo>
                      <a:pt x="20" y="2"/>
                    </a:moveTo>
                    <a:lnTo>
                      <a:pt x="13" y="0"/>
                    </a:lnTo>
                    <a:lnTo>
                      <a:pt x="6"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30" name="Freeform 1637"/>
              <p:cNvSpPr>
                <a:spLocks/>
              </p:cNvSpPr>
              <p:nvPr userDrawn="1"/>
            </p:nvSpPr>
            <p:spPr bwMode="gray">
              <a:xfrm>
                <a:off x="2756" y="715"/>
                <a:ext cx="9" cy="11"/>
              </a:xfrm>
              <a:custGeom>
                <a:avLst/>
                <a:gdLst>
                  <a:gd name="T0" fmla="*/ 9 w 9"/>
                  <a:gd name="T1" fmla="*/ 11 h 11"/>
                  <a:gd name="T2" fmla="*/ 9 w 9"/>
                  <a:gd name="T3" fmla="*/ 6 h 11"/>
                  <a:gd name="T4" fmla="*/ 7 w 9"/>
                  <a:gd name="T5" fmla="*/ 4 h 11"/>
                  <a:gd name="T6" fmla="*/ 5 w 9"/>
                  <a:gd name="T7" fmla="*/ 0 h 11"/>
                  <a:gd name="T8" fmla="*/ 4 w 9"/>
                  <a:gd name="T9" fmla="*/ 0 h 11"/>
                  <a:gd name="T10" fmla="*/ 0 w 9"/>
                  <a:gd name="T11" fmla="*/ 2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11">
                    <a:moveTo>
                      <a:pt x="9" y="11"/>
                    </a:moveTo>
                    <a:lnTo>
                      <a:pt x="9" y="6"/>
                    </a:lnTo>
                    <a:lnTo>
                      <a:pt x="7" y="4"/>
                    </a:lnTo>
                    <a:lnTo>
                      <a:pt x="5" y="0"/>
                    </a:lnTo>
                    <a:lnTo>
                      <a:pt x="4"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31" name="Line 1638"/>
              <p:cNvSpPr>
                <a:spLocks noChangeShapeType="1"/>
              </p:cNvSpPr>
              <p:nvPr userDrawn="1"/>
            </p:nvSpPr>
            <p:spPr bwMode="gray">
              <a:xfrm>
                <a:off x="2665" y="687"/>
                <a:ext cx="200" cy="6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32" name="Line 1639"/>
              <p:cNvSpPr>
                <a:spLocks noChangeShapeType="1"/>
              </p:cNvSpPr>
              <p:nvPr userDrawn="1"/>
            </p:nvSpPr>
            <p:spPr bwMode="gray">
              <a:xfrm>
                <a:off x="2669" y="696"/>
                <a:ext cx="192" cy="5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33" name="Freeform 1640"/>
              <p:cNvSpPr>
                <a:spLocks/>
              </p:cNvSpPr>
              <p:nvPr userDrawn="1"/>
            </p:nvSpPr>
            <p:spPr bwMode="gray">
              <a:xfrm>
                <a:off x="2861" y="749"/>
                <a:ext cx="4" cy="5"/>
              </a:xfrm>
              <a:custGeom>
                <a:avLst/>
                <a:gdLst>
                  <a:gd name="T0" fmla="*/ 0 w 4"/>
                  <a:gd name="T1" fmla="*/ 5 h 5"/>
                  <a:gd name="T2" fmla="*/ 2 w 4"/>
                  <a:gd name="T3" fmla="*/ 3 h 5"/>
                  <a:gd name="T4" fmla="*/ 4 w 4"/>
                  <a:gd name="T5" fmla="*/ 1 h 5"/>
                  <a:gd name="T6" fmla="*/ 4 w 4"/>
                  <a:gd name="T7" fmla="*/ 0 h 5"/>
                  <a:gd name="T8" fmla="*/ 4 w 4"/>
                  <a:gd name="T9" fmla="*/ 0 h 5"/>
                  <a:gd name="T10" fmla="*/ 4 w 4"/>
                  <a:gd name="T11" fmla="*/ 0 h 5"/>
                  <a:gd name="T12" fmla="*/ 4 w 4"/>
                  <a:gd name="T13" fmla="*/ 0 h 5"/>
                  <a:gd name="T14" fmla="*/ 4 w 4"/>
                  <a:gd name="T15" fmla="*/ 0 h 5"/>
                  <a:gd name="T16" fmla="*/ 4 w 4"/>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 h="5">
                    <a:moveTo>
                      <a:pt x="0" y="5"/>
                    </a:moveTo>
                    <a:lnTo>
                      <a:pt x="2" y="3"/>
                    </a:lnTo>
                    <a:lnTo>
                      <a:pt x="4" y="1"/>
                    </a:lnTo>
                    <a:lnTo>
                      <a:pt x="4"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34" name="Line 1641"/>
              <p:cNvSpPr>
                <a:spLocks noChangeShapeType="1"/>
              </p:cNvSpPr>
              <p:nvPr userDrawn="1"/>
            </p:nvSpPr>
            <p:spPr bwMode="gray">
              <a:xfrm flipH="1" flipV="1">
                <a:off x="2660" y="687"/>
                <a:ext cx="205" cy="6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35" name="Freeform 1642"/>
              <p:cNvSpPr>
                <a:spLocks/>
              </p:cNvSpPr>
              <p:nvPr userDrawn="1"/>
            </p:nvSpPr>
            <p:spPr bwMode="gray">
              <a:xfrm>
                <a:off x="2660" y="686"/>
                <a:ext cx="9" cy="10"/>
              </a:xfrm>
              <a:custGeom>
                <a:avLst/>
                <a:gdLst>
                  <a:gd name="T0" fmla="*/ 0 w 9"/>
                  <a:gd name="T1" fmla="*/ 1 h 10"/>
                  <a:gd name="T2" fmla="*/ 3 w 9"/>
                  <a:gd name="T3" fmla="*/ 0 h 10"/>
                  <a:gd name="T4" fmla="*/ 5 w 9"/>
                  <a:gd name="T5" fmla="*/ 1 h 10"/>
                  <a:gd name="T6" fmla="*/ 7 w 9"/>
                  <a:gd name="T7" fmla="*/ 3 h 10"/>
                  <a:gd name="T8" fmla="*/ 7 w 9"/>
                  <a:gd name="T9" fmla="*/ 7 h 10"/>
                  <a:gd name="T10" fmla="*/ 9 w 9"/>
                  <a:gd name="T11" fmla="*/ 1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10">
                    <a:moveTo>
                      <a:pt x="0" y="1"/>
                    </a:moveTo>
                    <a:lnTo>
                      <a:pt x="3" y="0"/>
                    </a:lnTo>
                    <a:lnTo>
                      <a:pt x="5" y="1"/>
                    </a:lnTo>
                    <a:lnTo>
                      <a:pt x="7" y="3"/>
                    </a:lnTo>
                    <a:lnTo>
                      <a:pt x="7" y="7"/>
                    </a:lnTo>
                    <a:lnTo>
                      <a:pt x="9" y="1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36" name="Freeform 1643"/>
              <p:cNvSpPr>
                <a:spLocks/>
              </p:cNvSpPr>
              <p:nvPr userDrawn="1"/>
            </p:nvSpPr>
            <p:spPr bwMode="gray">
              <a:xfrm>
                <a:off x="3197" y="848"/>
                <a:ext cx="9" cy="13"/>
              </a:xfrm>
              <a:custGeom>
                <a:avLst/>
                <a:gdLst>
                  <a:gd name="T0" fmla="*/ 9 w 9"/>
                  <a:gd name="T1" fmla="*/ 11 h 11"/>
                  <a:gd name="T2" fmla="*/ 9 w 9"/>
                  <a:gd name="T3" fmla="*/ 6 h 11"/>
                  <a:gd name="T4" fmla="*/ 7 w 9"/>
                  <a:gd name="T5" fmla="*/ 2 h 11"/>
                  <a:gd name="T6" fmla="*/ 5 w 9"/>
                  <a:gd name="T7" fmla="*/ 0 h 11"/>
                  <a:gd name="T8" fmla="*/ 3 w 9"/>
                  <a:gd name="T9" fmla="*/ 0 h 11"/>
                  <a:gd name="T10" fmla="*/ 0 w 9"/>
                  <a:gd name="T11" fmla="*/ 2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11">
                    <a:moveTo>
                      <a:pt x="9" y="11"/>
                    </a:moveTo>
                    <a:lnTo>
                      <a:pt x="9" y="6"/>
                    </a:lnTo>
                    <a:lnTo>
                      <a:pt x="7" y="2"/>
                    </a:lnTo>
                    <a:lnTo>
                      <a:pt x="5" y="0"/>
                    </a:lnTo>
                    <a:lnTo>
                      <a:pt x="3"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37" name="Line 1644"/>
              <p:cNvSpPr>
                <a:spLocks noChangeShapeType="1"/>
              </p:cNvSpPr>
              <p:nvPr userDrawn="1"/>
            </p:nvSpPr>
            <p:spPr bwMode="gray">
              <a:xfrm>
                <a:off x="3097" y="819"/>
                <a:ext cx="210" cy="6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38" name="Line 1645"/>
              <p:cNvSpPr>
                <a:spLocks noChangeShapeType="1"/>
              </p:cNvSpPr>
              <p:nvPr userDrawn="1"/>
            </p:nvSpPr>
            <p:spPr bwMode="gray">
              <a:xfrm>
                <a:off x="3104" y="827"/>
                <a:ext cx="205" cy="6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39" name="Freeform 1646"/>
              <p:cNvSpPr>
                <a:spLocks/>
              </p:cNvSpPr>
              <p:nvPr userDrawn="1"/>
            </p:nvSpPr>
            <p:spPr bwMode="gray">
              <a:xfrm>
                <a:off x="3300" y="880"/>
                <a:ext cx="9" cy="10"/>
              </a:xfrm>
              <a:custGeom>
                <a:avLst/>
                <a:gdLst>
                  <a:gd name="T0" fmla="*/ 9 w 9"/>
                  <a:gd name="T1" fmla="*/ 10 h 10"/>
                  <a:gd name="T2" fmla="*/ 9 w 9"/>
                  <a:gd name="T3" fmla="*/ 7 h 10"/>
                  <a:gd name="T4" fmla="*/ 9 w 9"/>
                  <a:gd name="T5" fmla="*/ 3 h 10"/>
                  <a:gd name="T6" fmla="*/ 7 w 9"/>
                  <a:gd name="T7" fmla="*/ 2 h 10"/>
                  <a:gd name="T8" fmla="*/ 5 w 9"/>
                  <a:gd name="T9" fmla="*/ 0 h 10"/>
                  <a:gd name="T10" fmla="*/ 3 w 9"/>
                  <a:gd name="T11" fmla="*/ 0 h 10"/>
                  <a:gd name="T12" fmla="*/ 0 w 9"/>
                  <a:gd name="T13" fmla="*/ 2 h 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 h="10">
                    <a:moveTo>
                      <a:pt x="9" y="10"/>
                    </a:moveTo>
                    <a:lnTo>
                      <a:pt x="9" y="7"/>
                    </a:lnTo>
                    <a:lnTo>
                      <a:pt x="9" y="3"/>
                    </a:lnTo>
                    <a:lnTo>
                      <a:pt x="7" y="2"/>
                    </a:lnTo>
                    <a:lnTo>
                      <a:pt x="5" y="0"/>
                    </a:lnTo>
                    <a:lnTo>
                      <a:pt x="3"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40" name="Line 1647"/>
              <p:cNvSpPr>
                <a:spLocks noChangeShapeType="1"/>
              </p:cNvSpPr>
              <p:nvPr userDrawn="1"/>
            </p:nvSpPr>
            <p:spPr bwMode="gray">
              <a:xfrm flipH="1" flipV="1">
                <a:off x="3085" y="815"/>
                <a:ext cx="215"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41" name="Freeform 1648"/>
              <p:cNvSpPr>
                <a:spLocks/>
              </p:cNvSpPr>
              <p:nvPr userDrawn="1"/>
            </p:nvSpPr>
            <p:spPr bwMode="gray">
              <a:xfrm>
                <a:off x="3307" y="1008"/>
                <a:ext cx="4" cy="7"/>
              </a:xfrm>
              <a:custGeom>
                <a:avLst/>
                <a:gdLst>
                  <a:gd name="T0" fmla="*/ 0 w 5"/>
                  <a:gd name="T1" fmla="*/ 0 h 7"/>
                  <a:gd name="T2" fmla="*/ 2 w 5"/>
                  <a:gd name="T3" fmla="*/ 0 h 7"/>
                  <a:gd name="T4" fmla="*/ 3 w 5"/>
                  <a:gd name="T5" fmla="*/ 1 h 7"/>
                  <a:gd name="T6" fmla="*/ 5 w 5"/>
                  <a:gd name="T7" fmla="*/ 3 h 7"/>
                  <a:gd name="T8" fmla="*/ 3 w 5"/>
                  <a:gd name="T9" fmla="*/ 5 h 7"/>
                  <a:gd name="T10" fmla="*/ 2 w 5"/>
                  <a:gd name="T11" fmla="*/ 7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7">
                    <a:moveTo>
                      <a:pt x="0" y="0"/>
                    </a:moveTo>
                    <a:lnTo>
                      <a:pt x="2" y="0"/>
                    </a:lnTo>
                    <a:lnTo>
                      <a:pt x="3" y="1"/>
                    </a:lnTo>
                    <a:lnTo>
                      <a:pt x="5" y="3"/>
                    </a:lnTo>
                    <a:lnTo>
                      <a:pt x="3" y="5"/>
                    </a:lnTo>
                    <a:lnTo>
                      <a:pt x="2"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42" name="Line 1649"/>
              <p:cNvSpPr>
                <a:spLocks noChangeShapeType="1"/>
              </p:cNvSpPr>
              <p:nvPr userDrawn="1"/>
            </p:nvSpPr>
            <p:spPr bwMode="gray">
              <a:xfrm flipH="1">
                <a:off x="3309" y="894"/>
                <a:ext cx="5" cy="2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43" name="Line 1650"/>
              <p:cNvSpPr>
                <a:spLocks noChangeShapeType="1"/>
              </p:cNvSpPr>
              <p:nvPr userDrawn="1"/>
            </p:nvSpPr>
            <p:spPr bwMode="gray">
              <a:xfrm flipH="1">
                <a:off x="3303" y="890"/>
                <a:ext cx="6" cy="23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44" name="Freeform 1651"/>
              <p:cNvSpPr>
                <a:spLocks/>
              </p:cNvSpPr>
              <p:nvPr userDrawn="1"/>
            </p:nvSpPr>
            <p:spPr bwMode="gray">
              <a:xfrm>
                <a:off x="3303" y="1123"/>
                <a:ext cx="6" cy="9"/>
              </a:xfrm>
              <a:custGeom>
                <a:avLst/>
                <a:gdLst>
                  <a:gd name="T0" fmla="*/ 0 w 6"/>
                  <a:gd name="T1" fmla="*/ 0 h 9"/>
                  <a:gd name="T2" fmla="*/ 4 w 6"/>
                  <a:gd name="T3" fmla="*/ 2 h 9"/>
                  <a:gd name="T4" fmla="*/ 6 w 6"/>
                  <a:gd name="T5" fmla="*/ 3 h 9"/>
                  <a:gd name="T6" fmla="*/ 6 w 6"/>
                  <a:gd name="T7" fmla="*/ 5 h 9"/>
                  <a:gd name="T8" fmla="*/ 6 w 6"/>
                  <a:gd name="T9" fmla="*/ 7 h 9"/>
                  <a:gd name="T10" fmla="*/ 4 w 6"/>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 h="9">
                    <a:moveTo>
                      <a:pt x="0" y="0"/>
                    </a:moveTo>
                    <a:lnTo>
                      <a:pt x="4" y="2"/>
                    </a:lnTo>
                    <a:lnTo>
                      <a:pt x="6" y="3"/>
                    </a:lnTo>
                    <a:lnTo>
                      <a:pt x="6" y="5"/>
                    </a:lnTo>
                    <a:lnTo>
                      <a:pt x="6" y="7"/>
                    </a:lnTo>
                    <a:lnTo>
                      <a:pt x="4"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45" name="Line 1652"/>
              <p:cNvSpPr>
                <a:spLocks noChangeShapeType="1"/>
              </p:cNvSpPr>
              <p:nvPr userDrawn="1"/>
            </p:nvSpPr>
            <p:spPr bwMode="gray">
              <a:xfrm flipV="1">
                <a:off x="3307" y="897"/>
                <a:ext cx="4" cy="23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46" name="Freeform 1653"/>
              <p:cNvSpPr>
                <a:spLocks/>
              </p:cNvSpPr>
              <p:nvPr userDrawn="1"/>
            </p:nvSpPr>
            <p:spPr bwMode="gray">
              <a:xfrm>
                <a:off x="3309" y="890"/>
                <a:ext cx="5" cy="7"/>
              </a:xfrm>
              <a:custGeom>
                <a:avLst/>
                <a:gdLst>
                  <a:gd name="T0" fmla="*/ 3 w 5"/>
                  <a:gd name="T1" fmla="*/ 7 h 7"/>
                  <a:gd name="T2" fmla="*/ 5 w 5"/>
                  <a:gd name="T3" fmla="*/ 6 h 7"/>
                  <a:gd name="T4" fmla="*/ 5 w 5"/>
                  <a:gd name="T5" fmla="*/ 4 h 7"/>
                  <a:gd name="T6" fmla="*/ 3 w 5"/>
                  <a:gd name="T7" fmla="*/ 2 h 7"/>
                  <a:gd name="T8" fmla="*/ 1 w 5"/>
                  <a:gd name="T9" fmla="*/ 0 h 7"/>
                  <a:gd name="T10" fmla="*/ 0 w 5"/>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7">
                    <a:moveTo>
                      <a:pt x="3" y="7"/>
                    </a:moveTo>
                    <a:lnTo>
                      <a:pt x="5" y="6"/>
                    </a:lnTo>
                    <a:lnTo>
                      <a:pt x="5" y="4"/>
                    </a:lnTo>
                    <a:lnTo>
                      <a:pt x="3" y="2"/>
                    </a:lnTo>
                    <a:lnTo>
                      <a:pt x="1" y="0"/>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47" name="Freeform 1654"/>
              <p:cNvSpPr>
                <a:spLocks/>
              </p:cNvSpPr>
              <p:nvPr userDrawn="1"/>
            </p:nvSpPr>
            <p:spPr bwMode="gray">
              <a:xfrm>
                <a:off x="3295" y="1123"/>
                <a:ext cx="8" cy="17"/>
              </a:xfrm>
              <a:custGeom>
                <a:avLst/>
                <a:gdLst>
                  <a:gd name="T0" fmla="*/ 8 w 8"/>
                  <a:gd name="T1" fmla="*/ 0 h 17"/>
                  <a:gd name="T2" fmla="*/ 8 w 8"/>
                  <a:gd name="T3" fmla="*/ 5 h 17"/>
                  <a:gd name="T4" fmla="*/ 7 w 8"/>
                  <a:gd name="T5" fmla="*/ 9 h 17"/>
                  <a:gd name="T6" fmla="*/ 3 w 8"/>
                  <a:gd name="T7" fmla="*/ 14 h 17"/>
                  <a:gd name="T8" fmla="*/ 0 w 8"/>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7">
                    <a:moveTo>
                      <a:pt x="8" y="0"/>
                    </a:moveTo>
                    <a:lnTo>
                      <a:pt x="8" y="5"/>
                    </a:lnTo>
                    <a:lnTo>
                      <a:pt x="7" y="9"/>
                    </a:lnTo>
                    <a:lnTo>
                      <a:pt x="3" y="14"/>
                    </a:lnTo>
                    <a:lnTo>
                      <a:pt x="0" y="1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48" name="Freeform 1655"/>
              <p:cNvSpPr>
                <a:spLocks/>
              </p:cNvSpPr>
              <p:nvPr userDrawn="1"/>
            </p:nvSpPr>
            <p:spPr bwMode="gray">
              <a:xfrm>
                <a:off x="2571" y="724"/>
                <a:ext cx="10" cy="9"/>
              </a:xfrm>
              <a:custGeom>
                <a:avLst/>
                <a:gdLst>
                  <a:gd name="T0" fmla="*/ 0 w 10"/>
                  <a:gd name="T1" fmla="*/ 9 h 9"/>
                  <a:gd name="T2" fmla="*/ 0 w 10"/>
                  <a:gd name="T3" fmla="*/ 5 h 9"/>
                  <a:gd name="T4" fmla="*/ 3 w 10"/>
                  <a:gd name="T5" fmla="*/ 2 h 9"/>
                  <a:gd name="T6" fmla="*/ 5 w 10"/>
                  <a:gd name="T7" fmla="*/ 0 h 9"/>
                  <a:gd name="T8" fmla="*/ 7 w 10"/>
                  <a:gd name="T9" fmla="*/ 0 h 9"/>
                  <a:gd name="T10" fmla="*/ 10 w 10"/>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0" y="9"/>
                    </a:moveTo>
                    <a:lnTo>
                      <a:pt x="0" y="5"/>
                    </a:lnTo>
                    <a:lnTo>
                      <a:pt x="3" y="2"/>
                    </a:lnTo>
                    <a:lnTo>
                      <a:pt x="5" y="0"/>
                    </a:lnTo>
                    <a:lnTo>
                      <a:pt x="7" y="0"/>
                    </a:lnTo>
                    <a:lnTo>
                      <a:pt x="1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49" name="Line 1656"/>
              <p:cNvSpPr>
                <a:spLocks noChangeShapeType="1"/>
              </p:cNvSpPr>
              <p:nvPr userDrawn="1"/>
            </p:nvSpPr>
            <p:spPr bwMode="gray">
              <a:xfrm flipV="1">
                <a:off x="2494" y="689"/>
                <a:ext cx="157"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50" name="Line 1657"/>
              <p:cNvSpPr>
                <a:spLocks noChangeShapeType="1"/>
              </p:cNvSpPr>
              <p:nvPr userDrawn="1"/>
            </p:nvSpPr>
            <p:spPr bwMode="gray">
              <a:xfrm flipV="1">
                <a:off x="2492" y="696"/>
                <a:ext cx="157" cy="7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51" name="Freeform 1658"/>
              <p:cNvSpPr>
                <a:spLocks/>
              </p:cNvSpPr>
              <p:nvPr userDrawn="1"/>
            </p:nvSpPr>
            <p:spPr bwMode="gray">
              <a:xfrm>
                <a:off x="2649" y="687"/>
                <a:ext cx="11" cy="9"/>
              </a:xfrm>
              <a:custGeom>
                <a:avLst/>
                <a:gdLst>
                  <a:gd name="T0" fmla="*/ 0 w 11"/>
                  <a:gd name="T1" fmla="*/ 9 h 9"/>
                  <a:gd name="T2" fmla="*/ 0 w 11"/>
                  <a:gd name="T3" fmla="*/ 6 h 9"/>
                  <a:gd name="T4" fmla="*/ 2 w 11"/>
                  <a:gd name="T5" fmla="*/ 4 h 9"/>
                  <a:gd name="T6" fmla="*/ 4 w 11"/>
                  <a:gd name="T7" fmla="*/ 0 h 9"/>
                  <a:gd name="T8" fmla="*/ 7 w 11"/>
                  <a:gd name="T9" fmla="*/ 0 h 9"/>
                  <a:gd name="T10" fmla="*/ 11 w 11"/>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9">
                    <a:moveTo>
                      <a:pt x="0" y="9"/>
                    </a:moveTo>
                    <a:lnTo>
                      <a:pt x="0" y="6"/>
                    </a:lnTo>
                    <a:lnTo>
                      <a:pt x="2" y="4"/>
                    </a:lnTo>
                    <a:lnTo>
                      <a:pt x="4" y="0"/>
                    </a:lnTo>
                    <a:lnTo>
                      <a:pt x="7" y="0"/>
                    </a:lnTo>
                    <a:lnTo>
                      <a:pt x="1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52" name="Line 1659"/>
              <p:cNvSpPr>
                <a:spLocks noChangeShapeType="1"/>
              </p:cNvSpPr>
              <p:nvPr userDrawn="1"/>
            </p:nvSpPr>
            <p:spPr bwMode="gray">
              <a:xfrm flipH="1">
                <a:off x="2503" y="687"/>
                <a:ext cx="157"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53" name="Freeform 1660"/>
              <p:cNvSpPr>
                <a:spLocks/>
              </p:cNvSpPr>
              <p:nvPr userDrawn="1"/>
            </p:nvSpPr>
            <p:spPr bwMode="gray">
              <a:xfrm>
                <a:off x="2492" y="761"/>
                <a:ext cx="11" cy="13"/>
              </a:xfrm>
              <a:custGeom>
                <a:avLst/>
                <a:gdLst>
                  <a:gd name="T0" fmla="*/ 11 w 11"/>
                  <a:gd name="T1" fmla="*/ 0 h 10"/>
                  <a:gd name="T2" fmla="*/ 7 w 11"/>
                  <a:gd name="T3" fmla="*/ 0 h 10"/>
                  <a:gd name="T4" fmla="*/ 4 w 11"/>
                  <a:gd name="T5" fmla="*/ 2 h 10"/>
                  <a:gd name="T6" fmla="*/ 2 w 11"/>
                  <a:gd name="T7" fmla="*/ 3 h 10"/>
                  <a:gd name="T8" fmla="*/ 0 w 11"/>
                  <a:gd name="T9" fmla="*/ 7 h 10"/>
                  <a:gd name="T10" fmla="*/ 0 w 11"/>
                  <a:gd name="T11" fmla="*/ 10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10">
                    <a:moveTo>
                      <a:pt x="11" y="0"/>
                    </a:moveTo>
                    <a:lnTo>
                      <a:pt x="7" y="0"/>
                    </a:lnTo>
                    <a:lnTo>
                      <a:pt x="4" y="2"/>
                    </a:lnTo>
                    <a:lnTo>
                      <a:pt x="2" y="3"/>
                    </a:lnTo>
                    <a:lnTo>
                      <a:pt x="0" y="7"/>
                    </a:lnTo>
                    <a:lnTo>
                      <a:pt x="0" y="1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54" name="Freeform 1661"/>
              <p:cNvSpPr>
                <a:spLocks/>
              </p:cNvSpPr>
              <p:nvPr userDrawn="1"/>
            </p:nvSpPr>
            <p:spPr bwMode="gray">
              <a:xfrm>
                <a:off x="3225" y="920"/>
                <a:ext cx="10" cy="18"/>
              </a:xfrm>
              <a:custGeom>
                <a:avLst/>
                <a:gdLst>
                  <a:gd name="T0" fmla="*/ 0 w 10"/>
                  <a:gd name="T1" fmla="*/ 0 h 18"/>
                  <a:gd name="T2" fmla="*/ 3 w 10"/>
                  <a:gd name="T3" fmla="*/ 4 h 18"/>
                  <a:gd name="T4" fmla="*/ 7 w 10"/>
                  <a:gd name="T5" fmla="*/ 7 h 18"/>
                  <a:gd name="T6" fmla="*/ 10 w 10"/>
                  <a:gd name="T7" fmla="*/ 12 h 18"/>
                  <a:gd name="T8" fmla="*/ 10 w 10"/>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8">
                    <a:moveTo>
                      <a:pt x="0" y="0"/>
                    </a:moveTo>
                    <a:lnTo>
                      <a:pt x="3" y="4"/>
                    </a:lnTo>
                    <a:lnTo>
                      <a:pt x="7" y="7"/>
                    </a:lnTo>
                    <a:lnTo>
                      <a:pt x="10" y="12"/>
                    </a:lnTo>
                    <a:lnTo>
                      <a:pt x="10" y="1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55" name="Line 1662"/>
              <p:cNvSpPr>
                <a:spLocks noChangeShapeType="1"/>
              </p:cNvSpPr>
              <p:nvPr userDrawn="1"/>
            </p:nvSpPr>
            <p:spPr bwMode="gray">
              <a:xfrm flipV="1">
                <a:off x="3155" y="887"/>
                <a:ext cx="154" cy="8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56" name="Line 1663"/>
              <p:cNvSpPr>
                <a:spLocks noChangeShapeType="1"/>
              </p:cNvSpPr>
              <p:nvPr userDrawn="1"/>
            </p:nvSpPr>
            <p:spPr bwMode="gray">
              <a:xfrm flipV="1">
                <a:off x="3146" y="882"/>
                <a:ext cx="154" cy="7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57" name="Freeform 1664"/>
              <p:cNvSpPr>
                <a:spLocks/>
              </p:cNvSpPr>
              <p:nvPr userDrawn="1"/>
            </p:nvSpPr>
            <p:spPr bwMode="gray">
              <a:xfrm>
                <a:off x="3300" y="882"/>
                <a:ext cx="12" cy="15"/>
              </a:xfrm>
              <a:custGeom>
                <a:avLst/>
                <a:gdLst>
                  <a:gd name="T0" fmla="*/ 0 w 12"/>
                  <a:gd name="T1" fmla="*/ 0 h 15"/>
                  <a:gd name="T2" fmla="*/ 5 w 12"/>
                  <a:gd name="T3" fmla="*/ 1 h 15"/>
                  <a:gd name="T4" fmla="*/ 9 w 12"/>
                  <a:gd name="T5" fmla="*/ 5 h 15"/>
                  <a:gd name="T6" fmla="*/ 10 w 12"/>
                  <a:gd name="T7" fmla="*/ 10 h 15"/>
                  <a:gd name="T8" fmla="*/ 12 w 12"/>
                  <a:gd name="T9" fmla="*/ 15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5">
                    <a:moveTo>
                      <a:pt x="0" y="0"/>
                    </a:moveTo>
                    <a:lnTo>
                      <a:pt x="5" y="1"/>
                    </a:lnTo>
                    <a:lnTo>
                      <a:pt x="9" y="5"/>
                    </a:lnTo>
                    <a:lnTo>
                      <a:pt x="10" y="10"/>
                    </a:lnTo>
                    <a:lnTo>
                      <a:pt x="12" y="15"/>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58" name="Line 1665"/>
              <p:cNvSpPr>
                <a:spLocks noChangeShapeType="1"/>
              </p:cNvSpPr>
              <p:nvPr userDrawn="1"/>
            </p:nvSpPr>
            <p:spPr bwMode="gray">
              <a:xfrm flipH="1">
                <a:off x="3158" y="897"/>
                <a:ext cx="152" cy="8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59" name="Freeform 1666"/>
              <p:cNvSpPr>
                <a:spLocks/>
              </p:cNvSpPr>
              <p:nvPr userDrawn="1"/>
            </p:nvSpPr>
            <p:spPr bwMode="gray">
              <a:xfrm>
                <a:off x="3146" y="960"/>
                <a:ext cx="13" cy="18"/>
              </a:xfrm>
              <a:custGeom>
                <a:avLst/>
                <a:gdLst>
                  <a:gd name="T0" fmla="*/ 12 w 12"/>
                  <a:gd name="T1" fmla="*/ 18 h 18"/>
                  <a:gd name="T2" fmla="*/ 11 w 12"/>
                  <a:gd name="T3" fmla="*/ 13 h 18"/>
                  <a:gd name="T4" fmla="*/ 9 w 12"/>
                  <a:gd name="T5" fmla="*/ 7 h 18"/>
                  <a:gd name="T6" fmla="*/ 5 w 12"/>
                  <a:gd name="T7" fmla="*/ 4 h 18"/>
                  <a:gd name="T8" fmla="*/ 0 w 12"/>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8">
                    <a:moveTo>
                      <a:pt x="12" y="18"/>
                    </a:moveTo>
                    <a:lnTo>
                      <a:pt x="11" y="13"/>
                    </a:lnTo>
                    <a:lnTo>
                      <a:pt x="9" y="7"/>
                    </a:lnTo>
                    <a:lnTo>
                      <a:pt x="5"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60" name="Freeform 1667"/>
              <p:cNvSpPr>
                <a:spLocks/>
              </p:cNvSpPr>
              <p:nvPr userDrawn="1"/>
            </p:nvSpPr>
            <p:spPr bwMode="gray">
              <a:xfrm>
                <a:off x="2119" y="1513"/>
                <a:ext cx="11" cy="16"/>
              </a:xfrm>
              <a:custGeom>
                <a:avLst/>
                <a:gdLst>
                  <a:gd name="T0" fmla="*/ 11 w 11"/>
                  <a:gd name="T1" fmla="*/ 16 h 16"/>
                  <a:gd name="T2" fmla="*/ 7 w 11"/>
                  <a:gd name="T3" fmla="*/ 14 h 16"/>
                  <a:gd name="T4" fmla="*/ 4 w 11"/>
                  <a:gd name="T5" fmla="*/ 10 h 16"/>
                  <a:gd name="T6" fmla="*/ 2 w 11"/>
                  <a:gd name="T7" fmla="*/ 5 h 16"/>
                  <a:gd name="T8" fmla="*/ 0 w 11"/>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11" y="16"/>
                    </a:moveTo>
                    <a:lnTo>
                      <a:pt x="7" y="14"/>
                    </a:lnTo>
                    <a:lnTo>
                      <a:pt x="4" y="10"/>
                    </a:lnTo>
                    <a:lnTo>
                      <a:pt x="2"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61" name="Line 1668"/>
              <p:cNvSpPr>
                <a:spLocks noChangeShapeType="1"/>
              </p:cNvSpPr>
              <p:nvPr userDrawn="1"/>
            </p:nvSpPr>
            <p:spPr bwMode="gray">
              <a:xfrm>
                <a:off x="2123" y="1529"/>
                <a:ext cx="14" cy="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62" name="Line 1669"/>
              <p:cNvSpPr>
                <a:spLocks noChangeShapeType="1"/>
              </p:cNvSpPr>
              <p:nvPr userDrawn="1"/>
            </p:nvSpPr>
            <p:spPr bwMode="gray">
              <a:xfrm>
                <a:off x="2130" y="1529"/>
                <a:ext cx="7" cy="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63" name="Line 1670"/>
              <p:cNvSpPr>
                <a:spLocks noChangeShapeType="1"/>
              </p:cNvSpPr>
              <p:nvPr userDrawn="1"/>
            </p:nvSpPr>
            <p:spPr bwMode="gray">
              <a:xfrm flipH="1" flipV="1">
                <a:off x="2121" y="1522"/>
                <a:ext cx="16" cy="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64" name="Freeform 1671"/>
              <p:cNvSpPr>
                <a:spLocks/>
              </p:cNvSpPr>
              <p:nvPr userDrawn="1"/>
            </p:nvSpPr>
            <p:spPr bwMode="gray">
              <a:xfrm>
                <a:off x="2121" y="1522"/>
                <a:ext cx="9" cy="8"/>
              </a:xfrm>
              <a:custGeom>
                <a:avLst/>
                <a:gdLst>
                  <a:gd name="T0" fmla="*/ 0 w 9"/>
                  <a:gd name="T1" fmla="*/ 0 h 8"/>
                  <a:gd name="T2" fmla="*/ 0 w 9"/>
                  <a:gd name="T3" fmla="*/ 3 h 8"/>
                  <a:gd name="T4" fmla="*/ 2 w 9"/>
                  <a:gd name="T5" fmla="*/ 7 h 8"/>
                  <a:gd name="T6" fmla="*/ 4 w 9"/>
                  <a:gd name="T7" fmla="*/ 8 h 8"/>
                  <a:gd name="T8" fmla="*/ 5 w 9"/>
                  <a:gd name="T9" fmla="*/ 8 h 8"/>
                  <a:gd name="T10" fmla="*/ 9 w 9"/>
                  <a:gd name="T11" fmla="*/ 7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8">
                    <a:moveTo>
                      <a:pt x="0" y="0"/>
                    </a:moveTo>
                    <a:lnTo>
                      <a:pt x="0" y="3"/>
                    </a:lnTo>
                    <a:lnTo>
                      <a:pt x="2" y="7"/>
                    </a:lnTo>
                    <a:lnTo>
                      <a:pt x="4" y="8"/>
                    </a:lnTo>
                    <a:lnTo>
                      <a:pt x="5" y="8"/>
                    </a:lnTo>
                    <a:lnTo>
                      <a:pt x="9"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65" name="Freeform 1672"/>
              <p:cNvSpPr>
                <a:spLocks/>
              </p:cNvSpPr>
              <p:nvPr userDrawn="1"/>
            </p:nvSpPr>
            <p:spPr bwMode="gray">
              <a:xfrm>
                <a:off x="2737" y="1363"/>
                <a:ext cx="7" cy="8"/>
              </a:xfrm>
              <a:custGeom>
                <a:avLst/>
                <a:gdLst>
                  <a:gd name="T0" fmla="*/ 0 w 7"/>
                  <a:gd name="T1" fmla="*/ 8 h 8"/>
                  <a:gd name="T2" fmla="*/ 3 w 7"/>
                  <a:gd name="T3" fmla="*/ 8 h 8"/>
                  <a:gd name="T4" fmla="*/ 5 w 7"/>
                  <a:gd name="T5" fmla="*/ 7 h 8"/>
                  <a:gd name="T6" fmla="*/ 7 w 7"/>
                  <a:gd name="T7" fmla="*/ 3 h 8"/>
                  <a:gd name="T8" fmla="*/ 7 w 7"/>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8">
                    <a:moveTo>
                      <a:pt x="0" y="8"/>
                    </a:moveTo>
                    <a:lnTo>
                      <a:pt x="3" y="8"/>
                    </a:lnTo>
                    <a:lnTo>
                      <a:pt x="5" y="7"/>
                    </a:lnTo>
                    <a:lnTo>
                      <a:pt x="7" y="3"/>
                    </a:lnTo>
                    <a:lnTo>
                      <a:pt x="7"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66" name="Line 1673"/>
              <p:cNvSpPr>
                <a:spLocks noChangeShapeType="1"/>
              </p:cNvSpPr>
              <p:nvPr userDrawn="1"/>
            </p:nvSpPr>
            <p:spPr bwMode="gray">
              <a:xfrm flipV="1">
                <a:off x="2739" y="1329"/>
                <a:ext cx="77" cy="4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67" name="Line 1674"/>
              <p:cNvSpPr>
                <a:spLocks noChangeShapeType="1"/>
              </p:cNvSpPr>
              <p:nvPr userDrawn="1"/>
            </p:nvSpPr>
            <p:spPr bwMode="gray">
              <a:xfrm flipV="1">
                <a:off x="2737" y="1331"/>
                <a:ext cx="70" cy="3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68" name="Freeform 1675"/>
              <p:cNvSpPr>
                <a:spLocks/>
              </p:cNvSpPr>
              <p:nvPr userDrawn="1"/>
            </p:nvSpPr>
            <p:spPr bwMode="gray">
              <a:xfrm>
                <a:off x="2807" y="1322"/>
                <a:ext cx="10" cy="9"/>
              </a:xfrm>
              <a:custGeom>
                <a:avLst/>
                <a:gdLst>
                  <a:gd name="T0" fmla="*/ 0 w 10"/>
                  <a:gd name="T1" fmla="*/ 9 h 9"/>
                  <a:gd name="T2" fmla="*/ 5 w 10"/>
                  <a:gd name="T3" fmla="*/ 9 h 9"/>
                  <a:gd name="T4" fmla="*/ 7 w 10"/>
                  <a:gd name="T5" fmla="*/ 9 h 9"/>
                  <a:gd name="T6" fmla="*/ 9 w 10"/>
                  <a:gd name="T7" fmla="*/ 7 h 9"/>
                  <a:gd name="T8" fmla="*/ 10 w 10"/>
                  <a:gd name="T9" fmla="*/ 4 h 9"/>
                  <a:gd name="T10" fmla="*/ 10 w 10"/>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 h="9">
                    <a:moveTo>
                      <a:pt x="0" y="9"/>
                    </a:moveTo>
                    <a:lnTo>
                      <a:pt x="5" y="9"/>
                    </a:lnTo>
                    <a:lnTo>
                      <a:pt x="7" y="9"/>
                    </a:lnTo>
                    <a:lnTo>
                      <a:pt x="9" y="7"/>
                    </a:lnTo>
                    <a:lnTo>
                      <a:pt x="10" y="4"/>
                    </a:lnTo>
                    <a:lnTo>
                      <a:pt x="1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69" name="Line 1676"/>
              <p:cNvSpPr>
                <a:spLocks noChangeShapeType="1"/>
              </p:cNvSpPr>
              <p:nvPr userDrawn="1"/>
            </p:nvSpPr>
            <p:spPr bwMode="gray">
              <a:xfrm flipH="1">
                <a:off x="2737" y="1322"/>
                <a:ext cx="80" cy="4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70" name="Freeform 1677"/>
              <p:cNvSpPr>
                <a:spLocks/>
              </p:cNvSpPr>
              <p:nvPr userDrawn="1"/>
            </p:nvSpPr>
            <p:spPr bwMode="gray">
              <a:xfrm>
                <a:off x="2807" y="1315"/>
                <a:ext cx="9" cy="16"/>
              </a:xfrm>
              <a:custGeom>
                <a:avLst/>
                <a:gdLst>
                  <a:gd name="T0" fmla="*/ 0 w 9"/>
                  <a:gd name="T1" fmla="*/ 16 h 16"/>
                  <a:gd name="T2" fmla="*/ 3 w 9"/>
                  <a:gd name="T3" fmla="*/ 13 h 16"/>
                  <a:gd name="T4" fmla="*/ 7 w 9"/>
                  <a:gd name="T5" fmla="*/ 9 h 16"/>
                  <a:gd name="T6" fmla="*/ 9 w 9"/>
                  <a:gd name="T7" fmla="*/ 4 h 16"/>
                  <a:gd name="T8" fmla="*/ 9 w 9"/>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6">
                    <a:moveTo>
                      <a:pt x="0" y="16"/>
                    </a:moveTo>
                    <a:lnTo>
                      <a:pt x="3" y="13"/>
                    </a:lnTo>
                    <a:lnTo>
                      <a:pt x="7" y="9"/>
                    </a:lnTo>
                    <a:lnTo>
                      <a:pt x="9" y="4"/>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71" name="Freeform 1678"/>
              <p:cNvSpPr>
                <a:spLocks/>
              </p:cNvSpPr>
              <p:nvPr userDrawn="1"/>
            </p:nvSpPr>
            <p:spPr bwMode="gray">
              <a:xfrm>
                <a:off x="2195" y="1244"/>
                <a:ext cx="8" cy="8"/>
              </a:xfrm>
              <a:custGeom>
                <a:avLst/>
                <a:gdLst>
                  <a:gd name="T0" fmla="*/ 8 w 8"/>
                  <a:gd name="T1" fmla="*/ 0 h 8"/>
                  <a:gd name="T2" fmla="*/ 5 w 8"/>
                  <a:gd name="T3" fmla="*/ 0 h 8"/>
                  <a:gd name="T4" fmla="*/ 1 w 8"/>
                  <a:gd name="T5" fmla="*/ 1 h 8"/>
                  <a:gd name="T6" fmla="*/ 0 w 8"/>
                  <a:gd name="T7" fmla="*/ 5 h 8"/>
                  <a:gd name="T8" fmla="*/ 0 w 8"/>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8">
                    <a:moveTo>
                      <a:pt x="8" y="0"/>
                    </a:moveTo>
                    <a:lnTo>
                      <a:pt x="5" y="0"/>
                    </a:lnTo>
                    <a:lnTo>
                      <a:pt x="1" y="1"/>
                    </a:lnTo>
                    <a:lnTo>
                      <a:pt x="0" y="5"/>
                    </a:lnTo>
                    <a:lnTo>
                      <a:pt x="0"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72" name="Line 1679"/>
              <p:cNvSpPr>
                <a:spLocks noChangeShapeType="1"/>
              </p:cNvSpPr>
              <p:nvPr userDrawn="1"/>
            </p:nvSpPr>
            <p:spPr bwMode="gray">
              <a:xfrm flipH="1">
                <a:off x="2116" y="1203"/>
                <a:ext cx="161" cy="8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73" name="Line 1680"/>
              <p:cNvSpPr>
                <a:spLocks noChangeShapeType="1"/>
              </p:cNvSpPr>
              <p:nvPr userDrawn="1"/>
            </p:nvSpPr>
            <p:spPr bwMode="gray">
              <a:xfrm flipH="1">
                <a:off x="2123" y="1203"/>
                <a:ext cx="161" cy="8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74" name="Freeform 1681"/>
              <p:cNvSpPr>
                <a:spLocks/>
              </p:cNvSpPr>
              <p:nvPr userDrawn="1"/>
            </p:nvSpPr>
            <p:spPr bwMode="gray">
              <a:xfrm>
                <a:off x="2112" y="1284"/>
                <a:ext cx="11" cy="9"/>
              </a:xfrm>
              <a:custGeom>
                <a:avLst/>
                <a:gdLst>
                  <a:gd name="T0" fmla="*/ 11 w 11"/>
                  <a:gd name="T1" fmla="*/ 0 h 9"/>
                  <a:gd name="T2" fmla="*/ 7 w 11"/>
                  <a:gd name="T3" fmla="*/ 0 h 9"/>
                  <a:gd name="T4" fmla="*/ 4 w 11"/>
                  <a:gd name="T5" fmla="*/ 0 h 9"/>
                  <a:gd name="T6" fmla="*/ 2 w 11"/>
                  <a:gd name="T7" fmla="*/ 2 h 9"/>
                  <a:gd name="T8" fmla="*/ 2 w 11"/>
                  <a:gd name="T9" fmla="*/ 5 h 9"/>
                  <a:gd name="T10" fmla="*/ 0 w 11"/>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 h="9">
                    <a:moveTo>
                      <a:pt x="11" y="0"/>
                    </a:moveTo>
                    <a:lnTo>
                      <a:pt x="7" y="0"/>
                    </a:lnTo>
                    <a:lnTo>
                      <a:pt x="4" y="0"/>
                    </a:lnTo>
                    <a:lnTo>
                      <a:pt x="2" y="2"/>
                    </a:lnTo>
                    <a:lnTo>
                      <a:pt x="2" y="5"/>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75" name="Line 1682"/>
              <p:cNvSpPr>
                <a:spLocks noChangeShapeType="1"/>
              </p:cNvSpPr>
              <p:nvPr userDrawn="1"/>
            </p:nvSpPr>
            <p:spPr bwMode="gray">
              <a:xfrm flipV="1">
                <a:off x="2112" y="1209"/>
                <a:ext cx="170" cy="8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76" name="Freeform 1683"/>
              <p:cNvSpPr>
                <a:spLocks/>
              </p:cNvSpPr>
              <p:nvPr userDrawn="1"/>
            </p:nvSpPr>
            <p:spPr bwMode="gray">
              <a:xfrm>
                <a:off x="2280" y="1203"/>
                <a:ext cx="4" cy="6"/>
              </a:xfrm>
              <a:custGeom>
                <a:avLst/>
                <a:gdLst>
                  <a:gd name="T0" fmla="*/ 4 w 4"/>
                  <a:gd name="T1" fmla="*/ 0 h 6"/>
                  <a:gd name="T2" fmla="*/ 2 w 4"/>
                  <a:gd name="T3" fmla="*/ 0 h 6"/>
                  <a:gd name="T4" fmla="*/ 0 w 4"/>
                  <a:gd name="T5" fmla="*/ 0 h 6"/>
                  <a:gd name="T6" fmla="*/ 0 w 4"/>
                  <a:gd name="T7" fmla="*/ 0 h 6"/>
                  <a:gd name="T8" fmla="*/ 2 w 4"/>
                  <a:gd name="T9" fmla="*/ 2 h 6"/>
                  <a:gd name="T10" fmla="*/ 2 w 4"/>
                  <a:gd name="T11" fmla="*/ 6 h 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 h="6">
                    <a:moveTo>
                      <a:pt x="4" y="0"/>
                    </a:moveTo>
                    <a:lnTo>
                      <a:pt x="2" y="0"/>
                    </a:lnTo>
                    <a:lnTo>
                      <a:pt x="0" y="0"/>
                    </a:lnTo>
                    <a:lnTo>
                      <a:pt x="2" y="2"/>
                    </a:lnTo>
                    <a:lnTo>
                      <a:pt x="2" y="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77" name="Freeform 1684"/>
              <p:cNvSpPr>
                <a:spLocks/>
              </p:cNvSpPr>
              <p:nvPr userDrawn="1"/>
            </p:nvSpPr>
            <p:spPr bwMode="gray">
              <a:xfrm>
                <a:off x="2207" y="1317"/>
                <a:ext cx="9" cy="16"/>
              </a:xfrm>
              <a:custGeom>
                <a:avLst/>
                <a:gdLst>
                  <a:gd name="T0" fmla="*/ 9 w 9"/>
                  <a:gd name="T1" fmla="*/ 0 h 16"/>
                  <a:gd name="T2" fmla="*/ 5 w 9"/>
                  <a:gd name="T3" fmla="*/ 2 h 16"/>
                  <a:gd name="T4" fmla="*/ 3 w 9"/>
                  <a:gd name="T5" fmla="*/ 7 h 16"/>
                  <a:gd name="T6" fmla="*/ 2 w 9"/>
                  <a:gd name="T7" fmla="*/ 11 h 16"/>
                  <a:gd name="T8" fmla="*/ 0 w 9"/>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6">
                    <a:moveTo>
                      <a:pt x="9" y="0"/>
                    </a:moveTo>
                    <a:lnTo>
                      <a:pt x="5" y="2"/>
                    </a:lnTo>
                    <a:lnTo>
                      <a:pt x="3" y="7"/>
                    </a:lnTo>
                    <a:lnTo>
                      <a:pt x="2" y="11"/>
                    </a:lnTo>
                    <a:lnTo>
                      <a:pt x="0"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78" name="Line 1685"/>
              <p:cNvSpPr>
                <a:spLocks noChangeShapeType="1"/>
              </p:cNvSpPr>
              <p:nvPr userDrawn="1"/>
            </p:nvSpPr>
            <p:spPr bwMode="gray">
              <a:xfrm>
                <a:off x="2118" y="1291"/>
                <a:ext cx="185" cy="66"/>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79" name="Line 1686"/>
              <p:cNvSpPr>
                <a:spLocks noChangeShapeType="1"/>
              </p:cNvSpPr>
              <p:nvPr userDrawn="1"/>
            </p:nvSpPr>
            <p:spPr bwMode="gray">
              <a:xfrm>
                <a:off x="2123" y="1284"/>
                <a:ext cx="187"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80" name="Freeform 1687"/>
              <p:cNvSpPr>
                <a:spLocks/>
              </p:cNvSpPr>
              <p:nvPr userDrawn="1"/>
            </p:nvSpPr>
            <p:spPr bwMode="gray">
              <a:xfrm>
                <a:off x="2301" y="1350"/>
                <a:ext cx="9" cy="16"/>
              </a:xfrm>
              <a:custGeom>
                <a:avLst/>
                <a:gdLst>
                  <a:gd name="T0" fmla="*/ 9 w 9"/>
                  <a:gd name="T1" fmla="*/ 0 h 16"/>
                  <a:gd name="T2" fmla="*/ 6 w 9"/>
                  <a:gd name="T3" fmla="*/ 2 h 16"/>
                  <a:gd name="T4" fmla="*/ 2 w 9"/>
                  <a:gd name="T5" fmla="*/ 7 h 16"/>
                  <a:gd name="T6" fmla="*/ 0 w 9"/>
                  <a:gd name="T7" fmla="*/ 13 h 16"/>
                  <a:gd name="T8" fmla="*/ 0 w 9"/>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6">
                    <a:moveTo>
                      <a:pt x="9" y="0"/>
                    </a:moveTo>
                    <a:lnTo>
                      <a:pt x="6" y="2"/>
                    </a:lnTo>
                    <a:lnTo>
                      <a:pt x="2" y="7"/>
                    </a:lnTo>
                    <a:lnTo>
                      <a:pt x="0" y="13"/>
                    </a:lnTo>
                    <a:lnTo>
                      <a:pt x="0"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81" name="Line 1688"/>
              <p:cNvSpPr>
                <a:spLocks noChangeShapeType="1"/>
              </p:cNvSpPr>
              <p:nvPr userDrawn="1"/>
            </p:nvSpPr>
            <p:spPr bwMode="gray">
              <a:xfrm flipH="1" flipV="1">
                <a:off x="2114" y="1301"/>
                <a:ext cx="187" cy="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82" name="Freeform 1689"/>
              <p:cNvSpPr>
                <a:spLocks/>
              </p:cNvSpPr>
              <p:nvPr userDrawn="1"/>
            </p:nvSpPr>
            <p:spPr bwMode="gray">
              <a:xfrm>
                <a:off x="2114" y="1284"/>
                <a:ext cx="9" cy="17"/>
              </a:xfrm>
              <a:custGeom>
                <a:avLst/>
                <a:gdLst>
                  <a:gd name="T0" fmla="*/ 0 w 9"/>
                  <a:gd name="T1" fmla="*/ 17 h 17"/>
                  <a:gd name="T2" fmla="*/ 0 w 9"/>
                  <a:gd name="T3" fmla="*/ 12 h 17"/>
                  <a:gd name="T4" fmla="*/ 2 w 9"/>
                  <a:gd name="T5" fmla="*/ 7 h 17"/>
                  <a:gd name="T6" fmla="*/ 5 w 9"/>
                  <a:gd name="T7" fmla="*/ 3 h 17"/>
                  <a:gd name="T8" fmla="*/ 9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7"/>
                    </a:moveTo>
                    <a:lnTo>
                      <a:pt x="0" y="12"/>
                    </a:lnTo>
                    <a:lnTo>
                      <a:pt x="2" y="7"/>
                    </a:lnTo>
                    <a:lnTo>
                      <a:pt x="5" y="3"/>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83" name="Line 1690"/>
              <p:cNvSpPr>
                <a:spLocks noChangeShapeType="1"/>
              </p:cNvSpPr>
              <p:nvPr userDrawn="1"/>
            </p:nvSpPr>
            <p:spPr bwMode="gray">
              <a:xfrm flipV="1">
                <a:off x="2317" y="1342"/>
                <a:ext cx="28" cy="1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84" name="Line 1691"/>
              <p:cNvSpPr>
                <a:spLocks noChangeShapeType="1"/>
              </p:cNvSpPr>
              <p:nvPr userDrawn="1"/>
            </p:nvSpPr>
            <p:spPr bwMode="gray">
              <a:xfrm flipV="1">
                <a:off x="2310" y="1331"/>
                <a:ext cx="35" cy="19"/>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85" name="Line 1692"/>
              <p:cNvSpPr>
                <a:spLocks noChangeShapeType="1"/>
              </p:cNvSpPr>
              <p:nvPr userDrawn="1"/>
            </p:nvSpPr>
            <p:spPr bwMode="gray">
              <a:xfrm flipH="1">
                <a:off x="2321" y="1354"/>
                <a:ext cx="24" cy="1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86" name="Freeform 1693"/>
              <p:cNvSpPr>
                <a:spLocks/>
              </p:cNvSpPr>
              <p:nvPr userDrawn="1"/>
            </p:nvSpPr>
            <p:spPr bwMode="gray">
              <a:xfrm>
                <a:off x="2310" y="1350"/>
                <a:ext cx="11" cy="16"/>
              </a:xfrm>
              <a:custGeom>
                <a:avLst/>
                <a:gdLst>
                  <a:gd name="T0" fmla="*/ 0 w 11"/>
                  <a:gd name="T1" fmla="*/ 0 h 16"/>
                  <a:gd name="T2" fmla="*/ 4 w 11"/>
                  <a:gd name="T3" fmla="*/ 2 h 16"/>
                  <a:gd name="T4" fmla="*/ 7 w 11"/>
                  <a:gd name="T5" fmla="*/ 6 h 16"/>
                  <a:gd name="T6" fmla="*/ 11 w 11"/>
                  <a:gd name="T7" fmla="*/ 11 h 16"/>
                  <a:gd name="T8" fmla="*/ 11 w 11"/>
                  <a:gd name="T9" fmla="*/ 16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6">
                    <a:moveTo>
                      <a:pt x="0" y="0"/>
                    </a:moveTo>
                    <a:lnTo>
                      <a:pt x="4" y="2"/>
                    </a:lnTo>
                    <a:lnTo>
                      <a:pt x="7" y="6"/>
                    </a:lnTo>
                    <a:lnTo>
                      <a:pt x="11" y="11"/>
                    </a:lnTo>
                    <a:lnTo>
                      <a:pt x="11"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87" name="Freeform 1694"/>
              <p:cNvSpPr>
                <a:spLocks/>
              </p:cNvSpPr>
              <p:nvPr userDrawn="1"/>
            </p:nvSpPr>
            <p:spPr bwMode="gray">
              <a:xfrm>
                <a:off x="2114" y="1403"/>
                <a:ext cx="4" cy="9"/>
              </a:xfrm>
              <a:custGeom>
                <a:avLst/>
                <a:gdLst>
                  <a:gd name="T0" fmla="*/ 2 w 4"/>
                  <a:gd name="T1" fmla="*/ 0 h 9"/>
                  <a:gd name="T2" fmla="*/ 0 w 4"/>
                  <a:gd name="T3" fmla="*/ 3 h 9"/>
                  <a:gd name="T4" fmla="*/ 0 w 4"/>
                  <a:gd name="T5" fmla="*/ 5 h 9"/>
                  <a:gd name="T6" fmla="*/ 0 w 4"/>
                  <a:gd name="T7" fmla="*/ 7 h 9"/>
                  <a:gd name="T8" fmla="*/ 4 w 4"/>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9">
                    <a:moveTo>
                      <a:pt x="2" y="0"/>
                    </a:moveTo>
                    <a:lnTo>
                      <a:pt x="0" y="3"/>
                    </a:lnTo>
                    <a:lnTo>
                      <a:pt x="0" y="5"/>
                    </a:lnTo>
                    <a:lnTo>
                      <a:pt x="0" y="7"/>
                    </a:lnTo>
                    <a:lnTo>
                      <a:pt x="4"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88" name="Line 1695"/>
              <p:cNvSpPr>
                <a:spLocks noChangeShapeType="1"/>
              </p:cNvSpPr>
              <p:nvPr userDrawn="1"/>
            </p:nvSpPr>
            <p:spPr bwMode="gray">
              <a:xfrm flipH="1" flipV="1">
                <a:off x="2111" y="1298"/>
                <a:ext cx="5" cy="222"/>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89" name="Line 1696"/>
              <p:cNvSpPr>
                <a:spLocks noChangeShapeType="1"/>
              </p:cNvSpPr>
              <p:nvPr userDrawn="1"/>
            </p:nvSpPr>
            <p:spPr bwMode="gray">
              <a:xfrm flipH="1" flipV="1">
                <a:off x="2112" y="1293"/>
                <a:ext cx="7" cy="22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90" name="Freeform 1697"/>
              <p:cNvSpPr>
                <a:spLocks/>
              </p:cNvSpPr>
              <p:nvPr userDrawn="1"/>
            </p:nvSpPr>
            <p:spPr bwMode="gray">
              <a:xfrm>
                <a:off x="2111" y="1293"/>
                <a:ext cx="3" cy="8"/>
              </a:xfrm>
              <a:custGeom>
                <a:avLst/>
                <a:gdLst>
                  <a:gd name="T0" fmla="*/ 1 w 3"/>
                  <a:gd name="T1" fmla="*/ 0 h 8"/>
                  <a:gd name="T2" fmla="*/ 0 w 3"/>
                  <a:gd name="T3" fmla="*/ 1 h 8"/>
                  <a:gd name="T4" fmla="*/ 0 w 3"/>
                  <a:gd name="T5" fmla="*/ 5 h 8"/>
                  <a:gd name="T6" fmla="*/ 1 w 3"/>
                  <a:gd name="T7" fmla="*/ 7 h 8"/>
                  <a:gd name="T8" fmla="*/ 3 w 3"/>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8">
                    <a:moveTo>
                      <a:pt x="1" y="0"/>
                    </a:moveTo>
                    <a:lnTo>
                      <a:pt x="0" y="1"/>
                    </a:lnTo>
                    <a:lnTo>
                      <a:pt x="0" y="5"/>
                    </a:lnTo>
                    <a:lnTo>
                      <a:pt x="1" y="7"/>
                    </a:lnTo>
                    <a:lnTo>
                      <a:pt x="3"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91" name="Line 1698"/>
              <p:cNvSpPr>
                <a:spLocks noChangeShapeType="1"/>
              </p:cNvSpPr>
              <p:nvPr userDrawn="1"/>
            </p:nvSpPr>
            <p:spPr bwMode="gray">
              <a:xfrm>
                <a:off x="2114" y="1301"/>
                <a:ext cx="7" cy="221"/>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92" name="Freeform 1699"/>
              <p:cNvSpPr>
                <a:spLocks/>
              </p:cNvSpPr>
              <p:nvPr userDrawn="1"/>
            </p:nvSpPr>
            <p:spPr bwMode="gray">
              <a:xfrm>
                <a:off x="2116" y="1513"/>
                <a:ext cx="4" cy="9"/>
              </a:xfrm>
              <a:custGeom>
                <a:avLst/>
                <a:gdLst>
                  <a:gd name="T0" fmla="*/ 5 w 5"/>
                  <a:gd name="T1" fmla="*/ 9 h 9"/>
                  <a:gd name="T2" fmla="*/ 2 w 5"/>
                  <a:gd name="T3" fmla="*/ 7 h 9"/>
                  <a:gd name="T4" fmla="*/ 0 w 5"/>
                  <a:gd name="T5" fmla="*/ 5 h 9"/>
                  <a:gd name="T6" fmla="*/ 2 w 5"/>
                  <a:gd name="T7" fmla="*/ 2 h 9"/>
                  <a:gd name="T8" fmla="*/ 3 w 5"/>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9">
                    <a:moveTo>
                      <a:pt x="5" y="9"/>
                    </a:moveTo>
                    <a:lnTo>
                      <a:pt x="2" y="7"/>
                    </a:lnTo>
                    <a:lnTo>
                      <a:pt x="0" y="5"/>
                    </a:lnTo>
                    <a:lnTo>
                      <a:pt x="2" y="2"/>
                    </a:lnTo>
                    <a:lnTo>
                      <a:pt x="3"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93" name="Freeform 1700"/>
              <p:cNvSpPr>
                <a:spLocks/>
              </p:cNvSpPr>
              <p:nvPr userDrawn="1"/>
            </p:nvSpPr>
            <p:spPr bwMode="gray">
              <a:xfrm>
                <a:off x="3526" y="1214"/>
                <a:ext cx="14" cy="12"/>
              </a:xfrm>
              <a:custGeom>
                <a:avLst/>
                <a:gdLst>
                  <a:gd name="T0" fmla="*/ 14 w 14"/>
                  <a:gd name="T1" fmla="*/ 12 h 12"/>
                  <a:gd name="T2" fmla="*/ 14 w 14"/>
                  <a:gd name="T3" fmla="*/ 9 h 12"/>
                  <a:gd name="T4" fmla="*/ 10 w 14"/>
                  <a:gd name="T5" fmla="*/ 5 h 12"/>
                  <a:gd name="T6" fmla="*/ 8 w 14"/>
                  <a:gd name="T7" fmla="*/ 2 h 12"/>
                  <a:gd name="T8" fmla="*/ 5 w 14"/>
                  <a:gd name="T9" fmla="*/ 0 h 12"/>
                  <a:gd name="T10" fmla="*/ 0 w 14"/>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 h="12">
                    <a:moveTo>
                      <a:pt x="14" y="12"/>
                    </a:moveTo>
                    <a:lnTo>
                      <a:pt x="14" y="9"/>
                    </a:lnTo>
                    <a:lnTo>
                      <a:pt x="10" y="5"/>
                    </a:lnTo>
                    <a:lnTo>
                      <a:pt x="8" y="2"/>
                    </a:lnTo>
                    <a:lnTo>
                      <a:pt x="5" y="0"/>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94" name="Freeform 1701"/>
              <p:cNvSpPr>
                <a:spLocks/>
              </p:cNvSpPr>
              <p:nvPr userDrawn="1"/>
            </p:nvSpPr>
            <p:spPr bwMode="gray">
              <a:xfrm>
                <a:off x="3533" y="1216"/>
                <a:ext cx="4" cy="8"/>
              </a:xfrm>
              <a:custGeom>
                <a:avLst/>
                <a:gdLst>
                  <a:gd name="T0" fmla="*/ 0 w 5"/>
                  <a:gd name="T1" fmla="*/ 0 h 8"/>
                  <a:gd name="T2" fmla="*/ 1 w 5"/>
                  <a:gd name="T3" fmla="*/ 0 h 8"/>
                  <a:gd name="T4" fmla="*/ 3 w 5"/>
                  <a:gd name="T5" fmla="*/ 1 h 8"/>
                  <a:gd name="T6" fmla="*/ 3 w 5"/>
                  <a:gd name="T7" fmla="*/ 3 h 8"/>
                  <a:gd name="T8" fmla="*/ 5 w 5"/>
                  <a:gd name="T9" fmla="*/ 5 h 8"/>
                  <a:gd name="T10" fmla="*/ 3 w 5"/>
                  <a:gd name="T11" fmla="*/ 8 h 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8">
                    <a:moveTo>
                      <a:pt x="0" y="0"/>
                    </a:moveTo>
                    <a:lnTo>
                      <a:pt x="1" y="0"/>
                    </a:lnTo>
                    <a:lnTo>
                      <a:pt x="3" y="1"/>
                    </a:lnTo>
                    <a:lnTo>
                      <a:pt x="3" y="3"/>
                    </a:lnTo>
                    <a:lnTo>
                      <a:pt x="5" y="5"/>
                    </a:lnTo>
                    <a:lnTo>
                      <a:pt x="3"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95" name="Freeform 1702"/>
              <p:cNvSpPr>
                <a:spLocks/>
              </p:cNvSpPr>
              <p:nvPr userDrawn="1"/>
            </p:nvSpPr>
            <p:spPr bwMode="gray">
              <a:xfrm>
                <a:off x="2142" y="1686"/>
                <a:ext cx="4" cy="16"/>
              </a:xfrm>
              <a:custGeom>
                <a:avLst/>
                <a:gdLst>
                  <a:gd name="T0" fmla="*/ 2 w 7"/>
                  <a:gd name="T1" fmla="*/ 0 h 16"/>
                  <a:gd name="T2" fmla="*/ 0 w 7"/>
                  <a:gd name="T3" fmla="*/ 4 h 16"/>
                  <a:gd name="T4" fmla="*/ 0 w 7"/>
                  <a:gd name="T5" fmla="*/ 7 h 16"/>
                  <a:gd name="T6" fmla="*/ 2 w 7"/>
                  <a:gd name="T7" fmla="*/ 12 h 16"/>
                  <a:gd name="T8" fmla="*/ 4 w 7"/>
                  <a:gd name="T9" fmla="*/ 14 h 16"/>
                  <a:gd name="T10" fmla="*/ 7 w 7"/>
                  <a:gd name="T11" fmla="*/ 16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6">
                    <a:moveTo>
                      <a:pt x="2" y="0"/>
                    </a:moveTo>
                    <a:lnTo>
                      <a:pt x="0" y="4"/>
                    </a:lnTo>
                    <a:lnTo>
                      <a:pt x="0" y="7"/>
                    </a:lnTo>
                    <a:lnTo>
                      <a:pt x="2" y="12"/>
                    </a:lnTo>
                    <a:lnTo>
                      <a:pt x="4" y="14"/>
                    </a:lnTo>
                    <a:lnTo>
                      <a:pt x="7"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96" name="Freeform 1703"/>
              <p:cNvSpPr>
                <a:spLocks/>
              </p:cNvSpPr>
              <p:nvPr userDrawn="1"/>
            </p:nvSpPr>
            <p:spPr bwMode="gray">
              <a:xfrm>
                <a:off x="2142" y="1693"/>
                <a:ext cx="9" cy="4"/>
              </a:xfrm>
              <a:custGeom>
                <a:avLst/>
                <a:gdLst>
                  <a:gd name="T0" fmla="*/ 9 w 9"/>
                  <a:gd name="T1" fmla="*/ 5 h 5"/>
                  <a:gd name="T2" fmla="*/ 5 w 9"/>
                  <a:gd name="T3" fmla="*/ 5 h 5"/>
                  <a:gd name="T4" fmla="*/ 2 w 9"/>
                  <a:gd name="T5" fmla="*/ 5 h 5"/>
                  <a:gd name="T6" fmla="*/ 0 w 9"/>
                  <a:gd name="T7" fmla="*/ 2 h 5"/>
                  <a:gd name="T8" fmla="*/ 0 w 9"/>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5">
                    <a:moveTo>
                      <a:pt x="9" y="5"/>
                    </a:moveTo>
                    <a:lnTo>
                      <a:pt x="5" y="5"/>
                    </a:lnTo>
                    <a:lnTo>
                      <a:pt x="2" y="5"/>
                    </a:lnTo>
                    <a:lnTo>
                      <a:pt x="0"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97" name="Freeform 1704"/>
              <p:cNvSpPr>
                <a:spLocks/>
              </p:cNvSpPr>
              <p:nvPr userDrawn="1"/>
            </p:nvSpPr>
            <p:spPr bwMode="gray">
              <a:xfrm>
                <a:off x="2779" y="1933"/>
                <a:ext cx="17" cy="7"/>
              </a:xfrm>
              <a:custGeom>
                <a:avLst/>
                <a:gdLst>
                  <a:gd name="T0" fmla="*/ 0 w 17"/>
                  <a:gd name="T1" fmla="*/ 0 h 7"/>
                  <a:gd name="T2" fmla="*/ 2 w 17"/>
                  <a:gd name="T3" fmla="*/ 3 h 7"/>
                  <a:gd name="T4" fmla="*/ 5 w 17"/>
                  <a:gd name="T5" fmla="*/ 5 h 7"/>
                  <a:gd name="T6" fmla="*/ 10 w 17"/>
                  <a:gd name="T7" fmla="*/ 7 h 7"/>
                  <a:gd name="T8" fmla="*/ 14 w 17"/>
                  <a:gd name="T9" fmla="*/ 7 h 7"/>
                  <a:gd name="T10" fmla="*/ 17 w 17"/>
                  <a:gd name="T11" fmla="*/ 7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 h="7">
                    <a:moveTo>
                      <a:pt x="0" y="0"/>
                    </a:moveTo>
                    <a:lnTo>
                      <a:pt x="2" y="3"/>
                    </a:lnTo>
                    <a:lnTo>
                      <a:pt x="5" y="5"/>
                    </a:lnTo>
                    <a:lnTo>
                      <a:pt x="10" y="7"/>
                    </a:lnTo>
                    <a:lnTo>
                      <a:pt x="14" y="7"/>
                    </a:lnTo>
                    <a:lnTo>
                      <a:pt x="17"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98" name="Freeform 1705"/>
              <p:cNvSpPr>
                <a:spLocks/>
              </p:cNvSpPr>
              <p:nvPr userDrawn="1"/>
            </p:nvSpPr>
            <p:spPr bwMode="gray">
              <a:xfrm>
                <a:off x="2784" y="1933"/>
                <a:ext cx="13" cy="8"/>
              </a:xfrm>
              <a:custGeom>
                <a:avLst/>
                <a:gdLst>
                  <a:gd name="T0" fmla="*/ 0 w 11"/>
                  <a:gd name="T1" fmla="*/ 8 h 8"/>
                  <a:gd name="T2" fmla="*/ 2 w 11"/>
                  <a:gd name="T3" fmla="*/ 8 h 8"/>
                  <a:gd name="T4" fmla="*/ 5 w 11"/>
                  <a:gd name="T5" fmla="*/ 7 h 8"/>
                  <a:gd name="T6" fmla="*/ 7 w 11"/>
                  <a:gd name="T7" fmla="*/ 5 h 8"/>
                  <a:gd name="T8" fmla="*/ 11 w 11"/>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8">
                    <a:moveTo>
                      <a:pt x="0" y="8"/>
                    </a:moveTo>
                    <a:lnTo>
                      <a:pt x="2" y="8"/>
                    </a:lnTo>
                    <a:lnTo>
                      <a:pt x="5" y="7"/>
                    </a:lnTo>
                    <a:lnTo>
                      <a:pt x="7" y="5"/>
                    </a:lnTo>
                    <a:lnTo>
                      <a:pt x="1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299" name="Freeform 1706"/>
              <p:cNvSpPr>
                <a:spLocks/>
              </p:cNvSpPr>
              <p:nvPr userDrawn="1"/>
            </p:nvSpPr>
            <p:spPr bwMode="gray">
              <a:xfrm>
                <a:off x="2135" y="1452"/>
                <a:ext cx="12" cy="14"/>
              </a:xfrm>
              <a:custGeom>
                <a:avLst/>
                <a:gdLst>
                  <a:gd name="T0" fmla="*/ 0 w 12"/>
                  <a:gd name="T1" fmla="*/ 14 h 14"/>
                  <a:gd name="T2" fmla="*/ 0 w 12"/>
                  <a:gd name="T3" fmla="*/ 8 h 14"/>
                  <a:gd name="T4" fmla="*/ 4 w 12"/>
                  <a:gd name="T5" fmla="*/ 3 h 14"/>
                  <a:gd name="T6" fmla="*/ 7 w 12"/>
                  <a:gd name="T7" fmla="*/ 2 h 14"/>
                  <a:gd name="T8" fmla="*/ 12 w 12"/>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4">
                    <a:moveTo>
                      <a:pt x="0" y="14"/>
                    </a:moveTo>
                    <a:lnTo>
                      <a:pt x="0" y="8"/>
                    </a:lnTo>
                    <a:lnTo>
                      <a:pt x="4" y="3"/>
                    </a:lnTo>
                    <a:lnTo>
                      <a:pt x="7" y="2"/>
                    </a:lnTo>
                    <a:lnTo>
                      <a:pt x="1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00" name="Freeform 1707"/>
              <p:cNvSpPr>
                <a:spLocks/>
              </p:cNvSpPr>
              <p:nvPr userDrawn="1"/>
            </p:nvSpPr>
            <p:spPr bwMode="gray">
              <a:xfrm>
                <a:off x="2137" y="1455"/>
                <a:ext cx="3" cy="7"/>
              </a:xfrm>
              <a:custGeom>
                <a:avLst/>
                <a:gdLst>
                  <a:gd name="T0" fmla="*/ 3 w 3"/>
                  <a:gd name="T1" fmla="*/ 7 h 7"/>
                  <a:gd name="T2" fmla="*/ 2 w 3"/>
                  <a:gd name="T3" fmla="*/ 5 h 7"/>
                  <a:gd name="T4" fmla="*/ 0 w 3"/>
                  <a:gd name="T5" fmla="*/ 2 h 7"/>
                  <a:gd name="T6" fmla="*/ 0 w 3"/>
                  <a:gd name="T7" fmla="*/ 0 h 7"/>
                  <a:gd name="T8" fmla="*/ 2 w 3"/>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7">
                    <a:moveTo>
                      <a:pt x="3" y="7"/>
                    </a:moveTo>
                    <a:lnTo>
                      <a:pt x="2" y="5"/>
                    </a:lnTo>
                    <a:lnTo>
                      <a:pt x="0" y="2"/>
                    </a:lnTo>
                    <a:lnTo>
                      <a:pt x="0" y="0"/>
                    </a:lnTo>
                    <a:lnTo>
                      <a:pt x="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01" name="Freeform 1708"/>
              <p:cNvSpPr>
                <a:spLocks/>
              </p:cNvSpPr>
              <p:nvPr userDrawn="1"/>
            </p:nvSpPr>
            <p:spPr bwMode="gray">
              <a:xfrm>
                <a:off x="2788" y="1683"/>
                <a:ext cx="1" cy="22"/>
              </a:xfrm>
              <a:custGeom>
                <a:avLst/>
                <a:gdLst>
                  <a:gd name="T0" fmla="*/ 1 w 1"/>
                  <a:gd name="T1" fmla="*/ 19 h 19"/>
                  <a:gd name="T2" fmla="*/ 1 w 1"/>
                  <a:gd name="T3" fmla="*/ 14 h 19"/>
                  <a:gd name="T4" fmla="*/ 1 w 1"/>
                  <a:gd name="T5" fmla="*/ 10 h 19"/>
                  <a:gd name="T6" fmla="*/ 0 w 1"/>
                  <a:gd name="T7" fmla="*/ 5 h 19"/>
                  <a:gd name="T8" fmla="*/ 0 w 1"/>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9">
                    <a:moveTo>
                      <a:pt x="1" y="19"/>
                    </a:moveTo>
                    <a:lnTo>
                      <a:pt x="1" y="14"/>
                    </a:lnTo>
                    <a:lnTo>
                      <a:pt x="1" y="10"/>
                    </a:lnTo>
                    <a:lnTo>
                      <a:pt x="0"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02" name="Freeform 1709"/>
              <p:cNvSpPr>
                <a:spLocks/>
              </p:cNvSpPr>
              <p:nvPr userDrawn="1"/>
            </p:nvSpPr>
            <p:spPr bwMode="gray">
              <a:xfrm>
                <a:off x="2779" y="1693"/>
                <a:ext cx="19" cy="1"/>
              </a:xfrm>
              <a:custGeom>
                <a:avLst/>
                <a:gdLst>
                  <a:gd name="T0" fmla="*/ 19 w 19"/>
                  <a:gd name="T1" fmla="*/ 0 h 1"/>
                  <a:gd name="T2" fmla="*/ 14 w 19"/>
                  <a:gd name="T3" fmla="*/ 0 h 1"/>
                  <a:gd name="T4" fmla="*/ 10 w 19"/>
                  <a:gd name="T5" fmla="*/ 0 h 1"/>
                  <a:gd name="T6" fmla="*/ 5 w 19"/>
                  <a:gd name="T7" fmla="*/ 0 h 1"/>
                  <a:gd name="T8" fmla="*/ 0 w 19"/>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
                    <a:moveTo>
                      <a:pt x="19" y="0"/>
                    </a:moveTo>
                    <a:lnTo>
                      <a:pt x="14" y="0"/>
                    </a:lnTo>
                    <a:lnTo>
                      <a:pt x="10" y="0"/>
                    </a:lnTo>
                    <a:lnTo>
                      <a:pt x="5" y="0"/>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03" name="Freeform 1710"/>
              <p:cNvSpPr>
                <a:spLocks/>
              </p:cNvSpPr>
              <p:nvPr userDrawn="1"/>
            </p:nvSpPr>
            <p:spPr bwMode="gray">
              <a:xfrm>
                <a:off x="2359" y="2013"/>
                <a:ext cx="4" cy="22"/>
              </a:xfrm>
              <a:custGeom>
                <a:avLst/>
                <a:gdLst>
                  <a:gd name="T0" fmla="*/ 2 w 7"/>
                  <a:gd name="T1" fmla="*/ 0 h 18"/>
                  <a:gd name="T2" fmla="*/ 0 w 7"/>
                  <a:gd name="T3" fmla="*/ 5 h 18"/>
                  <a:gd name="T4" fmla="*/ 0 w 7"/>
                  <a:gd name="T5" fmla="*/ 9 h 18"/>
                  <a:gd name="T6" fmla="*/ 2 w 7"/>
                  <a:gd name="T7" fmla="*/ 12 h 18"/>
                  <a:gd name="T8" fmla="*/ 4 w 7"/>
                  <a:gd name="T9" fmla="*/ 16 h 18"/>
                  <a:gd name="T10" fmla="*/ 7 w 7"/>
                  <a:gd name="T11" fmla="*/ 18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8">
                    <a:moveTo>
                      <a:pt x="2" y="0"/>
                    </a:moveTo>
                    <a:lnTo>
                      <a:pt x="0" y="5"/>
                    </a:lnTo>
                    <a:lnTo>
                      <a:pt x="0" y="9"/>
                    </a:lnTo>
                    <a:lnTo>
                      <a:pt x="2" y="12"/>
                    </a:lnTo>
                    <a:lnTo>
                      <a:pt x="4" y="16"/>
                    </a:lnTo>
                    <a:lnTo>
                      <a:pt x="7" y="1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04" name="Freeform 1711"/>
              <p:cNvSpPr>
                <a:spLocks/>
              </p:cNvSpPr>
              <p:nvPr userDrawn="1"/>
            </p:nvSpPr>
            <p:spPr bwMode="gray">
              <a:xfrm>
                <a:off x="2359" y="2020"/>
                <a:ext cx="9" cy="7"/>
              </a:xfrm>
              <a:custGeom>
                <a:avLst/>
                <a:gdLst>
                  <a:gd name="T0" fmla="*/ 9 w 9"/>
                  <a:gd name="T1" fmla="*/ 7 h 7"/>
                  <a:gd name="T2" fmla="*/ 5 w 9"/>
                  <a:gd name="T3" fmla="*/ 7 h 7"/>
                  <a:gd name="T4" fmla="*/ 2 w 9"/>
                  <a:gd name="T5" fmla="*/ 5 h 7"/>
                  <a:gd name="T6" fmla="*/ 0 w 9"/>
                  <a:gd name="T7" fmla="*/ 4 h 7"/>
                  <a:gd name="T8" fmla="*/ 0 w 9"/>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7">
                    <a:moveTo>
                      <a:pt x="9" y="7"/>
                    </a:moveTo>
                    <a:lnTo>
                      <a:pt x="5" y="7"/>
                    </a:lnTo>
                    <a:lnTo>
                      <a:pt x="2" y="5"/>
                    </a:lnTo>
                    <a:lnTo>
                      <a:pt x="0"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05" name="Freeform 1712"/>
              <p:cNvSpPr>
                <a:spLocks/>
              </p:cNvSpPr>
              <p:nvPr userDrawn="1"/>
            </p:nvSpPr>
            <p:spPr bwMode="gray">
              <a:xfrm>
                <a:off x="2345" y="1277"/>
                <a:ext cx="7" cy="3"/>
              </a:xfrm>
              <a:custGeom>
                <a:avLst/>
                <a:gdLst>
                  <a:gd name="T0" fmla="*/ 2 w 7"/>
                  <a:gd name="T1" fmla="*/ 3 h 3"/>
                  <a:gd name="T2" fmla="*/ 2 w 7"/>
                  <a:gd name="T3" fmla="*/ 2 h 3"/>
                  <a:gd name="T4" fmla="*/ 0 w 7"/>
                  <a:gd name="T5" fmla="*/ 0 h 3"/>
                  <a:gd name="T6" fmla="*/ 0 w 7"/>
                  <a:gd name="T7" fmla="*/ 0 h 3"/>
                  <a:gd name="T8" fmla="*/ 2 w 7"/>
                  <a:gd name="T9" fmla="*/ 0 h 3"/>
                  <a:gd name="T10" fmla="*/ 4 w 7"/>
                  <a:gd name="T11" fmla="*/ 0 h 3"/>
                  <a:gd name="T12" fmla="*/ 7 w 7"/>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 h="3">
                    <a:moveTo>
                      <a:pt x="2" y="3"/>
                    </a:moveTo>
                    <a:lnTo>
                      <a:pt x="2" y="2"/>
                    </a:lnTo>
                    <a:lnTo>
                      <a:pt x="0" y="0"/>
                    </a:lnTo>
                    <a:lnTo>
                      <a:pt x="2" y="0"/>
                    </a:lnTo>
                    <a:lnTo>
                      <a:pt x="4" y="0"/>
                    </a:lnTo>
                    <a:lnTo>
                      <a:pt x="7"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06" name="Freeform 1713"/>
              <p:cNvSpPr>
                <a:spLocks/>
              </p:cNvSpPr>
              <p:nvPr userDrawn="1"/>
            </p:nvSpPr>
            <p:spPr bwMode="gray">
              <a:xfrm>
                <a:off x="2345" y="1270"/>
                <a:ext cx="9" cy="16"/>
              </a:xfrm>
              <a:custGeom>
                <a:avLst/>
                <a:gdLst>
                  <a:gd name="T0" fmla="*/ 0 w 9"/>
                  <a:gd name="T1" fmla="*/ 16 h 16"/>
                  <a:gd name="T2" fmla="*/ 0 w 9"/>
                  <a:gd name="T3" fmla="*/ 10 h 16"/>
                  <a:gd name="T4" fmla="*/ 2 w 9"/>
                  <a:gd name="T5" fmla="*/ 7 h 16"/>
                  <a:gd name="T6" fmla="*/ 4 w 9"/>
                  <a:gd name="T7" fmla="*/ 3 h 16"/>
                  <a:gd name="T8" fmla="*/ 9 w 9"/>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6">
                    <a:moveTo>
                      <a:pt x="0" y="16"/>
                    </a:moveTo>
                    <a:lnTo>
                      <a:pt x="0" y="10"/>
                    </a:lnTo>
                    <a:lnTo>
                      <a:pt x="2" y="7"/>
                    </a:lnTo>
                    <a:lnTo>
                      <a:pt x="4" y="3"/>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07" name="Freeform 1714"/>
              <p:cNvSpPr>
                <a:spLocks/>
              </p:cNvSpPr>
              <p:nvPr userDrawn="1"/>
            </p:nvSpPr>
            <p:spPr bwMode="gray">
              <a:xfrm>
                <a:off x="2565" y="2101"/>
                <a:ext cx="4" cy="4"/>
              </a:xfrm>
              <a:custGeom>
                <a:avLst/>
                <a:gdLst>
                  <a:gd name="T0" fmla="*/ 0 w 2"/>
                  <a:gd name="T1" fmla="*/ 5 h 7"/>
                  <a:gd name="T2" fmla="*/ 2 w 2"/>
                  <a:gd name="T3" fmla="*/ 7 h 7"/>
                  <a:gd name="T4" fmla="*/ 2 w 2"/>
                  <a:gd name="T5" fmla="*/ 7 h 7"/>
                  <a:gd name="T6" fmla="*/ 2 w 2"/>
                  <a:gd name="T7" fmla="*/ 7 h 7"/>
                  <a:gd name="T8" fmla="*/ 2 w 2"/>
                  <a:gd name="T9" fmla="*/ 7 h 7"/>
                  <a:gd name="T10" fmla="*/ 2 w 2"/>
                  <a:gd name="T11" fmla="*/ 5 h 7"/>
                  <a:gd name="T12" fmla="*/ 2 w 2"/>
                  <a:gd name="T13" fmla="*/ 3 h 7"/>
                  <a:gd name="T14" fmla="*/ 2 w 2"/>
                  <a:gd name="T15" fmla="*/ 0 h 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 h="7">
                    <a:moveTo>
                      <a:pt x="0" y="5"/>
                    </a:moveTo>
                    <a:lnTo>
                      <a:pt x="2" y="7"/>
                    </a:lnTo>
                    <a:lnTo>
                      <a:pt x="2" y="5"/>
                    </a:lnTo>
                    <a:lnTo>
                      <a:pt x="2" y="3"/>
                    </a:lnTo>
                    <a:lnTo>
                      <a:pt x="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08" name="Freeform 1715"/>
              <p:cNvSpPr>
                <a:spLocks/>
              </p:cNvSpPr>
              <p:nvPr userDrawn="1"/>
            </p:nvSpPr>
            <p:spPr bwMode="gray">
              <a:xfrm>
                <a:off x="2558" y="2102"/>
                <a:ext cx="22" cy="4"/>
              </a:xfrm>
              <a:custGeom>
                <a:avLst/>
                <a:gdLst>
                  <a:gd name="T0" fmla="*/ 18 w 18"/>
                  <a:gd name="T1" fmla="*/ 0 h 4"/>
                  <a:gd name="T2" fmla="*/ 14 w 18"/>
                  <a:gd name="T3" fmla="*/ 4 h 4"/>
                  <a:gd name="T4" fmla="*/ 9 w 18"/>
                  <a:gd name="T5" fmla="*/ 4 h 4"/>
                  <a:gd name="T6" fmla="*/ 4 w 18"/>
                  <a:gd name="T7" fmla="*/ 4 h 4"/>
                  <a:gd name="T8" fmla="*/ 0 w 18"/>
                  <a:gd name="T9" fmla="*/ 2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4">
                    <a:moveTo>
                      <a:pt x="18" y="0"/>
                    </a:moveTo>
                    <a:lnTo>
                      <a:pt x="14" y="4"/>
                    </a:lnTo>
                    <a:lnTo>
                      <a:pt x="9" y="4"/>
                    </a:lnTo>
                    <a:lnTo>
                      <a:pt x="4" y="4"/>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09" name="Freeform 1716"/>
              <p:cNvSpPr>
                <a:spLocks/>
              </p:cNvSpPr>
              <p:nvPr userDrawn="1"/>
            </p:nvSpPr>
            <p:spPr bwMode="gray">
              <a:xfrm>
                <a:off x="2558" y="1340"/>
                <a:ext cx="4" cy="19"/>
              </a:xfrm>
              <a:custGeom>
                <a:avLst/>
                <a:gdLst>
                  <a:gd name="T0" fmla="*/ 2 w 2"/>
                  <a:gd name="T1" fmla="*/ 19 h 19"/>
                  <a:gd name="T2" fmla="*/ 2 w 2"/>
                  <a:gd name="T3" fmla="*/ 14 h 19"/>
                  <a:gd name="T4" fmla="*/ 2 w 2"/>
                  <a:gd name="T5" fmla="*/ 10 h 19"/>
                  <a:gd name="T6" fmla="*/ 2 w 2"/>
                  <a:gd name="T7" fmla="*/ 5 h 19"/>
                  <a:gd name="T8" fmla="*/ 0 w 2"/>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19">
                    <a:moveTo>
                      <a:pt x="2" y="19"/>
                    </a:moveTo>
                    <a:lnTo>
                      <a:pt x="2" y="14"/>
                    </a:lnTo>
                    <a:lnTo>
                      <a:pt x="2" y="10"/>
                    </a:lnTo>
                    <a:lnTo>
                      <a:pt x="2"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10" name="Freeform 1717"/>
              <p:cNvSpPr>
                <a:spLocks/>
              </p:cNvSpPr>
              <p:nvPr userDrawn="1"/>
            </p:nvSpPr>
            <p:spPr bwMode="gray">
              <a:xfrm>
                <a:off x="2550" y="1350"/>
                <a:ext cx="19" cy="1"/>
              </a:xfrm>
              <a:custGeom>
                <a:avLst/>
                <a:gdLst>
                  <a:gd name="T0" fmla="*/ 19 w 19"/>
                  <a:gd name="T1" fmla="*/ 0 h 1"/>
                  <a:gd name="T2" fmla="*/ 14 w 19"/>
                  <a:gd name="T3" fmla="*/ 0 h 1"/>
                  <a:gd name="T4" fmla="*/ 10 w 19"/>
                  <a:gd name="T5" fmla="*/ 0 h 1"/>
                  <a:gd name="T6" fmla="*/ 5 w 19"/>
                  <a:gd name="T7" fmla="*/ 0 h 1"/>
                  <a:gd name="T8" fmla="*/ 0 w 19"/>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
                    <a:moveTo>
                      <a:pt x="19" y="0"/>
                    </a:moveTo>
                    <a:lnTo>
                      <a:pt x="14" y="0"/>
                    </a:lnTo>
                    <a:lnTo>
                      <a:pt x="10" y="0"/>
                    </a:lnTo>
                    <a:lnTo>
                      <a:pt x="5" y="0"/>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11" name="Freeform 1718"/>
              <p:cNvSpPr>
                <a:spLocks/>
              </p:cNvSpPr>
              <p:nvPr userDrawn="1"/>
            </p:nvSpPr>
            <p:spPr bwMode="gray">
              <a:xfrm>
                <a:off x="3610" y="1212"/>
                <a:ext cx="12" cy="13"/>
              </a:xfrm>
              <a:custGeom>
                <a:avLst/>
                <a:gdLst>
                  <a:gd name="T0" fmla="*/ 12 w 12"/>
                  <a:gd name="T1" fmla="*/ 11 h 11"/>
                  <a:gd name="T2" fmla="*/ 12 w 12"/>
                  <a:gd name="T3" fmla="*/ 7 h 11"/>
                  <a:gd name="T4" fmla="*/ 10 w 12"/>
                  <a:gd name="T5" fmla="*/ 4 h 11"/>
                  <a:gd name="T6" fmla="*/ 7 w 12"/>
                  <a:gd name="T7" fmla="*/ 2 h 11"/>
                  <a:gd name="T8" fmla="*/ 3 w 12"/>
                  <a:gd name="T9" fmla="*/ 0 h 11"/>
                  <a:gd name="T10" fmla="*/ 0 w 12"/>
                  <a:gd name="T11" fmla="*/ 0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11">
                    <a:moveTo>
                      <a:pt x="12" y="11"/>
                    </a:moveTo>
                    <a:lnTo>
                      <a:pt x="12" y="7"/>
                    </a:lnTo>
                    <a:lnTo>
                      <a:pt x="10" y="4"/>
                    </a:lnTo>
                    <a:lnTo>
                      <a:pt x="7" y="2"/>
                    </a:lnTo>
                    <a:lnTo>
                      <a:pt x="3" y="0"/>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12" name="Freeform 1719"/>
              <p:cNvSpPr>
                <a:spLocks/>
              </p:cNvSpPr>
              <p:nvPr userDrawn="1"/>
            </p:nvSpPr>
            <p:spPr bwMode="gray">
              <a:xfrm>
                <a:off x="3617" y="1214"/>
                <a:ext cx="4" cy="4"/>
              </a:xfrm>
              <a:custGeom>
                <a:avLst/>
                <a:gdLst>
                  <a:gd name="T0" fmla="*/ 0 w 3"/>
                  <a:gd name="T1" fmla="*/ 0 h 7"/>
                  <a:gd name="T2" fmla="*/ 0 w 3"/>
                  <a:gd name="T3" fmla="*/ 0 h 7"/>
                  <a:gd name="T4" fmla="*/ 1 w 3"/>
                  <a:gd name="T5" fmla="*/ 2 h 7"/>
                  <a:gd name="T6" fmla="*/ 3 w 3"/>
                  <a:gd name="T7" fmla="*/ 2 h 7"/>
                  <a:gd name="T8" fmla="*/ 3 w 3"/>
                  <a:gd name="T9" fmla="*/ 5 h 7"/>
                  <a:gd name="T10" fmla="*/ 1 w 3"/>
                  <a:gd name="T11" fmla="*/ 7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 h="7">
                    <a:moveTo>
                      <a:pt x="0" y="0"/>
                    </a:moveTo>
                    <a:lnTo>
                      <a:pt x="0" y="0"/>
                    </a:lnTo>
                    <a:lnTo>
                      <a:pt x="1" y="2"/>
                    </a:lnTo>
                    <a:lnTo>
                      <a:pt x="3" y="2"/>
                    </a:lnTo>
                    <a:lnTo>
                      <a:pt x="3" y="5"/>
                    </a:lnTo>
                    <a:lnTo>
                      <a:pt x="1"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13" name="Freeform 1720"/>
              <p:cNvSpPr>
                <a:spLocks/>
              </p:cNvSpPr>
              <p:nvPr userDrawn="1"/>
            </p:nvSpPr>
            <p:spPr bwMode="gray">
              <a:xfrm>
                <a:off x="3195" y="840"/>
                <a:ext cx="13" cy="4"/>
              </a:xfrm>
              <a:custGeom>
                <a:avLst/>
                <a:gdLst>
                  <a:gd name="T0" fmla="*/ 0 w 14"/>
                  <a:gd name="T1" fmla="*/ 0 h 7"/>
                  <a:gd name="T2" fmla="*/ 4 w 14"/>
                  <a:gd name="T3" fmla="*/ 0 h 7"/>
                  <a:gd name="T4" fmla="*/ 9 w 14"/>
                  <a:gd name="T5" fmla="*/ 1 h 7"/>
                  <a:gd name="T6" fmla="*/ 12 w 14"/>
                  <a:gd name="T7" fmla="*/ 5 h 7"/>
                  <a:gd name="T8" fmla="*/ 14 w 14"/>
                  <a:gd name="T9" fmla="*/ 7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7">
                    <a:moveTo>
                      <a:pt x="0" y="0"/>
                    </a:moveTo>
                    <a:lnTo>
                      <a:pt x="4" y="0"/>
                    </a:lnTo>
                    <a:lnTo>
                      <a:pt x="9" y="1"/>
                    </a:lnTo>
                    <a:lnTo>
                      <a:pt x="12" y="5"/>
                    </a:lnTo>
                    <a:lnTo>
                      <a:pt x="14"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14" name="Freeform 1721"/>
              <p:cNvSpPr>
                <a:spLocks/>
              </p:cNvSpPr>
              <p:nvPr userDrawn="1"/>
            </p:nvSpPr>
            <p:spPr bwMode="gray">
              <a:xfrm>
                <a:off x="3195" y="838"/>
                <a:ext cx="11" cy="9"/>
              </a:xfrm>
              <a:custGeom>
                <a:avLst/>
                <a:gdLst>
                  <a:gd name="T0" fmla="*/ 11 w 11"/>
                  <a:gd name="T1" fmla="*/ 0 h 9"/>
                  <a:gd name="T2" fmla="*/ 7 w 11"/>
                  <a:gd name="T3" fmla="*/ 0 h 9"/>
                  <a:gd name="T4" fmla="*/ 5 w 11"/>
                  <a:gd name="T5" fmla="*/ 2 h 9"/>
                  <a:gd name="T6" fmla="*/ 2 w 11"/>
                  <a:gd name="T7" fmla="*/ 5 h 9"/>
                  <a:gd name="T8" fmla="*/ 0 w 11"/>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9">
                    <a:moveTo>
                      <a:pt x="11" y="0"/>
                    </a:moveTo>
                    <a:lnTo>
                      <a:pt x="7" y="0"/>
                    </a:lnTo>
                    <a:lnTo>
                      <a:pt x="5" y="2"/>
                    </a:lnTo>
                    <a:lnTo>
                      <a:pt x="2" y="5"/>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15" name="Freeform 1722"/>
              <p:cNvSpPr>
                <a:spLocks/>
              </p:cNvSpPr>
              <p:nvPr userDrawn="1"/>
            </p:nvSpPr>
            <p:spPr bwMode="gray">
              <a:xfrm>
                <a:off x="3403" y="903"/>
                <a:ext cx="4" cy="3"/>
              </a:xfrm>
              <a:custGeom>
                <a:avLst/>
                <a:gdLst>
                  <a:gd name="T0" fmla="*/ 0 w 4"/>
                  <a:gd name="T1" fmla="*/ 1 h 3"/>
                  <a:gd name="T2" fmla="*/ 2 w 4"/>
                  <a:gd name="T3" fmla="*/ 0 h 3"/>
                  <a:gd name="T4" fmla="*/ 4 w 4"/>
                  <a:gd name="T5" fmla="*/ 0 h 3"/>
                  <a:gd name="T6" fmla="*/ 4 w 4"/>
                  <a:gd name="T7" fmla="*/ 0 h 3"/>
                  <a:gd name="T8" fmla="*/ 4 w 4"/>
                  <a:gd name="T9" fmla="*/ 1 h 3"/>
                  <a:gd name="T10" fmla="*/ 2 w 4"/>
                  <a:gd name="T11" fmla="*/ 1 h 3"/>
                  <a:gd name="T12" fmla="*/ 2 w 4"/>
                  <a:gd name="T13" fmla="*/ 1 h 3"/>
                  <a:gd name="T14" fmla="*/ 0 w 4"/>
                  <a:gd name="T15" fmla="*/ 3 h 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 h="3">
                    <a:moveTo>
                      <a:pt x="0" y="1"/>
                    </a:moveTo>
                    <a:lnTo>
                      <a:pt x="2" y="0"/>
                    </a:lnTo>
                    <a:lnTo>
                      <a:pt x="4" y="0"/>
                    </a:lnTo>
                    <a:lnTo>
                      <a:pt x="4" y="1"/>
                    </a:lnTo>
                    <a:lnTo>
                      <a:pt x="2" y="1"/>
                    </a:lnTo>
                    <a:lnTo>
                      <a:pt x="0" y="3"/>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16" name="Freeform 1723"/>
              <p:cNvSpPr>
                <a:spLocks/>
              </p:cNvSpPr>
              <p:nvPr userDrawn="1"/>
            </p:nvSpPr>
            <p:spPr bwMode="gray">
              <a:xfrm>
                <a:off x="3400" y="897"/>
                <a:ext cx="8" cy="14"/>
              </a:xfrm>
              <a:custGeom>
                <a:avLst/>
                <a:gdLst>
                  <a:gd name="T0" fmla="*/ 8 w 8"/>
                  <a:gd name="T1" fmla="*/ 14 h 14"/>
                  <a:gd name="T2" fmla="*/ 8 w 8"/>
                  <a:gd name="T3" fmla="*/ 9 h 14"/>
                  <a:gd name="T4" fmla="*/ 7 w 8"/>
                  <a:gd name="T5" fmla="*/ 6 h 14"/>
                  <a:gd name="T6" fmla="*/ 3 w 8"/>
                  <a:gd name="T7" fmla="*/ 2 h 14"/>
                  <a:gd name="T8" fmla="*/ 0 w 8"/>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14">
                    <a:moveTo>
                      <a:pt x="8" y="14"/>
                    </a:moveTo>
                    <a:lnTo>
                      <a:pt x="8" y="9"/>
                    </a:lnTo>
                    <a:lnTo>
                      <a:pt x="7" y="6"/>
                    </a:lnTo>
                    <a:lnTo>
                      <a:pt x="3"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17" name="Freeform 1724"/>
              <p:cNvSpPr>
                <a:spLocks/>
              </p:cNvSpPr>
              <p:nvPr userDrawn="1"/>
            </p:nvSpPr>
            <p:spPr bwMode="gray">
              <a:xfrm>
                <a:off x="3186" y="1910"/>
                <a:ext cx="20" cy="9"/>
              </a:xfrm>
              <a:custGeom>
                <a:avLst/>
                <a:gdLst>
                  <a:gd name="T0" fmla="*/ 0 w 20"/>
                  <a:gd name="T1" fmla="*/ 9 h 9"/>
                  <a:gd name="T2" fmla="*/ 7 w 20"/>
                  <a:gd name="T3" fmla="*/ 9 h 9"/>
                  <a:gd name="T4" fmla="*/ 11 w 20"/>
                  <a:gd name="T5" fmla="*/ 7 h 9"/>
                  <a:gd name="T6" fmla="*/ 16 w 20"/>
                  <a:gd name="T7" fmla="*/ 3 h 9"/>
                  <a:gd name="T8" fmla="*/ 20 w 20"/>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9">
                    <a:moveTo>
                      <a:pt x="0" y="9"/>
                    </a:moveTo>
                    <a:lnTo>
                      <a:pt x="7" y="9"/>
                    </a:lnTo>
                    <a:lnTo>
                      <a:pt x="11" y="7"/>
                    </a:lnTo>
                    <a:lnTo>
                      <a:pt x="16" y="3"/>
                    </a:lnTo>
                    <a:lnTo>
                      <a:pt x="2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18" name="Freeform 1725"/>
              <p:cNvSpPr>
                <a:spLocks/>
              </p:cNvSpPr>
              <p:nvPr userDrawn="1"/>
            </p:nvSpPr>
            <p:spPr bwMode="gray">
              <a:xfrm>
                <a:off x="3192" y="1912"/>
                <a:ext cx="7" cy="7"/>
              </a:xfrm>
              <a:custGeom>
                <a:avLst/>
                <a:gdLst>
                  <a:gd name="T0" fmla="*/ 7 w 7"/>
                  <a:gd name="T1" fmla="*/ 7 h 7"/>
                  <a:gd name="T2" fmla="*/ 5 w 7"/>
                  <a:gd name="T3" fmla="*/ 7 h 7"/>
                  <a:gd name="T4" fmla="*/ 5 w 7"/>
                  <a:gd name="T5" fmla="*/ 7 h 7"/>
                  <a:gd name="T6" fmla="*/ 3 w 7"/>
                  <a:gd name="T7" fmla="*/ 7 h 7"/>
                  <a:gd name="T8" fmla="*/ 1 w 7"/>
                  <a:gd name="T9" fmla="*/ 3 h 7"/>
                  <a:gd name="T10" fmla="*/ 0 w 7"/>
                  <a:gd name="T11" fmla="*/ 0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7">
                    <a:moveTo>
                      <a:pt x="7" y="7"/>
                    </a:moveTo>
                    <a:lnTo>
                      <a:pt x="5" y="7"/>
                    </a:lnTo>
                    <a:lnTo>
                      <a:pt x="3" y="7"/>
                    </a:lnTo>
                    <a:lnTo>
                      <a:pt x="1" y="3"/>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19" name="Freeform 1726"/>
              <p:cNvSpPr>
                <a:spLocks/>
              </p:cNvSpPr>
              <p:nvPr userDrawn="1"/>
            </p:nvSpPr>
            <p:spPr bwMode="gray">
              <a:xfrm>
                <a:off x="3669" y="1609"/>
                <a:ext cx="14" cy="14"/>
              </a:xfrm>
              <a:custGeom>
                <a:avLst/>
                <a:gdLst>
                  <a:gd name="T0" fmla="*/ 0 w 14"/>
                  <a:gd name="T1" fmla="*/ 14 h 14"/>
                  <a:gd name="T2" fmla="*/ 5 w 14"/>
                  <a:gd name="T3" fmla="*/ 12 h 14"/>
                  <a:gd name="T4" fmla="*/ 11 w 14"/>
                  <a:gd name="T5" fmla="*/ 11 h 14"/>
                  <a:gd name="T6" fmla="*/ 12 w 14"/>
                  <a:gd name="T7" fmla="*/ 5 h 14"/>
                  <a:gd name="T8" fmla="*/ 14 w 14"/>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14">
                    <a:moveTo>
                      <a:pt x="0" y="14"/>
                    </a:moveTo>
                    <a:lnTo>
                      <a:pt x="5" y="12"/>
                    </a:lnTo>
                    <a:lnTo>
                      <a:pt x="11" y="11"/>
                    </a:lnTo>
                    <a:lnTo>
                      <a:pt x="12" y="5"/>
                    </a:lnTo>
                    <a:lnTo>
                      <a:pt x="14"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320" name="Freeform 1727"/>
              <p:cNvSpPr>
                <a:spLocks/>
              </p:cNvSpPr>
              <p:nvPr userDrawn="1"/>
            </p:nvSpPr>
            <p:spPr bwMode="gray">
              <a:xfrm>
                <a:off x="3676" y="1611"/>
                <a:ext cx="5" cy="9"/>
              </a:xfrm>
              <a:custGeom>
                <a:avLst/>
                <a:gdLst>
                  <a:gd name="T0" fmla="*/ 0 w 5"/>
                  <a:gd name="T1" fmla="*/ 0 h 9"/>
                  <a:gd name="T2" fmla="*/ 4 w 5"/>
                  <a:gd name="T3" fmla="*/ 3 h 9"/>
                  <a:gd name="T4" fmla="*/ 5 w 5"/>
                  <a:gd name="T5" fmla="*/ 7 h 9"/>
                  <a:gd name="T6" fmla="*/ 5 w 5"/>
                  <a:gd name="T7" fmla="*/ 7 h 9"/>
                  <a:gd name="T8" fmla="*/ 5 w 5"/>
                  <a:gd name="T9" fmla="*/ 9 h 9"/>
                  <a:gd name="T10" fmla="*/ 4 w 5"/>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9">
                    <a:moveTo>
                      <a:pt x="0" y="0"/>
                    </a:moveTo>
                    <a:lnTo>
                      <a:pt x="4" y="3"/>
                    </a:lnTo>
                    <a:lnTo>
                      <a:pt x="5" y="7"/>
                    </a:lnTo>
                    <a:lnTo>
                      <a:pt x="5" y="9"/>
                    </a:lnTo>
                    <a:lnTo>
                      <a:pt x="4"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grpSp>
        <p:sp>
          <p:nvSpPr>
            <p:cNvPr id="1067" name="Freeform 1728"/>
            <p:cNvSpPr>
              <a:spLocks/>
            </p:cNvSpPr>
            <p:nvPr userDrawn="1"/>
          </p:nvSpPr>
          <p:spPr bwMode="gray">
            <a:xfrm>
              <a:off x="5145" y="3604"/>
              <a:ext cx="2" cy="19"/>
            </a:xfrm>
            <a:custGeom>
              <a:avLst/>
              <a:gdLst>
                <a:gd name="T0" fmla="*/ 2 w 2"/>
                <a:gd name="T1" fmla="*/ 19 h 19"/>
                <a:gd name="T2" fmla="*/ 2 w 2"/>
                <a:gd name="T3" fmla="*/ 16 h 19"/>
                <a:gd name="T4" fmla="*/ 2 w 2"/>
                <a:gd name="T5" fmla="*/ 10 h 19"/>
                <a:gd name="T6" fmla="*/ 2 w 2"/>
                <a:gd name="T7" fmla="*/ 5 h 19"/>
                <a:gd name="T8" fmla="*/ 0 w 2"/>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19">
                  <a:moveTo>
                    <a:pt x="2" y="19"/>
                  </a:moveTo>
                  <a:lnTo>
                    <a:pt x="2" y="16"/>
                  </a:lnTo>
                  <a:lnTo>
                    <a:pt x="2" y="10"/>
                  </a:lnTo>
                  <a:lnTo>
                    <a:pt x="2"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68" name="Freeform 1729"/>
            <p:cNvSpPr>
              <a:spLocks/>
            </p:cNvSpPr>
            <p:nvPr userDrawn="1"/>
          </p:nvSpPr>
          <p:spPr bwMode="gray">
            <a:xfrm>
              <a:off x="5138" y="3614"/>
              <a:ext cx="17" cy="2"/>
            </a:xfrm>
            <a:custGeom>
              <a:avLst/>
              <a:gdLst>
                <a:gd name="T0" fmla="*/ 17 w 17"/>
                <a:gd name="T1" fmla="*/ 0 h 2"/>
                <a:gd name="T2" fmla="*/ 14 w 17"/>
                <a:gd name="T3" fmla="*/ 0 h 2"/>
                <a:gd name="T4" fmla="*/ 9 w 17"/>
                <a:gd name="T5" fmla="*/ 0 h 2"/>
                <a:gd name="T6" fmla="*/ 5 w 17"/>
                <a:gd name="T7" fmla="*/ 2 h 2"/>
                <a:gd name="T8" fmla="*/ 0 w 17"/>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
                  <a:moveTo>
                    <a:pt x="17" y="0"/>
                  </a:moveTo>
                  <a:lnTo>
                    <a:pt x="14" y="0"/>
                  </a:lnTo>
                  <a:lnTo>
                    <a:pt x="9" y="0"/>
                  </a:lnTo>
                  <a:lnTo>
                    <a:pt x="5" y="2"/>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69" name="Freeform 1730"/>
            <p:cNvSpPr>
              <a:spLocks/>
            </p:cNvSpPr>
            <p:nvPr userDrawn="1"/>
          </p:nvSpPr>
          <p:spPr bwMode="gray">
            <a:xfrm>
              <a:off x="5635" y="3324"/>
              <a:ext cx="4" cy="2"/>
            </a:xfrm>
            <a:custGeom>
              <a:avLst/>
              <a:gdLst>
                <a:gd name="T0" fmla="*/ 0 w 3"/>
                <a:gd name="T1" fmla="*/ 2 h 2"/>
                <a:gd name="T2" fmla="*/ 1 w 3"/>
                <a:gd name="T3" fmla="*/ 0 h 2"/>
                <a:gd name="T4" fmla="*/ 3 w 3"/>
                <a:gd name="T5" fmla="*/ 0 h 2"/>
                <a:gd name="T6" fmla="*/ 3 w 3"/>
                <a:gd name="T7" fmla="*/ 0 h 2"/>
                <a:gd name="T8" fmla="*/ 3 w 3"/>
                <a:gd name="T9" fmla="*/ 0 h 2"/>
                <a:gd name="T10" fmla="*/ 1 w 3"/>
                <a:gd name="T11" fmla="*/ 0 h 2"/>
                <a:gd name="T12" fmla="*/ 1 w 3"/>
                <a:gd name="T13" fmla="*/ 2 h 2"/>
                <a:gd name="T14" fmla="*/ 0 w 3"/>
                <a:gd name="T15" fmla="*/ 2 h 2"/>
                <a:gd name="T16" fmla="*/ 0 w 3"/>
                <a:gd name="T17" fmla="*/ 2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 h="2">
                  <a:moveTo>
                    <a:pt x="0" y="2"/>
                  </a:moveTo>
                  <a:lnTo>
                    <a:pt x="1" y="0"/>
                  </a:lnTo>
                  <a:lnTo>
                    <a:pt x="3" y="0"/>
                  </a:lnTo>
                  <a:lnTo>
                    <a:pt x="1" y="0"/>
                  </a:lnTo>
                  <a:lnTo>
                    <a:pt x="1" y="2"/>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70" name="Freeform 1731"/>
            <p:cNvSpPr>
              <a:spLocks/>
            </p:cNvSpPr>
            <p:nvPr userDrawn="1"/>
          </p:nvSpPr>
          <p:spPr bwMode="gray">
            <a:xfrm>
              <a:off x="5629" y="3319"/>
              <a:ext cx="11" cy="14"/>
            </a:xfrm>
            <a:custGeom>
              <a:avLst/>
              <a:gdLst>
                <a:gd name="T0" fmla="*/ 11 w 11"/>
                <a:gd name="T1" fmla="*/ 14 h 14"/>
                <a:gd name="T2" fmla="*/ 11 w 11"/>
                <a:gd name="T3" fmla="*/ 9 h 14"/>
                <a:gd name="T4" fmla="*/ 9 w 11"/>
                <a:gd name="T5" fmla="*/ 5 h 14"/>
                <a:gd name="T6" fmla="*/ 6 w 11"/>
                <a:gd name="T7" fmla="*/ 2 h 14"/>
                <a:gd name="T8" fmla="*/ 0 w 11"/>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4">
                  <a:moveTo>
                    <a:pt x="11" y="14"/>
                  </a:moveTo>
                  <a:lnTo>
                    <a:pt x="11" y="9"/>
                  </a:lnTo>
                  <a:lnTo>
                    <a:pt x="9" y="5"/>
                  </a:lnTo>
                  <a:lnTo>
                    <a:pt x="6"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71" name="Freeform 1732"/>
            <p:cNvSpPr>
              <a:spLocks/>
            </p:cNvSpPr>
            <p:nvPr userDrawn="1"/>
          </p:nvSpPr>
          <p:spPr bwMode="gray">
            <a:xfrm>
              <a:off x="5297" y="3999"/>
              <a:ext cx="13" cy="7"/>
            </a:xfrm>
            <a:custGeom>
              <a:avLst/>
              <a:gdLst>
                <a:gd name="T0" fmla="*/ 0 w 16"/>
                <a:gd name="T1" fmla="*/ 0 h 7"/>
                <a:gd name="T2" fmla="*/ 2 w 16"/>
                <a:gd name="T3" fmla="*/ 4 h 7"/>
                <a:gd name="T4" fmla="*/ 5 w 16"/>
                <a:gd name="T5" fmla="*/ 5 h 7"/>
                <a:gd name="T6" fmla="*/ 10 w 16"/>
                <a:gd name="T7" fmla="*/ 7 h 7"/>
                <a:gd name="T8" fmla="*/ 12 w 16"/>
                <a:gd name="T9" fmla="*/ 7 h 7"/>
                <a:gd name="T10" fmla="*/ 16 w 16"/>
                <a:gd name="T11" fmla="*/ 5 h 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7">
                  <a:moveTo>
                    <a:pt x="0" y="0"/>
                  </a:moveTo>
                  <a:lnTo>
                    <a:pt x="2" y="4"/>
                  </a:lnTo>
                  <a:lnTo>
                    <a:pt x="5" y="5"/>
                  </a:lnTo>
                  <a:lnTo>
                    <a:pt x="10" y="7"/>
                  </a:lnTo>
                  <a:lnTo>
                    <a:pt x="12" y="7"/>
                  </a:lnTo>
                  <a:lnTo>
                    <a:pt x="16" y="5"/>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72" name="Freeform 1733"/>
            <p:cNvSpPr>
              <a:spLocks/>
            </p:cNvSpPr>
            <p:nvPr userDrawn="1"/>
          </p:nvSpPr>
          <p:spPr bwMode="gray">
            <a:xfrm>
              <a:off x="5300" y="3999"/>
              <a:ext cx="11" cy="9"/>
            </a:xfrm>
            <a:custGeom>
              <a:avLst/>
              <a:gdLst>
                <a:gd name="T0" fmla="*/ 0 w 11"/>
                <a:gd name="T1" fmla="*/ 7 h 9"/>
                <a:gd name="T2" fmla="*/ 4 w 11"/>
                <a:gd name="T3" fmla="*/ 9 h 9"/>
                <a:gd name="T4" fmla="*/ 7 w 11"/>
                <a:gd name="T5" fmla="*/ 7 h 9"/>
                <a:gd name="T6" fmla="*/ 9 w 11"/>
                <a:gd name="T7" fmla="*/ 4 h 9"/>
                <a:gd name="T8" fmla="*/ 11 w 11"/>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9">
                  <a:moveTo>
                    <a:pt x="0" y="7"/>
                  </a:moveTo>
                  <a:lnTo>
                    <a:pt x="4" y="9"/>
                  </a:lnTo>
                  <a:lnTo>
                    <a:pt x="7" y="7"/>
                  </a:lnTo>
                  <a:lnTo>
                    <a:pt x="9" y="4"/>
                  </a:lnTo>
                  <a:lnTo>
                    <a:pt x="1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73" name="Freeform 1734"/>
            <p:cNvSpPr>
              <a:spLocks/>
            </p:cNvSpPr>
            <p:nvPr userDrawn="1"/>
          </p:nvSpPr>
          <p:spPr bwMode="gray">
            <a:xfrm>
              <a:off x="5314" y="3249"/>
              <a:ext cx="22" cy="12"/>
            </a:xfrm>
            <a:custGeom>
              <a:avLst/>
              <a:gdLst>
                <a:gd name="T0" fmla="*/ 0 w 18"/>
                <a:gd name="T1" fmla="*/ 12 h 12"/>
                <a:gd name="T2" fmla="*/ 9 w 18"/>
                <a:gd name="T3" fmla="*/ 5 h 12"/>
                <a:gd name="T4" fmla="*/ 18 w 18"/>
                <a:gd name="T5" fmla="*/ 0 h 12"/>
                <a:gd name="T6" fmla="*/ 0 60000 65536"/>
                <a:gd name="T7" fmla="*/ 0 60000 65536"/>
                <a:gd name="T8" fmla="*/ 0 60000 65536"/>
              </a:gdLst>
              <a:ahLst/>
              <a:cxnLst>
                <a:cxn ang="T6">
                  <a:pos x="T0" y="T1"/>
                </a:cxn>
                <a:cxn ang="T7">
                  <a:pos x="T2" y="T3"/>
                </a:cxn>
                <a:cxn ang="T8">
                  <a:pos x="T4" y="T5"/>
                </a:cxn>
              </a:cxnLst>
              <a:rect l="0" t="0" r="r" b="b"/>
              <a:pathLst>
                <a:path w="18" h="12">
                  <a:moveTo>
                    <a:pt x="0" y="12"/>
                  </a:moveTo>
                  <a:lnTo>
                    <a:pt x="9" y="5"/>
                  </a:lnTo>
                  <a:lnTo>
                    <a:pt x="18"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74" name="Freeform 1735"/>
            <p:cNvSpPr>
              <a:spLocks/>
            </p:cNvSpPr>
            <p:nvPr userDrawn="1"/>
          </p:nvSpPr>
          <p:spPr bwMode="gray">
            <a:xfrm>
              <a:off x="5320" y="3247"/>
              <a:ext cx="10" cy="13"/>
            </a:xfrm>
            <a:custGeom>
              <a:avLst/>
              <a:gdLst>
                <a:gd name="T0" fmla="*/ 10 w 10"/>
                <a:gd name="T1" fmla="*/ 14 h 14"/>
                <a:gd name="T2" fmla="*/ 7 w 10"/>
                <a:gd name="T3" fmla="*/ 11 h 14"/>
                <a:gd name="T4" fmla="*/ 5 w 10"/>
                <a:gd name="T5" fmla="*/ 7 h 14"/>
                <a:gd name="T6" fmla="*/ 1 w 10"/>
                <a:gd name="T7" fmla="*/ 4 h 14"/>
                <a:gd name="T8" fmla="*/ 0 w 10"/>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4">
                  <a:moveTo>
                    <a:pt x="10" y="14"/>
                  </a:moveTo>
                  <a:lnTo>
                    <a:pt x="7" y="11"/>
                  </a:lnTo>
                  <a:lnTo>
                    <a:pt x="5" y="7"/>
                  </a:lnTo>
                  <a:lnTo>
                    <a:pt x="1"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75" name="Freeform 1736"/>
            <p:cNvSpPr>
              <a:spLocks/>
            </p:cNvSpPr>
            <p:nvPr userDrawn="1"/>
          </p:nvSpPr>
          <p:spPr bwMode="gray">
            <a:xfrm>
              <a:off x="5451" y="3898"/>
              <a:ext cx="14" cy="13"/>
            </a:xfrm>
            <a:custGeom>
              <a:avLst/>
              <a:gdLst>
                <a:gd name="T0" fmla="*/ 0 w 14"/>
                <a:gd name="T1" fmla="*/ 14 h 14"/>
                <a:gd name="T2" fmla="*/ 5 w 14"/>
                <a:gd name="T3" fmla="*/ 12 h 14"/>
                <a:gd name="T4" fmla="*/ 10 w 14"/>
                <a:gd name="T5" fmla="*/ 10 h 14"/>
                <a:gd name="T6" fmla="*/ 12 w 14"/>
                <a:gd name="T7" fmla="*/ 5 h 14"/>
                <a:gd name="T8" fmla="*/ 14 w 14"/>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14">
                  <a:moveTo>
                    <a:pt x="0" y="14"/>
                  </a:moveTo>
                  <a:lnTo>
                    <a:pt x="5" y="12"/>
                  </a:lnTo>
                  <a:lnTo>
                    <a:pt x="10" y="10"/>
                  </a:lnTo>
                  <a:lnTo>
                    <a:pt x="12" y="5"/>
                  </a:lnTo>
                  <a:lnTo>
                    <a:pt x="14"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76" name="Freeform 1737"/>
            <p:cNvSpPr>
              <a:spLocks/>
            </p:cNvSpPr>
            <p:nvPr userDrawn="1"/>
          </p:nvSpPr>
          <p:spPr bwMode="gray">
            <a:xfrm>
              <a:off x="5458" y="3899"/>
              <a:ext cx="5" cy="9"/>
            </a:xfrm>
            <a:custGeom>
              <a:avLst/>
              <a:gdLst>
                <a:gd name="T0" fmla="*/ 0 w 5"/>
                <a:gd name="T1" fmla="*/ 0 h 9"/>
                <a:gd name="T2" fmla="*/ 3 w 5"/>
                <a:gd name="T3" fmla="*/ 4 h 9"/>
                <a:gd name="T4" fmla="*/ 5 w 5"/>
                <a:gd name="T5" fmla="*/ 7 h 9"/>
                <a:gd name="T6" fmla="*/ 5 w 5"/>
                <a:gd name="T7" fmla="*/ 7 h 9"/>
                <a:gd name="T8" fmla="*/ 5 w 5"/>
                <a:gd name="T9" fmla="*/ 9 h 9"/>
                <a:gd name="T10" fmla="*/ 3 w 5"/>
                <a:gd name="T11" fmla="*/ 9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9">
                  <a:moveTo>
                    <a:pt x="0" y="0"/>
                  </a:moveTo>
                  <a:lnTo>
                    <a:pt x="3" y="4"/>
                  </a:lnTo>
                  <a:lnTo>
                    <a:pt x="5" y="7"/>
                  </a:lnTo>
                  <a:lnTo>
                    <a:pt x="5" y="9"/>
                  </a:lnTo>
                  <a:lnTo>
                    <a:pt x="3"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77" name="Freeform 1738"/>
            <p:cNvSpPr>
              <a:spLocks/>
            </p:cNvSpPr>
            <p:nvPr userDrawn="1"/>
          </p:nvSpPr>
          <p:spPr bwMode="gray">
            <a:xfrm>
              <a:off x="4232" y="2894"/>
              <a:ext cx="4" cy="16"/>
            </a:xfrm>
            <a:custGeom>
              <a:avLst/>
              <a:gdLst>
                <a:gd name="T0" fmla="*/ 3 w 5"/>
                <a:gd name="T1" fmla="*/ 16 h 16"/>
                <a:gd name="T2" fmla="*/ 2 w 5"/>
                <a:gd name="T3" fmla="*/ 12 h 16"/>
                <a:gd name="T4" fmla="*/ 0 w 5"/>
                <a:gd name="T5" fmla="*/ 9 h 16"/>
                <a:gd name="T6" fmla="*/ 2 w 5"/>
                <a:gd name="T7" fmla="*/ 3 h 16"/>
                <a:gd name="T8" fmla="*/ 2 w 5"/>
                <a:gd name="T9" fmla="*/ 2 h 16"/>
                <a:gd name="T10" fmla="*/ 5 w 5"/>
                <a:gd name="T11" fmla="*/ 0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16">
                  <a:moveTo>
                    <a:pt x="3" y="16"/>
                  </a:moveTo>
                  <a:lnTo>
                    <a:pt x="2" y="12"/>
                  </a:lnTo>
                  <a:lnTo>
                    <a:pt x="0" y="9"/>
                  </a:lnTo>
                  <a:lnTo>
                    <a:pt x="2" y="3"/>
                  </a:lnTo>
                  <a:lnTo>
                    <a:pt x="2" y="2"/>
                  </a:lnTo>
                  <a:lnTo>
                    <a:pt x="5"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78" name="Freeform 1739"/>
            <p:cNvSpPr>
              <a:spLocks/>
            </p:cNvSpPr>
            <p:nvPr userDrawn="1"/>
          </p:nvSpPr>
          <p:spPr bwMode="gray">
            <a:xfrm>
              <a:off x="4232" y="2896"/>
              <a:ext cx="9" cy="8"/>
            </a:xfrm>
            <a:custGeom>
              <a:avLst/>
              <a:gdLst>
                <a:gd name="T0" fmla="*/ 9 w 9"/>
                <a:gd name="T1" fmla="*/ 0 h 8"/>
                <a:gd name="T2" fmla="*/ 5 w 9"/>
                <a:gd name="T3" fmla="*/ 0 h 8"/>
                <a:gd name="T4" fmla="*/ 2 w 9"/>
                <a:gd name="T5" fmla="*/ 1 h 8"/>
                <a:gd name="T6" fmla="*/ 0 w 9"/>
                <a:gd name="T7" fmla="*/ 5 h 8"/>
                <a:gd name="T8" fmla="*/ 0 w 9"/>
                <a:gd name="T9" fmla="*/ 8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8">
                  <a:moveTo>
                    <a:pt x="9" y="0"/>
                  </a:moveTo>
                  <a:lnTo>
                    <a:pt x="5" y="0"/>
                  </a:lnTo>
                  <a:lnTo>
                    <a:pt x="2" y="1"/>
                  </a:lnTo>
                  <a:lnTo>
                    <a:pt x="0" y="5"/>
                  </a:lnTo>
                  <a:lnTo>
                    <a:pt x="0" y="8"/>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79" name="Freeform 1740"/>
            <p:cNvSpPr>
              <a:spLocks/>
            </p:cNvSpPr>
            <p:nvPr userDrawn="1"/>
          </p:nvSpPr>
          <p:spPr bwMode="gray">
            <a:xfrm>
              <a:off x="4400" y="2817"/>
              <a:ext cx="2" cy="7"/>
            </a:xfrm>
            <a:custGeom>
              <a:avLst/>
              <a:gdLst>
                <a:gd name="T0" fmla="*/ 0 w 2"/>
                <a:gd name="T1" fmla="*/ 7 h 7"/>
                <a:gd name="T2" fmla="*/ 0 w 2"/>
                <a:gd name="T3" fmla="*/ 3 h 7"/>
                <a:gd name="T4" fmla="*/ 0 w 2"/>
                <a:gd name="T5" fmla="*/ 2 h 7"/>
                <a:gd name="T6" fmla="*/ 0 w 2"/>
                <a:gd name="T7" fmla="*/ 0 h 7"/>
                <a:gd name="T8" fmla="*/ 0 w 2"/>
                <a:gd name="T9" fmla="*/ 0 h 7"/>
                <a:gd name="T10" fmla="*/ 0 w 2"/>
                <a:gd name="T11" fmla="*/ 0 h 7"/>
                <a:gd name="T12" fmla="*/ 2 w 2"/>
                <a:gd name="T13" fmla="*/ 0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 h="7">
                  <a:moveTo>
                    <a:pt x="0" y="7"/>
                  </a:moveTo>
                  <a:lnTo>
                    <a:pt x="0" y="3"/>
                  </a:lnTo>
                  <a:lnTo>
                    <a:pt x="0" y="2"/>
                  </a:lnTo>
                  <a:lnTo>
                    <a:pt x="0" y="0"/>
                  </a:lnTo>
                  <a:lnTo>
                    <a:pt x="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80" name="Freeform 1741"/>
            <p:cNvSpPr>
              <a:spLocks/>
            </p:cNvSpPr>
            <p:nvPr userDrawn="1"/>
          </p:nvSpPr>
          <p:spPr bwMode="gray">
            <a:xfrm>
              <a:off x="4391" y="2819"/>
              <a:ext cx="18" cy="1"/>
            </a:xfrm>
            <a:custGeom>
              <a:avLst/>
              <a:gdLst>
                <a:gd name="T0" fmla="*/ 0 w 18"/>
                <a:gd name="T1" fmla="*/ 1 h 1"/>
                <a:gd name="T2" fmla="*/ 5 w 18"/>
                <a:gd name="T3" fmla="*/ 0 h 1"/>
                <a:gd name="T4" fmla="*/ 9 w 18"/>
                <a:gd name="T5" fmla="*/ 0 h 1"/>
                <a:gd name="T6" fmla="*/ 14 w 18"/>
                <a:gd name="T7" fmla="*/ 0 h 1"/>
                <a:gd name="T8" fmla="*/ 18 w 18"/>
                <a:gd name="T9" fmla="*/ 1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
                  <a:moveTo>
                    <a:pt x="0" y="1"/>
                  </a:moveTo>
                  <a:lnTo>
                    <a:pt x="5" y="0"/>
                  </a:lnTo>
                  <a:lnTo>
                    <a:pt x="9" y="0"/>
                  </a:lnTo>
                  <a:lnTo>
                    <a:pt x="14" y="0"/>
                  </a:lnTo>
                  <a:lnTo>
                    <a:pt x="18" y="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81" name="Freeform 1742"/>
            <p:cNvSpPr>
              <a:spLocks/>
            </p:cNvSpPr>
            <p:nvPr userDrawn="1"/>
          </p:nvSpPr>
          <p:spPr bwMode="gray">
            <a:xfrm>
              <a:off x="5071" y="4157"/>
              <a:ext cx="22" cy="8"/>
            </a:xfrm>
            <a:custGeom>
              <a:avLst/>
              <a:gdLst>
                <a:gd name="T0" fmla="*/ 0 w 18"/>
                <a:gd name="T1" fmla="*/ 7 h 8"/>
                <a:gd name="T2" fmla="*/ 6 w 18"/>
                <a:gd name="T3" fmla="*/ 8 h 8"/>
                <a:gd name="T4" fmla="*/ 11 w 18"/>
                <a:gd name="T5" fmla="*/ 7 h 8"/>
                <a:gd name="T6" fmla="*/ 14 w 18"/>
                <a:gd name="T7" fmla="*/ 3 h 8"/>
                <a:gd name="T8" fmla="*/ 18 w 18"/>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8">
                  <a:moveTo>
                    <a:pt x="0" y="7"/>
                  </a:moveTo>
                  <a:lnTo>
                    <a:pt x="6" y="8"/>
                  </a:lnTo>
                  <a:lnTo>
                    <a:pt x="11" y="7"/>
                  </a:lnTo>
                  <a:lnTo>
                    <a:pt x="14" y="3"/>
                  </a:lnTo>
                  <a:lnTo>
                    <a:pt x="18"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82" name="Freeform 1743"/>
            <p:cNvSpPr>
              <a:spLocks/>
            </p:cNvSpPr>
            <p:nvPr userDrawn="1"/>
          </p:nvSpPr>
          <p:spPr bwMode="gray">
            <a:xfrm>
              <a:off x="5075" y="4158"/>
              <a:ext cx="7" cy="4"/>
            </a:xfrm>
            <a:custGeom>
              <a:avLst/>
              <a:gdLst>
                <a:gd name="T0" fmla="*/ 7 w 7"/>
                <a:gd name="T1" fmla="*/ 6 h 7"/>
                <a:gd name="T2" fmla="*/ 5 w 7"/>
                <a:gd name="T3" fmla="*/ 7 h 7"/>
                <a:gd name="T4" fmla="*/ 3 w 7"/>
                <a:gd name="T5" fmla="*/ 6 h 7"/>
                <a:gd name="T6" fmla="*/ 2 w 7"/>
                <a:gd name="T7" fmla="*/ 4 h 7"/>
                <a:gd name="T8" fmla="*/ 0 w 7"/>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7" y="6"/>
                  </a:moveTo>
                  <a:lnTo>
                    <a:pt x="5" y="7"/>
                  </a:lnTo>
                  <a:lnTo>
                    <a:pt x="3" y="6"/>
                  </a:lnTo>
                  <a:lnTo>
                    <a:pt x="2" y="4"/>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83" name="Freeform 1744"/>
            <p:cNvSpPr>
              <a:spLocks/>
            </p:cNvSpPr>
            <p:nvPr userDrawn="1"/>
          </p:nvSpPr>
          <p:spPr bwMode="gray">
            <a:xfrm>
              <a:off x="5231" y="4052"/>
              <a:ext cx="3" cy="17"/>
            </a:xfrm>
            <a:custGeom>
              <a:avLst/>
              <a:gdLst>
                <a:gd name="T0" fmla="*/ 0 w 3"/>
                <a:gd name="T1" fmla="*/ 17 h 17"/>
                <a:gd name="T2" fmla="*/ 3 w 3"/>
                <a:gd name="T3" fmla="*/ 15 h 17"/>
                <a:gd name="T4" fmla="*/ 3 w 3"/>
                <a:gd name="T5" fmla="*/ 12 h 17"/>
                <a:gd name="T6" fmla="*/ 3 w 3"/>
                <a:gd name="T7" fmla="*/ 8 h 17"/>
                <a:gd name="T8" fmla="*/ 3 w 3"/>
                <a:gd name="T9" fmla="*/ 3 h 17"/>
                <a:gd name="T10" fmla="*/ 1 w 3"/>
                <a:gd name="T11" fmla="*/ 0 h 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 h="17">
                  <a:moveTo>
                    <a:pt x="0" y="17"/>
                  </a:moveTo>
                  <a:lnTo>
                    <a:pt x="3" y="15"/>
                  </a:lnTo>
                  <a:lnTo>
                    <a:pt x="3" y="12"/>
                  </a:lnTo>
                  <a:lnTo>
                    <a:pt x="3" y="8"/>
                  </a:lnTo>
                  <a:lnTo>
                    <a:pt x="3" y="3"/>
                  </a:lnTo>
                  <a:lnTo>
                    <a:pt x="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84" name="Freeform 1745"/>
            <p:cNvSpPr>
              <a:spLocks/>
            </p:cNvSpPr>
            <p:nvPr userDrawn="1"/>
          </p:nvSpPr>
          <p:spPr bwMode="gray">
            <a:xfrm>
              <a:off x="5227" y="4059"/>
              <a:ext cx="13" cy="7"/>
            </a:xfrm>
            <a:custGeom>
              <a:avLst/>
              <a:gdLst>
                <a:gd name="T0" fmla="*/ 0 w 11"/>
                <a:gd name="T1" fmla="*/ 7 h 7"/>
                <a:gd name="T2" fmla="*/ 4 w 11"/>
                <a:gd name="T3" fmla="*/ 7 h 7"/>
                <a:gd name="T4" fmla="*/ 7 w 11"/>
                <a:gd name="T5" fmla="*/ 5 h 7"/>
                <a:gd name="T6" fmla="*/ 9 w 11"/>
                <a:gd name="T7" fmla="*/ 3 h 7"/>
                <a:gd name="T8" fmla="*/ 11 w 11"/>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7">
                  <a:moveTo>
                    <a:pt x="0" y="7"/>
                  </a:moveTo>
                  <a:lnTo>
                    <a:pt x="4" y="7"/>
                  </a:lnTo>
                  <a:lnTo>
                    <a:pt x="7" y="5"/>
                  </a:lnTo>
                  <a:lnTo>
                    <a:pt x="9" y="3"/>
                  </a:lnTo>
                  <a:lnTo>
                    <a:pt x="11"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85" name="Freeform 1746"/>
            <p:cNvSpPr>
              <a:spLocks/>
            </p:cNvSpPr>
            <p:nvPr userDrawn="1"/>
          </p:nvSpPr>
          <p:spPr bwMode="gray">
            <a:xfrm>
              <a:off x="4489" y="4094"/>
              <a:ext cx="4" cy="17"/>
            </a:xfrm>
            <a:custGeom>
              <a:avLst/>
              <a:gdLst>
                <a:gd name="T0" fmla="*/ 0 w 5"/>
                <a:gd name="T1" fmla="*/ 0 h 17"/>
                <a:gd name="T2" fmla="*/ 0 w 5"/>
                <a:gd name="T3" fmla="*/ 5 h 17"/>
                <a:gd name="T4" fmla="*/ 0 w 5"/>
                <a:gd name="T5" fmla="*/ 8 h 17"/>
                <a:gd name="T6" fmla="*/ 0 w 5"/>
                <a:gd name="T7" fmla="*/ 12 h 17"/>
                <a:gd name="T8" fmla="*/ 2 w 5"/>
                <a:gd name="T9" fmla="*/ 15 h 17"/>
                <a:gd name="T10" fmla="*/ 5 w 5"/>
                <a:gd name="T11" fmla="*/ 17 h 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17">
                  <a:moveTo>
                    <a:pt x="0" y="0"/>
                  </a:moveTo>
                  <a:lnTo>
                    <a:pt x="0" y="5"/>
                  </a:lnTo>
                  <a:lnTo>
                    <a:pt x="0" y="8"/>
                  </a:lnTo>
                  <a:lnTo>
                    <a:pt x="0" y="12"/>
                  </a:lnTo>
                  <a:lnTo>
                    <a:pt x="2" y="15"/>
                  </a:lnTo>
                  <a:lnTo>
                    <a:pt x="5" y="1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86" name="Freeform 1747"/>
            <p:cNvSpPr>
              <a:spLocks/>
            </p:cNvSpPr>
            <p:nvPr userDrawn="1"/>
          </p:nvSpPr>
          <p:spPr bwMode="gray">
            <a:xfrm>
              <a:off x="4487" y="4101"/>
              <a:ext cx="9" cy="7"/>
            </a:xfrm>
            <a:custGeom>
              <a:avLst/>
              <a:gdLst>
                <a:gd name="T0" fmla="*/ 9 w 9"/>
                <a:gd name="T1" fmla="*/ 7 h 7"/>
                <a:gd name="T2" fmla="*/ 5 w 9"/>
                <a:gd name="T3" fmla="*/ 7 h 7"/>
                <a:gd name="T4" fmla="*/ 2 w 9"/>
                <a:gd name="T5" fmla="*/ 5 h 7"/>
                <a:gd name="T6" fmla="*/ 0 w 9"/>
                <a:gd name="T7" fmla="*/ 3 h 7"/>
                <a:gd name="T8" fmla="*/ 0 w 9"/>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7">
                  <a:moveTo>
                    <a:pt x="9" y="7"/>
                  </a:moveTo>
                  <a:lnTo>
                    <a:pt x="5" y="7"/>
                  </a:lnTo>
                  <a:lnTo>
                    <a:pt x="2" y="5"/>
                  </a:lnTo>
                  <a:lnTo>
                    <a:pt x="0" y="3"/>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87" name="Freeform 1748"/>
            <p:cNvSpPr>
              <a:spLocks/>
            </p:cNvSpPr>
            <p:nvPr userDrawn="1"/>
          </p:nvSpPr>
          <p:spPr bwMode="gray">
            <a:xfrm>
              <a:off x="4692" y="4181"/>
              <a:ext cx="2" cy="7"/>
            </a:xfrm>
            <a:custGeom>
              <a:avLst/>
              <a:gdLst>
                <a:gd name="T0" fmla="*/ 0 w 2"/>
                <a:gd name="T1" fmla="*/ 5 h 7"/>
                <a:gd name="T2" fmla="*/ 0 w 2"/>
                <a:gd name="T3" fmla="*/ 5 h 7"/>
                <a:gd name="T4" fmla="*/ 0 w 2"/>
                <a:gd name="T5" fmla="*/ 7 h 7"/>
                <a:gd name="T6" fmla="*/ 0 w 2"/>
                <a:gd name="T7" fmla="*/ 7 h 7"/>
                <a:gd name="T8" fmla="*/ 0 w 2"/>
                <a:gd name="T9" fmla="*/ 5 h 7"/>
                <a:gd name="T10" fmla="*/ 2 w 2"/>
                <a:gd name="T11" fmla="*/ 5 h 7"/>
                <a:gd name="T12" fmla="*/ 2 w 2"/>
                <a:gd name="T13" fmla="*/ 2 h 7"/>
                <a:gd name="T14" fmla="*/ 2 w 2"/>
                <a:gd name="T15" fmla="*/ 0 h 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 h="7">
                  <a:moveTo>
                    <a:pt x="0" y="5"/>
                  </a:moveTo>
                  <a:lnTo>
                    <a:pt x="0" y="5"/>
                  </a:lnTo>
                  <a:lnTo>
                    <a:pt x="0" y="7"/>
                  </a:lnTo>
                  <a:lnTo>
                    <a:pt x="0" y="5"/>
                  </a:lnTo>
                  <a:lnTo>
                    <a:pt x="2" y="5"/>
                  </a:lnTo>
                  <a:lnTo>
                    <a:pt x="2" y="2"/>
                  </a:lnTo>
                  <a:lnTo>
                    <a:pt x="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88" name="Freeform 1749"/>
            <p:cNvSpPr>
              <a:spLocks/>
            </p:cNvSpPr>
            <p:nvPr userDrawn="1"/>
          </p:nvSpPr>
          <p:spPr bwMode="gray">
            <a:xfrm>
              <a:off x="4683" y="4183"/>
              <a:ext cx="18" cy="4"/>
            </a:xfrm>
            <a:custGeom>
              <a:avLst/>
              <a:gdLst>
                <a:gd name="T0" fmla="*/ 18 w 18"/>
                <a:gd name="T1" fmla="*/ 0 h 3"/>
                <a:gd name="T2" fmla="*/ 14 w 18"/>
                <a:gd name="T3" fmla="*/ 3 h 3"/>
                <a:gd name="T4" fmla="*/ 11 w 18"/>
                <a:gd name="T5" fmla="*/ 3 h 3"/>
                <a:gd name="T6" fmla="*/ 5 w 18"/>
                <a:gd name="T7" fmla="*/ 3 h 3"/>
                <a:gd name="T8" fmla="*/ 0 w 18"/>
                <a:gd name="T9" fmla="*/ 2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
                  <a:moveTo>
                    <a:pt x="18" y="0"/>
                  </a:moveTo>
                  <a:lnTo>
                    <a:pt x="14" y="3"/>
                  </a:lnTo>
                  <a:lnTo>
                    <a:pt x="11" y="3"/>
                  </a:lnTo>
                  <a:lnTo>
                    <a:pt x="5" y="3"/>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89" name="Freeform 1750"/>
            <p:cNvSpPr>
              <a:spLocks/>
            </p:cNvSpPr>
            <p:nvPr userDrawn="1"/>
          </p:nvSpPr>
          <p:spPr bwMode="gray">
            <a:xfrm>
              <a:off x="4475" y="2866"/>
              <a:ext cx="4" cy="3"/>
            </a:xfrm>
            <a:custGeom>
              <a:avLst/>
              <a:gdLst>
                <a:gd name="T0" fmla="*/ 2 w 5"/>
                <a:gd name="T1" fmla="*/ 3 h 3"/>
                <a:gd name="T2" fmla="*/ 0 w 5"/>
                <a:gd name="T3" fmla="*/ 2 h 3"/>
                <a:gd name="T4" fmla="*/ 0 w 5"/>
                <a:gd name="T5" fmla="*/ 2 h 3"/>
                <a:gd name="T6" fmla="*/ 0 w 5"/>
                <a:gd name="T7" fmla="*/ 0 h 3"/>
                <a:gd name="T8" fmla="*/ 0 w 5"/>
                <a:gd name="T9" fmla="*/ 0 h 3"/>
                <a:gd name="T10" fmla="*/ 3 w 5"/>
                <a:gd name="T11" fmla="*/ 0 h 3"/>
                <a:gd name="T12" fmla="*/ 5 w 5"/>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 h="3">
                  <a:moveTo>
                    <a:pt x="2" y="3"/>
                  </a:moveTo>
                  <a:lnTo>
                    <a:pt x="0" y="2"/>
                  </a:lnTo>
                  <a:lnTo>
                    <a:pt x="0" y="0"/>
                  </a:lnTo>
                  <a:lnTo>
                    <a:pt x="3" y="0"/>
                  </a:lnTo>
                  <a:lnTo>
                    <a:pt x="5"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90" name="Freeform 1751"/>
            <p:cNvSpPr>
              <a:spLocks/>
            </p:cNvSpPr>
            <p:nvPr userDrawn="1"/>
          </p:nvSpPr>
          <p:spPr bwMode="gray">
            <a:xfrm>
              <a:off x="4473" y="2859"/>
              <a:ext cx="9" cy="16"/>
            </a:xfrm>
            <a:custGeom>
              <a:avLst/>
              <a:gdLst>
                <a:gd name="T0" fmla="*/ 2 w 9"/>
                <a:gd name="T1" fmla="*/ 16 h 16"/>
                <a:gd name="T2" fmla="*/ 0 w 9"/>
                <a:gd name="T3" fmla="*/ 12 h 16"/>
                <a:gd name="T4" fmla="*/ 2 w 9"/>
                <a:gd name="T5" fmla="*/ 7 h 16"/>
                <a:gd name="T6" fmla="*/ 5 w 9"/>
                <a:gd name="T7" fmla="*/ 3 h 16"/>
                <a:gd name="T8" fmla="*/ 9 w 9"/>
                <a:gd name="T9" fmla="*/ 0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6">
                  <a:moveTo>
                    <a:pt x="2" y="16"/>
                  </a:moveTo>
                  <a:lnTo>
                    <a:pt x="0" y="12"/>
                  </a:lnTo>
                  <a:lnTo>
                    <a:pt x="2" y="7"/>
                  </a:lnTo>
                  <a:lnTo>
                    <a:pt x="5" y="3"/>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91" name="Freeform 1752"/>
            <p:cNvSpPr>
              <a:spLocks/>
            </p:cNvSpPr>
            <p:nvPr userDrawn="1"/>
          </p:nvSpPr>
          <p:spPr bwMode="gray">
            <a:xfrm>
              <a:off x="4989" y="2614"/>
              <a:ext cx="2" cy="9"/>
            </a:xfrm>
            <a:custGeom>
              <a:avLst/>
              <a:gdLst>
                <a:gd name="T0" fmla="*/ 0 w 2"/>
                <a:gd name="T1" fmla="*/ 9 h 9"/>
                <a:gd name="T2" fmla="*/ 0 w 2"/>
                <a:gd name="T3" fmla="*/ 5 h 9"/>
                <a:gd name="T4" fmla="*/ 0 w 2"/>
                <a:gd name="T5" fmla="*/ 2 h 9"/>
                <a:gd name="T6" fmla="*/ 0 w 2"/>
                <a:gd name="T7" fmla="*/ 0 h 9"/>
                <a:gd name="T8" fmla="*/ 2 w 2"/>
                <a:gd name="T9" fmla="*/ 0 h 9"/>
                <a:gd name="T10" fmla="*/ 2 w 2"/>
                <a:gd name="T11" fmla="*/ 0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 h="9">
                  <a:moveTo>
                    <a:pt x="0" y="9"/>
                  </a:moveTo>
                  <a:lnTo>
                    <a:pt x="0" y="5"/>
                  </a:lnTo>
                  <a:lnTo>
                    <a:pt x="0" y="2"/>
                  </a:lnTo>
                  <a:lnTo>
                    <a:pt x="0" y="0"/>
                  </a:lnTo>
                  <a:lnTo>
                    <a:pt x="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92" name="Freeform 1753"/>
            <p:cNvSpPr>
              <a:spLocks/>
            </p:cNvSpPr>
            <p:nvPr userDrawn="1"/>
          </p:nvSpPr>
          <p:spPr bwMode="gray">
            <a:xfrm>
              <a:off x="4982" y="2616"/>
              <a:ext cx="16" cy="4"/>
            </a:xfrm>
            <a:custGeom>
              <a:avLst/>
              <a:gdLst>
                <a:gd name="T0" fmla="*/ 0 w 16"/>
                <a:gd name="T1" fmla="*/ 3 h 3"/>
                <a:gd name="T2" fmla="*/ 4 w 16"/>
                <a:gd name="T3" fmla="*/ 1 h 3"/>
                <a:gd name="T4" fmla="*/ 7 w 16"/>
                <a:gd name="T5" fmla="*/ 0 h 3"/>
                <a:gd name="T6" fmla="*/ 12 w 16"/>
                <a:gd name="T7" fmla="*/ 0 h 3"/>
                <a:gd name="T8" fmla="*/ 16 w 16"/>
                <a:gd name="T9" fmla="*/ 1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 h="3">
                  <a:moveTo>
                    <a:pt x="0" y="3"/>
                  </a:moveTo>
                  <a:lnTo>
                    <a:pt x="4" y="1"/>
                  </a:lnTo>
                  <a:lnTo>
                    <a:pt x="7" y="0"/>
                  </a:lnTo>
                  <a:lnTo>
                    <a:pt x="12" y="0"/>
                  </a:lnTo>
                  <a:lnTo>
                    <a:pt x="16" y="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93" name="Freeform 1754"/>
            <p:cNvSpPr>
              <a:spLocks/>
            </p:cNvSpPr>
            <p:nvPr userDrawn="1"/>
          </p:nvSpPr>
          <p:spPr bwMode="gray">
            <a:xfrm>
              <a:off x="4688" y="2924"/>
              <a:ext cx="4" cy="19"/>
            </a:xfrm>
            <a:custGeom>
              <a:avLst/>
              <a:gdLst>
                <a:gd name="T0" fmla="*/ 2 w 2"/>
                <a:gd name="T1" fmla="*/ 19 h 19"/>
                <a:gd name="T2" fmla="*/ 2 w 2"/>
                <a:gd name="T3" fmla="*/ 15 h 19"/>
                <a:gd name="T4" fmla="*/ 2 w 2"/>
                <a:gd name="T5" fmla="*/ 10 h 19"/>
                <a:gd name="T6" fmla="*/ 2 w 2"/>
                <a:gd name="T7" fmla="*/ 5 h 19"/>
                <a:gd name="T8" fmla="*/ 0 w 2"/>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19">
                  <a:moveTo>
                    <a:pt x="2" y="19"/>
                  </a:moveTo>
                  <a:lnTo>
                    <a:pt x="2" y="15"/>
                  </a:lnTo>
                  <a:lnTo>
                    <a:pt x="2" y="10"/>
                  </a:lnTo>
                  <a:lnTo>
                    <a:pt x="2" y="5"/>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94" name="Freeform 1755"/>
            <p:cNvSpPr>
              <a:spLocks/>
            </p:cNvSpPr>
            <p:nvPr userDrawn="1"/>
          </p:nvSpPr>
          <p:spPr bwMode="gray">
            <a:xfrm>
              <a:off x="4680" y="2934"/>
              <a:ext cx="22" cy="2"/>
            </a:xfrm>
            <a:custGeom>
              <a:avLst/>
              <a:gdLst>
                <a:gd name="T0" fmla="*/ 19 w 19"/>
                <a:gd name="T1" fmla="*/ 0 h 2"/>
                <a:gd name="T2" fmla="*/ 14 w 19"/>
                <a:gd name="T3" fmla="*/ 0 h 2"/>
                <a:gd name="T4" fmla="*/ 10 w 19"/>
                <a:gd name="T5" fmla="*/ 0 h 2"/>
                <a:gd name="T6" fmla="*/ 5 w 19"/>
                <a:gd name="T7" fmla="*/ 0 h 2"/>
                <a:gd name="T8" fmla="*/ 0 w 19"/>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2">
                  <a:moveTo>
                    <a:pt x="19" y="0"/>
                  </a:moveTo>
                  <a:lnTo>
                    <a:pt x="14" y="0"/>
                  </a:lnTo>
                  <a:lnTo>
                    <a:pt x="10" y="0"/>
                  </a:lnTo>
                  <a:lnTo>
                    <a:pt x="5"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95" name="Freeform 1756"/>
            <p:cNvSpPr>
              <a:spLocks/>
            </p:cNvSpPr>
            <p:nvPr userDrawn="1"/>
          </p:nvSpPr>
          <p:spPr bwMode="gray">
            <a:xfrm>
              <a:off x="5197" y="2677"/>
              <a:ext cx="4" cy="5"/>
            </a:xfrm>
            <a:custGeom>
              <a:avLst/>
              <a:gdLst>
                <a:gd name="T0" fmla="*/ 0 w 4"/>
                <a:gd name="T1" fmla="*/ 2 h 5"/>
                <a:gd name="T2" fmla="*/ 0 w 4"/>
                <a:gd name="T3" fmla="*/ 2 h 5"/>
                <a:gd name="T4" fmla="*/ 2 w 4"/>
                <a:gd name="T5" fmla="*/ 0 h 5"/>
                <a:gd name="T6" fmla="*/ 4 w 4"/>
                <a:gd name="T7" fmla="*/ 2 h 5"/>
                <a:gd name="T8" fmla="*/ 2 w 4"/>
                <a:gd name="T9" fmla="*/ 2 h 5"/>
                <a:gd name="T10" fmla="*/ 2 w 4"/>
                <a:gd name="T11" fmla="*/ 3 h 5"/>
                <a:gd name="T12" fmla="*/ 0 w 4"/>
                <a:gd name="T13" fmla="*/ 3 h 5"/>
                <a:gd name="T14" fmla="*/ 0 w 4"/>
                <a:gd name="T15" fmla="*/ 5 h 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 h="5">
                  <a:moveTo>
                    <a:pt x="0" y="2"/>
                  </a:moveTo>
                  <a:lnTo>
                    <a:pt x="0" y="2"/>
                  </a:lnTo>
                  <a:lnTo>
                    <a:pt x="2" y="0"/>
                  </a:lnTo>
                  <a:lnTo>
                    <a:pt x="4" y="2"/>
                  </a:lnTo>
                  <a:lnTo>
                    <a:pt x="2" y="2"/>
                  </a:lnTo>
                  <a:lnTo>
                    <a:pt x="2" y="3"/>
                  </a:lnTo>
                  <a:lnTo>
                    <a:pt x="0" y="3"/>
                  </a:lnTo>
                  <a:lnTo>
                    <a:pt x="0" y="5"/>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96" name="Freeform 1757"/>
            <p:cNvSpPr>
              <a:spLocks/>
            </p:cNvSpPr>
            <p:nvPr userDrawn="1"/>
          </p:nvSpPr>
          <p:spPr bwMode="gray">
            <a:xfrm>
              <a:off x="5192" y="2672"/>
              <a:ext cx="13" cy="13"/>
            </a:xfrm>
            <a:custGeom>
              <a:avLst/>
              <a:gdLst>
                <a:gd name="T0" fmla="*/ 11 w 11"/>
                <a:gd name="T1" fmla="*/ 15 h 15"/>
                <a:gd name="T2" fmla="*/ 11 w 11"/>
                <a:gd name="T3" fmla="*/ 10 h 15"/>
                <a:gd name="T4" fmla="*/ 7 w 11"/>
                <a:gd name="T5" fmla="*/ 5 h 15"/>
                <a:gd name="T6" fmla="*/ 5 w 11"/>
                <a:gd name="T7" fmla="*/ 1 h 15"/>
                <a:gd name="T8" fmla="*/ 0 w 11"/>
                <a:gd name="T9" fmla="*/ 0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15">
                  <a:moveTo>
                    <a:pt x="11" y="15"/>
                  </a:moveTo>
                  <a:lnTo>
                    <a:pt x="11" y="10"/>
                  </a:lnTo>
                  <a:lnTo>
                    <a:pt x="7" y="5"/>
                  </a:lnTo>
                  <a:lnTo>
                    <a:pt x="5" y="1"/>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97" name="Freeform 1758"/>
            <p:cNvSpPr>
              <a:spLocks/>
            </p:cNvSpPr>
            <p:nvPr userDrawn="1"/>
          </p:nvSpPr>
          <p:spPr bwMode="gray">
            <a:xfrm>
              <a:off x="4438" y="2707"/>
              <a:ext cx="4" cy="13"/>
            </a:xfrm>
            <a:custGeom>
              <a:avLst/>
              <a:gdLst>
                <a:gd name="T0" fmla="*/ 4 w 4"/>
                <a:gd name="T1" fmla="*/ 15 h 15"/>
                <a:gd name="T2" fmla="*/ 0 w 4"/>
                <a:gd name="T3" fmla="*/ 12 h 15"/>
                <a:gd name="T4" fmla="*/ 0 w 4"/>
                <a:gd name="T5" fmla="*/ 8 h 15"/>
                <a:gd name="T6" fmla="*/ 0 w 4"/>
                <a:gd name="T7" fmla="*/ 5 h 15"/>
                <a:gd name="T8" fmla="*/ 2 w 4"/>
                <a:gd name="T9" fmla="*/ 1 h 15"/>
                <a:gd name="T10" fmla="*/ 4 w 4"/>
                <a:gd name="T11" fmla="*/ 0 h 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 h="15">
                  <a:moveTo>
                    <a:pt x="4" y="15"/>
                  </a:moveTo>
                  <a:lnTo>
                    <a:pt x="0" y="12"/>
                  </a:lnTo>
                  <a:lnTo>
                    <a:pt x="0" y="8"/>
                  </a:lnTo>
                  <a:lnTo>
                    <a:pt x="0" y="5"/>
                  </a:lnTo>
                  <a:lnTo>
                    <a:pt x="2" y="1"/>
                  </a:lnTo>
                  <a:lnTo>
                    <a:pt x="4"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98" name="Freeform 1759"/>
            <p:cNvSpPr>
              <a:spLocks/>
            </p:cNvSpPr>
            <p:nvPr userDrawn="1"/>
          </p:nvSpPr>
          <p:spPr bwMode="gray">
            <a:xfrm>
              <a:off x="4437" y="2708"/>
              <a:ext cx="4" cy="9"/>
            </a:xfrm>
            <a:custGeom>
              <a:avLst/>
              <a:gdLst>
                <a:gd name="T0" fmla="*/ 8 w 8"/>
                <a:gd name="T1" fmla="*/ 0 h 9"/>
                <a:gd name="T2" fmla="*/ 5 w 8"/>
                <a:gd name="T3" fmla="*/ 2 h 9"/>
                <a:gd name="T4" fmla="*/ 1 w 8"/>
                <a:gd name="T5" fmla="*/ 4 h 9"/>
                <a:gd name="T6" fmla="*/ 0 w 8"/>
                <a:gd name="T7" fmla="*/ 6 h 9"/>
                <a:gd name="T8" fmla="*/ 0 w 8"/>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9">
                  <a:moveTo>
                    <a:pt x="8" y="0"/>
                  </a:moveTo>
                  <a:lnTo>
                    <a:pt x="5" y="2"/>
                  </a:lnTo>
                  <a:lnTo>
                    <a:pt x="1" y="4"/>
                  </a:lnTo>
                  <a:lnTo>
                    <a:pt x="0" y="6"/>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99" name="Freeform 1760"/>
            <p:cNvSpPr>
              <a:spLocks/>
            </p:cNvSpPr>
            <p:nvPr userDrawn="1"/>
          </p:nvSpPr>
          <p:spPr bwMode="gray">
            <a:xfrm>
              <a:off x="5094" y="2904"/>
              <a:ext cx="2" cy="22"/>
            </a:xfrm>
            <a:custGeom>
              <a:avLst/>
              <a:gdLst>
                <a:gd name="T0" fmla="*/ 2 w 2"/>
                <a:gd name="T1" fmla="*/ 20 h 20"/>
                <a:gd name="T2" fmla="*/ 2 w 2"/>
                <a:gd name="T3" fmla="*/ 16 h 20"/>
                <a:gd name="T4" fmla="*/ 2 w 2"/>
                <a:gd name="T5" fmla="*/ 11 h 20"/>
                <a:gd name="T6" fmla="*/ 2 w 2"/>
                <a:gd name="T7" fmla="*/ 6 h 20"/>
                <a:gd name="T8" fmla="*/ 0 w 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20">
                  <a:moveTo>
                    <a:pt x="2" y="20"/>
                  </a:moveTo>
                  <a:lnTo>
                    <a:pt x="2" y="16"/>
                  </a:lnTo>
                  <a:lnTo>
                    <a:pt x="2" y="11"/>
                  </a:lnTo>
                  <a:lnTo>
                    <a:pt x="2" y="6"/>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00" name="Freeform 1761"/>
            <p:cNvSpPr>
              <a:spLocks/>
            </p:cNvSpPr>
            <p:nvPr userDrawn="1"/>
          </p:nvSpPr>
          <p:spPr bwMode="gray">
            <a:xfrm>
              <a:off x="5087" y="2915"/>
              <a:ext cx="18" cy="2"/>
            </a:xfrm>
            <a:custGeom>
              <a:avLst/>
              <a:gdLst>
                <a:gd name="T0" fmla="*/ 18 w 18"/>
                <a:gd name="T1" fmla="*/ 0 h 2"/>
                <a:gd name="T2" fmla="*/ 14 w 18"/>
                <a:gd name="T3" fmla="*/ 0 h 2"/>
                <a:gd name="T4" fmla="*/ 9 w 18"/>
                <a:gd name="T5" fmla="*/ 0 h 2"/>
                <a:gd name="T6" fmla="*/ 5 w 18"/>
                <a:gd name="T7" fmla="*/ 0 h 2"/>
                <a:gd name="T8" fmla="*/ 0 w 18"/>
                <a:gd name="T9" fmla="*/ 2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2">
                  <a:moveTo>
                    <a:pt x="18" y="0"/>
                  </a:moveTo>
                  <a:lnTo>
                    <a:pt x="14" y="0"/>
                  </a:lnTo>
                  <a:lnTo>
                    <a:pt x="9" y="0"/>
                  </a:lnTo>
                  <a:lnTo>
                    <a:pt x="5" y="0"/>
                  </a:lnTo>
                  <a:lnTo>
                    <a:pt x="0" y="2"/>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01" name="Freeform 1762"/>
            <p:cNvSpPr>
              <a:spLocks/>
            </p:cNvSpPr>
            <p:nvPr userDrawn="1"/>
          </p:nvSpPr>
          <p:spPr bwMode="gray">
            <a:xfrm>
              <a:off x="4599" y="2631"/>
              <a:ext cx="18" cy="9"/>
            </a:xfrm>
            <a:custGeom>
              <a:avLst/>
              <a:gdLst>
                <a:gd name="T0" fmla="*/ 0 w 18"/>
                <a:gd name="T1" fmla="*/ 2 h 9"/>
                <a:gd name="T2" fmla="*/ 5 w 18"/>
                <a:gd name="T3" fmla="*/ 0 h 9"/>
                <a:gd name="T4" fmla="*/ 11 w 18"/>
                <a:gd name="T5" fmla="*/ 2 h 9"/>
                <a:gd name="T6" fmla="*/ 14 w 18"/>
                <a:gd name="T7" fmla="*/ 6 h 9"/>
                <a:gd name="T8" fmla="*/ 18 w 18"/>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9">
                  <a:moveTo>
                    <a:pt x="0" y="2"/>
                  </a:moveTo>
                  <a:lnTo>
                    <a:pt x="5" y="0"/>
                  </a:lnTo>
                  <a:lnTo>
                    <a:pt x="11" y="2"/>
                  </a:lnTo>
                  <a:lnTo>
                    <a:pt x="14" y="6"/>
                  </a:lnTo>
                  <a:lnTo>
                    <a:pt x="18"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02" name="Freeform 1763"/>
            <p:cNvSpPr>
              <a:spLocks/>
            </p:cNvSpPr>
            <p:nvPr userDrawn="1"/>
          </p:nvSpPr>
          <p:spPr bwMode="gray">
            <a:xfrm>
              <a:off x="4601" y="2631"/>
              <a:ext cx="13" cy="9"/>
            </a:xfrm>
            <a:custGeom>
              <a:avLst/>
              <a:gdLst>
                <a:gd name="T0" fmla="*/ 10 w 10"/>
                <a:gd name="T1" fmla="*/ 0 h 9"/>
                <a:gd name="T2" fmla="*/ 7 w 10"/>
                <a:gd name="T3" fmla="*/ 0 h 9"/>
                <a:gd name="T4" fmla="*/ 5 w 10"/>
                <a:gd name="T5" fmla="*/ 2 h 9"/>
                <a:gd name="T6" fmla="*/ 3 w 10"/>
                <a:gd name="T7" fmla="*/ 4 h 9"/>
                <a:gd name="T8" fmla="*/ 0 w 10"/>
                <a:gd name="T9" fmla="*/ 9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9">
                  <a:moveTo>
                    <a:pt x="10" y="0"/>
                  </a:moveTo>
                  <a:lnTo>
                    <a:pt x="7" y="0"/>
                  </a:lnTo>
                  <a:lnTo>
                    <a:pt x="5" y="2"/>
                  </a:lnTo>
                  <a:lnTo>
                    <a:pt x="3" y="4"/>
                  </a:lnTo>
                  <a:lnTo>
                    <a:pt x="0" y="9"/>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03" name="Freeform 1764"/>
            <p:cNvSpPr>
              <a:spLocks/>
            </p:cNvSpPr>
            <p:nvPr userDrawn="1"/>
          </p:nvSpPr>
          <p:spPr bwMode="gray">
            <a:xfrm>
              <a:off x="5248" y="2826"/>
              <a:ext cx="13" cy="13"/>
            </a:xfrm>
            <a:custGeom>
              <a:avLst/>
              <a:gdLst>
                <a:gd name="T0" fmla="*/ 14 w 14"/>
                <a:gd name="T1" fmla="*/ 12 h 12"/>
                <a:gd name="T2" fmla="*/ 14 w 14"/>
                <a:gd name="T3" fmla="*/ 7 h 12"/>
                <a:gd name="T4" fmla="*/ 12 w 14"/>
                <a:gd name="T5" fmla="*/ 3 h 12"/>
                <a:gd name="T6" fmla="*/ 9 w 14"/>
                <a:gd name="T7" fmla="*/ 1 h 12"/>
                <a:gd name="T8" fmla="*/ 5 w 14"/>
                <a:gd name="T9" fmla="*/ 0 h 12"/>
                <a:gd name="T10" fmla="*/ 0 w 14"/>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 h="12">
                  <a:moveTo>
                    <a:pt x="14" y="12"/>
                  </a:moveTo>
                  <a:lnTo>
                    <a:pt x="14" y="7"/>
                  </a:lnTo>
                  <a:lnTo>
                    <a:pt x="12" y="3"/>
                  </a:lnTo>
                  <a:lnTo>
                    <a:pt x="9" y="1"/>
                  </a:lnTo>
                  <a:lnTo>
                    <a:pt x="5" y="0"/>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04" name="Freeform 1765"/>
            <p:cNvSpPr>
              <a:spLocks/>
            </p:cNvSpPr>
            <p:nvPr userDrawn="1"/>
          </p:nvSpPr>
          <p:spPr bwMode="gray">
            <a:xfrm>
              <a:off x="5255" y="2829"/>
              <a:ext cx="4" cy="7"/>
            </a:xfrm>
            <a:custGeom>
              <a:avLst/>
              <a:gdLst>
                <a:gd name="T0" fmla="*/ 0 w 5"/>
                <a:gd name="T1" fmla="*/ 0 h 7"/>
                <a:gd name="T2" fmla="*/ 3 w 5"/>
                <a:gd name="T3" fmla="*/ 0 h 7"/>
                <a:gd name="T4" fmla="*/ 5 w 5"/>
                <a:gd name="T5" fmla="*/ 2 h 7"/>
                <a:gd name="T6" fmla="*/ 5 w 5"/>
                <a:gd name="T7" fmla="*/ 4 h 7"/>
                <a:gd name="T8" fmla="*/ 3 w 5"/>
                <a:gd name="T9" fmla="*/ 7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7">
                  <a:moveTo>
                    <a:pt x="0" y="0"/>
                  </a:moveTo>
                  <a:lnTo>
                    <a:pt x="3" y="0"/>
                  </a:lnTo>
                  <a:lnTo>
                    <a:pt x="5" y="2"/>
                  </a:lnTo>
                  <a:lnTo>
                    <a:pt x="5" y="4"/>
                  </a:lnTo>
                  <a:lnTo>
                    <a:pt x="3"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05" name="Freeform 1766"/>
            <p:cNvSpPr>
              <a:spLocks/>
            </p:cNvSpPr>
            <p:nvPr userDrawn="1"/>
          </p:nvSpPr>
          <p:spPr bwMode="gray">
            <a:xfrm>
              <a:off x="4066" y="3457"/>
              <a:ext cx="4" cy="16"/>
            </a:xfrm>
            <a:custGeom>
              <a:avLst/>
              <a:gdLst>
                <a:gd name="T0" fmla="*/ 1 w 5"/>
                <a:gd name="T1" fmla="*/ 0 h 16"/>
                <a:gd name="T2" fmla="*/ 0 w 5"/>
                <a:gd name="T3" fmla="*/ 3 h 16"/>
                <a:gd name="T4" fmla="*/ 0 w 5"/>
                <a:gd name="T5" fmla="*/ 7 h 16"/>
                <a:gd name="T6" fmla="*/ 1 w 5"/>
                <a:gd name="T7" fmla="*/ 12 h 16"/>
                <a:gd name="T8" fmla="*/ 3 w 5"/>
                <a:gd name="T9" fmla="*/ 14 h 16"/>
                <a:gd name="T10" fmla="*/ 5 w 5"/>
                <a:gd name="T11" fmla="*/ 16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 h="16">
                  <a:moveTo>
                    <a:pt x="1" y="0"/>
                  </a:moveTo>
                  <a:lnTo>
                    <a:pt x="0" y="3"/>
                  </a:lnTo>
                  <a:lnTo>
                    <a:pt x="0" y="7"/>
                  </a:lnTo>
                  <a:lnTo>
                    <a:pt x="1" y="12"/>
                  </a:lnTo>
                  <a:lnTo>
                    <a:pt x="3" y="14"/>
                  </a:lnTo>
                  <a:lnTo>
                    <a:pt x="5" y="16"/>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06" name="Freeform 1767"/>
            <p:cNvSpPr>
              <a:spLocks/>
            </p:cNvSpPr>
            <p:nvPr userDrawn="1"/>
          </p:nvSpPr>
          <p:spPr bwMode="gray">
            <a:xfrm>
              <a:off x="4066" y="3464"/>
              <a:ext cx="7" cy="7"/>
            </a:xfrm>
            <a:custGeom>
              <a:avLst/>
              <a:gdLst>
                <a:gd name="T0" fmla="*/ 7 w 7"/>
                <a:gd name="T1" fmla="*/ 7 h 7"/>
                <a:gd name="T2" fmla="*/ 3 w 7"/>
                <a:gd name="T3" fmla="*/ 5 h 7"/>
                <a:gd name="T4" fmla="*/ 1 w 7"/>
                <a:gd name="T5" fmla="*/ 5 h 7"/>
                <a:gd name="T6" fmla="*/ 0 w 7"/>
                <a:gd name="T7" fmla="*/ 2 h 7"/>
                <a:gd name="T8" fmla="*/ 0 w 7"/>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7" y="7"/>
                  </a:moveTo>
                  <a:lnTo>
                    <a:pt x="3" y="5"/>
                  </a:lnTo>
                  <a:lnTo>
                    <a:pt x="1" y="5"/>
                  </a:lnTo>
                  <a:lnTo>
                    <a:pt x="0" y="2"/>
                  </a:lnTo>
                  <a:lnTo>
                    <a:pt x="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07" name="Freeform 1768"/>
            <p:cNvSpPr>
              <a:spLocks/>
            </p:cNvSpPr>
            <p:nvPr userDrawn="1"/>
          </p:nvSpPr>
          <p:spPr bwMode="gray">
            <a:xfrm>
              <a:off x="4059" y="3228"/>
              <a:ext cx="12" cy="13"/>
            </a:xfrm>
            <a:custGeom>
              <a:avLst/>
              <a:gdLst>
                <a:gd name="T0" fmla="*/ 0 w 12"/>
                <a:gd name="T1" fmla="*/ 14 h 14"/>
                <a:gd name="T2" fmla="*/ 0 w 12"/>
                <a:gd name="T3" fmla="*/ 9 h 14"/>
                <a:gd name="T4" fmla="*/ 3 w 12"/>
                <a:gd name="T5" fmla="*/ 3 h 14"/>
                <a:gd name="T6" fmla="*/ 7 w 12"/>
                <a:gd name="T7" fmla="*/ 2 h 14"/>
                <a:gd name="T8" fmla="*/ 12 w 12"/>
                <a:gd name="T9" fmla="*/ 0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4">
                  <a:moveTo>
                    <a:pt x="0" y="14"/>
                  </a:moveTo>
                  <a:lnTo>
                    <a:pt x="0" y="9"/>
                  </a:lnTo>
                  <a:lnTo>
                    <a:pt x="3" y="3"/>
                  </a:lnTo>
                  <a:lnTo>
                    <a:pt x="7" y="2"/>
                  </a:lnTo>
                  <a:lnTo>
                    <a:pt x="1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08" name="Freeform 1769"/>
            <p:cNvSpPr>
              <a:spLocks/>
            </p:cNvSpPr>
            <p:nvPr userDrawn="1"/>
          </p:nvSpPr>
          <p:spPr bwMode="gray">
            <a:xfrm>
              <a:off x="4060" y="3231"/>
              <a:ext cx="4" cy="7"/>
            </a:xfrm>
            <a:custGeom>
              <a:avLst/>
              <a:gdLst>
                <a:gd name="T0" fmla="*/ 4 w 4"/>
                <a:gd name="T1" fmla="*/ 7 h 7"/>
                <a:gd name="T2" fmla="*/ 2 w 4"/>
                <a:gd name="T3" fmla="*/ 6 h 7"/>
                <a:gd name="T4" fmla="*/ 0 w 4"/>
                <a:gd name="T5" fmla="*/ 2 h 7"/>
                <a:gd name="T6" fmla="*/ 0 w 4"/>
                <a:gd name="T7" fmla="*/ 2 h 7"/>
                <a:gd name="T8" fmla="*/ 2 w 4"/>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7">
                  <a:moveTo>
                    <a:pt x="4" y="7"/>
                  </a:moveTo>
                  <a:lnTo>
                    <a:pt x="2" y="6"/>
                  </a:lnTo>
                  <a:lnTo>
                    <a:pt x="0" y="2"/>
                  </a:lnTo>
                  <a:lnTo>
                    <a:pt x="2"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09" name="Line 1770"/>
            <p:cNvSpPr>
              <a:spLocks noChangeShapeType="1"/>
            </p:cNvSpPr>
            <p:nvPr userDrawn="1"/>
          </p:nvSpPr>
          <p:spPr bwMode="gray">
            <a:xfrm flipH="1" flipV="1">
              <a:off x="5262" y="2875"/>
              <a:ext cx="13" cy="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10" name="Line 1771"/>
            <p:cNvSpPr>
              <a:spLocks noChangeShapeType="1"/>
            </p:cNvSpPr>
            <p:nvPr userDrawn="1"/>
          </p:nvSpPr>
          <p:spPr bwMode="gray">
            <a:xfrm flipV="1">
              <a:off x="5196" y="3831"/>
              <a:ext cx="1" cy="13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11" name="Freeform 1772"/>
            <p:cNvSpPr>
              <a:spLocks/>
            </p:cNvSpPr>
            <p:nvPr userDrawn="1"/>
          </p:nvSpPr>
          <p:spPr bwMode="gray">
            <a:xfrm>
              <a:off x="5094" y="3924"/>
              <a:ext cx="9" cy="9"/>
            </a:xfrm>
            <a:custGeom>
              <a:avLst/>
              <a:gdLst>
                <a:gd name="T0" fmla="*/ 0 w 9"/>
                <a:gd name="T1" fmla="*/ 0 h 9"/>
                <a:gd name="T2" fmla="*/ 0 w 9"/>
                <a:gd name="T3" fmla="*/ 3 h 9"/>
                <a:gd name="T4" fmla="*/ 2 w 9"/>
                <a:gd name="T5" fmla="*/ 5 h 9"/>
                <a:gd name="T6" fmla="*/ 4 w 9"/>
                <a:gd name="T7" fmla="*/ 7 h 9"/>
                <a:gd name="T8" fmla="*/ 5 w 9"/>
                <a:gd name="T9" fmla="*/ 9 h 9"/>
                <a:gd name="T10" fmla="*/ 9 w 9"/>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 h="9">
                  <a:moveTo>
                    <a:pt x="0" y="0"/>
                  </a:moveTo>
                  <a:lnTo>
                    <a:pt x="0" y="3"/>
                  </a:lnTo>
                  <a:lnTo>
                    <a:pt x="2" y="5"/>
                  </a:lnTo>
                  <a:lnTo>
                    <a:pt x="4" y="7"/>
                  </a:lnTo>
                  <a:lnTo>
                    <a:pt x="5" y="9"/>
                  </a:lnTo>
                  <a:lnTo>
                    <a:pt x="9"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12" name="Line 1773"/>
            <p:cNvSpPr>
              <a:spLocks noChangeShapeType="1"/>
            </p:cNvSpPr>
            <p:nvPr userDrawn="1"/>
          </p:nvSpPr>
          <p:spPr bwMode="gray">
            <a:xfrm flipV="1">
              <a:off x="5089" y="3845"/>
              <a:ext cx="2" cy="74"/>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13" name="Line 1774"/>
            <p:cNvSpPr>
              <a:spLocks noChangeShapeType="1"/>
            </p:cNvSpPr>
            <p:nvPr userDrawn="1"/>
          </p:nvSpPr>
          <p:spPr bwMode="gray">
            <a:xfrm flipV="1">
              <a:off x="5094" y="3847"/>
              <a:ext cx="2" cy="77"/>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14" name="Line 1775"/>
            <p:cNvSpPr>
              <a:spLocks noChangeShapeType="1"/>
            </p:cNvSpPr>
            <p:nvPr userDrawn="1"/>
          </p:nvSpPr>
          <p:spPr bwMode="gray">
            <a:xfrm>
              <a:off x="5092" y="3847"/>
              <a:ext cx="1" cy="68"/>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15" name="Freeform 1776"/>
            <p:cNvSpPr>
              <a:spLocks/>
            </p:cNvSpPr>
            <p:nvPr userDrawn="1"/>
          </p:nvSpPr>
          <p:spPr bwMode="gray">
            <a:xfrm>
              <a:off x="5089" y="3915"/>
              <a:ext cx="4" cy="9"/>
            </a:xfrm>
            <a:custGeom>
              <a:avLst/>
              <a:gdLst>
                <a:gd name="T0" fmla="*/ 5 w 5"/>
                <a:gd name="T1" fmla="*/ 9 h 9"/>
                <a:gd name="T2" fmla="*/ 2 w 5"/>
                <a:gd name="T3" fmla="*/ 7 h 9"/>
                <a:gd name="T4" fmla="*/ 0 w 5"/>
                <a:gd name="T5" fmla="*/ 5 h 9"/>
                <a:gd name="T6" fmla="*/ 0 w 5"/>
                <a:gd name="T7" fmla="*/ 2 h 9"/>
                <a:gd name="T8" fmla="*/ 3 w 5"/>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 h="9">
                  <a:moveTo>
                    <a:pt x="5" y="9"/>
                  </a:moveTo>
                  <a:lnTo>
                    <a:pt x="2" y="7"/>
                  </a:lnTo>
                  <a:lnTo>
                    <a:pt x="0" y="5"/>
                  </a:lnTo>
                  <a:lnTo>
                    <a:pt x="0" y="2"/>
                  </a:lnTo>
                  <a:lnTo>
                    <a:pt x="3"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16" name="Freeform 1777"/>
            <p:cNvSpPr>
              <a:spLocks/>
            </p:cNvSpPr>
            <p:nvPr userDrawn="1"/>
          </p:nvSpPr>
          <p:spPr bwMode="gray">
            <a:xfrm>
              <a:off x="5091" y="3929"/>
              <a:ext cx="12" cy="11"/>
            </a:xfrm>
            <a:custGeom>
              <a:avLst/>
              <a:gdLst>
                <a:gd name="T0" fmla="*/ 12 w 12"/>
                <a:gd name="T1" fmla="*/ 2 h 11"/>
                <a:gd name="T2" fmla="*/ 8 w 12"/>
                <a:gd name="T3" fmla="*/ 0 h 11"/>
                <a:gd name="T4" fmla="*/ 5 w 12"/>
                <a:gd name="T5" fmla="*/ 2 h 11"/>
                <a:gd name="T6" fmla="*/ 1 w 12"/>
                <a:gd name="T7" fmla="*/ 4 h 11"/>
                <a:gd name="T8" fmla="*/ 1 w 12"/>
                <a:gd name="T9" fmla="*/ 5 h 11"/>
                <a:gd name="T10" fmla="*/ 0 w 12"/>
                <a:gd name="T11" fmla="*/ 1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11">
                  <a:moveTo>
                    <a:pt x="12" y="2"/>
                  </a:moveTo>
                  <a:lnTo>
                    <a:pt x="8" y="0"/>
                  </a:lnTo>
                  <a:lnTo>
                    <a:pt x="5" y="2"/>
                  </a:lnTo>
                  <a:lnTo>
                    <a:pt x="1" y="4"/>
                  </a:lnTo>
                  <a:lnTo>
                    <a:pt x="1" y="5"/>
                  </a:lnTo>
                  <a:lnTo>
                    <a:pt x="0" y="11"/>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17" name="Freeform 1778"/>
            <p:cNvSpPr>
              <a:spLocks/>
            </p:cNvSpPr>
            <p:nvPr userDrawn="1"/>
          </p:nvSpPr>
          <p:spPr bwMode="gray">
            <a:xfrm>
              <a:off x="5080" y="3915"/>
              <a:ext cx="12" cy="9"/>
            </a:xfrm>
            <a:custGeom>
              <a:avLst/>
              <a:gdLst>
                <a:gd name="T0" fmla="*/ 12 w 12"/>
                <a:gd name="T1" fmla="*/ 0 h 9"/>
                <a:gd name="T2" fmla="*/ 11 w 12"/>
                <a:gd name="T3" fmla="*/ 4 h 9"/>
                <a:gd name="T4" fmla="*/ 11 w 12"/>
                <a:gd name="T5" fmla="*/ 7 h 9"/>
                <a:gd name="T6" fmla="*/ 7 w 12"/>
                <a:gd name="T7" fmla="*/ 9 h 9"/>
                <a:gd name="T8" fmla="*/ 4 w 12"/>
                <a:gd name="T9" fmla="*/ 9 h 9"/>
                <a:gd name="T10" fmla="*/ 0 w 12"/>
                <a:gd name="T11" fmla="*/ 7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9">
                  <a:moveTo>
                    <a:pt x="12" y="0"/>
                  </a:moveTo>
                  <a:lnTo>
                    <a:pt x="11" y="4"/>
                  </a:lnTo>
                  <a:lnTo>
                    <a:pt x="11" y="7"/>
                  </a:lnTo>
                  <a:lnTo>
                    <a:pt x="7" y="9"/>
                  </a:lnTo>
                  <a:lnTo>
                    <a:pt x="4" y="9"/>
                  </a:lnTo>
                  <a:lnTo>
                    <a:pt x="0" y="7"/>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18" name="Freeform 1779"/>
            <p:cNvSpPr>
              <a:spLocks/>
            </p:cNvSpPr>
            <p:nvPr userDrawn="1"/>
          </p:nvSpPr>
          <p:spPr bwMode="gray">
            <a:xfrm>
              <a:off x="5071" y="3922"/>
              <a:ext cx="13" cy="18"/>
            </a:xfrm>
            <a:custGeom>
              <a:avLst/>
              <a:gdLst>
                <a:gd name="T0" fmla="*/ 0 w 9"/>
                <a:gd name="T1" fmla="*/ 18 h 18"/>
                <a:gd name="T2" fmla="*/ 2 w 9"/>
                <a:gd name="T3" fmla="*/ 14 h 18"/>
                <a:gd name="T4" fmla="*/ 4 w 9"/>
                <a:gd name="T5" fmla="*/ 9 h 18"/>
                <a:gd name="T6" fmla="*/ 6 w 9"/>
                <a:gd name="T7" fmla="*/ 4 h 18"/>
                <a:gd name="T8" fmla="*/ 9 w 9"/>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8">
                  <a:moveTo>
                    <a:pt x="0" y="18"/>
                  </a:moveTo>
                  <a:lnTo>
                    <a:pt x="2" y="14"/>
                  </a:lnTo>
                  <a:lnTo>
                    <a:pt x="4" y="9"/>
                  </a:lnTo>
                  <a:lnTo>
                    <a:pt x="6" y="4"/>
                  </a:lnTo>
                  <a:lnTo>
                    <a:pt x="9"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19" name="Freeform 1780"/>
            <p:cNvSpPr>
              <a:spLocks/>
            </p:cNvSpPr>
            <p:nvPr userDrawn="1"/>
          </p:nvSpPr>
          <p:spPr bwMode="gray">
            <a:xfrm>
              <a:off x="5071" y="3940"/>
              <a:ext cx="22" cy="4"/>
            </a:xfrm>
            <a:custGeom>
              <a:avLst/>
              <a:gdLst>
                <a:gd name="T0" fmla="*/ 0 w 20"/>
                <a:gd name="T1" fmla="*/ 0 h 1"/>
                <a:gd name="T2" fmla="*/ 6 w 20"/>
                <a:gd name="T3" fmla="*/ 1 h 1"/>
                <a:gd name="T4" fmla="*/ 11 w 20"/>
                <a:gd name="T5" fmla="*/ 1 h 1"/>
                <a:gd name="T6" fmla="*/ 16 w 20"/>
                <a:gd name="T7" fmla="*/ 1 h 1"/>
                <a:gd name="T8" fmla="*/ 20 w 20"/>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
                  <a:moveTo>
                    <a:pt x="0" y="0"/>
                  </a:moveTo>
                  <a:lnTo>
                    <a:pt x="6" y="1"/>
                  </a:lnTo>
                  <a:lnTo>
                    <a:pt x="11" y="1"/>
                  </a:lnTo>
                  <a:lnTo>
                    <a:pt x="16" y="1"/>
                  </a:lnTo>
                  <a:lnTo>
                    <a:pt x="20" y="0"/>
                  </a:lnTo>
                </a:path>
              </a:pathLst>
            </a:custGeom>
            <a:noFill/>
            <a:ln w="3175">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120" name="Line 1781"/>
            <p:cNvSpPr>
              <a:spLocks noChangeShapeType="1"/>
            </p:cNvSpPr>
            <p:nvPr userDrawn="1"/>
          </p:nvSpPr>
          <p:spPr bwMode="gray">
            <a:xfrm>
              <a:off x="4785" y="3160"/>
              <a:ext cx="314" cy="103"/>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grpSp>
      <p:sp>
        <p:nvSpPr>
          <p:cNvPr id="1721" name="Text Box 64"/>
          <p:cNvSpPr txBox="1">
            <a:spLocks noChangeArrowheads="1"/>
          </p:cNvSpPr>
          <p:nvPr/>
        </p:nvSpPr>
        <p:spPr bwMode="auto">
          <a:xfrm>
            <a:off x="3962400" y="2286000"/>
            <a:ext cx="144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itchFamily="34" charset="0"/>
                <a:ea typeface="新細明體" pitchFamily="18" charset="-120"/>
              </a:defRPr>
            </a:lvl1pPr>
            <a:lvl2pPr marL="742950" indent="-285750" eaLnBrk="0" hangingPunct="0">
              <a:defRPr b="1">
                <a:solidFill>
                  <a:schemeClr val="tx1"/>
                </a:solidFill>
                <a:latin typeface="Arial" pitchFamily="34" charset="0"/>
                <a:ea typeface="新細明體" pitchFamily="18" charset="-120"/>
              </a:defRPr>
            </a:lvl2pPr>
            <a:lvl3pPr marL="1143000" indent="-228600" eaLnBrk="0" hangingPunct="0">
              <a:defRPr b="1">
                <a:solidFill>
                  <a:schemeClr val="tx1"/>
                </a:solidFill>
                <a:latin typeface="Arial" pitchFamily="34" charset="0"/>
                <a:ea typeface="新細明體" pitchFamily="18" charset="-120"/>
              </a:defRPr>
            </a:lvl3pPr>
            <a:lvl4pPr marL="1600200" indent="-228600" eaLnBrk="0" hangingPunct="0">
              <a:defRPr b="1">
                <a:solidFill>
                  <a:schemeClr val="tx1"/>
                </a:solidFill>
                <a:latin typeface="Arial" pitchFamily="34" charset="0"/>
                <a:ea typeface="新細明體" pitchFamily="18" charset="-120"/>
              </a:defRPr>
            </a:lvl4pPr>
            <a:lvl5pPr marL="2057400" indent="-228600" eaLnBrk="0" hangingPunct="0">
              <a:defRPr b="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b="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b="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b="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b="1">
                <a:solidFill>
                  <a:schemeClr val="tx1"/>
                </a:solidFill>
                <a:latin typeface="Arial" pitchFamily="34" charset="0"/>
                <a:ea typeface="新細明體" pitchFamily="18" charset="-120"/>
              </a:defRPr>
            </a:lvl9pPr>
          </a:lstStyle>
          <a:p>
            <a:pPr eaLnBrk="1" fontAlgn="base" hangingPunct="1">
              <a:spcBef>
                <a:spcPct val="50000"/>
              </a:spcBef>
              <a:spcAft>
                <a:spcPct val="0"/>
              </a:spcAft>
            </a:pPr>
            <a:r>
              <a:rPr lang="en-US" altLang="zh-TW" sz="2800">
                <a:solidFill>
                  <a:srgbClr val="FFFFFF"/>
                </a:solidFill>
                <a:latin typeface="Verdana" pitchFamily="34" charset="0"/>
              </a:rPr>
              <a:t>LOGO</a:t>
            </a:r>
          </a:p>
        </p:txBody>
      </p:sp>
      <p:sp>
        <p:nvSpPr>
          <p:cNvPr id="1722" name="Freeform 1790"/>
          <p:cNvSpPr>
            <a:spLocks/>
          </p:cNvSpPr>
          <p:nvPr userDrawn="1"/>
        </p:nvSpPr>
        <p:spPr bwMode="gray">
          <a:xfrm>
            <a:off x="-26988" y="3017838"/>
            <a:ext cx="9175751" cy="579437"/>
          </a:xfrm>
          <a:custGeom>
            <a:avLst/>
            <a:gdLst>
              <a:gd name="T0" fmla="*/ 3001 w 5780"/>
              <a:gd name="T1" fmla="*/ 12 h 365"/>
              <a:gd name="T2" fmla="*/ 5777 w 5780"/>
              <a:gd name="T3" fmla="*/ 342 h 365"/>
              <a:gd name="T4" fmla="*/ 0 w 5780"/>
              <a:gd name="T5" fmla="*/ 365 h 365"/>
              <a:gd name="T6" fmla="*/ 3001 w 5780"/>
              <a:gd name="T7" fmla="*/ 12 h 3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80" h="365">
                <a:moveTo>
                  <a:pt x="3001" y="12"/>
                </a:moveTo>
                <a:cubicBezTo>
                  <a:pt x="5072" y="24"/>
                  <a:pt x="5780" y="322"/>
                  <a:pt x="5777" y="342"/>
                </a:cubicBezTo>
                <a:lnTo>
                  <a:pt x="0" y="365"/>
                </a:lnTo>
                <a:cubicBezTo>
                  <a:pt x="295" y="258"/>
                  <a:pt x="930" y="0"/>
                  <a:pt x="3001" y="1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3075" name="Rectangle 3"/>
          <p:cNvSpPr>
            <a:spLocks noGrp="1" noChangeArrowheads="1"/>
          </p:cNvSpPr>
          <p:nvPr>
            <p:ph type="subTitle" idx="1"/>
          </p:nvPr>
        </p:nvSpPr>
        <p:spPr bwMode="black">
          <a:xfrm>
            <a:off x="1219200" y="4800600"/>
            <a:ext cx="6705600" cy="533400"/>
          </a:xfrm>
        </p:spPr>
        <p:txBody>
          <a:bodyPr/>
          <a:lstStyle>
            <a:lvl1pPr marL="0" indent="0" algn="ctr">
              <a:buFont typeface="Wingdings" pitchFamily="2" charset="2"/>
              <a:buNone/>
              <a:defRPr sz="1800" b="1"/>
            </a:lvl1pPr>
          </a:lstStyle>
          <a:p>
            <a:r>
              <a:rPr lang="zh-TW" altLang="en-US"/>
              <a:t>按一下以編輯母片副標題樣式</a:t>
            </a:r>
            <a:endParaRPr lang="en-US" altLang="zh-TW"/>
          </a:p>
        </p:txBody>
      </p:sp>
      <p:sp>
        <p:nvSpPr>
          <p:cNvPr id="3074" name="Rectangle 2"/>
          <p:cNvSpPr>
            <a:spLocks noGrp="1" noChangeArrowheads="1"/>
          </p:cNvSpPr>
          <p:nvPr>
            <p:ph type="ctrTitle"/>
          </p:nvPr>
        </p:nvSpPr>
        <p:spPr>
          <a:xfrm>
            <a:off x="762000" y="3657600"/>
            <a:ext cx="7467600" cy="762000"/>
          </a:xfrm>
        </p:spPr>
        <p:txBody>
          <a:bodyPr/>
          <a:lstStyle>
            <a:lvl1pPr>
              <a:defRPr sz="4400">
                <a:solidFill>
                  <a:schemeClr val="tx1"/>
                </a:solidFill>
              </a:defRPr>
            </a:lvl1pPr>
          </a:lstStyle>
          <a:p>
            <a:r>
              <a:rPr lang="zh-TW" altLang="en-US"/>
              <a:t>按一下以編輯母片標題樣式</a:t>
            </a:r>
            <a:endParaRPr lang="en-US" altLang="zh-TW"/>
          </a:p>
        </p:txBody>
      </p:sp>
    </p:spTree>
    <p:extLst>
      <p:ext uri="{BB962C8B-B14F-4D97-AF65-F5344CB8AC3E}">
        <p14:creationId xmlns:p14="http://schemas.microsoft.com/office/powerpoint/2010/main" val="275382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TW">
                <a:solidFill>
                  <a:srgbClr val="024631"/>
                </a:solidFill>
              </a:rPr>
              <a:t>www.themegallery.com</a:t>
            </a:r>
          </a:p>
        </p:txBody>
      </p:sp>
      <p:sp>
        <p:nvSpPr>
          <p:cNvPr id="5" name="Rectangle 6"/>
          <p:cNvSpPr>
            <a:spLocks noGrp="1" noChangeArrowheads="1"/>
          </p:cNvSpPr>
          <p:nvPr>
            <p:ph type="sldNum" sz="quarter" idx="11"/>
          </p:nvPr>
        </p:nvSpPr>
        <p:spPr>
          <a:ln/>
        </p:spPr>
        <p:txBody>
          <a:bodyPr/>
          <a:lstStyle>
            <a:lvl1pPr>
              <a:defRPr/>
            </a:lvl1pPr>
          </a:lstStyle>
          <a:p>
            <a:pPr>
              <a:defRPr/>
            </a:pPr>
            <a:fld id="{9A5BA963-6969-4F6B-8DE5-3C6FC7508B31}" type="slidenum">
              <a:rPr lang="en-US" altLang="zh-TW">
                <a:solidFill>
                  <a:srgbClr val="024631"/>
                </a:solidFill>
              </a:rPr>
              <a:pPr>
                <a:defRPr/>
              </a:pPr>
              <a:t>‹#›</a:t>
            </a:fld>
            <a:endParaRPr lang="en-US" altLang="zh-TW">
              <a:solidFill>
                <a:srgbClr val="024631"/>
              </a:solidFill>
            </a:endParaRPr>
          </a:p>
        </p:txBody>
      </p:sp>
    </p:spTree>
    <p:extLst>
      <p:ext uri="{BB962C8B-B14F-4D97-AF65-F5344CB8AC3E}">
        <p14:creationId xmlns:p14="http://schemas.microsoft.com/office/powerpoint/2010/main" val="237058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TW">
                <a:solidFill>
                  <a:srgbClr val="024631"/>
                </a:solidFill>
              </a:rPr>
              <a:t>www.themegallery.com</a:t>
            </a:r>
          </a:p>
        </p:txBody>
      </p:sp>
      <p:sp>
        <p:nvSpPr>
          <p:cNvPr id="5" name="Rectangle 6"/>
          <p:cNvSpPr>
            <a:spLocks noGrp="1" noChangeArrowheads="1"/>
          </p:cNvSpPr>
          <p:nvPr>
            <p:ph type="sldNum" sz="quarter" idx="11"/>
          </p:nvPr>
        </p:nvSpPr>
        <p:spPr>
          <a:ln/>
        </p:spPr>
        <p:txBody>
          <a:bodyPr/>
          <a:lstStyle>
            <a:lvl1pPr>
              <a:defRPr/>
            </a:lvl1pPr>
          </a:lstStyle>
          <a:p>
            <a:pPr>
              <a:defRPr/>
            </a:pPr>
            <a:fld id="{B0E30F2A-2C29-489D-950B-1126EABEA6CE}" type="slidenum">
              <a:rPr lang="en-US" altLang="zh-TW">
                <a:solidFill>
                  <a:srgbClr val="024631"/>
                </a:solidFill>
              </a:rPr>
              <a:pPr>
                <a:defRPr/>
              </a:pPr>
              <a:t>‹#›</a:t>
            </a:fld>
            <a:endParaRPr lang="en-US" altLang="zh-TW">
              <a:solidFill>
                <a:srgbClr val="024631"/>
              </a:solidFill>
            </a:endParaRPr>
          </a:p>
        </p:txBody>
      </p:sp>
    </p:spTree>
    <p:extLst>
      <p:ext uri="{BB962C8B-B14F-4D97-AF65-F5344CB8AC3E}">
        <p14:creationId xmlns:p14="http://schemas.microsoft.com/office/powerpoint/2010/main" val="19292992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990600"/>
            <a:ext cx="40386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990600"/>
            <a:ext cx="40386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5"/>
          <p:cNvSpPr>
            <a:spLocks noGrp="1" noChangeArrowheads="1"/>
          </p:cNvSpPr>
          <p:nvPr>
            <p:ph type="ftr" sz="quarter" idx="10"/>
          </p:nvPr>
        </p:nvSpPr>
        <p:spPr>
          <a:ln/>
        </p:spPr>
        <p:txBody>
          <a:bodyPr/>
          <a:lstStyle>
            <a:lvl1pPr>
              <a:defRPr/>
            </a:lvl1pPr>
          </a:lstStyle>
          <a:p>
            <a:pPr>
              <a:defRPr/>
            </a:pPr>
            <a:r>
              <a:rPr lang="en-US" altLang="zh-TW">
                <a:solidFill>
                  <a:srgbClr val="024631"/>
                </a:solidFill>
              </a:rPr>
              <a:t>www.themegallery.com</a:t>
            </a:r>
          </a:p>
        </p:txBody>
      </p:sp>
      <p:sp>
        <p:nvSpPr>
          <p:cNvPr id="6" name="Rectangle 6"/>
          <p:cNvSpPr>
            <a:spLocks noGrp="1" noChangeArrowheads="1"/>
          </p:cNvSpPr>
          <p:nvPr>
            <p:ph type="sldNum" sz="quarter" idx="11"/>
          </p:nvPr>
        </p:nvSpPr>
        <p:spPr>
          <a:ln/>
        </p:spPr>
        <p:txBody>
          <a:bodyPr/>
          <a:lstStyle>
            <a:lvl1pPr>
              <a:defRPr/>
            </a:lvl1pPr>
          </a:lstStyle>
          <a:p>
            <a:pPr>
              <a:defRPr/>
            </a:pPr>
            <a:fld id="{4A83D1F8-3A3C-4463-829B-9258F2D1154E}" type="slidenum">
              <a:rPr lang="en-US" altLang="zh-TW">
                <a:solidFill>
                  <a:srgbClr val="024631"/>
                </a:solidFill>
              </a:rPr>
              <a:pPr>
                <a:defRPr/>
              </a:pPr>
              <a:t>‹#›</a:t>
            </a:fld>
            <a:endParaRPr lang="en-US" altLang="zh-TW">
              <a:solidFill>
                <a:srgbClr val="024631"/>
              </a:solidFill>
            </a:endParaRPr>
          </a:p>
        </p:txBody>
      </p:sp>
    </p:spTree>
    <p:extLst>
      <p:ext uri="{BB962C8B-B14F-4D97-AF65-F5344CB8AC3E}">
        <p14:creationId xmlns:p14="http://schemas.microsoft.com/office/powerpoint/2010/main" val="13024317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5"/>
          <p:cNvSpPr>
            <a:spLocks noGrp="1" noChangeArrowheads="1"/>
          </p:cNvSpPr>
          <p:nvPr>
            <p:ph type="ftr" sz="quarter" idx="10"/>
          </p:nvPr>
        </p:nvSpPr>
        <p:spPr>
          <a:ln/>
        </p:spPr>
        <p:txBody>
          <a:bodyPr/>
          <a:lstStyle>
            <a:lvl1pPr>
              <a:defRPr/>
            </a:lvl1pPr>
          </a:lstStyle>
          <a:p>
            <a:pPr>
              <a:defRPr/>
            </a:pPr>
            <a:r>
              <a:rPr lang="en-US" altLang="zh-TW">
                <a:solidFill>
                  <a:srgbClr val="024631"/>
                </a:solidFill>
              </a:rPr>
              <a:t>www.themegallery.com</a:t>
            </a:r>
          </a:p>
        </p:txBody>
      </p:sp>
      <p:sp>
        <p:nvSpPr>
          <p:cNvPr id="8" name="Rectangle 6"/>
          <p:cNvSpPr>
            <a:spLocks noGrp="1" noChangeArrowheads="1"/>
          </p:cNvSpPr>
          <p:nvPr>
            <p:ph type="sldNum" sz="quarter" idx="11"/>
          </p:nvPr>
        </p:nvSpPr>
        <p:spPr>
          <a:ln/>
        </p:spPr>
        <p:txBody>
          <a:bodyPr/>
          <a:lstStyle>
            <a:lvl1pPr>
              <a:defRPr/>
            </a:lvl1pPr>
          </a:lstStyle>
          <a:p>
            <a:pPr>
              <a:defRPr/>
            </a:pPr>
            <a:fld id="{86DEB658-FECB-4F5F-98DD-6439027BE86B}" type="slidenum">
              <a:rPr lang="en-US" altLang="zh-TW">
                <a:solidFill>
                  <a:srgbClr val="024631"/>
                </a:solidFill>
              </a:rPr>
              <a:pPr>
                <a:defRPr/>
              </a:pPr>
              <a:t>‹#›</a:t>
            </a:fld>
            <a:endParaRPr lang="en-US" altLang="zh-TW">
              <a:solidFill>
                <a:srgbClr val="024631"/>
              </a:solidFill>
            </a:endParaRPr>
          </a:p>
        </p:txBody>
      </p:sp>
    </p:spTree>
    <p:extLst>
      <p:ext uri="{BB962C8B-B14F-4D97-AF65-F5344CB8AC3E}">
        <p14:creationId xmlns:p14="http://schemas.microsoft.com/office/powerpoint/2010/main" val="10120240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5"/>
          <p:cNvSpPr>
            <a:spLocks noGrp="1" noChangeArrowheads="1"/>
          </p:cNvSpPr>
          <p:nvPr>
            <p:ph type="ftr" sz="quarter" idx="10"/>
          </p:nvPr>
        </p:nvSpPr>
        <p:spPr>
          <a:ln/>
        </p:spPr>
        <p:txBody>
          <a:bodyPr/>
          <a:lstStyle>
            <a:lvl1pPr>
              <a:defRPr/>
            </a:lvl1pPr>
          </a:lstStyle>
          <a:p>
            <a:pPr>
              <a:defRPr/>
            </a:pPr>
            <a:r>
              <a:rPr lang="en-US" altLang="zh-TW">
                <a:solidFill>
                  <a:srgbClr val="024631"/>
                </a:solidFill>
              </a:rPr>
              <a:t>www.themegallery.com</a:t>
            </a:r>
          </a:p>
        </p:txBody>
      </p:sp>
      <p:sp>
        <p:nvSpPr>
          <p:cNvPr id="4" name="Rectangle 6"/>
          <p:cNvSpPr>
            <a:spLocks noGrp="1" noChangeArrowheads="1"/>
          </p:cNvSpPr>
          <p:nvPr>
            <p:ph type="sldNum" sz="quarter" idx="11"/>
          </p:nvPr>
        </p:nvSpPr>
        <p:spPr>
          <a:ln/>
        </p:spPr>
        <p:txBody>
          <a:bodyPr/>
          <a:lstStyle>
            <a:lvl1pPr>
              <a:defRPr/>
            </a:lvl1pPr>
          </a:lstStyle>
          <a:p>
            <a:pPr>
              <a:defRPr/>
            </a:pPr>
            <a:fld id="{0FA51200-DC1E-41BC-89B7-FE518F1AECB2}" type="slidenum">
              <a:rPr lang="en-US" altLang="zh-TW">
                <a:solidFill>
                  <a:srgbClr val="024631"/>
                </a:solidFill>
              </a:rPr>
              <a:pPr>
                <a:defRPr/>
              </a:pPr>
              <a:t>‹#›</a:t>
            </a:fld>
            <a:endParaRPr lang="en-US" altLang="zh-TW">
              <a:solidFill>
                <a:srgbClr val="024631"/>
              </a:solidFill>
            </a:endParaRPr>
          </a:p>
        </p:txBody>
      </p:sp>
    </p:spTree>
    <p:extLst>
      <p:ext uri="{BB962C8B-B14F-4D97-AF65-F5344CB8AC3E}">
        <p14:creationId xmlns:p14="http://schemas.microsoft.com/office/powerpoint/2010/main" val="17778601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ltLang="zh-TW">
                <a:solidFill>
                  <a:srgbClr val="024631"/>
                </a:solidFill>
              </a:rPr>
              <a:t>www.themegallery.com</a:t>
            </a:r>
          </a:p>
        </p:txBody>
      </p:sp>
      <p:sp>
        <p:nvSpPr>
          <p:cNvPr id="3" name="Rectangle 6"/>
          <p:cNvSpPr>
            <a:spLocks noGrp="1" noChangeArrowheads="1"/>
          </p:cNvSpPr>
          <p:nvPr>
            <p:ph type="sldNum" sz="quarter" idx="11"/>
          </p:nvPr>
        </p:nvSpPr>
        <p:spPr>
          <a:ln/>
        </p:spPr>
        <p:txBody>
          <a:bodyPr/>
          <a:lstStyle>
            <a:lvl1pPr>
              <a:defRPr/>
            </a:lvl1pPr>
          </a:lstStyle>
          <a:p>
            <a:pPr>
              <a:defRPr/>
            </a:pPr>
            <a:fld id="{E4906D95-0565-49C2-B080-92CD34324DD4}" type="slidenum">
              <a:rPr lang="en-US" altLang="zh-TW">
                <a:solidFill>
                  <a:srgbClr val="024631"/>
                </a:solidFill>
              </a:rPr>
              <a:pPr>
                <a:defRPr/>
              </a:pPr>
              <a:t>‹#›</a:t>
            </a:fld>
            <a:endParaRPr lang="en-US" altLang="zh-TW">
              <a:solidFill>
                <a:srgbClr val="024631"/>
              </a:solidFill>
            </a:endParaRPr>
          </a:p>
        </p:txBody>
      </p:sp>
    </p:spTree>
    <p:extLst>
      <p:ext uri="{BB962C8B-B14F-4D97-AF65-F5344CB8AC3E}">
        <p14:creationId xmlns:p14="http://schemas.microsoft.com/office/powerpoint/2010/main" val="2968989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5"/>
          <p:cNvSpPr>
            <a:spLocks noGrp="1" noChangeArrowheads="1"/>
          </p:cNvSpPr>
          <p:nvPr>
            <p:ph type="ftr" sz="quarter" idx="10"/>
          </p:nvPr>
        </p:nvSpPr>
        <p:spPr>
          <a:ln/>
        </p:spPr>
        <p:txBody>
          <a:bodyPr/>
          <a:lstStyle>
            <a:lvl1pPr>
              <a:defRPr/>
            </a:lvl1pPr>
          </a:lstStyle>
          <a:p>
            <a:pPr>
              <a:defRPr/>
            </a:pPr>
            <a:r>
              <a:rPr lang="en-US" altLang="zh-TW">
                <a:solidFill>
                  <a:srgbClr val="024631"/>
                </a:solidFill>
              </a:rPr>
              <a:t>www.themegallery.com</a:t>
            </a:r>
          </a:p>
        </p:txBody>
      </p:sp>
      <p:sp>
        <p:nvSpPr>
          <p:cNvPr id="6" name="Rectangle 6"/>
          <p:cNvSpPr>
            <a:spLocks noGrp="1" noChangeArrowheads="1"/>
          </p:cNvSpPr>
          <p:nvPr>
            <p:ph type="sldNum" sz="quarter" idx="11"/>
          </p:nvPr>
        </p:nvSpPr>
        <p:spPr>
          <a:ln/>
        </p:spPr>
        <p:txBody>
          <a:bodyPr/>
          <a:lstStyle>
            <a:lvl1pPr>
              <a:defRPr/>
            </a:lvl1pPr>
          </a:lstStyle>
          <a:p>
            <a:pPr>
              <a:defRPr/>
            </a:pPr>
            <a:fld id="{1E2748AA-B035-4351-B295-9997ED634263}" type="slidenum">
              <a:rPr lang="en-US" altLang="zh-TW">
                <a:solidFill>
                  <a:srgbClr val="024631"/>
                </a:solidFill>
              </a:rPr>
              <a:pPr>
                <a:defRPr/>
              </a:pPr>
              <a:t>‹#›</a:t>
            </a:fld>
            <a:endParaRPr lang="en-US" altLang="zh-TW">
              <a:solidFill>
                <a:srgbClr val="024631"/>
              </a:solidFill>
            </a:endParaRPr>
          </a:p>
        </p:txBody>
      </p:sp>
    </p:spTree>
    <p:extLst>
      <p:ext uri="{BB962C8B-B14F-4D97-AF65-F5344CB8AC3E}">
        <p14:creationId xmlns:p14="http://schemas.microsoft.com/office/powerpoint/2010/main" val="3192901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5"/>
          <p:cNvSpPr>
            <a:spLocks noGrp="1" noChangeArrowheads="1"/>
          </p:cNvSpPr>
          <p:nvPr>
            <p:ph type="ftr" sz="quarter" idx="10"/>
          </p:nvPr>
        </p:nvSpPr>
        <p:spPr>
          <a:ln/>
        </p:spPr>
        <p:txBody>
          <a:bodyPr/>
          <a:lstStyle>
            <a:lvl1pPr>
              <a:defRPr/>
            </a:lvl1pPr>
          </a:lstStyle>
          <a:p>
            <a:pPr>
              <a:defRPr/>
            </a:pPr>
            <a:r>
              <a:rPr lang="en-US" altLang="zh-TW">
                <a:solidFill>
                  <a:srgbClr val="024631"/>
                </a:solidFill>
              </a:rPr>
              <a:t>www.themegallery.com</a:t>
            </a:r>
          </a:p>
        </p:txBody>
      </p:sp>
      <p:sp>
        <p:nvSpPr>
          <p:cNvPr id="6" name="Rectangle 6"/>
          <p:cNvSpPr>
            <a:spLocks noGrp="1" noChangeArrowheads="1"/>
          </p:cNvSpPr>
          <p:nvPr>
            <p:ph type="sldNum" sz="quarter" idx="11"/>
          </p:nvPr>
        </p:nvSpPr>
        <p:spPr>
          <a:ln/>
        </p:spPr>
        <p:txBody>
          <a:bodyPr/>
          <a:lstStyle>
            <a:lvl1pPr>
              <a:defRPr/>
            </a:lvl1pPr>
          </a:lstStyle>
          <a:p>
            <a:pPr>
              <a:defRPr/>
            </a:pPr>
            <a:fld id="{96F45070-950A-449A-B138-2513DA360BD4}" type="slidenum">
              <a:rPr lang="en-US" altLang="zh-TW">
                <a:solidFill>
                  <a:srgbClr val="024631"/>
                </a:solidFill>
              </a:rPr>
              <a:pPr>
                <a:defRPr/>
              </a:pPr>
              <a:t>‹#›</a:t>
            </a:fld>
            <a:endParaRPr lang="en-US" altLang="zh-TW">
              <a:solidFill>
                <a:srgbClr val="024631"/>
              </a:solidFill>
            </a:endParaRPr>
          </a:p>
        </p:txBody>
      </p:sp>
    </p:spTree>
    <p:extLst>
      <p:ext uri="{BB962C8B-B14F-4D97-AF65-F5344CB8AC3E}">
        <p14:creationId xmlns:p14="http://schemas.microsoft.com/office/powerpoint/2010/main" val="1167935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TW">
                <a:solidFill>
                  <a:srgbClr val="024631"/>
                </a:solidFill>
              </a:rPr>
              <a:t>www.themegallery.com</a:t>
            </a:r>
          </a:p>
        </p:txBody>
      </p:sp>
      <p:sp>
        <p:nvSpPr>
          <p:cNvPr id="5" name="Rectangle 6"/>
          <p:cNvSpPr>
            <a:spLocks noGrp="1" noChangeArrowheads="1"/>
          </p:cNvSpPr>
          <p:nvPr>
            <p:ph type="sldNum" sz="quarter" idx="11"/>
          </p:nvPr>
        </p:nvSpPr>
        <p:spPr>
          <a:ln/>
        </p:spPr>
        <p:txBody>
          <a:bodyPr/>
          <a:lstStyle>
            <a:lvl1pPr>
              <a:defRPr/>
            </a:lvl1pPr>
          </a:lstStyle>
          <a:p>
            <a:pPr>
              <a:defRPr/>
            </a:pPr>
            <a:fld id="{56A47BFF-0257-4756-8756-C63CB8B9E7EA}" type="slidenum">
              <a:rPr lang="en-US" altLang="zh-TW">
                <a:solidFill>
                  <a:srgbClr val="024631"/>
                </a:solidFill>
              </a:rPr>
              <a:pPr>
                <a:defRPr/>
              </a:pPr>
              <a:t>‹#›</a:t>
            </a:fld>
            <a:endParaRPr lang="en-US" altLang="zh-TW">
              <a:solidFill>
                <a:srgbClr val="024631"/>
              </a:solidFill>
            </a:endParaRPr>
          </a:p>
        </p:txBody>
      </p:sp>
    </p:spTree>
    <p:extLst>
      <p:ext uri="{BB962C8B-B14F-4D97-AF65-F5344CB8AC3E}">
        <p14:creationId xmlns:p14="http://schemas.microsoft.com/office/powerpoint/2010/main" val="15460055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591300" y="46038"/>
            <a:ext cx="2095500" cy="6354762"/>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304800" y="46038"/>
            <a:ext cx="6134100" cy="6354762"/>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TW">
                <a:solidFill>
                  <a:srgbClr val="024631"/>
                </a:solidFill>
              </a:rPr>
              <a:t>www.themegallery.com</a:t>
            </a:r>
          </a:p>
        </p:txBody>
      </p:sp>
      <p:sp>
        <p:nvSpPr>
          <p:cNvPr id="5" name="Rectangle 6"/>
          <p:cNvSpPr>
            <a:spLocks noGrp="1" noChangeArrowheads="1"/>
          </p:cNvSpPr>
          <p:nvPr>
            <p:ph type="sldNum" sz="quarter" idx="11"/>
          </p:nvPr>
        </p:nvSpPr>
        <p:spPr>
          <a:ln/>
        </p:spPr>
        <p:txBody>
          <a:bodyPr/>
          <a:lstStyle>
            <a:lvl1pPr>
              <a:defRPr/>
            </a:lvl1pPr>
          </a:lstStyle>
          <a:p>
            <a:pPr>
              <a:defRPr/>
            </a:pPr>
            <a:fld id="{2A83D207-1539-49B0-90FB-A7A5B35C5D37}" type="slidenum">
              <a:rPr lang="en-US" altLang="zh-TW">
                <a:solidFill>
                  <a:srgbClr val="024631"/>
                </a:solidFill>
              </a:rPr>
              <a:pPr>
                <a:defRPr/>
              </a:pPr>
              <a:t>‹#›</a:t>
            </a:fld>
            <a:endParaRPr lang="en-US" altLang="zh-TW">
              <a:solidFill>
                <a:srgbClr val="024631"/>
              </a:solidFill>
            </a:endParaRPr>
          </a:p>
        </p:txBody>
      </p:sp>
    </p:spTree>
    <p:extLst>
      <p:ext uri="{BB962C8B-B14F-4D97-AF65-F5344CB8AC3E}">
        <p14:creationId xmlns:p14="http://schemas.microsoft.com/office/powerpoint/2010/main" val="19469291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304800" y="46038"/>
            <a:ext cx="8382000" cy="563562"/>
          </a:xfrm>
        </p:spPr>
        <p:txBody>
          <a:bodyPr/>
          <a:lstStyle/>
          <a:p>
            <a:r>
              <a:rPr lang="zh-TW" altLang="en-US"/>
              <a:t>按一下以編輯母片標題樣式</a:t>
            </a:r>
          </a:p>
        </p:txBody>
      </p:sp>
      <p:sp>
        <p:nvSpPr>
          <p:cNvPr id="3" name="表格版面配置區 2"/>
          <p:cNvSpPr>
            <a:spLocks noGrp="1"/>
          </p:cNvSpPr>
          <p:nvPr>
            <p:ph type="tbl" idx="1"/>
          </p:nvPr>
        </p:nvSpPr>
        <p:spPr>
          <a:xfrm>
            <a:off x="457200" y="990600"/>
            <a:ext cx="8229600" cy="5410200"/>
          </a:xfrm>
        </p:spPr>
        <p:txBody>
          <a:bodyPr/>
          <a:lstStyle/>
          <a:p>
            <a:pPr lvl="0"/>
            <a:r>
              <a:rPr lang="zh-TW" altLang="en-US" noProof="0"/>
              <a:t>按一下圖示以新增表格</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TW">
                <a:solidFill>
                  <a:srgbClr val="024631"/>
                </a:solidFill>
              </a:rPr>
              <a:t>www.themegallery.com</a:t>
            </a:r>
          </a:p>
        </p:txBody>
      </p:sp>
      <p:sp>
        <p:nvSpPr>
          <p:cNvPr id="5" name="Rectangle 6"/>
          <p:cNvSpPr>
            <a:spLocks noGrp="1" noChangeArrowheads="1"/>
          </p:cNvSpPr>
          <p:nvPr>
            <p:ph type="sldNum" sz="quarter" idx="11"/>
          </p:nvPr>
        </p:nvSpPr>
        <p:spPr>
          <a:ln/>
        </p:spPr>
        <p:txBody>
          <a:bodyPr/>
          <a:lstStyle>
            <a:lvl1pPr>
              <a:defRPr/>
            </a:lvl1pPr>
          </a:lstStyle>
          <a:p>
            <a:pPr>
              <a:defRPr/>
            </a:pPr>
            <a:fld id="{B89DE470-C80C-432C-9B52-BF420BAC9BAE}" type="slidenum">
              <a:rPr lang="en-US" altLang="zh-TW">
                <a:solidFill>
                  <a:srgbClr val="024631"/>
                </a:solidFill>
              </a:rPr>
              <a:pPr>
                <a:defRPr/>
              </a:pPr>
              <a:t>‹#›</a:t>
            </a:fld>
            <a:endParaRPr lang="en-US" altLang="zh-TW">
              <a:solidFill>
                <a:srgbClr val="024631"/>
              </a:solidFill>
            </a:endParaRPr>
          </a:p>
        </p:txBody>
      </p:sp>
    </p:spTree>
    <p:extLst>
      <p:ext uri="{BB962C8B-B14F-4D97-AF65-F5344CB8AC3E}">
        <p14:creationId xmlns:p14="http://schemas.microsoft.com/office/powerpoint/2010/main" val="13454389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pic>
        <p:nvPicPr>
          <p:cNvPr id="2" name="Picture 2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8" y="5245100"/>
            <a:ext cx="9145588" cy="163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userDrawn="1"/>
        </p:nvSpPr>
        <p:spPr>
          <a:xfrm>
            <a:off x="-36513" y="1160463"/>
            <a:ext cx="9180513" cy="107950"/>
          </a:xfrm>
          <a:prstGeom prst="rect">
            <a:avLst/>
          </a:prstGeom>
          <a:solidFill>
            <a:srgbClr val="FE980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kumimoji="1" lang="zh-TW" altLang="en-US">
              <a:solidFill>
                <a:srgbClr val="FFFFFF"/>
              </a:solidFill>
            </a:endParaRPr>
          </a:p>
        </p:txBody>
      </p:sp>
      <p:pic>
        <p:nvPicPr>
          <p:cNvPr id="4" name="Picture 2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245350" y="268288"/>
            <a:ext cx="1782763"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Grp="1" noChangeArrowheads="1"/>
          </p:cNvSpPr>
          <p:nvPr>
            <p:ph type="dt" sz="half" idx="10"/>
          </p:nvPr>
        </p:nvSpPr>
        <p:spPr/>
        <p:txBody>
          <a:bodyPr/>
          <a:lstStyle>
            <a:lvl1pPr fontAlgn="auto">
              <a:spcBef>
                <a:spcPts val="0"/>
              </a:spcBef>
              <a:spcAft>
                <a:spcPts val="0"/>
              </a:spcAft>
              <a:defRPr kumimoji="0"/>
            </a:lvl1pPr>
          </a:lstStyle>
          <a:p>
            <a:pPr>
              <a:defRPr/>
            </a:pPr>
            <a:endParaRPr lang="en-US" altLang="zh-TW"/>
          </a:p>
        </p:txBody>
      </p:sp>
      <p:sp>
        <p:nvSpPr>
          <p:cNvPr id="6" name="Rectangle 5"/>
          <p:cNvSpPr>
            <a:spLocks noGrp="1" noChangeArrowheads="1"/>
          </p:cNvSpPr>
          <p:nvPr>
            <p:ph type="ftr" sz="quarter" idx="11"/>
          </p:nvPr>
        </p:nvSpPr>
        <p:spPr/>
        <p:txBody>
          <a:bodyPr/>
          <a:lstStyle>
            <a:lvl1pPr fontAlgn="auto">
              <a:spcBef>
                <a:spcPts val="0"/>
              </a:spcBef>
              <a:spcAft>
                <a:spcPts val="0"/>
              </a:spcAft>
              <a:defRPr kumimoji="0"/>
            </a:lvl1pPr>
          </a:lstStyle>
          <a:p>
            <a:pPr>
              <a:defRPr/>
            </a:pPr>
            <a:r>
              <a:rPr lang="en-US" altLang="zh-TW"/>
              <a:t>www.themegallery.com</a:t>
            </a:r>
          </a:p>
        </p:txBody>
      </p:sp>
      <p:sp>
        <p:nvSpPr>
          <p:cNvPr id="7" name="Rectangle 6"/>
          <p:cNvSpPr>
            <a:spLocks noGrp="1" noChangeArrowheads="1"/>
          </p:cNvSpPr>
          <p:nvPr>
            <p:ph type="sldNum" sz="quarter" idx="12"/>
          </p:nvPr>
        </p:nvSpPr>
        <p:spPr/>
        <p:txBody>
          <a:bodyPr/>
          <a:lstStyle>
            <a:lvl1pPr fontAlgn="auto">
              <a:spcBef>
                <a:spcPts val="0"/>
              </a:spcBef>
              <a:spcAft>
                <a:spcPts val="0"/>
              </a:spcAft>
              <a:defRPr kumimoji="0"/>
            </a:lvl1pPr>
          </a:lstStyle>
          <a:p>
            <a:pPr>
              <a:defRPr/>
            </a:pPr>
            <a:fld id="{53BEE45D-6380-4AFA-9F87-F25BC3AF2D87}" type="slidenum">
              <a:rPr lang="en-US" altLang="zh-TW"/>
              <a:pPr>
                <a:defRPr/>
              </a:pPr>
              <a:t>‹#›</a:t>
            </a:fld>
            <a:endParaRPr lang="en-US" altLang="zh-TW"/>
          </a:p>
        </p:txBody>
      </p:sp>
    </p:spTree>
    <p:extLst>
      <p:ext uri="{BB962C8B-B14F-4D97-AF65-F5344CB8AC3E}">
        <p14:creationId xmlns:p14="http://schemas.microsoft.com/office/powerpoint/2010/main" val="19170341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2" name="矩形 1"/>
          <p:cNvSpPr/>
          <p:nvPr userDrawn="1"/>
        </p:nvSpPr>
        <p:spPr>
          <a:xfrm>
            <a:off x="-36513" y="1160463"/>
            <a:ext cx="9180513" cy="107950"/>
          </a:xfrm>
          <a:prstGeom prst="rect">
            <a:avLst/>
          </a:prstGeom>
          <a:solidFill>
            <a:srgbClr val="FE980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kumimoji="1" lang="zh-TW" altLang="en-US">
              <a:solidFill>
                <a:srgbClr val="FFFFFF"/>
              </a:solidFill>
            </a:endParaRPr>
          </a:p>
        </p:txBody>
      </p:sp>
      <p:pic>
        <p:nvPicPr>
          <p:cNvPr id="3" name="Picture 2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45350" y="268288"/>
            <a:ext cx="1782763"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userDrawn="1"/>
        </p:nvSpPr>
        <p:spPr>
          <a:xfrm>
            <a:off x="-36513" y="6524625"/>
            <a:ext cx="9180513" cy="338138"/>
          </a:xfrm>
          <a:prstGeom prst="rect">
            <a:avLst/>
          </a:prstGeom>
          <a:solidFill>
            <a:srgbClr val="FE980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kumimoji="1" lang="zh-TW" altLang="en-US">
              <a:solidFill>
                <a:srgbClr val="FFFFFF"/>
              </a:solidFill>
            </a:endParaRPr>
          </a:p>
        </p:txBody>
      </p:sp>
      <p:sp>
        <p:nvSpPr>
          <p:cNvPr id="5" name="Rectangle 4"/>
          <p:cNvSpPr>
            <a:spLocks noGrp="1" noChangeArrowheads="1"/>
          </p:cNvSpPr>
          <p:nvPr>
            <p:ph type="dt" sz="half" idx="10"/>
          </p:nvPr>
        </p:nvSpPr>
        <p:spPr/>
        <p:txBody>
          <a:bodyPr/>
          <a:lstStyle>
            <a:lvl1pPr fontAlgn="auto">
              <a:spcBef>
                <a:spcPts val="0"/>
              </a:spcBef>
              <a:spcAft>
                <a:spcPts val="0"/>
              </a:spcAft>
              <a:defRPr kumimoji="0"/>
            </a:lvl1pPr>
          </a:lstStyle>
          <a:p>
            <a:pPr>
              <a:defRPr/>
            </a:pPr>
            <a:endParaRPr lang="en-US" altLang="zh-TW"/>
          </a:p>
        </p:txBody>
      </p:sp>
      <p:sp>
        <p:nvSpPr>
          <p:cNvPr id="6" name="Rectangle 5"/>
          <p:cNvSpPr>
            <a:spLocks noGrp="1" noChangeArrowheads="1"/>
          </p:cNvSpPr>
          <p:nvPr>
            <p:ph type="ftr" sz="quarter" idx="11"/>
          </p:nvPr>
        </p:nvSpPr>
        <p:spPr/>
        <p:txBody>
          <a:bodyPr/>
          <a:lstStyle>
            <a:lvl1pPr fontAlgn="auto">
              <a:spcBef>
                <a:spcPts val="0"/>
              </a:spcBef>
              <a:spcAft>
                <a:spcPts val="0"/>
              </a:spcAft>
              <a:defRPr kumimoji="0"/>
            </a:lvl1pPr>
          </a:lstStyle>
          <a:p>
            <a:pPr>
              <a:defRPr/>
            </a:pPr>
            <a:r>
              <a:rPr lang="en-US" altLang="zh-TW"/>
              <a:t>www.themegallery.com</a:t>
            </a:r>
          </a:p>
        </p:txBody>
      </p:sp>
      <p:sp>
        <p:nvSpPr>
          <p:cNvPr id="7" name="Rectangle 6"/>
          <p:cNvSpPr>
            <a:spLocks noGrp="1" noChangeArrowheads="1"/>
          </p:cNvSpPr>
          <p:nvPr>
            <p:ph type="sldNum" sz="quarter" idx="12"/>
          </p:nvPr>
        </p:nvSpPr>
        <p:spPr/>
        <p:txBody>
          <a:bodyPr/>
          <a:lstStyle>
            <a:lvl1pPr fontAlgn="auto">
              <a:spcBef>
                <a:spcPts val="0"/>
              </a:spcBef>
              <a:spcAft>
                <a:spcPts val="0"/>
              </a:spcAft>
              <a:defRPr kumimoji="0"/>
            </a:lvl1pPr>
          </a:lstStyle>
          <a:p>
            <a:pPr>
              <a:defRPr/>
            </a:pPr>
            <a:fld id="{905E6685-838D-41B7-B7BB-040B417ABB04}" type="slidenum">
              <a:rPr lang="en-US" altLang="zh-TW"/>
              <a:pPr>
                <a:defRPr/>
              </a:pPr>
              <a:t>‹#›</a:t>
            </a:fld>
            <a:endParaRPr lang="en-US" altLang="zh-TW"/>
          </a:p>
        </p:txBody>
      </p:sp>
    </p:spTree>
    <p:extLst>
      <p:ext uri="{BB962C8B-B14F-4D97-AF65-F5344CB8AC3E}">
        <p14:creationId xmlns:p14="http://schemas.microsoft.com/office/powerpoint/2010/main" val="8880402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pic>
        <p:nvPicPr>
          <p:cNvPr id="2" name="Picture 2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8" y="5245100"/>
            <a:ext cx="9145588" cy="163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4"/>
          <p:cNvSpPr>
            <a:spLocks noGrp="1" noChangeArrowheads="1"/>
          </p:cNvSpPr>
          <p:nvPr>
            <p:ph type="dt" sz="half" idx="10"/>
          </p:nvPr>
        </p:nvSpPr>
        <p:spPr/>
        <p:txBody>
          <a:bodyPr/>
          <a:lstStyle>
            <a:lvl1pPr fontAlgn="auto">
              <a:spcBef>
                <a:spcPts val="0"/>
              </a:spcBef>
              <a:spcAft>
                <a:spcPts val="0"/>
              </a:spcAft>
              <a:defRPr kumimoji="0"/>
            </a:lvl1pPr>
          </a:lstStyle>
          <a:p>
            <a:pPr>
              <a:defRPr/>
            </a:pPr>
            <a:endParaRPr lang="en-US" altLang="zh-TW"/>
          </a:p>
        </p:txBody>
      </p:sp>
      <p:sp>
        <p:nvSpPr>
          <p:cNvPr id="4" name="Rectangle 5"/>
          <p:cNvSpPr>
            <a:spLocks noGrp="1" noChangeArrowheads="1"/>
          </p:cNvSpPr>
          <p:nvPr>
            <p:ph type="ftr" sz="quarter" idx="11"/>
          </p:nvPr>
        </p:nvSpPr>
        <p:spPr/>
        <p:txBody>
          <a:bodyPr/>
          <a:lstStyle>
            <a:lvl1pPr fontAlgn="auto">
              <a:spcBef>
                <a:spcPts val="0"/>
              </a:spcBef>
              <a:spcAft>
                <a:spcPts val="0"/>
              </a:spcAft>
              <a:defRPr kumimoji="0"/>
            </a:lvl1pPr>
          </a:lstStyle>
          <a:p>
            <a:pPr>
              <a:defRPr/>
            </a:pPr>
            <a:r>
              <a:rPr lang="en-US" altLang="zh-TW"/>
              <a:t>www.themegallery.com</a:t>
            </a:r>
          </a:p>
        </p:txBody>
      </p:sp>
      <p:sp>
        <p:nvSpPr>
          <p:cNvPr id="5" name="Rectangle 6"/>
          <p:cNvSpPr>
            <a:spLocks noGrp="1" noChangeArrowheads="1"/>
          </p:cNvSpPr>
          <p:nvPr>
            <p:ph type="sldNum" sz="quarter" idx="12"/>
          </p:nvPr>
        </p:nvSpPr>
        <p:spPr/>
        <p:txBody>
          <a:bodyPr/>
          <a:lstStyle>
            <a:lvl1pPr fontAlgn="auto">
              <a:spcBef>
                <a:spcPts val="0"/>
              </a:spcBef>
              <a:spcAft>
                <a:spcPts val="0"/>
              </a:spcAft>
              <a:defRPr kumimoji="0"/>
            </a:lvl1pPr>
          </a:lstStyle>
          <a:p>
            <a:pPr>
              <a:defRPr/>
            </a:pPr>
            <a:fld id="{5CFCD88C-E98E-49CD-94CA-A9C569824348}" type="slidenum">
              <a:rPr lang="en-US" altLang="zh-TW"/>
              <a:pPr>
                <a:defRPr/>
              </a:pPr>
              <a:t>‹#›</a:t>
            </a:fld>
            <a:endParaRPr lang="en-US" altLang="zh-TW"/>
          </a:p>
        </p:txBody>
      </p:sp>
    </p:spTree>
    <p:extLst>
      <p:ext uri="{BB962C8B-B14F-4D97-AF65-F5344CB8AC3E}">
        <p14:creationId xmlns:p14="http://schemas.microsoft.com/office/powerpoint/2010/main" val="6754339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7"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4"/>
          <p:cNvSpPr>
            <a:spLocks noGrp="1" noChangeArrowheads="1"/>
          </p:cNvSpPr>
          <p:nvPr>
            <p:ph type="dt" sz="half" idx="10"/>
          </p:nvPr>
        </p:nvSpPr>
        <p:spPr/>
        <p:txBody>
          <a:bodyPr/>
          <a:lstStyle>
            <a:lvl1pPr fontAlgn="auto">
              <a:spcBef>
                <a:spcPts val="0"/>
              </a:spcBef>
              <a:spcAft>
                <a:spcPts val="0"/>
              </a:spcAft>
              <a:defRPr kumimoji="0"/>
            </a:lvl1pPr>
          </a:lstStyle>
          <a:p>
            <a:pPr>
              <a:defRPr/>
            </a:pPr>
            <a:endParaRPr lang="en-US" altLang="zh-TW"/>
          </a:p>
        </p:txBody>
      </p:sp>
      <p:sp>
        <p:nvSpPr>
          <p:cNvPr id="6" name="Rectangle 5"/>
          <p:cNvSpPr>
            <a:spLocks noGrp="1" noChangeArrowheads="1"/>
          </p:cNvSpPr>
          <p:nvPr>
            <p:ph type="ftr" sz="quarter" idx="11"/>
          </p:nvPr>
        </p:nvSpPr>
        <p:spPr/>
        <p:txBody>
          <a:bodyPr/>
          <a:lstStyle>
            <a:lvl1pPr fontAlgn="auto">
              <a:spcBef>
                <a:spcPts val="0"/>
              </a:spcBef>
              <a:spcAft>
                <a:spcPts val="0"/>
              </a:spcAft>
              <a:defRPr kumimoji="0"/>
            </a:lvl1pPr>
          </a:lstStyle>
          <a:p>
            <a:pPr>
              <a:defRPr/>
            </a:pPr>
            <a:r>
              <a:rPr lang="en-US" altLang="zh-TW"/>
              <a:t>www.themegallery.com</a:t>
            </a:r>
          </a:p>
        </p:txBody>
      </p:sp>
      <p:sp>
        <p:nvSpPr>
          <p:cNvPr id="7" name="Rectangle 6"/>
          <p:cNvSpPr>
            <a:spLocks noGrp="1" noChangeArrowheads="1"/>
          </p:cNvSpPr>
          <p:nvPr>
            <p:ph type="sldNum" sz="quarter" idx="12"/>
          </p:nvPr>
        </p:nvSpPr>
        <p:spPr/>
        <p:txBody>
          <a:bodyPr/>
          <a:lstStyle>
            <a:lvl1pPr fontAlgn="auto">
              <a:spcBef>
                <a:spcPts val="0"/>
              </a:spcBef>
              <a:spcAft>
                <a:spcPts val="0"/>
              </a:spcAft>
              <a:defRPr kumimoji="0"/>
            </a:lvl1pPr>
          </a:lstStyle>
          <a:p>
            <a:pPr>
              <a:defRPr/>
            </a:pPr>
            <a:fld id="{74FE8C70-56E1-4691-98F5-EA6C0A7C12EB}" type="slidenum">
              <a:rPr lang="en-US" altLang="zh-TW"/>
              <a:pPr>
                <a:defRPr/>
              </a:pPr>
              <a:t>‹#›</a:t>
            </a:fld>
            <a:endParaRPr lang="en-US" altLang="zh-TW"/>
          </a:p>
        </p:txBody>
      </p:sp>
    </p:spTree>
    <p:extLst>
      <p:ext uri="{BB962C8B-B14F-4D97-AF65-F5344CB8AC3E}">
        <p14:creationId xmlns:p14="http://schemas.microsoft.com/office/powerpoint/2010/main" val="30315545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4"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4" y="2174878"/>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3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37" y="2174878"/>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4"/>
          <p:cNvSpPr>
            <a:spLocks noGrp="1" noChangeArrowheads="1"/>
          </p:cNvSpPr>
          <p:nvPr>
            <p:ph type="dt" sz="half" idx="10"/>
          </p:nvPr>
        </p:nvSpPr>
        <p:spPr/>
        <p:txBody>
          <a:bodyPr/>
          <a:lstStyle>
            <a:lvl1pPr fontAlgn="auto">
              <a:spcBef>
                <a:spcPts val="0"/>
              </a:spcBef>
              <a:spcAft>
                <a:spcPts val="0"/>
              </a:spcAft>
              <a:defRPr kumimoji="0"/>
            </a:lvl1pPr>
          </a:lstStyle>
          <a:p>
            <a:pPr>
              <a:defRPr/>
            </a:pPr>
            <a:endParaRPr lang="en-US" altLang="zh-TW"/>
          </a:p>
        </p:txBody>
      </p:sp>
      <p:sp>
        <p:nvSpPr>
          <p:cNvPr id="8" name="Rectangle 5"/>
          <p:cNvSpPr>
            <a:spLocks noGrp="1" noChangeArrowheads="1"/>
          </p:cNvSpPr>
          <p:nvPr>
            <p:ph type="ftr" sz="quarter" idx="11"/>
          </p:nvPr>
        </p:nvSpPr>
        <p:spPr/>
        <p:txBody>
          <a:bodyPr/>
          <a:lstStyle>
            <a:lvl1pPr fontAlgn="auto">
              <a:spcBef>
                <a:spcPts val="0"/>
              </a:spcBef>
              <a:spcAft>
                <a:spcPts val="0"/>
              </a:spcAft>
              <a:defRPr kumimoji="0"/>
            </a:lvl1pPr>
          </a:lstStyle>
          <a:p>
            <a:pPr>
              <a:defRPr/>
            </a:pPr>
            <a:r>
              <a:rPr lang="en-US" altLang="zh-TW"/>
              <a:t>www.themegallery.com</a:t>
            </a:r>
          </a:p>
        </p:txBody>
      </p:sp>
      <p:sp>
        <p:nvSpPr>
          <p:cNvPr id="9" name="Rectangle 6"/>
          <p:cNvSpPr>
            <a:spLocks noGrp="1" noChangeArrowheads="1"/>
          </p:cNvSpPr>
          <p:nvPr>
            <p:ph type="sldNum" sz="quarter" idx="12"/>
          </p:nvPr>
        </p:nvSpPr>
        <p:spPr/>
        <p:txBody>
          <a:bodyPr/>
          <a:lstStyle>
            <a:lvl1pPr fontAlgn="auto">
              <a:spcBef>
                <a:spcPts val="0"/>
              </a:spcBef>
              <a:spcAft>
                <a:spcPts val="0"/>
              </a:spcAft>
              <a:defRPr kumimoji="0"/>
            </a:lvl1pPr>
          </a:lstStyle>
          <a:p>
            <a:pPr>
              <a:defRPr/>
            </a:pPr>
            <a:fld id="{230474ED-1A72-42B0-AE7D-01A51B3B9814}" type="slidenum">
              <a:rPr lang="en-US" altLang="zh-TW"/>
              <a:pPr>
                <a:defRPr/>
              </a:pPr>
              <a:t>‹#›</a:t>
            </a:fld>
            <a:endParaRPr lang="en-US" altLang="zh-TW"/>
          </a:p>
        </p:txBody>
      </p:sp>
    </p:spTree>
    <p:extLst>
      <p:ext uri="{BB962C8B-B14F-4D97-AF65-F5344CB8AC3E}">
        <p14:creationId xmlns:p14="http://schemas.microsoft.com/office/powerpoint/2010/main" val="34817039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4"/>
          <p:cNvSpPr>
            <a:spLocks noGrp="1" noChangeArrowheads="1"/>
          </p:cNvSpPr>
          <p:nvPr>
            <p:ph type="dt" sz="half" idx="10"/>
          </p:nvPr>
        </p:nvSpPr>
        <p:spPr/>
        <p:txBody>
          <a:bodyPr/>
          <a:lstStyle>
            <a:lvl1pPr fontAlgn="auto">
              <a:spcBef>
                <a:spcPts val="0"/>
              </a:spcBef>
              <a:spcAft>
                <a:spcPts val="0"/>
              </a:spcAft>
              <a:defRPr kumimoji="0"/>
            </a:lvl1pPr>
          </a:lstStyle>
          <a:p>
            <a:pPr>
              <a:defRPr/>
            </a:pPr>
            <a:endParaRPr lang="en-US" altLang="zh-TW"/>
          </a:p>
        </p:txBody>
      </p:sp>
      <p:sp>
        <p:nvSpPr>
          <p:cNvPr id="4" name="Rectangle 5"/>
          <p:cNvSpPr>
            <a:spLocks noGrp="1" noChangeArrowheads="1"/>
          </p:cNvSpPr>
          <p:nvPr>
            <p:ph type="ftr" sz="quarter" idx="11"/>
          </p:nvPr>
        </p:nvSpPr>
        <p:spPr/>
        <p:txBody>
          <a:bodyPr/>
          <a:lstStyle>
            <a:lvl1pPr fontAlgn="auto">
              <a:spcBef>
                <a:spcPts val="0"/>
              </a:spcBef>
              <a:spcAft>
                <a:spcPts val="0"/>
              </a:spcAft>
              <a:defRPr kumimoji="0"/>
            </a:lvl1pPr>
          </a:lstStyle>
          <a:p>
            <a:pPr>
              <a:defRPr/>
            </a:pPr>
            <a:r>
              <a:rPr lang="en-US" altLang="zh-TW"/>
              <a:t>www.themegallery.com</a:t>
            </a:r>
          </a:p>
        </p:txBody>
      </p:sp>
      <p:sp>
        <p:nvSpPr>
          <p:cNvPr id="5" name="Rectangle 6"/>
          <p:cNvSpPr>
            <a:spLocks noGrp="1" noChangeArrowheads="1"/>
          </p:cNvSpPr>
          <p:nvPr>
            <p:ph type="sldNum" sz="quarter" idx="12"/>
          </p:nvPr>
        </p:nvSpPr>
        <p:spPr/>
        <p:txBody>
          <a:bodyPr/>
          <a:lstStyle>
            <a:lvl1pPr fontAlgn="auto">
              <a:spcBef>
                <a:spcPts val="0"/>
              </a:spcBef>
              <a:spcAft>
                <a:spcPts val="0"/>
              </a:spcAft>
              <a:defRPr kumimoji="0"/>
            </a:lvl1pPr>
          </a:lstStyle>
          <a:p>
            <a:pPr>
              <a:defRPr/>
            </a:pPr>
            <a:fld id="{5542E608-34D2-4F68-861E-98A7835F43DD}" type="slidenum">
              <a:rPr lang="en-US" altLang="zh-TW"/>
              <a:pPr>
                <a:defRPr/>
              </a:pPr>
              <a:t>‹#›</a:t>
            </a:fld>
            <a:endParaRPr lang="en-US" altLang="zh-TW"/>
          </a:p>
        </p:txBody>
      </p:sp>
    </p:spTree>
    <p:extLst>
      <p:ext uri="{BB962C8B-B14F-4D97-AF65-F5344CB8AC3E}">
        <p14:creationId xmlns:p14="http://schemas.microsoft.com/office/powerpoint/2010/main" val="4000345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fontAlgn="auto">
              <a:spcBef>
                <a:spcPts val="0"/>
              </a:spcBef>
              <a:spcAft>
                <a:spcPts val="0"/>
              </a:spcAft>
              <a:defRPr kumimoji="0"/>
            </a:lvl1pPr>
          </a:lstStyle>
          <a:p>
            <a:pPr>
              <a:defRPr/>
            </a:pPr>
            <a:endParaRPr lang="en-US" altLang="zh-TW"/>
          </a:p>
        </p:txBody>
      </p:sp>
      <p:sp>
        <p:nvSpPr>
          <p:cNvPr id="3" name="Rectangle 5"/>
          <p:cNvSpPr>
            <a:spLocks noGrp="1" noChangeArrowheads="1"/>
          </p:cNvSpPr>
          <p:nvPr>
            <p:ph type="ftr" sz="quarter" idx="11"/>
          </p:nvPr>
        </p:nvSpPr>
        <p:spPr/>
        <p:txBody>
          <a:bodyPr/>
          <a:lstStyle>
            <a:lvl1pPr fontAlgn="auto">
              <a:spcBef>
                <a:spcPts val="0"/>
              </a:spcBef>
              <a:spcAft>
                <a:spcPts val="0"/>
              </a:spcAft>
              <a:defRPr kumimoji="0"/>
            </a:lvl1pPr>
          </a:lstStyle>
          <a:p>
            <a:pPr>
              <a:defRPr/>
            </a:pPr>
            <a:r>
              <a:rPr lang="en-US" altLang="zh-TW"/>
              <a:t>www.themegallery.com</a:t>
            </a:r>
          </a:p>
        </p:txBody>
      </p:sp>
      <p:sp>
        <p:nvSpPr>
          <p:cNvPr id="4" name="Rectangle 6"/>
          <p:cNvSpPr>
            <a:spLocks noGrp="1" noChangeArrowheads="1"/>
          </p:cNvSpPr>
          <p:nvPr>
            <p:ph type="sldNum" sz="quarter" idx="12"/>
          </p:nvPr>
        </p:nvSpPr>
        <p:spPr/>
        <p:txBody>
          <a:bodyPr/>
          <a:lstStyle>
            <a:lvl1pPr fontAlgn="auto">
              <a:spcBef>
                <a:spcPts val="0"/>
              </a:spcBef>
              <a:spcAft>
                <a:spcPts val="0"/>
              </a:spcAft>
              <a:defRPr kumimoji="0"/>
            </a:lvl1pPr>
          </a:lstStyle>
          <a:p>
            <a:pPr>
              <a:defRPr/>
            </a:pPr>
            <a:fld id="{D10FF86E-1614-4F78-A27D-45EB8EEECE23}" type="slidenum">
              <a:rPr lang="en-US" altLang="zh-TW"/>
              <a:pPr>
                <a:defRPr/>
              </a:pPr>
              <a:t>‹#›</a:t>
            </a:fld>
            <a:endParaRPr lang="en-US" altLang="zh-TW"/>
          </a:p>
        </p:txBody>
      </p:sp>
    </p:spTree>
    <p:extLst>
      <p:ext uri="{BB962C8B-B14F-4D97-AF65-F5344CB8AC3E}">
        <p14:creationId xmlns:p14="http://schemas.microsoft.com/office/powerpoint/2010/main" val="18563593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3"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3"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4"/>
          <p:cNvSpPr>
            <a:spLocks noGrp="1" noChangeArrowheads="1"/>
          </p:cNvSpPr>
          <p:nvPr>
            <p:ph type="dt" sz="half" idx="10"/>
          </p:nvPr>
        </p:nvSpPr>
        <p:spPr/>
        <p:txBody>
          <a:bodyPr/>
          <a:lstStyle>
            <a:lvl1pPr fontAlgn="auto">
              <a:spcBef>
                <a:spcPts val="0"/>
              </a:spcBef>
              <a:spcAft>
                <a:spcPts val="0"/>
              </a:spcAft>
              <a:defRPr kumimoji="0"/>
            </a:lvl1pPr>
          </a:lstStyle>
          <a:p>
            <a:pPr>
              <a:defRPr/>
            </a:pPr>
            <a:endParaRPr lang="en-US" altLang="zh-TW"/>
          </a:p>
        </p:txBody>
      </p:sp>
      <p:sp>
        <p:nvSpPr>
          <p:cNvPr id="6" name="Rectangle 5"/>
          <p:cNvSpPr>
            <a:spLocks noGrp="1" noChangeArrowheads="1"/>
          </p:cNvSpPr>
          <p:nvPr>
            <p:ph type="ftr" sz="quarter" idx="11"/>
          </p:nvPr>
        </p:nvSpPr>
        <p:spPr/>
        <p:txBody>
          <a:bodyPr/>
          <a:lstStyle>
            <a:lvl1pPr fontAlgn="auto">
              <a:spcBef>
                <a:spcPts val="0"/>
              </a:spcBef>
              <a:spcAft>
                <a:spcPts val="0"/>
              </a:spcAft>
              <a:defRPr kumimoji="0"/>
            </a:lvl1pPr>
          </a:lstStyle>
          <a:p>
            <a:pPr>
              <a:defRPr/>
            </a:pPr>
            <a:r>
              <a:rPr lang="en-US" altLang="zh-TW"/>
              <a:t>www.themegallery.com</a:t>
            </a:r>
          </a:p>
        </p:txBody>
      </p:sp>
      <p:sp>
        <p:nvSpPr>
          <p:cNvPr id="7" name="Rectangle 6"/>
          <p:cNvSpPr>
            <a:spLocks noGrp="1" noChangeArrowheads="1"/>
          </p:cNvSpPr>
          <p:nvPr>
            <p:ph type="sldNum" sz="quarter" idx="12"/>
          </p:nvPr>
        </p:nvSpPr>
        <p:spPr/>
        <p:txBody>
          <a:bodyPr/>
          <a:lstStyle>
            <a:lvl1pPr fontAlgn="auto">
              <a:spcBef>
                <a:spcPts val="0"/>
              </a:spcBef>
              <a:spcAft>
                <a:spcPts val="0"/>
              </a:spcAft>
              <a:defRPr kumimoji="0"/>
            </a:lvl1pPr>
          </a:lstStyle>
          <a:p>
            <a:pPr>
              <a:defRPr/>
            </a:pPr>
            <a:fld id="{6DA51721-9319-4D6F-B1F4-65FDB4B1A37D}" type="slidenum">
              <a:rPr lang="en-US" altLang="zh-TW"/>
              <a:pPr>
                <a:defRPr/>
              </a:pPr>
              <a:t>‹#›</a:t>
            </a:fld>
            <a:endParaRPr lang="en-US" altLang="zh-TW"/>
          </a:p>
        </p:txBody>
      </p:sp>
    </p:spTree>
    <p:extLst>
      <p:ext uri="{BB962C8B-B14F-4D97-AF65-F5344CB8AC3E}">
        <p14:creationId xmlns:p14="http://schemas.microsoft.com/office/powerpoint/2010/main" val="40668774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8"/>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4"/>
          <p:cNvSpPr>
            <a:spLocks noGrp="1" noChangeArrowheads="1"/>
          </p:cNvSpPr>
          <p:nvPr>
            <p:ph type="dt" sz="half" idx="10"/>
          </p:nvPr>
        </p:nvSpPr>
        <p:spPr/>
        <p:txBody>
          <a:bodyPr/>
          <a:lstStyle>
            <a:lvl1pPr fontAlgn="auto">
              <a:spcBef>
                <a:spcPts val="0"/>
              </a:spcBef>
              <a:spcAft>
                <a:spcPts val="0"/>
              </a:spcAft>
              <a:defRPr kumimoji="0"/>
            </a:lvl1pPr>
          </a:lstStyle>
          <a:p>
            <a:pPr>
              <a:defRPr/>
            </a:pPr>
            <a:endParaRPr lang="en-US" altLang="zh-TW"/>
          </a:p>
        </p:txBody>
      </p:sp>
      <p:sp>
        <p:nvSpPr>
          <p:cNvPr id="6" name="Rectangle 5"/>
          <p:cNvSpPr>
            <a:spLocks noGrp="1" noChangeArrowheads="1"/>
          </p:cNvSpPr>
          <p:nvPr>
            <p:ph type="ftr" sz="quarter" idx="11"/>
          </p:nvPr>
        </p:nvSpPr>
        <p:spPr/>
        <p:txBody>
          <a:bodyPr/>
          <a:lstStyle>
            <a:lvl1pPr fontAlgn="auto">
              <a:spcBef>
                <a:spcPts val="0"/>
              </a:spcBef>
              <a:spcAft>
                <a:spcPts val="0"/>
              </a:spcAft>
              <a:defRPr kumimoji="0"/>
            </a:lvl1pPr>
          </a:lstStyle>
          <a:p>
            <a:pPr>
              <a:defRPr/>
            </a:pPr>
            <a:r>
              <a:rPr lang="en-US" altLang="zh-TW"/>
              <a:t>www.themegallery.com</a:t>
            </a:r>
          </a:p>
        </p:txBody>
      </p:sp>
      <p:sp>
        <p:nvSpPr>
          <p:cNvPr id="7" name="Rectangle 6"/>
          <p:cNvSpPr>
            <a:spLocks noGrp="1" noChangeArrowheads="1"/>
          </p:cNvSpPr>
          <p:nvPr>
            <p:ph type="sldNum" sz="quarter" idx="12"/>
          </p:nvPr>
        </p:nvSpPr>
        <p:spPr/>
        <p:txBody>
          <a:bodyPr/>
          <a:lstStyle>
            <a:lvl1pPr fontAlgn="auto">
              <a:spcBef>
                <a:spcPts val="0"/>
              </a:spcBef>
              <a:spcAft>
                <a:spcPts val="0"/>
              </a:spcAft>
              <a:defRPr kumimoji="0"/>
            </a:lvl1pPr>
          </a:lstStyle>
          <a:p>
            <a:pPr>
              <a:defRPr/>
            </a:pPr>
            <a:fld id="{0B8574E5-8D82-4D38-8AD7-2D3DE0CF2D46}" type="slidenum">
              <a:rPr lang="en-US" altLang="zh-TW"/>
              <a:pPr>
                <a:defRPr/>
              </a:pPr>
              <a:t>‹#›</a:t>
            </a:fld>
            <a:endParaRPr lang="en-US" altLang="zh-TW"/>
          </a:p>
        </p:txBody>
      </p:sp>
    </p:spTree>
    <p:extLst>
      <p:ext uri="{BB962C8B-B14F-4D97-AF65-F5344CB8AC3E}">
        <p14:creationId xmlns:p14="http://schemas.microsoft.com/office/powerpoint/2010/main" val="16320345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p:txBody>
          <a:bodyPr/>
          <a:lstStyle>
            <a:lvl1pPr fontAlgn="auto">
              <a:spcBef>
                <a:spcPts val="0"/>
              </a:spcBef>
              <a:spcAft>
                <a:spcPts val="0"/>
              </a:spcAft>
              <a:defRPr kumimoji="0"/>
            </a:lvl1pPr>
          </a:lstStyle>
          <a:p>
            <a:pPr>
              <a:defRPr/>
            </a:pPr>
            <a:endParaRPr lang="en-US" altLang="zh-TW"/>
          </a:p>
        </p:txBody>
      </p:sp>
      <p:sp>
        <p:nvSpPr>
          <p:cNvPr id="5" name="Rectangle 5"/>
          <p:cNvSpPr>
            <a:spLocks noGrp="1" noChangeArrowheads="1"/>
          </p:cNvSpPr>
          <p:nvPr>
            <p:ph type="ftr" sz="quarter" idx="11"/>
          </p:nvPr>
        </p:nvSpPr>
        <p:spPr/>
        <p:txBody>
          <a:bodyPr/>
          <a:lstStyle>
            <a:lvl1pPr fontAlgn="auto">
              <a:spcBef>
                <a:spcPts val="0"/>
              </a:spcBef>
              <a:spcAft>
                <a:spcPts val="0"/>
              </a:spcAft>
              <a:defRPr kumimoji="0"/>
            </a:lvl1pPr>
          </a:lstStyle>
          <a:p>
            <a:pPr>
              <a:defRPr/>
            </a:pPr>
            <a:r>
              <a:rPr lang="en-US" altLang="zh-TW"/>
              <a:t>www.themegallery.com</a:t>
            </a:r>
          </a:p>
        </p:txBody>
      </p:sp>
      <p:sp>
        <p:nvSpPr>
          <p:cNvPr id="6" name="Rectangle 6"/>
          <p:cNvSpPr>
            <a:spLocks noGrp="1" noChangeArrowheads="1"/>
          </p:cNvSpPr>
          <p:nvPr>
            <p:ph type="sldNum" sz="quarter" idx="12"/>
          </p:nvPr>
        </p:nvSpPr>
        <p:spPr/>
        <p:txBody>
          <a:bodyPr/>
          <a:lstStyle>
            <a:lvl1pPr fontAlgn="auto">
              <a:spcBef>
                <a:spcPts val="0"/>
              </a:spcBef>
              <a:spcAft>
                <a:spcPts val="0"/>
              </a:spcAft>
              <a:defRPr kumimoji="0"/>
            </a:lvl1pPr>
          </a:lstStyle>
          <a:p>
            <a:pPr>
              <a:defRPr/>
            </a:pPr>
            <a:fld id="{8978EB1D-496A-433D-9962-9C19D4456A13}" type="slidenum">
              <a:rPr lang="en-US" altLang="zh-TW"/>
              <a:pPr>
                <a:defRPr/>
              </a:pPr>
              <a:t>‹#›</a:t>
            </a:fld>
            <a:endParaRPr lang="en-US" altLang="zh-TW"/>
          </a:p>
        </p:txBody>
      </p:sp>
    </p:spTree>
    <p:extLst>
      <p:ext uri="{BB962C8B-B14F-4D97-AF65-F5344CB8AC3E}">
        <p14:creationId xmlns:p14="http://schemas.microsoft.com/office/powerpoint/2010/main" val="39107587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51"/>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51"/>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p:txBody>
          <a:bodyPr/>
          <a:lstStyle>
            <a:lvl1pPr fontAlgn="auto">
              <a:spcBef>
                <a:spcPts val="0"/>
              </a:spcBef>
              <a:spcAft>
                <a:spcPts val="0"/>
              </a:spcAft>
              <a:defRPr kumimoji="0"/>
            </a:lvl1pPr>
          </a:lstStyle>
          <a:p>
            <a:pPr>
              <a:defRPr/>
            </a:pPr>
            <a:endParaRPr lang="en-US" altLang="zh-TW"/>
          </a:p>
        </p:txBody>
      </p:sp>
      <p:sp>
        <p:nvSpPr>
          <p:cNvPr id="5" name="Rectangle 5"/>
          <p:cNvSpPr>
            <a:spLocks noGrp="1" noChangeArrowheads="1"/>
          </p:cNvSpPr>
          <p:nvPr>
            <p:ph type="ftr" sz="quarter" idx="11"/>
          </p:nvPr>
        </p:nvSpPr>
        <p:spPr/>
        <p:txBody>
          <a:bodyPr/>
          <a:lstStyle>
            <a:lvl1pPr fontAlgn="auto">
              <a:spcBef>
                <a:spcPts val="0"/>
              </a:spcBef>
              <a:spcAft>
                <a:spcPts val="0"/>
              </a:spcAft>
              <a:defRPr kumimoji="0"/>
            </a:lvl1pPr>
          </a:lstStyle>
          <a:p>
            <a:pPr>
              <a:defRPr/>
            </a:pPr>
            <a:r>
              <a:rPr lang="en-US" altLang="zh-TW"/>
              <a:t>www.themegallery.com</a:t>
            </a:r>
          </a:p>
        </p:txBody>
      </p:sp>
      <p:sp>
        <p:nvSpPr>
          <p:cNvPr id="6" name="Rectangle 6"/>
          <p:cNvSpPr>
            <a:spLocks noGrp="1" noChangeArrowheads="1"/>
          </p:cNvSpPr>
          <p:nvPr>
            <p:ph type="sldNum" sz="quarter" idx="12"/>
          </p:nvPr>
        </p:nvSpPr>
        <p:spPr/>
        <p:txBody>
          <a:bodyPr/>
          <a:lstStyle>
            <a:lvl1pPr fontAlgn="auto">
              <a:spcBef>
                <a:spcPts val="0"/>
              </a:spcBef>
              <a:spcAft>
                <a:spcPts val="0"/>
              </a:spcAft>
              <a:defRPr kumimoji="0"/>
            </a:lvl1pPr>
          </a:lstStyle>
          <a:p>
            <a:pPr>
              <a:defRPr/>
            </a:pPr>
            <a:fld id="{F68A63C1-7E54-4509-A1FE-9197ABBEF979}" type="slidenum">
              <a:rPr lang="en-US" altLang="zh-TW"/>
              <a:pPr>
                <a:defRPr/>
              </a:pPr>
              <a:t>‹#›</a:t>
            </a:fld>
            <a:endParaRPr lang="en-US" altLang="zh-TW"/>
          </a:p>
        </p:txBody>
      </p:sp>
    </p:spTree>
    <p:extLst>
      <p:ext uri="{BB962C8B-B14F-4D97-AF65-F5344CB8AC3E}">
        <p14:creationId xmlns:p14="http://schemas.microsoft.com/office/powerpoint/2010/main" val="8991495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8" y="274640"/>
            <a:ext cx="8229600" cy="1143000"/>
          </a:xfrm>
        </p:spPr>
        <p:txBody>
          <a:bodyPr/>
          <a:lstStyle/>
          <a:p>
            <a:r>
              <a:rPr lang="zh-TW" altLang="en-US"/>
              <a:t>按一下以編輯母片標題樣式</a:t>
            </a:r>
          </a:p>
        </p:txBody>
      </p:sp>
      <p:sp>
        <p:nvSpPr>
          <p:cNvPr id="3" name="表格版面配置區 2"/>
          <p:cNvSpPr>
            <a:spLocks noGrp="1"/>
          </p:cNvSpPr>
          <p:nvPr>
            <p:ph type="tbl" idx="1"/>
          </p:nvPr>
        </p:nvSpPr>
        <p:spPr>
          <a:xfrm>
            <a:off x="457208" y="1600200"/>
            <a:ext cx="8229600" cy="4525963"/>
          </a:xfrm>
        </p:spPr>
        <p:txBody>
          <a:bodyPr/>
          <a:lstStyle/>
          <a:p>
            <a:pPr lvl="0"/>
            <a:endParaRPr lang="zh-TW" altLang="en-US" noProof="0"/>
          </a:p>
        </p:txBody>
      </p:sp>
      <p:sp>
        <p:nvSpPr>
          <p:cNvPr id="4" name="Rectangle 4"/>
          <p:cNvSpPr>
            <a:spLocks noGrp="1" noChangeArrowheads="1"/>
          </p:cNvSpPr>
          <p:nvPr>
            <p:ph type="dt" sz="half" idx="10"/>
          </p:nvPr>
        </p:nvSpPr>
        <p:spPr/>
        <p:txBody>
          <a:bodyPr/>
          <a:lstStyle>
            <a:lvl1pPr fontAlgn="auto">
              <a:spcBef>
                <a:spcPts val="0"/>
              </a:spcBef>
              <a:spcAft>
                <a:spcPts val="0"/>
              </a:spcAft>
              <a:defRPr kumimoji="0"/>
            </a:lvl1pPr>
          </a:lstStyle>
          <a:p>
            <a:pPr>
              <a:defRPr/>
            </a:pPr>
            <a:endParaRPr lang="en-US" altLang="zh-TW"/>
          </a:p>
        </p:txBody>
      </p:sp>
      <p:sp>
        <p:nvSpPr>
          <p:cNvPr id="5" name="Rectangle 5"/>
          <p:cNvSpPr>
            <a:spLocks noGrp="1" noChangeArrowheads="1"/>
          </p:cNvSpPr>
          <p:nvPr>
            <p:ph type="ftr" sz="quarter" idx="11"/>
          </p:nvPr>
        </p:nvSpPr>
        <p:spPr/>
        <p:txBody>
          <a:bodyPr/>
          <a:lstStyle>
            <a:lvl1pPr fontAlgn="auto">
              <a:spcBef>
                <a:spcPts val="0"/>
              </a:spcBef>
              <a:spcAft>
                <a:spcPts val="0"/>
              </a:spcAft>
              <a:defRPr kumimoji="0"/>
            </a:lvl1pPr>
          </a:lstStyle>
          <a:p>
            <a:pPr>
              <a:defRPr/>
            </a:pPr>
            <a:r>
              <a:rPr lang="en-US" altLang="zh-TW"/>
              <a:t>www.themegallery.com</a:t>
            </a:r>
          </a:p>
        </p:txBody>
      </p:sp>
      <p:sp>
        <p:nvSpPr>
          <p:cNvPr id="6" name="Rectangle 6"/>
          <p:cNvSpPr>
            <a:spLocks noGrp="1" noChangeArrowheads="1"/>
          </p:cNvSpPr>
          <p:nvPr>
            <p:ph type="sldNum" sz="quarter" idx="12"/>
          </p:nvPr>
        </p:nvSpPr>
        <p:spPr/>
        <p:txBody>
          <a:bodyPr/>
          <a:lstStyle>
            <a:lvl1pPr fontAlgn="auto">
              <a:spcBef>
                <a:spcPts val="0"/>
              </a:spcBef>
              <a:spcAft>
                <a:spcPts val="0"/>
              </a:spcAft>
              <a:defRPr kumimoji="0"/>
            </a:lvl1pPr>
          </a:lstStyle>
          <a:p>
            <a:pPr>
              <a:defRPr/>
            </a:pPr>
            <a:fld id="{F0662182-F8ED-409F-8A81-BF47C05F94E7}" type="slidenum">
              <a:rPr lang="en-US" altLang="zh-TW"/>
              <a:pPr>
                <a:defRPr/>
              </a:pPr>
              <a:t>‹#›</a:t>
            </a:fld>
            <a:endParaRPr lang="en-US" altLang="zh-TW"/>
          </a:p>
        </p:txBody>
      </p:sp>
    </p:spTree>
    <p:extLst>
      <p:ext uri="{BB962C8B-B14F-4D97-AF65-F5344CB8AC3E}">
        <p14:creationId xmlns:p14="http://schemas.microsoft.com/office/powerpoint/2010/main" val="537353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2.png"/><Relationship Id="rId2" Type="http://schemas.openxmlformats.org/officeDocument/2006/relationships/slideLayout" Target="../slideLayouts/slideLayout16.xml"/><Relationship Id="rId16" Type="http://schemas.openxmlformats.org/officeDocument/2006/relationships/oleObject" Target="../embeddings/oleObject2.bin"/><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1.pn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bwMode="auto">
          <a:xfrm>
            <a:off x="457201" y="274639"/>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95235" name="Rectangle 3"/>
          <p:cNvSpPr>
            <a:spLocks noGrp="1" noChangeArrowheads="1"/>
          </p:cNvSpPr>
          <p:nvPr>
            <p:ph type="body" idx="1"/>
          </p:nvPr>
        </p:nvSpPr>
        <p:spPr bwMode="auto">
          <a:xfrm>
            <a:off x="457201"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95236"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400"/>
            </a:lvl1pPr>
          </a:lstStyle>
          <a:p>
            <a:pPr fontAlgn="base">
              <a:spcBef>
                <a:spcPct val="0"/>
              </a:spcBef>
              <a:spcAft>
                <a:spcPct val="0"/>
              </a:spcAft>
            </a:pPr>
            <a:endParaRPr lang="en-US" altLang="zh-TW">
              <a:solidFill>
                <a:srgbClr val="000000"/>
              </a:solidFill>
            </a:endParaRPr>
          </a:p>
        </p:txBody>
      </p:sp>
      <p:sp>
        <p:nvSpPr>
          <p:cNvPr id="95237"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lvl1pPr>
          </a:lstStyle>
          <a:p>
            <a:pPr fontAlgn="base">
              <a:spcBef>
                <a:spcPct val="0"/>
              </a:spcBef>
              <a:spcAft>
                <a:spcPct val="0"/>
              </a:spcAft>
            </a:pPr>
            <a:endParaRPr lang="en-US" altLang="zh-TW">
              <a:solidFill>
                <a:srgbClr val="000000"/>
              </a:solidFill>
            </a:endParaRPr>
          </a:p>
        </p:txBody>
      </p:sp>
      <p:sp>
        <p:nvSpPr>
          <p:cNvPr id="95238"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lvl1pPr>
          </a:lstStyle>
          <a:p>
            <a:pPr fontAlgn="base">
              <a:spcBef>
                <a:spcPct val="0"/>
              </a:spcBef>
              <a:spcAft>
                <a:spcPct val="0"/>
              </a:spcAft>
            </a:pPr>
            <a:fld id="{4407CBD6-8566-44EF-BD46-9FE1E6555DFC}" type="slidenum">
              <a:rPr lang="en-US" altLang="zh-TW" smtClean="0">
                <a:solidFill>
                  <a:srgbClr val="000000"/>
                </a:solidFill>
              </a:rPr>
              <a:pPr fontAlgn="base">
                <a:spcBef>
                  <a:spcPct val="0"/>
                </a:spcBef>
                <a:spcAft>
                  <a:spcPct val="0"/>
                </a:spcAft>
              </a:pPr>
              <a:t>‹#›</a:t>
            </a:fld>
            <a:endParaRPr lang="en-US" altLang="zh-TW">
              <a:solidFill>
                <a:srgbClr val="000000"/>
              </a:solidFill>
            </a:endParaRPr>
          </a:p>
        </p:txBody>
      </p:sp>
    </p:spTree>
    <p:extLst>
      <p:ext uri="{BB962C8B-B14F-4D97-AF65-F5344CB8AC3E}">
        <p14:creationId xmlns:p14="http://schemas.microsoft.com/office/powerpoint/2010/main" val="10842296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spd="slow">
    <p:randomBar dir="vert"/>
  </p:transition>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新細明體" pitchFamily="18" charset="-120"/>
        </a:defRPr>
      </a:lvl2pPr>
      <a:lvl3pPr algn="ctr" rtl="0" fontAlgn="base">
        <a:spcBef>
          <a:spcPct val="0"/>
        </a:spcBef>
        <a:spcAft>
          <a:spcPct val="0"/>
        </a:spcAft>
        <a:defRPr kumimoji="1" sz="4400">
          <a:solidFill>
            <a:schemeClr val="tx2"/>
          </a:solidFill>
          <a:latin typeface="Arial" charset="0"/>
          <a:ea typeface="新細明體" pitchFamily="18" charset="-120"/>
        </a:defRPr>
      </a:lvl3pPr>
      <a:lvl4pPr algn="ctr" rtl="0" fontAlgn="base">
        <a:spcBef>
          <a:spcPct val="0"/>
        </a:spcBef>
        <a:spcAft>
          <a:spcPct val="0"/>
        </a:spcAft>
        <a:defRPr kumimoji="1" sz="4400">
          <a:solidFill>
            <a:schemeClr val="tx2"/>
          </a:solidFill>
          <a:latin typeface="Arial" charset="0"/>
          <a:ea typeface="新細明體" pitchFamily="18" charset="-120"/>
        </a:defRPr>
      </a:lvl4pPr>
      <a:lvl5pPr algn="ctr" rtl="0" fontAlgn="base">
        <a:spcBef>
          <a:spcPct val="0"/>
        </a:spcBef>
        <a:spcAft>
          <a:spcPct val="0"/>
        </a:spcAft>
        <a:defRPr kumimoji="1" sz="4400">
          <a:solidFill>
            <a:schemeClr val="tx2"/>
          </a:solidFill>
          <a:latin typeface="Arial" charset="0"/>
          <a:ea typeface="新細明體" pitchFamily="18" charset="-120"/>
        </a:defRPr>
      </a:lvl5pPr>
      <a:lvl6pPr marL="457200" algn="ctr" rtl="0" fontAlgn="base">
        <a:spcBef>
          <a:spcPct val="0"/>
        </a:spcBef>
        <a:spcAft>
          <a:spcPct val="0"/>
        </a:spcAft>
        <a:defRPr kumimoji="1" sz="4400">
          <a:solidFill>
            <a:schemeClr val="tx2"/>
          </a:solidFill>
          <a:latin typeface="Arial" charset="0"/>
          <a:ea typeface="新細明體" pitchFamily="18" charset="-120"/>
        </a:defRPr>
      </a:lvl6pPr>
      <a:lvl7pPr marL="914400" algn="ctr" rtl="0" fontAlgn="base">
        <a:spcBef>
          <a:spcPct val="0"/>
        </a:spcBef>
        <a:spcAft>
          <a:spcPct val="0"/>
        </a:spcAft>
        <a:defRPr kumimoji="1" sz="4400">
          <a:solidFill>
            <a:schemeClr val="tx2"/>
          </a:solidFill>
          <a:latin typeface="Arial" charset="0"/>
          <a:ea typeface="新細明體" pitchFamily="18" charset="-120"/>
        </a:defRPr>
      </a:lvl7pPr>
      <a:lvl8pPr marL="1371600" algn="ctr" rtl="0" fontAlgn="base">
        <a:spcBef>
          <a:spcPct val="0"/>
        </a:spcBef>
        <a:spcAft>
          <a:spcPct val="0"/>
        </a:spcAft>
        <a:defRPr kumimoji="1" sz="4400">
          <a:solidFill>
            <a:schemeClr val="tx2"/>
          </a:solidFill>
          <a:latin typeface="Arial" charset="0"/>
          <a:ea typeface="新細明體" pitchFamily="18" charset="-120"/>
        </a:defRPr>
      </a:lvl8pPr>
      <a:lvl9pPr marL="1828800" algn="ctr" rtl="0" fontAlgn="base">
        <a:spcBef>
          <a:spcPct val="0"/>
        </a:spcBef>
        <a:spcAft>
          <a:spcPct val="0"/>
        </a:spcAft>
        <a:defRPr kumimoji="1" sz="4400">
          <a:solidFill>
            <a:schemeClr val="tx2"/>
          </a:solidFill>
          <a:latin typeface="Arial" charset="0"/>
          <a:ea typeface="新細明體" pitchFamily="18" charset="-12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6" name="Rectangle 72"/>
          <p:cNvSpPr>
            <a:spLocks noChangeArrowheads="1"/>
          </p:cNvSpPr>
          <p:nvPr/>
        </p:nvSpPr>
        <p:spPr bwMode="ltGray">
          <a:xfrm>
            <a:off x="838200" y="0"/>
            <a:ext cx="7426325" cy="882650"/>
          </a:xfrm>
          <a:prstGeom prst="rect">
            <a:avLst/>
          </a:prstGeom>
          <a:gradFill rotWithShape="1">
            <a:gsLst>
              <a:gs pos="0">
                <a:schemeClr val="accent2"/>
              </a:gs>
              <a:gs pos="100000">
                <a:schemeClr val="accent2">
                  <a:gamma/>
                  <a:shade val="46275"/>
                  <a:invGamma/>
                </a:schemeClr>
              </a:gs>
            </a:gsLst>
            <a:lin ang="5400000" scaled="1"/>
          </a:gradFill>
          <a:ln w="9525">
            <a:noFill/>
            <a:miter lim="800000"/>
            <a:headEnd/>
            <a:tailEnd/>
          </a:ln>
          <a:effectLst/>
        </p:spPr>
        <p:txBody>
          <a:bodyPr wrap="none" anchor="ctr"/>
          <a:lstStyle/>
          <a:p>
            <a:pPr fontAlgn="base">
              <a:spcBef>
                <a:spcPct val="0"/>
              </a:spcBef>
              <a:spcAft>
                <a:spcPct val="0"/>
              </a:spcAft>
              <a:defRPr/>
            </a:pPr>
            <a:endParaRPr lang="zh-TW" altLang="en-US" b="1">
              <a:solidFill>
                <a:srgbClr val="024631"/>
              </a:solidFill>
              <a:ea typeface="新細明體" pitchFamily="18" charset="-120"/>
            </a:endParaRPr>
          </a:p>
        </p:txBody>
      </p:sp>
      <p:graphicFrame>
        <p:nvGraphicFramePr>
          <p:cNvPr id="1027" name="Object 67"/>
          <p:cNvGraphicFramePr>
            <a:graphicFrameLocks noChangeAspect="1"/>
          </p:cNvGraphicFramePr>
          <p:nvPr/>
        </p:nvGraphicFramePr>
        <p:xfrm>
          <a:off x="8261350" y="0"/>
          <a:ext cx="882650" cy="893763"/>
        </p:xfrm>
        <a:graphic>
          <a:graphicData uri="http://schemas.openxmlformats.org/presentationml/2006/ole">
            <mc:AlternateContent xmlns:mc="http://schemas.openxmlformats.org/markup-compatibility/2006">
              <mc:Choice xmlns:v="urn:schemas-microsoft-com:vml" Requires="v">
                <p:oleObj name="Image" r:id="rId14" imgW="3809524" imgH="4673016" progId="">
                  <p:embed/>
                </p:oleObj>
              </mc:Choice>
              <mc:Fallback>
                <p:oleObj name="Image" r:id="rId14" imgW="3809524" imgH="4673016" progId="">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gray">
                      <a:xfrm>
                        <a:off x="8261350" y="0"/>
                        <a:ext cx="882650" cy="893763"/>
                      </a:xfrm>
                      <a:prstGeom prst="rect">
                        <a:avLst/>
                      </a:prstGeom>
                      <a:noFill/>
                      <a:ln>
                        <a:noFill/>
                      </a:ln>
                      <a:effectLst/>
                      <a:extLst>
                        <a:ext uri="{909E8E84-426E-40DD-AFC4-6F175D3DCCD1}">
                          <a14:hiddenFill xmlns:a14="http://schemas.microsoft.com/office/drawing/2010/main">
                            <a:solidFill>
                              <a:srgbClr val="C8E0B0"/>
                            </a:solidFill>
                          </a14:hiddenFill>
                        </a:ext>
                        <a:ext uri="{91240B29-F687-4F45-9708-019B960494DF}">
                          <a14:hiddenLine xmlns:a14="http://schemas.microsoft.com/office/drawing/2010/main" w="9525">
                            <a:solidFill>
                              <a:srgbClr val="024631"/>
                            </a:solidFill>
                            <a:miter lim="800000"/>
                            <a:headEnd/>
                            <a:tailEnd/>
                          </a14:hiddenLine>
                        </a:ext>
                        <a:ext uri="{AF507438-7753-43E0-B8FC-AC1667EBCBE1}">
                          <a14:hiddenEffects xmlns:a14="http://schemas.microsoft.com/office/drawing/2010/main">
                            <a:effectLst>
                              <a:outerShdw dist="35921" dir="2700000" algn="ctr" rotWithShape="0">
                                <a:srgbClr val="DDDDDD"/>
                              </a:outerShdw>
                            </a:effectLst>
                          </a14:hiddenEffects>
                        </a:ext>
                      </a:extLst>
                    </p:spPr>
                  </p:pic>
                </p:oleObj>
              </mc:Fallback>
            </mc:AlternateContent>
          </a:graphicData>
        </a:graphic>
      </p:graphicFrame>
      <p:graphicFrame>
        <p:nvGraphicFramePr>
          <p:cNvPr id="1028" name="Object 68"/>
          <p:cNvGraphicFramePr>
            <a:graphicFrameLocks noChangeAspect="1"/>
          </p:cNvGraphicFramePr>
          <p:nvPr/>
        </p:nvGraphicFramePr>
        <p:xfrm>
          <a:off x="3175" y="0"/>
          <a:ext cx="885825" cy="884238"/>
        </p:xfrm>
        <a:graphic>
          <a:graphicData uri="http://schemas.openxmlformats.org/presentationml/2006/ole">
            <mc:AlternateContent xmlns:mc="http://schemas.openxmlformats.org/markup-compatibility/2006">
              <mc:Choice xmlns:v="urn:schemas-microsoft-com:vml" Requires="v">
                <p:oleObj name="Image" r:id="rId16" imgW="3809524" imgH="4507937" progId="">
                  <p:embed/>
                </p:oleObj>
              </mc:Choice>
              <mc:Fallback>
                <p:oleObj name="Image" r:id="rId16" imgW="3809524" imgH="4507937" progId="">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gray">
                      <a:xfrm>
                        <a:off x="3175" y="0"/>
                        <a:ext cx="885825" cy="884238"/>
                      </a:xfrm>
                      <a:prstGeom prst="rect">
                        <a:avLst/>
                      </a:prstGeom>
                      <a:noFill/>
                      <a:ln>
                        <a:noFill/>
                      </a:ln>
                      <a:effectLst/>
                      <a:extLst>
                        <a:ext uri="{909E8E84-426E-40DD-AFC4-6F175D3DCCD1}">
                          <a14:hiddenFill xmlns:a14="http://schemas.microsoft.com/office/drawing/2010/main">
                            <a:solidFill>
                              <a:srgbClr val="C8E0B0"/>
                            </a:solidFill>
                          </a14:hiddenFill>
                        </a:ext>
                        <a:ext uri="{91240B29-F687-4F45-9708-019B960494DF}">
                          <a14:hiddenLine xmlns:a14="http://schemas.microsoft.com/office/drawing/2010/main" w="9525">
                            <a:solidFill>
                              <a:srgbClr val="024631"/>
                            </a:solidFill>
                            <a:miter lim="800000"/>
                            <a:headEnd/>
                            <a:tailEnd/>
                          </a14:hiddenLine>
                        </a:ext>
                        <a:ext uri="{AF507438-7753-43E0-B8FC-AC1667EBCBE1}">
                          <a14:hiddenEffects xmlns:a14="http://schemas.microsoft.com/office/drawing/2010/main">
                            <a:effectLst>
                              <a:outerShdw dist="35921" dir="2700000" algn="ctr" rotWithShape="0">
                                <a:srgbClr val="DDDDDD"/>
                              </a:outerShdw>
                            </a:effectLst>
                          </a14:hiddenEffects>
                        </a:ext>
                      </a:extLst>
                    </p:spPr>
                  </p:pic>
                </p:oleObj>
              </mc:Fallback>
            </mc:AlternateContent>
          </a:graphicData>
        </a:graphic>
      </p:graphicFrame>
      <p:sp>
        <p:nvSpPr>
          <p:cNvPr id="1029" name="Rectangle 5"/>
          <p:cNvSpPr>
            <a:spLocks noGrp="1" noChangeArrowheads="1"/>
          </p:cNvSpPr>
          <p:nvPr>
            <p:ph type="ftr" sz="quarter" idx="3"/>
          </p:nvPr>
        </p:nvSpPr>
        <p:spPr bwMode="auto">
          <a:xfrm>
            <a:off x="5943600" y="6477000"/>
            <a:ext cx="2819400" cy="336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0">
                <a:latin typeface="Verdana" pitchFamily="34" charset="0"/>
                <a:ea typeface="新細明體" pitchFamily="18" charset="-120"/>
              </a:defRPr>
            </a:lvl1pPr>
          </a:lstStyle>
          <a:p>
            <a:pPr fontAlgn="base">
              <a:spcBef>
                <a:spcPct val="0"/>
              </a:spcBef>
              <a:spcAft>
                <a:spcPct val="0"/>
              </a:spcAft>
              <a:defRPr/>
            </a:pPr>
            <a:r>
              <a:rPr lang="en-US" altLang="zh-TW">
                <a:solidFill>
                  <a:srgbClr val="024631"/>
                </a:solidFill>
              </a:rPr>
              <a:t>www.themegallery.com</a:t>
            </a:r>
          </a:p>
        </p:txBody>
      </p:sp>
      <p:sp>
        <p:nvSpPr>
          <p:cNvPr id="1030" name="Rectangle 6"/>
          <p:cNvSpPr>
            <a:spLocks noGrp="1" noChangeArrowheads="1"/>
          </p:cNvSpPr>
          <p:nvPr>
            <p:ph type="sldNum" sz="quarter" idx="4"/>
          </p:nvPr>
        </p:nvSpPr>
        <p:spPr bwMode="auto">
          <a:xfrm>
            <a:off x="457200" y="6448425"/>
            <a:ext cx="762000" cy="377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b="0">
                <a:latin typeface="Verdana" pitchFamily="34" charset="0"/>
                <a:ea typeface="新細明體" pitchFamily="18" charset="-120"/>
              </a:defRPr>
            </a:lvl1pPr>
          </a:lstStyle>
          <a:p>
            <a:pPr fontAlgn="base">
              <a:spcBef>
                <a:spcPct val="0"/>
              </a:spcBef>
              <a:spcAft>
                <a:spcPct val="0"/>
              </a:spcAft>
              <a:defRPr/>
            </a:pPr>
            <a:fld id="{9AB957DA-46EF-4436-B887-92B0484DA23F}" type="slidenum">
              <a:rPr lang="en-US" altLang="zh-TW">
                <a:solidFill>
                  <a:srgbClr val="024631"/>
                </a:solidFill>
              </a:rPr>
              <a:pPr fontAlgn="base">
                <a:spcBef>
                  <a:spcPct val="0"/>
                </a:spcBef>
                <a:spcAft>
                  <a:spcPct val="0"/>
                </a:spcAft>
                <a:defRPr/>
              </a:pPr>
              <a:t>‹#›</a:t>
            </a:fld>
            <a:endParaRPr lang="en-US" altLang="zh-TW">
              <a:solidFill>
                <a:srgbClr val="024631"/>
              </a:solidFill>
            </a:endParaRPr>
          </a:p>
        </p:txBody>
      </p:sp>
      <p:sp>
        <p:nvSpPr>
          <p:cNvPr id="1031" name="Rectangle 2"/>
          <p:cNvSpPr>
            <a:spLocks noGrp="1" noChangeArrowheads="1"/>
          </p:cNvSpPr>
          <p:nvPr>
            <p:ph type="title"/>
          </p:nvPr>
        </p:nvSpPr>
        <p:spPr bwMode="black">
          <a:xfrm>
            <a:off x="304800" y="46038"/>
            <a:ext cx="838200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endParaRPr lang="en-US" altLang="zh-TW"/>
          </a:p>
        </p:txBody>
      </p:sp>
      <p:sp>
        <p:nvSpPr>
          <p:cNvPr id="1032" name="Freeform 73"/>
          <p:cNvSpPr>
            <a:spLocks/>
          </p:cNvSpPr>
          <p:nvPr/>
        </p:nvSpPr>
        <p:spPr bwMode="gray">
          <a:xfrm>
            <a:off x="611188" y="609600"/>
            <a:ext cx="7793037" cy="339725"/>
          </a:xfrm>
          <a:custGeom>
            <a:avLst/>
            <a:gdLst>
              <a:gd name="T0" fmla="*/ 3001 w 5780"/>
              <a:gd name="T1" fmla="*/ 12 h 365"/>
              <a:gd name="T2" fmla="*/ 5777 w 5780"/>
              <a:gd name="T3" fmla="*/ 342 h 365"/>
              <a:gd name="T4" fmla="*/ 0 w 5780"/>
              <a:gd name="T5" fmla="*/ 365 h 365"/>
              <a:gd name="T6" fmla="*/ 3001 w 5780"/>
              <a:gd name="T7" fmla="*/ 12 h 3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80" h="365">
                <a:moveTo>
                  <a:pt x="3001" y="12"/>
                </a:moveTo>
                <a:cubicBezTo>
                  <a:pt x="5072" y="24"/>
                  <a:pt x="5780" y="322"/>
                  <a:pt x="5777" y="342"/>
                </a:cubicBezTo>
                <a:lnTo>
                  <a:pt x="0" y="365"/>
                </a:lnTo>
                <a:cubicBezTo>
                  <a:pt x="295" y="258"/>
                  <a:pt x="930" y="0"/>
                  <a:pt x="3001" y="1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zh-TW" altLang="en-US" b="1">
              <a:solidFill>
                <a:srgbClr val="024631"/>
              </a:solidFill>
              <a:ea typeface="新細明體" pitchFamily="18" charset="-120"/>
            </a:endParaRPr>
          </a:p>
        </p:txBody>
      </p:sp>
      <p:sp>
        <p:nvSpPr>
          <p:cNvPr id="1033" name="Rectangle 3"/>
          <p:cNvSpPr>
            <a:spLocks noGrp="1" noChangeArrowheads="1"/>
          </p:cNvSpPr>
          <p:nvPr>
            <p:ph type="body" idx="1"/>
          </p:nvPr>
        </p:nvSpPr>
        <p:spPr bwMode="auto">
          <a:xfrm>
            <a:off x="457200" y="990600"/>
            <a:ext cx="82296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ltLang="zh-TW"/>
          </a:p>
        </p:txBody>
      </p:sp>
    </p:spTree>
    <p:extLst>
      <p:ext uri="{BB962C8B-B14F-4D97-AF65-F5344CB8AC3E}">
        <p14:creationId xmlns:p14="http://schemas.microsoft.com/office/powerpoint/2010/main" val="1349095617"/>
      </p:ext>
    </p:extLst>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 id="2147484228" r:id="rId4"/>
    <p:sldLayoutId id="2147484229" r:id="rId5"/>
    <p:sldLayoutId id="2147484230" r:id="rId6"/>
    <p:sldLayoutId id="2147484231" r:id="rId7"/>
    <p:sldLayoutId id="2147484232" r:id="rId8"/>
    <p:sldLayoutId id="2147484233" r:id="rId9"/>
    <p:sldLayoutId id="2147484234" r:id="rId10"/>
    <p:sldLayoutId id="2147484235" r:id="rId11"/>
    <p:sldLayoutId id="2147484236" r:id="rId12"/>
  </p:sldLayoutIdLst>
  <p:hf sldNum="0" hdr="0" dt="0"/>
  <p:txStyles>
    <p:titleStyle>
      <a:lvl1pPr algn="ctr" rtl="0" eaLnBrk="0" fontAlgn="base" hangingPunct="0">
        <a:spcBef>
          <a:spcPct val="0"/>
        </a:spcBef>
        <a:spcAft>
          <a:spcPct val="0"/>
        </a:spcAft>
        <a:defRPr sz="2800" b="1">
          <a:solidFill>
            <a:schemeClr val="bg1"/>
          </a:solidFill>
          <a:latin typeface="+mj-lt"/>
          <a:ea typeface="+mj-ea"/>
          <a:cs typeface="+mj-cs"/>
        </a:defRPr>
      </a:lvl1pPr>
      <a:lvl2pPr algn="ctr" rtl="0" eaLnBrk="0" fontAlgn="base" hangingPunct="0">
        <a:spcBef>
          <a:spcPct val="0"/>
        </a:spcBef>
        <a:spcAft>
          <a:spcPct val="0"/>
        </a:spcAft>
        <a:defRPr sz="2800" b="1">
          <a:solidFill>
            <a:schemeClr val="bg1"/>
          </a:solidFill>
          <a:latin typeface="Arial" pitchFamily="34" charset="0"/>
        </a:defRPr>
      </a:lvl2pPr>
      <a:lvl3pPr algn="ctr" rtl="0" eaLnBrk="0" fontAlgn="base" hangingPunct="0">
        <a:spcBef>
          <a:spcPct val="0"/>
        </a:spcBef>
        <a:spcAft>
          <a:spcPct val="0"/>
        </a:spcAft>
        <a:defRPr sz="2800" b="1">
          <a:solidFill>
            <a:schemeClr val="bg1"/>
          </a:solidFill>
          <a:latin typeface="Arial" pitchFamily="34" charset="0"/>
        </a:defRPr>
      </a:lvl3pPr>
      <a:lvl4pPr algn="ctr" rtl="0" eaLnBrk="0" fontAlgn="base" hangingPunct="0">
        <a:spcBef>
          <a:spcPct val="0"/>
        </a:spcBef>
        <a:spcAft>
          <a:spcPct val="0"/>
        </a:spcAft>
        <a:defRPr sz="2800" b="1">
          <a:solidFill>
            <a:schemeClr val="bg1"/>
          </a:solidFill>
          <a:latin typeface="Arial" pitchFamily="34" charset="0"/>
        </a:defRPr>
      </a:lvl4pPr>
      <a:lvl5pPr algn="ctr" rtl="0" eaLnBrk="0" fontAlgn="base" hangingPunct="0">
        <a:spcBef>
          <a:spcPct val="0"/>
        </a:spcBef>
        <a:spcAft>
          <a:spcPct val="0"/>
        </a:spcAft>
        <a:defRPr sz="2800" b="1">
          <a:solidFill>
            <a:schemeClr val="bg1"/>
          </a:solidFill>
          <a:latin typeface="Arial" pitchFamily="34" charset="0"/>
        </a:defRPr>
      </a:lvl5pPr>
      <a:lvl6pPr marL="457200" algn="ctr" rtl="0" eaLnBrk="1" fontAlgn="base" hangingPunct="1">
        <a:spcBef>
          <a:spcPct val="0"/>
        </a:spcBef>
        <a:spcAft>
          <a:spcPct val="0"/>
        </a:spcAft>
        <a:defRPr sz="2800" b="1">
          <a:solidFill>
            <a:schemeClr val="bg1"/>
          </a:solidFill>
          <a:latin typeface="Arial" pitchFamily="34" charset="0"/>
        </a:defRPr>
      </a:lvl6pPr>
      <a:lvl7pPr marL="914400" algn="ctr" rtl="0" eaLnBrk="1" fontAlgn="base" hangingPunct="1">
        <a:spcBef>
          <a:spcPct val="0"/>
        </a:spcBef>
        <a:spcAft>
          <a:spcPct val="0"/>
        </a:spcAft>
        <a:defRPr sz="2800" b="1">
          <a:solidFill>
            <a:schemeClr val="bg1"/>
          </a:solidFill>
          <a:latin typeface="Arial" pitchFamily="34" charset="0"/>
        </a:defRPr>
      </a:lvl7pPr>
      <a:lvl8pPr marL="1371600" algn="ctr" rtl="0" eaLnBrk="1" fontAlgn="base" hangingPunct="1">
        <a:spcBef>
          <a:spcPct val="0"/>
        </a:spcBef>
        <a:spcAft>
          <a:spcPct val="0"/>
        </a:spcAft>
        <a:defRPr sz="2800" b="1">
          <a:solidFill>
            <a:schemeClr val="bg1"/>
          </a:solidFill>
          <a:latin typeface="Arial" pitchFamily="34" charset="0"/>
        </a:defRPr>
      </a:lvl8pPr>
      <a:lvl9pPr marL="1828800" algn="ctr" rtl="0" eaLnBrk="1" fontAlgn="base" hangingPunct="1">
        <a:spcBef>
          <a:spcPct val="0"/>
        </a:spcBef>
        <a:spcAft>
          <a:spcPct val="0"/>
        </a:spcAft>
        <a:defRPr sz="2800" b="1">
          <a:solidFill>
            <a:schemeClr val="bg1"/>
          </a:solidFill>
          <a:latin typeface="Arial" pitchFamily="34"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6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400">
                <a:solidFill>
                  <a:srgbClr val="000000"/>
                </a:solidFill>
                <a:latin typeface="Arial" pitchFamily="34" charset="0"/>
                <a:ea typeface="新細明體" pitchFamily="18" charset="-120"/>
              </a:defRPr>
            </a:lvl1pPr>
          </a:lstStyle>
          <a:p>
            <a:pPr fontAlgn="base">
              <a:spcBef>
                <a:spcPct val="0"/>
              </a:spcBef>
              <a:spcAft>
                <a:spcPct val="0"/>
              </a:spcAft>
              <a:defRPr/>
            </a:pPr>
            <a:endParaRPr kumimoji="1" lang="en-US" altLang="zh-TW"/>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a:defRPr sz="1400">
                <a:solidFill>
                  <a:srgbClr val="000000"/>
                </a:solidFill>
                <a:latin typeface="Arial" pitchFamily="34" charset="0"/>
                <a:ea typeface="新細明體" pitchFamily="18" charset="-120"/>
              </a:defRPr>
            </a:lvl1pPr>
          </a:lstStyle>
          <a:p>
            <a:pPr fontAlgn="base">
              <a:spcBef>
                <a:spcPct val="0"/>
              </a:spcBef>
              <a:spcAft>
                <a:spcPct val="0"/>
              </a:spcAft>
              <a:defRPr/>
            </a:pPr>
            <a:r>
              <a:rPr kumimoji="1" lang="en-US" altLang="zh-TW"/>
              <a:t>www.themegallery.com</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solidFill>
                  <a:srgbClr val="000000"/>
                </a:solidFill>
                <a:latin typeface="Arial" pitchFamily="34" charset="0"/>
                <a:ea typeface="新細明體" pitchFamily="18" charset="-120"/>
              </a:defRPr>
            </a:lvl1pPr>
          </a:lstStyle>
          <a:p>
            <a:pPr fontAlgn="base">
              <a:spcBef>
                <a:spcPct val="0"/>
              </a:spcBef>
              <a:spcAft>
                <a:spcPct val="0"/>
              </a:spcAft>
              <a:defRPr/>
            </a:pPr>
            <a:fld id="{87F88D90-74B1-4655-A86A-DD30209CEDE5}" type="slidenum">
              <a:rPr kumimoji="1" lang="en-US" altLang="zh-TW"/>
              <a:pPr fontAlgn="base">
                <a:spcBef>
                  <a:spcPct val="0"/>
                </a:spcBef>
                <a:spcAft>
                  <a:spcPct val="0"/>
                </a:spcAft>
                <a:defRPr/>
              </a:pPr>
              <a:t>‹#›</a:t>
            </a:fld>
            <a:endParaRPr kumimoji="1" lang="en-US" altLang="zh-TW"/>
          </a:p>
        </p:txBody>
      </p:sp>
    </p:spTree>
    <p:extLst>
      <p:ext uri="{BB962C8B-B14F-4D97-AF65-F5344CB8AC3E}">
        <p14:creationId xmlns:p14="http://schemas.microsoft.com/office/powerpoint/2010/main" val="4154998057"/>
      </p:ext>
    </p:extLst>
  </p:cSld>
  <p:clrMap bg1="lt1" tx1="dk1" bg2="lt2" tx2="dk2" accent1="accent1" accent2="accent2" accent3="accent3" accent4="accent4" accent5="accent5" accent6="accent6" hlink="hlink" folHlink="folHlink"/>
  <p:sldLayoutIdLst>
    <p:sldLayoutId id="2147484276" r:id="rId1"/>
    <p:sldLayoutId id="2147484277" r:id="rId2"/>
    <p:sldLayoutId id="2147484278" r:id="rId3"/>
    <p:sldLayoutId id="2147484279" r:id="rId4"/>
    <p:sldLayoutId id="2147484280" r:id="rId5"/>
    <p:sldLayoutId id="2147484281" r:id="rId6"/>
    <p:sldLayoutId id="2147484282" r:id="rId7"/>
    <p:sldLayoutId id="2147484283" r:id="rId8"/>
    <p:sldLayoutId id="2147484284" r:id="rId9"/>
    <p:sldLayoutId id="2147484285" r:id="rId10"/>
    <p:sldLayoutId id="2147484286" r:id="rId11"/>
    <p:sldLayoutId id="2147484287" r:id="rId12"/>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2pPr>
      <a:lvl3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3pPr>
      <a:lvl4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4pPr>
      <a:lvl5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5pPr>
      <a:lvl6pPr marL="457200" algn="ctr" rtl="0" fontAlgn="base">
        <a:spcBef>
          <a:spcPct val="0"/>
        </a:spcBef>
        <a:spcAft>
          <a:spcPct val="0"/>
        </a:spcAft>
        <a:defRPr kumimoji="1" sz="4400">
          <a:solidFill>
            <a:schemeClr val="tx2"/>
          </a:solidFill>
          <a:latin typeface="Arial" pitchFamily="34" charset="0"/>
          <a:ea typeface="新細明體" pitchFamily="18" charset="-120"/>
        </a:defRPr>
      </a:lvl6pPr>
      <a:lvl7pPr marL="914400" algn="ctr" rtl="0" fontAlgn="base">
        <a:spcBef>
          <a:spcPct val="0"/>
        </a:spcBef>
        <a:spcAft>
          <a:spcPct val="0"/>
        </a:spcAft>
        <a:defRPr kumimoji="1" sz="4400">
          <a:solidFill>
            <a:schemeClr val="tx2"/>
          </a:solidFill>
          <a:latin typeface="Arial" pitchFamily="34" charset="0"/>
          <a:ea typeface="新細明體" pitchFamily="18" charset="-120"/>
        </a:defRPr>
      </a:lvl7pPr>
      <a:lvl8pPr marL="1371600" algn="ctr" rtl="0" fontAlgn="base">
        <a:spcBef>
          <a:spcPct val="0"/>
        </a:spcBef>
        <a:spcAft>
          <a:spcPct val="0"/>
        </a:spcAft>
        <a:defRPr kumimoji="1" sz="4400">
          <a:solidFill>
            <a:schemeClr val="tx2"/>
          </a:solidFill>
          <a:latin typeface="Arial" pitchFamily="34" charset="0"/>
          <a:ea typeface="新細明體" pitchFamily="18" charset="-120"/>
        </a:defRPr>
      </a:lvl8pPr>
      <a:lvl9pPr marL="1828800" algn="ctr" rtl="0" fontAlgn="base">
        <a:spcBef>
          <a:spcPct val="0"/>
        </a:spcBef>
        <a:spcAft>
          <a:spcPct val="0"/>
        </a:spcAft>
        <a:defRPr kumimoji="1" sz="4400">
          <a:solidFill>
            <a:schemeClr val="tx2"/>
          </a:solidFill>
          <a:latin typeface="Arial" pitchFamily="34"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7.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6.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jpeg"/><Relationship Id="rId2" Type="http://schemas.openxmlformats.org/officeDocument/2006/relationships/image" Target="../media/image12.jpeg"/><Relationship Id="rId1" Type="http://schemas.openxmlformats.org/officeDocument/2006/relationships/slideLayout" Target="../slideLayouts/slideLayout16.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6.xml"/><Relationship Id="rId4" Type="http://schemas.openxmlformats.org/officeDocument/2006/relationships/image" Target="../media/image21.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6.xml"/><Relationship Id="rId5" Type="http://schemas.openxmlformats.org/officeDocument/2006/relationships/image" Target="../media/image25.png"/><Relationship Id="rId4" Type="http://schemas.openxmlformats.org/officeDocument/2006/relationships/image" Target="../media/image2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16.xml"/><Relationship Id="rId5" Type="http://schemas.openxmlformats.org/officeDocument/2006/relationships/image" Target="../media/image29.png"/><Relationship Id="rId4" Type="http://schemas.openxmlformats.org/officeDocument/2006/relationships/image" Target="../media/image2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4.jpeg"/><Relationship Id="rId7"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microsoft.com/office/2007/relationships/hdphoto" Target="../media/hdphoto1.wdp"/><Relationship Id="rId5" Type="http://schemas.openxmlformats.org/officeDocument/2006/relationships/image" Target="../media/image36.png"/><Relationship Id="rId4" Type="http://schemas.openxmlformats.org/officeDocument/2006/relationships/image" Target="../media/image35.jpeg"/></Relationships>
</file>

<file path=ppt/slides/_rels/slide4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1.xml"/><Relationship Id="rId1" Type="http://schemas.openxmlformats.org/officeDocument/2006/relationships/slideLayout" Target="../slideLayouts/slideLayout16.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3.xml"/><Relationship Id="rId1" Type="http://schemas.openxmlformats.org/officeDocument/2006/relationships/slideLayout" Target="../slideLayouts/slideLayout16.xml"/><Relationship Id="rId5" Type="http://schemas.openxmlformats.org/officeDocument/2006/relationships/image" Target="../media/image44.jpeg"/><Relationship Id="rId4" Type="http://schemas.openxmlformats.org/officeDocument/2006/relationships/image" Target="../media/image43.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0.xml"/><Relationship Id="rId1" Type="http://schemas.openxmlformats.org/officeDocument/2006/relationships/slideLayout" Target="../slideLayouts/slideLayout16.xml"/><Relationship Id="rId5" Type="http://schemas.openxmlformats.org/officeDocument/2006/relationships/image" Target="../media/image48.jpeg"/><Relationship Id="rId4" Type="http://schemas.openxmlformats.org/officeDocument/2006/relationships/image" Target="../media/image47.jpe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6.xml"/></Relationships>
</file>

<file path=ppt/slides/_rels/slide9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E643737C-165F-6F15-277E-3A378426D19F}"/>
              </a:ext>
            </a:extLst>
          </p:cNvPr>
          <p:cNvSpPr/>
          <p:nvPr/>
        </p:nvSpPr>
        <p:spPr>
          <a:xfrm>
            <a:off x="107504" y="4149080"/>
            <a:ext cx="8550696" cy="904863"/>
          </a:xfrm>
          <a:prstGeom prst="rect">
            <a:avLst/>
          </a:prstGeom>
        </p:spPr>
        <p:txBody>
          <a:bodyPr wrap="square">
            <a:spAutoFit/>
          </a:bodyPr>
          <a:lstStyle/>
          <a:p>
            <a:pPr lvl="0" algn="ctr">
              <a:spcBef>
                <a:spcPct val="20000"/>
              </a:spcBef>
            </a:pPr>
            <a:r>
              <a:rPr lang="zh-TW" altLang="en-US" sz="2400" b="1" dirty="0">
                <a:solidFill>
                  <a:srgbClr val="C00000"/>
                </a:solidFill>
                <a:latin typeface="標楷體" panose="03000509000000000000" pitchFamily="65" charset="-120"/>
                <a:ea typeface="標楷體" panose="03000509000000000000" pitchFamily="65" charset="-120"/>
              </a:rPr>
              <a:t>簡報人：社團法人南投縣竹山鎮富州社區發展協會</a:t>
            </a:r>
            <a:endParaRPr lang="en-US" altLang="zh-TW" sz="2400" b="1" dirty="0">
              <a:solidFill>
                <a:srgbClr val="C00000"/>
              </a:solidFill>
              <a:latin typeface="標楷體" panose="03000509000000000000" pitchFamily="65" charset="-120"/>
              <a:ea typeface="標楷體" panose="03000509000000000000" pitchFamily="65" charset="-120"/>
            </a:endParaRPr>
          </a:p>
          <a:p>
            <a:pPr lvl="0" algn="ctr">
              <a:spcBef>
                <a:spcPct val="20000"/>
              </a:spcBef>
            </a:pPr>
            <a:r>
              <a:rPr lang="zh-TW" altLang="en-US" sz="2400" b="1" dirty="0">
                <a:solidFill>
                  <a:srgbClr val="C00000"/>
                </a:solidFill>
                <a:latin typeface="標楷體" panose="03000509000000000000" pitchFamily="65" charset="-120"/>
                <a:ea typeface="標楷體" panose="03000509000000000000" pitchFamily="65" charset="-120"/>
              </a:rPr>
              <a:t>執行長楊麗娜</a:t>
            </a:r>
          </a:p>
        </p:txBody>
      </p:sp>
      <p:sp>
        <p:nvSpPr>
          <p:cNvPr id="3" name="文字方塊 2">
            <a:extLst>
              <a:ext uri="{FF2B5EF4-FFF2-40B4-BE49-F238E27FC236}">
                <a16:creationId xmlns:a16="http://schemas.microsoft.com/office/drawing/2014/main" id="{38C1C5D0-EEE0-12B4-3291-E42F13D4ACB2}"/>
              </a:ext>
            </a:extLst>
          </p:cNvPr>
          <p:cNvSpPr txBox="1"/>
          <p:nvPr/>
        </p:nvSpPr>
        <p:spPr>
          <a:xfrm>
            <a:off x="1115616" y="2348880"/>
            <a:ext cx="7038909"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4000" b="0" i="0" u="none" strike="noStrike" kern="0" cap="none" spc="0" normalizeH="0" baseline="0" noProof="0" dirty="0">
                <a:ln>
                  <a:noFill/>
                </a:ln>
                <a:solidFill>
                  <a:srgbClr val="000000"/>
                </a:solidFill>
                <a:effectLst/>
                <a:uLnTx/>
                <a:uFillTx/>
                <a:latin typeface="標楷體" pitchFamily="65" charset="-120"/>
                <a:ea typeface="標楷體" pitchFamily="65" charset="-120"/>
                <a:cs typeface="+mn-cs"/>
              </a:rPr>
              <a:t>福利社區化旗艦計畫實務分享</a:t>
            </a:r>
            <a:endParaRPr kumimoji="0" lang="en-US" altLang="zh-TW" sz="4000" b="0" i="0" u="none" strike="noStrike" kern="0" cap="none" spc="0" normalizeH="0" baseline="0" noProof="0" dirty="0">
              <a:ln>
                <a:noFill/>
              </a:ln>
              <a:solidFill>
                <a:srgbClr val="000000"/>
              </a:solidFill>
              <a:effectLst/>
              <a:uLnTx/>
              <a:uFillTx/>
              <a:latin typeface="標楷體" pitchFamily="65" charset="-120"/>
              <a:ea typeface="標楷體" pitchFamily="65" charset="-120"/>
              <a:cs typeface="+mn-cs"/>
            </a:endParaRPr>
          </a:p>
        </p:txBody>
      </p:sp>
    </p:spTree>
    <p:extLst>
      <p:ext uri="{BB962C8B-B14F-4D97-AF65-F5344CB8AC3E}">
        <p14:creationId xmlns:p14="http://schemas.microsoft.com/office/powerpoint/2010/main" val="2215725967"/>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DE0B8-351B-33CB-1ACB-D3B0F6DFC6F5}"/>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EBEF94E5-05F9-1A2D-8EC4-D349514256BD}"/>
              </a:ext>
            </a:extLst>
          </p:cNvPr>
          <p:cNvSpPr txBox="1">
            <a:spLocks/>
          </p:cNvSpPr>
          <p:nvPr/>
        </p:nvSpPr>
        <p:spPr bwMode="black">
          <a:xfrm>
            <a:off x="281735" y="261187"/>
            <a:ext cx="8382000" cy="53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b="1">
                <a:solidFill>
                  <a:schemeClr val="bg1"/>
                </a:solidFill>
                <a:latin typeface="+mj-lt"/>
                <a:ea typeface="+mj-ea"/>
                <a:cs typeface="+mj-cs"/>
              </a:defRPr>
            </a:lvl1pPr>
            <a:lvl2pPr algn="ctr" rtl="0" eaLnBrk="0" fontAlgn="base" hangingPunct="0">
              <a:spcBef>
                <a:spcPct val="0"/>
              </a:spcBef>
              <a:spcAft>
                <a:spcPct val="0"/>
              </a:spcAft>
              <a:defRPr sz="2800" b="1">
                <a:solidFill>
                  <a:schemeClr val="bg1"/>
                </a:solidFill>
                <a:latin typeface="Arial" pitchFamily="34" charset="0"/>
              </a:defRPr>
            </a:lvl2pPr>
            <a:lvl3pPr algn="ctr" rtl="0" eaLnBrk="0" fontAlgn="base" hangingPunct="0">
              <a:spcBef>
                <a:spcPct val="0"/>
              </a:spcBef>
              <a:spcAft>
                <a:spcPct val="0"/>
              </a:spcAft>
              <a:defRPr sz="2800" b="1">
                <a:solidFill>
                  <a:schemeClr val="bg1"/>
                </a:solidFill>
                <a:latin typeface="Arial" pitchFamily="34" charset="0"/>
              </a:defRPr>
            </a:lvl3pPr>
            <a:lvl4pPr algn="ctr" rtl="0" eaLnBrk="0" fontAlgn="base" hangingPunct="0">
              <a:spcBef>
                <a:spcPct val="0"/>
              </a:spcBef>
              <a:spcAft>
                <a:spcPct val="0"/>
              </a:spcAft>
              <a:defRPr sz="2800" b="1">
                <a:solidFill>
                  <a:schemeClr val="bg1"/>
                </a:solidFill>
                <a:latin typeface="Arial" pitchFamily="34" charset="0"/>
              </a:defRPr>
            </a:lvl4pPr>
            <a:lvl5pPr algn="ctr" rtl="0" eaLnBrk="0" fontAlgn="base" hangingPunct="0">
              <a:spcBef>
                <a:spcPct val="0"/>
              </a:spcBef>
              <a:spcAft>
                <a:spcPct val="0"/>
              </a:spcAft>
              <a:defRPr sz="2800" b="1">
                <a:solidFill>
                  <a:schemeClr val="bg1"/>
                </a:solidFill>
                <a:latin typeface="Arial" pitchFamily="34" charset="0"/>
              </a:defRPr>
            </a:lvl5pPr>
            <a:lvl6pPr marL="457200" algn="ctr" rtl="0" eaLnBrk="1" fontAlgn="base" hangingPunct="1">
              <a:spcBef>
                <a:spcPct val="0"/>
              </a:spcBef>
              <a:spcAft>
                <a:spcPct val="0"/>
              </a:spcAft>
              <a:defRPr sz="2800" b="1">
                <a:solidFill>
                  <a:schemeClr val="bg1"/>
                </a:solidFill>
                <a:latin typeface="Arial" pitchFamily="34" charset="0"/>
              </a:defRPr>
            </a:lvl6pPr>
            <a:lvl7pPr marL="914400" algn="ctr" rtl="0" eaLnBrk="1" fontAlgn="base" hangingPunct="1">
              <a:spcBef>
                <a:spcPct val="0"/>
              </a:spcBef>
              <a:spcAft>
                <a:spcPct val="0"/>
              </a:spcAft>
              <a:defRPr sz="2800" b="1">
                <a:solidFill>
                  <a:schemeClr val="bg1"/>
                </a:solidFill>
                <a:latin typeface="Arial" pitchFamily="34" charset="0"/>
              </a:defRPr>
            </a:lvl7pPr>
            <a:lvl8pPr marL="1371600" algn="ctr" rtl="0" eaLnBrk="1" fontAlgn="base" hangingPunct="1">
              <a:spcBef>
                <a:spcPct val="0"/>
              </a:spcBef>
              <a:spcAft>
                <a:spcPct val="0"/>
              </a:spcAft>
              <a:defRPr sz="2800" b="1">
                <a:solidFill>
                  <a:schemeClr val="bg1"/>
                </a:solidFill>
                <a:latin typeface="Arial" pitchFamily="34" charset="0"/>
              </a:defRPr>
            </a:lvl8pPr>
            <a:lvl9pPr marL="1828800" algn="ctr" rtl="0" eaLnBrk="1" fontAlgn="base" hangingPunct="1">
              <a:spcBef>
                <a:spcPct val="0"/>
              </a:spcBef>
              <a:spcAft>
                <a:spcPct val="0"/>
              </a:spcAft>
              <a:defRPr sz="2800" b="1">
                <a:solidFill>
                  <a:schemeClr val="bg1"/>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TW" sz="4000" b="0" i="0" u="none" strike="noStrike" kern="0" cap="none" spc="0" normalizeH="0" baseline="0" noProof="0" dirty="0">
              <a:ln>
                <a:noFill/>
              </a:ln>
              <a:solidFill>
                <a:srgbClr val="000000"/>
              </a:solidFill>
              <a:effectLst/>
              <a:uLnTx/>
              <a:uFillTx/>
              <a:latin typeface="標楷體" pitchFamily="65" charset="-120"/>
              <a:ea typeface="標楷體" pitchFamily="65" charset="-120"/>
              <a:cs typeface="+mj-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TW" sz="4000" b="0" i="0" u="none" strike="noStrike" kern="0" cap="none" spc="0" normalizeH="0" baseline="0" noProof="0" dirty="0">
              <a:ln>
                <a:noFill/>
              </a:ln>
              <a:solidFill>
                <a:srgbClr val="000000"/>
              </a:solidFill>
              <a:effectLst/>
              <a:uLnTx/>
              <a:uFillTx/>
              <a:latin typeface="標楷體" pitchFamily="65" charset="-120"/>
              <a:ea typeface="標楷體" pitchFamily="65" charset="-120"/>
              <a:cs typeface="+mj-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4000" b="1" i="0" u="none" strike="noStrike" kern="0" cap="none" spc="0" normalizeH="0" baseline="0" noProof="0" dirty="0">
                <a:ln>
                  <a:noFill/>
                </a:ln>
                <a:solidFill>
                  <a:srgbClr val="000000"/>
                </a:solidFill>
                <a:effectLst/>
                <a:uLnTx/>
                <a:uFillTx/>
                <a:latin typeface="標楷體" pitchFamily="65" charset="-120"/>
                <a:ea typeface="標楷體" pitchFamily="65" charset="-120"/>
                <a:cs typeface="+mj-cs"/>
              </a:rPr>
              <a:t>111-115</a:t>
            </a:r>
            <a:r>
              <a:rPr kumimoji="0" lang="zh-TW" altLang="en-US" sz="4000" b="1" i="0" u="none" strike="noStrike" kern="0" cap="none" spc="0" normalizeH="0" baseline="0" noProof="0" dirty="0">
                <a:ln>
                  <a:noFill/>
                </a:ln>
                <a:solidFill>
                  <a:srgbClr val="000000"/>
                </a:solidFill>
                <a:effectLst/>
                <a:uLnTx/>
                <a:uFillTx/>
                <a:latin typeface="標楷體" pitchFamily="65" charset="-120"/>
                <a:ea typeface="標楷體" pitchFamily="65" charset="-120"/>
                <a:cs typeface="+mj-cs"/>
              </a:rPr>
              <a:t>年福利社區化旗艦計畫</a:t>
            </a:r>
            <a:endParaRPr kumimoji="0" lang="en-US" altLang="zh-TW" sz="4000" b="1" i="0" u="none" strike="noStrike" kern="0" cap="none" spc="0" normalizeH="0" baseline="0" noProof="0" dirty="0">
              <a:ln>
                <a:noFill/>
              </a:ln>
              <a:solidFill>
                <a:srgbClr val="000000"/>
              </a:solidFill>
              <a:effectLst/>
              <a:uLnTx/>
              <a:uFillTx/>
              <a:latin typeface="標楷體" pitchFamily="65" charset="-120"/>
              <a:ea typeface="標楷體" pitchFamily="65" charset="-120"/>
              <a:cs typeface="+mj-cs"/>
            </a:endParaRPr>
          </a:p>
          <a:p>
            <a:pPr marL="0" marR="0" lvl="0" indent="0" algn="l" defTabSz="914400" rtl="0" eaLnBrk="1" fontAlgn="base" latinLnBrk="0" hangingPunct="1">
              <a:lnSpc>
                <a:spcPct val="100000"/>
              </a:lnSpc>
              <a:spcBef>
                <a:spcPct val="0"/>
              </a:spcBef>
              <a:spcAft>
                <a:spcPct val="0"/>
              </a:spcAft>
              <a:buClrTx/>
              <a:buSzTx/>
              <a:buFontTx/>
              <a:buNone/>
              <a:tabLst/>
              <a:defRPr/>
            </a:pPr>
            <a:br>
              <a:rPr kumimoji="0" lang="zh-TW" altLang="en-US" sz="4400" b="0" i="0" u="none" strike="noStrike" kern="0" cap="none" spc="0" normalizeH="0" baseline="0" noProof="0" dirty="0">
                <a:ln>
                  <a:noFill/>
                </a:ln>
                <a:solidFill>
                  <a:srgbClr val="FFFFD9"/>
                </a:solidFill>
                <a:effectLst/>
                <a:uLnTx/>
                <a:uFillTx/>
                <a:latin typeface="華康隸書體W7(P)" pitchFamily="2" charset="-120"/>
                <a:ea typeface="華康隸書體W7(P)" pitchFamily="2" charset="-120"/>
                <a:cs typeface="+mj-cs"/>
              </a:rPr>
            </a:br>
            <a:endParaRPr kumimoji="0" lang="zh-TW" altLang="en-US" sz="4400" b="0" i="0" u="none" strike="noStrike" kern="0" cap="none" spc="0" normalizeH="0" baseline="0" noProof="0" dirty="0">
              <a:ln>
                <a:noFill/>
              </a:ln>
              <a:solidFill>
                <a:srgbClr val="FFFFD9"/>
              </a:solidFill>
              <a:effectLst/>
              <a:uLnTx/>
              <a:uFillTx/>
              <a:latin typeface="華康隸書體W7(P)" pitchFamily="2" charset="-120"/>
              <a:ea typeface="華康隸書體W7(P)" pitchFamily="2" charset="-120"/>
              <a:cs typeface="+mj-cs"/>
            </a:endParaRPr>
          </a:p>
        </p:txBody>
      </p:sp>
      <p:sp>
        <p:nvSpPr>
          <p:cNvPr id="5" name="標題 1">
            <a:extLst>
              <a:ext uri="{FF2B5EF4-FFF2-40B4-BE49-F238E27FC236}">
                <a16:creationId xmlns:a16="http://schemas.microsoft.com/office/drawing/2014/main" id="{5B7219DE-54DE-E8CA-541E-0279D1AF8233}"/>
              </a:ext>
            </a:extLst>
          </p:cNvPr>
          <p:cNvSpPr txBox="1">
            <a:spLocks/>
          </p:cNvSpPr>
          <p:nvPr/>
        </p:nvSpPr>
        <p:spPr bwMode="black">
          <a:xfrm>
            <a:off x="281735" y="1052736"/>
            <a:ext cx="8382000" cy="53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b="1">
                <a:solidFill>
                  <a:schemeClr val="bg1"/>
                </a:solidFill>
                <a:latin typeface="+mj-lt"/>
                <a:ea typeface="+mj-ea"/>
                <a:cs typeface="+mj-cs"/>
              </a:defRPr>
            </a:lvl1pPr>
            <a:lvl2pPr algn="ctr" rtl="0" eaLnBrk="0" fontAlgn="base" hangingPunct="0">
              <a:spcBef>
                <a:spcPct val="0"/>
              </a:spcBef>
              <a:spcAft>
                <a:spcPct val="0"/>
              </a:spcAft>
              <a:defRPr sz="2800" b="1">
                <a:solidFill>
                  <a:schemeClr val="bg1"/>
                </a:solidFill>
                <a:latin typeface="Arial" pitchFamily="34" charset="0"/>
              </a:defRPr>
            </a:lvl2pPr>
            <a:lvl3pPr algn="ctr" rtl="0" eaLnBrk="0" fontAlgn="base" hangingPunct="0">
              <a:spcBef>
                <a:spcPct val="0"/>
              </a:spcBef>
              <a:spcAft>
                <a:spcPct val="0"/>
              </a:spcAft>
              <a:defRPr sz="2800" b="1">
                <a:solidFill>
                  <a:schemeClr val="bg1"/>
                </a:solidFill>
                <a:latin typeface="Arial" pitchFamily="34" charset="0"/>
              </a:defRPr>
            </a:lvl3pPr>
            <a:lvl4pPr algn="ctr" rtl="0" eaLnBrk="0" fontAlgn="base" hangingPunct="0">
              <a:spcBef>
                <a:spcPct val="0"/>
              </a:spcBef>
              <a:spcAft>
                <a:spcPct val="0"/>
              </a:spcAft>
              <a:defRPr sz="2800" b="1">
                <a:solidFill>
                  <a:schemeClr val="bg1"/>
                </a:solidFill>
                <a:latin typeface="Arial" pitchFamily="34" charset="0"/>
              </a:defRPr>
            </a:lvl4pPr>
            <a:lvl5pPr algn="ctr" rtl="0" eaLnBrk="0" fontAlgn="base" hangingPunct="0">
              <a:spcBef>
                <a:spcPct val="0"/>
              </a:spcBef>
              <a:spcAft>
                <a:spcPct val="0"/>
              </a:spcAft>
              <a:defRPr sz="2800" b="1">
                <a:solidFill>
                  <a:schemeClr val="bg1"/>
                </a:solidFill>
                <a:latin typeface="Arial" pitchFamily="34" charset="0"/>
              </a:defRPr>
            </a:lvl5pPr>
            <a:lvl6pPr marL="457200" algn="ctr" rtl="0" eaLnBrk="1" fontAlgn="base" hangingPunct="1">
              <a:spcBef>
                <a:spcPct val="0"/>
              </a:spcBef>
              <a:spcAft>
                <a:spcPct val="0"/>
              </a:spcAft>
              <a:defRPr sz="2800" b="1">
                <a:solidFill>
                  <a:schemeClr val="bg1"/>
                </a:solidFill>
                <a:latin typeface="Arial" pitchFamily="34" charset="0"/>
              </a:defRPr>
            </a:lvl6pPr>
            <a:lvl7pPr marL="914400" algn="ctr" rtl="0" eaLnBrk="1" fontAlgn="base" hangingPunct="1">
              <a:spcBef>
                <a:spcPct val="0"/>
              </a:spcBef>
              <a:spcAft>
                <a:spcPct val="0"/>
              </a:spcAft>
              <a:defRPr sz="2800" b="1">
                <a:solidFill>
                  <a:schemeClr val="bg1"/>
                </a:solidFill>
                <a:latin typeface="Arial" pitchFamily="34" charset="0"/>
              </a:defRPr>
            </a:lvl7pPr>
            <a:lvl8pPr marL="1371600" algn="ctr" rtl="0" eaLnBrk="1" fontAlgn="base" hangingPunct="1">
              <a:spcBef>
                <a:spcPct val="0"/>
              </a:spcBef>
              <a:spcAft>
                <a:spcPct val="0"/>
              </a:spcAft>
              <a:defRPr sz="2800" b="1">
                <a:solidFill>
                  <a:schemeClr val="bg1"/>
                </a:solidFill>
                <a:latin typeface="Arial" pitchFamily="34" charset="0"/>
              </a:defRPr>
            </a:lvl8pPr>
            <a:lvl9pPr marL="1828800" algn="ctr" rtl="0" eaLnBrk="1" fontAlgn="base" hangingPunct="1">
              <a:spcBef>
                <a:spcPct val="0"/>
              </a:spcBef>
              <a:spcAft>
                <a:spcPct val="0"/>
              </a:spcAft>
              <a:defRPr sz="2800" b="1">
                <a:solidFill>
                  <a:schemeClr val="bg1"/>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TW" sz="4000" b="0" i="0" u="none" strike="noStrike" kern="0" cap="none" spc="0" normalizeH="0" baseline="0" noProof="0" dirty="0">
              <a:ln>
                <a:noFill/>
              </a:ln>
              <a:solidFill>
                <a:srgbClr val="000000"/>
              </a:solidFill>
              <a:effectLst/>
              <a:uLnTx/>
              <a:uFillTx/>
              <a:latin typeface="標楷體" pitchFamily="65" charset="-120"/>
              <a:ea typeface="標楷體" pitchFamily="65" charset="-120"/>
              <a:cs typeface="+mj-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TW" sz="4000" b="1" i="0" u="none" strike="noStrike" kern="0" cap="none" spc="0" normalizeH="0" baseline="0" noProof="0" dirty="0">
              <a:ln>
                <a:noFill/>
              </a:ln>
              <a:solidFill>
                <a:srgbClr val="000000"/>
              </a:solidFill>
              <a:effectLst/>
              <a:uLnTx/>
              <a:uFillTx/>
              <a:latin typeface="標楷體" pitchFamily="65" charset="-120"/>
              <a:ea typeface="標楷體" pitchFamily="65" charset="-120"/>
              <a:cs typeface="+mj-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TW" altLang="en-US" sz="4000" b="1" i="0" u="none" strike="noStrike" kern="0" cap="none" spc="0" normalizeH="0" baseline="0" noProof="0" dirty="0">
                <a:ln>
                  <a:noFill/>
                </a:ln>
                <a:solidFill>
                  <a:srgbClr val="002060"/>
                </a:solidFill>
                <a:effectLst/>
                <a:uLnTx/>
                <a:uFillTx/>
                <a:latin typeface="標楷體" pitchFamily="65" charset="-120"/>
                <a:ea typeface="標楷體" pitchFamily="65" charset="-120"/>
                <a:cs typeface="+mj-cs"/>
              </a:rPr>
              <a:t>計畫名稱</a:t>
            </a:r>
            <a:r>
              <a:rPr kumimoji="0" lang="en-US" altLang="zh-TW" sz="4000" b="1" i="0" u="none" strike="noStrike" kern="0" cap="none" spc="0" normalizeH="0" baseline="0" noProof="0" dirty="0">
                <a:ln>
                  <a:noFill/>
                </a:ln>
                <a:solidFill>
                  <a:srgbClr val="002060"/>
                </a:solidFill>
                <a:effectLst/>
                <a:uLnTx/>
                <a:uFillTx/>
                <a:latin typeface="標楷體" pitchFamily="65" charset="-120"/>
                <a:ea typeface="標楷體" pitchFamily="65" charset="-120"/>
                <a:cs typeface="+mj-cs"/>
              </a:rPr>
              <a:t>-</a:t>
            </a:r>
            <a:r>
              <a:rPr kumimoji="0" lang="zh-TW" altLang="en-US" sz="4000" b="1" i="0" u="none" strike="noStrike" kern="0" cap="none" spc="0" normalizeH="0" baseline="0" noProof="0" dirty="0">
                <a:ln>
                  <a:noFill/>
                </a:ln>
                <a:solidFill>
                  <a:srgbClr val="002060"/>
                </a:solidFill>
                <a:effectLst/>
                <a:uLnTx/>
                <a:uFillTx/>
                <a:latin typeface="標楷體" pitchFamily="65" charset="-120"/>
                <a:ea typeface="標楷體" pitchFamily="65" charset="-120"/>
                <a:cs typeface="+mj-cs"/>
              </a:rPr>
              <a:t>竹山鎮社區友愛*轉動無礙</a:t>
            </a:r>
            <a:endParaRPr kumimoji="0" lang="en-US" altLang="zh-TW" sz="4000" b="1" i="0" u="none" strike="noStrike" kern="0" cap="none" spc="0" normalizeH="0" baseline="0" noProof="0" dirty="0">
              <a:ln>
                <a:noFill/>
              </a:ln>
              <a:solidFill>
                <a:srgbClr val="002060"/>
              </a:solidFill>
              <a:effectLst/>
              <a:uLnTx/>
              <a:uFillTx/>
              <a:latin typeface="標楷體" pitchFamily="65" charset="-120"/>
              <a:ea typeface="標楷體" pitchFamily="65" charset="-120"/>
              <a:cs typeface="+mj-cs"/>
            </a:endParaRPr>
          </a:p>
          <a:p>
            <a:pPr marL="0" marR="0" lvl="0" indent="0" algn="l" defTabSz="914400" rtl="0" eaLnBrk="1" fontAlgn="base" latinLnBrk="0" hangingPunct="1">
              <a:lnSpc>
                <a:spcPct val="100000"/>
              </a:lnSpc>
              <a:spcBef>
                <a:spcPct val="0"/>
              </a:spcBef>
              <a:spcAft>
                <a:spcPct val="0"/>
              </a:spcAft>
              <a:buClrTx/>
              <a:buSzTx/>
              <a:buFontTx/>
              <a:buNone/>
              <a:tabLst/>
              <a:defRPr/>
            </a:pPr>
            <a:br>
              <a:rPr kumimoji="0" lang="zh-TW" altLang="en-US" sz="4400" b="0" i="0" u="none" strike="noStrike" kern="0" cap="none" spc="0" normalizeH="0" baseline="0" noProof="0" dirty="0">
                <a:ln>
                  <a:noFill/>
                </a:ln>
                <a:solidFill>
                  <a:srgbClr val="FFFFD9"/>
                </a:solidFill>
                <a:effectLst/>
                <a:uLnTx/>
                <a:uFillTx/>
                <a:latin typeface="華康隸書體W7(P)" pitchFamily="2" charset="-120"/>
                <a:ea typeface="華康隸書體W7(P)" pitchFamily="2" charset="-120"/>
                <a:cs typeface="+mj-cs"/>
              </a:rPr>
            </a:br>
            <a:endParaRPr kumimoji="0" lang="zh-TW" altLang="en-US" sz="4400" b="0" i="0" u="none" strike="noStrike" kern="0" cap="none" spc="0" normalizeH="0" baseline="0" noProof="0" dirty="0">
              <a:ln>
                <a:noFill/>
              </a:ln>
              <a:solidFill>
                <a:srgbClr val="FFFFD9"/>
              </a:solidFill>
              <a:effectLst/>
              <a:uLnTx/>
              <a:uFillTx/>
              <a:latin typeface="華康隸書體W7(P)" pitchFamily="2" charset="-120"/>
              <a:ea typeface="華康隸書體W7(P)" pitchFamily="2" charset="-120"/>
              <a:cs typeface="+mj-cs"/>
            </a:endParaRPr>
          </a:p>
        </p:txBody>
      </p:sp>
      <p:pic>
        <p:nvPicPr>
          <p:cNvPr id="6" name="圖片 1">
            <a:extLst>
              <a:ext uri="{FF2B5EF4-FFF2-40B4-BE49-F238E27FC236}">
                <a16:creationId xmlns:a16="http://schemas.microsoft.com/office/drawing/2014/main" id="{0743CEC8-8CE2-09F4-9613-7FCF10E8E3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39" y="1762833"/>
            <a:ext cx="9241077" cy="4160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B0A4AA24-CDC7-6E9C-064E-52C477244B37}"/>
              </a:ext>
            </a:extLst>
          </p:cNvPr>
          <p:cNvSpPr/>
          <p:nvPr/>
        </p:nvSpPr>
        <p:spPr>
          <a:xfrm>
            <a:off x="266137" y="5923824"/>
            <a:ext cx="8550696" cy="904863"/>
          </a:xfrm>
          <a:prstGeom prst="rect">
            <a:avLst/>
          </a:prstGeom>
        </p:spPr>
        <p:txBody>
          <a:bodyPr wrap="square">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標楷體" panose="03000509000000000000" pitchFamily="65" charset="-120"/>
                <a:ea typeface="標楷體" panose="03000509000000000000" pitchFamily="65" charset="-120"/>
                <a:cs typeface="+mn-cs"/>
              </a:rPr>
              <a:t>簡報人：社團法人南投縣竹山鎮富州社區發展協會</a:t>
            </a:r>
            <a:endParaRPr kumimoji="0" lang="en-US" altLang="zh-TW" sz="2400" b="1" i="0" u="none" strike="noStrike" kern="1200" cap="none" spc="0" normalizeH="0" baseline="0" noProof="0" dirty="0">
              <a:ln>
                <a:noFill/>
              </a:ln>
              <a:solidFill>
                <a:srgbClr val="C00000"/>
              </a:solidFill>
              <a:effectLst/>
              <a:uLnTx/>
              <a:uFillTx/>
              <a:latin typeface="標楷體" panose="03000509000000000000" pitchFamily="65" charset="-120"/>
              <a:ea typeface="標楷體" panose="03000509000000000000" pitchFamily="65" charset="-120"/>
              <a:cs typeface="+mn-cs"/>
            </a:endParaRPr>
          </a:p>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zh-TW" altLang="en-US" sz="2400" b="1" i="0" u="none" strike="noStrike" kern="1200" cap="none" spc="0" normalizeH="0" baseline="0" noProof="0" dirty="0">
                <a:ln>
                  <a:noFill/>
                </a:ln>
                <a:solidFill>
                  <a:srgbClr val="C00000"/>
                </a:solidFill>
                <a:effectLst/>
                <a:uLnTx/>
                <a:uFillTx/>
                <a:latin typeface="標楷體" panose="03000509000000000000" pitchFamily="65" charset="-120"/>
                <a:ea typeface="標楷體" panose="03000509000000000000" pitchFamily="65" charset="-120"/>
                <a:cs typeface="+mn-cs"/>
              </a:rPr>
              <a:t>執行長楊麗娜</a:t>
            </a:r>
          </a:p>
        </p:txBody>
      </p:sp>
    </p:spTree>
    <p:extLst>
      <p:ext uri="{BB962C8B-B14F-4D97-AF65-F5344CB8AC3E}">
        <p14:creationId xmlns:p14="http://schemas.microsoft.com/office/powerpoint/2010/main" val="3243428077"/>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60648"/>
            <a:ext cx="8382000" cy="563562"/>
          </a:xfrm>
        </p:spPr>
        <p:txBody>
          <a:bodyPr/>
          <a:lstStyle/>
          <a:p>
            <a:pPr marL="342900" lvl="0" indent="-342900">
              <a:lnSpc>
                <a:spcPts val="1800"/>
              </a:lnSpc>
              <a:spcAft>
                <a:spcPts val="0"/>
              </a:spcAft>
              <a:buFont typeface="+mj-ea"/>
              <a:buAutoNum type="ea1ChtPlain"/>
            </a:pPr>
            <a:r>
              <a:rPr lang="zh-TW" altLang="en-US" sz="4400" kern="100" dirty="0">
                <a:latin typeface="Times New Roman"/>
                <a:ea typeface="標楷體"/>
              </a:rPr>
              <a:t>、</a:t>
            </a:r>
            <a:r>
              <a:rPr lang="zh-TW" altLang="zh-TW" sz="4400" kern="100" dirty="0">
                <a:latin typeface="Times New Roman"/>
                <a:ea typeface="標楷體"/>
              </a:rPr>
              <a:t>辦理單位</a:t>
            </a:r>
            <a:br>
              <a:rPr lang="zh-TW" altLang="zh-TW" kern="100" dirty="0">
                <a:latin typeface="Times New Roman"/>
                <a:ea typeface="新細明體"/>
              </a:rPr>
            </a:br>
            <a:endParaRPr lang="zh-TW" altLang="en-US" dirty="0"/>
          </a:p>
        </p:txBody>
      </p:sp>
      <p:sp>
        <p:nvSpPr>
          <p:cNvPr id="3" name="內容版面配置區 2"/>
          <p:cNvSpPr>
            <a:spLocks noGrp="1"/>
          </p:cNvSpPr>
          <p:nvPr>
            <p:ph idx="1"/>
          </p:nvPr>
        </p:nvSpPr>
        <p:spPr/>
        <p:txBody>
          <a:bodyPr/>
          <a:lstStyle/>
          <a:p>
            <a:pPr marL="0" indent="0">
              <a:buNone/>
            </a:pPr>
            <a:r>
              <a:rPr lang="zh-TW" altLang="en-US" sz="2000" b="1" dirty="0">
                <a:latin typeface="標楷體" pitchFamily="65" charset="-120"/>
                <a:ea typeface="標楷體" pitchFamily="65" charset="-120"/>
              </a:rPr>
              <a:t>（一）指導單位：南投縣政府、竹山鎮公所</a:t>
            </a:r>
          </a:p>
          <a:p>
            <a:pPr marL="0" indent="0">
              <a:buNone/>
            </a:pPr>
            <a:r>
              <a:rPr lang="zh-TW" altLang="en-US" sz="2000" b="1" dirty="0">
                <a:latin typeface="標楷體" pitchFamily="65" charset="-120"/>
                <a:ea typeface="標楷體" pitchFamily="65" charset="-120"/>
              </a:rPr>
              <a:t>（二）主辦單位：社團法人南投縣竹山鎮富州社區發展協會</a:t>
            </a:r>
          </a:p>
          <a:p>
            <a:pPr marL="0" indent="0">
              <a:buNone/>
            </a:pPr>
            <a:r>
              <a:rPr lang="zh-TW" altLang="en-US" sz="2000" b="1" dirty="0">
                <a:solidFill>
                  <a:srgbClr val="C00000"/>
                </a:solidFill>
                <a:latin typeface="標楷體" pitchFamily="65" charset="-120"/>
                <a:ea typeface="標楷體" pitchFamily="65" charset="-120"/>
              </a:rPr>
              <a:t>（三）聯合提案單位：</a:t>
            </a:r>
          </a:p>
          <a:p>
            <a:pPr marL="0" indent="0">
              <a:buNone/>
            </a:pPr>
            <a:r>
              <a:rPr lang="zh-TW" altLang="en-US" sz="2000" b="1" dirty="0">
                <a:latin typeface="標楷體" pitchFamily="65" charset="-120"/>
                <a:ea typeface="標楷體" pitchFamily="65" charset="-120"/>
              </a:rPr>
              <a:t>           </a:t>
            </a:r>
            <a:r>
              <a:rPr lang="zh-TW" altLang="en-US" sz="2000" b="1" dirty="0">
                <a:solidFill>
                  <a:srgbClr val="C00000"/>
                </a:solidFill>
                <a:latin typeface="標楷體" pitchFamily="65" charset="-120"/>
                <a:ea typeface="標楷體" pitchFamily="65" charset="-120"/>
              </a:rPr>
              <a:t>南投縣竹山鎮山崇社區發展協會</a:t>
            </a:r>
            <a:endParaRPr lang="en-US" altLang="zh-TW" sz="2000" b="1" dirty="0">
              <a:solidFill>
                <a:srgbClr val="C00000"/>
              </a:solidFill>
              <a:latin typeface="標楷體" pitchFamily="65" charset="-120"/>
              <a:ea typeface="標楷體" pitchFamily="65" charset="-120"/>
            </a:endParaRPr>
          </a:p>
          <a:p>
            <a:pPr marL="0" indent="0">
              <a:buNone/>
            </a:pPr>
            <a:r>
              <a:rPr lang="zh-TW" altLang="en-US" sz="2000" b="1" dirty="0">
                <a:solidFill>
                  <a:srgbClr val="C00000"/>
                </a:solidFill>
                <a:latin typeface="標楷體" pitchFamily="65" charset="-120"/>
                <a:ea typeface="標楷體" pitchFamily="65" charset="-120"/>
              </a:rPr>
              <a:t>           南投縣竹山鎮社寮社區發展協會                   </a:t>
            </a:r>
          </a:p>
          <a:p>
            <a:pPr marL="0" indent="0">
              <a:buNone/>
            </a:pPr>
            <a:r>
              <a:rPr lang="zh-TW" altLang="en-US" sz="2000" b="1" dirty="0">
                <a:solidFill>
                  <a:srgbClr val="C00000"/>
                </a:solidFill>
                <a:latin typeface="標楷體" pitchFamily="65" charset="-120"/>
                <a:ea typeface="標楷體" pitchFamily="65" charset="-120"/>
              </a:rPr>
              <a:t>           南投縣竹山鎮中央社區發展協會</a:t>
            </a:r>
            <a:endParaRPr lang="en-US" altLang="zh-TW" sz="2000" b="1" dirty="0">
              <a:solidFill>
                <a:srgbClr val="C00000"/>
              </a:solidFill>
              <a:latin typeface="標楷體" pitchFamily="65" charset="-120"/>
              <a:ea typeface="標楷體" pitchFamily="65" charset="-120"/>
            </a:endParaRPr>
          </a:p>
          <a:p>
            <a:pPr marL="0" indent="0">
              <a:buNone/>
            </a:pPr>
            <a:r>
              <a:rPr lang="zh-TW" altLang="en-US" sz="2000" b="1" dirty="0">
                <a:latin typeface="標楷體" pitchFamily="65" charset="-120"/>
                <a:ea typeface="標楷體" pitchFamily="65" charset="-120"/>
              </a:rPr>
              <a:t>（四）協辦單位：紫南宮管理委員會、竹山秀傳醫院、富州里辦公處、</a:t>
            </a:r>
            <a:endParaRPr lang="en-US" altLang="zh-TW" sz="2000" b="1" dirty="0">
              <a:latin typeface="標楷體" pitchFamily="65" charset="-120"/>
              <a:ea typeface="標楷體" pitchFamily="65" charset="-120"/>
            </a:endParaRPr>
          </a:p>
          <a:p>
            <a:pPr marL="0" indent="0">
              <a:buNone/>
            </a:pPr>
            <a:r>
              <a:rPr lang="zh-TW" altLang="en-US" sz="2000" b="1" dirty="0">
                <a:latin typeface="標楷體" pitchFamily="65" charset="-120"/>
                <a:ea typeface="標楷體" pitchFamily="65" charset="-120"/>
              </a:rPr>
              <a:t>                社寮里辦公處、中州國小、社寮國小、社寮國中、竹</a:t>
            </a:r>
            <a:endParaRPr lang="en-US" altLang="zh-TW" sz="2000" b="1" dirty="0">
              <a:latin typeface="標楷體" pitchFamily="65" charset="-120"/>
              <a:ea typeface="標楷體" pitchFamily="65" charset="-120"/>
            </a:endParaRPr>
          </a:p>
          <a:p>
            <a:pPr marL="0" indent="0">
              <a:buNone/>
            </a:pPr>
            <a:r>
              <a:rPr lang="zh-TW" altLang="en-US" sz="2000" b="1" dirty="0">
                <a:latin typeface="標楷體" pitchFamily="65" charset="-120"/>
                <a:ea typeface="標楷體" pitchFamily="65" charset="-120"/>
              </a:rPr>
              <a:t>                山鎮衛生所、中臺科技大學、竹山鎮民代表會、南投</a:t>
            </a:r>
            <a:endParaRPr lang="en-US" altLang="zh-TW" sz="2000" b="1" dirty="0">
              <a:latin typeface="標楷體" pitchFamily="65" charset="-120"/>
              <a:ea typeface="標楷體" pitchFamily="65" charset="-120"/>
            </a:endParaRPr>
          </a:p>
          <a:p>
            <a:pPr marL="0" indent="0">
              <a:buNone/>
            </a:pPr>
            <a:r>
              <a:rPr lang="zh-TW" altLang="en-US" sz="2000" b="1" dirty="0">
                <a:latin typeface="標楷體" pitchFamily="65" charset="-120"/>
                <a:ea typeface="標楷體" pitchFamily="65" charset="-120"/>
              </a:rPr>
              <a:t>                縣竹鹿區婦女服務中心、中州儲蓄互助社、臺銀人壽。</a:t>
            </a:r>
          </a:p>
          <a:p>
            <a:pPr marL="0" indent="0">
              <a:buNone/>
            </a:pPr>
            <a:r>
              <a:rPr lang="zh-TW" altLang="en-US" sz="2000" b="1" dirty="0">
                <a:solidFill>
                  <a:srgbClr val="FF0000"/>
                </a:solidFill>
                <a:latin typeface="標楷體" pitchFamily="65" charset="-120"/>
                <a:ea typeface="標楷體" pitchFamily="65" charset="-120"/>
              </a:rPr>
              <a:t>（五）陪伴團隊：南投縣社區培力育成中心</a:t>
            </a:r>
            <a:endParaRPr lang="en-US" altLang="zh-TW" sz="2000" b="1" dirty="0">
              <a:solidFill>
                <a:srgbClr val="FF0000"/>
              </a:solidFill>
              <a:latin typeface="標楷體" pitchFamily="65" charset="-120"/>
              <a:ea typeface="標楷體" pitchFamily="65" charset="-120"/>
            </a:endParaRPr>
          </a:p>
          <a:p>
            <a:pPr marL="0" indent="0">
              <a:buNone/>
            </a:pPr>
            <a:r>
              <a:rPr lang="zh-TW" altLang="en-US" sz="2000" b="1" dirty="0">
                <a:solidFill>
                  <a:srgbClr val="C00000"/>
                </a:solidFill>
                <a:latin typeface="標楷體" pitchFamily="65" charset="-120"/>
                <a:ea typeface="標楷體" pitchFamily="65" charset="-120"/>
              </a:rPr>
              <a:t>（六）陪伴專家學者及老師：亞洲大學張英陣教授</a:t>
            </a:r>
          </a:p>
          <a:p>
            <a:endParaRPr lang="zh-TW" altLang="en-US" sz="2000" dirty="0"/>
          </a:p>
        </p:txBody>
      </p:sp>
    </p:spTree>
    <p:extLst>
      <p:ext uri="{BB962C8B-B14F-4D97-AF65-F5344CB8AC3E}">
        <p14:creationId xmlns:p14="http://schemas.microsoft.com/office/powerpoint/2010/main" val="1578708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標題 1"/>
          <p:cNvSpPr>
            <a:spLocks noGrp="1"/>
          </p:cNvSpPr>
          <p:nvPr>
            <p:ph type="title"/>
          </p:nvPr>
        </p:nvSpPr>
        <p:spPr>
          <a:xfrm>
            <a:off x="323528" y="404664"/>
            <a:ext cx="8382000" cy="431800"/>
          </a:xfrm>
        </p:spPr>
        <p:txBody>
          <a:bodyPr/>
          <a:lstStyle/>
          <a:p>
            <a:pPr eaLnBrk="1" hangingPunct="1"/>
            <a:r>
              <a:rPr lang="zh-TW" altLang="en-US" sz="4000" b="0" dirty="0">
                <a:latin typeface="標楷體" pitchFamily="65" charset="-120"/>
                <a:ea typeface="標楷體" pitchFamily="65" charset="-120"/>
              </a:rPr>
              <a:t>三、竹山鎮與旗艦社區簡介</a:t>
            </a:r>
            <a:br>
              <a:rPr lang="zh-TW" altLang="en-US" sz="4400" b="0" dirty="0">
                <a:latin typeface="華康隸書體W7(P)" pitchFamily="2" charset="-120"/>
                <a:ea typeface="華康隸書體W7(P)" pitchFamily="2" charset="-120"/>
              </a:rPr>
            </a:br>
            <a:endParaRPr lang="zh-TW" altLang="en-US" sz="4400" b="0" dirty="0">
              <a:latin typeface="華康隸書體W7(P)" pitchFamily="2" charset="-120"/>
              <a:ea typeface="華康隸書體W7(P)" pitchFamily="2" charset="-120"/>
            </a:endParaRPr>
          </a:p>
        </p:txBody>
      </p:sp>
      <p:pic>
        <p:nvPicPr>
          <p:cNvPr id="5122" name="圖片 2" descr="H:\再生計畫\富州地理位置圖.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3134758"/>
            <a:ext cx="5172137" cy="3611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539552" y="836712"/>
            <a:ext cx="7416824" cy="2183098"/>
          </a:xfrm>
          <a:prstGeom prst="rect">
            <a:avLst/>
          </a:prstGeom>
        </p:spPr>
        <p:txBody>
          <a:bodyPr wrap="square">
            <a:spAutoFit/>
          </a:bodyPr>
          <a:lstStyle/>
          <a:p>
            <a:pPr marL="406400" marR="0" lvl="0" indent="355600" algn="l" defTabSz="914400" rtl="0" eaLnBrk="1" fontAlgn="auto" latinLnBrk="0" hangingPunct="1">
              <a:lnSpc>
                <a:spcPct val="115000"/>
              </a:lnSpc>
              <a:spcBef>
                <a:spcPts val="0"/>
              </a:spcBef>
              <a:spcAft>
                <a:spcPts val="0"/>
              </a:spcAft>
              <a:buClrTx/>
              <a:buSzTx/>
              <a:buFontTx/>
              <a:buNone/>
              <a:tabLst/>
              <a:defRPr/>
            </a:pP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竹山鎮行政區</a:t>
            </a:r>
            <a:r>
              <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rPr>
              <a:t>28</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里</a:t>
            </a:r>
            <a:r>
              <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rPr>
              <a:t>34</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社區，民國</a:t>
            </a:r>
            <a:r>
              <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rPr>
              <a:t>88</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年發生的九二一大地震，對南投縣及竹山鎮造成重大災情，致使竹山鎮的人口的大量外移；截至</a:t>
            </a:r>
            <a:r>
              <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rPr>
              <a:t>112</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年</a:t>
            </a:r>
            <a:r>
              <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rPr>
              <a:t>11</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月底，</a:t>
            </a:r>
            <a:r>
              <a:rPr kumimoji="0" lang="zh-TW" altLang="en-US" sz="2400" b="1" i="0" u="none" strike="noStrike" kern="100" cap="none" spc="0" normalizeH="0" baseline="0" noProof="0" dirty="0">
                <a:ln>
                  <a:noFill/>
                </a:ln>
                <a:solidFill>
                  <a:srgbClr val="FF0000"/>
                </a:solidFill>
                <a:effectLst/>
                <a:uLnTx/>
                <a:uFillTx/>
                <a:latin typeface="Times New Roman"/>
                <a:ea typeface="標楷體"/>
                <a:cs typeface="+mn-cs"/>
              </a:rPr>
              <a:t>全鎮人口數計</a:t>
            </a:r>
            <a:r>
              <a:rPr kumimoji="0" lang="en-US" altLang="zh-TW" sz="2400" b="1" i="0" u="none" strike="noStrike" kern="100" cap="none" spc="0" normalizeH="0" baseline="0" noProof="0" dirty="0">
                <a:ln>
                  <a:noFill/>
                </a:ln>
                <a:solidFill>
                  <a:srgbClr val="FF0000"/>
                </a:solidFill>
                <a:effectLst/>
                <a:uLnTx/>
                <a:uFillTx/>
                <a:latin typeface="Times New Roman"/>
                <a:ea typeface="標楷體"/>
                <a:cs typeface="+mn-cs"/>
              </a:rPr>
              <a:t>51,511</a:t>
            </a:r>
            <a:r>
              <a:rPr kumimoji="0" lang="zh-TW" altLang="en-US" sz="2400" b="1" i="0" u="none" strike="noStrike" kern="100" cap="none" spc="0" normalizeH="0" baseline="0" noProof="0" dirty="0">
                <a:ln>
                  <a:noFill/>
                </a:ln>
                <a:solidFill>
                  <a:srgbClr val="FF0000"/>
                </a:solidFill>
                <a:effectLst/>
                <a:uLnTx/>
                <a:uFillTx/>
                <a:latin typeface="Times New Roman"/>
                <a:ea typeface="標楷體"/>
                <a:cs typeface="+mn-cs"/>
              </a:rPr>
              <a:t>人，</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其中</a:t>
            </a:r>
            <a:r>
              <a:rPr kumimoji="0" lang="zh-TW" altLang="en-US" sz="2400" b="1" i="0" u="none" strike="noStrike" kern="100" cap="none" spc="0" normalizeH="0" baseline="0" noProof="0" dirty="0">
                <a:ln>
                  <a:noFill/>
                </a:ln>
                <a:solidFill>
                  <a:srgbClr val="FF0000"/>
                </a:solidFill>
                <a:effectLst/>
                <a:uLnTx/>
                <a:uFillTx/>
                <a:latin typeface="Times New Roman"/>
                <a:ea typeface="標楷體"/>
                <a:cs typeface="+mn-cs"/>
              </a:rPr>
              <a:t>男性為</a:t>
            </a:r>
            <a:r>
              <a:rPr kumimoji="0" lang="en-US" altLang="zh-TW" sz="2400" b="1" i="0" u="none" strike="noStrike" kern="100" cap="none" spc="0" normalizeH="0" baseline="0" noProof="0" dirty="0">
                <a:ln>
                  <a:noFill/>
                </a:ln>
                <a:solidFill>
                  <a:srgbClr val="FF0000"/>
                </a:solidFill>
                <a:effectLst/>
                <a:uLnTx/>
                <a:uFillTx/>
                <a:latin typeface="Times New Roman"/>
                <a:ea typeface="標楷體"/>
                <a:cs typeface="+mn-cs"/>
              </a:rPr>
              <a:t>26,227</a:t>
            </a:r>
            <a:r>
              <a:rPr kumimoji="0" lang="zh-TW" altLang="en-US" sz="2400" b="1" i="0" u="none" strike="noStrike" kern="100" cap="none" spc="0" normalizeH="0" baseline="0" noProof="0" dirty="0">
                <a:ln>
                  <a:noFill/>
                </a:ln>
                <a:solidFill>
                  <a:srgbClr val="FF0000"/>
                </a:solidFill>
                <a:effectLst/>
                <a:uLnTx/>
                <a:uFillTx/>
                <a:latin typeface="Times New Roman"/>
                <a:ea typeface="標楷體"/>
                <a:cs typeface="+mn-cs"/>
              </a:rPr>
              <a:t>人，占</a:t>
            </a:r>
            <a:r>
              <a:rPr kumimoji="0" lang="en-US" altLang="zh-TW" sz="2400" b="1" i="0" u="none" strike="noStrike" kern="100" cap="none" spc="0" normalizeH="0" baseline="0" noProof="0" dirty="0">
                <a:ln>
                  <a:noFill/>
                </a:ln>
                <a:solidFill>
                  <a:srgbClr val="FF0000"/>
                </a:solidFill>
                <a:effectLst/>
                <a:uLnTx/>
                <a:uFillTx/>
                <a:latin typeface="Times New Roman"/>
                <a:ea typeface="標楷體"/>
                <a:cs typeface="+mn-cs"/>
              </a:rPr>
              <a:t>51﹪</a:t>
            </a:r>
            <a:r>
              <a:rPr kumimoji="0" lang="zh-TW" altLang="en-US" sz="2400" b="1" i="0" u="none" strike="noStrike" kern="100" cap="none" spc="0" normalizeH="0" baseline="0" noProof="0" dirty="0">
                <a:ln>
                  <a:noFill/>
                </a:ln>
                <a:solidFill>
                  <a:srgbClr val="FF0000"/>
                </a:solidFill>
                <a:effectLst/>
                <a:uLnTx/>
                <a:uFillTx/>
                <a:latin typeface="Times New Roman"/>
                <a:ea typeface="標楷體"/>
                <a:cs typeface="+mn-cs"/>
              </a:rPr>
              <a:t>；女性為</a:t>
            </a:r>
            <a:r>
              <a:rPr kumimoji="0" lang="en-US" altLang="zh-TW" sz="2400" b="1" i="0" u="none" strike="noStrike" kern="100" cap="none" spc="0" normalizeH="0" baseline="0" noProof="0" dirty="0">
                <a:ln>
                  <a:noFill/>
                </a:ln>
                <a:solidFill>
                  <a:srgbClr val="FF0000"/>
                </a:solidFill>
                <a:effectLst/>
                <a:uLnTx/>
                <a:uFillTx/>
                <a:latin typeface="Times New Roman"/>
                <a:ea typeface="標楷體"/>
                <a:cs typeface="+mn-cs"/>
              </a:rPr>
              <a:t>25,284</a:t>
            </a:r>
            <a:r>
              <a:rPr kumimoji="0" lang="zh-TW" altLang="en-US" sz="2400" b="1" i="0" u="none" strike="noStrike" kern="100" cap="none" spc="0" normalizeH="0" baseline="0" noProof="0" dirty="0">
                <a:ln>
                  <a:noFill/>
                </a:ln>
                <a:solidFill>
                  <a:srgbClr val="FF0000"/>
                </a:solidFill>
                <a:effectLst/>
                <a:uLnTx/>
                <a:uFillTx/>
                <a:latin typeface="Times New Roman"/>
                <a:ea typeface="標楷體"/>
                <a:cs typeface="+mn-cs"/>
              </a:rPr>
              <a:t>人，占</a:t>
            </a:r>
            <a:r>
              <a:rPr kumimoji="0" lang="en-US" altLang="zh-TW" sz="2400" b="1" i="0" u="none" strike="noStrike" kern="100" cap="none" spc="0" normalizeH="0" baseline="0" noProof="0" dirty="0">
                <a:ln>
                  <a:noFill/>
                </a:ln>
                <a:solidFill>
                  <a:srgbClr val="FF0000"/>
                </a:solidFill>
                <a:effectLst/>
                <a:uLnTx/>
                <a:uFillTx/>
                <a:latin typeface="Times New Roman"/>
                <a:ea typeface="標楷體"/>
                <a:cs typeface="+mn-cs"/>
              </a:rPr>
              <a:t>49﹪</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a:t>
            </a:r>
          </a:p>
        </p:txBody>
      </p:sp>
      <p:pic>
        <p:nvPicPr>
          <p:cNvPr id="5" name="Picture 205" descr="行政區域"/>
          <p:cNvPicPr>
            <a:picLocks noChangeAspect="1" noChangeArrowheads="1"/>
          </p:cNvPicPr>
          <p:nvPr/>
        </p:nvPicPr>
        <p:blipFill>
          <a:blip r:embed="rId4" cstate="print">
            <a:extLst>
              <a:ext uri="{28A0092B-C50C-407E-A947-70E740481C1C}">
                <a14:useLocalDpi xmlns:a14="http://schemas.microsoft.com/office/drawing/2010/main" val="0"/>
              </a:ext>
            </a:extLst>
          </a:blip>
          <a:srcRect l="95" t="6566" r="2000" b="9496"/>
          <a:stretch>
            <a:fillRect/>
          </a:stretch>
        </p:blipFill>
        <p:spPr bwMode="auto">
          <a:xfrm>
            <a:off x="4993217" y="3024827"/>
            <a:ext cx="3634536" cy="3831851"/>
          </a:xfrm>
          <a:prstGeom prst="rect">
            <a:avLst/>
          </a:prstGeom>
          <a:noFill/>
          <a:ln w="19050" cmpd="thinThick">
            <a:noFill/>
            <a:miter lim="800000"/>
            <a:headEnd/>
            <a:tailEnd/>
          </a:ln>
          <a:extLst>
            <a:ext uri="{909E8E84-426E-40DD-AFC4-6F175D3DCCD1}">
              <a14:hiddenFill xmlns:a14="http://schemas.microsoft.com/office/drawing/2010/main">
                <a:solidFill>
                  <a:srgbClr val="FFFFFF"/>
                </a:solidFill>
              </a14:hiddenFill>
            </a:ext>
          </a:extLst>
        </p:spPr>
      </p:pic>
      <p:sp>
        <p:nvSpPr>
          <p:cNvPr id="2" name="手繪多邊形 1"/>
          <p:cNvSpPr/>
          <p:nvPr/>
        </p:nvSpPr>
        <p:spPr>
          <a:xfrm>
            <a:off x="6810485" y="3134758"/>
            <a:ext cx="1044346" cy="671269"/>
          </a:xfrm>
          <a:custGeom>
            <a:avLst/>
            <a:gdLst>
              <a:gd name="connsiteX0" fmla="*/ 540107 w 1044346"/>
              <a:gd name="connsiteY0" fmla="*/ 11056 h 671269"/>
              <a:gd name="connsiteX1" fmla="*/ 293219 w 1044346"/>
              <a:gd name="connsiteY1" fmla="*/ 29344 h 671269"/>
              <a:gd name="connsiteX2" fmla="*/ 265787 w 1044346"/>
              <a:gd name="connsiteY2" fmla="*/ 38488 h 671269"/>
              <a:gd name="connsiteX3" fmla="*/ 238355 w 1044346"/>
              <a:gd name="connsiteY3" fmla="*/ 56776 h 671269"/>
              <a:gd name="connsiteX4" fmla="*/ 183491 w 1044346"/>
              <a:gd name="connsiteY4" fmla="*/ 75064 h 671269"/>
              <a:gd name="connsiteX5" fmla="*/ 156059 w 1044346"/>
              <a:gd name="connsiteY5" fmla="*/ 84208 h 671269"/>
              <a:gd name="connsiteX6" fmla="*/ 128627 w 1044346"/>
              <a:gd name="connsiteY6" fmla="*/ 102496 h 671269"/>
              <a:gd name="connsiteX7" fmla="*/ 92051 w 1044346"/>
              <a:gd name="connsiteY7" fmla="*/ 139072 h 671269"/>
              <a:gd name="connsiteX8" fmla="*/ 46331 w 1044346"/>
              <a:gd name="connsiteY8" fmla="*/ 203080 h 671269"/>
              <a:gd name="connsiteX9" fmla="*/ 37187 w 1044346"/>
              <a:gd name="connsiteY9" fmla="*/ 230512 h 671269"/>
              <a:gd name="connsiteX10" fmla="*/ 9755 w 1044346"/>
              <a:gd name="connsiteY10" fmla="*/ 276232 h 671269"/>
              <a:gd name="connsiteX11" fmla="*/ 9755 w 1044346"/>
              <a:gd name="connsiteY11" fmla="*/ 486544 h 671269"/>
              <a:gd name="connsiteX12" fmla="*/ 64619 w 1044346"/>
              <a:gd name="connsiteY12" fmla="*/ 541408 h 671269"/>
              <a:gd name="connsiteX13" fmla="*/ 101195 w 1044346"/>
              <a:gd name="connsiteY13" fmla="*/ 568840 h 671269"/>
              <a:gd name="connsiteX14" fmla="*/ 128627 w 1044346"/>
              <a:gd name="connsiteY14" fmla="*/ 596272 h 671269"/>
              <a:gd name="connsiteX15" fmla="*/ 156059 w 1044346"/>
              <a:gd name="connsiteY15" fmla="*/ 605416 h 671269"/>
              <a:gd name="connsiteX16" fmla="*/ 220067 w 1044346"/>
              <a:gd name="connsiteY16" fmla="*/ 632848 h 671269"/>
              <a:gd name="connsiteX17" fmla="*/ 256643 w 1044346"/>
              <a:gd name="connsiteY17" fmla="*/ 660280 h 671269"/>
              <a:gd name="connsiteX18" fmla="*/ 457811 w 1044346"/>
              <a:gd name="connsiteY18" fmla="*/ 660280 h 671269"/>
              <a:gd name="connsiteX19" fmla="*/ 887579 w 1044346"/>
              <a:gd name="connsiteY19" fmla="*/ 632848 h 671269"/>
              <a:gd name="connsiteX20" fmla="*/ 960731 w 1044346"/>
              <a:gd name="connsiteY20" fmla="*/ 605416 h 671269"/>
              <a:gd name="connsiteX21" fmla="*/ 1024739 w 1044346"/>
              <a:gd name="connsiteY21" fmla="*/ 550552 h 671269"/>
              <a:gd name="connsiteX22" fmla="*/ 1043027 w 1044346"/>
              <a:gd name="connsiteY22" fmla="*/ 340240 h 671269"/>
              <a:gd name="connsiteX23" fmla="*/ 1033883 w 1044346"/>
              <a:gd name="connsiteY23" fmla="*/ 212224 h 671269"/>
              <a:gd name="connsiteX24" fmla="*/ 969875 w 1044346"/>
              <a:gd name="connsiteY24" fmla="*/ 129928 h 671269"/>
              <a:gd name="connsiteX25" fmla="*/ 677267 w 1044346"/>
              <a:gd name="connsiteY25" fmla="*/ 84208 h 671269"/>
              <a:gd name="connsiteX26" fmla="*/ 640691 w 1044346"/>
              <a:gd name="connsiteY26" fmla="*/ 75064 h 671269"/>
              <a:gd name="connsiteX27" fmla="*/ 576683 w 1044346"/>
              <a:gd name="connsiteY27" fmla="*/ 11056 h 671269"/>
              <a:gd name="connsiteX28" fmla="*/ 439523 w 1044346"/>
              <a:gd name="connsiteY28" fmla="*/ 1912 h 671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44346" h="671269">
                <a:moveTo>
                  <a:pt x="540107" y="11056"/>
                </a:moveTo>
                <a:cubicBezTo>
                  <a:pt x="403391" y="17000"/>
                  <a:pt x="382441" y="3852"/>
                  <a:pt x="293219" y="29344"/>
                </a:cubicBezTo>
                <a:cubicBezTo>
                  <a:pt x="283951" y="31992"/>
                  <a:pt x="274408" y="34177"/>
                  <a:pt x="265787" y="38488"/>
                </a:cubicBezTo>
                <a:cubicBezTo>
                  <a:pt x="255957" y="43403"/>
                  <a:pt x="248398" y="52313"/>
                  <a:pt x="238355" y="56776"/>
                </a:cubicBezTo>
                <a:cubicBezTo>
                  <a:pt x="220739" y="64605"/>
                  <a:pt x="201779" y="68968"/>
                  <a:pt x="183491" y="75064"/>
                </a:cubicBezTo>
                <a:cubicBezTo>
                  <a:pt x="174347" y="78112"/>
                  <a:pt x="164079" y="78861"/>
                  <a:pt x="156059" y="84208"/>
                </a:cubicBezTo>
                <a:cubicBezTo>
                  <a:pt x="146915" y="90304"/>
                  <a:pt x="136971" y="95344"/>
                  <a:pt x="128627" y="102496"/>
                </a:cubicBezTo>
                <a:cubicBezTo>
                  <a:pt x="115536" y="113717"/>
                  <a:pt x="103405" y="126096"/>
                  <a:pt x="92051" y="139072"/>
                </a:cubicBezTo>
                <a:cubicBezTo>
                  <a:pt x="87219" y="144595"/>
                  <a:pt x="52021" y="191700"/>
                  <a:pt x="46331" y="203080"/>
                </a:cubicBezTo>
                <a:cubicBezTo>
                  <a:pt x="42020" y="211701"/>
                  <a:pt x="41498" y="221891"/>
                  <a:pt x="37187" y="230512"/>
                </a:cubicBezTo>
                <a:cubicBezTo>
                  <a:pt x="29239" y="246408"/>
                  <a:pt x="18899" y="260992"/>
                  <a:pt x="9755" y="276232"/>
                </a:cubicBezTo>
                <a:cubicBezTo>
                  <a:pt x="5889" y="322621"/>
                  <a:pt x="-10118" y="438281"/>
                  <a:pt x="9755" y="486544"/>
                </a:cubicBezTo>
                <a:cubicBezTo>
                  <a:pt x="19602" y="510459"/>
                  <a:pt x="43928" y="525890"/>
                  <a:pt x="64619" y="541408"/>
                </a:cubicBezTo>
                <a:cubicBezTo>
                  <a:pt x="76811" y="550552"/>
                  <a:pt x="89624" y="558922"/>
                  <a:pt x="101195" y="568840"/>
                </a:cubicBezTo>
                <a:cubicBezTo>
                  <a:pt x="111013" y="577256"/>
                  <a:pt x="117867" y="589099"/>
                  <a:pt x="128627" y="596272"/>
                </a:cubicBezTo>
                <a:cubicBezTo>
                  <a:pt x="136647" y="601619"/>
                  <a:pt x="147438" y="601105"/>
                  <a:pt x="156059" y="605416"/>
                </a:cubicBezTo>
                <a:cubicBezTo>
                  <a:pt x="219207" y="636990"/>
                  <a:pt x="143945" y="613817"/>
                  <a:pt x="220067" y="632848"/>
                </a:cubicBezTo>
                <a:cubicBezTo>
                  <a:pt x="232259" y="641992"/>
                  <a:pt x="243012" y="653464"/>
                  <a:pt x="256643" y="660280"/>
                </a:cubicBezTo>
                <a:cubicBezTo>
                  <a:pt x="306079" y="684998"/>
                  <a:pt x="457524" y="660296"/>
                  <a:pt x="457811" y="660280"/>
                </a:cubicBezTo>
                <a:cubicBezTo>
                  <a:pt x="697922" y="630266"/>
                  <a:pt x="554993" y="643577"/>
                  <a:pt x="887579" y="632848"/>
                </a:cubicBezTo>
                <a:cubicBezTo>
                  <a:pt x="971886" y="576643"/>
                  <a:pt x="842089" y="658146"/>
                  <a:pt x="960731" y="605416"/>
                </a:cubicBezTo>
                <a:cubicBezTo>
                  <a:pt x="981846" y="596032"/>
                  <a:pt x="1008428" y="566863"/>
                  <a:pt x="1024739" y="550552"/>
                </a:cubicBezTo>
                <a:cubicBezTo>
                  <a:pt x="1051664" y="469776"/>
                  <a:pt x="1043027" y="503871"/>
                  <a:pt x="1043027" y="340240"/>
                </a:cubicBezTo>
                <a:cubicBezTo>
                  <a:pt x="1043027" y="297459"/>
                  <a:pt x="1038882" y="254712"/>
                  <a:pt x="1033883" y="212224"/>
                </a:cubicBezTo>
                <a:cubicBezTo>
                  <a:pt x="1029701" y="176679"/>
                  <a:pt x="996294" y="147541"/>
                  <a:pt x="969875" y="129928"/>
                </a:cubicBezTo>
                <a:cubicBezTo>
                  <a:pt x="849024" y="49361"/>
                  <a:pt x="936974" y="94197"/>
                  <a:pt x="677267" y="84208"/>
                </a:cubicBezTo>
                <a:cubicBezTo>
                  <a:pt x="665075" y="81160"/>
                  <a:pt x="650855" y="82456"/>
                  <a:pt x="640691" y="75064"/>
                </a:cubicBezTo>
                <a:cubicBezTo>
                  <a:pt x="616288" y="57317"/>
                  <a:pt x="605956" y="18374"/>
                  <a:pt x="576683" y="11056"/>
                </a:cubicBezTo>
                <a:cubicBezTo>
                  <a:pt x="507580" y="-6220"/>
                  <a:pt x="552674" y="1912"/>
                  <a:pt x="439523" y="1912"/>
                </a:cubicBezTo>
              </a:path>
            </a:pathLst>
          </a:custGeom>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1" i="0" u="none" strike="noStrike" kern="1200" cap="none" spc="0" normalizeH="0" baseline="0" noProof="0">
              <a:ln>
                <a:noFill/>
              </a:ln>
              <a:solidFill>
                <a:srgbClr val="024631"/>
              </a:solidFill>
              <a:effectLst/>
              <a:uLnTx/>
              <a:uFillTx/>
              <a:latin typeface="Arial" pitchFamily="34" charset="0"/>
              <a:ea typeface="+mn-ea"/>
              <a:cs typeface="+mn-cs"/>
            </a:endParaRPr>
          </a:p>
        </p:txBody>
      </p:sp>
      <p:sp>
        <p:nvSpPr>
          <p:cNvPr id="3" name="手繪多邊形 2"/>
          <p:cNvSpPr/>
          <p:nvPr/>
        </p:nvSpPr>
        <p:spPr>
          <a:xfrm>
            <a:off x="6501384" y="3127248"/>
            <a:ext cx="1097280" cy="749808"/>
          </a:xfrm>
          <a:custGeom>
            <a:avLst/>
            <a:gdLst>
              <a:gd name="connsiteX0" fmla="*/ 502920 w 1097280"/>
              <a:gd name="connsiteY0" fmla="*/ 0 h 749808"/>
              <a:gd name="connsiteX1" fmla="*/ 429768 w 1097280"/>
              <a:gd name="connsiteY1" fmla="*/ 27432 h 749808"/>
              <a:gd name="connsiteX2" fmla="*/ 338328 w 1097280"/>
              <a:gd name="connsiteY2" fmla="*/ 36576 h 749808"/>
              <a:gd name="connsiteX3" fmla="*/ 292608 w 1097280"/>
              <a:gd name="connsiteY3" fmla="*/ 91440 h 749808"/>
              <a:gd name="connsiteX4" fmla="*/ 237744 w 1097280"/>
              <a:gd name="connsiteY4" fmla="*/ 137160 h 749808"/>
              <a:gd name="connsiteX5" fmla="*/ 192024 w 1097280"/>
              <a:gd name="connsiteY5" fmla="*/ 192024 h 749808"/>
              <a:gd name="connsiteX6" fmla="*/ 146304 w 1097280"/>
              <a:gd name="connsiteY6" fmla="*/ 237744 h 749808"/>
              <a:gd name="connsiteX7" fmla="*/ 128016 w 1097280"/>
              <a:gd name="connsiteY7" fmla="*/ 265176 h 749808"/>
              <a:gd name="connsiteX8" fmla="*/ 73152 w 1097280"/>
              <a:gd name="connsiteY8" fmla="*/ 301752 h 749808"/>
              <a:gd name="connsiteX9" fmla="*/ 54864 w 1097280"/>
              <a:gd name="connsiteY9" fmla="*/ 329184 h 749808"/>
              <a:gd name="connsiteX10" fmla="*/ 45720 w 1097280"/>
              <a:gd name="connsiteY10" fmla="*/ 356616 h 749808"/>
              <a:gd name="connsiteX11" fmla="*/ 18288 w 1097280"/>
              <a:gd name="connsiteY11" fmla="*/ 384048 h 749808"/>
              <a:gd name="connsiteX12" fmla="*/ 0 w 1097280"/>
              <a:gd name="connsiteY12" fmla="*/ 411480 h 749808"/>
              <a:gd name="connsiteX13" fmla="*/ 73152 w 1097280"/>
              <a:gd name="connsiteY13" fmla="*/ 457200 h 749808"/>
              <a:gd name="connsiteX14" fmla="*/ 100584 w 1097280"/>
              <a:gd name="connsiteY14" fmla="*/ 466344 h 749808"/>
              <a:gd name="connsiteX15" fmla="*/ 128016 w 1097280"/>
              <a:gd name="connsiteY15" fmla="*/ 493776 h 749808"/>
              <a:gd name="connsiteX16" fmla="*/ 137160 w 1097280"/>
              <a:gd name="connsiteY16" fmla="*/ 530352 h 749808"/>
              <a:gd name="connsiteX17" fmla="*/ 146304 w 1097280"/>
              <a:gd name="connsiteY17" fmla="*/ 557784 h 749808"/>
              <a:gd name="connsiteX18" fmla="*/ 201168 w 1097280"/>
              <a:gd name="connsiteY18" fmla="*/ 576072 h 749808"/>
              <a:gd name="connsiteX19" fmla="*/ 265176 w 1097280"/>
              <a:gd name="connsiteY19" fmla="*/ 603504 h 749808"/>
              <a:gd name="connsiteX20" fmla="*/ 292608 w 1097280"/>
              <a:gd name="connsiteY20" fmla="*/ 621792 h 749808"/>
              <a:gd name="connsiteX21" fmla="*/ 310896 w 1097280"/>
              <a:gd name="connsiteY21" fmla="*/ 649224 h 749808"/>
              <a:gd name="connsiteX22" fmla="*/ 420624 w 1097280"/>
              <a:gd name="connsiteY22" fmla="*/ 676656 h 749808"/>
              <a:gd name="connsiteX23" fmla="*/ 612648 w 1097280"/>
              <a:gd name="connsiteY23" fmla="*/ 704088 h 749808"/>
              <a:gd name="connsiteX24" fmla="*/ 685800 w 1097280"/>
              <a:gd name="connsiteY24" fmla="*/ 731520 h 749808"/>
              <a:gd name="connsiteX25" fmla="*/ 758952 w 1097280"/>
              <a:gd name="connsiteY25" fmla="*/ 749808 h 749808"/>
              <a:gd name="connsiteX26" fmla="*/ 932688 w 1097280"/>
              <a:gd name="connsiteY26" fmla="*/ 740664 h 749808"/>
              <a:gd name="connsiteX27" fmla="*/ 987552 w 1097280"/>
              <a:gd name="connsiteY27" fmla="*/ 685800 h 749808"/>
              <a:gd name="connsiteX28" fmla="*/ 1014984 w 1097280"/>
              <a:gd name="connsiteY28" fmla="*/ 658368 h 749808"/>
              <a:gd name="connsiteX29" fmla="*/ 1033272 w 1097280"/>
              <a:gd name="connsiteY29" fmla="*/ 594360 h 749808"/>
              <a:gd name="connsiteX30" fmla="*/ 1051560 w 1097280"/>
              <a:gd name="connsiteY30" fmla="*/ 530352 h 749808"/>
              <a:gd name="connsiteX31" fmla="*/ 1060704 w 1097280"/>
              <a:gd name="connsiteY31" fmla="*/ 420624 h 749808"/>
              <a:gd name="connsiteX32" fmla="*/ 1097280 w 1097280"/>
              <a:gd name="connsiteY32" fmla="*/ 347472 h 749808"/>
              <a:gd name="connsiteX33" fmla="*/ 1088136 w 1097280"/>
              <a:gd name="connsiteY33" fmla="*/ 237744 h 749808"/>
              <a:gd name="connsiteX34" fmla="*/ 1078992 w 1097280"/>
              <a:gd name="connsiteY34" fmla="*/ 210312 h 749808"/>
              <a:gd name="connsiteX35" fmla="*/ 1005840 w 1097280"/>
              <a:gd name="connsiteY35" fmla="*/ 164592 h 749808"/>
              <a:gd name="connsiteX36" fmla="*/ 859536 w 1097280"/>
              <a:gd name="connsiteY36" fmla="*/ 146304 h 749808"/>
              <a:gd name="connsiteX37" fmla="*/ 804672 w 1097280"/>
              <a:gd name="connsiteY37" fmla="*/ 109728 h 749808"/>
              <a:gd name="connsiteX38" fmla="*/ 777240 w 1097280"/>
              <a:gd name="connsiteY38" fmla="*/ 100584 h 749808"/>
              <a:gd name="connsiteX39" fmla="*/ 667512 w 1097280"/>
              <a:gd name="connsiteY39" fmla="*/ 36576 h 749808"/>
              <a:gd name="connsiteX40" fmla="*/ 576072 w 1097280"/>
              <a:gd name="connsiteY40" fmla="*/ 9144 h 749808"/>
              <a:gd name="connsiteX41" fmla="*/ 393192 w 1097280"/>
              <a:gd name="connsiteY41" fmla="*/ 45720 h 749808"/>
              <a:gd name="connsiteX42" fmla="*/ 356616 w 1097280"/>
              <a:gd name="connsiteY42" fmla="*/ 64008 h 749808"/>
              <a:gd name="connsiteX43" fmla="*/ 329184 w 1097280"/>
              <a:gd name="connsiteY43" fmla="*/ 91440 h 749808"/>
              <a:gd name="connsiteX44" fmla="*/ 301752 w 1097280"/>
              <a:gd name="connsiteY44" fmla="*/ 109728 h 749808"/>
              <a:gd name="connsiteX45" fmla="*/ 283464 w 1097280"/>
              <a:gd name="connsiteY45" fmla="*/ 146304 h 749808"/>
              <a:gd name="connsiteX46" fmla="*/ 246888 w 1097280"/>
              <a:gd name="connsiteY46" fmla="*/ 182880 h 749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97280" h="749808">
                <a:moveTo>
                  <a:pt x="502920" y="0"/>
                </a:moveTo>
                <a:cubicBezTo>
                  <a:pt x="501650" y="508"/>
                  <a:pt x="441415" y="25640"/>
                  <a:pt x="429768" y="27432"/>
                </a:cubicBezTo>
                <a:cubicBezTo>
                  <a:pt x="399492" y="32090"/>
                  <a:pt x="368808" y="33528"/>
                  <a:pt x="338328" y="36576"/>
                </a:cubicBezTo>
                <a:cubicBezTo>
                  <a:pt x="258185" y="116719"/>
                  <a:pt x="356261" y="15057"/>
                  <a:pt x="292608" y="91440"/>
                </a:cubicBezTo>
                <a:cubicBezTo>
                  <a:pt x="270606" y="117842"/>
                  <a:pt x="264717" y="119178"/>
                  <a:pt x="237744" y="137160"/>
                </a:cubicBezTo>
                <a:cubicBezTo>
                  <a:pt x="192338" y="205268"/>
                  <a:pt x="250696" y="121618"/>
                  <a:pt x="192024" y="192024"/>
                </a:cubicBezTo>
                <a:cubicBezTo>
                  <a:pt x="153924" y="237744"/>
                  <a:pt x="196596" y="204216"/>
                  <a:pt x="146304" y="237744"/>
                </a:cubicBezTo>
                <a:cubicBezTo>
                  <a:pt x="140208" y="246888"/>
                  <a:pt x="136287" y="257939"/>
                  <a:pt x="128016" y="265176"/>
                </a:cubicBezTo>
                <a:cubicBezTo>
                  <a:pt x="111475" y="279650"/>
                  <a:pt x="73152" y="301752"/>
                  <a:pt x="73152" y="301752"/>
                </a:cubicBezTo>
                <a:cubicBezTo>
                  <a:pt x="67056" y="310896"/>
                  <a:pt x="59779" y="319354"/>
                  <a:pt x="54864" y="329184"/>
                </a:cubicBezTo>
                <a:cubicBezTo>
                  <a:pt x="50553" y="337805"/>
                  <a:pt x="51067" y="348596"/>
                  <a:pt x="45720" y="356616"/>
                </a:cubicBezTo>
                <a:cubicBezTo>
                  <a:pt x="38547" y="367376"/>
                  <a:pt x="26567" y="374114"/>
                  <a:pt x="18288" y="384048"/>
                </a:cubicBezTo>
                <a:cubicBezTo>
                  <a:pt x="11253" y="392491"/>
                  <a:pt x="6096" y="402336"/>
                  <a:pt x="0" y="411480"/>
                </a:cubicBezTo>
                <a:cubicBezTo>
                  <a:pt x="28981" y="454952"/>
                  <a:pt x="7862" y="435437"/>
                  <a:pt x="73152" y="457200"/>
                </a:cubicBezTo>
                <a:lnTo>
                  <a:pt x="100584" y="466344"/>
                </a:lnTo>
                <a:cubicBezTo>
                  <a:pt x="109728" y="475488"/>
                  <a:pt x="121600" y="482548"/>
                  <a:pt x="128016" y="493776"/>
                </a:cubicBezTo>
                <a:cubicBezTo>
                  <a:pt x="134251" y="504687"/>
                  <a:pt x="133708" y="518268"/>
                  <a:pt x="137160" y="530352"/>
                </a:cubicBezTo>
                <a:cubicBezTo>
                  <a:pt x="139808" y="539620"/>
                  <a:pt x="138461" y="552182"/>
                  <a:pt x="146304" y="557784"/>
                </a:cubicBezTo>
                <a:cubicBezTo>
                  <a:pt x="161991" y="568989"/>
                  <a:pt x="185128" y="565379"/>
                  <a:pt x="201168" y="576072"/>
                </a:cubicBezTo>
                <a:cubicBezTo>
                  <a:pt x="239057" y="601331"/>
                  <a:pt x="217938" y="591695"/>
                  <a:pt x="265176" y="603504"/>
                </a:cubicBezTo>
                <a:cubicBezTo>
                  <a:pt x="274320" y="609600"/>
                  <a:pt x="284837" y="614021"/>
                  <a:pt x="292608" y="621792"/>
                </a:cubicBezTo>
                <a:cubicBezTo>
                  <a:pt x="300379" y="629563"/>
                  <a:pt x="301577" y="643399"/>
                  <a:pt x="310896" y="649224"/>
                </a:cubicBezTo>
                <a:cubicBezTo>
                  <a:pt x="344067" y="669956"/>
                  <a:pt x="384525" y="667631"/>
                  <a:pt x="420624" y="676656"/>
                </a:cubicBezTo>
                <a:cubicBezTo>
                  <a:pt x="563655" y="712414"/>
                  <a:pt x="350009" y="686579"/>
                  <a:pt x="612648" y="704088"/>
                </a:cubicBezTo>
                <a:cubicBezTo>
                  <a:pt x="700857" y="721730"/>
                  <a:pt x="623012" y="700126"/>
                  <a:pt x="685800" y="731520"/>
                </a:cubicBezTo>
                <a:cubicBezTo>
                  <a:pt x="704545" y="740893"/>
                  <a:pt x="741562" y="746330"/>
                  <a:pt x="758952" y="749808"/>
                </a:cubicBezTo>
                <a:cubicBezTo>
                  <a:pt x="816864" y="746760"/>
                  <a:pt x="875228" y="748500"/>
                  <a:pt x="932688" y="740664"/>
                </a:cubicBezTo>
                <a:cubicBezTo>
                  <a:pt x="956123" y="737468"/>
                  <a:pt x="976653" y="698516"/>
                  <a:pt x="987552" y="685800"/>
                </a:cubicBezTo>
                <a:cubicBezTo>
                  <a:pt x="995968" y="675982"/>
                  <a:pt x="1005840" y="667512"/>
                  <a:pt x="1014984" y="658368"/>
                </a:cubicBezTo>
                <a:cubicBezTo>
                  <a:pt x="1036908" y="592595"/>
                  <a:pt x="1010309" y="674732"/>
                  <a:pt x="1033272" y="594360"/>
                </a:cubicBezTo>
                <a:cubicBezTo>
                  <a:pt x="1059508" y="502533"/>
                  <a:pt x="1022974" y="644695"/>
                  <a:pt x="1051560" y="530352"/>
                </a:cubicBezTo>
                <a:cubicBezTo>
                  <a:pt x="1054608" y="493776"/>
                  <a:pt x="1051802" y="456231"/>
                  <a:pt x="1060704" y="420624"/>
                </a:cubicBezTo>
                <a:cubicBezTo>
                  <a:pt x="1067316" y="394176"/>
                  <a:pt x="1097280" y="347472"/>
                  <a:pt x="1097280" y="347472"/>
                </a:cubicBezTo>
                <a:cubicBezTo>
                  <a:pt x="1094232" y="310896"/>
                  <a:pt x="1092987" y="274125"/>
                  <a:pt x="1088136" y="237744"/>
                </a:cubicBezTo>
                <a:cubicBezTo>
                  <a:pt x="1086862" y="228190"/>
                  <a:pt x="1086196" y="216716"/>
                  <a:pt x="1078992" y="210312"/>
                </a:cubicBezTo>
                <a:cubicBezTo>
                  <a:pt x="1057500" y="191208"/>
                  <a:pt x="1034419" y="167767"/>
                  <a:pt x="1005840" y="164592"/>
                </a:cubicBezTo>
                <a:cubicBezTo>
                  <a:pt x="902123" y="153068"/>
                  <a:pt x="950867" y="159351"/>
                  <a:pt x="859536" y="146304"/>
                </a:cubicBezTo>
                <a:cubicBezTo>
                  <a:pt x="794309" y="124562"/>
                  <a:pt x="873167" y="155391"/>
                  <a:pt x="804672" y="109728"/>
                </a:cubicBezTo>
                <a:cubicBezTo>
                  <a:pt x="796652" y="104381"/>
                  <a:pt x="785702" y="105199"/>
                  <a:pt x="777240" y="100584"/>
                </a:cubicBezTo>
                <a:cubicBezTo>
                  <a:pt x="736548" y="78388"/>
                  <a:pt x="708940" y="53147"/>
                  <a:pt x="667512" y="36576"/>
                </a:cubicBezTo>
                <a:cubicBezTo>
                  <a:pt x="630408" y="21735"/>
                  <a:pt x="611999" y="18126"/>
                  <a:pt x="576072" y="9144"/>
                </a:cubicBezTo>
                <a:cubicBezTo>
                  <a:pt x="528895" y="15884"/>
                  <a:pt x="444263" y="20185"/>
                  <a:pt x="393192" y="45720"/>
                </a:cubicBezTo>
                <a:cubicBezTo>
                  <a:pt x="381000" y="51816"/>
                  <a:pt x="367708" y="56085"/>
                  <a:pt x="356616" y="64008"/>
                </a:cubicBezTo>
                <a:cubicBezTo>
                  <a:pt x="346093" y="71524"/>
                  <a:pt x="339118" y="83161"/>
                  <a:pt x="329184" y="91440"/>
                </a:cubicBezTo>
                <a:cubicBezTo>
                  <a:pt x="320741" y="98475"/>
                  <a:pt x="310896" y="103632"/>
                  <a:pt x="301752" y="109728"/>
                </a:cubicBezTo>
                <a:cubicBezTo>
                  <a:pt x="295656" y="121920"/>
                  <a:pt x="292190" y="135832"/>
                  <a:pt x="283464" y="146304"/>
                </a:cubicBezTo>
                <a:cubicBezTo>
                  <a:pt x="228293" y="212510"/>
                  <a:pt x="274633" y="127390"/>
                  <a:pt x="246888" y="182880"/>
                </a:cubicBezTo>
              </a:path>
            </a:pathLst>
          </a:custGeom>
          <a:ln w="38100">
            <a:solidFill>
              <a:srgbClr val="FF0000"/>
            </a:solidFill>
          </a:ln>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1" i="0" u="none" strike="noStrike" kern="1200" cap="none" spc="0" normalizeH="0" baseline="0" noProof="0">
              <a:ln>
                <a:noFill/>
              </a:ln>
              <a:solidFill>
                <a:srgbClr val="024631"/>
              </a:solidFill>
              <a:effectLst/>
              <a:uLnTx/>
              <a:uFillTx/>
              <a:latin typeface="Arial" pitchFamily="34" charset="0"/>
              <a:ea typeface="+mn-ea"/>
              <a:cs typeface="+mn-cs"/>
            </a:endParaRPr>
          </a:p>
        </p:txBody>
      </p:sp>
    </p:spTree>
    <p:extLst>
      <p:ext uri="{BB962C8B-B14F-4D97-AF65-F5344CB8AC3E}">
        <p14:creationId xmlns:p14="http://schemas.microsoft.com/office/powerpoint/2010/main" val="4265716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200" dirty="0">
                <a:latin typeface="華康隸書體W7" panose="02010609010101010101" pitchFamily="49" charset="-120"/>
                <a:ea typeface="華康隸書體W7" panose="02010609010101010101" pitchFamily="49" charset="-120"/>
              </a:rPr>
              <a:t>1.</a:t>
            </a:r>
            <a:r>
              <a:rPr lang="zh-TW" altLang="en-US" sz="3200" dirty="0">
                <a:latin typeface="華康隸書體W7" panose="02010609010101010101" pitchFamily="49" charset="-120"/>
                <a:ea typeface="華康隸書體W7" panose="02010609010101010101" pitchFamily="49" charset="-120"/>
              </a:rPr>
              <a:t>竹山鎮人口各年齡層調查統計表</a:t>
            </a:r>
          </a:p>
        </p:txBody>
      </p:sp>
      <p:sp>
        <p:nvSpPr>
          <p:cNvPr id="4" name="Rectangle 1"/>
          <p:cNvSpPr>
            <a:spLocks noChangeArrowheads="1"/>
          </p:cNvSpPr>
          <p:nvPr/>
        </p:nvSpPr>
        <p:spPr bwMode="auto">
          <a:xfrm>
            <a:off x="1619672" y="803702"/>
            <a:ext cx="68275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800" b="0" i="0" u="none" strike="noStrike" kern="1200" cap="none" spc="0" normalizeH="0" baseline="0" noProof="0" dirty="0">
                <a:ln>
                  <a:noFill/>
                </a:ln>
                <a:solidFill>
                  <a:srgbClr val="000000"/>
                </a:solidFill>
                <a:effectLst/>
                <a:uLnTx/>
                <a:uFillTx/>
                <a:latin typeface="標楷體" pitchFamily="65" charset="-120"/>
                <a:ea typeface="標楷體" pitchFamily="65" charset="-120"/>
                <a:cs typeface="Times New Roman" pitchFamily="18" charset="0"/>
              </a:rPr>
              <a:t>(</a:t>
            </a:r>
            <a:r>
              <a:rPr kumimoji="1" lang="zh-TW" altLang="en-US" sz="2800" b="0" i="0" u="none" strike="noStrike" kern="1200" cap="none" spc="0" normalizeH="0" baseline="0" noProof="0" dirty="0">
                <a:ln>
                  <a:noFill/>
                </a:ln>
                <a:solidFill>
                  <a:srgbClr val="000000"/>
                </a:solidFill>
                <a:effectLst/>
                <a:uLnTx/>
                <a:uFillTx/>
                <a:latin typeface="標楷體" pitchFamily="65" charset="-120"/>
                <a:ea typeface="標楷體" pitchFamily="65" charset="-120"/>
                <a:cs typeface="Times New Roman" pitchFamily="18" charset="0"/>
              </a:rPr>
              <a:t>資料來源：竹山鎮戶政事務所</a:t>
            </a:r>
            <a:r>
              <a:rPr kumimoji="1" lang="en-US" altLang="zh-TW" sz="2800" b="0" i="0" u="none" strike="noStrike" kern="1200" cap="none" spc="0" normalizeH="0" baseline="0" noProof="0" dirty="0">
                <a:ln>
                  <a:noFill/>
                </a:ln>
                <a:solidFill>
                  <a:srgbClr val="000000"/>
                </a:solidFill>
                <a:effectLst/>
                <a:uLnTx/>
                <a:uFillTx/>
                <a:latin typeface="標楷體" pitchFamily="65" charset="-120"/>
                <a:ea typeface="標楷體" pitchFamily="65" charset="-120"/>
                <a:cs typeface="Times New Roman" pitchFamily="18" charset="0"/>
              </a:rPr>
              <a:t>112</a:t>
            </a:r>
            <a:r>
              <a:rPr kumimoji="1" lang="zh-TW" altLang="en-US" sz="2800" b="0" i="0" u="none" strike="noStrike" kern="1200" cap="none" spc="0" normalizeH="0" baseline="0" noProof="0" dirty="0">
                <a:ln>
                  <a:noFill/>
                </a:ln>
                <a:solidFill>
                  <a:srgbClr val="000000"/>
                </a:solidFill>
                <a:effectLst/>
                <a:uLnTx/>
                <a:uFillTx/>
                <a:latin typeface="標楷體" pitchFamily="65" charset="-120"/>
                <a:ea typeface="標楷體" pitchFamily="65" charset="-120"/>
                <a:cs typeface="Times New Roman" pitchFamily="18" charset="0"/>
              </a:rPr>
              <a:t>年</a:t>
            </a:r>
            <a:r>
              <a:rPr kumimoji="1" lang="en-US" altLang="zh-TW" sz="2800" b="0" i="0" u="none" strike="noStrike" kern="1200" cap="none" spc="0" normalizeH="0" baseline="0" noProof="0" dirty="0">
                <a:ln>
                  <a:noFill/>
                </a:ln>
                <a:solidFill>
                  <a:srgbClr val="000000"/>
                </a:solidFill>
                <a:effectLst/>
                <a:uLnTx/>
                <a:uFillTx/>
                <a:latin typeface="標楷體" pitchFamily="65" charset="-120"/>
                <a:ea typeface="標楷體" pitchFamily="65" charset="-120"/>
                <a:cs typeface="Times New Roman" pitchFamily="18" charset="0"/>
              </a:rPr>
              <a:t>11</a:t>
            </a:r>
            <a:r>
              <a:rPr kumimoji="1" lang="zh-TW" altLang="en-US" sz="2800" b="0" i="0" u="none" strike="noStrike" kern="1200" cap="none" spc="0" normalizeH="0" baseline="0" noProof="0" dirty="0">
                <a:ln>
                  <a:noFill/>
                </a:ln>
                <a:solidFill>
                  <a:srgbClr val="000000"/>
                </a:solidFill>
                <a:effectLst/>
                <a:uLnTx/>
                <a:uFillTx/>
                <a:latin typeface="標楷體" pitchFamily="65" charset="-120"/>
                <a:ea typeface="標楷體" pitchFamily="65" charset="-120"/>
                <a:cs typeface="Times New Roman" pitchFamily="18" charset="0"/>
              </a:rPr>
              <a:t>月</a:t>
            </a:r>
            <a:r>
              <a:rPr kumimoji="1" lang="en-US" altLang="zh-TW" sz="2800" b="0" i="0" u="none" strike="noStrike" kern="1200" cap="none" spc="0" normalizeH="0" baseline="0" noProof="0" dirty="0">
                <a:ln>
                  <a:noFill/>
                </a:ln>
                <a:solidFill>
                  <a:srgbClr val="000000"/>
                </a:solidFill>
                <a:effectLst/>
                <a:uLnTx/>
                <a:uFillTx/>
                <a:latin typeface="標楷體" pitchFamily="65" charset="-120"/>
                <a:ea typeface="標楷體" pitchFamily="65" charset="-120"/>
                <a:cs typeface="Times New Roman" pitchFamily="18" charset="0"/>
              </a:rPr>
              <a:t>)</a:t>
            </a:r>
            <a:endParaRPr kumimoji="1" lang="en-US" altLang="zh-TW" sz="2800" b="0" i="0" u="none" strike="noStrike" kern="1200" cap="none" spc="0" normalizeH="0" baseline="0" noProof="0" dirty="0">
              <a:ln>
                <a:noFill/>
              </a:ln>
              <a:solidFill>
                <a:srgbClr val="024631"/>
              </a:solidFill>
              <a:effectLst/>
              <a:uLnTx/>
              <a:uFillTx/>
              <a:latin typeface="Arial" pitchFamily="34" charset="0"/>
              <a:ea typeface="新細明體" pitchFamily="18" charset="-120"/>
              <a:cs typeface="新細明體" pitchFamily="18" charset="-120"/>
            </a:endParaRPr>
          </a:p>
        </p:txBody>
      </p:sp>
      <p:graphicFrame>
        <p:nvGraphicFramePr>
          <p:cNvPr id="3" name="表格 2"/>
          <p:cNvGraphicFramePr>
            <a:graphicFrameLocks noGrp="1"/>
          </p:cNvGraphicFramePr>
          <p:nvPr/>
        </p:nvGraphicFramePr>
        <p:xfrm>
          <a:off x="539553" y="1772816"/>
          <a:ext cx="8136904" cy="4032448"/>
        </p:xfrm>
        <a:graphic>
          <a:graphicData uri="http://schemas.openxmlformats.org/drawingml/2006/table">
            <a:tbl>
              <a:tblPr/>
              <a:tblGrid>
                <a:gridCol w="1080119">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gridCol w="1152129">
                  <a:extLst>
                    <a:ext uri="{9D8B030D-6E8A-4147-A177-3AD203B41FA5}">
                      <a16:colId xmlns:a16="http://schemas.microsoft.com/office/drawing/2014/main" val="20004"/>
                    </a:ext>
                  </a:extLst>
                </a:gridCol>
                <a:gridCol w="1368152">
                  <a:extLst>
                    <a:ext uri="{9D8B030D-6E8A-4147-A177-3AD203B41FA5}">
                      <a16:colId xmlns:a16="http://schemas.microsoft.com/office/drawing/2014/main" val="20005"/>
                    </a:ext>
                  </a:extLst>
                </a:gridCol>
                <a:gridCol w="1152128">
                  <a:extLst>
                    <a:ext uri="{9D8B030D-6E8A-4147-A177-3AD203B41FA5}">
                      <a16:colId xmlns:a16="http://schemas.microsoft.com/office/drawing/2014/main" val="20006"/>
                    </a:ext>
                  </a:extLst>
                </a:gridCol>
              </a:tblGrid>
              <a:tr h="1008112">
                <a:tc>
                  <a:txBody>
                    <a:bodyPr/>
                    <a:lstStyle/>
                    <a:p>
                      <a:pPr algn="just">
                        <a:lnSpc>
                          <a:spcPct val="150000"/>
                        </a:lnSpc>
                        <a:spcAft>
                          <a:spcPts val="0"/>
                        </a:spcAft>
                      </a:pPr>
                      <a:r>
                        <a:rPr lang="zh-TW" sz="2400" b="1" kern="0" dirty="0">
                          <a:solidFill>
                            <a:srgbClr val="000000"/>
                          </a:solidFill>
                          <a:effectLst/>
                          <a:latin typeface="Times New Roman"/>
                          <a:ea typeface="標楷體"/>
                          <a:cs typeface="新細明體"/>
                        </a:rPr>
                        <a:t>性別</a:t>
                      </a:r>
                      <a:endParaRPr lang="zh-TW" sz="2400" b="1" kern="100" dirty="0">
                        <a:effectLst/>
                        <a:latin typeface="Times New Roman"/>
                        <a:ea typeface="新細明體"/>
                        <a:cs typeface="Times New Roman"/>
                      </a:endParaRPr>
                    </a:p>
                  </a:txBody>
                  <a:tcPr marL="17780" marR="177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algn="ctr">
                        <a:lnSpc>
                          <a:spcPct val="150000"/>
                        </a:lnSpc>
                        <a:spcAft>
                          <a:spcPts val="0"/>
                        </a:spcAft>
                      </a:pPr>
                      <a:r>
                        <a:rPr lang="en-US" sz="2400" b="1" kern="0" dirty="0">
                          <a:solidFill>
                            <a:srgbClr val="000000"/>
                          </a:solidFill>
                          <a:effectLst/>
                          <a:latin typeface="標楷體"/>
                          <a:ea typeface="新細明體"/>
                          <a:cs typeface="新細明體"/>
                        </a:rPr>
                        <a:t>0-6</a:t>
                      </a:r>
                      <a:r>
                        <a:rPr lang="zh-TW" sz="2400" b="1" kern="0" dirty="0">
                          <a:solidFill>
                            <a:srgbClr val="000000"/>
                          </a:solidFill>
                          <a:effectLst/>
                          <a:latin typeface="Times New Roman"/>
                          <a:ea typeface="標楷體"/>
                          <a:cs typeface="新細明體"/>
                        </a:rPr>
                        <a:t>歲</a:t>
                      </a:r>
                      <a:endParaRPr lang="zh-TW" sz="2400" b="1" kern="100" dirty="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50000"/>
                        </a:lnSpc>
                        <a:spcAft>
                          <a:spcPts val="0"/>
                        </a:spcAft>
                      </a:pPr>
                      <a:r>
                        <a:rPr lang="zh-TW" altLang="en-US" sz="1600" b="1" kern="0" dirty="0">
                          <a:solidFill>
                            <a:srgbClr val="000000"/>
                          </a:solidFill>
                          <a:effectLst/>
                          <a:latin typeface="標楷體"/>
                          <a:ea typeface="新細明體"/>
                          <a:cs typeface="新細明體"/>
                        </a:rPr>
                        <a:t>未滿</a:t>
                      </a:r>
                      <a:r>
                        <a:rPr lang="en-US" sz="1600" b="1" kern="0" dirty="0">
                          <a:solidFill>
                            <a:srgbClr val="000000"/>
                          </a:solidFill>
                          <a:effectLst/>
                          <a:latin typeface="標楷體"/>
                          <a:ea typeface="新細明體"/>
                          <a:cs typeface="新細明體"/>
                        </a:rPr>
                        <a:t>7-12</a:t>
                      </a:r>
                      <a:r>
                        <a:rPr lang="zh-TW" sz="1600" b="1" kern="0" dirty="0">
                          <a:solidFill>
                            <a:srgbClr val="000000"/>
                          </a:solidFill>
                          <a:effectLst/>
                          <a:latin typeface="Times New Roman"/>
                          <a:ea typeface="標楷體"/>
                          <a:cs typeface="新細明體"/>
                        </a:rPr>
                        <a:t>歲</a:t>
                      </a:r>
                      <a:endParaRPr lang="zh-TW" sz="1600" b="1" kern="100" dirty="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50000"/>
                        </a:lnSpc>
                        <a:spcAft>
                          <a:spcPts val="0"/>
                        </a:spcAft>
                      </a:pPr>
                      <a:r>
                        <a:rPr lang="zh-TW" altLang="en-US" sz="1600" b="1" kern="0" dirty="0">
                          <a:solidFill>
                            <a:srgbClr val="000000"/>
                          </a:solidFill>
                          <a:effectLst/>
                          <a:latin typeface="標楷體"/>
                          <a:ea typeface="新細明體"/>
                          <a:cs typeface="Times New Roman"/>
                        </a:rPr>
                        <a:t>未滿</a:t>
                      </a:r>
                      <a:r>
                        <a:rPr lang="en-US" sz="1600" b="1" kern="0" dirty="0">
                          <a:solidFill>
                            <a:srgbClr val="000000"/>
                          </a:solidFill>
                          <a:effectLst/>
                          <a:latin typeface="標楷體"/>
                          <a:ea typeface="新細明體"/>
                          <a:cs typeface="Times New Roman"/>
                        </a:rPr>
                        <a:t>13-18</a:t>
                      </a:r>
                      <a:r>
                        <a:rPr lang="zh-TW" sz="1600" b="1" kern="0" dirty="0">
                          <a:solidFill>
                            <a:srgbClr val="000000"/>
                          </a:solidFill>
                          <a:effectLst/>
                          <a:latin typeface="Times New Roman"/>
                          <a:ea typeface="標楷體"/>
                          <a:cs typeface="Times New Roman"/>
                        </a:rPr>
                        <a:t>歲</a:t>
                      </a:r>
                      <a:endParaRPr lang="zh-TW" sz="1600" b="1" kern="100" dirty="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TW" altLang="en-US" sz="1600" b="1" kern="0" dirty="0">
                          <a:solidFill>
                            <a:srgbClr val="000000"/>
                          </a:solidFill>
                          <a:effectLst/>
                          <a:latin typeface="標楷體"/>
                          <a:ea typeface="新細明體"/>
                          <a:cs typeface="Times New Roman"/>
                        </a:rPr>
                        <a:t>未滿</a:t>
                      </a:r>
                      <a:r>
                        <a:rPr lang="en-US" sz="1600" b="1" kern="0" dirty="0">
                          <a:solidFill>
                            <a:srgbClr val="000000"/>
                          </a:solidFill>
                          <a:effectLst/>
                          <a:latin typeface="標楷體"/>
                          <a:ea typeface="新細明體"/>
                          <a:cs typeface="Times New Roman"/>
                        </a:rPr>
                        <a:t>19-</a:t>
                      </a:r>
                      <a:r>
                        <a:rPr lang="zh-TW" altLang="en-US" sz="1600" b="1" kern="0" dirty="0">
                          <a:solidFill>
                            <a:srgbClr val="000000"/>
                          </a:solidFill>
                          <a:effectLst/>
                          <a:latin typeface="標楷體"/>
                          <a:ea typeface="新細明體"/>
                          <a:cs typeface="Times New Roman"/>
                        </a:rPr>
                        <a:t>未滿</a:t>
                      </a:r>
                      <a:r>
                        <a:rPr lang="en-US" altLang="zh-TW" sz="1600" b="1" kern="0" dirty="0">
                          <a:solidFill>
                            <a:srgbClr val="000000"/>
                          </a:solidFill>
                          <a:effectLst/>
                          <a:latin typeface="標楷體"/>
                          <a:ea typeface="新細明體"/>
                          <a:cs typeface="Times New Roman"/>
                        </a:rPr>
                        <a:t>65</a:t>
                      </a:r>
                      <a:r>
                        <a:rPr lang="zh-TW" sz="1600" b="1" kern="0" dirty="0">
                          <a:solidFill>
                            <a:srgbClr val="000000"/>
                          </a:solidFill>
                          <a:effectLst/>
                          <a:latin typeface="Times New Roman"/>
                          <a:ea typeface="標楷體"/>
                          <a:cs typeface="Times New Roman"/>
                        </a:rPr>
                        <a:t>歲</a:t>
                      </a:r>
                      <a:endParaRPr lang="zh-TW" sz="1600" b="1" kern="100" dirty="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b="1" kern="0" dirty="0">
                          <a:solidFill>
                            <a:srgbClr val="000000"/>
                          </a:solidFill>
                          <a:effectLst/>
                          <a:latin typeface="標楷體"/>
                          <a:ea typeface="新細明體"/>
                          <a:cs typeface="Times New Roman"/>
                        </a:rPr>
                        <a:t>65</a:t>
                      </a:r>
                      <a:r>
                        <a:rPr lang="zh-TW" sz="2400" b="1" kern="0" dirty="0">
                          <a:solidFill>
                            <a:srgbClr val="000000"/>
                          </a:solidFill>
                          <a:effectLst/>
                          <a:latin typeface="Times New Roman"/>
                          <a:ea typeface="標楷體"/>
                          <a:cs typeface="Times New Roman"/>
                        </a:rPr>
                        <a:t>歲以上</a:t>
                      </a:r>
                      <a:endParaRPr lang="zh-TW" sz="2400" b="1" kern="100" dirty="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TW" sz="2400" b="1" kern="0" dirty="0">
                          <a:solidFill>
                            <a:srgbClr val="000000"/>
                          </a:solidFill>
                          <a:effectLst/>
                          <a:latin typeface="Times New Roman"/>
                          <a:ea typeface="標楷體"/>
                          <a:cs typeface="新細明體"/>
                        </a:rPr>
                        <a:t>合計</a:t>
                      </a:r>
                      <a:endParaRPr lang="zh-TW" sz="2400" b="1" kern="100" dirty="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08112">
                <a:tc>
                  <a:txBody>
                    <a:bodyPr/>
                    <a:lstStyle/>
                    <a:p>
                      <a:pPr algn="ctr">
                        <a:lnSpc>
                          <a:spcPct val="150000"/>
                        </a:lnSpc>
                        <a:spcAft>
                          <a:spcPts val="0"/>
                        </a:spcAft>
                      </a:pPr>
                      <a:r>
                        <a:rPr lang="zh-TW" sz="24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男</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1,086</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1,082</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1,324</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17,766</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11,238</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26,478</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8112">
                <a:tc>
                  <a:txBody>
                    <a:bodyPr/>
                    <a:lstStyle/>
                    <a:p>
                      <a:pPr algn="ctr">
                        <a:lnSpc>
                          <a:spcPct val="150000"/>
                        </a:lnSpc>
                        <a:spcAft>
                          <a:spcPts val="0"/>
                        </a:spcAft>
                      </a:pPr>
                      <a:r>
                        <a:rPr lang="zh-TW" sz="24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女</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967</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2400" b="1" kern="100" dirty="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1,076</a:t>
                      </a:r>
                      <a:endParaRPr lang="zh-TW" sz="24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1,260</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16,115</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6,018</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25,436</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08112">
                <a:tc>
                  <a:txBody>
                    <a:bodyPr/>
                    <a:lstStyle/>
                    <a:p>
                      <a:pPr algn="ctr">
                        <a:lnSpc>
                          <a:spcPct val="150000"/>
                        </a:lnSpc>
                        <a:spcAft>
                          <a:spcPts val="0"/>
                        </a:spcAft>
                      </a:pPr>
                      <a:r>
                        <a:rPr lang="zh-TW" sz="24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合計</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2,053</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2,158</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2,584</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33,881</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11,238</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b="1" kern="100" dirty="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51,914</a:t>
                      </a:r>
                      <a:endParaRPr lang="zh-TW" sz="24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18863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0"/>
            <a:ext cx="8382000" cy="563562"/>
          </a:xfrm>
        </p:spPr>
        <p:txBody>
          <a:bodyPr/>
          <a:lstStyle/>
          <a:p>
            <a:r>
              <a:rPr lang="en-US" altLang="zh-TW" sz="3200" dirty="0">
                <a:latin typeface="華康隸書體W7" panose="02010609010101010101" pitchFamily="49" charset="-120"/>
                <a:ea typeface="華康隸書體W7" panose="02010609010101010101" pitchFamily="49" charset="-120"/>
              </a:rPr>
              <a:t>2.</a:t>
            </a:r>
            <a:r>
              <a:rPr lang="zh-TW" altLang="en-US" sz="3200" dirty="0">
                <a:latin typeface="華康隸書體W7" panose="02010609010101010101" pitchFamily="49" charset="-120"/>
                <a:ea typeface="華康隸書體W7" panose="02010609010101010101" pitchFamily="49" charset="-120"/>
              </a:rPr>
              <a:t>旗艦社區人口各年齡層分析</a:t>
            </a:r>
            <a:endParaRPr lang="zh-TW" altLang="en-US" dirty="0">
              <a:latin typeface="華康隸書體W7" panose="02010609010101010101" pitchFamily="49" charset="-120"/>
              <a:ea typeface="華康隸書體W7" panose="02010609010101010101" pitchFamily="49" charset="-120"/>
            </a:endParaRPr>
          </a:p>
        </p:txBody>
      </p:sp>
      <p:graphicFrame>
        <p:nvGraphicFramePr>
          <p:cNvPr id="3" name="表格 2"/>
          <p:cNvGraphicFramePr>
            <a:graphicFrameLocks noGrp="1"/>
          </p:cNvGraphicFramePr>
          <p:nvPr/>
        </p:nvGraphicFramePr>
        <p:xfrm>
          <a:off x="467544" y="1484784"/>
          <a:ext cx="8352926" cy="4320479"/>
        </p:xfrm>
        <a:graphic>
          <a:graphicData uri="http://schemas.openxmlformats.org/drawingml/2006/table">
            <a:tbl>
              <a:tblPr firstRow="1" firstCol="1" bandRow="1"/>
              <a:tblGrid>
                <a:gridCol w="955391">
                  <a:extLst>
                    <a:ext uri="{9D8B030D-6E8A-4147-A177-3AD203B41FA5}">
                      <a16:colId xmlns:a16="http://schemas.microsoft.com/office/drawing/2014/main" val="20000"/>
                    </a:ext>
                  </a:extLst>
                </a:gridCol>
                <a:gridCol w="1348865">
                  <a:extLst>
                    <a:ext uri="{9D8B030D-6E8A-4147-A177-3AD203B41FA5}">
                      <a16:colId xmlns:a16="http://schemas.microsoft.com/office/drawing/2014/main" val="20001"/>
                    </a:ext>
                  </a:extLst>
                </a:gridCol>
                <a:gridCol w="1113770">
                  <a:extLst>
                    <a:ext uri="{9D8B030D-6E8A-4147-A177-3AD203B41FA5}">
                      <a16:colId xmlns:a16="http://schemas.microsoft.com/office/drawing/2014/main" val="20002"/>
                    </a:ext>
                  </a:extLst>
                </a:gridCol>
                <a:gridCol w="1233725">
                  <a:extLst>
                    <a:ext uri="{9D8B030D-6E8A-4147-A177-3AD203B41FA5}">
                      <a16:colId xmlns:a16="http://schemas.microsoft.com/office/drawing/2014/main" val="20003"/>
                    </a:ext>
                  </a:extLst>
                </a:gridCol>
                <a:gridCol w="1233725">
                  <a:extLst>
                    <a:ext uri="{9D8B030D-6E8A-4147-A177-3AD203B41FA5}">
                      <a16:colId xmlns:a16="http://schemas.microsoft.com/office/drawing/2014/main" val="20004"/>
                    </a:ext>
                  </a:extLst>
                </a:gridCol>
                <a:gridCol w="1233725">
                  <a:extLst>
                    <a:ext uri="{9D8B030D-6E8A-4147-A177-3AD203B41FA5}">
                      <a16:colId xmlns:a16="http://schemas.microsoft.com/office/drawing/2014/main" val="20005"/>
                    </a:ext>
                  </a:extLst>
                </a:gridCol>
                <a:gridCol w="1233725">
                  <a:extLst>
                    <a:ext uri="{9D8B030D-6E8A-4147-A177-3AD203B41FA5}">
                      <a16:colId xmlns:a16="http://schemas.microsoft.com/office/drawing/2014/main" val="20006"/>
                    </a:ext>
                  </a:extLst>
                </a:gridCol>
              </a:tblGrid>
              <a:tr h="1395311">
                <a:tc>
                  <a:txBody>
                    <a:bodyPr/>
                    <a:lstStyle/>
                    <a:p>
                      <a:pPr algn="ctr">
                        <a:lnSpc>
                          <a:spcPts val="2800"/>
                        </a:lnSpc>
                        <a:spcAft>
                          <a:spcPts val="0"/>
                        </a:spcAft>
                      </a:pPr>
                      <a:r>
                        <a:rPr lang="zh-TW" sz="2400" b="1" kern="0" dirty="0">
                          <a:solidFill>
                            <a:srgbClr val="000000"/>
                          </a:solidFill>
                          <a:effectLst/>
                          <a:latin typeface="Times New Roman"/>
                          <a:ea typeface="標楷體"/>
                          <a:cs typeface="新細明體"/>
                        </a:rPr>
                        <a:t>社區</a:t>
                      </a:r>
                      <a:endParaRPr lang="zh-TW" sz="2400" b="1" kern="100" dirty="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zh-TW" sz="2400" b="1" kern="0" dirty="0">
                          <a:solidFill>
                            <a:srgbClr val="000000"/>
                          </a:solidFill>
                          <a:effectLst/>
                          <a:latin typeface="Times New Roman"/>
                          <a:ea typeface="標楷體"/>
                          <a:cs typeface="新細明體"/>
                        </a:rPr>
                        <a:t>社區</a:t>
                      </a:r>
                      <a:endParaRPr lang="zh-TW" sz="2400" b="1" kern="100" dirty="0">
                        <a:effectLst/>
                        <a:latin typeface="Times New Roman"/>
                        <a:ea typeface="新細明體"/>
                        <a:cs typeface="Times New Roman"/>
                      </a:endParaRPr>
                    </a:p>
                    <a:p>
                      <a:pPr algn="ctr">
                        <a:lnSpc>
                          <a:spcPts val="2800"/>
                        </a:lnSpc>
                        <a:spcAft>
                          <a:spcPts val="0"/>
                        </a:spcAft>
                      </a:pPr>
                      <a:r>
                        <a:rPr lang="zh-TW" sz="2400" b="1" kern="0" dirty="0">
                          <a:solidFill>
                            <a:srgbClr val="000000"/>
                          </a:solidFill>
                          <a:effectLst/>
                          <a:latin typeface="Times New Roman"/>
                          <a:ea typeface="標楷體"/>
                          <a:cs typeface="新細明體"/>
                        </a:rPr>
                        <a:t>總人口數</a:t>
                      </a:r>
                      <a:endParaRPr lang="zh-TW" sz="2400" b="1" kern="100" dirty="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0">
                          <a:solidFill>
                            <a:srgbClr val="000000"/>
                          </a:solidFill>
                          <a:effectLst/>
                          <a:latin typeface="標楷體"/>
                          <a:ea typeface="新細明體"/>
                          <a:cs typeface="新細明體"/>
                        </a:rPr>
                        <a:t>0-6</a:t>
                      </a:r>
                      <a:r>
                        <a:rPr lang="zh-TW" sz="2400" b="1" kern="0">
                          <a:solidFill>
                            <a:srgbClr val="000000"/>
                          </a:solidFill>
                          <a:effectLst/>
                          <a:latin typeface="Times New Roman"/>
                          <a:ea typeface="標楷體"/>
                          <a:cs typeface="新細明體"/>
                        </a:rPr>
                        <a:t>歲</a:t>
                      </a:r>
                      <a:endParaRPr lang="zh-TW" sz="2400" b="1" kern="10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TW" altLang="en-US" sz="1600" b="1" kern="0" dirty="0">
                          <a:solidFill>
                            <a:srgbClr val="000000"/>
                          </a:solidFill>
                          <a:effectLst/>
                          <a:latin typeface="標楷體"/>
                          <a:ea typeface="新細明體"/>
                          <a:cs typeface="新細明體"/>
                        </a:rPr>
                        <a:t>未滿</a:t>
                      </a:r>
                      <a:r>
                        <a:rPr lang="en-US" sz="1600" b="1" kern="0" dirty="0">
                          <a:solidFill>
                            <a:srgbClr val="000000"/>
                          </a:solidFill>
                          <a:effectLst/>
                          <a:latin typeface="標楷體"/>
                          <a:ea typeface="新細明體"/>
                          <a:cs typeface="新細明體"/>
                        </a:rPr>
                        <a:t>7-12</a:t>
                      </a:r>
                      <a:r>
                        <a:rPr lang="zh-TW" sz="1600" b="1" kern="0" dirty="0">
                          <a:solidFill>
                            <a:srgbClr val="000000"/>
                          </a:solidFill>
                          <a:effectLst/>
                          <a:latin typeface="Times New Roman"/>
                          <a:ea typeface="標楷體"/>
                          <a:cs typeface="新細明體"/>
                        </a:rPr>
                        <a:t>歲</a:t>
                      </a:r>
                      <a:endParaRPr lang="zh-TW" sz="1600" b="1" kern="100" dirty="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TW" altLang="en-US" sz="1600" b="1" kern="0" dirty="0">
                          <a:solidFill>
                            <a:srgbClr val="000000"/>
                          </a:solidFill>
                          <a:effectLst/>
                          <a:latin typeface="標楷體"/>
                          <a:ea typeface="新細明體"/>
                          <a:cs typeface="Times New Roman"/>
                        </a:rPr>
                        <a:t>未滿</a:t>
                      </a:r>
                      <a:r>
                        <a:rPr lang="en-US" sz="1600" b="1" kern="0" dirty="0">
                          <a:solidFill>
                            <a:srgbClr val="000000"/>
                          </a:solidFill>
                          <a:effectLst/>
                          <a:latin typeface="標楷體"/>
                          <a:ea typeface="新細明體"/>
                          <a:cs typeface="Times New Roman"/>
                        </a:rPr>
                        <a:t>13-18</a:t>
                      </a:r>
                      <a:r>
                        <a:rPr lang="zh-TW" sz="1600" b="1" kern="0" dirty="0">
                          <a:solidFill>
                            <a:srgbClr val="000000"/>
                          </a:solidFill>
                          <a:effectLst/>
                          <a:latin typeface="Times New Roman"/>
                          <a:ea typeface="標楷體"/>
                          <a:cs typeface="Times New Roman"/>
                        </a:rPr>
                        <a:t>歲</a:t>
                      </a:r>
                      <a:endParaRPr lang="zh-TW" sz="1600" b="1" kern="100" dirty="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TW" altLang="en-US" sz="1600" b="1" kern="0" dirty="0">
                          <a:solidFill>
                            <a:srgbClr val="000000"/>
                          </a:solidFill>
                          <a:effectLst/>
                          <a:latin typeface="標楷體"/>
                          <a:ea typeface="新細明體"/>
                          <a:cs typeface="Times New Roman"/>
                        </a:rPr>
                        <a:t>未滿</a:t>
                      </a:r>
                      <a:r>
                        <a:rPr lang="en-US" sz="1600" b="1" kern="0" dirty="0">
                          <a:solidFill>
                            <a:srgbClr val="000000"/>
                          </a:solidFill>
                          <a:effectLst/>
                          <a:latin typeface="標楷體"/>
                          <a:ea typeface="新細明體"/>
                          <a:cs typeface="Times New Roman"/>
                        </a:rPr>
                        <a:t>19-</a:t>
                      </a:r>
                      <a:r>
                        <a:rPr lang="zh-TW" altLang="en-US" sz="1600" b="1" kern="0" dirty="0">
                          <a:solidFill>
                            <a:srgbClr val="000000"/>
                          </a:solidFill>
                          <a:effectLst/>
                          <a:latin typeface="標楷體"/>
                          <a:ea typeface="新細明體"/>
                          <a:cs typeface="Times New Roman"/>
                        </a:rPr>
                        <a:t>未滿</a:t>
                      </a:r>
                      <a:r>
                        <a:rPr lang="en-US" altLang="zh-TW" sz="1600" b="1" kern="0" dirty="0">
                          <a:solidFill>
                            <a:srgbClr val="000000"/>
                          </a:solidFill>
                          <a:effectLst/>
                          <a:latin typeface="標楷體"/>
                          <a:ea typeface="新細明體"/>
                          <a:cs typeface="Times New Roman"/>
                        </a:rPr>
                        <a:t>65</a:t>
                      </a:r>
                      <a:r>
                        <a:rPr lang="zh-TW" sz="1600" b="1" kern="0" dirty="0">
                          <a:solidFill>
                            <a:srgbClr val="000000"/>
                          </a:solidFill>
                          <a:effectLst/>
                          <a:latin typeface="Times New Roman"/>
                          <a:ea typeface="標楷體"/>
                          <a:cs typeface="Times New Roman"/>
                        </a:rPr>
                        <a:t>歲</a:t>
                      </a:r>
                      <a:endParaRPr lang="zh-TW" sz="1600" b="1" kern="100" dirty="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0" dirty="0">
                          <a:solidFill>
                            <a:srgbClr val="000000"/>
                          </a:solidFill>
                          <a:effectLst/>
                          <a:latin typeface="標楷體"/>
                          <a:ea typeface="新細明體"/>
                          <a:cs typeface="新細明體"/>
                        </a:rPr>
                        <a:t>65</a:t>
                      </a:r>
                      <a:r>
                        <a:rPr lang="zh-TW" sz="2400" b="1" kern="0" dirty="0">
                          <a:solidFill>
                            <a:srgbClr val="000000"/>
                          </a:solidFill>
                          <a:effectLst/>
                          <a:latin typeface="Times New Roman"/>
                          <a:ea typeface="標楷體"/>
                          <a:cs typeface="新細明體"/>
                        </a:rPr>
                        <a:t>歲</a:t>
                      </a:r>
                      <a:endParaRPr lang="en-US" altLang="zh-TW" sz="2400" b="1" kern="0" dirty="0">
                        <a:solidFill>
                          <a:srgbClr val="000000"/>
                        </a:solidFill>
                        <a:effectLst/>
                        <a:latin typeface="Times New Roman"/>
                        <a:ea typeface="標楷體"/>
                        <a:cs typeface="新細明體"/>
                      </a:endParaRPr>
                    </a:p>
                    <a:p>
                      <a:pPr algn="ctr">
                        <a:lnSpc>
                          <a:spcPts val="2800"/>
                        </a:lnSpc>
                        <a:spcAft>
                          <a:spcPts val="0"/>
                        </a:spcAft>
                      </a:pPr>
                      <a:r>
                        <a:rPr lang="zh-TW" sz="2400" b="1" kern="0" dirty="0">
                          <a:solidFill>
                            <a:srgbClr val="000000"/>
                          </a:solidFill>
                          <a:effectLst/>
                          <a:latin typeface="Times New Roman"/>
                          <a:ea typeface="標楷體"/>
                          <a:cs typeface="新細明體"/>
                        </a:rPr>
                        <a:t>以上</a:t>
                      </a:r>
                      <a:endParaRPr lang="zh-TW" sz="2400" b="1" kern="100" dirty="0">
                        <a:effectLst/>
                        <a:latin typeface="Times New Roman"/>
                        <a:ea typeface="新細明體"/>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2203">
                <a:tc>
                  <a:txBody>
                    <a:bodyPr/>
                    <a:lstStyle/>
                    <a:p>
                      <a:pPr algn="ctr">
                        <a:lnSpc>
                          <a:spcPts val="2800"/>
                        </a:lnSpc>
                        <a:spcAft>
                          <a:spcPts val="0"/>
                        </a:spcAft>
                      </a:pPr>
                      <a:r>
                        <a:rPr lang="zh-TW" sz="24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富州</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1D1B11"/>
                          </a:solidFill>
                          <a:effectLst/>
                          <a:latin typeface="標楷體" panose="03000509000000000000" pitchFamily="65" charset="-120"/>
                          <a:ea typeface="新細明體" panose="02020500000000000000" pitchFamily="18" charset="-120"/>
                          <a:cs typeface="Times New Roman" panose="02020603050405020304" pitchFamily="18" charset="0"/>
                        </a:rPr>
                        <a:t>629</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1D1B11"/>
                          </a:solidFill>
                          <a:effectLst/>
                          <a:latin typeface="標楷體" panose="03000509000000000000" pitchFamily="65" charset="-120"/>
                          <a:ea typeface="新細明體" panose="02020500000000000000" pitchFamily="18" charset="-120"/>
                          <a:cs typeface="Times New Roman" panose="02020603050405020304" pitchFamily="18" charset="0"/>
                        </a:rPr>
                        <a:t>12</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1D1B11"/>
                          </a:solidFill>
                          <a:effectLst/>
                          <a:latin typeface="標楷體" panose="03000509000000000000" pitchFamily="65" charset="-120"/>
                          <a:ea typeface="新細明體" panose="02020500000000000000" pitchFamily="18" charset="-120"/>
                          <a:cs typeface="Times New Roman" panose="02020603050405020304" pitchFamily="18" charset="0"/>
                        </a:rPr>
                        <a:t>17</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1D1B11"/>
                          </a:solidFill>
                          <a:effectLst/>
                          <a:latin typeface="標楷體" panose="03000509000000000000" pitchFamily="65" charset="-120"/>
                          <a:ea typeface="新細明體" panose="02020500000000000000" pitchFamily="18" charset="-120"/>
                          <a:cs typeface="Times New Roman" panose="02020603050405020304" pitchFamily="18" charset="0"/>
                        </a:rPr>
                        <a:t>28</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1D1B11"/>
                          </a:solidFill>
                          <a:effectLst/>
                          <a:latin typeface="標楷體" panose="03000509000000000000" pitchFamily="65" charset="-120"/>
                          <a:ea typeface="新細明體" panose="02020500000000000000" pitchFamily="18" charset="-120"/>
                          <a:cs typeface="Times New Roman" panose="02020603050405020304" pitchFamily="18" charset="0"/>
                        </a:rPr>
                        <a:t>389</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1D1B11"/>
                          </a:solidFill>
                          <a:effectLst/>
                          <a:latin typeface="標楷體" panose="03000509000000000000" pitchFamily="65" charset="-120"/>
                          <a:ea typeface="新細明體" panose="02020500000000000000" pitchFamily="18" charset="-120"/>
                          <a:cs typeface="Times New Roman" panose="02020603050405020304" pitchFamily="18" charset="0"/>
                        </a:rPr>
                        <a:t>183</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97655">
                <a:tc>
                  <a:txBody>
                    <a:bodyPr/>
                    <a:lstStyle/>
                    <a:p>
                      <a:pPr algn="ctr">
                        <a:lnSpc>
                          <a:spcPts val="2800"/>
                        </a:lnSpc>
                        <a:spcAft>
                          <a:spcPts val="0"/>
                        </a:spcAft>
                      </a:pPr>
                      <a:r>
                        <a:rPr lang="zh-TW" sz="24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中央</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1D1B11"/>
                          </a:solidFill>
                          <a:effectLst/>
                          <a:latin typeface="標楷體" panose="03000509000000000000" pitchFamily="65" charset="-120"/>
                          <a:ea typeface="新細明體" panose="02020500000000000000" pitchFamily="18" charset="-120"/>
                          <a:cs typeface="Times New Roman" panose="02020603050405020304" pitchFamily="18" charset="0"/>
                        </a:rPr>
                        <a:t>1,138</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1D1B11"/>
                          </a:solidFill>
                          <a:effectLst/>
                          <a:latin typeface="標楷體" panose="03000509000000000000" pitchFamily="65" charset="-120"/>
                          <a:ea typeface="新細明體" panose="02020500000000000000" pitchFamily="18" charset="-120"/>
                          <a:cs typeface="Times New Roman" panose="02020603050405020304" pitchFamily="18" charset="0"/>
                        </a:rPr>
                        <a:t>26</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1D1B11"/>
                          </a:solidFill>
                          <a:effectLst/>
                          <a:latin typeface="標楷體" panose="03000509000000000000" pitchFamily="65" charset="-120"/>
                          <a:ea typeface="新細明體" panose="02020500000000000000" pitchFamily="18" charset="-120"/>
                          <a:cs typeface="Times New Roman" panose="02020603050405020304" pitchFamily="18" charset="0"/>
                        </a:rPr>
                        <a:t>20</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1D1B11"/>
                          </a:solidFill>
                          <a:effectLst/>
                          <a:latin typeface="標楷體" panose="03000509000000000000" pitchFamily="65" charset="-120"/>
                          <a:ea typeface="新細明體" panose="02020500000000000000" pitchFamily="18" charset="-120"/>
                          <a:cs typeface="Times New Roman" panose="02020603050405020304" pitchFamily="18" charset="0"/>
                        </a:rPr>
                        <a:t>17</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1D1B11"/>
                          </a:solidFill>
                          <a:effectLst/>
                          <a:latin typeface="標楷體" panose="03000509000000000000" pitchFamily="65" charset="-120"/>
                          <a:ea typeface="新細明體" panose="02020500000000000000" pitchFamily="18" charset="-120"/>
                          <a:cs typeface="Times New Roman" panose="02020603050405020304" pitchFamily="18" charset="0"/>
                        </a:rPr>
                        <a:t>708</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1D1B11"/>
                          </a:solidFill>
                          <a:effectLst/>
                          <a:latin typeface="標楷體" panose="03000509000000000000" pitchFamily="65" charset="-120"/>
                          <a:ea typeface="新細明體" panose="02020500000000000000" pitchFamily="18" charset="-120"/>
                          <a:cs typeface="Times New Roman" panose="02020603050405020304" pitchFamily="18" charset="0"/>
                        </a:rPr>
                        <a:t>367</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97655">
                <a:tc>
                  <a:txBody>
                    <a:bodyPr/>
                    <a:lstStyle/>
                    <a:p>
                      <a:pPr algn="ctr">
                        <a:lnSpc>
                          <a:spcPts val="2800"/>
                        </a:lnSpc>
                        <a:spcAft>
                          <a:spcPts val="0"/>
                        </a:spcAft>
                      </a:pPr>
                      <a:r>
                        <a:rPr lang="zh-TW" sz="24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社寮</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1,501</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88</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86</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75</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1,002</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314</a:t>
                      </a:r>
                      <a:endParaRPr lang="zh-TW" sz="2400" b="1"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97655">
                <a:tc>
                  <a:txBody>
                    <a:bodyPr/>
                    <a:lstStyle/>
                    <a:p>
                      <a:pPr algn="ctr">
                        <a:lnSpc>
                          <a:spcPts val="2800"/>
                        </a:lnSpc>
                        <a:spcAft>
                          <a:spcPts val="0"/>
                        </a:spcAft>
                      </a:pPr>
                      <a:r>
                        <a:rPr lang="zh-TW" sz="2400" b="1" ker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山崇</a:t>
                      </a:r>
                      <a:endParaRPr lang="zh-TW" sz="2400" b="1"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2,100</a:t>
                      </a:r>
                      <a:endParaRPr lang="zh-TW" sz="2400" b="1"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120</a:t>
                      </a:r>
                      <a:endParaRPr lang="zh-TW" sz="2400" b="1"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80</a:t>
                      </a:r>
                      <a:endParaRPr lang="zh-TW" sz="2400" b="1"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105</a:t>
                      </a:r>
                      <a:endParaRPr lang="zh-TW" sz="2400" b="1"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1,250</a:t>
                      </a:r>
                      <a:endParaRPr lang="zh-TW" sz="2400" b="1"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400" b="1" kern="100" dirty="0">
                          <a:solidFill>
                            <a:srgbClr val="000000"/>
                          </a:solidFill>
                          <a:effectLst/>
                          <a:latin typeface="標楷體" panose="03000509000000000000" pitchFamily="65" charset="-120"/>
                          <a:ea typeface="新細明體" panose="02020500000000000000" pitchFamily="18" charset="-120"/>
                          <a:cs typeface="Times New Roman" panose="02020603050405020304" pitchFamily="18" charset="0"/>
                        </a:rPr>
                        <a:t>545</a:t>
                      </a:r>
                      <a:endParaRPr lang="zh-TW" sz="24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16623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3.</a:t>
            </a:r>
            <a:r>
              <a:rPr lang="zh-TW" altLang="en-US" dirty="0"/>
              <a:t>旗艦社區弱勢人口分析</a:t>
            </a:r>
          </a:p>
        </p:txBody>
      </p:sp>
      <p:graphicFrame>
        <p:nvGraphicFramePr>
          <p:cNvPr id="3" name="表格 2">
            <a:extLst>
              <a:ext uri="{FF2B5EF4-FFF2-40B4-BE49-F238E27FC236}">
                <a16:creationId xmlns:a16="http://schemas.microsoft.com/office/drawing/2014/main" id="{F108D401-84E0-42BD-81DD-74D0B7CD23CB}"/>
              </a:ext>
            </a:extLst>
          </p:cNvPr>
          <p:cNvGraphicFramePr>
            <a:graphicFrameLocks noGrp="1"/>
          </p:cNvGraphicFramePr>
          <p:nvPr>
            <p:extLst>
              <p:ext uri="{D42A27DB-BD31-4B8C-83A1-F6EECF244321}">
                <p14:modId xmlns:p14="http://schemas.microsoft.com/office/powerpoint/2010/main" val="1422772854"/>
              </p:ext>
            </p:extLst>
          </p:nvPr>
        </p:nvGraphicFramePr>
        <p:xfrm>
          <a:off x="304800" y="1340768"/>
          <a:ext cx="8381999" cy="4032448"/>
        </p:xfrm>
        <a:graphic>
          <a:graphicData uri="http://schemas.openxmlformats.org/drawingml/2006/table">
            <a:tbl>
              <a:tblPr firstRow="1" firstCol="1" bandRow="1"/>
              <a:tblGrid>
                <a:gridCol w="1194843">
                  <a:extLst>
                    <a:ext uri="{9D8B030D-6E8A-4147-A177-3AD203B41FA5}">
                      <a16:colId xmlns:a16="http://schemas.microsoft.com/office/drawing/2014/main" val="1308285652"/>
                    </a:ext>
                  </a:extLst>
                </a:gridCol>
                <a:gridCol w="755828">
                  <a:extLst>
                    <a:ext uri="{9D8B030D-6E8A-4147-A177-3AD203B41FA5}">
                      <a16:colId xmlns:a16="http://schemas.microsoft.com/office/drawing/2014/main" val="1405270062"/>
                    </a:ext>
                  </a:extLst>
                </a:gridCol>
                <a:gridCol w="769406">
                  <a:extLst>
                    <a:ext uri="{9D8B030D-6E8A-4147-A177-3AD203B41FA5}">
                      <a16:colId xmlns:a16="http://schemas.microsoft.com/office/drawing/2014/main" val="1647304317"/>
                    </a:ext>
                  </a:extLst>
                </a:gridCol>
                <a:gridCol w="1031909">
                  <a:extLst>
                    <a:ext uri="{9D8B030D-6E8A-4147-A177-3AD203B41FA5}">
                      <a16:colId xmlns:a16="http://schemas.microsoft.com/office/drawing/2014/main" val="2519597703"/>
                    </a:ext>
                  </a:extLst>
                </a:gridCol>
                <a:gridCol w="641775">
                  <a:extLst>
                    <a:ext uri="{9D8B030D-6E8A-4147-A177-3AD203B41FA5}">
                      <a16:colId xmlns:a16="http://schemas.microsoft.com/office/drawing/2014/main" val="3388730204"/>
                    </a:ext>
                  </a:extLst>
                </a:gridCol>
                <a:gridCol w="641775">
                  <a:extLst>
                    <a:ext uri="{9D8B030D-6E8A-4147-A177-3AD203B41FA5}">
                      <a16:colId xmlns:a16="http://schemas.microsoft.com/office/drawing/2014/main" val="4109807515"/>
                    </a:ext>
                  </a:extLst>
                </a:gridCol>
                <a:gridCol w="640870">
                  <a:extLst>
                    <a:ext uri="{9D8B030D-6E8A-4147-A177-3AD203B41FA5}">
                      <a16:colId xmlns:a16="http://schemas.microsoft.com/office/drawing/2014/main" val="2117055556"/>
                    </a:ext>
                  </a:extLst>
                </a:gridCol>
                <a:gridCol w="1031909">
                  <a:extLst>
                    <a:ext uri="{9D8B030D-6E8A-4147-A177-3AD203B41FA5}">
                      <a16:colId xmlns:a16="http://schemas.microsoft.com/office/drawing/2014/main" val="3976862430"/>
                    </a:ext>
                  </a:extLst>
                </a:gridCol>
                <a:gridCol w="641775">
                  <a:extLst>
                    <a:ext uri="{9D8B030D-6E8A-4147-A177-3AD203B41FA5}">
                      <a16:colId xmlns:a16="http://schemas.microsoft.com/office/drawing/2014/main" val="304628406"/>
                    </a:ext>
                  </a:extLst>
                </a:gridCol>
                <a:gridCol w="1031909">
                  <a:extLst>
                    <a:ext uri="{9D8B030D-6E8A-4147-A177-3AD203B41FA5}">
                      <a16:colId xmlns:a16="http://schemas.microsoft.com/office/drawing/2014/main" val="1875090025"/>
                    </a:ext>
                  </a:extLst>
                </a:gridCol>
              </a:tblGrid>
              <a:tr h="977563">
                <a:tc>
                  <a:txBody>
                    <a:bodyPr/>
                    <a:lstStyle/>
                    <a:p>
                      <a:pPr algn="l">
                        <a:spcAft>
                          <a:spcPts val="0"/>
                        </a:spcAft>
                      </a:pPr>
                      <a:r>
                        <a:rPr lang="en-US" sz="1800" b="1" kern="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112</a:t>
                      </a:r>
                      <a:r>
                        <a:rPr lang="zh-TW" sz="18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年度</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低收入戶</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中低收入戶</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中低收入老人</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獨居老人</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兒少補助</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特境家庭</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身障補助</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合計</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佔各社區百分比</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1875857"/>
                  </a:ext>
                </a:extLst>
              </a:tr>
              <a:tr h="610977">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富州社區</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3</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11</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11</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24</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0</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9</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59</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9.4</a:t>
                      </a:r>
                      <a:r>
                        <a:rPr lang="zh-TW" sz="1800" b="1" kern="10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447623"/>
                  </a:ext>
                </a:extLst>
              </a:tr>
              <a:tr h="610977">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中央社區</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9</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16</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19</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51</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3</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2</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25</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125</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11</a:t>
                      </a:r>
                      <a:r>
                        <a:rPr lang="zh-TW" sz="1800" b="1" kern="10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3694548"/>
                  </a:ext>
                </a:extLst>
              </a:tr>
              <a:tr h="610977">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社寮社區</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4</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9</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14</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31</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0</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solidFill>
                            <a:schemeClr val="bg2">
                              <a:lumMod val="10000"/>
                            </a:schemeClr>
                          </a:solidFill>
                          <a:effectLst/>
                          <a:latin typeface="標楷體" panose="03000509000000000000" pitchFamily="65" charset="-120"/>
                          <a:ea typeface="新細明體" panose="02020500000000000000" pitchFamily="18" charset="-120"/>
                          <a:cs typeface="Times New Roman" panose="02020603050405020304" pitchFamily="18" charset="0"/>
                        </a:rPr>
                        <a:t>19</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78</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5.2</a:t>
                      </a:r>
                      <a:r>
                        <a:rPr lang="zh-TW" sz="1800" b="1" kern="10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6223747"/>
                  </a:ext>
                </a:extLst>
              </a:tr>
              <a:tr h="610977">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山崇社區</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5</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25</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23</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40</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5</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0</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solidFill>
                            <a:schemeClr val="bg2">
                              <a:lumMod val="10000"/>
                            </a:schemeClr>
                          </a:solidFill>
                          <a:effectLst/>
                          <a:latin typeface="標楷體" panose="03000509000000000000" pitchFamily="65" charset="-120"/>
                          <a:ea typeface="新細明體" panose="02020500000000000000" pitchFamily="18" charset="-120"/>
                          <a:cs typeface="Times New Roman" panose="02020603050405020304" pitchFamily="18" charset="0"/>
                        </a:rPr>
                        <a:t>58</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156</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7.4</a:t>
                      </a:r>
                      <a:r>
                        <a:rPr lang="zh-TW" sz="1800" b="1" kern="10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850699"/>
                  </a:ext>
                </a:extLst>
              </a:tr>
              <a:tr h="610977">
                <a:tc>
                  <a:txBody>
                    <a:bodyPr/>
                    <a:lstStyle/>
                    <a:p>
                      <a:pPr algn="l">
                        <a:spcAft>
                          <a:spcPts val="0"/>
                        </a:spcAft>
                      </a:pPr>
                      <a:r>
                        <a:rPr lang="zh-TW" sz="18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合計</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21</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61</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67</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146</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8</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4</a:t>
                      </a:r>
                      <a:endParaRPr lang="zh-TW" sz="18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solidFill>
                            <a:schemeClr val="bg2">
                              <a:lumMod val="10000"/>
                            </a:schemeClr>
                          </a:solidFill>
                          <a:effectLst/>
                          <a:latin typeface="標楷體" panose="03000509000000000000" pitchFamily="65" charset="-120"/>
                          <a:ea typeface="新細明體" panose="02020500000000000000" pitchFamily="18" charset="-120"/>
                          <a:cs typeface="Times New Roman" panose="02020603050405020304" pitchFamily="18" charset="0"/>
                        </a:rPr>
                        <a:t>111</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418</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8098395"/>
                  </a:ext>
                </a:extLst>
              </a:tr>
            </a:tbl>
          </a:graphicData>
        </a:graphic>
      </p:graphicFrame>
    </p:spTree>
    <p:extLst>
      <p:ext uri="{BB962C8B-B14F-4D97-AF65-F5344CB8AC3E}">
        <p14:creationId xmlns:p14="http://schemas.microsoft.com/office/powerpoint/2010/main" val="936077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4.</a:t>
            </a:r>
            <a:r>
              <a:rPr lang="zh-TW" altLang="en-US" dirty="0"/>
              <a:t>旗艦社區新住民人口分析</a:t>
            </a:r>
          </a:p>
        </p:txBody>
      </p:sp>
      <p:graphicFrame>
        <p:nvGraphicFramePr>
          <p:cNvPr id="4" name="表格 3">
            <a:extLst>
              <a:ext uri="{FF2B5EF4-FFF2-40B4-BE49-F238E27FC236}">
                <a16:creationId xmlns:a16="http://schemas.microsoft.com/office/drawing/2014/main" id="{5401B56A-2CDA-4B0D-8A9A-2C315455AB59}"/>
              </a:ext>
            </a:extLst>
          </p:cNvPr>
          <p:cNvGraphicFramePr>
            <a:graphicFrameLocks noGrp="1"/>
          </p:cNvGraphicFramePr>
          <p:nvPr>
            <p:extLst>
              <p:ext uri="{D42A27DB-BD31-4B8C-83A1-F6EECF244321}">
                <p14:modId xmlns:p14="http://schemas.microsoft.com/office/powerpoint/2010/main" val="2494382944"/>
              </p:ext>
            </p:extLst>
          </p:nvPr>
        </p:nvGraphicFramePr>
        <p:xfrm>
          <a:off x="1331640" y="1556792"/>
          <a:ext cx="6408711" cy="3096346"/>
        </p:xfrm>
        <a:graphic>
          <a:graphicData uri="http://schemas.openxmlformats.org/drawingml/2006/table">
            <a:tbl>
              <a:tblPr firstRow="1" firstCol="1" bandRow="1"/>
              <a:tblGrid>
                <a:gridCol w="1711673">
                  <a:extLst>
                    <a:ext uri="{9D8B030D-6E8A-4147-A177-3AD203B41FA5}">
                      <a16:colId xmlns:a16="http://schemas.microsoft.com/office/drawing/2014/main" val="372352146"/>
                    </a:ext>
                  </a:extLst>
                </a:gridCol>
                <a:gridCol w="2348519">
                  <a:extLst>
                    <a:ext uri="{9D8B030D-6E8A-4147-A177-3AD203B41FA5}">
                      <a16:colId xmlns:a16="http://schemas.microsoft.com/office/drawing/2014/main" val="587714792"/>
                    </a:ext>
                  </a:extLst>
                </a:gridCol>
                <a:gridCol w="2348519">
                  <a:extLst>
                    <a:ext uri="{9D8B030D-6E8A-4147-A177-3AD203B41FA5}">
                      <a16:colId xmlns:a16="http://schemas.microsoft.com/office/drawing/2014/main" val="2763557336"/>
                    </a:ext>
                  </a:extLst>
                </a:gridCol>
              </a:tblGrid>
              <a:tr h="574869">
                <a:tc>
                  <a:txBody>
                    <a:bodyPr/>
                    <a:lstStyle/>
                    <a:p>
                      <a:pPr algn="ctr">
                        <a:lnSpc>
                          <a:spcPts val="2800"/>
                        </a:lnSpc>
                        <a:spcAft>
                          <a:spcPts val="0"/>
                        </a:spcAft>
                      </a:pPr>
                      <a:r>
                        <a:rPr lang="zh-TW" sz="20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社區</a:t>
                      </a:r>
                      <a:endParaRPr lang="zh-TW" sz="20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zh-TW" sz="20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新住民人數</a:t>
                      </a:r>
                      <a:endParaRPr lang="zh-TW" sz="20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zh-TW" sz="20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原住民</a:t>
                      </a:r>
                      <a:endParaRPr lang="zh-TW" sz="20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7777763"/>
                  </a:ext>
                </a:extLst>
              </a:tr>
              <a:tr h="796870">
                <a:tc>
                  <a:txBody>
                    <a:bodyPr/>
                    <a:lstStyle/>
                    <a:p>
                      <a:pPr algn="ctr">
                        <a:lnSpc>
                          <a:spcPts val="2800"/>
                        </a:lnSpc>
                        <a:spcAft>
                          <a:spcPts val="0"/>
                        </a:spcAft>
                      </a:pPr>
                      <a:r>
                        <a:rPr lang="zh-TW" sz="20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富州</a:t>
                      </a:r>
                      <a:endParaRPr lang="zh-TW" sz="20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000" b="1" kern="10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10</a:t>
                      </a:r>
                      <a:endParaRPr lang="zh-TW" sz="20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000" b="1" kern="10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a:t>
                      </a:r>
                      <a:endParaRPr lang="zh-TW" sz="20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8557279"/>
                  </a:ext>
                </a:extLst>
              </a:tr>
              <a:tr h="574869">
                <a:tc>
                  <a:txBody>
                    <a:bodyPr/>
                    <a:lstStyle/>
                    <a:p>
                      <a:pPr algn="ctr">
                        <a:lnSpc>
                          <a:spcPts val="2800"/>
                        </a:lnSpc>
                        <a:spcAft>
                          <a:spcPts val="0"/>
                        </a:spcAft>
                      </a:pPr>
                      <a:r>
                        <a:rPr lang="zh-TW" sz="20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中央</a:t>
                      </a:r>
                      <a:endParaRPr lang="zh-TW" sz="20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000" b="1" kern="10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12</a:t>
                      </a:r>
                      <a:endParaRPr lang="zh-TW" sz="20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000" b="1" kern="10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9</a:t>
                      </a:r>
                      <a:endParaRPr lang="zh-TW" sz="20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9251489"/>
                  </a:ext>
                </a:extLst>
              </a:tr>
              <a:tr h="574869">
                <a:tc>
                  <a:txBody>
                    <a:bodyPr/>
                    <a:lstStyle/>
                    <a:p>
                      <a:pPr algn="ctr">
                        <a:lnSpc>
                          <a:spcPts val="2800"/>
                        </a:lnSpc>
                        <a:spcAft>
                          <a:spcPts val="0"/>
                        </a:spcAft>
                      </a:pPr>
                      <a:r>
                        <a:rPr lang="zh-TW" sz="20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社寮</a:t>
                      </a:r>
                      <a:endParaRPr lang="zh-TW" sz="20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000" b="1" kern="10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18</a:t>
                      </a:r>
                      <a:endParaRPr lang="zh-TW" sz="20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000" b="1" kern="100" dirty="0">
                          <a:solidFill>
                            <a:schemeClr val="bg2">
                              <a:lumMod val="10000"/>
                            </a:schemeClr>
                          </a:solidFill>
                          <a:effectLst/>
                          <a:latin typeface="標楷體" panose="03000509000000000000" pitchFamily="65" charset="-120"/>
                          <a:ea typeface="新細明體" panose="02020500000000000000" pitchFamily="18" charset="-120"/>
                          <a:cs typeface="新細明體" panose="02020500000000000000" pitchFamily="18" charset="-120"/>
                        </a:rPr>
                        <a:t>3</a:t>
                      </a:r>
                      <a:endParaRPr lang="zh-TW" sz="20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9876740"/>
                  </a:ext>
                </a:extLst>
              </a:tr>
              <a:tr h="574869">
                <a:tc>
                  <a:txBody>
                    <a:bodyPr/>
                    <a:lstStyle/>
                    <a:p>
                      <a:pPr algn="ctr">
                        <a:lnSpc>
                          <a:spcPts val="2800"/>
                        </a:lnSpc>
                        <a:spcAft>
                          <a:spcPts val="0"/>
                        </a:spcAft>
                      </a:pPr>
                      <a:r>
                        <a:rPr lang="zh-TW" sz="20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山崇</a:t>
                      </a:r>
                      <a:endParaRPr lang="zh-TW" sz="20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000" b="1" kern="100">
                          <a:solidFill>
                            <a:schemeClr val="bg2">
                              <a:lumMod val="10000"/>
                            </a:schemeClr>
                          </a:solidFill>
                          <a:effectLst/>
                          <a:latin typeface="標楷體" panose="03000509000000000000" pitchFamily="65" charset="-120"/>
                          <a:ea typeface="新細明體" panose="02020500000000000000" pitchFamily="18" charset="-120"/>
                          <a:cs typeface="Times New Roman" panose="02020603050405020304" pitchFamily="18" charset="0"/>
                        </a:rPr>
                        <a:t>24</a:t>
                      </a:r>
                      <a:endParaRPr lang="zh-TW" sz="20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800"/>
                        </a:lnSpc>
                        <a:spcAft>
                          <a:spcPts val="0"/>
                        </a:spcAft>
                      </a:pPr>
                      <a:r>
                        <a:rPr lang="en-US" sz="2000" b="1" kern="100" dirty="0">
                          <a:solidFill>
                            <a:schemeClr val="bg2">
                              <a:lumMod val="10000"/>
                            </a:schemeClr>
                          </a:solidFill>
                          <a:effectLst/>
                          <a:latin typeface="標楷體" panose="03000509000000000000" pitchFamily="65" charset="-120"/>
                          <a:ea typeface="新細明體" panose="02020500000000000000" pitchFamily="18" charset="-120"/>
                          <a:cs typeface="Times New Roman" panose="02020603050405020304" pitchFamily="18" charset="0"/>
                        </a:rPr>
                        <a:t>6</a:t>
                      </a:r>
                      <a:endParaRPr lang="zh-TW" sz="20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2349162"/>
                  </a:ext>
                </a:extLst>
              </a:tr>
            </a:tbl>
          </a:graphicData>
        </a:graphic>
      </p:graphicFrame>
    </p:spTree>
    <p:extLst>
      <p:ext uri="{BB962C8B-B14F-4D97-AF65-F5344CB8AC3E}">
        <p14:creationId xmlns:p14="http://schemas.microsoft.com/office/powerpoint/2010/main" val="1510150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600" dirty="0">
                <a:solidFill>
                  <a:srgbClr val="FFFFFF"/>
                </a:solidFill>
                <a:latin typeface="標楷體" pitchFamily="65" charset="-120"/>
                <a:ea typeface="標楷體" pitchFamily="65" charset="-120"/>
              </a:rPr>
              <a:t>四、計畫六年推動目標及步驟</a:t>
            </a:r>
            <a:endParaRPr lang="zh-TW" altLang="en-US" sz="3600" dirty="0">
              <a:latin typeface="標楷體" pitchFamily="65" charset="-120"/>
              <a:ea typeface="標楷體" pitchFamily="65" charset="-120"/>
            </a:endParaRPr>
          </a:p>
        </p:txBody>
      </p:sp>
      <p:sp>
        <p:nvSpPr>
          <p:cNvPr id="6" name="矩形 5"/>
          <p:cNvSpPr/>
          <p:nvPr/>
        </p:nvSpPr>
        <p:spPr>
          <a:xfrm>
            <a:off x="251520" y="980729"/>
            <a:ext cx="8640960" cy="461665"/>
          </a:xfrm>
          <a:prstGeom prst="rect">
            <a:avLst/>
          </a:prstGeom>
        </p:spPr>
        <p:txBody>
          <a:bodyPr wrap="square">
            <a:spAutoFit/>
          </a:bodyPr>
          <a:lstStyle/>
          <a:p>
            <a:pPr marL="0" marR="0" lvl="0" indent="0" algn="l" defTabSz="914400" rtl="0" eaLnBrk="0" fontAlgn="base" latinLnBrk="0" hangingPunct="0">
              <a:lnSpc>
                <a:spcPct val="100000"/>
              </a:lnSpc>
              <a:spcBef>
                <a:spcPts val="300"/>
              </a:spcBef>
              <a:spcAft>
                <a:spcPts val="300"/>
              </a:spcAft>
              <a:buClr>
                <a:srgbClr val="69AAB1"/>
              </a:buClr>
              <a:buSzTx/>
              <a:buFontTx/>
              <a:buNone/>
              <a:tabLst/>
              <a:defRPr/>
            </a:pPr>
            <a:r>
              <a:rPr kumimoji="0" lang="en-US" altLang="zh-TW" sz="2400" b="1" i="0" u="none" strike="noStrike" kern="2600" cap="none" spc="0" normalizeH="0" baseline="0" noProof="0" dirty="0">
                <a:ln>
                  <a:noFill/>
                </a:ln>
                <a:solidFill>
                  <a:srgbClr val="024631"/>
                </a:solidFill>
                <a:effectLst/>
                <a:uLnTx/>
                <a:uFillTx/>
                <a:latin typeface="標楷體"/>
                <a:ea typeface="超研澤粗楷"/>
                <a:cs typeface="+mn-cs"/>
              </a:rPr>
              <a:t>(</a:t>
            </a:r>
            <a:r>
              <a:rPr kumimoji="0" lang="zh-TW" altLang="zh-TW" sz="2400" b="1" i="0" u="none" strike="noStrike" kern="2600" cap="none" spc="0" normalizeH="0" baseline="0" noProof="0" dirty="0">
                <a:ln>
                  <a:noFill/>
                </a:ln>
                <a:solidFill>
                  <a:srgbClr val="024631"/>
                </a:solidFill>
                <a:effectLst/>
                <a:uLnTx/>
                <a:uFillTx/>
                <a:latin typeface="Times New Roman"/>
                <a:ea typeface="標楷體"/>
                <a:cs typeface="+mn-cs"/>
              </a:rPr>
              <a:t>一</a:t>
            </a:r>
            <a:r>
              <a:rPr kumimoji="0" lang="en-US" altLang="zh-TW" sz="2400" b="1" i="0" u="none" strike="noStrike" kern="2600" cap="none" spc="0" normalizeH="0" baseline="0" noProof="0" dirty="0">
                <a:ln>
                  <a:noFill/>
                </a:ln>
                <a:solidFill>
                  <a:srgbClr val="024631"/>
                </a:solidFill>
                <a:effectLst/>
                <a:uLnTx/>
                <a:uFillTx/>
                <a:latin typeface="Times New Roman"/>
                <a:ea typeface="標楷體"/>
                <a:cs typeface="+mn-cs"/>
              </a:rPr>
              <a:t>)</a:t>
            </a:r>
            <a:r>
              <a:rPr kumimoji="0" lang="zh-TW" altLang="en-US" sz="2400" b="1" i="0" u="none" strike="noStrike" kern="2600" cap="none" spc="0" normalizeH="0" baseline="0" noProof="0" dirty="0">
                <a:ln>
                  <a:noFill/>
                </a:ln>
                <a:solidFill>
                  <a:srgbClr val="024631"/>
                </a:solidFill>
                <a:effectLst/>
                <a:uLnTx/>
                <a:uFillTx/>
                <a:latin typeface="Times New Roman"/>
                <a:ea typeface="標楷體"/>
                <a:cs typeface="+mn-cs"/>
              </a:rPr>
              <a:t> 第一年：</a:t>
            </a:r>
            <a:r>
              <a:rPr kumimoji="0" lang="zh-TW" altLang="en-US" sz="2400" b="1" i="0" u="none" strike="noStrike" kern="2600" cap="none" spc="0" normalizeH="0" baseline="0" noProof="0" dirty="0">
                <a:ln>
                  <a:noFill/>
                </a:ln>
                <a:solidFill>
                  <a:srgbClr val="FF0000"/>
                </a:solidFill>
                <a:effectLst/>
                <a:uLnTx/>
                <a:uFillTx/>
                <a:latin typeface="Times New Roman"/>
                <a:ea typeface="標楷體"/>
                <a:cs typeface="+mn-cs"/>
              </a:rPr>
              <a:t>社區幹部培力、種子師資及志工人力資源開發：</a:t>
            </a:r>
          </a:p>
        </p:txBody>
      </p:sp>
      <p:sp>
        <p:nvSpPr>
          <p:cNvPr id="7" name="矩形 6"/>
          <p:cNvSpPr/>
          <p:nvPr/>
        </p:nvSpPr>
        <p:spPr>
          <a:xfrm>
            <a:off x="323528" y="1556792"/>
            <a:ext cx="8712968" cy="3739485"/>
          </a:xfrm>
          <a:prstGeom prst="rect">
            <a:avLst/>
          </a:prstGeom>
        </p:spPr>
        <p:txBody>
          <a:bodyPr wrap="square">
            <a:spAutoFit/>
          </a:bodyPr>
          <a:lstStyle/>
          <a:p>
            <a:pPr marL="265113" marR="0" lvl="0" indent="-265113" algn="l" defTabSz="914400" rtl="0" eaLnBrk="1" fontAlgn="auto" latinLnBrk="0" hangingPunct="1">
              <a:lnSpc>
                <a:spcPct val="150000"/>
              </a:lnSpc>
              <a:spcBef>
                <a:spcPts val="0"/>
              </a:spcBef>
              <a:spcAft>
                <a:spcPts val="0"/>
              </a:spcAft>
              <a:buClrTx/>
              <a:buSzTx/>
              <a:buFontTx/>
              <a:buNone/>
              <a:tabLst/>
              <a:defRPr/>
            </a:pPr>
            <a:r>
              <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1.</a:t>
            </a:r>
            <a:r>
              <a:rPr kumimoji="0" lang="zh-TW"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每月辦理旗艦計畫聯繫會議，透過專家學者的指導，增進社區實務推動的</a:t>
            </a:r>
            <a:r>
              <a:rPr kumimoji="0" lang="zh-TW" altLang="en-US"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能力。</a:t>
            </a:r>
            <a:endPar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endParaRPr>
          </a:p>
          <a:p>
            <a:pPr marL="808990" marR="0" lvl="0" indent="-808990" algn="l" defTabSz="914400" rtl="0" eaLnBrk="1" fontAlgn="auto" latinLnBrk="0" hangingPunct="1">
              <a:lnSpc>
                <a:spcPct val="150000"/>
              </a:lnSpc>
              <a:spcBef>
                <a:spcPts val="0"/>
              </a:spcBef>
              <a:spcAft>
                <a:spcPts val="0"/>
              </a:spcAft>
              <a:buClrTx/>
              <a:buSzTx/>
              <a:buFontTx/>
              <a:buNone/>
              <a:tabLst/>
              <a:defRPr/>
            </a:pPr>
            <a:r>
              <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2.</a:t>
            </a:r>
            <a:r>
              <a:rPr kumimoji="0" lang="zh-TW"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建立社區幹部對文書資料建檔及計畫撰寫能力，提升</a:t>
            </a:r>
            <a:r>
              <a:rPr kumimoji="0" lang="zh-TW" altLang="en-US"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社區發展工作能量。</a:t>
            </a:r>
          </a:p>
          <a:p>
            <a:pPr marL="808990" marR="0" lvl="0" indent="-808990" algn="l" defTabSz="914400" rtl="0" eaLnBrk="1" fontAlgn="auto" latinLnBrk="0" hangingPunct="1">
              <a:lnSpc>
                <a:spcPct val="15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rPr>
              <a:t>3.</a:t>
            </a:r>
            <a:r>
              <a:rPr kumimoji="0" lang="zh-TW" altLang="zh-TW" sz="20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rPr>
              <a:t>辦理種子師資培訓，</a:t>
            </a:r>
            <a:r>
              <a:rPr kumimoji="0" lang="zh-TW" altLang="en-US" sz="20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rPr>
              <a:t>使</a:t>
            </a:r>
            <a:r>
              <a:rPr kumimoji="0" lang="zh-TW" altLang="zh-TW" sz="20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rPr>
              <a:t>志工成為種子老師</a:t>
            </a:r>
            <a:r>
              <a:rPr kumimoji="0" lang="zh-TW" altLang="en-US" sz="20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rPr>
              <a:t>，學習多元化創新照顧服務方案。</a:t>
            </a:r>
            <a:endParaRPr kumimoji="0" lang="en-US" altLang="zh-TW" sz="20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endParaRPr>
          </a:p>
          <a:p>
            <a:pPr marL="808990" marR="0" lvl="0" indent="-808990" algn="l" defTabSz="914400" rtl="0" eaLnBrk="1" fontAlgn="auto" latinLnBrk="0" hangingPunct="1">
              <a:lnSpc>
                <a:spcPct val="150000"/>
              </a:lnSpc>
              <a:spcBef>
                <a:spcPts val="0"/>
              </a:spcBef>
              <a:spcAft>
                <a:spcPts val="0"/>
              </a:spcAft>
              <a:buClrTx/>
              <a:buSzTx/>
              <a:buFontTx/>
              <a:buNone/>
              <a:tabLst/>
              <a:defRPr/>
            </a:pPr>
            <a:r>
              <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4.</a:t>
            </a:r>
            <a:r>
              <a:rPr kumimoji="0" lang="zh-TW" altLang="en-US"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提供小旗艦社區低收、邊緣、中低收入、獨居長輩居家安全環境設施設備。</a:t>
            </a:r>
            <a:endPar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endParaRPr>
          </a:p>
          <a:p>
            <a:pPr marL="808990" marR="0" lvl="0" indent="-808990" algn="l" defTabSz="914400" rtl="0" eaLnBrk="1" fontAlgn="auto" latinLnBrk="0" hangingPunct="1">
              <a:lnSpc>
                <a:spcPct val="150000"/>
              </a:lnSpc>
              <a:spcBef>
                <a:spcPts val="0"/>
              </a:spcBef>
              <a:spcAft>
                <a:spcPts val="0"/>
              </a:spcAft>
              <a:buClrTx/>
              <a:buSzTx/>
              <a:buFontTx/>
              <a:buNone/>
              <a:tabLst/>
              <a:defRPr/>
            </a:pPr>
            <a:r>
              <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5.</a:t>
            </a:r>
            <a:r>
              <a:rPr kumimoji="0" lang="zh-TW" altLang="en-US"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積極輔導社區婦女與新住民推展共同學習活動。</a:t>
            </a:r>
            <a:endPar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endParaRPr>
          </a:p>
          <a:p>
            <a:pPr marL="808990" marR="0" lvl="0" indent="-808990" algn="l" defTabSz="914400" rtl="0" eaLnBrk="1" fontAlgn="auto" latinLnBrk="0" hangingPunct="1">
              <a:lnSpc>
                <a:spcPct val="150000"/>
              </a:lnSpc>
              <a:spcBef>
                <a:spcPts val="0"/>
              </a:spcBef>
              <a:spcAft>
                <a:spcPts val="0"/>
              </a:spcAft>
              <a:buClrTx/>
              <a:buSzTx/>
              <a:buFontTx/>
              <a:buNone/>
              <a:tabLst/>
              <a:defRPr/>
            </a:pPr>
            <a:r>
              <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6.</a:t>
            </a:r>
            <a:r>
              <a:rPr kumimoji="0" lang="zh-TW" altLang="en-US"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改善脆弱家庭及家庭功能失調的兒少，社區關懷陪伴。</a:t>
            </a:r>
            <a:endParaRPr kumimoji="0" lang="zh-TW"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endParaRPr>
          </a:p>
          <a:p>
            <a:pPr marL="4572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sz="1800" b="0" i="0" u="none" strike="noStrike" kern="100" cap="none" spc="0" normalizeH="0" baseline="0" noProof="0" dirty="0">
                <a:ln>
                  <a:noFill/>
                </a:ln>
                <a:solidFill>
                  <a:srgbClr val="000000"/>
                </a:solidFill>
                <a:effectLst/>
                <a:uLnTx/>
                <a:uFillTx/>
                <a:latin typeface="標楷體"/>
                <a:ea typeface="新細明體"/>
                <a:cs typeface="+mn-cs"/>
              </a:rPr>
              <a:t>    </a:t>
            </a:r>
            <a:endParaRPr kumimoji="0" lang="zh-TW" altLang="zh-TW" sz="1600" b="0" i="0" u="none" strike="noStrike" kern="100" cap="none" spc="0" normalizeH="0" baseline="0" noProof="0" dirty="0">
              <a:ln>
                <a:noFill/>
              </a:ln>
              <a:solidFill>
                <a:srgbClr val="024631"/>
              </a:solidFill>
              <a:effectLst/>
              <a:uLnTx/>
              <a:uFillTx/>
              <a:latin typeface="Times New Roman"/>
              <a:ea typeface="新細明體"/>
              <a:cs typeface="+mn-cs"/>
            </a:endParaRPr>
          </a:p>
        </p:txBody>
      </p:sp>
    </p:spTree>
    <p:extLst>
      <p:ext uri="{BB962C8B-B14F-4D97-AF65-F5344CB8AC3E}">
        <p14:creationId xmlns:p14="http://schemas.microsoft.com/office/powerpoint/2010/main" val="3050313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600" dirty="0">
                <a:solidFill>
                  <a:srgbClr val="FFFFFF"/>
                </a:solidFill>
                <a:latin typeface="標楷體" pitchFamily="65" charset="-120"/>
                <a:ea typeface="標楷體" pitchFamily="65" charset="-120"/>
              </a:rPr>
              <a:t>四、計畫六年推動目標及步驟</a:t>
            </a:r>
            <a:endParaRPr lang="zh-TW" altLang="en-US" sz="3600" dirty="0">
              <a:latin typeface="標楷體" pitchFamily="65" charset="-120"/>
              <a:ea typeface="標楷體" pitchFamily="65" charset="-120"/>
            </a:endParaRPr>
          </a:p>
        </p:txBody>
      </p:sp>
      <p:sp>
        <p:nvSpPr>
          <p:cNvPr id="6" name="矩形 5"/>
          <p:cNvSpPr/>
          <p:nvPr/>
        </p:nvSpPr>
        <p:spPr>
          <a:xfrm>
            <a:off x="251520" y="980729"/>
            <a:ext cx="8640960" cy="1354217"/>
          </a:xfrm>
          <a:prstGeom prst="rect">
            <a:avLst/>
          </a:prstGeom>
        </p:spPr>
        <p:txBody>
          <a:bodyPr wrap="square">
            <a:spAutoFit/>
          </a:bodyPr>
          <a:lstStyle/>
          <a:p>
            <a:pPr marL="0" marR="0" lvl="0" indent="0" algn="l" defTabSz="914400" rtl="0" eaLnBrk="0" fontAlgn="base" latinLnBrk="0" hangingPunct="0">
              <a:lnSpc>
                <a:spcPct val="100000"/>
              </a:lnSpc>
              <a:spcBef>
                <a:spcPts val="300"/>
              </a:spcBef>
              <a:spcAft>
                <a:spcPts val="300"/>
              </a:spcAft>
              <a:buClr>
                <a:srgbClr val="69AAB1"/>
              </a:buClr>
              <a:buSzTx/>
              <a:buFontTx/>
              <a:buNone/>
              <a:tabLst/>
              <a:defRPr/>
            </a:pPr>
            <a:r>
              <a:rPr kumimoji="0" lang="en-US" altLang="zh-TW" sz="2400" b="1" i="0" u="none" strike="noStrike" kern="2600" cap="none" spc="0" normalizeH="0" baseline="0" noProof="0" dirty="0">
                <a:ln>
                  <a:noFill/>
                </a:ln>
                <a:solidFill>
                  <a:srgbClr val="024631"/>
                </a:solidFill>
                <a:effectLst/>
                <a:uLnTx/>
                <a:uFillTx/>
                <a:latin typeface="標楷體"/>
                <a:ea typeface="超研澤粗楷"/>
                <a:cs typeface="+mn-cs"/>
              </a:rPr>
              <a:t>(</a:t>
            </a:r>
            <a:r>
              <a:rPr kumimoji="0" lang="zh-TW" altLang="en-US" sz="2400" b="1" i="0" u="none" strike="noStrike" kern="2600" cap="none" spc="0" normalizeH="0" baseline="0" noProof="0" dirty="0">
                <a:ln>
                  <a:noFill/>
                </a:ln>
                <a:solidFill>
                  <a:srgbClr val="024631"/>
                </a:solidFill>
                <a:effectLst/>
                <a:uLnTx/>
                <a:uFillTx/>
                <a:latin typeface="Times New Roman"/>
                <a:ea typeface="標楷體"/>
                <a:cs typeface="+mn-cs"/>
              </a:rPr>
              <a:t>二</a:t>
            </a:r>
            <a:r>
              <a:rPr kumimoji="0" lang="en-US" altLang="zh-TW" sz="2400" b="1" i="0" u="none" strike="noStrike" kern="2600" cap="none" spc="0" normalizeH="0" baseline="0" noProof="0" dirty="0">
                <a:ln>
                  <a:noFill/>
                </a:ln>
                <a:solidFill>
                  <a:srgbClr val="024631"/>
                </a:solidFill>
                <a:effectLst/>
                <a:uLnTx/>
                <a:uFillTx/>
                <a:latin typeface="Times New Roman"/>
                <a:ea typeface="標楷體"/>
                <a:cs typeface="+mn-cs"/>
              </a:rPr>
              <a:t>)</a:t>
            </a:r>
            <a:r>
              <a:rPr kumimoji="0" lang="zh-TW" altLang="en-US" sz="2400" b="1" i="0" u="none" strike="noStrike" kern="2600" cap="none" spc="0" normalizeH="0" baseline="0" noProof="0" dirty="0">
                <a:ln>
                  <a:noFill/>
                </a:ln>
                <a:solidFill>
                  <a:srgbClr val="024631"/>
                </a:solidFill>
                <a:effectLst/>
                <a:uLnTx/>
                <a:uFillTx/>
                <a:latin typeface="Times New Roman"/>
                <a:ea typeface="標楷體"/>
                <a:cs typeface="+mn-cs"/>
              </a:rPr>
              <a:t>第二年：</a:t>
            </a:r>
            <a:r>
              <a:rPr kumimoji="0" lang="zh-TW" altLang="en-US" sz="2400" b="1" i="0" u="none" strike="noStrike" kern="2600" cap="none" spc="0" normalizeH="0" baseline="0" noProof="0" dirty="0">
                <a:ln>
                  <a:noFill/>
                </a:ln>
                <a:solidFill>
                  <a:srgbClr val="FF0000"/>
                </a:solidFill>
                <a:effectLst/>
                <a:uLnTx/>
                <a:uFillTx/>
                <a:latin typeface="Times New Roman"/>
                <a:ea typeface="標楷體"/>
                <a:cs typeface="+mn-cs"/>
              </a:rPr>
              <a:t>辦理各社區安全培訓，強化社區協力互動網絡， </a:t>
            </a:r>
            <a:endParaRPr kumimoji="0" lang="en-US" altLang="zh-TW" sz="2400" b="1" i="0" u="none" strike="noStrike" kern="2600" cap="none" spc="0" normalizeH="0" baseline="0" noProof="0" dirty="0">
              <a:ln>
                <a:noFill/>
              </a:ln>
              <a:solidFill>
                <a:srgbClr val="FF0000"/>
              </a:solidFill>
              <a:effectLst/>
              <a:uLnTx/>
              <a:uFillTx/>
              <a:latin typeface="Times New Roman"/>
              <a:ea typeface="標楷體"/>
              <a:cs typeface="+mn-cs"/>
            </a:endParaRPr>
          </a:p>
          <a:p>
            <a:pPr marL="0" marR="0" lvl="0" indent="0" algn="l" defTabSz="914400" rtl="0" eaLnBrk="0" fontAlgn="base" latinLnBrk="0" hangingPunct="0">
              <a:lnSpc>
                <a:spcPct val="100000"/>
              </a:lnSpc>
              <a:spcBef>
                <a:spcPts val="300"/>
              </a:spcBef>
              <a:spcAft>
                <a:spcPts val="300"/>
              </a:spcAft>
              <a:buClr>
                <a:srgbClr val="69AAB1"/>
              </a:buClr>
              <a:buSzTx/>
              <a:buFontTx/>
              <a:buNone/>
              <a:tabLst/>
              <a:defRPr/>
            </a:pPr>
            <a:r>
              <a:rPr kumimoji="0" lang="zh-TW" altLang="en-US" sz="2400" b="1" i="0" u="none" strike="noStrike" kern="2600" cap="none" spc="0" normalizeH="0" baseline="0" noProof="0" dirty="0">
                <a:ln>
                  <a:noFill/>
                </a:ln>
                <a:solidFill>
                  <a:srgbClr val="FF0000"/>
                </a:solidFill>
                <a:effectLst/>
                <a:uLnTx/>
                <a:uFillTx/>
                <a:latin typeface="Times New Roman"/>
                <a:ea typeface="標楷體"/>
                <a:cs typeface="+mn-cs"/>
              </a:rPr>
              <a:t>        建立資源聯結系統，推動社區輔導培力機制，使協力社區</a:t>
            </a:r>
            <a:endParaRPr kumimoji="0" lang="en-US" altLang="zh-TW" sz="2400" b="1" i="0" u="none" strike="noStrike" kern="2600" cap="none" spc="0" normalizeH="0" baseline="0" noProof="0" dirty="0">
              <a:ln>
                <a:noFill/>
              </a:ln>
              <a:solidFill>
                <a:srgbClr val="FF0000"/>
              </a:solidFill>
              <a:effectLst/>
              <a:uLnTx/>
              <a:uFillTx/>
              <a:latin typeface="Times New Roman"/>
              <a:ea typeface="標楷體"/>
              <a:cs typeface="+mn-cs"/>
            </a:endParaRPr>
          </a:p>
          <a:p>
            <a:pPr marL="0" marR="0" lvl="0" indent="0" algn="l" defTabSz="914400" rtl="0" eaLnBrk="0" fontAlgn="base" latinLnBrk="0" hangingPunct="0">
              <a:lnSpc>
                <a:spcPct val="100000"/>
              </a:lnSpc>
              <a:spcBef>
                <a:spcPts val="300"/>
              </a:spcBef>
              <a:spcAft>
                <a:spcPts val="300"/>
              </a:spcAft>
              <a:buClr>
                <a:srgbClr val="69AAB1"/>
              </a:buClr>
              <a:buSzTx/>
              <a:buFontTx/>
              <a:buNone/>
              <a:tabLst/>
              <a:defRPr/>
            </a:pPr>
            <a:r>
              <a:rPr kumimoji="0" lang="zh-TW" altLang="en-US" sz="2400" b="1" i="0" u="none" strike="noStrike" kern="2600" cap="none" spc="0" normalizeH="0" baseline="0" noProof="0" dirty="0">
                <a:ln>
                  <a:noFill/>
                </a:ln>
                <a:solidFill>
                  <a:srgbClr val="FF0000"/>
                </a:solidFill>
                <a:effectLst/>
                <a:uLnTx/>
                <a:uFillTx/>
                <a:latin typeface="Times New Roman"/>
                <a:ea typeface="標楷體"/>
                <a:cs typeface="+mn-cs"/>
              </a:rPr>
              <a:t>        各項社區發展工作步入軌道，並逐漸自主強大。</a:t>
            </a:r>
          </a:p>
        </p:txBody>
      </p:sp>
      <p:sp>
        <p:nvSpPr>
          <p:cNvPr id="7" name="矩形 6"/>
          <p:cNvSpPr/>
          <p:nvPr/>
        </p:nvSpPr>
        <p:spPr>
          <a:xfrm>
            <a:off x="251520" y="2348880"/>
            <a:ext cx="8712968" cy="3739485"/>
          </a:xfrm>
          <a:prstGeom prst="rect">
            <a:avLst/>
          </a:prstGeom>
        </p:spPr>
        <p:txBody>
          <a:bodyPr wrap="square">
            <a:spAutoFit/>
          </a:bodyPr>
          <a:lstStyle/>
          <a:p>
            <a:pPr marL="808990" marR="0" lvl="0" indent="-808990" algn="l" defTabSz="914400" rtl="0" eaLnBrk="1" fontAlgn="auto" latinLnBrk="0" hangingPunct="1">
              <a:lnSpc>
                <a:spcPct val="150000"/>
              </a:lnSpc>
              <a:spcBef>
                <a:spcPts val="0"/>
              </a:spcBef>
              <a:spcAft>
                <a:spcPts val="0"/>
              </a:spcAft>
              <a:buClrTx/>
              <a:buSzTx/>
              <a:buFontTx/>
              <a:buNone/>
              <a:tabLst/>
              <a:defRPr/>
            </a:pPr>
            <a:r>
              <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1.</a:t>
            </a:r>
            <a:r>
              <a:rPr kumimoji="0" lang="zh-TW" altLang="en-US"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建立社區幹部持續培力，增加社區發展工作業務</a:t>
            </a:r>
            <a:r>
              <a:rPr kumimoji="0" lang="zh-TW"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a:t>
            </a:r>
            <a:endPar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endParaRPr>
          </a:p>
          <a:p>
            <a:pPr marL="808990" marR="0" lvl="0" indent="-808990" algn="l" defTabSz="914400" rtl="0" eaLnBrk="1" fontAlgn="auto" latinLnBrk="0" hangingPunct="1">
              <a:lnSpc>
                <a:spcPct val="150000"/>
              </a:lnSpc>
              <a:spcBef>
                <a:spcPts val="0"/>
              </a:spcBef>
              <a:spcAft>
                <a:spcPts val="0"/>
              </a:spcAft>
              <a:buClrTx/>
              <a:buSzTx/>
              <a:buFontTx/>
              <a:buNone/>
              <a:tabLst/>
              <a:defRPr/>
            </a:pPr>
            <a:r>
              <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2.</a:t>
            </a:r>
            <a:r>
              <a:rPr kumimoji="0" lang="zh-TW" altLang="en-US"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種子師資再回訓加強增能長者運動設計 與帶領等核心課程。</a:t>
            </a:r>
          </a:p>
          <a:p>
            <a:pPr marL="808990" marR="0" lvl="0" indent="-808990" algn="l" defTabSz="914400" rtl="0" eaLnBrk="1" fontAlgn="auto" latinLnBrk="0" hangingPunct="1">
              <a:lnSpc>
                <a:spcPct val="15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rPr>
              <a:t>3.</a:t>
            </a:r>
            <a:r>
              <a:rPr kumimoji="0" lang="zh-TW" altLang="en-US" sz="20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rPr>
              <a:t>提供小旗艦社區低收、邊緣、中低收入、獨居長輩居家安全環境設施設備。</a:t>
            </a:r>
            <a:endParaRPr kumimoji="0" lang="en-US" altLang="zh-TW" sz="20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endParaRPr>
          </a:p>
          <a:p>
            <a:pPr marL="808990" marR="0" lvl="0" indent="-808990" algn="l" defTabSz="914400" rtl="0" eaLnBrk="1" fontAlgn="auto" latinLnBrk="0" hangingPunct="1">
              <a:lnSpc>
                <a:spcPct val="150000"/>
              </a:lnSpc>
              <a:spcBef>
                <a:spcPts val="0"/>
              </a:spcBef>
              <a:spcAft>
                <a:spcPts val="0"/>
              </a:spcAft>
              <a:buClrTx/>
              <a:buSzTx/>
              <a:buFontTx/>
              <a:buNone/>
              <a:tabLst/>
              <a:defRPr/>
            </a:pPr>
            <a:r>
              <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4.</a:t>
            </a:r>
            <a:r>
              <a:rPr kumimoji="0" lang="zh-TW" altLang="en-US"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藉由社區婦女審議式菜巿會共同討論，達到參與社會服務。</a:t>
            </a:r>
            <a:endPar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endParaRPr>
          </a:p>
          <a:p>
            <a:pPr marL="808990" marR="0" lvl="0" indent="-808990" algn="l" defTabSz="914400" rtl="0" eaLnBrk="1" fontAlgn="auto" latinLnBrk="0" hangingPunct="1">
              <a:lnSpc>
                <a:spcPct val="150000"/>
              </a:lnSpc>
              <a:spcBef>
                <a:spcPts val="0"/>
              </a:spcBef>
              <a:spcAft>
                <a:spcPts val="0"/>
              </a:spcAft>
              <a:buClrTx/>
              <a:buSzTx/>
              <a:buFontTx/>
              <a:buNone/>
              <a:tabLst/>
              <a:defRPr/>
            </a:pPr>
            <a:r>
              <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5.</a:t>
            </a:r>
            <a:r>
              <a:rPr kumimoji="0" lang="zh-TW" altLang="en-US"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透過營隊課程，讓青少年參與者了解</a:t>
            </a:r>
            <a:r>
              <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CRC</a:t>
            </a:r>
            <a:r>
              <a:rPr kumimoji="0" lang="zh-TW" altLang="en-US"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與自身的關係。</a:t>
            </a:r>
            <a:endPar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endParaRPr>
          </a:p>
          <a:p>
            <a:pPr marL="265113" marR="0" lvl="0" indent="-265113" algn="l" defTabSz="914400" rtl="0" eaLnBrk="1" fontAlgn="auto" latinLnBrk="0" hangingPunct="1">
              <a:lnSpc>
                <a:spcPct val="150000"/>
              </a:lnSpc>
              <a:spcBef>
                <a:spcPts val="0"/>
              </a:spcBef>
              <a:spcAft>
                <a:spcPts val="0"/>
              </a:spcAft>
              <a:buClrTx/>
              <a:buSzTx/>
              <a:buFontTx/>
              <a:buNone/>
              <a:tabLst/>
              <a:defRPr/>
            </a:pPr>
            <a:r>
              <a:rPr kumimoji="0" lang="en-US"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6.</a:t>
            </a:r>
            <a:r>
              <a:rPr kumimoji="0" lang="zh-TW" altLang="en-US"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展現小旗艦社區執行計畫成果，鼓勵全縣停滯型及活動型社區，參與小旗艦計畫提升社區能量。。</a:t>
            </a:r>
            <a:endParaRPr kumimoji="0" lang="zh-TW" altLang="zh-TW" sz="20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endParaRPr>
          </a:p>
          <a:p>
            <a:pPr marL="4572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sz="1800" b="0" i="0" u="none" strike="noStrike" kern="100" cap="none" spc="0" normalizeH="0" baseline="0" noProof="0" dirty="0">
                <a:ln>
                  <a:noFill/>
                </a:ln>
                <a:solidFill>
                  <a:srgbClr val="000000"/>
                </a:solidFill>
                <a:effectLst/>
                <a:uLnTx/>
                <a:uFillTx/>
                <a:latin typeface="標楷體"/>
                <a:ea typeface="新細明體"/>
                <a:cs typeface="+mn-cs"/>
              </a:rPr>
              <a:t>    </a:t>
            </a:r>
            <a:endParaRPr kumimoji="0" lang="zh-TW" altLang="zh-TW" sz="1600" b="0" i="0" u="none" strike="noStrike" kern="100" cap="none" spc="0" normalizeH="0" baseline="0" noProof="0" dirty="0">
              <a:ln>
                <a:noFill/>
              </a:ln>
              <a:solidFill>
                <a:srgbClr val="024631"/>
              </a:solidFill>
              <a:effectLst/>
              <a:uLnTx/>
              <a:uFillTx/>
              <a:latin typeface="Times New Roman"/>
              <a:ea typeface="新細明體"/>
              <a:cs typeface="+mn-cs"/>
            </a:endParaRPr>
          </a:p>
        </p:txBody>
      </p:sp>
    </p:spTree>
    <p:extLst>
      <p:ext uri="{BB962C8B-B14F-4D97-AF65-F5344CB8AC3E}">
        <p14:creationId xmlns:p14="http://schemas.microsoft.com/office/powerpoint/2010/main" val="3899319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600" dirty="0">
                <a:solidFill>
                  <a:srgbClr val="FFFFFF"/>
                </a:solidFill>
                <a:latin typeface="標楷體" pitchFamily="65" charset="-120"/>
                <a:ea typeface="標楷體" pitchFamily="65" charset="-120"/>
              </a:rPr>
              <a:t>四、計畫六年推動目標及步驟</a:t>
            </a:r>
            <a:endParaRPr lang="zh-TW" altLang="en-US" sz="3600" dirty="0">
              <a:latin typeface="標楷體" pitchFamily="65" charset="-120"/>
              <a:ea typeface="標楷體" pitchFamily="65" charset="-120"/>
            </a:endParaRPr>
          </a:p>
        </p:txBody>
      </p:sp>
      <p:sp>
        <p:nvSpPr>
          <p:cNvPr id="6" name="矩形 5"/>
          <p:cNvSpPr/>
          <p:nvPr/>
        </p:nvSpPr>
        <p:spPr>
          <a:xfrm>
            <a:off x="251520" y="980729"/>
            <a:ext cx="8640960" cy="1323439"/>
          </a:xfrm>
          <a:prstGeom prst="rect">
            <a:avLst/>
          </a:prstGeom>
        </p:spPr>
        <p:txBody>
          <a:bodyPr wrap="square">
            <a:spAutoFit/>
          </a:bodyPr>
          <a:lstStyle/>
          <a:p>
            <a:pPr marL="0" marR="0" lvl="0" indent="0" algn="l" defTabSz="914400" rtl="0" eaLnBrk="0" fontAlgn="base" latinLnBrk="0" hangingPunct="0">
              <a:lnSpc>
                <a:spcPct val="100000"/>
              </a:lnSpc>
              <a:spcBef>
                <a:spcPts val="300"/>
              </a:spcBef>
              <a:spcAft>
                <a:spcPts val="300"/>
              </a:spcAft>
              <a:buClr>
                <a:srgbClr val="69AAB1"/>
              </a:buClr>
              <a:buSzTx/>
              <a:buFontTx/>
              <a:buNone/>
              <a:tabLst/>
              <a:defRPr/>
            </a:pPr>
            <a:r>
              <a:rPr kumimoji="0" lang="en-US" altLang="zh-TW" sz="2000" b="1" i="0" u="none" strike="noStrike" kern="2600" cap="none" spc="0" normalizeH="0" baseline="0" noProof="0" dirty="0">
                <a:ln>
                  <a:noFill/>
                </a:ln>
                <a:solidFill>
                  <a:srgbClr val="024631"/>
                </a:solidFill>
                <a:effectLst/>
                <a:uLnTx/>
                <a:uFillTx/>
                <a:latin typeface="標楷體"/>
                <a:ea typeface="超研澤粗楷"/>
                <a:cs typeface="+mn-cs"/>
              </a:rPr>
              <a:t>(</a:t>
            </a:r>
            <a:r>
              <a:rPr kumimoji="0" lang="zh-TW" altLang="en-US" sz="2000" b="1" i="0" u="none" strike="noStrike" kern="2600" cap="none" spc="0" normalizeH="0" baseline="0" noProof="0" dirty="0">
                <a:ln>
                  <a:noFill/>
                </a:ln>
                <a:solidFill>
                  <a:srgbClr val="024631"/>
                </a:solidFill>
                <a:effectLst/>
                <a:uLnTx/>
                <a:uFillTx/>
                <a:latin typeface="Times New Roman"/>
                <a:ea typeface="標楷體"/>
                <a:cs typeface="+mn-cs"/>
              </a:rPr>
              <a:t>三</a:t>
            </a:r>
            <a:r>
              <a:rPr kumimoji="0" lang="en-US" altLang="zh-TW" sz="2000" b="1" i="0" u="none" strike="noStrike" kern="2600" cap="none" spc="0" normalizeH="0" baseline="0" noProof="0" dirty="0">
                <a:ln>
                  <a:noFill/>
                </a:ln>
                <a:solidFill>
                  <a:srgbClr val="024631"/>
                </a:solidFill>
                <a:effectLst/>
                <a:uLnTx/>
                <a:uFillTx/>
                <a:latin typeface="Times New Roman"/>
                <a:ea typeface="標楷體"/>
                <a:cs typeface="+mn-cs"/>
              </a:rPr>
              <a:t>)</a:t>
            </a:r>
            <a:r>
              <a:rPr kumimoji="0" lang="zh-TW" altLang="en-US" sz="2000" b="1" i="0" u="none" strike="noStrike" kern="2600" cap="none" spc="0" normalizeH="0" baseline="0" noProof="0" dirty="0">
                <a:ln>
                  <a:noFill/>
                </a:ln>
                <a:solidFill>
                  <a:srgbClr val="024631"/>
                </a:solidFill>
                <a:effectLst/>
                <a:uLnTx/>
                <a:uFillTx/>
                <a:latin typeface="Times New Roman"/>
                <a:ea typeface="標楷體"/>
                <a:cs typeface="+mn-cs"/>
              </a:rPr>
              <a:t>第三年：</a:t>
            </a:r>
            <a:r>
              <a:rPr kumimoji="0" lang="zh-TW" altLang="en-US" sz="2000" b="1" i="0" u="none" strike="noStrike" kern="2600" cap="none" spc="0" normalizeH="0" baseline="0" noProof="0" dirty="0">
                <a:ln>
                  <a:noFill/>
                </a:ln>
                <a:solidFill>
                  <a:srgbClr val="FF0000"/>
                </a:solidFill>
                <a:effectLst/>
                <a:uLnTx/>
                <a:uFillTx/>
                <a:latin typeface="Times New Roman"/>
                <a:ea typeface="標楷體"/>
                <a:cs typeface="+mn-cs"/>
              </a:rPr>
              <a:t>建立社區照顧關懷據點及巷弄長照站長期照顧體系，及建立社區資源聯結系統，增加協力社區間經濟互助自助系統建立，進而使社區福利服務的工作能持續與延伸，未來第四年持續陪伴，創造協力社區多元的發展，達到社區永續經營。</a:t>
            </a:r>
          </a:p>
        </p:txBody>
      </p:sp>
      <p:sp>
        <p:nvSpPr>
          <p:cNvPr id="7" name="矩形 6"/>
          <p:cNvSpPr/>
          <p:nvPr/>
        </p:nvSpPr>
        <p:spPr>
          <a:xfrm>
            <a:off x="215516" y="2304168"/>
            <a:ext cx="8712968" cy="4198393"/>
          </a:xfrm>
          <a:prstGeom prst="rect">
            <a:avLst/>
          </a:prstGeom>
        </p:spPr>
        <p:txBody>
          <a:bodyPr wrap="square">
            <a:spAutoFit/>
          </a:bodyPr>
          <a:lstStyle/>
          <a:p>
            <a:pPr marL="265113" marR="0" lvl="0" indent="-265113" algn="l" defTabSz="914400" rtl="0" eaLnBrk="1" fontAlgn="auto" latinLnBrk="0" hangingPunct="1">
              <a:lnSpc>
                <a:spcPct val="150000"/>
              </a:lnSpc>
              <a:spcBef>
                <a:spcPts val="0"/>
              </a:spcBef>
              <a:spcAft>
                <a:spcPts val="0"/>
              </a:spcAft>
              <a:buClrTx/>
              <a:buSzTx/>
              <a:buFontTx/>
              <a:buNone/>
              <a:tabLst/>
              <a:defRPr/>
            </a:pPr>
            <a:r>
              <a:rPr kumimoji="0" lang="en-US" altLang="zh-TW" sz="18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1.</a:t>
            </a:r>
            <a:r>
              <a:rPr kumimoji="0" lang="zh-TW" altLang="en-US" sz="18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持續培力輔導協力社區推動社區各項發展工作及福利社區化工作，促進社區經驗交流及傳承，使各協力社區更茁壯，強化社區能量，永續經營社區</a:t>
            </a:r>
            <a:r>
              <a:rPr kumimoji="0" lang="zh-TW" altLang="zh-TW" sz="18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a:t>
            </a:r>
            <a:endParaRPr kumimoji="0" lang="en-US" altLang="zh-TW" sz="18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endParaRPr>
          </a:p>
          <a:p>
            <a:pPr marL="265113" marR="0" lvl="0" indent="-265113" algn="l" defTabSz="914400" rtl="0" eaLnBrk="1" fontAlgn="auto" latinLnBrk="0" hangingPunct="1">
              <a:lnSpc>
                <a:spcPct val="150000"/>
              </a:lnSpc>
              <a:spcBef>
                <a:spcPts val="0"/>
              </a:spcBef>
              <a:spcAft>
                <a:spcPts val="0"/>
              </a:spcAft>
              <a:buClrTx/>
              <a:buSzTx/>
              <a:buFontTx/>
              <a:buNone/>
              <a:tabLst/>
              <a:defRPr/>
            </a:pPr>
            <a:r>
              <a:rPr kumimoji="0" lang="en-US" altLang="zh-TW" sz="18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2.</a:t>
            </a:r>
            <a:r>
              <a:rPr kumimoji="0" lang="zh-TW" altLang="en-US" sz="1800" b="0" i="0" u="none" strike="noStrike" kern="1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持續培力輔導協力社區建立社區照顧關懷據點及巷弄長照站長期照顧體系，建構區域性之社區長期照顧體系，發展自立照顧與社區互助系統，並持續培訓社區種子師資，提升社區志工能量，學習多元化創新照顧服務方案，增加社區志工服務多元面向及學習能力。</a:t>
            </a:r>
          </a:p>
          <a:p>
            <a:pPr marL="265113" marR="0" lvl="0" indent="-265113" algn="l" defTabSz="914400" rtl="0" eaLnBrk="1" fontAlgn="auto" latinLnBrk="0" hangingPunct="1">
              <a:lnSpc>
                <a:spcPct val="15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rPr>
              <a:t>3.</a:t>
            </a:r>
            <a:r>
              <a:rPr kumimoji="0" lang="zh-TW" altLang="en-US" sz="18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rPr>
              <a:t>建立社區資源聯結系統，增加協力社區間經濟互助自助系統建立，進而使社區福利服務的工作能持續與延伸。</a:t>
            </a:r>
          </a:p>
          <a:p>
            <a:pPr marL="265113" marR="0" lvl="0" indent="-265113" algn="l" defTabSz="914400" rtl="0" eaLnBrk="1" fontAlgn="auto" latinLnBrk="0" hangingPunct="1">
              <a:lnSpc>
                <a:spcPct val="15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rPr>
              <a:t>4.</a:t>
            </a:r>
            <a:r>
              <a:rPr kumimoji="0" lang="zh-TW" altLang="en-US" sz="1800" b="0"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Times New Roman"/>
              </a:rPr>
              <a:t>今年計畫培力執行完後，領航社區持續陪伴協力社區，創造協力社區多元的發展，達到社區永續經營。</a:t>
            </a:r>
            <a:r>
              <a:rPr kumimoji="0" lang="en-US" altLang="zh-TW" sz="1800" b="0" i="0" u="none" strike="noStrike" kern="100" cap="none" spc="0" normalizeH="0" baseline="0" noProof="0" dirty="0">
                <a:ln>
                  <a:noFill/>
                </a:ln>
                <a:solidFill>
                  <a:srgbClr val="000000"/>
                </a:solidFill>
                <a:effectLst/>
                <a:uLnTx/>
                <a:uFillTx/>
                <a:latin typeface="標楷體"/>
                <a:ea typeface="新細明體"/>
                <a:cs typeface="+mn-cs"/>
              </a:rPr>
              <a:t> </a:t>
            </a:r>
            <a:endParaRPr kumimoji="0" lang="zh-TW" altLang="zh-TW" sz="1600" b="0" i="0" u="none" strike="noStrike" kern="100" cap="none" spc="0" normalizeH="0" baseline="0" noProof="0" dirty="0">
              <a:ln>
                <a:noFill/>
              </a:ln>
              <a:solidFill>
                <a:srgbClr val="024631"/>
              </a:solidFill>
              <a:effectLst/>
              <a:uLnTx/>
              <a:uFillTx/>
              <a:latin typeface="Times New Roman"/>
              <a:ea typeface="新細明體"/>
              <a:cs typeface="+mn-cs"/>
            </a:endParaRPr>
          </a:p>
        </p:txBody>
      </p:sp>
    </p:spTree>
    <p:extLst>
      <p:ext uri="{BB962C8B-B14F-4D97-AF65-F5344CB8AC3E}">
        <p14:creationId xmlns:p14="http://schemas.microsoft.com/office/powerpoint/2010/main" val="2100618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600" dirty="0">
                <a:solidFill>
                  <a:srgbClr val="FFFFFF"/>
                </a:solidFill>
                <a:latin typeface="標楷體" pitchFamily="65" charset="-120"/>
                <a:ea typeface="標楷體" pitchFamily="65" charset="-120"/>
              </a:rPr>
              <a:t>四、計畫六年推動目標及步驟</a:t>
            </a:r>
            <a:endParaRPr lang="zh-TW" altLang="en-US" sz="3600" dirty="0">
              <a:latin typeface="標楷體" pitchFamily="65" charset="-120"/>
              <a:ea typeface="標楷體" pitchFamily="65" charset="-120"/>
            </a:endParaRPr>
          </a:p>
        </p:txBody>
      </p:sp>
      <p:sp>
        <p:nvSpPr>
          <p:cNvPr id="6" name="矩形 5"/>
          <p:cNvSpPr/>
          <p:nvPr/>
        </p:nvSpPr>
        <p:spPr>
          <a:xfrm>
            <a:off x="251520" y="980729"/>
            <a:ext cx="8640960" cy="461665"/>
          </a:xfrm>
          <a:prstGeom prst="rect">
            <a:avLst/>
          </a:prstGeom>
        </p:spPr>
        <p:txBody>
          <a:bodyPr wrap="square">
            <a:spAutoFit/>
          </a:bodyPr>
          <a:lstStyle/>
          <a:p>
            <a:pPr marL="0" marR="0" lvl="0" indent="0" algn="l" defTabSz="914400" rtl="0" eaLnBrk="0" fontAlgn="base" latinLnBrk="0" hangingPunct="0">
              <a:lnSpc>
                <a:spcPct val="100000"/>
              </a:lnSpc>
              <a:spcBef>
                <a:spcPts val="300"/>
              </a:spcBef>
              <a:spcAft>
                <a:spcPts val="300"/>
              </a:spcAft>
              <a:buClr>
                <a:srgbClr val="69AAB1"/>
              </a:buClr>
              <a:buSzTx/>
              <a:buFontTx/>
              <a:buNone/>
              <a:tabLst/>
              <a:defRPr/>
            </a:pPr>
            <a:r>
              <a:rPr kumimoji="0" lang="en-US" altLang="zh-TW" sz="2400" b="1" i="0" u="none" strike="noStrike" kern="2600" cap="none" spc="0" normalizeH="0" baseline="0" noProof="0" dirty="0">
                <a:ln>
                  <a:noFill/>
                </a:ln>
                <a:solidFill>
                  <a:srgbClr val="024631"/>
                </a:solidFill>
                <a:effectLst/>
                <a:uLnTx/>
                <a:uFillTx/>
                <a:latin typeface="標楷體"/>
                <a:ea typeface="超研澤粗楷"/>
                <a:cs typeface="+mn-cs"/>
              </a:rPr>
              <a:t>(</a:t>
            </a:r>
            <a:r>
              <a:rPr kumimoji="0" lang="zh-TW" altLang="en-US" sz="2400" b="1" i="0" u="none" strike="noStrike" kern="2600" cap="none" spc="0" normalizeH="0" baseline="0" noProof="0" dirty="0">
                <a:ln>
                  <a:noFill/>
                </a:ln>
                <a:solidFill>
                  <a:srgbClr val="024631"/>
                </a:solidFill>
                <a:effectLst/>
                <a:uLnTx/>
                <a:uFillTx/>
                <a:latin typeface="Times New Roman"/>
                <a:ea typeface="標楷體"/>
                <a:cs typeface="+mn-cs"/>
              </a:rPr>
              <a:t>四</a:t>
            </a:r>
            <a:r>
              <a:rPr kumimoji="0" lang="en-US" altLang="zh-TW" sz="2400" b="1" i="0" u="none" strike="noStrike" kern="2600" cap="none" spc="0" normalizeH="0" baseline="0" noProof="0" dirty="0">
                <a:ln>
                  <a:noFill/>
                </a:ln>
                <a:solidFill>
                  <a:srgbClr val="024631"/>
                </a:solidFill>
                <a:effectLst/>
                <a:uLnTx/>
                <a:uFillTx/>
                <a:latin typeface="Times New Roman"/>
                <a:ea typeface="標楷體"/>
                <a:cs typeface="+mn-cs"/>
              </a:rPr>
              <a:t>)</a:t>
            </a:r>
            <a:r>
              <a:rPr kumimoji="0" lang="zh-TW" altLang="en-US" sz="2400" b="1" i="0" u="none" strike="noStrike" kern="2600" cap="none" spc="0" normalizeH="0" baseline="0" noProof="0" dirty="0">
                <a:ln>
                  <a:noFill/>
                </a:ln>
                <a:solidFill>
                  <a:srgbClr val="024631"/>
                </a:solidFill>
                <a:effectLst/>
                <a:uLnTx/>
                <a:uFillTx/>
                <a:latin typeface="Times New Roman"/>
                <a:ea typeface="標楷體"/>
                <a:cs typeface="+mn-cs"/>
              </a:rPr>
              <a:t>第四年：</a:t>
            </a:r>
            <a:r>
              <a:rPr kumimoji="0" lang="zh-TW" altLang="en-US" sz="2400" b="1" i="0" u="none" strike="noStrike" kern="2600" cap="none" spc="0" normalizeH="0" baseline="0" noProof="0" dirty="0">
                <a:ln>
                  <a:noFill/>
                </a:ln>
                <a:solidFill>
                  <a:srgbClr val="FF0000"/>
                </a:solidFill>
                <a:effectLst/>
                <a:uLnTx/>
                <a:uFillTx/>
                <a:latin typeface="Times New Roman"/>
                <a:ea typeface="標楷體"/>
                <a:cs typeface="+mn-cs"/>
              </a:rPr>
              <a:t>小旗艦社區建立永續服務概念</a:t>
            </a:r>
          </a:p>
        </p:txBody>
      </p:sp>
      <p:sp>
        <p:nvSpPr>
          <p:cNvPr id="7" name="矩形 6"/>
          <p:cNvSpPr/>
          <p:nvPr/>
        </p:nvSpPr>
        <p:spPr>
          <a:xfrm>
            <a:off x="139316" y="1549670"/>
            <a:ext cx="8897180" cy="4708981"/>
          </a:xfrm>
          <a:prstGeom prst="rect">
            <a:avLst/>
          </a:prstGeom>
        </p:spPr>
        <p:txBody>
          <a:bodyPr wrap="square">
            <a:spAutoFit/>
          </a:bodyPr>
          <a:lstStyle/>
          <a:p>
            <a:pPr marL="989965" marR="0" lvl="0" indent="-26924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00" cap="none" spc="0" normalizeH="0" baseline="0" noProof="0" dirty="0">
                <a:ln>
                  <a:noFill/>
                </a:ln>
                <a:solidFill>
                  <a:srgbClr val="000000"/>
                </a:solidFill>
                <a:effectLst/>
                <a:uLnTx/>
                <a:uFillTx/>
                <a:latin typeface="標楷體"/>
                <a:ea typeface="新細明體"/>
                <a:cs typeface="+mn-cs"/>
              </a:rPr>
              <a:t>1.</a:t>
            </a:r>
            <a:r>
              <a:rPr kumimoji="0" lang="zh-TW" altLang="zh-TW" sz="2000" b="0" i="0" u="none" strike="noStrike" kern="100" cap="none" spc="0" normalizeH="0" baseline="0" noProof="0" dirty="0">
                <a:ln>
                  <a:noFill/>
                </a:ln>
                <a:solidFill>
                  <a:srgbClr val="000000"/>
                </a:solidFill>
                <a:effectLst/>
                <a:uLnTx/>
                <a:uFillTx/>
                <a:latin typeface="Times New Roman"/>
                <a:ea typeface="標楷體"/>
                <a:cs typeface="+mn-cs"/>
              </a:rPr>
              <a:t>培力永續</a:t>
            </a:r>
            <a:r>
              <a:rPr kumimoji="0" lang="en-US" altLang="zh-TW" sz="2000" b="0"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zh-TW" sz="2000" b="0" i="0" u="none" strike="noStrike" kern="100" cap="none" spc="0" normalizeH="0" baseline="0" noProof="0" dirty="0">
                <a:ln>
                  <a:noFill/>
                </a:ln>
                <a:solidFill>
                  <a:srgbClr val="000000"/>
                </a:solidFill>
                <a:effectLst/>
                <a:uLnTx/>
                <a:uFillTx/>
                <a:latin typeface="Times New Roman"/>
                <a:ea typeface="標楷體"/>
                <a:cs typeface="+mn-cs"/>
              </a:rPr>
              <a:t>落實社區福利化之理念及強化社區發展組織及工作：在南投縣政府及竹山鎮公所的大力推動與全力輔導下，社區整體的意識和能力大幅提升，進而帶動鎮內各社區希望持續培力小旗艦社區推動社區老人福利、婦女福利、兒少福利及身心障礙者福利，加強社區夥伴關係進而帶動小旗艦社區持續為福利人口群及社區居民服務。透過社區經驗傳承的方式，強化社區幹部社區營造之觀念及能力，讓社區幹部對於社區的財務、會務、業務執行面及資料歸檔方式更加熟悉，有助於社區交接時理念及業務量的銜接。</a:t>
            </a:r>
            <a:endParaRPr kumimoji="0" lang="en-US" altLang="zh-TW" sz="2000" b="0" i="0" u="none" strike="noStrike" kern="100" cap="none" spc="0" normalizeH="0" baseline="0" noProof="0" dirty="0">
              <a:ln>
                <a:noFill/>
              </a:ln>
              <a:solidFill>
                <a:srgbClr val="024631"/>
              </a:solidFill>
              <a:effectLst/>
              <a:uLnTx/>
              <a:uFillTx/>
              <a:latin typeface="Times New Roman"/>
              <a:ea typeface="新細明體"/>
              <a:cs typeface="+mn-cs"/>
            </a:endParaRPr>
          </a:p>
          <a:p>
            <a:pPr marL="989965" marR="0" lvl="0" indent="-26924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00" cap="none" spc="0" normalizeH="0" baseline="0" noProof="0" dirty="0">
                <a:ln>
                  <a:noFill/>
                </a:ln>
                <a:solidFill>
                  <a:srgbClr val="000000"/>
                </a:solidFill>
                <a:effectLst/>
                <a:uLnTx/>
                <a:uFillTx/>
                <a:latin typeface="標楷體"/>
                <a:ea typeface="新細明體"/>
                <a:cs typeface="+mn-cs"/>
              </a:rPr>
              <a:t>2.</a:t>
            </a:r>
            <a:r>
              <a:rPr kumimoji="0" lang="zh-TW" altLang="zh-TW" sz="2000" b="0" i="0" u="none" strike="noStrike" kern="100" cap="none" spc="0" normalizeH="0" baseline="0" noProof="0" dirty="0">
                <a:ln>
                  <a:noFill/>
                </a:ln>
                <a:solidFill>
                  <a:srgbClr val="000000"/>
                </a:solidFill>
                <a:effectLst/>
                <a:uLnTx/>
                <a:uFillTx/>
                <a:latin typeface="Times New Roman"/>
                <a:ea typeface="標楷體"/>
                <a:cs typeface="+mn-cs"/>
              </a:rPr>
              <a:t>永續資源共享</a:t>
            </a:r>
            <a:r>
              <a:rPr kumimoji="0" lang="en-US" altLang="zh-TW" sz="2000" b="0"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zh-TW" sz="2000" b="0" i="0" u="none" strike="noStrike" kern="100" cap="none" spc="0" normalizeH="0" baseline="0" noProof="0" dirty="0">
                <a:ln>
                  <a:noFill/>
                </a:ln>
                <a:solidFill>
                  <a:srgbClr val="000000"/>
                </a:solidFill>
                <a:effectLst/>
                <a:uLnTx/>
                <a:uFillTx/>
                <a:latin typeface="Times New Roman"/>
                <a:ea typeface="標楷體"/>
                <a:cs typeface="+mn-cs"/>
              </a:rPr>
              <a:t>成立食物（實物）銀行：未來希望連結其他機關團體，加強資源連結，建立小旗艦社區食物（實物）銀行共享，協助四社區弱勢族群需求服務。</a:t>
            </a:r>
            <a:endParaRPr kumimoji="0" lang="en-US" altLang="zh-TW" sz="2000" b="0" i="0" u="none" strike="noStrike" kern="100" cap="none" spc="0" normalizeH="0" baseline="0" noProof="0" dirty="0">
              <a:ln>
                <a:noFill/>
              </a:ln>
              <a:solidFill>
                <a:srgbClr val="024631"/>
              </a:solidFill>
              <a:effectLst/>
              <a:uLnTx/>
              <a:uFillTx/>
              <a:latin typeface="Times New Roman"/>
              <a:ea typeface="新細明體"/>
              <a:cs typeface="+mn-cs"/>
            </a:endParaRPr>
          </a:p>
          <a:p>
            <a:pPr marL="989965" marR="0" lvl="0" indent="-26924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0" cap="none" spc="0" normalizeH="0" baseline="0" noProof="0" dirty="0">
                <a:ln>
                  <a:noFill/>
                </a:ln>
                <a:solidFill>
                  <a:srgbClr val="000000"/>
                </a:solidFill>
                <a:effectLst/>
                <a:uLnTx/>
                <a:uFillTx/>
                <a:latin typeface="標楷體"/>
                <a:ea typeface="新細明體"/>
                <a:cs typeface="+mn-cs"/>
              </a:rPr>
              <a:t>3.</a:t>
            </a:r>
            <a:r>
              <a:rPr kumimoji="0" lang="zh-TW" altLang="zh-TW" sz="2000" b="0" i="0" u="none" strike="noStrike" kern="0" cap="none" spc="0" normalizeH="0" baseline="0" noProof="0" dirty="0">
                <a:ln>
                  <a:noFill/>
                </a:ln>
                <a:solidFill>
                  <a:srgbClr val="000000"/>
                </a:solidFill>
                <a:effectLst/>
                <a:uLnTx/>
                <a:uFillTx/>
                <a:latin typeface="Times New Roman"/>
                <a:ea typeface="標楷體"/>
                <a:cs typeface="+mn-cs"/>
              </a:rPr>
              <a:t>推動社會安全網</a:t>
            </a:r>
            <a:r>
              <a:rPr kumimoji="0" lang="en-US" altLang="zh-TW" sz="2000" b="0" i="0" u="none" strike="noStrike" kern="0" cap="none" spc="0" normalizeH="0" baseline="0" noProof="0" dirty="0">
                <a:ln>
                  <a:noFill/>
                </a:ln>
                <a:solidFill>
                  <a:srgbClr val="000000"/>
                </a:solidFill>
                <a:effectLst/>
                <a:uLnTx/>
                <a:uFillTx/>
                <a:latin typeface="Times New Roman"/>
                <a:ea typeface="標楷體"/>
                <a:cs typeface="+mn-cs"/>
              </a:rPr>
              <a:t>2.0</a:t>
            </a:r>
            <a:r>
              <a:rPr kumimoji="0" lang="zh-TW" altLang="zh-TW" sz="2000" b="0" i="0" u="none" strike="noStrike" kern="0" cap="none" spc="0" normalizeH="0" baseline="0" noProof="0" dirty="0">
                <a:ln>
                  <a:noFill/>
                </a:ln>
                <a:solidFill>
                  <a:srgbClr val="000000"/>
                </a:solidFill>
                <a:effectLst/>
                <a:uLnTx/>
                <a:uFillTx/>
                <a:latin typeface="Times New Roman"/>
                <a:ea typeface="標楷體"/>
                <a:cs typeface="+mn-cs"/>
              </a:rPr>
              <a:t>，「以家庭為中心、以社區為基礎」</a:t>
            </a:r>
            <a:r>
              <a:rPr kumimoji="0" lang="en-US" altLang="zh-TW" sz="2000" b="0" i="0" u="none" strike="noStrike" kern="0" cap="none" spc="0" normalizeH="0" baseline="0" noProof="0" dirty="0">
                <a:ln>
                  <a:noFill/>
                </a:ln>
                <a:solidFill>
                  <a:srgbClr val="000000"/>
                </a:solidFill>
                <a:effectLst/>
                <a:uLnTx/>
                <a:uFillTx/>
                <a:latin typeface="Times New Roman"/>
                <a:ea typeface="標楷體"/>
                <a:cs typeface="+mn-cs"/>
              </a:rPr>
              <a:t>4</a:t>
            </a:r>
            <a:r>
              <a:rPr kumimoji="0" lang="zh-TW" altLang="zh-TW" sz="2000" b="0" i="0" u="none" strike="noStrike" kern="0" cap="none" spc="0" normalizeH="0" baseline="0" noProof="0" dirty="0">
                <a:ln>
                  <a:noFill/>
                </a:ln>
                <a:solidFill>
                  <a:srgbClr val="000000"/>
                </a:solidFill>
                <a:effectLst/>
                <a:uLnTx/>
                <a:uFillTx/>
                <a:latin typeface="Times New Roman"/>
                <a:ea typeface="標楷體"/>
                <a:cs typeface="+mn-cs"/>
              </a:rPr>
              <a:t>大面向：先以宣導課程為主，包含反毒、反暴力、兒童發展帳戶宣導、自殺防治等。服務方面有弱勢子女課後照顧、自立脫貧（儲蓄）計畫、脆弱家庭服務等。</a:t>
            </a:r>
            <a:endParaRPr kumimoji="0" lang="zh-TW" altLang="zh-TW" sz="2000" b="0" i="0" u="none" strike="noStrike" kern="100" cap="none" spc="0" normalizeH="0" baseline="0" noProof="0" dirty="0">
              <a:ln>
                <a:noFill/>
              </a:ln>
              <a:solidFill>
                <a:srgbClr val="024631"/>
              </a:solidFill>
              <a:effectLst/>
              <a:uLnTx/>
              <a:uFillTx/>
              <a:latin typeface="Times New Roman"/>
              <a:ea typeface="新細明體"/>
              <a:cs typeface="+mn-cs"/>
            </a:endParaRPr>
          </a:p>
        </p:txBody>
      </p:sp>
    </p:spTree>
    <p:extLst>
      <p:ext uri="{BB962C8B-B14F-4D97-AF65-F5344CB8AC3E}">
        <p14:creationId xmlns:p14="http://schemas.microsoft.com/office/powerpoint/2010/main" val="1703216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8043-B291-A27E-8A9D-C13442154FD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C4F7D6F-45FD-F4BB-5C0D-593F0A2AC9E8}"/>
              </a:ext>
            </a:extLst>
          </p:cNvPr>
          <p:cNvSpPr>
            <a:spLocks noGrp="1"/>
          </p:cNvSpPr>
          <p:nvPr>
            <p:ph type="title"/>
          </p:nvPr>
        </p:nvSpPr>
        <p:spPr/>
        <p:txBody>
          <a:bodyPr/>
          <a:lstStyle/>
          <a:p>
            <a:r>
              <a:rPr lang="zh-TW" altLang="en-US" sz="3600" dirty="0">
                <a:solidFill>
                  <a:srgbClr val="FFFFFF"/>
                </a:solidFill>
                <a:latin typeface="標楷體" pitchFamily="65" charset="-120"/>
                <a:ea typeface="標楷體" pitchFamily="65" charset="-120"/>
              </a:rPr>
              <a:t>四、計畫六年推動目標及步驟</a:t>
            </a:r>
            <a:endParaRPr lang="zh-TW" altLang="en-US" sz="3600" dirty="0">
              <a:latin typeface="標楷體" pitchFamily="65" charset="-120"/>
              <a:ea typeface="標楷體" pitchFamily="65" charset="-120"/>
            </a:endParaRPr>
          </a:p>
        </p:txBody>
      </p:sp>
      <p:sp>
        <p:nvSpPr>
          <p:cNvPr id="6" name="矩形 5">
            <a:extLst>
              <a:ext uri="{FF2B5EF4-FFF2-40B4-BE49-F238E27FC236}">
                <a16:creationId xmlns:a16="http://schemas.microsoft.com/office/drawing/2014/main" id="{31BF5200-3FB1-6BC9-2903-E1AB36BCF4DE}"/>
              </a:ext>
            </a:extLst>
          </p:cNvPr>
          <p:cNvSpPr/>
          <p:nvPr/>
        </p:nvSpPr>
        <p:spPr>
          <a:xfrm>
            <a:off x="251520" y="980729"/>
            <a:ext cx="8640960" cy="830997"/>
          </a:xfrm>
          <a:prstGeom prst="rect">
            <a:avLst/>
          </a:prstGeom>
        </p:spPr>
        <p:txBody>
          <a:bodyPr wrap="square">
            <a:spAutoFit/>
          </a:bodyPr>
          <a:lstStyle/>
          <a:p>
            <a:pPr marL="541338" marR="0" lvl="0" indent="-541338" algn="l" defTabSz="914400" rtl="0" eaLnBrk="0" fontAlgn="base" latinLnBrk="0" hangingPunct="0">
              <a:lnSpc>
                <a:spcPct val="100000"/>
              </a:lnSpc>
              <a:spcBef>
                <a:spcPts val="300"/>
              </a:spcBef>
              <a:spcAft>
                <a:spcPts val="300"/>
              </a:spcAft>
              <a:buClr>
                <a:srgbClr val="69AAB1"/>
              </a:buClr>
              <a:buSzTx/>
              <a:buFontTx/>
              <a:buNone/>
              <a:tabLst/>
              <a:defRPr/>
            </a:pPr>
            <a:r>
              <a:rPr kumimoji="0" lang="en-US" altLang="zh-TW" sz="2400" b="1" i="0" u="none" strike="noStrike" kern="2600" cap="none" spc="0" normalizeH="0" baseline="0" noProof="0" dirty="0">
                <a:ln>
                  <a:noFill/>
                </a:ln>
                <a:solidFill>
                  <a:srgbClr val="024631"/>
                </a:solidFill>
                <a:effectLst/>
                <a:uLnTx/>
                <a:uFillTx/>
                <a:latin typeface="標楷體"/>
                <a:ea typeface="超研澤粗楷"/>
                <a:cs typeface="+mn-cs"/>
              </a:rPr>
              <a:t>(</a:t>
            </a:r>
            <a:r>
              <a:rPr kumimoji="0" lang="zh-TW" altLang="en-US" sz="2400" b="1" i="0" u="none" strike="noStrike" kern="2600" cap="none" spc="0" normalizeH="0" baseline="0" noProof="0" dirty="0">
                <a:ln>
                  <a:noFill/>
                </a:ln>
                <a:solidFill>
                  <a:srgbClr val="024631"/>
                </a:solidFill>
                <a:effectLst/>
                <a:uLnTx/>
                <a:uFillTx/>
                <a:latin typeface="Times New Roman"/>
                <a:ea typeface="標楷體"/>
                <a:cs typeface="+mn-cs"/>
              </a:rPr>
              <a:t>五</a:t>
            </a:r>
            <a:r>
              <a:rPr kumimoji="0" lang="en-US" altLang="zh-TW" sz="2400" b="1" i="0" u="none" strike="noStrike" kern="2600" cap="none" spc="0" normalizeH="0" baseline="0" noProof="0" dirty="0">
                <a:ln>
                  <a:noFill/>
                </a:ln>
                <a:solidFill>
                  <a:srgbClr val="024631"/>
                </a:solidFill>
                <a:effectLst/>
                <a:uLnTx/>
                <a:uFillTx/>
                <a:latin typeface="Times New Roman"/>
                <a:ea typeface="標楷體"/>
                <a:cs typeface="+mn-cs"/>
              </a:rPr>
              <a:t>)</a:t>
            </a:r>
            <a:r>
              <a:rPr kumimoji="0" lang="zh-TW" altLang="en-US" sz="2400" b="1" i="0" u="none" strike="noStrike" kern="2600" cap="none" spc="0" normalizeH="0" baseline="0" noProof="0" dirty="0">
                <a:ln>
                  <a:noFill/>
                </a:ln>
                <a:solidFill>
                  <a:srgbClr val="024631"/>
                </a:solidFill>
                <a:effectLst/>
                <a:uLnTx/>
                <a:uFillTx/>
                <a:latin typeface="Times New Roman"/>
                <a:ea typeface="標楷體"/>
                <a:cs typeface="+mn-cs"/>
              </a:rPr>
              <a:t>第五年：</a:t>
            </a:r>
            <a:r>
              <a:rPr kumimoji="0" lang="zh-TW" altLang="en-US" sz="2400" b="1" i="0" u="none" strike="noStrike" kern="2600" cap="none" spc="0" normalizeH="0" baseline="0" noProof="0" dirty="0">
                <a:ln>
                  <a:noFill/>
                </a:ln>
                <a:solidFill>
                  <a:srgbClr val="FF0000"/>
                </a:solidFill>
                <a:effectLst/>
                <a:uLnTx/>
                <a:uFillTx/>
                <a:latin typeface="Times New Roman"/>
                <a:ea typeface="標楷體"/>
                <a:cs typeface="+mn-cs"/>
              </a:rPr>
              <a:t>第五年小旗艦社區提升永續服務概念及推動社會安全網</a:t>
            </a:r>
            <a:r>
              <a:rPr kumimoji="0" lang="en-US" altLang="zh-TW" sz="2400" b="1" i="0" u="none" strike="noStrike" kern="2600" cap="none" spc="0" normalizeH="0" baseline="0" noProof="0" dirty="0">
                <a:ln>
                  <a:noFill/>
                </a:ln>
                <a:solidFill>
                  <a:srgbClr val="FF0000"/>
                </a:solidFill>
                <a:effectLst/>
                <a:uLnTx/>
                <a:uFillTx/>
                <a:latin typeface="Times New Roman"/>
                <a:ea typeface="標楷體"/>
                <a:cs typeface="+mn-cs"/>
              </a:rPr>
              <a:t>2.0</a:t>
            </a:r>
            <a:r>
              <a:rPr kumimoji="0" lang="zh-TW" altLang="en-US" sz="2400" b="1" i="0" u="none" strike="noStrike" kern="2600" cap="none" spc="0" normalizeH="0" baseline="0" noProof="0" dirty="0">
                <a:ln>
                  <a:noFill/>
                </a:ln>
                <a:solidFill>
                  <a:srgbClr val="FF0000"/>
                </a:solidFill>
                <a:effectLst/>
                <a:uLnTx/>
                <a:uFillTx/>
                <a:latin typeface="Times New Roman"/>
                <a:ea typeface="標楷體"/>
                <a:cs typeface="+mn-cs"/>
              </a:rPr>
              <a:t>及社區共生概念</a:t>
            </a:r>
          </a:p>
        </p:txBody>
      </p:sp>
      <p:sp>
        <p:nvSpPr>
          <p:cNvPr id="7" name="矩形 6">
            <a:extLst>
              <a:ext uri="{FF2B5EF4-FFF2-40B4-BE49-F238E27FC236}">
                <a16:creationId xmlns:a16="http://schemas.microsoft.com/office/drawing/2014/main" id="{BD56ABE9-FFF3-A157-B303-126FF1549D53}"/>
              </a:ext>
            </a:extLst>
          </p:cNvPr>
          <p:cNvSpPr/>
          <p:nvPr/>
        </p:nvSpPr>
        <p:spPr>
          <a:xfrm>
            <a:off x="123410" y="1811726"/>
            <a:ext cx="8897180" cy="4832092"/>
          </a:xfrm>
          <a:prstGeom prst="rect">
            <a:avLst/>
          </a:prstGeom>
        </p:spPr>
        <p:txBody>
          <a:bodyPr wrap="square">
            <a:spAutoFit/>
          </a:bodyPr>
          <a:lstStyle/>
          <a:p>
            <a:pPr marL="989965" marR="0" lvl="0" indent="-269240" algn="just" defTabSz="914400" rtl="0" eaLnBrk="1" fontAlgn="auto" latinLnBrk="0" hangingPunct="1">
              <a:lnSpc>
                <a:spcPct val="1000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1.</a:t>
            </a:r>
            <a:r>
              <a:rPr kumimoji="0" lang="zh-TW" altLang="en-US"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培力永續</a:t>
            </a:r>
            <a:r>
              <a:rPr kumimoji="0" lang="en-US" altLang="zh-TW"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a:t>
            </a:r>
            <a:r>
              <a:rPr kumimoji="0" lang="zh-TW" altLang="en-US"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促進小旗艦社區彼此交流學習、互助合作，朝共同目標一起邁進，達到社區友愛、互助合作，共同成長的目的。</a:t>
            </a:r>
          </a:p>
          <a:p>
            <a:pPr marL="989965" marR="0" lvl="0" indent="-269240" algn="just" defTabSz="914400" rtl="0" eaLnBrk="1" fontAlgn="auto" latinLnBrk="0" hangingPunct="1">
              <a:lnSpc>
                <a:spcPct val="1000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2.</a:t>
            </a:r>
            <a:r>
              <a:rPr kumimoji="0" lang="zh-TW" altLang="en-US"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培訓志工成為種子老師，研發多元化創新符合在地服務教案，增加種子師資教學多元面向及學習能力，增加社區關懷據點長者照護多元創新方案，提高長者課程參與率，減輕社區財力負擔。</a:t>
            </a:r>
          </a:p>
          <a:p>
            <a:pPr marL="989965" marR="0" lvl="0" indent="-269240" algn="just" defTabSz="914400" rtl="0" eaLnBrk="1" fontAlgn="auto" latinLnBrk="0" hangingPunct="1">
              <a:lnSpc>
                <a:spcPct val="1000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3.</a:t>
            </a:r>
            <a:r>
              <a:rPr kumimoji="0" lang="zh-TW" altLang="en-US"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持續推動社會安全網</a:t>
            </a:r>
            <a:r>
              <a:rPr kumimoji="0" lang="en-US" altLang="zh-TW"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2.0</a:t>
            </a:r>
            <a:r>
              <a:rPr kumimoji="0" lang="zh-TW" altLang="en-US"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，「以家庭為中心、以社區為基礎」</a:t>
            </a:r>
            <a:r>
              <a:rPr kumimoji="0" lang="en-US" altLang="zh-TW"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4</a:t>
            </a:r>
            <a:r>
              <a:rPr kumimoji="0" lang="zh-TW" altLang="en-US"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大面向：提供小旗艦社區低收、邊緣、中低收入、獨居長輩居家安全環境設施設備。導入靈性關懷陪伴課程，鼓勵小旗艦社區獨老踏出家們，勇與參與據點活動，增加獨老自信。以弱勢子女課後照顧兒童發展帳戶宣導、網路安全有弱勢子女課後照顧、自立脫貧（儲蓄）計畫、脆弱家庭服務等。</a:t>
            </a:r>
          </a:p>
          <a:p>
            <a:pPr marL="989965" marR="0" lvl="0" indent="-269240" algn="just" defTabSz="914400" rtl="0" eaLnBrk="1" fontAlgn="auto" latinLnBrk="0" hangingPunct="1">
              <a:lnSpc>
                <a:spcPct val="1000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4.</a:t>
            </a:r>
            <a:r>
              <a:rPr kumimoji="0" lang="zh-TW" altLang="en-US"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推動共生社區鼓勵居民主動參與，自願成為社區事務的主要推動者，促使社區發展成在地人最想要的方式。</a:t>
            </a:r>
          </a:p>
        </p:txBody>
      </p:sp>
    </p:spTree>
    <p:extLst>
      <p:ext uri="{BB962C8B-B14F-4D97-AF65-F5344CB8AC3E}">
        <p14:creationId xmlns:p14="http://schemas.microsoft.com/office/powerpoint/2010/main" val="3816135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52F92-3B2A-B935-3D95-81A009C1446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2E7A235-21F2-485E-D3AC-CA95EF716FC7}"/>
              </a:ext>
            </a:extLst>
          </p:cNvPr>
          <p:cNvSpPr>
            <a:spLocks noGrp="1"/>
          </p:cNvSpPr>
          <p:nvPr>
            <p:ph type="title"/>
          </p:nvPr>
        </p:nvSpPr>
        <p:spPr/>
        <p:txBody>
          <a:bodyPr/>
          <a:lstStyle/>
          <a:p>
            <a:r>
              <a:rPr lang="zh-TW" altLang="en-US" sz="3600" dirty="0">
                <a:solidFill>
                  <a:srgbClr val="FFFFFF"/>
                </a:solidFill>
                <a:latin typeface="標楷體" pitchFamily="65" charset="-120"/>
                <a:ea typeface="標楷體" pitchFamily="65" charset="-120"/>
              </a:rPr>
              <a:t>四、計畫六年推動目標及步驟</a:t>
            </a:r>
            <a:endParaRPr lang="zh-TW" altLang="en-US" sz="3600" dirty="0">
              <a:latin typeface="標楷體" pitchFamily="65" charset="-120"/>
              <a:ea typeface="標楷體" pitchFamily="65" charset="-120"/>
            </a:endParaRPr>
          </a:p>
        </p:txBody>
      </p:sp>
      <p:sp>
        <p:nvSpPr>
          <p:cNvPr id="6" name="矩形 5">
            <a:extLst>
              <a:ext uri="{FF2B5EF4-FFF2-40B4-BE49-F238E27FC236}">
                <a16:creationId xmlns:a16="http://schemas.microsoft.com/office/drawing/2014/main" id="{6C61A9AE-71BD-22B2-1DC8-CA7525D855C0}"/>
              </a:ext>
            </a:extLst>
          </p:cNvPr>
          <p:cNvSpPr/>
          <p:nvPr/>
        </p:nvSpPr>
        <p:spPr>
          <a:xfrm>
            <a:off x="251520" y="980729"/>
            <a:ext cx="8640960" cy="461665"/>
          </a:xfrm>
          <a:prstGeom prst="rect">
            <a:avLst/>
          </a:prstGeom>
        </p:spPr>
        <p:txBody>
          <a:bodyPr wrap="square">
            <a:spAutoFit/>
          </a:bodyPr>
          <a:lstStyle/>
          <a:p>
            <a:pPr marL="541338" marR="0" lvl="0" indent="-541338" algn="l" defTabSz="914400" rtl="0" eaLnBrk="0" fontAlgn="base" latinLnBrk="0" hangingPunct="0">
              <a:lnSpc>
                <a:spcPct val="100000"/>
              </a:lnSpc>
              <a:spcBef>
                <a:spcPts val="300"/>
              </a:spcBef>
              <a:spcAft>
                <a:spcPts val="300"/>
              </a:spcAft>
              <a:buClr>
                <a:srgbClr val="69AAB1"/>
              </a:buClr>
              <a:buSzTx/>
              <a:buFontTx/>
              <a:buNone/>
              <a:tabLst/>
              <a:defRPr/>
            </a:pPr>
            <a:r>
              <a:rPr kumimoji="0" lang="en-US" altLang="zh-TW" sz="2400" b="1" i="0" u="none" strike="noStrike" kern="2600" cap="none" spc="0" normalizeH="0" baseline="0" noProof="0" dirty="0">
                <a:ln>
                  <a:noFill/>
                </a:ln>
                <a:solidFill>
                  <a:srgbClr val="024631"/>
                </a:solidFill>
                <a:effectLst/>
                <a:uLnTx/>
                <a:uFillTx/>
                <a:latin typeface="標楷體"/>
                <a:ea typeface="超研澤粗楷"/>
                <a:cs typeface="+mn-cs"/>
              </a:rPr>
              <a:t>(</a:t>
            </a:r>
            <a:r>
              <a:rPr kumimoji="0" lang="zh-TW" altLang="en-US" sz="2400" b="1" i="0" u="none" strike="noStrike" kern="2600" cap="none" spc="0" normalizeH="0" baseline="0" noProof="0" dirty="0">
                <a:ln>
                  <a:noFill/>
                </a:ln>
                <a:solidFill>
                  <a:srgbClr val="024631"/>
                </a:solidFill>
                <a:effectLst/>
                <a:uLnTx/>
                <a:uFillTx/>
                <a:latin typeface="Times New Roman"/>
                <a:ea typeface="標楷體"/>
                <a:cs typeface="+mn-cs"/>
              </a:rPr>
              <a:t>六</a:t>
            </a:r>
            <a:r>
              <a:rPr kumimoji="0" lang="en-US" altLang="zh-TW" sz="2400" b="1" i="0" u="none" strike="noStrike" kern="2600" cap="none" spc="0" normalizeH="0" baseline="0" noProof="0" dirty="0">
                <a:ln>
                  <a:noFill/>
                </a:ln>
                <a:solidFill>
                  <a:srgbClr val="024631"/>
                </a:solidFill>
                <a:effectLst/>
                <a:uLnTx/>
                <a:uFillTx/>
                <a:latin typeface="Times New Roman"/>
                <a:ea typeface="標楷體"/>
                <a:cs typeface="+mn-cs"/>
              </a:rPr>
              <a:t>)</a:t>
            </a:r>
            <a:r>
              <a:rPr kumimoji="0" lang="zh-TW" altLang="en-US" sz="2400" b="1" i="0" u="none" strike="noStrike" kern="2600" cap="none" spc="0" normalizeH="0" baseline="0" noProof="0" dirty="0">
                <a:ln>
                  <a:noFill/>
                </a:ln>
                <a:solidFill>
                  <a:srgbClr val="024631"/>
                </a:solidFill>
                <a:effectLst/>
                <a:uLnTx/>
                <a:uFillTx/>
                <a:latin typeface="Times New Roman"/>
                <a:ea typeface="標楷體"/>
                <a:cs typeface="+mn-cs"/>
              </a:rPr>
              <a:t>第六年：</a:t>
            </a:r>
            <a:r>
              <a:rPr kumimoji="0" lang="zh-TW" altLang="en-US" sz="2400" b="1" i="0" u="none" strike="noStrike" kern="2600" cap="none" spc="0" normalizeH="0" baseline="0" noProof="0" dirty="0">
                <a:ln>
                  <a:noFill/>
                </a:ln>
                <a:solidFill>
                  <a:srgbClr val="FF0000"/>
                </a:solidFill>
                <a:effectLst/>
                <a:uLnTx/>
                <a:uFillTx/>
                <a:latin typeface="Times New Roman"/>
                <a:ea typeface="標楷體"/>
                <a:cs typeface="+mn-cs"/>
              </a:rPr>
              <a:t>第六年小旗艦社區帶入共生社區概念</a:t>
            </a:r>
          </a:p>
        </p:txBody>
      </p:sp>
      <p:sp>
        <p:nvSpPr>
          <p:cNvPr id="7" name="矩形 6">
            <a:extLst>
              <a:ext uri="{FF2B5EF4-FFF2-40B4-BE49-F238E27FC236}">
                <a16:creationId xmlns:a16="http://schemas.microsoft.com/office/drawing/2014/main" id="{BC32202C-5BFF-3B73-BE6C-CB8FEE9AE5AE}"/>
              </a:ext>
            </a:extLst>
          </p:cNvPr>
          <p:cNvSpPr/>
          <p:nvPr/>
        </p:nvSpPr>
        <p:spPr>
          <a:xfrm>
            <a:off x="123410" y="1811726"/>
            <a:ext cx="8897180" cy="3189463"/>
          </a:xfrm>
          <a:prstGeom prst="rect">
            <a:avLst/>
          </a:prstGeom>
        </p:spPr>
        <p:txBody>
          <a:bodyPr wrap="square">
            <a:spAutoFit/>
          </a:bodyPr>
          <a:lstStyle/>
          <a:p>
            <a:pPr marL="989965" marR="0" lvl="0" indent="-269240" algn="just" defTabSz="914400" rtl="0" eaLnBrk="1" fontAlgn="auto" latinLnBrk="0" hangingPunct="1">
              <a:lnSpc>
                <a:spcPts val="35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1.</a:t>
            </a:r>
            <a:r>
              <a:rPr kumimoji="0" lang="zh-TW" altLang="en-US"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增強社區凝聚力與互助精神：透過各項社區活動和志工服務，提升居民的情感聯繫，促進社區內的相互幫助與支持，營造和諧的社會氛圍。</a:t>
            </a:r>
          </a:p>
          <a:p>
            <a:pPr marL="989965" marR="0" lvl="0" indent="-269240" algn="just" defTabSz="914400" rtl="0" eaLnBrk="1" fontAlgn="auto" latinLnBrk="0" hangingPunct="1">
              <a:lnSpc>
                <a:spcPts val="35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2.</a:t>
            </a:r>
            <a:r>
              <a:rPr kumimoji="0" lang="zh-TW" altLang="en-US"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帶入共生社區概念，善用在地資源。</a:t>
            </a:r>
          </a:p>
          <a:p>
            <a:pPr marL="989965" marR="0" lvl="0" indent="-269240" algn="just" defTabSz="914400" rtl="0" eaLnBrk="1" fontAlgn="auto" latinLnBrk="0" hangingPunct="1">
              <a:lnSpc>
                <a:spcPts val="35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3.</a:t>
            </a:r>
            <a:r>
              <a:rPr kumimoji="0" lang="zh-TW" altLang="en-US" sz="22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提升居民技能與自我價值：提供各種技能培訓與社會服務機會，尤其是對長者、弱勢群體及一般居民，讓他們能夠參與社會建設，提升自我價值感與社會責任感。</a:t>
            </a:r>
          </a:p>
        </p:txBody>
      </p:sp>
    </p:spTree>
    <p:extLst>
      <p:ext uri="{BB962C8B-B14F-4D97-AF65-F5344CB8AC3E}">
        <p14:creationId xmlns:p14="http://schemas.microsoft.com/office/powerpoint/2010/main" val="3192426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小旗艦計畫執行成果</a:t>
            </a:r>
          </a:p>
        </p:txBody>
      </p:sp>
      <p:sp>
        <p:nvSpPr>
          <p:cNvPr id="5" name="矩形 4"/>
          <p:cNvSpPr/>
          <p:nvPr/>
        </p:nvSpPr>
        <p:spPr>
          <a:xfrm>
            <a:off x="395536" y="764704"/>
            <a:ext cx="8424936" cy="4526239"/>
          </a:xfrm>
          <a:prstGeom prst="rect">
            <a:avLst/>
          </a:prstGeom>
        </p:spPr>
        <p:txBody>
          <a:bodyPr wrap="square">
            <a:spAutoFit/>
          </a:bodyPr>
          <a:lstStyle/>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111</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年</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方案一：志工友愛</a:t>
            </a: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種子師資增能輔導研習</a:t>
            </a: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	</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衛生福利部預防及延緩失</a:t>
            </a:r>
            <a:endParaRPr kumimoji="0" lang="zh-TW" altLang="zh-TW" sz="1600" b="1" i="0" u="none" strike="noStrike" kern="100" cap="none" spc="0" normalizeH="0" baseline="0" noProof="0" dirty="0">
              <a:ln>
                <a:noFill/>
              </a:ln>
              <a:solidFill>
                <a:srgbClr val="000000"/>
              </a:solidFill>
              <a:effectLst/>
              <a:uLnTx/>
              <a:uFillTx/>
              <a:latin typeface="Times New Roman"/>
              <a:ea typeface="新細明體"/>
              <a:cs typeface="+mn-cs"/>
            </a:endParaRPr>
          </a:p>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000000"/>
                </a:solidFill>
                <a:effectLst/>
                <a:uLnTx/>
                <a:uFillTx/>
                <a:latin typeface="標楷體"/>
                <a:ea typeface="新細明體"/>
                <a:cs typeface="+mn-cs"/>
              </a:rPr>
              <a:t>        </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能照護師資人才培訓</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中臺科技健康活力</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GOGOGO</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模組</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指導員</a:t>
            </a:r>
            <a:endParaRPr kumimoji="0" lang="zh-TW" altLang="zh-TW" sz="1600" b="1" i="0" u="none" strike="noStrike" kern="100" cap="none" spc="0" normalizeH="0" baseline="0" noProof="0" dirty="0">
              <a:ln>
                <a:noFill/>
              </a:ln>
              <a:solidFill>
                <a:srgbClr val="000000"/>
              </a:solidFill>
              <a:effectLst/>
              <a:uLnTx/>
              <a:uFillTx/>
              <a:latin typeface="Times New Roman"/>
              <a:ea typeface="新細明體"/>
              <a:cs typeface="+mn-cs"/>
            </a:endParaRPr>
          </a:p>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000000"/>
                </a:solidFill>
                <a:effectLst/>
                <a:uLnTx/>
                <a:uFillTx/>
                <a:latin typeface="標楷體"/>
                <a:ea typeface="新細明體"/>
                <a:cs typeface="+mn-cs"/>
              </a:rPr>
              <a:t>        /</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協助員，增能輔導研習辦理日期</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月</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23</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日，參加人數有</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47</a:t>
            </a:r>
            <a:endParaRPr kumimoji="0" lang="zh-TW" altLang="zh-TW" sz="1600" b="1" i="0" u="none" strike="noStrike" kern="100" cap="none" spc="0" normalizeH="0" baseline="0" noProof="0" dirty="0">
              <a:ln>
                <a:noFill/>
              </a:ln>
              <a:solidFill>
                <a:srgbClr val="000000"/>
              </a:solidFill>
              <a:effectLst/>
              <a:uLnTx/>
              <a:uFillTx/>
              <a:latin typeface="Times New Roman"/>
              <a:ea typeface="新細明體"/>
              <a:cs typeface="+mn-cs"/>
            </a:endParaRPr>
          </a:p>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000000"/>
                </a:solidFill>
                <a:effectLst/>
                <a:uLnTx/>
                <a:uFillTx/>
                <a:latin typeface="標楷體"/>
                <a:ea typeface="新細明體"/>
                <a:cs typeface="+mn-cs"/>
              </a:rPr>
              <a:t>       </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人</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男</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6</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人、女</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41</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人</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 </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a:t>
            </a:r>
            <a:endPar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endParaRPr>
          </a:p>
          <a:p>
            <a:pPr marL="304800" lvl="0">
              <a:lnSpc>
                <a:spcPct val="150000"/>
              </a:lnSpc>
            </a:pPr>
            <a:r>
              <a:rPr lang="en-US" altLang="zh-TW" b="1" kern="100" dirty="0">
                <a:solidFill>
                  <a:srgbClr val="FF0000"/>
                </a:solidFill>
                <a:latin typeface="Times New Roman"/>
                <a:ea typeface="標楷體"/>
              </a:rPr>
              <a:t>112</a:t>
            </a:r>
            <a:r>
              <a:rPr lang="zh-TW" altLang="en-US" b="1" kern="100" dirty="0">
                <a:solidFill>
                  <a:srgbClr val="FF0000"/>
                </a:solidFill>
                <a:latin typeface="Times New Roman"/>
                <a:ea typeface="標楷體"/>
              </a:rPr>
              <a:t>年</a:t>
            </a:r>
            <a:r>
              <a:rPr lang="zh-TW" altLang="zh-TW" b="1" kern="100" dirty="0">
                <a:solidFill>
                  <a:srgbClr val="FF0000"/>
                </a:solidFill>
                <a:latin typeface="Times New Roman"/>
                <a:ea typeface="標楷體"/>
              </a:rPr>
              <a:t>方案一：</a:t>
            </a:r>
            <a:r>
              <a:rPr lang="zh-TW" altLang="en-US" b="1" kern="100" dirty="0">
                <a:solidFill>
                  <a:srgbClr val="FF0000"/>
                </a:solidFill>
                <a:latin typeface="Times New Roman"/>
                <a:ea typeface="標楷體"/>
              </a:rPr>
              <a:t>種子師資在地教案研發營</a:t>
            </a:r>
            <a:r>
              <a:rPr lang="zh-TW" altLang="zh-TW" b="1" kern="100" dirty="0">
                <a:solidFill>
                  <a:srgbClr val="FF0000"/>
                </a:solidFill>
                <a:latin typeface="Times New Roman"/>
                <a:ea typeface="標楷體"/>
              </a:rPr>
              <a:t>：</a:t>
            </a:r>
            <a:r>
              <a:rPr lang="zh-TW" altLang="zh-TW" b="1" kern="100" dirty="0">
                <a:solidFill>
                  <a:srgbClr val="000000"/>
                </a:solidFill>
                <a:latin typeface="Times New Roman"/>
                <a:ea typeface="標楷體"/>
              </a:rPr>
              <a:t>衛生福利部預防及延緩失</a:t>
            </a:r>
            <a:r>
              <a:rPr lang="zh-TW" altLang="en-US" b="1" kern="100" dirty="0">
                <a:solidFill>
                  <a:srgbClr val="000000"/>
                </a:solidFill>
                <a:latin typeface="Times New Roman"/>
                <a:ea typeface="標楷體"/>
              </a:rPr>
              <a:t>能照護師資</a:t>
            </a:r>
            <a:endParaRPr lang="en-US" altLang="zh-TW" b="1" kern="100" dirty="0">
              <a:solidFill>
                <a:srgbClr val="000000"/>
              </a:solidFill>
              <a:latin typeface="Times New Roman"/>
              <a:ea typeface="標楷體"/>
            </a:endParaRPr>
          </a:p>
          <a:p>
            <a:pPr marL="304800" lvl="0">
              <a:lnSpc>
                <a:spcPct val="150000"/>
              </a:lnSpc>
            </a:pPr>
            <a:r>
              <a:rPr lang="zh-TW" altLang="en-US" b="1" kern="100" dirty="0">
                <a:solidFill>
                  <a:srgbClr val="000000"/>
                </a:solidFill>
                <a:latin typeface="Times New Roman"/>
                <a:ea typeface="標楷體"/>
              </a:rPr>
              <a:t>                 人才培訓</a:t>
            </a:r>
            <a:r>
              <a:rPr lang="en-US" altLang="zh-TW" b="1" kern="100" dirty="0">
                <a:solidFill>
                  <a:srgbClr val="000000"/>
                </a:solidFill>
                <a:latin typeface="Times New Roman"/>
                <a:ea typeface="標楷體"/>
              </a:rPr>
              <a:t>-</a:t>
            </a:r>
            <a:r>
              <a:rPr lang="zh-TW" altLang="zh-TW" b="1" kern="100" dirty="0">
                <a:solidFill>
                  <a:srgbClr val="000000"/>
                </a:solidFill>
                <a:latin typeface="Times New Roman"/>
                <a:ea typeface="標楷體"/>
              </a:rPr>
              <a:t>中臺科技健康活力</a:t>
            </a:r>
            <a:r>
              <a:rPr lang="en-US" altLang="zh-TW" b="1" kern="100" dirty="0">
                <a:solidFill>
                  <a:srgbClr val="000000"/>
                </a:solidFill>
                <a:latin typeface="Times New Roman"/>
                <a:ea typeface="標楷體"/>
              </a:rPr>
              <a:t>GOGOGO</a:t>
            </a:r>
            <a:r>
              <a:rPr lang="zh-TW" altLang="zh-TW" b="1" kern="100" dirty="0">
                <a:solidFill>
                  <a:srgbClr val="000000"/>
                </a:solidFill>
                <a:latin typeface="Times New Roman"/>
                <a:ea typeface="標楷體"/>
              </a:rPr>
              <a:t>模組</a:t>
            </a:r>
            <a:r>
              <a:rPr lang="en-US" altLang="zh-TW" b="1" kern="100" dirty="0">
                <a:solidFill>
                  <a:srgbClr val="000000"/>
                </a:solidFill>
                <a:latin typeface="Times New Roman"/>
                <a:ea typeface="標楷體"/>
              </a:rPr>
              <a:t>/</a:t>
            </a:r>
            <a:r>
              <a:rPr lang="zh-TW" altLang="zh-TW" b="1" kern="100" dirty="0">
                <a:solidFill>
                  <a:srgbClr val="000000"/>
                </a:solidFill>
                <a:latin typeface="Times New Roman"/>
                <a:ea typeface="標楷體"/>
              </a:rPr>
              <a:t>指導員</a:t>
            </a:r>
            <a:r>
              <a:rPr lang="en-US" altLang="zh-TW" b="1" kern="100" dirty="0">
                <a:solidFill>
                  <a:srgbClr val="000000"/>
                </a:solidFill>
                <a:latin typeface="標楷體"/>
                <a:ea typeface="新細明體"/>
              </a:rPr>
              <a:t>/</a:t>
            </a:r>
            <a:r>
              <a:rPr lang="zh-TW" altLang="zh-TW" b="1" kern="100" dirty="0">
                <a:solidFill>
                  <a:srgbClr val="000000"/>
                </a:solidFill>
                <a:latin typeface="Times New Roman"/>
                <a:ea typeface="標楷體"/>
              </a:rPr>
              <a:t>協助員，辦理</a:t>
            </a:r>
            <a:r>
              <a:rPr lang="zh-TW" altLang="en-US" b="1" kern="100" dirty="0">
                <a:solidFill>
                  <a:srgbClr val="000000"/>
                </a:solidFill>
                <a:latin typeface="Times New Roman"/>
                <a:ea typeface="標楷體"/>
              </a:rPr>
              <a:t>種</a:t>
            </a:r>
            <a:endParaRPr lang="en-US" altLang="zh-TW" b="1" kern="100" dirty="0">
              <a:solidFill>
                <a:srgbClr val="000000"/>
              </a:solidFill>
              <a:latin typeface="Times New Roman"/>
              <a:ea typeface="標楷體"/>
            </a:endParaRPr>
          </a:p>
          <a:p>
            <a:pPr marL="304800" lvl="0">
              <a:lnSpc>
                <a:spcPct val="150000"/>
              </a:lnSpc>
            </a:pPr>
            <a:r>
              <a:rPr lang="zh-TW" altLang="en-US" b="1" kern="100" dirty="0">
                <a:solidFill>
                  <a:srgbClr val="000000"/>
                </a:solidFill>
                <a:latin typeface="Times New Roman"/>
                <a:ea typeface="標楷體"/>
              </a:rPr>
              <a:t>                 子師資在地教案研發營辦理日期</a:t>
            </a:r>
            <a:r>
              <a:rPr lang="en-US" altLang="zh-TW" b="1" kern="100" dirty="0">
                <a:solidFill>
                  <a:srgbClr val="000000"/>
                </a:solidFill>
                <a:latin typeface="Times New Roman"/>
                <a:ea typeface="標楷體"/>
              </a:rPr>
              <a:t>5</a:t>
            </a:r>
            <a:r>
              <a:rPr lang="zh-TW" altLang="en-US" b="1" kern="100" dirty="0">
                <a:solidFill>
                  <a:srgbClr val="000000"/>
                </a:solidFill>
                <a:latin typeface="Times New Roman"/>
                <a:ea typeface="標楷體"/>
              </a:rPr>
              <a:t>月</a:t>
            </a:r>
            <a:r>
              <a:rPr lang="en-US" altLang="zh-TW" b="1" kern="100" dirty="0">
                <a:solidFill>
                  <a:srgbClr val="000000"/>
                </a:solidFill>
                <a:latin typeface="Times New Roman"/>
                <a:ea typeface="標楷體"/>
              </a:rPr>
              <a:t>27</a:t>
            </a:r>
            <a:r>
              <a:rPr lang="zh-TW" altLang="en-US" b="1" kern="100" dirty="0">
                <a:solidFill>
                  <a:srgbClr val="000000"/>
                </a:solidFill>
                <a:latin typeface="Times New Roman"/>
                <a:ea typeface="標楷體"/>
              </a:rPr>
              <a:t>日，參加人數有</a:t>
            </a:r>
            <a:r>
              <a:rPr lang="en-US" altLang="zh-TW" b="1" kern="100" dirty="0">
                <a:solidFill>
                  <a:srgbClr val="000000"/>
                </a:solidFill>
                <a:latin typeface="Times New Roman"/>
                <a:ea typeface="標楷體"/>
              </a:rPr>
              <a:t>38</a:t>
            </a:r>
            <a:r>
              <a:rPr lang="zh-TW" altLang="en-US" b="1" kern="100" dirty="0">
                <a:solidFill>
                  <a:srgbClr val="000000"/>
                </a:solidFill>
                <a:latin typeface="Times New Roman"/>
                <a:ea typeface="標楷體"/>
              </a:rPr>
              <a:t>人</a:t>
            </a:r>
            <a:r>
              <a:rPr lang="en-US" altLang="zh-TW" b="1" kern="100" dirty="0">
                <a:solidFill>
                  <a:srgbClr val="000000"/>
                </a:solidFill>
                <a:latin typeface="Times New Roman"/>
                <a:ea typeface="標楷體"/>
              </a:rPr>
              <a:t>(</a:t>
            </a:r>
            <a:r>
              <a:rPr lang="zh-TW" altLang="en-US" b="1" kern="100" dirty="0">
                <a:solidFill>
                  <a:srgbClr val="000000"/>
                </a:solidFill>
                <a:latin typeface="Times New Roman"/>
                <a:ea typeface="標楷體"/>
              </a:rPr>
              <a:t>男</a:t>
            </a:r>
            <a:r>
              <a:rPr lang="en-US" altLang="zh-TW" b="1" kern="100" dirty="0">
                <a:solidFill>
                  <a:srgbClr val="000000"/>
                </a:solidFill>
                <a:latin typeface="Times New Roman"/>
                <a:ea typeface="標楷體"/>
              </a:rPr>
              <a:t>4</a:t>
            </a:r>
            <a:r>
              <a:rPr lang="zh-TW" altLang="en-US" b="1" kern="100" dirty="0">
                <a:solidFill>
                  <a:srgbClr val="000000"/>
                </a:solidFill>
                <a:latin typeface="Times New Roman"/>
                <a:ea typeface="標楷體"/>
              </a:rPr>
              <a:t>人、女</a:t>
            </a:r>
            <a:endParaRPr lang="en-US" altLang="zh-TW" b="1" kern="100" dirty="0">
              <a:solidFill>
                <a:srgbClr val="000000"/>
              </a:solidFill>
              <a:latin typeface="Times New Roman"/>
              <a:ea typeface="標楷體"/>
            </a:endParaRPr>
          </a:p>
          <a:p>
            <a:pPr marL="304800" lvl="0">
              <a:lnSpc>
                <a:spcPct val="150000"/>
              </a:lnSpc>
            </a:pPr>
            <a:r>
              <a:rPr lang="zh-TW" altLang="en-US" b="1" kern="100" dirty="0">
                <a:solidFill>
                  <a:srgbClr val="000000"/>
                </a:solidFill>
                <a:latin typeface="Times New Roman"/>
                <a:ea typeface="標楷體"/>
              </a:rPr>
              <a:t>                   </a:t>
            </a:r>
            <a:r>
              <a:rPr lang="en-US" altLang="zh-TW" b="1" kern="100" dirty="0">
                <a:solidFill>
                  <a:srgbClr val="000000"/>
                </a:solidFill>
                <a:latin typeface="Times New Roman"/>
                <a:ea typeface="標楷體"/>
              </a:rPr>
              <a:t>34</a:t>
            </a:r>
            <a:r>
              <a:rPr lang="zh-TW" altLang="en-US" b="1" kern="100" dirty="0">
                <a:solidFill>
                  <a:srgbClr val="000000"/>
                </a:solidFill>
                <a:latin typeface="Times New Roman"/>
                <a:ea typeface="標楷體"/>
              </a:rPr>
              <a:t>人</a:t>
            </a:r>
            <a:r>
              <a:rPr lang="en-US" altLang="zh-TW" b="1" kern="100" dirty="0">
                <a:solidFill>
                  <a:srgbClr val="000000"/>
                </a:solidFill>
                <a:latin typeface="Times New Roman"/>
                <a:ea typeface="標楷體"/>
              </a:rPr>
              <a:t>) </a:t>
            </a:r>
            <a:r>
              <a:rPr lang="zh-TW" altLang="en-US" b="1" kern="100" dirty="0">
                <a:solidFill>
                  <a:srgbClr val="000000"/>
                </a:solidFill>
                <a:latin typeface="Times New Roman"/>
                <a:ea typeface="標楷體"/>
              </a:rPr>
              <a:t>並完成教案設計及教學影片。</a:t>
            </a:r>
            <a:endParaRPr lang="en-US" altLang="zh-TW" b="1" kern="100" dirty="0">
              <a:solidFill>
                <a:srgbClr val="000000"/>
              </a:solidFill>
              <a:latin typeface="Times New Roman"/>
              <a:ea typeface="標楷體"/>
            </a:endParaRPr>
          </a:p>
          <a:p>
            <a:pPr marL="304800" lvl="0">
              <a:lnSpc>
                <a:spcPct val="150000"/>
              </a:lnSpc>
            </a:pPr>
            <a:r>
              <a:rPr lang="en-US" altLang="zh-TW" b="1" kern="100" dirty="0">
                <a:solidFill>
                  <a:srgbClr val="FF0000"/>
                </a:solidFill>
                <a:latin typeface="Times New Roman"/>
                <a:ea typeface="標楷體"/>
              </a:rPr>
              <a:t>113</a:t>
            </a:r>
            <a:r>
              <a:rPr lang="zh-TW" altLang="en-US" b="1" kern="100" dirty="0">
                <a:solidFill>
                  <a:srgbClr val="FF0000"/>
                </a:solidFill>
                <a:latin typeface="Times New Roman"/>
                <a:ea typeface="標楷體"/>
              </a:rPr>
              <a:t>年</a:t>
            </a:r>
            <a:r>
              <a:rPr lang="zh-TW" altLang="zh-TW" b="1" kern="100" dirty="0">
                <a:solidFill>
                  <a:srgbClr val="FF0000"/>
                </a:solidFill>
                <a:latin typeface="Times New Roman"/>
                <a:ea typeface="標楷體"/>
              </a:rPr>
              <a:t>方案</a:t>
            </a:r>
            <a:r>
              <a:rPr lang="zh-TW" altLang="en-US" b="1" kern="100" dirty="0">
                <a:solidFill>
                  <a:srgbClr val="FF0000"/>
                </a:solidFill>
                <a:latin typeface="Times New Roman"/>
                <a:ea typeface="標楷體"/>
              </a:rPr>
              <a:t>一</a:t>
            </a:r>
            <a:r>
              <a:rPr lang="zh-TW" altLang="zh-TW" b="1" kern="100" dirty="0">
                <a:solidFill>
                  <a:srgbClr val="FF0000"/>
                </a:solidFill>
                <a:latin typeface="Times New Roman"/>
                <a:ea typeface="標楷體"/>
              </a:rPr>
              <a:t>：</a:t>
            </a:r>
            <a:r>
              <a:rPr lang="zh-TW" altLang="en-US" b="1" kern="100" dirty="0">
                <a:solidFill>
                  <a:srgbClr val="FF0000"/>
                </a:solidFill>
                <a:latin typeface="Times New Roman"/>
                <a:ea typeface="標楷體"/>
              </a:rPr>
              <a:t>銀髮族音樂照護種子師資培訓 </a:t>
            </a:r>
            <a:r>
              <a:rPr lang="zh-TW" altLang="zh-TW" b="1" kern="100" dirty="0">
                <a:solidFill>
                  <a:srgbClr val="FF0000"/>
                </a:solidFill>
                <a:latin typeface="Times New Roman"/>
                <a:ea typeface="標楷體"/>
              </a:rPr>
              <a:t>：</a:t>
            </a:r>
            <a:r>
              <a:rPr lang="en-US" altLang="zh-TW" b="1" kern="100" dirty="0">
                <a:solidFill>
                  <a:schemeClr val="bg2">
                    <a:lumMod val="10000"/>
                  </a:schemeClr>
                </a:solidFill>
                <a:latin typeface="Times New Roman"/>
                <a:ea typeface="標楷體"/>
              </a:rPr>
              <a:t>4</a:t>
            </a:r>
            <a:r>
              <a:rPr lang="zh-TW" altLang="en-US" b="1" kern="100" dirty="0">
                <a:solidFill>
                  <a:schemeClr val="bg2">
                    <a:lumMod val="10000"/>
                  </a:schemeClr>
                </a:solidFill>
                <a:latin typeface="Times New Roman"/>
                <a:ea typeface="標楷體"/>
              </a:rPr>
              <a:t>月</a:t>
            </a:r>
            <a:r>
              <a:rPr lang="en-US" altLang="zh-TW" b="1" kern="100" dirty="0">
                <a:solidFill>
                  <a:schemeClr val="bg2">
                    <a:lumMod val="10000"/>
                  </a:schemeClr>
                </a:solidFill>
                <a:latin typeface="Times New Roman"/>
                <a:ea typeface="標楷體"/>
              </a:rPr>
              <a:t>13</a:t>
            </a:r>
            <a:r>
              <a:rPr lang="zh-TW" altLang="en-US" b="1" kern="100" dirty="0">
                <a:solidFill>
                  <a:schemeClr val="bg2">
                    <a:lumMod val="10000"/>
                  </a:schemeClr>
                </a:solidFill>
                <a:latin typeface="Times New Roman"/>
                <a:ea typeface="標楷體"/>
              </a:rPr>
              <a:t>日辦理</a:t>
            </a:r>
            <a:endParaRPr lang="zh-TW" altLang="zh-TW" b="1" kern="100" dirty="0">
              <a:solidFill>
                <a:schemeClr val="bg2">
                  <a:lumMod val="10000"/>
                </a:schemeClr>
              </a:solidFill>
              <a:latin typeface="Times New Roman"/>
              <a:ea typeface="新細明體"/>
            </a:endParaRPr>
          </a:p>
          <a:p>
            <a:pPr marL="304800" marR="0" lvl="0" indent="0" algn="l" defTabSz="914400" rtl="0" eaLnBrk="1" fontAlgn="auto" latinLnBrk="0" hangingPunct="1">
              <a:lnSpc>
                <a:spcPct val="150000"/>
              </a:lnSpc>
              <a:spcBef>
                <a:spcPts val="0"/>
              </a:spcBef>
              <a:spcAft>
                <a:spcPts val="0"/>
              </a:spcAft>
              <a:buClrTx/>
              <a:buSzTx/>
              <a:buFontTx/>
              <a:buNone/>
              <a:tabLst/>
              <a:defRPr/>
            </a:pPr>
            <a:endParaRPr kumimoji="0" lang="zh-TW" altLang="zh-TW" sz="1600" b="1" i="0" u="none" strike="noStrike" kern="100" cap="none" spc="0" normalizeH="0" baseline="0" noProof="0" dirty="0">
              <a:ln>
                <a:noFill/>
              </a:ln>
              <a:solidFill>
                <a:srgbClr val="000000"/>
              </a:solidFill>
              <a:effectLst/>
              <a:uLnTx/>
              <a:uFillTx/>
              <a:latin typeface="Times New Roman"/>
              <a:ea typeface="新細明體"/>
              <a:cs typeface="+mn-cs"/>
            </a:endParaRPr>
          </a:p>
          <a:p>
            <a:pPr lvl="0">
              <a:lnSpc>
                <a:spcPct val="150000"/>
              </a:lnSpc>
            </a:pPr>
            <a:endParaRPr kumimoji="0" lang="zh-TW" altLang="zh-TW" sz="1600" b="0" i="0" u="none" strike="noStrike" kern="100" cap="none" spc="0" normalizeH="0" baseline="0" noProof="0" dirty="0">
              <a:ln>
                <a:noFill/>
              </a:ln>
              <a:solidFill>
                <a:srgbClr val="024631"/>
              </a:solidFill>
              <a:effectLst/>
              <a:uLnTx/>
              <a:uFillTx/>
              <a:latin typeface="Times New Roman"/>
              <a:ea typeface="新細明體"/>
              <a:cs typeface="+mn-cs"/>
            </a:endParaRPr>
          </a:p>
        </p:txBody>
      </p:sp>
      <p:pic>
        <p:nvPicPr>
          <p:cNvPr id="7170" name="圖片 2">
            <a:extLst>
              <a:ext uri="{FF2B5EF4-FFF2-40B4-BE49-F238E27FC236}">
                <a16:creationId xmlns:a16="http://schemas.microsoft.com/office/drawing/2014/main" id="{1585A2B6-7D56-41C5-8FA5-51F06F7CF971}"/>
              </a:ext>
            </a:extLst>
          </p:cNvPr>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229419" y="4791792"/>
            <a:ext cx="2686397" cy="2016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圖片 5">
            <a:extLst>
              <a:ext uri="{FF2B5EF4-FFF2-40B4-BE49-F238E27FC236}">
                <a16:creationId xmlns:a16="http://schemas.microsoft.com/office/drawing/2014/main" id="{23DD30E6-2F28-43BA-A3F9-7098B859D9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8801" y="4791792"/>
            <a:ext cx="2686397" cy="2016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圖片 10">
            <a:extLst>
              <a:ext uri="{FF2B5EF4-FFF2-40B4-BE49-F238E27FC236}">
                <a16:creationId xmlns:a16="http://schemas.microsoft.com/office/drawing/2014/main" id="{C7935119-80C5-4717-A8EA-D837B2C37314}"/>
              </a:ext>
            </a:extLst>
          </p:cNvPr>
          <p:cNvPicPr>
            <a:picLocks noChangeAspect="1" noChangeArrowheads="1"/>
          </p:cNvPicPr>
          <p:nvPr/>
        </p:nvPicPr>
        <p:blipFill>
          <a:blip r:embed="rId4" cstate="print">
            <a:lum bright="20000" contrast="20000"/>
            <a:extLst>
              <a:ext uri="{28A0092B-C50C-407E-A947-70E740481C1C}">
                <a14:useLocalDpi xmlns:a14="http://schemas.microsoft.com/office/drawing/2010/main" val="0"/>
              </a:ext>
            </a:extLst>
          </a:blip>
          <a:srcRect/>
          <a:stretch>
            <a:fillRect/>
          </a:stretch>
        </p:blipFill>
        <p:spPr bwMode="auto">
          <a:xfrm>
            <a:off x="6192651" y="4791792"/>
            <a:ext cx="2686397" cy="202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632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4000" dirty="0">
                <a:solidFill>
                  <a:srgbClr val="FFFFFF"/>
                </a:solidFill>
                <a:latin typeface="華康隸書體W7" panose="02010609010101010101" pitchFamily="49" charset="-120"/>
                <a:ea typeface="華康隸書體W7" panose="02010609010101010101" pitchFamily="49" charset="-120"/>
              </a:rPr>
              <a:t>五、方案內容</a:t>
            </a:r>
            <a:endParaRPr lang="zh-TW" altLang="en-US" dirty="0"/>
          </a:p>
        </p:txBody>
      </p:sp>
      <p:sp>
        <p:nvSpPr>
          <p:cNvPr id="3" name="內容版面配置區 2"/>
          <p:cNvSpPr>
            <a:spLocks noGrp="1"/>
          </p:cNvSpPr>
          <p:nvPr>
            <p:ph idx="1"/>
          </p:nvPr>
        </p:nvSpPr>
        <p:spPr/>
        <p:txBody>
          <a:bodyPr/>
          <a:lstStyle/>
          <a:p>
            <a:pPr marL="0" indent="0">
              <a:buNone/>
            </a:pPr>
            <a:r>
              <a:rPr lang="zh-TW" altLang="en-US" sz="2800" b="1" dirty="0">
                <a:solidFill>
                  <a:srgbClr val="FF0000"/>
                </a:solidFill>
                <a:latin typeface="標楷體" pitchFamily="65" charset="-120"/>
                <a:ea typeface="標楷體" pitchFamily="65" charset="-120"/>
              </a:rPr>
              <a:t>方案一：銀髮族音樂照護種子師資培訓</a:t>
            </a:r>
          </a:p>
        </p:txBody>
      </p:sp>
      <p:sp>
        <p:nvSpPr>
          <p:cNvPr id="5" name="矩形 4"/>
          <p:cNvSpPr/>
          <p:nvPr/>
        </p:nvSpPr>
        <p:spPr>
          <a:xfrm>
            <a:off x="698598" y="1556792"/>
            <a:ext cx="3877985"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en-US" altLang="zh-TW" sz="2400" b="0" i="0" u="none" strike="noStrike" kern="0" cap="none" spc="0" normalizeH="0" baseline="0" noProof="0" dirty="0">
                <a:ln>
                  <a:noFill/>
                </a:ln>
                <a:solidFill>
                  <a:srgbClr val="000000"/>
                </a:solidFill>
                <a:effectLst/>
                <a:uLnTx/>
                <a:uFillTx/>
                <a:latin typeface="標楷體"/>
                <a:ea typeface="+mn-ea"/>
                <a:cs typeface="Times New Roman"/>
              </a:rPr>
              <a:t>1.</a:t>
            </a: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計畫類型：■能力提升類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sp>
        <p:nvSpPr>
          <p:cNvPr id="4" name="矩形 3"/>
          <p:cNvSpPr/>
          <p:nvPr/>
        </p:nvSpPr>
        <p:spPr>
          <a:xfrm>
            <a:off x="587654" y="2132856"/>
            <a:ext cx="7977858" cy="415498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000000"/>
                </a:solidFill>
                <a:effectLst/>
                <a:uLnTx/>
                <a:uFillTx/>
                <a:latin typeface="Arial"/>
                <a:ea typeface="標楷體"/>
                <a:cs typeface="Times New Roman"/>
              </a:rPr>
              <a:t>四年來的小旗艦培訓，總計有</a:t>
            </a:r>
            <a:r>
              <a:rPr kumimoji="0" lang="en-US" altLang="zh-TW" sz="2400" b="1" i="0" u="none" strike="noStrike" kern="1200" cap="none" spc="0" normalizeH="0" baseline="0" noProof="0" dirty="0">
                <a:ln>
                  <a:noFill/>
                </a:ln>
                <a:solidFill>
                  <a:srgbClr val="000000"/>
                </a:solidFill>
                <a:effectLst/>
                <a:uLnTx/>
                <a:uFillTx/>
                <a:latin typeface="Arial"/>
                <a:ea typeface="標楷體"/>
                <a:cs typeface="Times New Roman"/>
              </a:rPr>
              <a:t>30</a:t>
            </a:r>
            <a:r>
              <a:rPr kumimoji="0" lang="zh-TW" altLang="en-US" sz="2400" b="1" i="0" u="none" strike="noStrike" kern="1200" cap="none" spc="0" normalizeH="0" baseline="0" noProof="0" dirty="0">
                <a:ln>
                  <a:noFill/>
                </a:ln>
                <a:solidFill>
                  <a:srgbClr val="000000"/>
                </a:solidFill>
                <a:effectLst/>
                <a:uLnTx/>
                <a:uFillTx/>
                <a:latin typeface="Arial"/>
                <a:ea typeface="標楷體"/>
                <a:cs typeface="Times New Roman"/>
              </a:rPr>
              <a:t>位老師通過衛生福利部「健康活力</a:t>
            </a:r>
            <a:r>
              <a:rPr kumimoji="0" lang="en-US" altLang="zh-TW" sz="2400" b="1" i="0" u="none" strike="noStrike" kern="1200" cap="none" spc="0" normalizeH="0" baseline="0" noProof="0" dirty="0">
                <a:ln>
                  <a:noFill/>
                </a:ln>
                <a:solidFill>
                  <a:srgbClr val="000000"/>
                </a:solidFill>
                <a:effectLst/>
                <a:uLnTx/>
                <a:uFillTx/>
                <a:latin typeface="Arial"/>
                <a:ea typeface="標楷體"/>
                <a:cs typeface="Times New Roman"/>
              </a:rPr>
              <a:t>GOGOGO</a:t>
            </a:r>
            <a:r>
              <a:rPr kumimoji="0" lang="zh-TW" altLang="en-US" sz="2400" b="1" i="0" u="none" strike="noStrike" kern="1200" cap="none" spc="0" normalizeH="0" baseline="0" noProof="0" dirty="0">
                <a:ln>
                  <a:noFill/>
                </a:ln>
                <a:solidFill>
                  <a:srgbClr val="000000"/>
                </a:solidFill>
                <a:effectLst/>
                <a:uLnTx/>
                <a:uFillTx/>
                <a:latin typeface="Arial"/>
                <a:ea typeface="標楷體"/>
                <a:cs typeface="Times New Roman"/>
              </a:rPr>
              <a:t>模組」指導員模組老師，目前有</a:t>
            </a:r>
            <a:r>
              <a:rPr kumimoji="0" lang="en-US" altLang="zh-TW" sz="2400" b="1" i="0" u="none" strike="noStrike" kern="1200" cap="none" spc="0" normalizeH="0" baseline="0" noProof="0" dirty="0">
                <a:ln>
                  <a:noFill/>
                </a:ln>
                <a:solidFill>
                  <a:srgbClr val="000000"/>
                </a:solidFill>
                <a:effectLst/>
                <a:uLnTx/>
                <a:uFillTx/>
                <a:latin typeface="Arial"/>
                <a:ea typeface="標楷體"/>
                <a:cs typeface="Times New Roman"/>
              </a:rPr>
              <a:t>30</a:t>
            </a:r>
            <a:r>
              <a:rPr kumimoji="0" lang="zh-TW" altLang="en-US" sz="2400" b="1" i="0" u="none" strike="noStrike" kern="1200" cap="none" spc="0" normalizeH="0" baseline="0" noProof="0" dirty="0">
                <a:ln>
                  <a:noFill/>
                </a:ln>
                <a:solidFill>
                  <a:srgbClr val="000000"/>
                </a:solidFill>
                <a:effectLst/>
                <a:uLnTx/>
                <a:uFillTx/>
                <a:latin typeface="Arial"/>
                <a:ea typeface="標楷體"/>
                <a:cs typeface="Times New Roman"/>
              </a:rPr>
              <a:t>位種子師資已在各社區據點中服務。今年本計畫希望另外持續培訓其他社區志工成為據點種子老師，並且帶入不同以往的教案，邀請中台科技大學林亮如老師，教學方式以藉由律動、歌唱及樂器操作進行音樂規律性與多重感官學習，讓在地種子教師增加教學教案，增加強化社區預防及延緩失能推動人員各項專業知能及推動量能，提高整體服務品質及成效，確保長者健康功能，有效減少衰弱及失能人口，提升種子師資能量，學習研發多元化創新符合在地服務教案，增加種子師資教學多元面向及學習能力</a:t>
            </a:r>
            <a:r>
              <a:rPr kumimoji="0" lang="zh-TW" altLang="en-US" sz="2400" b="1" i="0" u="none" strike="noStrike" kern="1200" cap="none" spc="0" normalizeH="0" baseline="0" noProof="0" dirty="0">
                <a:ln>
                  <a:noFill/>
                </a:ln>
                <a:solidFill>
                  <a:srgbClr val="000000"/>
                </a:solidFill>
                <a:effectLst/>
                <a:uLnTx/>
                <a:uFillTx/>
                <a:latin typeface="標楷體" pitchFamily="65" charset="-120"/>
                <a:ea typeface="標楷體" pitchFamily="65" charset="-120"/>
                <a:cs typeface="+mn-cs"/>
              </a:rPr>
              <a:t>。</a:t>
            </a:r>
          </a:p>
        </p:txBody>
      </p:sp>
    </p:spTree>
    <p:extLst>
      <p:ext uri="{BB962C8B-B14F-4D97-AF65-F5344CB8AC3E}">
        <p14:creationId xmlns:p14="http://schemas.microsoft.com/office/powerpoint/2010/main" val="1341413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600" dirty="0">
                <a:solidFill>
                  <a:srgbClr val="FFFFFF"/>
                </a:solidFill>
                <a:latin typeface="華康隸書體W7" panose="02010609010101010101" pitchFamily="49" charset="-120"/>
                <a:ea typeface="華康隸書體W7" panose="02010609010101010101" pitchFamily="49" charset="-120"/>
              </a:rPr>
              <a:t>五、方案內容</a:t>
            </a:r>
            <a:endParaRPr lang="zh-TW" altLang="en-US" sz="3600" dirty="0"/>
          </a:p>
        </p:txBody>
      </p:sp>
      <p:sp>
        <p:nvSpPr>
          <p:cNvPr id="3" name="內容版面配置區 2"/>
          <p:cNvSpPr>
            <a:spLocks noGrp="1"/>
          </p:cNvSpPr>
          <p:nvPr>
            <p:ph idx="1"/>
          </p:nvPr>
        </p:nvSpPr>
        <p:spPr/>
        <p:txBody>
          <a:bodyPr/>
          <a:lstStyle/>
          <a:p>
            <a:pPr marL="0" indent="0">
              <a:buNone/>
            </a:pPr>
            <a:r>
              <a:rPr lang="zh-TW" altLang="en-US" sz="2800" b="1" dirty="0">
                <a:solidFill>
                  <a:srgbClr val="FF0000"/>
                </a:solidFill>
                <a:latin typeface="標楷體" pitchFamily="65" charset="-120"/>
                <a:ea typeface="標楷體" pitchFamily="65" charset="-120"/>
              </a:rPr>
              <a:t>方案一：銀髮族音樂照護種子師資培訓</a:t>
            </a:r>
          </a:p>
        </p:txBody>
      </p:sp>
      <p:sp>
        <p:nvSpPr>
          <p:cNvPr id="5" name="矩形 4"/>
          <p:cNvSpPr/>
          <p:nvPr/>
        </p:nvSpPr>
        <p:spPr>
          <a:xfrm>
            <a:off x="698598" y="1556792"/>
            <a:ext cx="3877985"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en-US" altLang="zh-TW" sz="2400" b="0" i="0" u="none" strike="noStrike" kern="0" cap="none" spc="0" normalizeH="0" baseline="0" noProof="0" dirty="0">
                <a:ln>
                  <a:noFill/>
                </a:ln>
                <a:solidFill>
                  <a:srgbClr val="000000"/>
                </a:solidFill>
                <a:effectLst/>
                <a:uLnTx/>
                <a:uFillTx/>
                <a:latin typeface="標楷體"/>
                <a:ea typeface="+mn-ea"/>
                <a:cs typeface="Times New Roman"/>
              </a:rPr>
              <a:t>1.</a:t>
            </a: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計畫類型：■能力提升類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graphicFrame>
        <p:nvGraphicFramePr>
          <p:cNvPr id="6" name="表格 5">
            <a:extLst>
              <a:ext uri="{FF2B5EF4-FFF2-40B4-BE49-F238E27FC236}">
                <a16:creationId xmlns:a16="http://schemas.microsoft.com/office/drawing/2014/main" id="{BD4D9D53-15AA-417C-82F4-687188FC0BD3}"/>
              </a:ext>
            </a:extLst>
          </p:cNvPr>
          <p:cNvGraphicFramePr>
            <a:graphicFrameLocks noGrp="1"/>
          </p:cNvGraphicFramePr>
          <p:nvPr/>
        </p:nvGraphicFramePr>
        <p:xfrm>
          <a:off x="1259632" y="2137383"/>
          <a:ext cx="5667376" cy="4526280"/>
        </p:xfrm>
        <a:graphic>
          <a:graphicData uri="http://schemas.openxmlformats.org/drawingml/2006/table">
            <a:tbl>
              <a:tblPr/>
              <a:tblGrid>
                <a:gridCol w="1165077">
                  <a:extLst>
                    <a:ext uri="{9D8B030D-6E8A-4147-A177-3AD203B41FA5}">
                      <a16:colId xmlns:a16="http://schemas.microsoft.com/office/drawing/2014/main" val="2927867313"/>
                    </a:ext>
                  </a:extLst>
                </a:gridCol>
                <a:gridCol w="2248294">
                  <a:extLst>
                    <a:ext uri="{9D8B030D-6E8A-4147-A177-3AD203B41FA5}">
                      <a16:colId xmlns:a16="http://schemas.microsoft.com/office/drawing/2014/main" val="972115589"/>
                    </a:ext>
                  </a:extLst>
                </a:gridCol>
                <a:gridCol w="2254005">
                  <a:extLst>
                    <a:ext uri="{9D8B030D-6E8A-4147-A177-3AD203B41FA5}">
                      <a16:colId xmlns:a16="http://schemas.microsoft.com/office/drawing/2014/main" val="2111545039"/>
                    </a:ext>
                  </a:extLst>
                </a:gridCol>
              </a:tblGrid>
              <a:tr h="431800">
                <a:tc>
                  <a:txBody>
                    <a:bodyPr/>
                    <a:lstStyle/>
                    <a:p>
                      <a:pPr algn="ctr">
                        <a:spcAft>
                          <a:spcPts val="0"/>
                        </a:spcAft>
                      </a:pPr>
                      <a:r>
                        <a:rPr lang="zh-TW" sz="14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時間</a:t>
                      </a:r>
                      <a:endParaRPr lang="zh-TW" sz="14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課程主題</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課程講師</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extLst>
                  <a:ext uri="{0D108BD9-81ED-4DB2-BD59-A6C34878D82A}">
                    <a16:rowId xmlns:a16="http://schemas.microsoft.com/office/drawing/2014/main" val="897982763"/>
                  </a:ext>
                </a:extLst>
              </a:tr>
              <a:tr h="431800">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07:50-08:00</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tc>
                  <a:txBody>
                    <a:bodyPr/>
                    <a:lstStyle/>
                    <a:p>
                      <a:pPr algn="ctr">
                        <a:spcAft>
                          <a:spcPts val="0"/>
                        </a:spcAft>
                      </a:pPr>
                      <a:r>
                        <a:rPr lang="zh-TW" sz="14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報到</a:t>
                      </a:r>
                      <a:endParaRPr lang="zh-TW" sz="14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社區志工</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extLst>
                  <a:ext uri="{0D108BD9-81ED-4DB2-BD59-A6C34878D82A}">
                    <a16:rowId xmlns:a16="http://schemas.microsoft.com/office/drawing/2014/main" val="2149353174"/>
                  </a:ext>
                </a:extLst>
              </a:tr>
              <a:tr h="431800">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08:00-10:00</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tc>
                  <a:txBody>
                    <a:bodyPr/>
                    <a:lstStyle/>
                    <a:p>
                      <a:pPr>
                        <a:spcAft>
                          <a:spcPts val="0"/>
                        </a:spcAft>
                      </a:pPr>
                      <a:r>
                        <a:rPr lang="zh-TW" sz="14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音樂照護活動帶領與示範（暖身操1、暖身操2）</a:t>
                      </a:r>
                      <a:endParaRPr lang="zh-TW" sz="14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tc>
                  <a:txBody>
                    <a:bodyPr/>
                    <a:lstStyle/>
                    <a:p>
                      <a:pPr algn="ctr">
                        <a:spcAft>
                          <a:spcPts val="0"/>
                        </a:spcAft>
                      </a:pPr>
                      <a:r>
                        <a:rPr lang="zh-TW" sz="14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林亮如  副教授</a:t>
                      </a:r>
                      <a:endParaRPr lang="zh-TW" sz="14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extLst>
                  <a:ext uri="{0D108BD9-81ED-4DB2-BD59-A6C34878D82A}">
                    <a16:rowId xmlns:a16="http://schemas.microsoft.com/office/drawing/2014/main" val="768073760"/>
                  </a:ext>
                </a:extLst>
              </a:tr>
              <a:tr h="431800">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10:00-11:00</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tc>
                  <a:txBody>
                    <a:bodyPr/>
                    <a:lstStyle/>
                    <a:p>
                      <a:pP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銀髮族音樂照護相關學理說明</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tc>
                  <a:txBody>
                    <a:bodyPr/>
                    <a:lstStyle/>
                    <a:p>
                      <a:pPr algn="ctr">
                        <a:spcAft>
                          <a:spcPts val="0"/>
                        </a:spcAft>
                      </a:pPr>
                      <a:r>
                        <a:rPr lang="zh-TW" sz="14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林亮如  副教授</a:t>
                      </a:r>
                      <a:endParaRPr lang="zh-TW" sz="14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extLst>
                  <a:ext uri="{0D108BD9-81ED-4DB2-BD59-A6C34878D82A}">
                    <a16:rowId xmlns:a16="http://schemas.microsoft.com/office/drawing/2014/main" val="1878472310"/>
                  </a:ext>
                </a:extLst>
              </a:tr>
              <a:tr h="431800">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11:00-12:00</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tc>
                  <a:txBody>
                    <a:bodyPr/>
                    <a:lstStyle/>
                    <a:p>
                      <a:pP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音樂照護活動帶領與示範（音樂表情、樂段及提示語）</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tc>
                  <a:txBody>
                    <a:bodyPr/>
                    <a:lstStyle/>
                    <a:p>
                      <a:pPr algn="ctr">
                        <a:spcAft>
                          <a:spcPts val="0"/>
                        </a:spcAft>
                      </a:pPr>
                      <a:r>
                        <a:rPr lang="zh-TW" sz="14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林亮如  副教授</a:t>
                      </a:r>
                      <a:endParaRPr lang="zh-TW" sz="14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extLst>
                  <a:ext uri="{0D108BD9-81ED-4DB2-BD59-A6C34878D82A}">
                    <a16:rowId xmlns:a16="http://schemas.microsoft.com/office/drawing/2014/main" val="2163332361"/>
                  </a:ext>
                </a:extLst>
              </a:tr>
              <a:tr h="431800">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12:00-13:00</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午餐</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tc>
                  <a:txBody>
                    <a:bodyPr/>
                    <a:lstStyle/>
                    <a:p>
                      <a:pPr algn="ctr">
                        <a:spcAft>
                          <a:spcPts val="0"/>
                        </a:spcAft>
                      </a:pPr>
                      <a:r>
                        <a:rPr lang="zh-TW" sz="14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 </a:t>
                      </a:r>
                      <a:endParaRPr lang="zh-TW" sz="14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extLst>
                  <a:ext uri="{0D108BD9-81ED-4DB2-BD59-A6C34878D82A}">
                    <a16:rowId xmlns:a16="http://schemas.microsoft.com/office/drawing/2014/main" val="1311380206"/>
                  </a:ext>
                </a:extLst>
              </a:tr>
              <a:tr h="431800">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13:00-15:00</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音樂照護活動帶領與示範（活化大腦）</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tc>
                  <a:txBody>
                    <a:bodyPr/>
                    <a:lstStyle/>
                    <a:p>
                      <a:pPr algn="ctr">
                        <a:spcAft>
                          <a:spcPts val="0"/>
                        </a:spcAft>
                      </a:pPr>
                      <a:r>
                        <a:rPr lang="zh-TW" sz="14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林亮如  副教授</a:t>
                      </a:r>
                      <a:endParaRPr lang="zh-TW" sz="14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extLst>
                  <a:ext uri="{0D108BD9-81ED-4DB2-BD59-A6C34878D82A}">
                    <a16:rowId xmlns:a16="http://schemas.microsoft.com/office/drawing/2014/main" val="353974225"/>
                  </a:ext>
                </a:extLst>
              </a:tr>
              <a:tr h="431800">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15:00-17:00</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tc>
                  <a:txBody>
                    <a:bodyPr/>
                    <a:lstStyle/>
                    <a:p>
                      <a:pPr algn="ctr">
                        <a:spcAft>
                          <a:spcPts val="0"/>
                        </a:spcAft>
                      </a:pPr>
                      <a:r>
                        <a:rPr lang="zh-TW" sz="1400" b="1" kern="10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音樂照護活動帶領與示範（洗手歌、吞嚥操）</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tc>
                  <a:txBody>
                    <a:bodyPr/>
                    <a:lstStyle/>
                    <a:p>
                      <a:pPr algn="ctr">
                        <a:spcAft>
                          <a:spcPts val="0"/>
                        </a:spcAft>
                      </a:pPr>
                      <a:r>
                        <a:rPr lang="zh-TW" sz="14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林亮如  副教授</a:t>
                      </a:r>
                      <a:endParaRPr lang="zh-TW" sz="14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extLst>
                  <a:ext uri="{0D108BD9-81ED-4DB2-BD59-A6C34878D82A}">
                    <a16:rowId xmlns:a16="http://schemas.microsoft.com/office/drawing/2014/main" val="1788030144"/>
                  </a:ext>
                </a:extLst>
              </a:tr>
              <a:tr h="431800">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17:00-17:30</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人員交流與結業</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tc>
                  <a:txBody>
                    <a:bodyPr/>
                    <a:lstStyle/>
                    <a:p>
                      <a:pPr algn="ctr">
                        <a:spcAft>
                          <a:spcPts val="0"/>
                        </a:spcAft>
                      </a:pPr>
                      <a:r>
                        <a:rPr lang="zh-TW" sz="14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林亮如  副教授</a:t>
                      </a:r>
                      <a:endParaRPr lang="zh-TW" sz="14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FFFFFF"/>
                    </a:solidFill>
                  </a:tcPr>
                </a:tc>
                <a:extLst>
                  <a:ext uri="{0D108BD9-81ED-4DB2-BD59-A6C34878D82A}">
                    <a16:rowId xmlns:a16="http://schemas.microsoft.com/office/drawing/2014/main" val="3893463928"/>
                  </a:ext>
                </a:extLst>
              </a:tr>
              <a:tr h="431800">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 </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tc>
                  <a:txBody>
                    <a:bodyPr/>
                    <a:lstStyle/>
                    <a:p>
                      <a:pPr algn="ctr">
                        <a:spcAft>
                          <a:spcPts val="0"/>
                        </a:spcAft>
                      </a:pPr>
                      <a:r>
                        <a:rPr lang="zh-TW" sz="1400" b="1" kern="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簽退</a:t>
                      </a:r>
                      <a:endParaRPr lang="zh-TW" sz="14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tc>
                  <a:txBody>
                    <a:bodyPr/>
                    <a:lstStyle/>
                    <a:p>
                      <a:pPr algn="ctr">
                        <a:spcAft>
                          <a:spcPts val="0"/>
                        </a:spcAft>
                      </a:pPr>
                      <a:r>
                        <a:rPr lang="zh-TW" sz="1400" b="1" kern="0" dirty="0">
                          <a:solidFill>
                            <a:schemeClr val="bg2">
                              <a:lumMod val="10000"/>
                            </a:schemeClr>
                          </a:solidFill>
                          <a:effectLst/>
                          <a:latin typeface="Times New Roman" panose="02020603050405020304" pitchFamily="18" charset="0"/>
                          <a:ea typeface="標楷體" panose="03000509000000000000" pitchFamily="65" charset="-120"/>
                          <a:cs typeface="新細明體" panose="02020500000000000000" pitchFamily="18" charset="-120"/>
                        </a:rPr>
                        <a:t> </a:t>
                      </a:r>
                      <a:endParaRPr lang="zh-TW" sz="14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lnL w="12700" cap="flat" cmpd="sng" algn="ctr">
                      <a:solidFill>
                        <a:srgbClr val="525252"/>
                      </a:solidFill>
                      <a:prstDash val="solid"/>
                      <a:round/>
                      <a:headEnd type="none" w="med" len="med"/>
                      <a:tailEnd type="none" w="med" len="med"/>
                    </a:lnL>
                    <a:lnR w="12700" cap="flat" cmpd="sng" algn="ctr">
                      <a:solidFill>
                        <a:srgbClr val="525252"/>
                      </a:solidFill>
                      <a:prstDash val="solid"/>
                      <a:round/>
                      <a:headEnd type="none" w="med" len="med"/>
                      <a:tailEnd type="none" w="med" len="med"/>
                    </a:lnR>
                    <a:lnT w="12700" cap="flat" cmpd="sng" algn="ctr">
                      <a:solidFill>
                        <a:srgbClr val="525252"/>
                      </a:solidFill>
                      <a:prstDash val="solid"/>
                      <a:round/>
                      <a:headEnd type="none" w="med" len="med"/>
                      <a:tailEnd type="none" w="med" len="med"/>
                    </a:lnT>
                    <a:lnB w="12700" cap="flat" cmpd="sng" algn="ctr">
                      <a:solidFill>
                        <a:srgbClr val="525252"/>
                      </a:solidFill>
                      <a:prstDash val="solid"/>
                      <a:round/>
                      <a:headEnd type="none" w="med" len="med"/>
                      <a:tailEnd type="none" w="med" len="med"/>
                    </a:lnB>
                    <a:solidFill>
                      <a:srgbClr val="E2EFD9"/>
                    </a:solidFill>
                  </a:tcPr>
                </a:tc>
                <a:extLst>
                  <a:ext uri="{0D108BD9-81ED-4DB2-BD59-A6C34878D82A}">
                    <a16:rowId xmlns:a16="http://schemas.microsoft.com/office/drawing/2014/main" val="3588158067"/>
                  </a:ext>
                </a:extLst>
              </a:tr>
            </a:tbl>
          </a:graphicData>
        </a:graphic>
      </p:graphicFrame>
    </p:spTree>
    <p:extLst>
      <p:ext uri="{BB962C8B-B14F-4D97-AF65-F5344CB8AC3E}">
        <p14:creationId xmlns:p14="http://schemas.microsoft.com/office/powerpoint/2010/main" val="3177931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小旗艦計畫執行成果</a:t>
            </a:r>
          </a:p>
        </p:txBody>
      </p:sp>
      <p:sp>
        <p:nvSpPr>
          <p:cNvPr id="5" name="矩形 4"/>
          <p:cNvSpPr/>
          <p:nvPr/>
        </p:nvSpPr>
        <p:spPr>
          <a:xfrm>
            <a:off x="0" y="1007396"/>
            <a:ext cx="8424936" cy="5818901"/>
          </a:xfrm>
          <a:prstGeom prst="rect">
            <a:avLst/>
          </a:prstGeom>
        </p:spPr>
        <p:txBody>
          <a:bodyPr wrap="square">
            <a:spAutoFit/>
          </a:bodyPr>
          <a:lstStyle/>
          <a:p>
            <a:pPr marL="304800" lvl="0">
              <a:lnSpc>
                <a:spcPct val="150000"/>
              </a:lnSpc>
            </a:pPr>
            <a:r>
              <a:rPr lang="en-US" altLang="zh-TW" b="1" kern="100" dirty="0">
                <a:solidFill>
                  <a:srgbClr val="FF0000"/>
                </a:solidFill>
                <a:latin typeface="Times New Roman"/>
                <a:ea typeface="標楷體"/>
              </a:rPr>
              <a:t>111</a:t>
            </a:r>
            <a:r>
              <a:rPr lang="zh-TW" altLang="en-US" b="1" kern="100" dirty="0">
                <a:solidFill>
                  <a:srgbClr val="FF0000"/>
                </a:solidFill>
                <a:latin typeface="Times New Roman"/>
                <a:ea typeface="標楷體"/>
              </a:rPr>
              <a:t>年</a:t>
            </a:r>
            <a:r>
              <a:rPr lang="zh-TW" altLang="zh-TW" b="1" kern="100" dirty="0">
                <a:solidFill>
                  <a:srgbClr val="FF0000"/>
                </a:solidFill>
                <a:latin typeface="Times New Roman"/>
                <a:ea typeface="標楷體"/>
              </a:rPr>
              <a:t>方案二：社區友愛</a:t>
            </a:r>
            <a:r>
              <a:rPr lang="en-US" altLang="zh-TW" b="1" kern="100" dirty="0">
                <a:solidFill>
                  <a:srgbClr val="FF0000"/>
                </a:solidFill>
                <a:latin typeface="Times New Roman"/>
                <a:ea typeface="標楷體"/>
              </a:rPr>
              <a:t>-</a:t>
            </a:r>
            <a:r>
              <a:rPr lang="zh-TW" altLang="zh-TW" b="1" kern="100" dirty="0">
                <a:solidFill>
                  <a:srgbClr val="FF0000"/>
                </a:solidFill>
                <a:latin typeface="Times New Roman"/>
                <a:ea typeface="標楷體"/>
              </a:rPr>
              <a:t>福利社區化工作圈會議</a:t>
            </a:r>
            <a:r>
              <a:rPr lang="en-US" altLang="zh-TW" b="1" kern="100" dirty="0">
                <a:solidFill>
                  <a:srgbClr val="FF0000"/>
                </a:solidFill>
                <a:latin typeface="Times New Roman"/>
                <a:ea typeface="標楷體"/>
              </a:rPr>
              <a:t>	</a:t>
            </a:r>
            <a:r>
              <a:rPr lang="zh-TW" altLang="zh-TW" b="1" kern="100" dirty="0">
                <a:solidFill>
                  <a:srgbClr val="FF0000"/>
                </a:solidFill>
                <a:latin typeface="Times New Roman"/>
                <a:ea typeface="標楷體"/>
              </a:rPr>
              <a:t>：</a:t>
            </a:r>
            <a:endParaRPr lang="zh-TW" altLang="zh-TW" sz="1600" b="1" kern="100" dirty="0">
              <a:solidFill>
                <a:srgbClr val="FF0000"/>
              </a:solidFill>
              <a:latin typeface="Times New Roman"/>
              <a:ea typeface="新細明體"/>
            </a:endParaRPr>
          </a:p>
          <a:p>
            <a:pPr marL="304800" lvl="0">
              <a:lnSpc>
                <a:spcPct val="150000"/>
              </a:lnSpc>
            </a:pPr>
            <a:r>
              <a:rPr lang="en-US" altLang="zh-TW" b="1" kern="100" dirty="0">
                <a:solidFill>
                  <a:srgbClr val="000000"/>
                </a:solidFill>
                <a:latin typeface="標楷體"/>
                <a:ea typeface="新細明體"/>
              </a:rPr>
              <a:t>      1.</a:t>
            </a:r>
            <a:r>
              <a:rPr lang="zh-TW" altLang="zh-TW" b="1" kern="100" dirty="0">
                <a:solidFill>
                  <a:srgbClr val="000000"/>
                </a:solidFill>
                <a:latin typeface="Times New Roman"/>
                <a:ea typeface="標楷體"/>
              </a:rPr>
              <a:t>工作圈會議</a:t>
            </a:r>
            <a:r>
              <a:rPr lang="en-US" altLang="zh-TW" b="1" kern="100" dirty="0">
                <a:solidFill>
                  <a:srgbClr val="000000"/>
                </a:solidFill>
                <a:latin typeface="Times New Roman"/>
                <a:ea typeface="標楷體"/>
              </a:rPr>
              <a:t>-4</a:t>
            </a:r>
            <a:r>
              <a:rPr lang="zh-TW" altLang="zh-TW" b="1" kern="100" dirty="0">
                <a:solidFill>
                  <a:srgbClr val="000000"/>
                </a:solidFill>
                <a:latin typeface="Times New Roman"/>
                <a:ea typeface="標楷體"/>
              </a:rPr>
              <a:t>社區</a:t>
            </a:r>
            <a:r>
              <a:rPr lang="en-US" altLang="zh-TW" b="1" kern="100" dirty="0">
                <a:solidFill>
                  <a:srgbClr val="000000"/>
                </a:solidFill>
                <a:latin typeface="Times New Roman"/>
                <a:ea typeface="標楷體"/>
              </a:rPr>
              <a:t>*4</a:t>
            </a:r>
            <a:r>
              <a:rPr lang="zh-TW" altLang="zh-TW" b="1" kern="100" dirty="0">
                <a:solidFill>
                  <a:srgbClr val="000000"/>
                </a:solidFill>
                <a:latin typeface="Times New Roman"/>
                <a:ea typeface="標楷體"/>
              </a:rPr>
              <a:t>次＝</a:t>
            </a:r>
            <a:r>
              <a:rPr lang="en-US" altLang="zh-TW" b="1" kern="100" dirty="0">
                <a:solidFill>
                  <a:srgbClr val="000000"/>
                </a:solidFill>
                <a:latin typeface="Times New Roman"/>
                <a:ea typeface="標楷體"/>
              </a:rPr>
              <a:t>42</a:t>
            </a:r>
            <a:r>
              <a:rPr lang="zh-TW" altLang="zh-TW" b="1" kern="100" dirty="0">
                <a:solidFill>
                  <a:srgbClr val="000000"/>
                </a:solidFill>
                <a:latin typeface="Times New Roman"/>
                <a:ea typeface="標楷體"/>
              </a:rPr>
              <a:t>人次（男</a:t>
            </a:r>
            <a:r>
              <a:rPr lang="en-US" altLang="zh-TW" b="1" kern="100" dirty="0">
                <a:solidFill>
                  <a:srgbClr val="000000"/>
                </a:solidFill>
                <a:latin typeface="Times New Roman"/>
                <a:ea typeface="標楷體"/>
              </a:rPr>
              <a:t>23</a:t>
            </a:r>
            <a:r>
              <a:rPr lang="zh-TW" altLang="zh-TW" b="1" kern="100" dirty="0">
                <a:solidFill>
                  <a:srgbClr val="000000"/>
                </a:solidFill>
                <a:latin typeface="Times New Roman"/>
                <a:ea typeface="標楷體"/>
              </a:rPr>
              <a:t>人次、女</a:t>
            </a:r>
            <a:r>
              <a:rPr lang="en-US" altLang="zh-TW" b="1" kern="100" dirty="0">
                <a:solidFill>
                  <a:srgbClr val="000000"/>
                </a:solidFill>
                <a:latin typeface="Times New Roman"/>
                <a:ea typeface="標楷體"/>
              </a:rPr>
              <a:t>19</a:t>
            </a:r>
            <a:r>
              <a:rPr lang="zh-TW" altLang="zh-TW" b="1" kern="100" dirty="0">
                <a:solidFill>
                  <a:srgbClr val="000000"/>
                </a:solidFill>
                <a:latin typeface="Times New Roman"/>
                <a:ea typeface="標楷體"/>
              </a:rPr>
              <a:t>人次）。</a:t>
            </a:r>
            <a:endParaRPr lang="zh-TW" altLang="zh-TW" sz="1600" b="1" kern="100" dirty="0">
              <a:solidFill>
                <a:srgbClr val="000000"/>
              </a:solidFill>
              <a:latin typeface="Times New Roman"/>
              <a:ea typeface="新細明體"/>
            </a:endParaRPr>
          </a:p>
          <a:p>
            <a:pPr marL="304800" lvl="0">
              <a:lnSpc>
                <a:spcPct val="150000"/>
              </a:lnSpc>
            </a:pPr>
            <a:r>
              <a:rPr lang="en-US" altLang="zh-TW" b="1" kern="100" dirty="0">
                <a:solidFill>
                  <a:srgbClr val="000000"/>
                </a:solidFill>
                <a:latin typeface="標楷體"/>
                <a:ea typeface="新細明體"/>
              </a:rPr>
              <a:t>      2.</a:t>
            </a:r>
            <a:r>
              <a:rPr lang="zh-TW" altLang="zh-TW" b="1" kern="100" dirty="0">
                <a:solidFill>
                  <a:srgbClr val="000000"/>
                </a:solidFill>
                <a:latin typeface="Times New Roman"/>
                <a:ea typeface="標楷體"/>
              </a:rPr>
              <a:t>幹部工作推動小組會議</a:t>
            </a:r>
            <a:r>
              <a:rPr lang="en-US" altLang="zh-TW" b="1" kern="100" dirty="0">
                <a:solidFill>
                  <a:srgbClr val="000000"/>
                </a:solidFill>
                <a:latin typeface="Times New Roman"/>
                <a:ea typeface="標楷體"/>
              </a:rPr>
              <a:t>-4</a:t>
            </a:r>
            <a:r>
              <a:rPr lang="zh-TW" altLang="zh-TW" b="1" kern="100" dirty="0">
                <a:solidFill>
                  <a:srgbClr val="000000"/>
                </a:solidFill>
                <a:latin typeface="Times New Roman"/>
                <a:ea typeface="標楷體"/>
              </a:rPr>
              <a:t>社區</a:t>
            </a:r>
            <a:r>
              <a:rPr lang="en-US" altLang="zh-TW" b="1" kern="100" dirty="0">
                <a:solidFill>
                  <a:srgbClr val="000000"/>
                </a:solidFill>
                <a:latin typeface="Times New Roman"/>
                <a:ea typeface="標楷體"/>
              </a:rPr>
              <a:t>*3</a:t>
            </a:r>
            <a:r>
              <a:rPr lang="zh-TW" altLang="zh-TW" b="1" kern="100" dirty="0">
                <a:solidFill>
                  <a:srgbClr val="000000"/>
                </a:solidFill>
                <a:latin typeface="Times New Roman"/>
                <a:ea typeface="標楷體"/>
              </a:rPr>
              <a:t>次＝</a:t>
            </a:r>
            <a:r>
              <a:rPr lang="en-US" altLang="zh-TW" b="1" kern="100" dirty="0">
                <a:solidFill>
                  <a:srgbClr val="000000"/>
                </a:solidFill>
                <a:latin typeface="Times New Roman"/>
                <a:ea typeface="標楷體"/>
              </a:rPr>
              <a:t>38</a:t>
            </a:r>
            <a:r>
              <a:rPr lang="zh-TW" altLang="zh-TW" b="1" kern="100" dirty="0">
                <a:solidFill>
                  <a:srgbClr val="000000"/>
                </a:solidFill>
                <a:latin typeface="Times New Roman"/>
                <a:ea typeface="標楷體"/>
              </a:rPr>
              <a:t>人次（男</a:t>
            </a:r>
            <a:r>
              <a:rPr lang="en-US" altLang="zh-TW" b="1" kern="100" dirty="0">
                <a:solidFill>
                  <a:srgbClr val="000000"/>
                </a:solidFill>
                <a:latin typeface="Times New Roman"/>
                <a:ea typeface="標楷體"/>
              </a:rPr>
              <a:t>20</a:t>
            </a:r>
            <a:r>
              <a:rPr lang="zh-TW" altLang="zh-TW" b="1" kern="100" dirty="0">
                <a:solidFill>
                  <a:srgbClr val="000000"/>
                </a:solidFill>
                <a:latin typeface="Times New Roman"/>
                <a:ea typeface="標楷體"/>
              </a:rPr>
              <a:t>人次、</a:t>
            </a:r>
            <a:r>
              <a:rPr lang="zh-TW" altLang="en-US" b="1" kern="100" dirty="0">
                <a:solidFill>
                  <a:srgbClr val="000000"/>
                </a:solidFill>
                <a:latin typeface="Times New Roman"/>
                <a:ea typeface="標楷體"/>
              </a:rPr>
              <a:t>女</a:t>
            </a:r>
            <a:r>
              <a:rPr lang="en-US" altLang="zh-TW" b="1" kern="100" dirty="0">
                <a:solidFill>
                  <a:srgbClr val="000000"/>
                </a:solidFill>
                <a:latin typeface="Times New Roman"/>
                <a:ea typeface="標楷體"/>
              </a:rPr>
              <a:t>18</a:t>
            </a:r>
            <a:r>
              <a:rPr lang="zh-TW" altLang="en-US" b="1" kern="100" dirty="0">
                <a:solidFill>
                  <a:srgbClr val="000000"/>
                </a:solidFill>
                <a:latin typeface="Times New Roman"/>
                <a:ea typeface="標楷體"/>
              </a:rPr>
              <a:t>人次）。</a:t>
            </a:r>
            <a:r>
              <a:rPr lang="zh-TW" altLang="zh-TW" b="1" kern="100" dirty="0">
                <a:solidFill>
                  <a:srgbClr val="000000"/>
                </a:solidFill>
                <a:latin typeface="Times New Roman"/>
                <a:ea typeface="標楷體"/>
              </a:rPr>
              <a:t> </a:t>
            </a:r>
            <a:endParaRPr lang="zh-TW" altLang="zh-TW" sz="1600" b="1" kern="100" dirty="0">
              <a:solidFill>
                <a:srgbClr val="000000"/>
              </a:solidFill>
              <a:latin typeface="Times New Roman"/>
              <a:ea typeface="新細明體"/>
            </a:endParaRPr>
          </a:p>
          <a:p>
            <a:pPr marL="304800" lvl="0">
              <a:lnSpc>
                <a:spcPct val="150000"/>
              </a:lnSpc>
            </a:pPr>
            <a:r>
              <a:rPr lang="zh-TW" altLang="en-US" b="1" kern="100" dirty="0">
                <a:solidFill>
                  <a:srgbClr val="000000"/>
                </a:solidFill>
                <a:latin typeface="標楷體"/>
                <a:ea typeface="新細明體"/>
              </a:rPr>
              <a:t>      </a:t>
            </a:r>
            <a:r>
              <a:rPr lang="en-US" altLang="zh-TW" b="1" kern="100" dirty="0">
                <a:solidFill>
                  <a:srgbClr val="000000"/>
                </a:solidFill>
                <a:latin typeface="標楷體"/>
                <a:ea typeface="新細明體"/>
              </a:rPr>
              <a:t>3.</a:t>
            </a:r>
            <a:r>
              <a:rPr lang="zh-TW" altLang="zh-TW" b="1" kern="100" dirty="0">
                <a:solidFill>
                  <a:srgbClr val="000000"/>
                </a:solidFill>
                <a:latin typeface="Times New Roman"/>
                <a:ea typeface="標楷體"/>
              </a:rPr>
              <a:t>總計</a:t>
            </a:r>
            <a:r>
              <a:rPr lang="en-US" altLang="zh-TW" b="1" kern="100" dirty="0">
                <a:solidFill>
                  <a:srgbClr val="000000"/>
                </a:solidFill>
                <a:latin typeface="Times New Roman"/>
                <a:ea typeface="標楷體"/>
              </a:rPr>
              <a:t>7</a:t>
            </a:r>
            <a:r>
              <a:rPr lang="zh-TW" altLang="zh-TW" b="1" kern="100" dirty="0">
                <a:solidFill>
                  <a:srgbClr val="000000"/>
                </a:solidFill>
                <a:latin typeface="Times New Roman"/>
                <a:ea typeface="標楷體"/>
              </a:rPr>
              <a:t>場，參與人數</a:t>
            </a:r>
            <a:r>
              <a:rPr lang="en-US" altLang="zh-TW" b="1" kern="100" dirty="0">
                <a:solidFill>
                  <a:srgbClr val="000000"/>
                </a:solidFill>
                <a:latin typeface="Times New Roman"/>
                <a:ea typeface="標楷體"/>
              </a:rPr>
              <a:t>80</a:t>
            </a:r>
            <a:r>
              <a:rPr lang="zh-TW" altLang="zh-TW" b="1" kern="100" dirty="0">
                <a:solidFill>
                  <a:srgbClr val="000000"/>
                </a:solidFill>
                <a:latin typeface="Times New Roman"/>
                <a:ea typeface="標楷體"/>
              </a:rPr>
              <a:t>人次（男</a:t>
            </a:r>
            <a:r>
              <a:rPr lang="en-US" altLang="zh-TW" b="1" kern="100" dirty="0">
                <a:solidFill>
                  <a:srgbClr val="000000"/>
                </a:solidFill>
                <a:latin typeface="Times New Roman"/>
                <a:ea typeface="標楷體"/>
              </a:rPr>
              <a:t>43</a:t>
            </a:r>
            <a:r>
              <a:rPr lang="zh-TW" altLang="zh-TW" b="1" kern="100" dirty="0">
                <a:solidFill>
                  <a:srgbClr val="000000"/>
                </a:solidFill>
                <a:latin typeface="Times New Roman"/>
                <a:ea typeface="標楷體"/>
              </a:rPr>
              <a:t>人次、女</a:t>
            </a:r>
            <a:r>
              <a:rPr lang="en-US" altLang="zh-TW" b="1" kern="100" dirty="0">
                <a:solidFill>
                  <a:srgbClr val="000000"/>
                </a:solidFill>
                <a:latin typeface="Times New Roman"/>
                <a:ea typeface="標楷體"/>
              </a:rPr>
              <a:t>37</a:t>
            </a:r>
            <a:r>
              <a:rPr lang="zh-TW" altLang="zh-TW" b="1" kern="100" dirty="0">
                <a:solidFill>
                  <a:srgbClr val="000000"/>
                </a:solidFill>
                <a:latin typeface="Times New Roman"/>
                <a:ea typeface="標楷體"/>
              </a:rPr>
              <a:t>人次）。</a:t>
            </a:r>
            <a:endParaRPr lang="zh-TW" altLang="zh-TW" sz="1600" b="1" kern="100" dirty="0">
              <a:solidFill>
                <a:srgbClr val="000000"/>
              </a:solidFill>
              <a:latin typeface="Times New Roman"/>
              <a:ea typeface="新細明體"/>
            </a:endParaRPr>
          </a:p>
          <a:p>
            <a:pPr marL="304800">
              <a:lnSpc>
                <a:spcPct val="150000"/>
              </a:lnSpc>
              <a:spcAft>
                <a:spcPts val="0"/>
              </a:spcAft>
            </a:pPr>
            <a:r>
              <a:rPr lang="en-US" altLang="zh-TW" b="1" kern="100" dirty="0">
                <a:solidFill>
                  <a:srgbClr val="FF0000"/>
                </a:solidFill>
                <a:latin typeface="Times New Roman"/>
                <a:ea typeface="標楷體"/>
              </a:rPr>
              <a:t>112</a:t>
            </a:r>
            <a:r>
              <a:rPr lang="zh-TW" altLang="en-US" b="1" kern="100" dirty="0">
                <a:solidFill>
                  <a:srgbClr val="FF0000"/>
                </a:solidFill>
                <a:latin typeface="Times New Roman"/>
                <a:ea typeface="標楷體"/>
              </a:rPr>
              <a:t>年</a:t>
            </a:r>
            <a:r>
              <a:rPr lang="zh-TW" altLang="zh-TW" b="1" kern="100" dirty="0">
                <a:solidFill>
                  <a:srgbClr val="FF0000"/>
                </a:solidFill>
                <a:latin typeface="Times New Roman"/>
                <a:ea typeface="標楷體"/>
              </a:rPr>
              <a:t>方案二：社區友愛</a:t>
            </a:r>
            <a:r>
              <a:rPr lang="en-US" altLang="zh-TW" b="1" kern="100" dirty="0">
                <a:solidFill>
                  <a:srgbClr val="FF0000"/>
                </a:solidFill>
                <a:latin typeface="Times New Roman"/>
                <a:ea typeface="標楷體"/>
              </a:rPr>
              <a:t>-</a:t>
            </a:r>
            <a:r>
              <a:rPr lang="zh-TW" altLang="zh-TW" b="1" kern="100" dirty="0">
                <a:solidFill>
                  <a:srgbClr val="FF0000"/>
                </a:solidFill>
                <a:latin typeface="Times New Roman"/>
                <a:ea typeface="標楷體"/>
              </a:rPr>
              <a:t>福利社區化工作圈會議</a:t>
            </a:r>
            <a:r>
              <a:rPr lang="en-US" altLang="zh-TW" b="1" kern="100" dirty="0">
                <a:solidFill>
                  <a:srgbClr val="FF0000"/>
                </a:solidFill>
                <a:latin typeface="Times New Roman"/>
                <a:ea typeface="標楷體"/>
              </a:rPr>
              <a:t>	</a:t>
            </a:r>
            <a:r>
              <a:rPr lang="zh-TW" altLang="zh-TW" b="1" kern="100" dirty="0">
                <a:solidFill>
                  <a:srgbClr val="FF0000"/>
                </a:solidFill>
                <a:latin typeface="Times New Roman"/>
                <a:ea typeface="標楷體"/>
              </a:rPr>
              <a:t>：</a:t>
            </a:r>
            <a:endParaRPr lang="zh-TW" altLang="zh-TW" sz="1600" b="1" kern="100" dirty="0">
              <a:solidFill>
                <a:srgbClr val="FF0000"/>
              </a:solidFill>
              <a:latin typeface="Times New Roman"/>
              <a:ea typeface="新細明體"/>
            </a:endParaRPr>
          </a:p>
          <a:p>
            <a:pPr marL="304800">
              <a:lnSpc>
                <a:spcPct val="150000"/>
              </a:lnSpc>
              <a:spcAft>
                <a:spcPts val="0"/>
              </a:spcAft>
            </a:pPr>
            <a:r>
              <a:rPr lang="en-US" altLang="zh-TW" b="1" kern="100" dirty="0">
                <a:solidFill>
                  <a:srgbClr val="000000"/>
                </a:solidFill>
                <a:latin typeface="標楷體"/>
                <a:ea typeface="新細明體"/>
              </a:rPr>
              <a:t>      1.</a:t>
            </a:r>
            <a:r>
              <a:rPr lang="zh-TW" altLang="en-US" b="1" kern="100" dirty="0">
                <a:solidFill>
                  <a:srgbClr val="000000"/>
                </a:solidFill>
                <a:latin typeface="Times New Roman"/>
                <a:ea typeface="標楷體"/>
              </a:rPr>
              <a:t>工作圈會議：總計</a:t>
            </a:r>
            <a:r>
              <a:rPr lang="en-US" altLang="zh-TW" b="1" kern="100" dirty="0">
                <a:solidFill>
                  <a:srgbClr val="000000"/>
                </a:solidFill>
                <a:latin typeface="Times New Roman"/>
                <a:ea typeface="標楷體"/>
              </a:rPr>
              <a:t>4</a:t>
            </a:r>
            <a:r>
              <a:rPr lang="zh-TW" altLang="en-US" b="1" kern="100" dirty="0">
                <a:solidFill>
                  <a:srgbClr val="000000"/>
                </a:solidFill>
                <a:latin typeface="Times New Roman"/>
                <a:ea typeface="標楷體"/>
              </a:rPr>
              <a:t>次，總計</a:t>
            </a:r>
            <a:r>
              <a:rPr lang="en-US" altLang="zh-TW" b="1" kern="100" dirty="0">
                <a:solidFill>
                  <a:srgbClr val="000000"/>
                </a:solidFill>
                <a:latin typeface="Times New Roman"/>
                <a:ea typeface="標楷體"/>
              </a:rPr>
              <a:t>26</a:t>
            </a:r>
            <a:r>
              <a:rPr lang="zh-TW" altLang="en-US" b="1" kern="100" dirty="0">
                <a:solidFill>
                  <a:srgbClr val="000000"/>
                </a:solidFill>
                <a:latin typeface="Times New Roman"/>
                <a:ea typeface="標楷體"/>
              </a:rPr>
              <a:t>人（男</a:t>
            </a:r>
            <a:r>
              <a:rPr lang="en-US" altLang="zh-TW" b="1" kern="100" dirty="0">
                <a:solidFill>
                  <a:srgbClr val="000000"/>
                </a:solidFill>
                <a:latin typeface="Times New Roman"/>
                <a:ea typeface="標楷體"/>
              </a:rPr>
              <a:t>16</a:t>
            </a:r>
            <a:r>
              <a:rPr lang="zh-TW" altLang="en-US" b="1" kern="100" dirty="0">
                <a:solidFill>
                  <a:srgbClr val="000000"/>
                </a:solidFill>
                <a:latin typeface="Times New Roman"/>
                <a:ea typeface="標楷體"/>
              </a:rPr>
              <a:t>人、女</a:t>
            </a:r>
            <a:r>
              <a:rPr lang="en-US" altLang="zh-TW" b="1" kern="100" dirty="0">
                <a:solidFill>
                  <a:srgbClr val="000000"/>
                </a:solidFill>
                <a:latin typeface="Times New Roman"/>
                <a:ea typeface="標楷體"/>
              </a:rPr>
              <a:t>10</a:t>
            </a:r>
            <a:r>
              <a:rPr lang="zh-TW" altLang="en-US" b="1" kern="100" dirty="0">
                <a:solidFill>
                  <a:srgbClr val="000000"/>
                </a:solidFill>
                <a:latin typeface="Times New Roman"/>
                <a:ea typeface="標楷體"/>
              </a:rPr>
              <a:t>人）參加。</a:t>
            </a:r>
            <a:endParaRPr lang="zh-TW" altLang="zh-TW" sz="1600" b="1" kern="100" dirty="0">
              <a:solidFill>
                <a:srgbClr val="000000"/>
              </a:solidFill>
              <a:latin typeface="Times New Roman"/>
              <a:ea typeface="新細明體"/>
            </a:endParaRPr>
          </a:p>
          <a:p>
            <a:pPr marL="304800">
              <a:lnSpc>
                <a:spcPct val="150000"/>
              </a:lnSpc>
              <a:spcAft>
                <a:spcPts val="0"/>
              </a:spcAft>
            </a:pPr>
            <a:r>
              <a:rPr lang="en-US" altLang="zh-TW" b="1" kern="100" dirty="0">
                <a:solidFill>
                  <a:srgbClr val="000000"/>
                </a:solidFill>
                <a:latin typeface="標楷體"/>
                <a:ea typeface="新細明體"/>
              </a:rPr>
              <a:t>      2.</a:t>
            </a:r>
            <a:r>
              <a:rPr lang="zh-TW" altLang="en-US" b="1" kern="100" dirty="0">
                <a:solidFill>
                  <a:srgbClr val="000000"/>
                </a:solidFill>
                <a:latin typeface="Times New Roman"/>
                <a:ea typeface="標楷體"/>
              </a:rPr>
              <a:t>幹部工作推動小組會議：總計</a:t>
            </a:r>
            <a:r>
              <a:rPr lang="en-US" altLang="zh-TW" b="1" kern="100" dirty="0">
                <a:solidFill>
                  <a:srgbClr val="000000"/>
                </a:solidFill>
                <a:latin typeface="Times New Roman"/>
                <a:ea typeface="標楷體"/>
              </a:rPr>
              <a:t>4</a:t>
            </a:r>
            <a:r>
              <a:rPr lang="zh-TW" altLang="en-US" b="1" kern="100" dirty="0">
                <a:solidFill>
                  <a:srgbClr val="000000"/>
                </a:solidFill>
                <a:latin typeface="Times New Roman"/>
                <a:ea typeface="標楷體"/>
              </a:rPr>
              <a:t>次，總計</a:t>
            </a:r>
            <a:r>
              <a:rPr lang="en-US" altLang="zh-TW" b="1" kern="100" dirty="0">
                <a:solidFill>
                  <a:srgbClr val="000000"/>
                </a:solidFill>
                <a:latin typeface="Times New Roman"/>
                <a:ea typeface="標楷體"/>
              </a:rPr>
              <a:t>24</a:t>
            </a:r>
            <a:r>
              <a:rPr lang="zh-TW" altLang="en-US" b="1" kern="100" dirty="0">
                <a:solidFill>
                  <a:srgbClr val="000000"/>
                </a:solidFill>
                <a:latin typeface="Times New Roman"/>
                <a:ea typeface="標楷體"/>
              </a:rPr>
              <a:t>人（男</a:t>
            </a:r>
            <a:r>
              <a:rPr lang="en-US" altLang="zh-TW" b="1" kern="100" dirty="0">
                <a:solidFill>
                  <a:srgbClr val="000000"/>
                </a:solidFill>
                <a:latin typeface="Times New Roman"/>
                <a:ea typeface="標楷體"/>
              </a:rPr>
              <a:t>16</a:t>
            </a:r>
            <a:r>
              <a:rPr lang="zh-TW" altLang="en-US" b="1" kern="100" dirty="0">
                <a:solidFill>
                  <a:srgbClr val="000000"/>
                </a:solidFill>
                <a:latin typeface="Times New Roman"/>
                <a:ea typeface="標楷體"/>
              </a:rPr>
              <a:t>人、女</a:t>
            </a:r>
            <a:r>
              <a:rPr lang="en-US" altLang="zh-TW" b="1" kern="100" dirty="0">
                <a:solidFill>
                  <a:srgbClr val="000000"/>
                </a:solidFill>
                <a:latin typeface="Times New Roman"/>
                <a:ea typeface="標楷體"/>
              </a:rPr>
              <a:t>8</a:t>
            </a:r>
          </a:p>
          <a:p>
            <a:pPr marL="304800">
              <a:lnSpc>
                <a:spcPct val="150000"/>
              </a:lnSpc>
              <a:spcAft>
                <a:spcPts val="0"/>
              </a:spcAft>
            </a:pPr>
            <a:r>
              <a:rPr lang="en-US" altLang="zh-TW" b="1" kern="100" dirty="0">
                <a:solidFill>
                  <a:srgbClr val="000000"/>
                </a:solidFill>
                <a:latin typeface="Times New Roman"/>
                <a:ea typeface="標楷體"/>
              </a:rPr>
              <a:t>    </a:t>
            </a:r>
            <a:r>
              <a:rPr lang="zh-TW" altLang="en-US" b="1" kern="100" dirty="0">
                <a:solidFill>
                  <a:srgbClr val="000000"/>
                </a:solidFill>
                <a:latin typeface="Times New Roman"/>
                <a:ea typeface="標楷體"/>
              </a:rPr>
              <a:t>            </a:t>
            </a:r>
            <a:r>
              <a:rPr lang="en-US" altLang="zh-TW" b="1" kern="100" dirty="0">
                <a:solidFill>
                  <a:srgbClr val="000000"/>
                </a:solidFill>
                <a:latin typeface="Times New Roman"/>
                <a:ea typeface="標楷體"/>
              </a:rPr>
              <a:t> </a:t>
            </a:r>
            <a:r>
              <a:rPr lang="zh-TW" altLang="en-US" b="1" kern="100" dirty="0">
                <a:solidFill>
                  <a:srgbClr val="000000"/>
                </a:solidFill>
                <a:latin typeface="Times New Roman"/>
                <a:ea typeface="標楷體"/>
              </a:rPr>
              <a:t>人）參加。</a:t>
            </a:r>
            <a:r>
              <a:rPr lang="zh-TW" altLang="zh-TW" b="1" kern="100" dirty="0">
                <a:solidFill>
                  <a:srgbClr val="000000"/>
                </a:solidFill>
                <a:latin typeface="Times New Roman"/>
                <a:ea typeface="標楷體"/>
              </a:rPr>
              <a:t> </a:t>
            </a:r>
            <a:endParaRPr lang="zh-TW" altLang="zh-TW" sz="1600" b="1" kern="100" dirty="0">
              <a:solidFill>
                <a:srgbClr val="000000"/>
              </a:solidFill>
              <a:latin typeface="Times New Roman"/>
              <a:ea typeface="新細明體"/>
            </a:endParaRPr>
          </a:p>
          <a:p>
            <a:pPr marL="304800">
              <a:lnSpc>
                <a:spcPct val="150000"/>
              </a:lnSpc>
              <a:spcAft>
                <a:spcPts val="0"/>
              </a:spcAft>
            </a:pPr>
            <a:r>
              <a:rPr lang="zh-TW" altLang="en-US" b="1" kern="100" dirty="0">
                <a:solidFill>
                  <a:srgbClr val="000000"/>
                </a:solidFill>
                <a:latin typeface="標楷體"/>
                <a:ea typeface="新細明體"/>
              </a:rPr>
              <a:t>      </a:t>
            </a:r>
            <a:r>
              <a:rPr lang="en-US" altLang="zh-TW" b="1" kern="100" dirty="0">
                <a:solidFill>
                  <a:srgbClr val="000000"/>
                </a:solidFill>
                <a:latin typeface="標楷體"/>
                <a:ea typeface="新細明體"/>
              </a:rPr>
              <a:t>3.</a:t>
            </a:r>
            <a:r>
              <a:rPr lang="zh-TW" altLang="zh-TW" b="1" kern="100" dirty="0">
                <a:solidFill>
                  <a:srgbClr val="000000"/>
                </a:solidFill>
                <a:latin typeface="Times New Roman"/>
                <a:ea typeface="標楷體"/>
              </a:rPr>
              <a:t>總計</a:t>
            </a:r>
            <a:r>
              <a:rPr lang="en-US" altLang="zh-TW" b="1" kern="100" dirty="0">
                <a:solidFill>
                  <a:srgbClr val="000000"/>
                </a:solidFill>
                <a:latin typeface="Times New Roman"/>
                <a:ea typeface="標楷體"/>
              </a:rPr>
              <a:t>8</a:t>
            </a:r>
            <a:r>
              <a:rPr lang="zh-TW" altLang="zh-TW" b="1" kern="100" dirty="0">
                <a:solidFill>
                  <a:srgbClr val="000000"/>
                </a:solidFill>
                <a:latin typeface="Times New Roman"/>
                <a:ea typeface="標楷體"/>
              </a:rPr>
              <a:t>場，參與人數</a:t>
            </a:r>
            <a:r>
              <a:rPr lang="en-US" altLang="zh-TW" b="1" kern="100" dirty="0">
                <a:solidFill>
                  <a:srgbClr val="000000"/>
                </a:solidFill>
                <a:latin typeface="Times New Roman"/>
                <a:ea typeface="標楷體"/>
              </a:rPr>
              <a:t>50</a:t>
            </a:r>
            <a:r>
              <a:rPr lang="zh-TW" altLang="zh-TW" b="1" kern="100" dirty="0">
                <a:solidFill>
                  <a:srgbClr val="000000"/>
                </a:solidFill>
                <a:latin typeface="Times New Roman"/>
                <a:ea typeface="標楷體"/>
              </a:rPr>
              <a:t>人次（男</a:t>
            </a:r>
            <a:r>
              <a:rPr lang="en-US" altLang="zh-TW" b="1" kern="100" dirty="0">
                <a:solidFill>
                  <a:srgbClr val="000000"/>
                </a:solidFill>
                <a:latin typeface="Times New Roman"/>
                <a:ea typeface="標楷體"/>
              </a:rPr>
              <a:t>32</a:t>
            </a:r>
            <a:r>
              <a:rPr lang="zh-TW" altLang="zh-TW" b="1" kern="100" dirty="0">
                <a:solidFill>
                  <a:srgbClr val="000000"/>
                </a:solidFill>
                <a:latin typeface="Times New Roman"/>
                <a:ea typeface="標楷體"/>
              </a:rPr>
              <a:t>人次、女</a:t>
            </a:r>
            <a:r>
              <a:rPr lang="en-US" altLang="zh-TW" b="1" kern="100" dirty="0">
                <a:solidFill>
                  <a:srgbClr val="000000"/>
                </a:solidFill>
                <a:latin typeface="Times New Roman"/>
                <a:ea typeface="標楷體"/>
              </a:rPr>
              <a:t>18</a:t>
            </a:r>
            <a:r>
              <a:rPr lang="zh-TW" altLang="zh-TW" b="1" kern="100" dirty="0">
                <a:solidFill>
                  <a:srgbClr val="000000"/>
                </a:solidFill>
                <a:latin typeface="Times New Roman"/>
                <a:ea typeface="標楷體"/>
              </a:rPr>
              <a:t>人次）。</a:t>
            </a:r>
            <a:endParaRPr lang="zh-TW" altLang="zh-TW" sz="1600" b="1" kern="100" dirty="0">
              <a:solidFill>
                <a:srgbClr val="000000"/>
              </a:solidFill>
              <a:latin typeface="Times New Roman"/>
              <a:ea typeface="新細明體"/>
            </a:endParaRPr>
          </a:p>
          <a:p>
            <a:pPr marL="304800">
              <a:lnSpc>
                <a:spcPct val="150000"/>
              </a:lnSpc>
              <a:spcAft>
                <a:spcPts val="0"/>
              </a:spcAft>
            </a:pPr>
            <a:r>
              <a:rPr lang="en-US" altLang="zh-TW" b="1" kern="100" dirty="0">
                <a:solidFill>
                  <a:srgbClr val="FF0000"/>
                </a:solidFill>
                <a:latin typeface="Times New Roman"/>
                <a:ea typeface="標楷體"/>
              </a:rPr>
              <a:t>113</a:t>
            </a:r>
            <a:r>
              <a:rPr lang="zh-TW" altLang="en-US" b="1" kern="100" dirty="0">
                <a:solidFill>
                  <a:srgbClr val="FF0000"/>
                </a:solidFill>
                <a:latin typeface="Times New Roman"/>
                <a:ea typeface="標楷體"/>
              </a:rPr>
              <a:t>年</a:t>
            </a:r>
            <a:r>
              <a:rPr lang="zh-TW" altLang="zh-TW" b="1" kern="100" dirty="0">
                <a:solidFill>
                  <a:srgbClr val="FF0000"/>
                </a:solidFill>
                <a:latin typeface="Times New Roman"/>
                <a:ea typeface="標楷體"/>
              </a:rPr>
              <a:t>方案</a:t>
            </a:r>
            <a:r>
              <a:rPr lang="zh-TW" altLang="en-US" b="1" kern="100" dirty="0">
                <a:solidFill>
                  <a:srgbClr val="FF0000"/>
                </a:solidFill>
                <a:latin typeface="Times New Roman"/>
                <a:ea typeface="標楷體"/>
              </a:rPr>
              <a:t>二</a:t>
            </a:r>
            <a:r>
              <a:rPr lang="zh-TW" altLang="zh-TW" b="1" kern="100" dirty="0">
                <a:solidFill>
                  <a:srgbClr val="FF0000"/>
                </a:solidFill>
                <a:latin typeface="Times New Roman"/>
                <a:ea typeface="標楷體"/>
              </a:rPr>
              <a:t>：</a:t>
            </a:r>
            <a:r>
              <a:rPr lang="zh-TW" altLang="en-US" b="1" kern="100" dirty="0">
                <a:solidFill>
                  <a:srgbClr val="FF0000"/>
                </a:solidFill>
                <a:latin typeface="Times New Roman"/>
                <a:ea typeface="標楷體"/>
              </a:rPr>
              <a:t>社區友愛</a:t>
            </a:r>
            <a:r>
              <a:rPr lang="en-US" altLang="zh-TW" b="1" kern="100" dirty="0">
                <a:solidFill>
                  <a:srgbClr val="FF0000"/>
                </a:solidFill>
                <a:latin typeface="Times New Roman"/>
                <a:ea typeface="標楷體"/>
              </a:rPr>
              <a:t>-</a:t>
            </a:r>
            <a:r>
              <a:rPr lang="zh-TW" altLang="en-US" b="1" kern="100" dirty="0">
                <a:solidFill>
                  <a:srgbClr val="FF0000"/>
                </a:solidFill>
                <a:latin typeface="Times New Roman"/>
                <a:ea typeface="標楷體"/>
              </a:rPr>
              <a:t>福利社區化工作圈會議</a:t>
            </a:r>
            <a:r>
              <a:rPr lang="zh-TW" altLang="zh-TW" b="1" kern="100" dirty="0">
                <a:solidFill>
                  <a:srgbClr val="FF0000"/>
                </a:solidFill>
                <a:latin typeface="Times New Roman"/>
                <a:ea typeface="標楷體"/>
              </a:rPr>
              <a:t>：</a:t>
            </a:r>
            <a:endParaRPr lang="en-US" altLang="zh-TW" b="1" kern="100" dirty="0">
              <a:solidFill>
                <a:srgbClr val="FF0000"/>
              </a:solidFill>
              <a:latin typeface="Times New Roman"/>
              <a:ea typeface="標楷體"/>
            </a:endParaRPr>
          </a:p>
          <a:p>
            <a:pPr marL="304800" lvl="0">
              <a:lnSpc>
                <a:spcPct val="150000"/>
              </a:lnSpc>
            </a:pPr>
            <a:r>
              <a:rPr lang="en-US" altLang="zh-TW" b="1" kern="100" dirty="0">
                <a:solidFill>
                  <a:srgbClr val="000000"/>
                </a:solidFill>
                <a:latin typeface="Times New Roman"/>
                <a:ea typeface="標楷體"/>
              </a:rPr>
              <a:t>	</a:t>
            </a:r>
            <a:r>
              <a:rPr lang="zh-TW" altLang="en-US" b="1" kern="100" dirty="0">
                <a:solidFill>
                  <a:srgbClr val="000000"/>
                </a:solidFill>
                <a:latin typeface="Times New Roman"/>
                <a:ea typeface="標楷體"/>
              </a:rPr>
              <a:t> </a:t>
            </a:r>
            <a:r>
              <a:rPr lang="en-US" altLang="zh-TW" b="1" kern="100" dirty="0">
                <a:solidFill>
                  <a:srgbClr val="000000"/>
                </a:solidFill>
                <a:latin typeface="標楷體"/>
                <a:ea typeface="新細明體"/>
              </a:rPr>
              <a:t>1.</a:t>
            </a:r>
            <a:r>
              <a:rPr lang="zh-TW" altLang="en-US" b="1" kern="100" dirty="0">
                <a:solidFill>
                  <a:srgbClr val="000000"/>
                </a:solidFill>
                <a:latin typeface="Times New Roman"/>
                <a:ea typeface="標楷體"/>
              </a:rPr>
              <a:t>工作圈會議：總計</a:t>
            </a:r>
            <a:r>
              <a:rPr lang="en-US" altLang="zh-TW" b="1" kern="100" dirty="0">
                <a:solidFill>
                  <a:srgbClr val="000000"/>
                </a:solidFill>
                <a:latin typeface="Times New Roman"/>
                <a:ea typeface="標楷體"/>
              </a:rPr>
              <a:t>5</a:t>
            </a:r>
            <a:r>
              <a:rPr lang="zh-TW" altLang="en-US" b="1" kern="100" dirty="0">
                <a:solidFill>
                  <a:srgbClr val="000000"/>
                </a:solidFill>
                <a:latin typeface="Times New Roman"/>
                <a:ea typeface="標楷體"/>
              </a:rPr>
              <a:t>次。</a:t>
            </a:r>
            <a:endParaRPr lang="zh-TW" altLang="zh-TW" sz="1600" b="1" kern="100" dirty="0">
              <a:solidFill>
                <a:srgbClr val="000000"/>
              </a:solidFill>
              <a:latin typeface="Times New Roman"/>
              <a:ea typeface="新細明體"/>
            </a:endParaRPr>
          </a:p>
          <a:p>
            <a:pPr marL="304800" lvl="0">
              <a:lnSpc>
                <a:spcPct val="150000"/>
              </a:lnSpc>
            </a:pPr>
            <a:r>
              <a:rPr lang="en-US" altLang="zh-TW" b="1" kern="100" dirty="0">
                <a:solidFill>
                  <a:srgbClr val="000000"/>
                </a:solidFill>
                <a:latin typeface="標楷體"/>
                <a:ea typeface="新細明體"/>
              </a:rPr>
              <a:t>      2.</a:t>
            </a:r>
            <a:r>
              <a:rPr lang="zh-TW" altLang="en-US" b="1" kern="100" dirty="0">
                <a:solidFill>
                  <a:srgbClr val="000000"/>
                </a:solidFill>
                <a:latin typeface="Times New Roman"/>
                <a:ea typeface="標楷體"/>
              </a:rPr>
              <a:t>幹部工作推動小組會議：總計</a:t>
            </a:r>
            <a:r>
              <a:rPr lang="en-US" altLang="zh-TW" b="1" kern="100" dirty="0">
                <a:solidFill>
                  <a:srgbClr val="000000"/>
                </a:solidFill>
                <a:latin typeface="Times New Roman"/>
                <a:ea typeface="標楷體"/>
              </a:rPr>
              <a:t>5</a:t>
            </a:r>
            <a:r>
              <a:rPr lang="zh-TW" altLang="en-US" b="1" kern="100" dirty="0">
                <a:solidFill>
                  <a:srgbClr val="000000"/>
                </a:solidFill>
                <a:latin typeface="Times New Roman"/>
                <a:ea typeface="標楷體"/>
              </a:rPr>
              <a:t>次</a:t>
            </a:r>
            <a:r>
              <a:rPr lang="en-US" altLang="zh-TW" b="1" kern="100" dirty="0">
                <a:solidFill>
                  <a:srgbClr val="000000"/>
                </a:solidFill>
                <a:latin typeface="Times New Roman"/>
                <a:ea typeface="標楷體"/>
              </a:rPr>
              <a:t> </a:t>
            </a:r>
            <a:r>
              <a:rPr lang="zh-TW" altLang="en-US" b="1" kern="100" dirty="0">
                <a:solidFill>
                  <a:srgbClr val="000000"/>
                </a:solidFill>
                <a:latin typeface="Times New Roman"/>
                <a:ea typeface="標楷體"/>
              </a:rPr>
              <a:t>。</a:t>
            </a:r>
            <a:r>
              <a:rPr lang="zh-TW" altLang="zh-TW" b="1" kern="100" dirty="0">
                <a:solidFill>
                  <a:srgbClr val="000000"/>
                </a:solidFill>
                <a:latin typeface="Times New Roman"/>
                <a:ea typeface="標楷體"/>
              </a:rPr>
              <a:t> </a:t>
            </a:r>
            <a:endParaRPr lang="zh-TW" altLang="zh-TW" sz="1600" b="1" kern="100" dirty="0">
              <a:solidFill>
                <a:srgbClr val="000000"/>
              </a:solidFill>
              <a:latin typeface="Times New Roman"/>
              <a:ea typeface="新細明體"/>
            </a:endParaRPr>
          </a:p>
          <a:p>
            <a:pPr marL="304800">
              <a:lnSpc>
                <a:spcPct val="150000"/>
              </a:lnSpc>
              <a:spcAft>
                <a:spcPts val="0"/>
              </a:spcAft>
            </a:pPr>
            <a:endParaRPr lang="en-US" altLang="zh-TW" b="1" kern="100" dirty="0">
              <a:solidFill>
                <a:srgbClr val="000000"/>
              </a:solidFill>
              <a:latin typeface="Times New Roman"/>
              <a:ea typeface="標楷體"/>
            </a:endParaRPr>
          </a:p>
          <a:p>
            <a:pPr marL="304800">
              <a:lnSpc>
                <a:spcPct val="150000"/>
              </a:lnSpc>
              <a:spcAft>
                <a:spcPts val="0"/>
              </a:spcAft>
            </a:pPr>
            <a:endParaRPr lang="zh-TW" altLang="zh-TW" sz="1600" b="1" kern="100" dirty="0">
              <a:solidFill>
                <a:srgbClr val="000000"/>
              </a:solidFill>
              <a:latin typeface="Times New Roman"/>
              <a:ea typeface="新細明體"/>
            </a:endParaRPr>
          </a:p>
        </p:txBody>
      </p:sp>
      <p:pic>
        <p:nvPicPr>
          <p:cNvPr id="8193" name="圖片 2">
            <a:extLst>
              <a:ext uri="{FF2B5EF4-FFF2-40B4-BE49-F238E27FC236}">
                <a16:creationId xmlns:a16="http://schemas.microsoft.com/office/drawing/2014/main" id="{429B6841-1EF9-4F54-A8CF-B8EC398969D9}"/>
              </a:ext>
            </a:extLst>
          </p:cNvPr>
          <p:cNvPicPr>
            <a:picLocks noChangeAspect="1" noChangeArrowheads="1"/>
          </p:cNvPicPr>
          <p:nvPr/>
        </p:nvPicPr>
        <p:blipFill rotWithShape="1">
          <a:blip r:embed="rId2" cstate="print">
            <a:lum bright="20000" contrast="20000"/>
            <a:extLst>
              <a:ext uri="{28A0092B-C50C-407E-A947-70E740481C1C}">
                <a14:useLocalDpi xmlns:a14="http://schemas.microsoft.com/office/drawing/2010/main" val="0"/>
              </a:ext>
            </a:extLst>
          </a:blip>
          <a:srcRect t="24340"/>
          <a:stretch/>
        </p:blipFill>
        <p:spPr bwMode="auto">
          <a:xfrm>
            <a:off x="5543600" y="4809130"/>
            <a:ext cx="3600400" cy="2048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1004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600" dirty="0">
                <a:solidFill>
                  <a:srgbClr val="FFFFFF"/>
                </a:solidFill>
                <a:latin typeface="華康隸書體W7" panose="02010609010101010101" pitchFamily="49" charset="-120"/>
                <a:ea typeface="華康隸書體W7" panose="02010609010101010101" pitchFamily="49" charset="-120"/>
              </a:rPr>
              <a:t>五</a:t>
            </a:r>
            <a:r>
              <a:rPr lang="zh-TW" altLang="en-US" sz="3600" dirty="0">
                <a:solidFill>
                  <a:srgbClr val="FFFFFF"/>
                </a:solidFill>
                <a:latin typeface="標楷體" panose="03000509000000000000" pitchFamily="65" charset="-120"/>
                <a:ea typeface="標楷體" panose="03000509000000000000" pitchFamily="65" charset="-120"/>
              </a:rPr>
              <a:t>、</a:t>
            </a:r>
            <a:r>
              <a:rPr lang="zh-TW" altLang="en-US" sz="3600" dirty="0">
                <a:solidFill>
                  <a:srgbClr val="FFFFFF"/>
                </a:solidFill>
                <a:latin typeface="華康隸書體W7" panose="02010609010101010101" pitchFamily="49" charset="-120"/>
                <a:ea typeface="華康隸書體W7" panose="02010609010101010101" pitchFamily="49" charset="-120"/>
              </a:rPr>
              <a:t>方案內容</a:t>
            </a:r>
            <a:endParaRPr lang="zh-TW" altLang="en-US" dirty="0"/>
          </a:p>
        </p:txBody>
      </p:sp>
      <p:sp>
        <p:nvSpPr>
          <p:cNvPr id="3" name="內容版面配置區 2"/>
          <p:cNvSpPr>
            <a:spLocks noGrp="1"/>
          </p:cNvSpPr>
          <p:nvPr>
            <p:ph idx="1"/>
          </p:nvPr>
        </p:nvSpPr>
        <p:spPr>
          <a:xfrm>
            <a:off x="457200" y="990600"/>
            <a:ext cx="8229600" cy="1214264"/>
          </a:xfrm>
        </p:spPr>
        <p:txBody>
          <a:bodyPr/>
          <a:lstStyle/>
          <a:p>
            <a:pPr marL="0" indent="0">
              <a:buNone/>
            </a:pPr>
            <a:r>
              <a:rPr lang="zh-TW" altLang="en-US" sz="2800" b="1" dirty="0">
                <a:solidFill>
                  <a:srgbClr val="FF0000"/>
                </a:solidFill>
                <a:latin typeface="標楷體" pitchFamily="65" charset="-120"/>
                <a:ea typeface="標楷體" pitchFamily="65" charset="-120"/>
              </a:rPr>
              <a:t>方案二：福利社區化工作圈會議</a:t>
            </a:r>
          </a:p>
        </p:txBody>
      </p:sp>
      <p:sp>
        <p:nvSpPr>
          <p:cNvPr id="5" name="矩形 4"/>
          <p:cNvSpPr/>
          <p:nvPr/>
        </p:nvSpPr>
        <p:spPr>
          <a:xfrm>
            <a:off x="3491880" y="1529633"/>
            <a:ext cx="3877985"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en-US" altLang="zh-TW" sz="2400" b="0" i="0" u="none" strike="noStrike" kern="0" cap="none" spc="0" normalizeH="0" baseline="0" noProof="0" dirty="0">
                <a:ln>
                  <a:noFill/>
                </a:ln>
                <a:solidFill>
                  <a:srgbClr val="000000"/>
                </a:solidFill>
                <a:effectLst/>
                <a:uLnTx/>
                <a:uFillTx/>
                <a:latin typeface="標楷體"/>
                <a:ea typeface="+mn-ea"/>
                <a:cs typeface="Times New Roman"/>
              </a:rPr>
              <a:t>1.</a:t>
            </a: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a:t>
            </a:r>
            <a:r>
              <a:rPr kumimoji="0" lang="zh-TW" altLang="en-US" sz="2400" b="0" i="0" u="none" strike="noStrike" kern="0" cap="none" spc="0" normalizeH="0" baseline="0" noProof="0" dirty="0">
                <a:ln>
                  <a:noFill/>
                </a:ln>
                <a:solidFill>
                  <a:srgbClr val="000000"/>
                </a:solidFill>
                <a:effectLst/>
                <a:uLnTx/>
                <a:uFillTx/>
                <a:latin typeface="Arial"/>
                <a:ea typeface="標楷體"/>
                <a:cs typeface="Times New Roman"/>
              </a:rPr>
              <a:t>■協調宣傳類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sp>
        <p:nvSpPr>
          <p:cNvPr id="4" name="矩形 3"/>
          <p:cNvSpPr/>
          <p:nvPr/>
        </p:nvSpPr>
        <p:spPr>
          <a:xfrm>
            <a:off x="0" y="2276872"/>
            <a:ext cx="9036496" cy="2677656"/>
          </a:xfrm>
          <a:prstGeom prst="rect">
            <a:avLst/>
          </a:prstGeom>
        </p:spPr>
        <p:txBody>
          <a:bodyPr wrap="square">
            <a:spAutoFit/>
          </a:bodyPr>
          <a:lstStyle/>
          <a:p>
            <a:pPr marL="539750" marR="0" lvl="0" indent="-42545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  </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工作圈會議：由竹山鎮公所每二個月召開「福利社區化小旗艦計畫工作圈會議」，協助小旗艦社區資源整合及掌控計畫執行進度，輔導社區向政府相關部會或民間企業爭取經費與資源，期使社區朝向自主運作及永續發展的目標。</a:t>
            </a:r>
          </a:p>
          <a:p>
            <a:pPr marL="539750" marR="0" lvl="0" indent="-42545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  </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、工作推動小組會議：由領航社區每二個月召開一次工作推動小組會議，除了各社區間的工作協調會議以外，更可增進各社區彼此交流學習、增進感情，達到互助合作、共同成長。</a:t>
            </a:r>
            <a:endPar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endParaRPr>
          </a:p>
        </p:txBody>
      </p:sp>
    </p:spTree>
    <p:extLst>
      <p:ext uri="{BB962C8B-B14F-4D97-AF65-F5344CB8AC3E}">
        <p14:creationId xmlns:p14="http://schemas.microsoft.com/office/powerpoint/2010/main" val="1154462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91" name="圖片 9">
            <a:extLst>
              <a:ext uri="{FF2B5EF4-FFF2-40B4-BE49-F238E27FC236}">
                <a16:creationId xmlns:a16="http://schemas.microsoft.com/office/drawing/2014/main" id="{DB2AEA5B-ADD0-4ACD-88CB-AEAFDFD0D4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18366" y="5255399"/>
            <a:ext cx="3554867" cy="159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p:cNvSpPr>
            <a:spLocks noGrp="1"/>
          </p:cNvSpPr>
          <p:nvPr>
            <p:ph type="title"/>
          </p:nvPr>
        </p:nvSpPr>
        <p:spPr/>
        <p:txBody>
          <a:bodyPr/>
          <a:lstStyle/>
          <a:p>
            <a:r>
              <a:rPr lang="zh-TW" altLang="en-US" dirty="0"/>
              <a:t>小旗艦計畫執行成果</a:t>
            </a:r>
          </a:p>
        </p:txBody>
      </p:sp>
      <p:sp>
        <p:nvSpPr>
          <p:cNvPr id="5" name="矩形 4"/>
          <p:cNvSpPr/>
          <p:nvPr/>
        </p:nvSpPr>
        <p:spPr>
          <a:xfrm>
            <a:off x="-324544" y="826319"/>
            <a:ext cx="8424936" cy="3741409"/>
          </a:xfrm>
          <a:prstGeom prst="rect">
            <a:avLst/>
          </a:prstGeom>
        </p:spPr>
        <p:txBody>
          <a:bodyPr wrap="square">
            <a:spAutoFit/>
          </a:bodyPr>
          <a:lstStyle/>
          <a:p>
            <a:pPr marL="304800" lvl="0">
              <a:lnSpc>
                <a:spcPct val="150000"/>
              </a:lnSpc>
              <a:defRPr/>
            </a:pP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111</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年</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方案</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三</a:t>
            </a:r>
            <a:r>
              <a:rPr lang="zh-TW" altLang="zh-TW" b="1" kern="100" dirty="0">
                <a:solidFill>
                  <a:srgbClr val="FF0000"/>
                </a:solidFill>
                <a:latin typeface="Times New Roman"/>
                <a:ea typeface="標楷體"/>
              </a:rPr>
              <a:t>：社區安全無礙：</a:t>
            </a:r>
            <a:r>
              <a:rPr lang="en-US" altLang="zh-TW" b="1" kern="100" dirty="0">
                <a:solidFill>
                  <a:srgbClr val="000000"/>
                </a:solidFill>
                <a:latin typeface="Times New Roman"/>
                <a:ea typeface="標楷體"/>
              </a:rPr>
              <a:t>	</a:t>
            </a:r>
            <a:endParaRPr lang="zh-TW" altLang="zh-TW" sz="1600" b="1" kern="100" dirty="0">
              <a:solidFill>
                <a:srgbClr val="000000"/>
              </a:solidFill>
              <a:latin typeface="Times New Roman"/>
              <a:ea typeface="新細明體"/>
            </a:endParaRPr>
          </a:p>
          <a:p>
            <a:pPr lvl="0">
              <a:lnSpc>
                <a:spcPct val="150000"/>
              </a:lnSpc>
              <a:defRPr/>
            </a:pPr>
            <a:r>
              <a:rPr lang="zh-TW" altLang="en-US" b="1" kern="100" dirty="0">
                <a:solidFill>
                  <a:srgbClr val="000000"/>
                </a:solidFill>
                <a:latin typeface="Times New Roman"/>
                <a:ea typeface="標楷體"/>
              </a:rPr>
              <a:t>                 </a:t>
            </a:r>
            <a:r>
              <a:rPr lang="en-US" altLang="zh-TW" b="1" kern="100" dirty="0">
                <a:solidFill>
                  <a:srgbClr val="000000"/>
                </a:solidFill>
                <a:latin typeface="Times New Roman"/>
                <a:ea typeface="標楷體"/>
              </a:rPr>
              <a:t>1.</a:t>
            </a:r>
            <a:r>
              <a:rPr lang="zh-TW" altLang="zh-TW" b="1" kern="100" dirty="0">
                <a:solidFill>
                  <a:srgbClr val="000000"/>
                </a:solidFill>
                <a:latin typeface="Times New Roman"/>
                <a:ea typeface="標楷體"/>
              </a:rPr>
              <a:t>居家安全環境設施設備扶手</a:t>
            </a:r>
            <a:r>
              <a:rPr lang="en-US" altLang="zh-TW" b="1" kern="100" dirty="0">
                <a:solidFill>
                  <a:srgbClr val="000000"/>
                </a:solidFill>
                <a:latin typeface="Times New Roman"/>
                <a:ea typeface="標楷體"/>
              </a:rPr>
              <a:t> 40</a:t>
            </a:r>
            <a:r>
              <a:rPr lang="zh-TW" altLang="zh-TW" b="1" kern="100" dirty="0">
                <a:solidFill>
                  <a:srgbClr val="000000"/>
                </a:solidFill>
                <a:latin typeface="Times New Roman"/>
                <a:ea typeface="標楷體"/>
              </a:rPr>
              <a:t>位</a:t>
            </a:r>
            <a:r>
              <a:rPr lang="zh-TW" altLang="en-US" b="1" kern="100" dirty="0">
                <a:solidFill>
                  <a:srgbClr val="000000"/>
                </a:solidFill>
                <a:latin typeface="Times New Roman"/>
                <a:ea typeface="標楷體"/>
              </a:rPr>
              <a:t>， </a:t>
            </a:r>
            <a:r>
              <a:rPr lang="zh-TW" altLang="zh-TW" b="1" kern="100" dirty="0">
                <a:solidFill>
                  <a:srgbClr val="000000"/>
                </a:solidFill>
                <a:latin typeface="Times New Roman"/>
                <a:ea typeface="標楷體"/>
              </a:rPr>
              <a:t>感應式照明</a:t>
            </a:r>
            <a:r>
              <a:rPr lang="en-US" altLang="zh-TW" b="1" kern="100" dirty="0">
                <a:solidFill>
                  <a:srgbClr val="000000"/>
                </a:solidFill>
                <a:latin typeface="Times New Roman"/>
                <a:ea typeface="標楷體"/>
              </a:rPr>
              <a:t>4</a:t>
            </a:r>
            <a:r>
              <a:rPr lang="zh-TW" altLang="zh-TW" b="1" kern="100" dirty="0">
                <a:solidFill>
                  <a:srgbClr val="000000"/>
                </a:solidFill>
                <a:latin typeface="Times New Roman"/>
                <a:ea typeface="標楷體"/>
              </a:rPr>
              <a:t>位。</a:t>
            </a:r>
            <a:endParaRPr lang="en-US" altLang="zh-TW" sz="1600" b="1" kern="100" dirty="0">
              <a:solidFill>
                <a:srgbClr val="000000"/>
              </a:solidFill>
              <a:latin typeface="Times New Roman"/>
              <a:ea typeface="新細明體"/>
            </a:endParaRPr>
          </a:p>
          <a:p>
            <a:pPr lvl="0">
              <a:lnSpc>
                <a:spcPct val="150000"/>
              </a:lnSpc>
              <a:defRPr/>
            </a:pPr>
            <a:r>
              <a:rPr lang="zh-TW" altLang="en-US" sz="1600" b="1" kern="100" dirty="0">
                <a:solidFill>
                  <a:srgbClr val="000000"/>
                </a:solidFill>
                <a:latin typeface="Times New Roman"/>
                <a:ea typeface="新細明體"/>
              </a:rPr>
              <a:t>                  </a:t>
            </a:r>
            <a:r>
              <a:rPr lang="zh-TW" altLang="en-US" b="1" kern="100" dirty="0">
                <a:solidFill>
                  <a:srgbClr val="000000"/>
                </a:solidFill>
                <a:latin typeface="Times New Roman"/>
                <a:ea typeface="標楷體"/>
              </a:rPr>
              <a:t> </a:t>
            </a:r>
            <a:r>
              <a:rPr lang="en-US" altLang="zh-TW" b="1" kern="100" dirty="0">
                <a:solidFill>
                  <a:srgbClr val="000000"/>
                </a:solidFill>
                <a:latin typeface="Times New Roman"/>
                <a:ea typeface="標楷體"/>
              </a:rPr>
              <a:t>2.</a:t>
            </a:r>
            <a:r>
              <a:rPr lang="zh-TW" altLang="zh-TW" b="1" kern="100" dirty="0">
                <a:solidFill>
                  <a:srgbClr val="000000"/>
                </a:solidFill>
                <a:latin typeface="Times New Roman"/>
                <a:ea typeface="標楷體"/>
              </a:rPr>
              <a:t>滅火器使用及</a:t>
            </a:r>
            <a:r>
              <a:rPr lang="en-US" altLang="zh-TW" b="1" kern="100" dirty="0">
                <a:solidFill>
                  <a:srgbClr val="000000"/>
                </a:solidFill>
                <a:latin typeface="Times New Roman"/>
                <a:ea typeface="標楷體"/>
              </a:rPr>
              <a:t>AED</a:t>
            </a:r>
            <a:r>
              <a:rPr lang="zh-TW" altLang="zh-TW" b="1" kern="100" dirty="0">
                <a:solidFill>
                  <a:srgbClr val="000000"/>
                </a:solidFill>
                <a:latin typeface="Times New Roman"/>
                <a:ea typeface="標楷體"/>
              </a:rPr>
              <a:t>心臟電擊去顫器使用訓練課程</a:t>
            </a:r>
            <a:r>
              <a:rPr lang="en-US" altLang="zh-TW" b="1" kern="100" dirty="0">
                <a:solidFill>
                  <a:srgbClr val="000000"/>
                </a:solidFill>
                <a:latin typeface="Times New Roman"/>
                <a:ea typeface="標楷體"/>
              </a:rPr>
              <a:t> 4</a:t>
            </a:r>
            <a:r>
              <a:rPr lang="zh-TW" altLang="zh-TW" b="1" kern="100" dirty="0">
                <a:solidFill>
                  <a:srgbClr val="000000"/>
                </a:solidFill>
                <a:latin typeface="Times New Roman"/>
                <a:ea typeface="標楷體"/>
              </a:rPr>
              <a:t>社區各</a:t>
            </a:r>
            <a:r>
              <a:rPr lang="en-US" altLang="zh-TW" b="1" kern="100" dirty="0">
                <a:solidFill>
                  <a:srgbClr val="000000"/>
                </a:solidFill>
                <a:latin typeface="Times New Roman"/>
                <a:ea typeface="標楷體"/>
              </a:rPr>
              <a:t>1</a:t>
            </a:r>
            <a:r>
              <a:rPr lang="zh-TW" altLang="zh-TW" b="1" kern="100" dirty="0">
                <a:solidFill>
                  <a:srgbClr val="000000"/>
                </a:solidFill>
                <a:latin typeface="Times New Roman"/>
                <a:ea typeface="標楷體"/>
              </a:rPr>
              <a:t>次總計</a:t>
            </a:r>
            <a:r>
              <a:rPr lang="en-US" altLang="zh-TW" b="1" kern="100" dirty="0">
                <a:solidFill>
                  <a:srgbClr val="000000"/>
                </a:solidFill>
                <a:latin typeface="Times New Roman"/>
                <a:ea typeface="標楷體"/>
              </a:rPr>
              <a:t>102</a:t>
            </a:r>
            <a:r>
              <a:rPr lang="zh-TW" altLang="zh-TW" b="1" kern="100" dirty="0">
                <a:solidFill>
                  <a:srgbClr val="000000"/>
                </a:solidFill>
                <a:latin typeface="Times New Roman"/>
                <a:ea typeface="標楷體"/>
              </a:rPr>
              <a:t>人。 </a:t>
            </a:r>
            <a:endParaRPr kumimoji="0" lang="zh-TW" altLang="zh-TW" sz="1600" b="1" i="0" u="none" strike="noStrike" kern="100" cap="none" spc="0" normalizeH="0" baseline="0" noProof="0" dirty="0">
              <a:ln>
                <a:noFill/>
              </a:ln>
              <a:solidFill>
                <a:srgbClr val="000000"/>
              </a:solidFill>
              <a:effectLst/>
              <a:uLnTx/>
              <a:uFillTx/>
              <a:latin typeface="Times New Roman"/>
              <a:ea typeface="新細明體"/>
              <a:cs typeface="+mn-cs"/>
            </a:endParaRPr>
          </a:p>
          <a:p>
            <a:pPr marL="304800" lvl="0">
              <a:lnSpc>
                <a:spcPct val="150000"/>
              </a:lnSpc>
            </a:pP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112</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年</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方案</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三</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lang="zh-TW" altLang="en-US" b="1" kern="100" dirty="0">
                <a:solidFill>
                  <a:srgbClr val="FF0000"/>
                </a:solidFill>
                <a:latin typeface="Times New Roman"/>
                <a:ea typeface="標楷體"/>
              </a:rPr>
              <a:t>社區防災及安全無礙：</a:t>
            </a:r>
            <a:r>
              <a:rPr lang="zh-TW" altLang="zh-TW" b="1" kern="100" dirty="0">
                <a:solidFill>
                  <a:srgbClr val="FF0000"/>
                </a:solidFill>
                <a:latin typeface="Times New Roman"/>
                <a:ea typeface="標楷體"/>
              </a:rPr>
              <a:t>：</a:t>
            </a:r>
            <a:r>
              <a:rPr lang="en-US" altLang="zh-TW" b="1" kern="100" dirty="0">
                <a:solidFill>
                  <a:srgbClr val="000000"/>
                </a:solidFill>
                <a:latin typeface="Times New Roman"/>
                <a:ea typeface="標楷體"/>
              </a:rPr>
              <a:t>	</a:t>
            </a:r>
            <a:endParaRPr lang="zh-TW" altLang="zh-TW" b="1" kern="100" dirty="0">
              <a:solidFill>
                <a:srgbClr val="000000"/>
              </a:solidFill>
              <a:latin typeface="Times New Roman"/>
              <a:ea typeface="新細明體"/>
            </a:endParaRPr>
          </a:p>
          <a:p>
            <a:pPr lvl="0">
              <a:lnSpc>
                <a:spcPct val="150000"/>
              </a:lnSpc>
            </a:pPr>
            <a:r>
              <a:rPr lang="zh-TW" altLang="en-US" b="1" kern="100" dirty="0">
                <a:solidFill>
                  <a:srgbClr val="000000"/>
                </a:solidFill>
                <a:latin typeface="Times New Roman"/>
                <a:ea typeface="標楷體"/>
              </a:rPr>
              <a:t>                    </a:t>
            </a:r>
            <a:r>
              <a:rPr lang="en-US" altLang="zh-TW" b="1" kern="100" dirty="0">
                <a:solidFill>
                  <a:srgbClr val="000000"/>
                </a:solidFill>
                <a:latin typeface="Times New Roman"/>
                <a:ea typeface="標楷體"/>
              </a:rPr>
              <a:t>1.</a:t>
            </a:r>
            <a:r>
              <a:rPr lang="zh-TW" altLang="en-US" b="1" kern="100" dirty="0">
                <a:solidFill>
                  <a:srgbClr val="000000"/>
                </a:solidFill>
                <a:latin typeface="Times New Roman"/>
                <a:ea typeface="標楷體"/>
              </a:rPr>
              <a:t>地震防災訓練課程：</a:t>
            </a:r>
            <a:r>
              <a:rPr lang="en-US" altLang="zh-TW" b="1" kern="100" dirty="0">
                <a:solidFill>
                  <a:srgbClr val="000000"/>
                </a:solidFill>
                <a:latin typeface="Times New Roman"/>
                <a:ea typeface="標楷體"/>
              </a:rPr>
              <a:t>4</a:t>
            </a:r>
            <a:r>
              <a:rPr lang="zh-TW" altLang="en-US" b="1" kern="100" dirty="0">
                <a:solidFill>
                  <a:srgbClr val="000000"/>
                </a:solidFill>
                <a:latin typeface="Times New Roman"/>
                <a:ea typeface="標楷體"/>
              </a:rPr>
              <a:t>社區各</a:t>
            </a:r>
            <a:r>
              <a:rPr lang="en-US" altLang="zh-TW" b="1" kern="100" dirty="0">
                <a:solidFill>
                  <a:srgbClr val="000000"/>
                </a:solidFill>
                <a:latin typeface="Times New Roman"/>
                <a:ea typeface="標楷體"/>
              </a:rPr>
              <a:t>1</a:t>
            </a:r>
            <a:r>
              <a:rPr lang="zh-TW" altLang="en-US" b="1" kern="100" dirty="0">
                <a:solidFill>
                  <a:srgbClr val="000000"/>
                </a:solidFill>
                <a:latin typeface="Times New Roman"/>
                <a:ea typeface="標楷體"/>
              </a:rPr>
              <a:t>次總計</a:t>
            </a:r>
            <a:r>
              <a:rPr lang="en-US" altLang="zh-TW" b="1" kern="100" dirty="0">
                <a:solidFill>
                  <a:srgbClr val="000000"/>
                </a:solidFill>
                <a:latin typeface="Times New Roman"/>
                <a:ea typeface="標楷體"/>
              </a:rPr>
              <a:t>102</a:t>
            </a:r>
            <a:r>
              <a:rPr lang="zh-TW" altLang="en-US" b="1" kern="100" dirty="0">
                <a:solidFill>
                  <a:srgbClr val="000000"/>
                </a:solidFill>
                <a:latin typeface="Times New Roman"/>
                <a:ea typeface="標楷體"/>
              </a:rPr>
              <a:t>人。</a:t>
            </a:r>
          </a:p>
          <a:p>
            <a:pPr lvl="0">
              <a:lnSpc>
                <a:spcPct val="150000"/>
              </a:lnSpc>
            </a:pPr>
            <a:r>
              <a:rPr lang="zh-TW" altLang="en-US" b="1" kern="100" dirty="0">
                <a:solidFill>
                  <a:srgbClr val="000000"/>
                </a:solidFill>
                <a:latin typeface="Times New Roman"/>
                <a:ea typeface="標楷體"/>
              </a:rPr>
              <a:t>                    </a:t>
            </a:r>
            <a:r>
              <a:rPr lang="en-US" altLang="zh-TW" b="1" kern="100" dirty="0">
                <a:solidFill>
                  <a:srgbClr val="000000"/>
                </a:solidFill>
                <a:latin typeface="Times New Roman"/>
                <a:ea typeface="標楷體"/>
              </a:rPr>
              <a:t>2.</a:t>
            </a:r>
            <a:r>
              <a:rPr lang="zh-TW" altLang="en-US" b="1" kern="100" dirty="0">
                <a:solidFill>
                  <a:srgbClr val="000000"/>
                </a:solidFill>
                <a:latin typeface="Times New Roman"/>
                <a:ea typeface="標楷體"/>
              </a:rPr>
              <a:t>居家安全環境設施設備扶手 </a:t>
            </a:r>
            <a:r>
              <a:rPr lang="en-US" altLang="zh-TW" b="1" kern="100" dirty="0">
                <a:solidFill>
                  <a:srgbClr val="000000"/>
                </a:solidFill>
                <a:latin typeface="Times New Roman"/>
                <a:ea typeface="標楷體"/>
              </a:rPr>
              <a:t>20</a:t>
            </a:r>
            <a:r>
              <a:rPr lang="zh-TW" altLang="en-US" b="1" kern="100" dirty="0">
                <a:solidFill>
                  <a:srgbClr val="000000"/>
                </a:solidFill>
                <a:latin typeface="Times New Roman"/>
                <a:ea typeface="標楷體"/>
              </a:rPr>
              <a:t>位（男</a:t>
            </a:r>
            <a:r>
              <a:rPr lang="en-US" altLang="zh-TW" b="1" kern="100" dirty="0">
                <a:solidFill>
                  <a:srgbClr val="000000"/>
                </a:solidFill>
                <a:latin typeface="Times New Roman"/>
                <a:ea typeface="標楷體"/>
              </a:rPr>
              <a:t>8</a:t>
            </a:r>
            <a:r>
              <a:rPr lang="zh-TW" altLang="en-US" b="1" kern="100" dirty="0">
                <a:solidFill>
                  <a:srgbClr val="000000"/>
                </a:solidFill>
                <a:latin typeface="Times New Roman"/>
                <a:ea typeface="標楷體"/>
              </a:rPr>
              <a:t>人，女</a:t>
            </a:r>
            <a:r>
              <a:rPr lang="en-US" altLang="zh-TW" b="1" kern="100" dirty="0">
                <a:solidFill>
                  <a:srgbClr val="000000"/>
                </a:solidFill>
                <a:latin typeface="Times New Roman"/>
                <a:ea typeface="標楷體"/>
              </a:rPr>
              <a:t>12</a:t>
            </a:r>
            <a:r>
              <a:rPr lang="zh-TW" altLang="en-US" b="1" kern="100" dirty="0">
                <a:solidFill>
                  <a:srgbClr val="000000"/>
                </a:solidFill>
                <a:latin typeface="Times New Roman"/>
                <a:ea typeface="標楷體"/>
              </a:rPr>
              <a:t>人）</a:t>
            </a:r>
            <a:endParaRPr lang="en-US" altLang="zh-TW" b="1" kern="100" dirty="0">
              <a:solidFill>
                <a:srgbClr val="000000"/>
              </a:solidFill>
              <a:latin typeface="Times New Roman"/>
              <a:ea typeface="標楷體"/>
            </a:endParaRPr>
          </a:p>
          <a:p>
            <a:pPr lvl="0">
              <a:lnSpc>
                <a:spcPct val="150000"/>
              </a:lnSpc>
            </a:pPr>
            <a:r>
              <a:rPr lang="zh-TW" altLang="en-US" b="1" kern="100" dirty="0">
                <a:solidFill>
                  <a:srgbClr val="000000"/>
                </a:solidFill>
                <a:latin typeface="Times New Roman"/>
                <a:ea typeface="標楷體"/>
              </a:rPr>
              <a:t>                        感應式照明</a:t>
            </a:r>
            <a:r>
              <a:rPr lang="en-US" altLang="zh-TW" b="1" kern="100" dirty="0">
                <a:solidFill>
                  <a:srgbClr val="000000"/>
                </a:solidFill>
                <a:latin typeface="Times New Roman"/>
                <a:ea typeface="標楷體"/>
              </a:rPr>
              <a:t>4</a:t>
            </a:r>
            <a:r>
              <a:rPr lang="zh-TW" altLang="en-US" b="1" kern="100" dirty="0">
                <a:solidFill>
                  <a:srgbClr val="000000"/>
                </a:solidFill>
                <a:latin typeface="Times New Roman"/>
                <a:ea typeface="標楷體"/>
              </a:rPr>
              <a:t>位（男</a:t>
            </a:r>
            <a:r>
              <a:rPr lang="en-US" altLang="zh-TW" b="1" kern="100" dirty="0">
                <a:solidFill>
                  <a:srgbClr val="000000"/>
                </a:solidFill>
                <a:latin typeface="Times New Roman"/>
                <a:ea typeface="標楷體"/>
              </a:rPr>
              <a:t>2</a:t>
            </a:r>
            <a:r>
              <a:rPr lang="zh-TW" altLang="en-US" b="1" kern="100" dirty="0">
                <a:solidFill>
                  <a:srgbClr val="000000"/>
                </a:solidFill>
                <a:latin typeface="Times New Roman"/>
                <a:ea typeface="標楷體"/>
              </a:rPr>
              <a:t>人，女</a:t>
            </a:r>
            <a:r>
              <a:rPr lang="en-US" altLang="zh-TW" b="1" kern="100" dirty="0">
                <a:solidFill>
                  <a:srgbClr val="000000"/>
                </a:solidFill>
                <a:latin typeface="Times New Roman"/>
                <a:ea typeface="標楷體"/>
              </a:rPr>
              <a:t>2</a:t>
            </a:r>
            <a:r>
              <a:rPr lang="zh-TW" altLang="en-US" b="1" kern="100" dirty="0">
                <a:solidFill>
                  <a:srgbClr val="000000"/>
                </a:solidFill>
                <a:latin typeface="Times New Roman"/>
                <a:ea typeface="標楷體"/>
              </a:rPr>
              <a:t>人）家俱固定</a:t>
            </a:r>
            <a:r>
              <a:rPr lang="en-US" altLang="zh-TW" b="1" kern="100" dirty="0">
                <a:solidFill>
                  <a:srgbClr val="000000"/>
                </a:solidFill>
                <a:latin typeface="Times New Roman"/>
                <a:ea typeface="標楷體"/>
              </a:rPr>
              <a:t>32</a:t>
            </a:r>
            <a:r>
              <a:rPr lang="zh-TW" altLang="en-US" b="1" kern="100" dirty="0">
                <a:solidFill>
                  <a:srgbClr val="000000"/>
                </a:solidFill>
                <a:latin typeface="Times New Roman"/>
                <a:ea typeface="標楷體"/>
              </a:rPr>
              <a:t>人</a:t>
            </a:r>
            <a:endParaRPr lang="en-US" altLang="zh-TW" b="1" kern="100" dirty="0">
              <a:solidFill>
                <a:srgbClr val="000000"/>
              </a:solidFill>
              <a:latin typeface="Times New Roman"/>
              <a:ea typeface="標楷體"/>
            </a:endParaRPr>
          </a:p>
          <a:p>
            <a:pPr lvl="0">
              <a:lnSpc>
                <a:spcPct val="150000"/>
              </a:lnSpc>
            </a:pPr>
            <a:r>
              <a:rPr lang="zh-TW" altLang="en-US" b="1" kern="100" dirty="0">
                <a:solidFill>
                  <a:srgbClr val="000000"/>
                </a:solidFill>
                <a:latin typeface="Times New Roman"/>
                <a:ea typeface="標楷體"/>
              </a:rPr>
              <a:t>                      （男</a:t>
            </a:r>
            <a:r>
              <a:rPr lang="en-US" altLang="zh-TW" b="1" kern="100" dirty="0">
                <a:solidFill>
                  <a:srgbClr val="000000"/>
                </a:solidFill>
                <a:latin typeface="Times New Roman"/>
                <a:ea typeface="標楷體"/>
              </a:rPr>
              <a:t>13</a:t>
            </a:r>
            <a:r>
              <a:rPr lang="zh-TW" altLang="en-US" b="1" kern="100" dirty="0">
                <a:solidFill>
                  <a:srgbClr val="000000"/>
                </a:solidFill>
                <a:latin typeface="Times New Roman"/>
                <a:ea typeface="標楷體"/>
              </a:rPr>
              <a:t>人，女</a:t>
            </a:r>
            <a:r>
              <a:rPr lang="en-US" altLang="zh-TW" b="1" kern="100" dirty="0">
                <a:solidFill>
                  <a:srgbClr val="000000"/>
                </a:solidFill>
                <a:latin typeface="Times New Roman"/>
                <a:ea typeface="標楷體"/>
              </a:rPr>
              <a:t>19</a:t>
            </a:r>
            <a:r>
              <a:rPr lang="zh-TW" altLang="en-US" b="1" kern="100" dirty="0">
                <a:solidFill>
                  <a:srgbClr val="000000"/>
                </a:solidFill>
                <a:latin typeface="Times New Roman"/>
                <a:ea typeface="標楷體"/>
              </a:rPr>
              <a:t>人）。</a:t>
            </a:r>
            <a:endParaRPr lang="en-US" altLang="zh-TW" b="1" kern="100" dirty="0">
              <a:solidFill>
                <a:srgbClr val="000000"/>
              </a:solidFill>
              <a:latin typeface="Times New Roman"/>
              <a:ea typeface="標楷體"/>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TW" altLang="zh-TW" sz="1600" b="0" i="0" u="none" strike="noStrike" kern="100" cap="none" spc="0" normalizeH="0" baseline="0" noProof="0" dirty="0">
              <a:ln>
                <a:noFill/>
              </a:ln>
              <a:solidFill>
                <a:srgbClr val="024631"/>
              </a:solidFill>
              <a:effectLst/>
              <a:uLnTx/>
              <a:uFillTx/>
              <a:latin typeface="Times New Roman"/>
              <a:ea typeface="新細明體"/>
              <a:cs typeface="+mn-cs"/>
            </a:endParaRPr>
          </a:p>
        </p:txBody>
      </p:sp>
      <p:pic>
        <p:nvPicPr>
          <p:cNvPr id="16386" name="圖片 10">
            <a:extLst>
              <a:ext uri="{FF2B5EF4-FFF2-40B4-BE49-F238E27FC236}">
                <a16:creationId xmlns:a16="http://schemas.microsoft.com/office/drawing/2014/main" id="{DF10E0D2-E49C-4FA2-AFF2-A7C55B45A3B6}"/>
              </a:ext>
            </a:extLst>
          </p:cNvPr>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6689508" y="0"/>
            <a:ext cx="2428376" cy="1822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a:extLst>
              <a:ext uri="{FF2B5EF4-FFF2-40B4-BE49-F238E27FC236}">
                <a16:creationId xmlns:a16="http://schemas.microsoft.com/office/drawing/2014/main" id="{F64386CD-9365-4F05-80D1-C0585C300A3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87444" y="4703950"/>
            <a:ext cx="1732400" cy="2307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圖片 8">
            <a:extLst>
              <a:ext uri="{FF2B5EF4-FFF2-40B4-BE49-F238E27FC236}">
                <a16:creationId xmlns:a16="http://schemas.microsoft.com/office/drawing/2014/main" id="{20574CF4-AE76-4C63-8D39-94B96D9D67F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58081" y="4703950"/>
            <a:ext cx="1729363" cy="2307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圖片 3">
            <a:extLst>
              <a:ext uri="{FF2B5EF4-FFF2-40B4-BE49-F238E27FC236}">
                <a16:creationId xmlns:a16="http://schemas.microsoft.com/office/drawing/2014/main" id="{62094026-6737-462D-8574-10DE7ECA2C5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4636822"/>
            <a:ext cx="1605965" cy="2271634"/>
          </a:xfrm>
          <a:prstGeom prst="rect">
            <a:avLst/>
          </a:prstGeom>
        </p:spPr>
      </p:pic>
      <p:pic>
        <p:nvPicPr>
          <p:cNvPr id="7" name="圖片 6">
            <a:extLst>
              <a:ext uri="{FF2B5EF4-FFF2-40B4-BE49-F238E27FC236}">
                <a16:creationId xmlns:a16="http://schemas.microsoft.com/office/drawing/2014/main" id="{79D23544-C9E5-4AFF-B69D-CD58FB6DA6E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67251" y="4636822"/>
            <a:ext cx="1539199" cy="2177194"/>
          </a:xfrm>
          <a:prstGeom prst="rect">
            <a:avLst/>
          </a:prstGeom>
        </p:spPr>
      </p:pic>
      <p:pic>
        <p:nvPicPr>
          <p:cNvPr id="9" name="圖片 8">
            <a:extLst>
              <a:ext uri="{FF2B5EF4-FFF2-40B4-BE49-F238E27FC236}">
                <a16:creationId xmlns:a16="http://schemas.microsoft.com/office/drawing/2014/main" id="{F1676BB1-9A09-4FBB-97B5-1294FF7FB8F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98833" y="2990423"/>
            <a:ext cx="2194704" cy="1646399"/>
          </a:xfrm>
          <a:prstGeom prst="rect">
            <a:avLst/>
          </a:prstGeom>
        </p:spPr>
      </p:pic>
    </p:spTree>
    <p:extLst>
      <p:ext uri="{BB962C8B-B14F-4D97-AF65-F5344CB8AC3E}">
        <p14:creationId xmlns:p14="http://schemas.microsoft.com/office/powerpoint/2010/main" val="557643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600" dirty="0">
                <a:solidFill>
                  <a:srgbClr val="FFFFFF"/>
                </a:solidFill>
                <a:latin typeface="華康隸書體W7" panose="02010609010101010101" pitchFamily="49" charset="-120"/>
                <a:ea typeface="華康隸書體W7" panose="02010609010101010101" pitchFamily="49" charset="-120"/>
              </a:rPr>
              <a:t>五、方案內容</a:t>
            </a:r>
            <a:endParaRPr lang="zh-TW" altLang="en-US" dirty="0"/>
          </a:p>
        </p:txBody>
      </p:sp>
      <p:sp>
        <p:nvSpPr>
          <p:cNvPr id="3" name="內容版面配置區 2"/>
          <p:cNvSpPr>
            <a:spLocks noGrp="1"/>
          </p:cNvSpPr>
          <p:nvPr>
            <p:ph idx="1"/>
          </p:nvPr>
        </p:nvSpPr>
        <p:spPr>
          <a:xfrm>
            <a:off x="457200" y="990600"/>
            <a:ext cx="8229600" cy="1214264"/>
          </a:xfrm>
        </p:spPr>
        <p:txBody>
          <a:bodyPr/>
          <a:lstStyle/>
          <a:p>
            <a:pPr marL="0" indent="0">
              <a:buNone/>
            </a:pPr>
            <a:r>
              <a:rPr lang="zh-TW" altLang="en-US" sz="2800" b="1" dirty="0">
                <a:solidFill>
                  <a:srgbClr val="FF0000"/>
                </a:solidFill>
                <a:latin typeface="標楷體" pitchFamily="65" charset="-120"/>
                <a:ea typeface="標楷體" pitchFamily="65" charset="-120"/>
              </a:rPr>
              <a:t>方案三：獨老出走及居家安全設置</a:t>
            </a:r>
          </a:p>
        </p:txBody>
      </p:sp>
      <p:sp>
        <p:nvSpPr>
          <p:cNvPr id="5" name="矩形 4"/>
          <p:cNvSpPr/>
          <p:nvPr/>
        </p:nvSpPr>
        <p:spPr>
          <a:xfrm>
            <a:off x="698598" y="1556792"/>
            <a:ext cx="3877985"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en-US" altLang="zh-TW" sz="2400" b="0" i="0" u="none" strike="noStrike" kern="0" cap="none" spc="0" normalizeH="0" baseline="0" noProof="0" dirty="0">
                <a:ln>
                  <a:noFill/>
                </a:ln>
                <a:solidFill>
                  <a:srgbClr val="000000"/>
                </a:solidFill>
                <a:effectLst/>
                <a:uLnTx/>
                <a:uFillTx/>
                <a:latin typeface="標楷體"/>
                <a:ea typeface="+mn-ea"/>
                <a:cs typeface="Times New Roman"/>
              </a:rPr>
              <a:t>1.</a:t>
            </a: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a:t>
            </a:r>
            <a:r>
              <a:rPr kumimoji="0" lang="zh-TW" altLang="zh-TW" sz="2400" b="0" i="0" u="none" strike="noStrike" kern="1200" cap="none" spc="0" normalizeH="0" baseline="0" noProof="0" dirty="0">
                <a:ln>
                  <a:noFill/>
                </a:ln>
                <a:solidFill>
                  <a:srgbClr val="000000"/>
                </a:solidFill>
                <a:effectLst/>
                <a:uLnTx/>
                <a:uFillTx/>
                <a:latin typeface="Arial"/>
                <a:ea typeface="標楷體"/>
                <a:cs typeface="Times New Roman"/>
              </a:rPr>
              <a:t>■福利服務類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sp>
        <p:nvSpPr>
          <p:cNvPr id="4" name="矩形 3"/>
          <p:cNvSpPr/>
          <p:nvPr/>
        </p:nvSpPr>
        <p:spPr>
          <a:xfrm>
            <a:off x="467543" y="2276872"/>
            <a:ext cx="8381999" cy="4248472"/>
          </a:xfrm>
          <a:prstGeom prst="rect">
            <a:avLst/>
          </a:prstGeom>
        </p:spPr>
        <p:txBody>
          <a:bodyPr wrap="square">
            <a:spAutoFit/>
          </a:bodyPr>
          <a:lstStyle/>
          <a:p>
            <a:pPr marL="851535" marR="0" lvl="0" indent="-546735"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標楷體" panose="03000509000000000000" pitchFamily="65" charset="-120"/>
                <a:ea typeface="新細明體" panose="02020500000000000000" pitchFamily="18" charset="-120"/>
                <a:cs typeface="+mn-cs"/>
              </a:rPr>
              <a:t>1.</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主則社區為小旗艦</a:t>
            </a: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4</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社區一起執行。</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a:p>
            <a:pPr marL="851535" marR="0" lvl="0" indent="-546735"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標楷體" panose="03000509000000000000" pitchFamily="65" charset="-120"/>
                <a:ea typeface="新細明體" panose="02020500000000000000" pitchFamily="18" charset="-120"/>
                <a:cs typeface="+mn-cs"/>
              </a:rPr>
              <a:t>2.</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居家安全設置：</a:t>
            </a: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4</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社區為低收、邊緣、中低收入、獨居長者及身心障礙者提供安裝扶手服務，至今年第</a:t>
            </a: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5</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年，因為各社區還有需求，所以本方案持續辦理，今年增加協助居家浴室防滑墊設置，讓低收、邊緣、中低收入、獨居長者及身心障礙者居家安全環境設施設備，使弱勢長者透過本計畫達到居家安全目的。</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a:p>
            <a:pPr marL="851535" marR="0" lvl="0" indent="-546735"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標楷體" panose="03000509000000000000" pitchFamily="65" charset="-120"/>
                <a:ea typeface="新細明體" panose="02020500000000000000" pitchFamily="18" charset="-120"/>
                <a:cs typeface="+mn-cs"/>
              </a:rPr>
              <a:t>3.</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獨老出走：以</a:t>
            </a: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4</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社區的獨居長者為主，尤其是不願意到社區參加據點的獨居長者，我們希望鼓勵獨居長者出來參與活動，未來鼓勵進入據點參與據點活動，所以預定辦理鼓勵獨老參與活動。</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p:txBody>
      </p:sp>
    </p:spTree>
    <p:extLst>
      <p:ext uri="{BB962C8B-B14F-4D97-AF65-F5344CB8AC3E}">
        <p14:creationId xmlns:p14="http://schemas.microsoft.com/office/powerpoint/2010/main" val="3315134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四、方案內容</a:t>
            </a:r>
          </a:p>
        </p:txBody>
      </p:sp>
      <p:sp>
        <p:nvSpPr>
          <p:cNvPr id="3" name="內容版面配置區 2"/>
          <p:cNvSpPr>
            <a:spLocks noGrp="1"/>
          </p:cNvSpPr>
          <p:nvPr>
            <p:ph idx="1"/>
          </p:nvPr>
        </p:nvSpPr>
        <p:spPr>
          <a:xfrm>
            <a:off x="395536" y="836712"/>
            <a:ext cx="8229600" cy="1214264"/>
          </a:xfrm>
        </p:spPr>
        <p:txBody>
          <a:bodyPr/>
          <a:lstStyle/>
          <a:p>
            <a:pPr marL="0" indent="0">
              <a:buNone/>
            </a:pPr>
            <a:r>
              <a:rPr lang="zh-TW" altLang="en-US" sz="2800" b="1" dirty="0">
                <a:solidFill>
                  <a:srgbClr val="FF0000"/>
                </a:solidFill>
                <a:latin typeface="標楷體" pitchFamily="65" charset="-120"/>
                <a:ea typeface="標楷體" pitchFamily="65" charset="-120"/>
              </a:rPr>
              <a:t>方案三：獨老出走及居家安全設置</a:t>
            </a:r>
          </a:p>
          <a:p>
            <a:pPr marL="0" indent="0">
              <a:buNone/>
            </a:pPr>
            <a:r>
              <a:rPr lang="zh-TW" altLang="en-US" sz="2400" b="1" dirty="0">
                <a:solidFill>
                  <a:srgbClr val="000000"/>
                </a:solidFill>
                <a:latin typeface="標楷體" pitchFamily="65" charset="-120"/>
                <a:ea typeface="標楷體" pitchFamily="65" charset="-120"/>
              </a:rPr>
              <a:t>執行方式：</a:t>
            </a:r>
          </a:p>
        </p:txBody>
      </p:sp>
      <p:sp>
        <p:nvSpPr>
          <p:cNvPr id="6" name="矩形 5"/>
          <p:cNvSpPr/>
          <p:nvPr/>
        </p:nvSpPr>
        <p:spPr>
          <a:xfrm>
            <a:off x="611560" y="1844824"/>
            <a:ext cx="7776864" cy="4459106"/>
          </a:xfrm>
          <a:prstGeom prst="rect">
            <a:avLst/>
          </a:prstGeom>
        </p:spPr>
        <p:txBody>
          <a:bodyPr wrap="square">
            <a:spAutoFit/>
          </a:bodyPr>
          <a:lstStyle/>
          <a:p>
            <a:pPr marL="1143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sz="2400" b="1" i="0" u="none" strike="noStrike" kern="100" cap="none" spc="0" normalizeH="0" baseline="0" noProof="0" dirty="0">
                <a:ln>
                  <a:noFill/>
                </a:ln>
                <a:solidFill>
                  <a:srgbClr val="DDDDDD">
                    <a:lumMod val="10000"/>
                  </a:srgbClr>
                </a:solidFill>
                <a:effectLst/>
                <a:uLnTx/>
                <a:uFillTx/>
                <a:latin typeface="Times New Roman"/>
                <a:ea typeface="標楷體"/>
                <a:cs typeface="+mn-cs"/>
              </a:rPr>
              <a:t>1 .</a:t>
            </a:r>
            <a:r>
              <a:rPr kumimoji="0" lang="zh-TW" altLang="en-US" sz="2400" b="1" i="0" u="none" strike="noStrike" kern="100" cap="none" spc="0" normalizeH="0" baseline="0" noProof="0" dirty="0">
                <a:ln>
                  <a:noFill/>
                </a:ln>
                <a:solidFill>
                  <a:srgbClr val="DDDDDD">
                    <a:lumMod val="10000"/>
                  </a:srgbClr>
                </a:solidFill>
                <a:effectLst/>
                <a:uLnTx/>
                <a:uFillTx/>
                <a:latin typeface="Times New Roman"/>
                <a:ea typeface="標楷體"/>
                <a:cs typeface="+mn-cs"/>
              </a:rPr>
              <a:t>居家安全環境設施設備：</a:t>
            </a:r>
            <a:r>
              <a:rPr kumimoji="0" lang="en-US" altLang="zh-TW" sz="2400" b="1" i="0" u="none" strike="noStrike" kern="100" cap="none" spc="0" normalizeH="0" baseline="0" noProof="0" dirty="0">
                <a:ln>
                  <a:noFill/>
                </a:ln>
                <a:solidFill>
                  <a:srgbClr val="DDDDDD">
                    <a:lumMod val="10000"/>
                  </a:srgbClr>
                </a:solidFill>
                <a:effectLst/>
                <a:uLnTx/>
                <a:uFillTx/>
                <a:latin typeface="Times New Roman"/>
                <a:ea typeface="標楷體"/>
                <a:cs typeface="+mn-cs"/>
              </a:rPr>
              <a:t>4</a:t>
            </a:r>
            <a:r>
              <a:rPr kumimoji="0" lang="zh-TW" altLang="en-US" sz="2400" b="1" i="0" u="none" strike="noStrike" kern="100" cap="none" spc="0" normalizeH="0" baseline="0" noProof="0" dirty="0">
                <a:ln>
                  <a:noFill/>
                </a:ln>
                <a:solidFill>
                  <a:srgbClr val="DDDDDD">
                    <a:lumMod val="10000"/>
                  </a:srgbClr>
                </a:solidFill>
                <a:effectLst/>
                <a:uLnTx/>
                <a:uFillTx/>
                <a:latin typeface="Times New Roman"/>
                <a:ea typeface="標楷體"/>
                <a:cs typeface="+mn-cs"/>
              </a:rPr>
              <a:t>社區成立居管家，進行居家安全檢測，針對有服務需求的長者及身心障礙者給於安裝居家安全設施，扶手及小夜燈和家俱固定及防滑墊，達到居家安全目的。</a:t>
            </a:r>
          </a:p>
          <a:p>
            <a:pPr marL="1143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sz="2400" b="1" i="0" u="none" strike="noStrike" kern="100" cap="none" spc="0" normalizeH="0" baseline="0" noProof="0" dirty="0">
                <a:ln>
                  <a:noFill/>
                </a:ln>
                <a:solidFill>
                  <a:srgbClr val="C00000"/>
                </a:solidFill>
                <a:effectLst/>
                <a:uLnTx/>
                <a:uFillTx/>
                <a:latin typeface="Times New Roman"/>
                <a:ea typeface="標楷體"/>
                <a:cs typeface="+mn-cs"/>
              </a:rPr>
              <a:t>2. </a:t>
            </a:r>
            <a:r>
              <a:rPr kumimoji="0" lang="zh-TW" altLang="en-US" sz="2400" b="1" i="0" u="none" strike="noStrike" kern="100" cap="none" spc="0" normalizeH="0" baseline="0" noProof="0" dirty="0">
                <a:ln>
                  <a:noFill/>
                </a:ln>
                <a:solidFill>
                  <a:srgbClr val="C00000"/>
                </a:solidFill>
                <a:effectLst/>
                <a:uLnTx/>
                <a:uFillTx/>
                <a:latin typeface="Times New Roman"/>
                <a:ea typeface="標楷體"/>
                <a:cs typeface="+mn-cs"/>
              </a:rPr>
              <a:t>獨老出走：小旗艦</a:t>
            </a:r>
            <a:r>
              <a:rPr kumimoji="0" lang="en-US" altLang="zh-TW" sz="2400" b="1" i="0" u="none" strike="noStrike" kern="100" cap="none" spc="0" normalizeH="0" baseline="0" noProof="0" dirty="0">
                <a:ln>
                  <a:noFill/>
                </a:ln>
                <a:solidFill>
                  <a:srgbClr val="C00000"/>
                </a:solidFill>
                <a:effectLst/>
                <a:uLnTx/>
                <a:uFillTx/>
                <a:latin typeface="Times New Roman"/>
                <a:ea typeface="標楷體"/>
                <a:cs typeface="+mn-cs"/>
              </a:rPr>
              <a:t>4</a:t>
            </a:r>
            <a:r>
              <a:rPr kumimoji="0" lang="zh-TW" altLang="en-US" sz="2400" b="1" i="0" u="none" strike="noStrike" kern="100" cap="none" spc="0" normalizeH="0" baseline="0" noProof="0" dirty="0">
                <a:ln>
                  <a:noFill/>
                </a:ln>
                <a:solidFill>
                  <a:srgbClr val="C00000"/>
                </a:solidFill>
                <a:effectLst/>
                <a:uLnTx/>
                <a:uFillTx/>
                <a:latin typeface="Times New Roman"/>
                <a:ea typeface="標楷體"/>
                <a:cs typeface="+mn-cs"/>
              </a:rPr>
              <a:t>社區每社區鼓勵</a:t>
            </a:r>
            <a:r>
              <a:rPr kumimoji="0" lang="en-US" altLang="zh-TW" sz="2400" b="1" i="0" u="none" strike="noStrike" kern="100" cap="none" spc="0" normalizeH="0" baseline="0" noProof="0" dirty="0">
                <a:ln>
                  <a:noFill/>
                </a:ln>
                <a:solidFill>
                  <a:srgbClr val="C00000"/>
                </a:solidFill>
                <a:effectLst/>
                <a:uLnTx/>
                <a:uFillTx/>
                <a:latin typeface="Times New Roman"/>
                <a:ea typeface="標楷體"/>
                <a:cs typeface="+mn-cs"/>
              </a:rPr>
              <a:t>7-8</a:t>
            </a:r>
            <a:r>
              <a:rPr kumimoji="0" lang="zh-TW" altLang="en-US" sz="2400" b="1" i="0" u="none" strike="noStrike" kern="100" cap="none" spc="0" normalizeH="0" baseline="0" noProof="0" dirty="0">
                <a:ln>
                  <a:noFill/>
                </a:ln>
                <a:solidFill>
                  <a:srgbClr val="C00000"/>
                </a:solidFill>
                <a:effectLst/>
                <a:uLnTx/>
                <a:uFillTx/>
                <a:latin typeface="Times New Roman"/>
                <a:ea typeface="標楷體"/>
                <a:cs typeface="+mn-cs"/>
              </a:rPr>
              <a:t>位獨居長者參加</a:t>
            </a:r>
            <a:r>
              <a:rPr kumimoji="0" lang="en-US" altLang="zh-TW" sz="2400" b="1" i="0" u="none" strike="noStrike" kern="100" cap="none" spc="0" normalizeH="0" baseline="0" noProof="0" dirty="0">
                <a:ln>
                  <a:noFill/>
                </a:ln>
                <a:solidFill>
                  <a:srgbClr val="C00000"/>
                </a:solidFill>
                <a:effectLst/>
                <a:uLnTx/>
                <a:uFillTx/>
                <a:latin typeface="Times New Roman"/>
                <a:ea typeface="標楷體"/>
                <a:cs typeface="+mn-cs"/>
              </a:rPr>
              <a:t>4</a:t>
            </a:r>
            <a:r>
              <a:rPr kumimoji="0" lang="zh-TW" altLang="en-US" sz="2400" b="1" i="0" u="none" strike="noStrike" kern="100" cap="none" spc="0" normalizeH="0" baseline="0" noProof="0" dirty="0">
                <a:ln>
                  <a:noFill/>
                </a:ln>
                <a:solidFill>
                  <a:srgbClr val="C00000"/>
                </a:solidFill>
                <a:effectLst/>
                <a:uLnTx/>
                <a:uFillTx/>
                <a:latin typeface="Times New Roman"/>
                <a:ea typeface="標楷體"/>
                <a:cs typeface="+mn-cs"/>
              </a:rPr>
              <a:t>次據點活動，在每社區輪一次辦理，參加</a:t>
            </a:r>
            <a:r>
              <a:rPr kumimoji="0" lang="en-US" altLang="zh-TW" sz="2400" b="1" i="0" u="none" strike="noStrike" kern="100" cap="none" spc="0" normalizeH="0" baseline="0" noProof="0" dirty="0">
                <a:ln>
                  <a:noFill/>
                </a:ln>
                <a:solidFill>
                  <a:srgbClr val="C00000"/>
                </a:solidFill>
                <a:effectLst/>
                <a:uLnTx/>
                <a:uFillTx/>
                <a:latin typeface="Times New Roman"/>
                <a:ea typeface="標楷體"/>
                <a:cs typeface="+mn-cs"/>
              </a:rPr>
              <a:t>4</a:t>
            </a:r>
            <a:r>
              <a:rPr kumimoji="0" lang="zh-TW" altLang="en-US" sz="2400" b="1" i="0" u="none" strike="noStrike" kern="100" cap="none" spc="0" normalizeH="0" baseline="0" noProof="0" dirty="0">
                <a:ln>
                  <a:noFill/>
                </a:ln>
                <a:solidFill>
                  <a:srgbClr val="C00000"/>
                </a:solidFill>
                <a:effectLst/>
                <a:uLnTx/>
                <a:uFillTx/>
                <a:latin typeface="Times New Roman"/>
                <a:ea typeface="標楷體"/>
                <a:cs typeface="+mn-cs"/>
              </a:rPr>
              <a:t>次後，最後一次辦理戶外活動以鼓勵獨居長者參與，課程及活動加入靈性關懷陪伴及小夜燈製作課程。</a:t>
            </a:r>
          </a:p>
        </p:txBody>
      </p:sp>
    </p:spTree>
    <p:extLst>
      <p:ext uri="{BB962C8B-B14F-4D97-AF65-F5344CB8AC3E}">
        <p14:creationId xmlns:p14="http://schemas.microsoft.com/office/powerpoint/2010/main" val="417417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四、方案內容</a:t>
            </a:r>
          </a:p>
        </p:txBody>
      </p:sp>
      <p:sp>
        <p:nvSpPr>
          <p:cNvPr id="3" name="內容版面配置區 2"/>
          <p:cNvSpPr>
            <a:spLocks noGrp="1"/>
          </p:cNvSpPr>
          <p:nvPr>
            <p:ph idx="1"/>
          </p:nvPr>
        </p:nvSpPr>
        <p:spPr>
          <a:xfrm>
            <a:off x="395536" y="836712"/>
            <a:ext cx="8229600" cy="1214264"/>
          </a:xfrm>
        </p:spPr>
        <p:txBody>
          <a:bodyPr/>
          <a:lstStyle/>
          <a:p>
            <a:pPr marL="0" indent="0">
              <a:buNone/>
            </a:pPr>
            <a:r>
              <a:rPr lang="zh-TW" altLang="en-US" sz="2800" b="1" dirty="0">
                <a:solidFill>
                  <a:srgbClr val="FF0000"/>
                </a:solidFill>
                <a:latin typeface="標楷體" pitchFamily="65" charset="-120"/>
                <a:ea typeface="標楷體" pitchFamily="65" charset="-120"/>
              </a:rPr>
              <a:t>方案三：獨老出走及居家安全設置</a:t>
            </a:r>
          </a:p>
          <a:p>
            <a:pPr marL="0" indent="0">
              <a:buNone/>
            </a:pPr>
            <a:r>
              <a:rPr lang="zh-TW" altLang="en-US" sz="2400" b="1" dirty="0">
                <a:solidFill>
                  <a:srgbClr val="000000"/>
                </a:solidFill>
                <a:latin typeface="標楷體" pitchFamily="65" charset="-120"/>
                <a:ea typeface="標楷體" pitchFamily="65" charset="-120"/>
              </a:rPr>
              <a:t>執行方式：靈性關懷陪伴課程</a:t>
            </a:r>
          </a:p>
        </p:txBody>
      </p:sp>
      <p:graphicFrame>
        <p:nvGraphicFramePr>
          <p:cNvPr id="5" name="表格 4">
            <a:extLst>
              <a:ext uri="{FF2B5EF4-FFF2-40B4-BE49-F238E27FC236}">
                <a16:creationId xmlns:a16="http://schemas.microsoft.com/office/drawing/2014/main" id="{B933E8AF-35D5-4C53-97DC-D021854CD73E}"/>
              </a:ext>
            </a:extLst>
          </p:cNvPr>
          <p:cNvGraphicFramePr>
            <a:graphicFrameLocks noGrp="1"/>
          </p:cNvGraphicFramePr>
          <p:nvPr/>
        </p:nvGraphicFramePr>
        <p:xfrm>
          <a:off x="1043608" y="2278088"/>
          <a:ext cx="7200799" cy="3383160"/>
        </p:xfrm>
        <a:graphic>
          <a:graphicData uri="http://schemas.openxmlformats.org/drawingml/2006/table">
            <a:tbl>
              <a:tblPr firstRow="1" firstCol="1" lastRow="1" lastCol="1" bandRow="1" bandCol="1"/>
              <a:tblGrid>
                <a:gridCol w="425833">
                  <a:extLst>
                    <a:ext uri="{9D8B030D-6E8A-4147-A177-3AD203B41FA5}">
                      <a16:colId xmlns:a16="http://schemas.microsoft.com/office/drawing/2014/main" val="1522981156"/>
                    </a:ext>
                  </a:extLst>
                </a:gridCol>
                <a:gridCol w="2684154">
                  <a:extLst>
                    <a:ext uri="{9D8B030D-6E8A-4147-A177-3AD203B41FA5}">
                      <a16:colId xmlns:a16="http://schemas.microsoft.com/office/drawing/2014/main" val="706524106"/>
                    </a:ext>
                  </a:extLst>
                </a:gridCol>
                <a:gridCol w="1221921">
                  <a:extLst>
                    <a:ext uri="{9D8B030D-6E8A-4147-A177-3AD203B41FA5}">
                      <a16:colId xmlns:a16="http://schemas.microsoft.com/office/drawing/2014/main" val="4243932405"/>
                    </a:ext>
                  </a:extLst>
                </a:gridCol>
                <a:gridCol w="1108418">
                  <a:extLst>
                    <a:ext uri="{9D8B030D-6E8A-4147-A177-3AD203B41FA5}">
                      <a16:colId xmlns:a16="http://schemas.microsoft.com/office/drawing/2014/main" val="1562618361"/>
                    </a:ext>
                  </a:extLst>
                </a:gridCol>
                <a:gridCol w="778084">
                  <a:extLst>
                    <a:ext uri="{9D8B030D-6E8A-4147-A177-3AD203B41FA5}">
                      <a16:colId xmlns:a16="http://schemas.microsoft.com/office/drawing/2014/main" val="2851065375"/>
                    </a:ext>
                  </a:extLst>
                </a:gridCol>
                <a:gridCol w="982389">
                  <a:extLst>
                    <a:ext uri="{9D8B030D-6E8A-4147-A177-3AD203B41FA5}">
                      <a16:colId xmlns:a16="http://schemas.microsoft.com/office/drawing/2014/main" val="2153005220"/>
                    </a:ext>
                  </a:extLst>
                </a:gridCol>
              </a:tblGrid>
              <a:tr h="615120">
                <a:tc>
                  <a:txBody>
                    <a:bodyPr/>
                    <a:lstStyle/>
                    <a:p>
                      <a:pPr marL="66675" algn="l">
                        <a:spcBef>
                          <a:spcPts val="355"/>
                        </a:spcBef>
                        <a:spcAft>
                          <a:spcPts val="0"/>
                        </a:spcAft>
                      </a:pPr>
                      <a:r>
                        <a:rPr lang="en-US" sz="1600" b="1" kern="0" spc="-55" dirty="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次</a:t>
                      </a:r>
                      <a:endParaRPr lang="zh-TW" sz="16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0" algn="l">
                        <a:spcBef>
                          <a:spcPts val="355"/>
                        </a:spcBef>
                        <a:spcAft>
                          <a:spcPts val="0"/>
                        </a:spcAft>
                      </a:pPr>
                      <a:r>
                        <a:rPr lang="zh-TW" sz="1600" b="1" kern="0" spc="-10" dirty="0">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獨老出走</a:t>
                      </a:r>
                      <a:r>
                        <a:rPr lang="en-US" sz="1600" b="1" kern="0" spc="-10" dirty="0">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a:t>
                      </a:r>
                      <a:r>
                        <a:rPr lang="zh-TW" sz="1600" b="1" kern="0" spc="-10" dirty="0">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靈性關懷陪伴</a:t>
                      </a:r>
                      <a:endParaRPr lang="zh-TW" sz="16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2250" algn="l">
                        <a:spcBef>
                          <a:spcPts val="355"/>
                        </a:spcBef>
                        <a:spcAft>
                          <a:spcPts val="0"/>
                        </a:spcAft>
                      </a:pPr>
                      <a:r>
                        <a:rPr lang="en-US" sz="1600" b="1" kern="0" spc="-25">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講師</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2230" algn="l">
                        <a:spcBef>
                          <a:spcPts val="355"/>
                        </a:spcBef>
                        <a:spcAft>
                          <a:spcPts val="0"/>
                        </a:spcAft>
                      </a:pPr>
                      <a:r>
                        <a:rPr lang="en-US" sz="1600" b="1" kern="0" spc="-2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學經歷</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2230" algn="l">
                        <a:spcBef>
                          <a:spcPts val="355"/>
                        </a:spcBef>
                        <a:spcAft>
                          <a:spcPts val="0"/>
                        </a:spcAft>
                      </a:pPr>
                      <a:r>
                        <a:rPr lang="en-US" sz="1600" b="1" kern="0" spc="-15">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內</a:t>
                      </a:r>
                      <a:r>
                        <a:rPr lang="en-US" sz="1600" b="1" kern="0" spc="-5">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a:t>
                      </a:r>
                      <a:r>
                        <a:rPr lang="en-US" sz="1600" b="1" kern="0" spc="-15">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外聘</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2230" algn="l">
                        <a:spcBef>
                          <a:spcPts val="355"/>
                        </a:spcBef>
                        <a:spcAft>
                          <a:spcPts val="0"/>
                        </a:spcAft>
                      </a:pPr>
                      <a:r>
                        <a:rPr lang="en-US" sz="1600" b="1" kern="0" spc="-3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對象</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9896596"/>
                  </a:ext>
                </a:extLst>
              </a:tr>
              <a:tr h="615120">
                <a:tc>
                  <a:txBody>
                    <a:bodyPr/>
                    <a:lstStyle/>
                    <a:p>
                      <a:pPr marL="66675" algn="l">
                        <a:spcBef>
                          <a:spcPts val="355"/>
                        </a:spcBef>
                        <a:spcAft>
                          <a:spcPts val="0"/>
                        </a:spcAft>
                      </a:pPr>
                      <a:r>
                        <a:rPr lang="en-US" sz="1600" b="1" kern="0" spc="-6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1</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TW" sz="1600" b="1" kern="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自己跟自己及與原生家庭關係</a:t>
                      </a:r>
                      <a:endParaRPr lang="zh-TW" sz="16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l">
                        <a:spcAft>
                          <a:spcPts val="0"/>
                        </a:spcAft>
                      </a:pPr>
                      <a:r>
                        <a:rPr lang="zh-TW" sz="1600" b="1" kern="10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暫定陳美娟老師</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l">
                        <a:spcAft>
                          <a:spcPts val="0"/>
                        </a:spcAft>
                      </a:pPr>
                      <a:r>
                        <a:rPr lang="zh-TW" sz="1600" b="1" kern="10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曾任健保署專員、現任中華民國麥田關懷協會靈性關懷講師、藥物諮詢藥師</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l">
                        <a:spcAft>
                          <a:spcPts val="0"/>
                        </a:spcAft>
                      </a:pPr>
                      <a:r>
                        <a:rPr lang="en-US" sz="1600" b="1" kern="0" spc="-25">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外聘</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marL="62230" marR="76200" algn="l">
                        <a:lnSpc>
                          <a:spcPct val="109000"/>
                        </a:lnSpc>
                        <a:spcBef>
                          <a:spcPts val="355"/>
                        </a:spcBef>
                        <a:spcAft>
                          <a:spcPts val="0"/>
                        </a:spcAft>
                      </a:pPr>
                      <a:r>
                        <a:rPr lang="en-US" sz="1600" b="1" kern="0" spc="15">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4</a:t>
                      </a:r>
                      <a:r>
                        <a:rPr lang="zh-TW" sz="1600" b="1" kern="0" spc="40">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個小旗</a:t>
                      </a:r>
                      <a:r>
                        <a:rPr lang="zh-TW" sz="1600" b="1" kern="0" spc="-140">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艦</a:t>
                      </a:r>
                      <a:r>
                        <a:rPr lang="zh-TW" sz="1600" b="1" kern="0" spc="-65">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 </a:t>
                      </a:r>
                      <a:r>
                        <a:rPr lang="zh-TW" sz="1600" b="1" kern="0" spc="-140">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社區獨居長者</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3076302"/>
                  </a:ext>
                </a:extLst>
              </a:tr>
              <a:tr h="474155">
                <a:tc>
                  <a:txBody>
                    <a:bodyPr/>
                    <a:lstStyle/>
                    <a:p>
                      <a:pPr marL="66675" algn="l">
                        <a:spcBef>
                          <a:spcPts val="355"/>
                        </a:spcBef>
                        <a:spcAft>
                          <a:spcPts val="0"/>
                        </a:spcAft>
                      </a:pPr>
                      <a:r>
                        <a:rPr lang="en-US" sz="1600" b="1" kern="0" spc="-6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2</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TW" sz="1600" b="1" kern="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人與人之間的關係</a:t>
                      </a:r>
                      <a:endParaRPr lang="zh-TW" sz="16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2213673825"/>
                  </a:ext>
                </a:extLst>
              </a:tr>
              <a:tr h="474155">
                <a:tc>
                  <a:txBody>
                    <a:bodyPr/>
                    <a:lstStyle/>
                    <a:p>
                      <a:pPr marL="66675" algn="l">
                        <a:spcBef>
                          <a:spcPts val="355"/>
                        </a:spcBef>
                        <a:spcAft>
                          <a:spcPts val="0"/>
                        </a:spcAft>
                      </a:pPr>
                      <a:r>
                        <a:rPr lang="en-US" sz="1600" b="1" kern="0" spc="-6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3</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TW" sz="1600" b="1" kern="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修復關係十大步驟</a:t>
                      </a:r>
                      <a:endParaRPr lang="zh-TW" sz="16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1634214919"/>
                  </a:ext>
                </a:extLst>
              </a:tr>
              <a:tr h="1204610">
                <a:tc>
                  <a:txBody>
                    <a:bodyPr/>
                    <a:lstStyle/>
                    <a:p>
                      <a:pPr marL="66675" algn="l">
                        <a:spcBef>
                          <a:spcPts val="355"/>
                        </a:spcBef>
                        <a:spcAft>
                          <a:spcPts val="0"/>
                        </a:spcAft>
                      </a:pPr>
                      <a:r>
                        <a:rPr lang="en-US" sz="1600" b="1" kern="0" spc="-6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4</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TW" sz="1600" b="1" kern="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饒恕及夢想成真</a:t>
                      </a:r>
                      <a:endParaRPr lang="zh-TW" sz="16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251495606"/>
                  </a:ext>
                </a:extLst>
              </a:tr>
            </a:tbl>
          </a:graphicData>
        </a:graphic>
      </p:graphicFrame>
    </p:spTree>
    <p:extLst>
      <p:ext uri="{BB962C8B-B14F-4D97-AF65-F5344CB8AC3E}">
        <p14:creationId xmlns:p14="http://schemas.microsoft.com/office/powerpoint/2010/main" val="2266892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小旗艦計畫執行成果</a:t>
            </a:r>
          </a:p>
        </p:txBody>
      </p:sp>
      <p:sp>
        <p:nvSpPr>
          <p:cNvPr id="5" name="矩形 4"/>
          <p:cNvSpPr/>
          <p:nvPr/>
        </p:nvSpPr>
        <p:spPr>
          <a:xfrm>
            <a:off x="467544" y="908720"/>
            <a:ext cx="8424936" cy="5023811"/>
          </a:xfrm>
          <a:prstGeom prst="rect">
            <a:avLst/>
          </a:prstGeom>
        </p:spPr>
        <p:txBody>
          <a:bodyPr wrap="square">
            <a:spAutoFit/>
          </a:bodyPr>
          <a:lstStyle/>
          <a:p>
            <a:pPr marL="304800">
              <a:lnSpc>
                <a:spcPct val="150000"/>
              </a:lnSpc>
              <a:spcAft>
                <a:spcPts val="0"/>
              </a:spcAft>
            </a:pPr>
            <a:r>
              <a:rPr lang="en-US" altLang="zh-TW" b="1" kern="100" dirty="0">
                <a:solidFill>
                  <a:srgbClr val="FF0000"/>
                </a:solidFill>
                <a:latin typeface="Times New Roman"/>
                <a:ea typeface="標楷體"/>
              </a:rPr>
              <a:t>111</a:t>
            </a:r>
            <a:r>
              <a:rPr lang="zh-TW" altLang="en-US" b="1" kern="100" dirty="0">
                <a:solidFill>
                  <a:srgbClr val="FF0000"/>
                </a:solidFill>
                <a:latin typeface="Times New Roman"/>
                <a:ea typeface="標楷體"/>
              </a:rPr>
              <a:t>年</a:t>
            </a:r>
            <a:r>
              <a:rPr lang="zh-TW" altLang="zh-TW" b="1" kern="100" dirty="0">
                <a:solidFill>
                  <a:srgbClr val="FF0000"/>
                </a:solidFill>
                <a:latin typeface="Times New Roman"/>
                <a:ea typeface="標楷體"/>
              </a:rPr>
              <a:t>方案四：社區婦女審議式菜巿會</a:t>
            </a:r>
            <a:r>
              <a:rPr lang="en-US" altLang="zh-TW" b="1" kern="100" dirty="0">
                <a:solidFill>
                  <a:srgbClr val="FF0000"/>
                </a:solidFill>
                <a:latin typeface="Times New Roman"/>
                <a:ea typeface="標楷體"/>
              </a:rPr>
              <a:t>-</a:t>
            </a:r>
            <a:r>
              <a:rPr lang="zh-TW" altLang="zh-TW" b="1" kern="100" dirty="0">
                <a:solidFill>
                  <a:srgbClr val="FF0000"/>
                </a:solidFill>
                <a:latin typeface="Times New Roman"/>
                <a:ea typeface="標楷體"/>
              </a:rPr>
              <a:t>活躍新女力：</a:t>
            </a:r>
            <a:r>
              <a:rPr lang="en-US" altLang="zh-TW" b="1" kern="100" dirty="0">
                <a:solidFill>
                  <a:srgbClr val="000000"/>
                </a:solidFill>
                <a:latin typeface="Times New Roman"/>
                <a:ea typeface="標楷體"/>
              </a:rPr>
              <a:t>	</a:t>
            </a:r>
            <a:endParaRPr lang="zh-TW" altLang="zh-TW" sz="1600" b="1" kern="100" dirty="0">
              <a:solidFill>
                <a:srgbClr val="000000"/>
              </a:solidFill>
              <a:latin typeface="Times New Roman"/>
              <a:ea typeface="新細明體"/>
            </a:endParaRPr>
          </a:p>
          <a:p>
            <a:pPr lvl="0">
              <a:lnSpc>
                <a:spcPct val="150000"/>
              </a:lnSpc>
              <a:spcAft>
                <a:spcPts val="0"/>
              </a:spcAft>
            </a:pPr>
            <a:r>
              <a:rPr lang="zh-TW" altLang="en-US" b="1" kern="100" dirty="0">
                <a:solidFill>
                  <a:srgbClr val="000000"/>
                </a:solidFill>
                <a:latin typeface="Times New Roman"/>
                <a:ea typeface="標楷體"/>
              </a:rPr>
              <a:t>                   </a:t>
            </a:r>
            <a:r>
              <a:rPr lang="en-US" altLang="zh-TW" b="1" kern="100" dirty="0">
                <a:solidFill>
                  <a:srgbClr val="000000"/>
                </a:solidFill>
                <a:latin typeface="Times New Roman"/>
                <a:ea typeface="標楷體"/>
              </a:rPr>
              <a:t>1.</a:t>
            </a:r>
            <a:r>
              <a:rPr lang="zh-TW" altLang="zh-TW" b="1" kern="100" dirty="0">
                <a:solidFill>
                  <a:srgbClr val="000000"/>
                </a:solidFill>
                <a:latin typeface="Times New Roman"/>
                <a:ea typeface="標楷體"/>
              </a:rPr>
              <a:t>餐飲服務實務指導課程：總計</a:t>
            </a:r>
            <a:r>
              <a:rPr lang="en-US" altLang="zh-TW" b="1" kern="100" dirty="0">
                <a:solidFill>
                  <a:srgbClr val="000000"/>
                </a:solidFill>
                <a:latin typeface="Times New Roman"/>
                <a:ea typeface="標楷體"/>
              </a:rPr>
              <a:t>3</a:t>
            </a:r>
            <a:r>
              <a:rPr lang="zh-TW" altLang="zh-TW" b="1" kern="100" dirty="0">
                <a:solidFill>
                  <a:srgbClr val="000000"/>
                </a:solidFill>
                <a:latin typeface="Times New Roman"/>
                <a:ea typeface="標楷體"/>
              </a:rPr>
              <a:t>場，參加人次有</a:t>
            </a:r>
            <a:r>
              <a:rPr lang="en-US" altLang="zh-TW" b="1" kern="100" dirty="0">
                <a:solidFill>
                  <a:srgbClr val="000000"/>
                </a:solidFill>
                <a:latin typeface="Times New Roman"/>
                <a:ea typeface="標楷體"/>
              </a:rPr>
              <a:t>49</a:t>
            </a:r>
            <a:r>
              <a:rPr lang="zh-TW" altLang="zh-TW" b="1" kern="100" dirty="0">
                <a:solidFill>
                  <a:srgbClr val="000000"/>
                </a:solidFill>
                <a:latin typeface="Times New Roman"/>
                <a:ea typeface="標楷體"/>
              </a:rPr>
              <a:t>人次。</a:t>
            </a:r>
            <a:endParaRPr lang="zh-TW" altLang="zh-TW" sz="1600" b="1" kern="100" dirty="0">
              <a:solidFill>
                <a:srgbClr val="000000"/>
              </a:solidFill>
              <a:latin typeface="Times New Roman"/>
              <a:ea typeface="新細明體"/>
            </a:endParaRPr>
          </a:p>
          <a:p>
            <a:pPr lvl="0">
              <a:lnSpc>
                <a:spcPct val="150000"/>
              </a:lnSpc>
              <a:spcAft>
                <a:spcPts val="0"/>
              </a:spcAft>
            </a:pPr>
            <a:r>
              <a:rPr lang="zh-TW" altLang="en-US" b="1" kern="100" dirty="0">
                <a:solidFill>
                  <a:srgbClr val="000000"/>
                </a:solidFill>
                <a:latin typeface="Times New Roman"/>
                <a:ea typeface="標楷體"/>
              </a:rPr>
              <a:t>                   </a:t>
            </a:r>
            <a:r>
              <a:rPr lang="en-US" altLang="zh-TW" b="1" kern="100" dirty="0">
                <a:solidFill>
                  <a:srgbClr val="000000"/>
                </a:solidFill>
                <a:latin typeface="Times New Roman"/>
                <a:ea typeface="標楷體"/>
              </a:rPr>
              <a:t>2.</a:t>
            </a:r>
            <a:r>
              <a:rPr lang="zh-TW" altLang="zh-TW" b="1" kern="100" dirty="0">
                <a:solidFill>
                  <a:srgbClr val="000000"/>
                </a:solidFill>
                <a:latin typeface="Times New Roman"/>
                <a:ea typeface="標楷體"/>
              </a:rPr>
              <a:t>健康飲食概念課程：總計</a:t>
            </a:r>
            <a:r>
              <a:rPr lang="en-US" altLang="zh-TW" b="1" kern="100" dirty="0">
                <a:solidFill>
                  <a:srgbClr val="000000"/>
                </a:solidFill>
                <a:latin typeface="Times New Roman"/>
                <a:ea typeface="標楷體"/>
              </a:rPr>
              <a:t>3</a:t>
            </a:r>
            <a:r>
              <a:rPr lang="zh-TW" altLang="zh-TW" b="1" kern="100" dirty="0">
                <a:solidFill>
                  <a:srgbClr val="000000"/>
                </a:solidFill>
                <a:latin typeface="Times New Roman"/>
                <a:ea typeface="標楷體"/>
              </a:rPr>
              <a:t>場，參加人次有</a:t>
            </a:r>
            <a:r>
              <a:rPr lang="en-US" altLang="zh-TW" b="1" kern="100" dirty="0">
                <a:solidFill>
                  <a:srgbClr val="000000"/>
                </a:solidFill>
                <a:latin typeface="Times New Roman"/>
                <a:ea typeface="標楷體"/>
              </a:rPr>
              <a:t>76</a:t>
            </a:r>
            <a:r>
              <a:rPr lang="zh-TW" altLang="zh-TW" b="1" kern="100" dirty="0">
                <a:solidFill>
                  <a:srgbClr val="000000"/>
                </a:solidFill>
                <a:latin typeface="Times New Roman"/>
                <a:ea typeface="標楷體"/>
              </a:rPr>
              <a:t>人次。</a:t>
            </a:r>
            <a:endParaRPr lang="zh-TW" altLang="zh-TW" sz="1600" b="1" kern="100" dirty="0">
              <a:solidFill>
                <a:srgbClr val="000000"/>
              </a:solidFill>
              <a:latin typeface="Times New Roman"/>
              <a:ea typeface="新細明體"/>
            </a:endParaRPr>
          </a:p>
          <a:p>
            <a:pPr lvl="0">
              <a:lnSpc>
                <a:spcPct val="150000"/>
              </a:lnSpc>
              <a:spcAft>
                <a:spcPts val="0"/>
              </a:spcAft>
            </a:pPr>
            <a:r>
              <a:rPr lang="zh-TW" altLang="en-US" b="1" kern="100" dirty="0">
                <a:solidFill>
                  <a:srgbClr val="000000"/>
                </a:solidFill>
                <a:latin typeface="Times New Roman"/>
                <a:ea typeface="標楷體"/>
              </a:rPr>
              <a:t>                   </a:t>
            </a:r>
            <a:r>
              <a:rPr lang="en-US" altLang="zh-TW" b="1" kern="100" dirty="0">
                <a:solidFill>
                  <a:srgbClr val="000000"/>
                </a:solidFill>
                <a:latin typeface="Times New Roman"/>
                <a:ea typeface="標楷體"/>
              </a:rPr>
              <a:t>3.</a:t>
            </a:r>
            <a:r>
              <a:rPr lang="zh-TW" altLang="zh-TW" b="1" kern="100" dirty="0">
                <a:solidFill>
                  <a:srgbClr val="000000"/>
                </a:solidFill>
                <a:latin typeface="Times New Roman"/>
                <a:ea typeface="標楷體"/>
              </a:rPr>
              <a:t>審議式社區婦女論壇：總計</a:t>
            </a:r>
            <a:r>
              <a:rPr lang="en-US" altLang="zh-TW" b="1" kern="100" dirty="0">
                <a:solidFill>
                  <a:srgbClr val="000000"/>
                </a:solidFill>
                <a:latin typeface="Times New Roman"/>
                <a:ea typeface="標楷體"/>
              </a:rPr>
              <a:t>3</a:t>
            </a:r>
            <a:r>
              <a:rPr lang="zh-TW" altLang="zh-TW" b="1" kern="100" dirty="0">
                <a:solidFill>
                  <a:srgbClr val="000000"/>
                </a:solidFill>
                <a:latin typeface="Times New Roman"/>
                <a:ea typeface="標楷體"/>
              </a:rPr>
              <a:t>場，參加人次有</a:t>
            </a:r>
            <a:r>
              <a:rPr lang="en-US" altLang="zh-TW" b="1" kern="100" dirty="0">
                <a:solidFill>
                  <a:srgbClr val="000000"/>
                </a:solidFill>
                <a:latin typeface="Times New Roman"/>
                <a:ea typeface="標楷體"/>
              </a:rPr>
              <a:t>47</a:t>
            </a:r>
            <a:r>
              <a:rPr lang="zh-TW" altLang="zh-TW" b="1" kern="100" dirty="0">
                <a:solidFill>
                  <a:srgbClr val="000000"/>
                </a:solidFill>
                <a:latin typeface="Times New Roman"/>
                <a:ea typeface="標楷體"/>
              </a:rPr>
              <a:t>人次。</a:t>
            </a:r>
            <a:endParaRPr lang="zh-TW" altLang="zh-TW" sz="1600" b="1" kern="100" dirty="0">
              <a:solidFill>
                <a:srgbClr val="000000"/>
              </a:solidFill>
              <a:latin typeface="Times New Roman"/>
              <a:ea typeface="新細明體"/>
            </a:endParaRPr>
          </a:p>
          <a:p>
            <a:pPr marL="304800" lvl="0">
              <a:lnSpc>
                <a:spcPct val="150000"/>
              </a:lnSpc>
            </a:pPr>
            <a:r>
              <a:rPr lang="en-US" altLang="zh-TW" b="1" kern="100" dirty="0">
                <a:solidFill>
                  <a:srgbClr val="FF0000"/>
                </a:solidFill>
                <a:latin typeface="Times New Roman"/>
                <a:ea typeface="標楷體"/>
              </a:rPr>
              <a:t>112</a:t>
            </a:r>
            <a:r>
              <a:rPr lang="zh-TW" altLang="en-US" b="1" kern="100" dirty="0">
                <a:solidFill>
                  <a:srgbClr val="FF0000"/>
                </a:solidFill>
                <a:latin typeface="Times New Roman"/>
                <a:ea typeface="標楷體"/>
              </a:rPr>
              <a:t>年</a:t>
            </a:r>
            <a:r>
              <a:rPr lang="zh-TW" altLang="zh-TW" b="1" kern="100" dirty="0">
                <a:solidFill>
                  <a:srgbClr val="FF0000"/>
                </a:solidFill>
                <a:latin typeface="Times New Roman"/>
                <a:ea typeface="標楷體"/>
              </a:rPr>
              <a:t>方案</a:t>
            </a:r>
            <a:r>
              <a:rPr lang="zh-TW" altLang="en-US" b="1" kern="100" dirty="0">
                <a:solidFill>
                  <a:srgbClr val="FF0000"/>
                </a:solidFill>
                <a:latin typeface="Times New Roman"/>
                <a:ea typeface="標楷體"/>
              </a:rPr>
              <a:t>四</a:t>
            </a:r>
            <a:r>
              <a:rPr lang="zh-TW" altLang="zh-TW" b="1" kern="100" dirty="0">
                <a:solidFill>
                  <a:srgbClr val="FF0000"/>
                </a:solidFill>
                <a:latin typeface="Times New Roman"/>
                <a:ea typeface="標楷體"/>
              </a:rPr>
              <a:t>：</a:t>
            </a:r>
            <a:r>
              <a:rPr lang="zh-TW" altLang="en-US" b="1" kern="100" dirty="0">
                <a:solidFill>
                  <a:srgbClr val="FF0000"/>
                </a:solidFill>
                <a:latin typeface="Times New Roman"/>
                <a:ea typeface="標楷體"/>
              </a:rPr>
              <a:t>活躍新女力</a:t>
            </a:r>
            <a:r>
              <a:rPr lang="en-US" altLang="zh-TW" b="1" kern="100" dirty="0">
                <a:solidFill>
                  <a:srgbClr val="FF0000"/>
                </a:solidFill>
                <a:latin typeface="Times New Roman"/>
                <a:ea typeface="標楷體"/>
              </a:rPr>
              <a:t>-</a:t>
            </a:r>
            <a:r>
              <a:rPr lang="zh-TW" altLang="en-US" b="1" kern="100" dirty="0">
                <a:solidFill>
                  <a:srgbClr val="FF0000"/>
                </a:solidFill>
                <a:latin typeface="Times New Roman"/>
                <a:ea typeface="標楷體"/>
              </a:rPr>
              <a:t>社區婦女參與式計畫服務</a:t>
            </a:r>
            <a:r>
              <a:rPr lang="zh-TW" altLang="zh-TW" b="1" kern="100" dirty="0">
                <a:solidFill>
                  <a:srgbClr val="FF0000"/>
                </a:solidFill>
                <a:latin typeface="Times New Roman"/>
                <a:ea typeface="標楷體"/>
              </a:rPr>
              <a:t>：</a:t>
            </a:r>
            <a:endParaRPr lang="en-US" altLang="zh-TW" b="1" kern="100" dirty="0">
              <a:solidFill>
                <a:srgbClr val="FF0000"/>
              </a:solidFill>
              <a:latin typeface="Times New Roman"/>
              <a:ea typeface="標楷體"/>
            </a:endParaRPr>
          </a:p>
          <a:p>
            <a:pPr marL="304800" lvl="0">
              <a:lnSpc>
                <a:spcPct val="150000"/>
              </a:lnSpc>
            </a:pPr>
            <a:r>
              <a:rPr lang="zh-TW" altLang="en-US" b="1" kern="100" dirty="0">
                <a:solidFill>
                  <a:srgbClr val="000000"/>
                </a:solidFill>
                <a:latin typeface="Times New Roman"/>
                <a:ea typeface="標楷體"/>
              </a:rPr>
              <a:t>               總計</a:t>
            </a:r>
            <a:r>
              <a:rPr lang="en-US" altLang="zh-TW" b="1" kern="100" dirty="0">
                <a:solidFill>
                  <a:srgbClr val="000000"/>
                </a:solidFill>
                <a:latin typeface="Times New Roman"/>
                <a:ea typeface="標楷體"/>
              </a:rPr>
              <a:t>4</a:t>
            </a:r>
            <a:r>
              <a:rPr lang="zh-TW" altLang="en-US" b="1" kern="100" dirty="0">
                <a:solidFill>
                  <a:srgbClr val="000000"/>
                </a:solidFill>
                <a:latin typeface="Times New Roman"/>
                <a:ea typeface="標楷體"/>
              </a:rPr>
              <a:t>場，參加人次有</a:t>
            </a:r>
            <a:r>
              <a:rPr lang="en-US" altLang="zh-TW" b="1" kern="100" dirty="0">
                <a:solidFill>
                  <a:srgbClr val="000000"/>
                </a:solidFill>
                <a:latin typeface="Times New Roman"/>
                <a:ea typeface="標楷體"/>
              </a:rPr>
              <a:t>73</a:t>
            </a:r>
            <a:r>
              <a:rPr lang="zh-TW" altLang="en-US" b="1" kern="100" dirty="0">
                <a:solidFill>
                  <a:srgbClr val="000000"/>
                </a:solidFill>
                <a:latin typeface="Times New Roman"/>
                <a:ea typeface="標楷體"/>
              </a:rPr>
              <a:t>人次</a:t>
            </a:r>
            <a:endParaRPr lang="en-US" altLang="zh-TW" b="1" kern="100" dirty="0">
              <a:solidFill>
                <a:srgbClr val="000000"/>
              </a:solidFill>
              <a:latin typeface="Times New Roman"/>
              <a:ea typeface="標楷體"/>
            </a:endParaRPr>
          </a:p>
          <a:p>
            <a:pPr marL="304800" lvl="0">
              <a:lnSpc>
                <a:spcPct val="150000"/>
              </a:lnSpc>
            </a:pPr>
            <a:r>
              <a:rPr lang="en-US" altLang="zh-TW" b="1" kern="100" dirty="0">
                <a:solidFill>
                  <a:srgbClr val="FF0000"/>
                </a:solidFill>
                <a:latin typeface="Times New Roman"/>
                <a:ea typeface="標楷體"/>
              </a:rPr>
              <a:t>113</a:t>
            </a:r>
            <a:r>
              <a:rPr lang="zh-TW" altLang="en-US" b="1" kern="100" dirty="0">
                <a:solidFill>
                  <a:srgbClr val="FF0000"/>
                </a:solidFill>
                <a:latin typeface="Times New Roman"/>
                <a:ea typeface="標楷體"/>
              </a:rPr>
              <a:t>年</a:t>
            </a:r>
            <a:r>
              <a:rPr lang="zh-TW" altLang="zh-TW" b="1" kern="100" dirty="0">
                <a:solidFill>
                  <a:srgbClr val="FF0000"/>
                </a:solidFill>
                <a:latin typeface="Times New Roman"/>
                <a:ea typeface="標楷體"/>
              </a:rPr>
              <a:t>方案</a:t>
            </a:r>
            <a:r>
              <a:rPr lang="zh-TW" altLang="en-US" b="1" kern="100" dirty="0">
                <a:solidFill>
                  <a:srgbClr val="FF0000"/>
                </a:solidFill>
                <a:latin typeface="Times New Roman"/>
                <a:ea typeface="標楷體"/>
              </a:rPr>
              <a:t>四</a:t>
            </a:r>
            <a:r>
              <a:rPr lang="zh-TW" altLang="zh-TW" b="1" kern="100" dirty="0">
                <a:solidFill>
                  <a:srgbClr val="FF0000"/>
                </a:solidFill>
                <a:latin typeface="Times New Roman"/>
                <a:ea typeface="標楷體"/>
              </a:rPr>
              <a:t>：</a:t>
            </a:r>
            <a:r>
              <a:rPr lang="zh-TW" altLang="en-US" b="1" kern="100" dirty="0">
                <a:solidFill>
                  <a:srgbClr val="FF0000"/>
                </a:solidFill>
                <a:latin typeface="Times New Roman"/>
                <a:ea typeface="標楷體"/>
              </a:rPr>
              <a:t>社區共生</a:t>
            </a:r>
            <a:r>
              <a:rPr lang="en-US" altLang="zh-TW" b="1" kern="100" dirty="0">
                <a:solidFill>
                  <a:srgbClr val="FF0000"/>
                </a:solidFill>
                <a:latin typeface="Times New Roman"/>
                <a:ea typeface="標楷體"/>
              </a:rPr>
              <a:t>-</a:t>
            </a:r>
            <a:r>
              <a:rPr lang="zh-TW" altLang="en-US" b="1" kern="100" dirty="0">
                <a:solidFill>
                  <a:srgbClr val="FF0000"/>
                </a:solidFill>
                <a:latin typeface="Times New Roman"/>
                <a:ea typeface="標楷體"/>
              </a:rPr>
              <a:t>簡易水電維修培訓</a:t>
            </a:r>
            <a:r>
              <a:rPr lang="zh-TW" altLang="zh-TW" b="1" kern="100" dirty="0">
                <a:solidFill>
                  <a:srgbClr val="FF0000"/>
                </a:solidFill>
                <a:latin typeface="Times New Roman"/>
                <a:ea typeface="標楷體"/>
              </a:rPr>
              <a:t>：</a:t>
            </a:r>
            <a:endParaRPr lang="zh-TW" altLang="zh-TW" b="1" kern="100" dirty="0">
              <a:solidFill>
                <a:srgbClr val="FF0000"/>
              </a:solidFill>
              <a:latin typeface="Times New Roman"/>
              <a:ea typeface="新細明體"/>
            </a:endParaRPr>
          </a:p>
          <a:p>
            <a:pPr marL="304800" lvl="0">
              <a:lnSpc>
                <a:spcPct val="150000"/>
              </a:lnSpc>
            </a:pPr>
            <a:r>
              <a:rPr lang="zh-TW" altLang="en-US" b="1" kern="100" dirty="0">
                <a:solidFill>
                  <a:srgbClr val="000000"/>
                </a:solidFill>
                <a:latin typeface="標楷體" panose="03000509000000000000" pitchFamily="65" charset="-120"/>
                <a:ea typeface="標楷體" panose="03000509000000000000" pitchFamily="65" charset="-120"/>
              </a:rPr>
              <a:t>        </a:t>
            </a:r>
            <a:r>
              <a:rPr lang="en-US" altLang="zh-TW" b="1" kern="100" dirty="0">
                <a:solidFill>
                  <a:srgbClr val="000000"/>
                </a:solidFill>
                <a:latin typeface="標楷體" panose="03000509000000000000" pitchFamily="65" charset="-120"/>
                <a:ea typeface="標楷體" panose="03000509000000000000" pitchFamily="65" charset="-120"/>
              </a:rPr>
              <a:t>1.</a:t>
            </a:r>
            <a:r>
              <a:rPr lang="zh-TW" altLang="en-US" b="1" kern="100" dirty="0">
                <a:solidFill>
                  <a:srgbClr val="000000"/>
                </a:solidFill>
                <a:latin typeface="標楷體" panose="03000509000000000000" pitchFamily="65" charset="-120"/>
                <a:ea typeface="標楷體" panose="03000509000000000000" pitchFamily="65" charset="-120"/>
              </a:rPr>
              <a:t>社區共生概念</a:t>
            </a:r>
            <a:r>
              <a:rPr lang="en-US" altLang="zh-TW" b="1" kern="100" dirty="0">
                <a:solidFill>
                  <a:srgbClr val="000000"/>
                </a:solidFill>
                <a:latin typeface="標楷體" panose="03000509000000000000" pitchFamily="65" charset="-120"/>
                <a:ea typeface="標楷體" panose="03000509000000000000" pitchFamily="65" charset="-120"/>
              </a:rPr>
              <a:t>-</a:t>
            </a:r>
            <a:r>
              <a:rPr lang="zh-TW" altLang="en-US" b="1" kern="100" dirty="0">
                <a:solidFill>
                  <a:srgbClr val="000000"/>
                </a:solidFill>
                <a:latin typeface="標楷體" panose="03000509000000000000" pitchFamily="65" charset="-120"/>
                <a:ea typeface="標楷體" panose="03000509000000000000" pitchFamily="65" charset="-120"/>
              </a:rPr>
              <a:t>提供多元化服務課程</a:t>
            </a:r>
            <a:r>
              <a:rPr lang="zh-TW" altLang="en-US" b="1" kern="100" dirty="0">
                <a:solidFill>
                  <a:srgbClr val="000000"/>
                </a:solidFill>
                <a:latin typeface="Microsoft JhengHei" panose="020B0604030504040204" pitchFamily="34" charset="-120"/>
                <a:ea typeface="Microsoft JhengHei" panose="020B0604030504040204" pitchFamily="34" charset="-120"/>
              </a:rPr>
              <a:t>。</a:t>
            </a:r>
            <a:endParaRPr lang="en-US" altLang="zh-TW" b="1" kern="100" dirty="0">
              <a:solidFill>
                <a:srgbClr val="000000"/>
              </a:solidFill>
              <a:latin typeface="標楷體" panose="03000509000000000000" pitchFamily="65" charset="-120"/>
              <a:ea typeface="標楷體" panose="03000509000000000000" pitchFamily="65" charset="-120"/>
            </a:endParaRPr>
          </a:p>
          <a:p>
            <a:pPr marL="495300" indent="-495300">
              <a:lnSpc>
                <a:spcPts val="2000"/>
              </a:lnSpc>
              <a:spcAft>
                <a:spcPts val="0"/>
              </a:spcAft>
            </a:pPr>
            <a:r>
              <a:rPr lang="zh-TW" altLang="en-US" b="1" kern="100" dirty="0">
                <a:solidFill>
                  <a:srgbClr val="000000"/>
                </a:solidFill>
                <a:latin typeface="標楷體" panose="03000509000000000000" pitchFamily="65" charset="-120"/>
                <a:ea typeface="標楷體" panose="03000509000000000000" pitchFamily="65" charset="-120"/>
              </a:rPr>
              <a:t>           </a:t>
            </a:r>
            <a:r>
              <a:rPr lang="en-US" altLang="zh-TW" b="1" kern="100" dirty="0">
                <a:solidFill>
                  <a:srgbClr val="000000"/>
                </a:solidFill>
                <a:latin typeface="標楷體" panose="03000509000000000000" pitchFamily="65" charset="-120"/>
                <a:ea typeface="標楷體" panose="03000509000000000000" pitchFamily="65" charset="-120"/>
              </a:rPr>
              <a:t>2.</a:t>
            </a:r>
            <a:r>
              <a:rPr lang="zh-TW" altLang="zh-TW" b="1" kern="100" dirty="0">
                <a:solidFill>
                  <a:srgbClr val="000000"/>
                </a:solidFill>
                <a:latin typeface="標楷體" panose="03000509000000000000" pitchFamily="65" charset="-120"/>
                <a:ea typeface="標楷體" panose="03000509000000000000" pitchFamily="65" charset="-120"/>
              </a:rPr>
              <a:t>協助社區中低收、邊緣、中低收入獨</a:t>
            </a:r>
            <a:r>
              <a:rPr lang="zh-TW" altLang="en-US" b="1" kern="100" dirty="0">
                <a:solidFill>
                  <a:srgbClr val="000000"/>
                </a:solidFill>
                <a:latin typeface="標楷體" panose="03000509000000000000" pitchFamily="65" charset="-120"/>
                <a:ea typeface="標楷體" panose="03000509000000000000" pitchFamily="65" charset="-120"/>
              </a:rPr>
              <a:t>居長者及身心障礙者臨時簡易</a:t>
            </a:r>
            <a:endParaRPr lang="en-US" altLang="zh-TW" b="1" kern="100" dirty="0">
              <a:solidFill>
                <a:srgbClr val="000000"/>
              </a:solidFill>
              <a:latin typeface="標楷體" panose="03000509000000000000" pitchFamily="65" charset="-120"/>
              <a:ea typeface="標楷體" panose="03000509000000000000" pitchFamily="65" charset="-120"/>
            </a:endParaRPr>
          </a:p>
          <a:p>
            <a:pPr marL="495300" indent="-495300">
              <a:lnSpc>
                <a:spcPts val="2000"/>
              </a:lnSpc>
              <a:spcAft>
                <a:spcPts val="0"/>
              </a:spcAft>
            </a:pPr>
            <a:r>
              <a:rPr lang="zh-TW" altLang="en-US" b="1" kern="100" dirty="0">
                <a:solidFill>
                  <a:srgbClr val="000000"/>
                </a:solidFill>
                <a:latin typeface="標楷體" panose="03000509000000000000" pitchFamily="65" charset="-120"/>
                <a:ea typeface="標楷體" panose="03000509000000000000" pitchFamily="65" charset="-120"/>
              </a:rPr>
              <a:t>             水電維修。</a:t>
            </a:r>
          </a:p>
          <a:p>
            <a:pPr marL="495300" indent="-495300">
              <a:lnSpc>
                <a:spcPts val="2000"/>
              </a:lnSpc>
              <a:spcAft>
                <a:spcPts val="0"/>
              </a:spcAft>
            </a:pPr>
            <a:endParaRPr lang="en-US" altLang="zh-TW" b="1" kern="100" dirty="0">
              <a:solidFill>
                <a:srgbClr val="000000"/>
              </a:solidFill>
              <a:latin typeface="標楷體" panose="03000509000000000000" pitchFamily="65" charset="-120"/>
              <a:ea typeface="標楷體" panose="03000509000000000000" pitchFamily="65" charset="-120"/>
            </a:endParaRPr>
          </a:p>
          <a:p>
            <a:pPr marL="495300" indent="-495300">
              <a:lnSpc>
                <a:spcPts val="2000"/>
              </a:lnSpc>
              <a:spcAft>
                <a:spcPts val="0"/>
              </a:spcAft>
            </a:pPr>
            <a:endParaRPr lang="en-US" altLang="zh-TW" b="1" kern="100" dirty="0">
              <a:solidFill>
                <a:srgbClr val="000000"/>
              </a:solidFill>
              <a:latin typeface="標楷體" panose="03000509000000000000" pitchFamily="65" charset="-120"/>
              <a:ea typeface="標楷體" panose="03000509000000000000" pitchFamily="65" charset="-120"/>
            </a:endParaRPr>
          </a:p>
          <a:p>
            <a:pPr marL="495300" indent="-495300">
              <a:lnSpc>
                <a:spcPts val="2000"/>
              </a:lnSpc>
              <a:spcAft>
                <a:spcPts val="0"/>
              </a:spcAft>
            </a:pPr>
            <a:r>
              <a:rPr lang="zh-TW" altLang="en-US" b="1" kern="100" dirty="0">
                <a:solidFill>
                  <a:srgbClr val="000000"/>
                </a:solidFill>
                <a:latin typeface="標楷體" panose="03000509000000000000" pitchFamily="65" charset="-120"/>
                <a:ea typeface="標楷體" panose="03000509000000000000" pitchFamily="65" charset="-120"/>
              </a:rPr>
              <a:t>            </a:t>
            </a:r>
            <a:endParaRPr lang="zh-TW" altLang="zh-TW" sz="1600" b="1" kern="100" dirty="0">
              <a:solidFill>
                <a:srgbClr val="000000"/>
              </a:solidFill>
              <a:latin typeface="Times New Roman"/>
              <a:ea typeface="新細明體"/>
            </a:endParaRPr>
          </a:p>
          <a:p>
            <a:pPr>
              <a:lnSpc>
                <a:spcPct val="150000"/>
              </a:lnSpc>
            </a:pPr>
            <a:endParaRPr lang="zh-TW" altLang="zh-TW" sz="1600" kern="100" dirty="0">
              <a:solidFill>
                <a:srgbClr val="024631"/>
              </a:solidFill>
              <a:latin typeface="Times New Roman"/>
              <a:ea typeface="新細明體"/>
            </a:endParaRPr>
          </a:p>
        </p:txBody>
      </p:sp>
      <p:pic>
        <p:nvPicPr>
          <p:cNvPr id="10242" name="Picture 2" descr="S__16244740_0">
            <a:extLst>
              <a:ext uri="{FF2B5EF4-FFF2-40B4-BE49-F238E27FC236}">
                <a16:creationId xmlns:a16="http://schemas.microsoft.com/office/drawing/2014/main" id="{4CACC077-7EF9-4D98-BDF9-FF2B6DC9A87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4869160"/>
            <a:ext cx="3240805" cy="1983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5" descr="S__16244756_0">
            <a:extLst>
              <a:ext uri="{FF2B5EF4-FFF2-40B4-BE49-F238E27FC236}">
                <a16:creationId xmlns:a16="http://schemas.microsoft.com/office/drawing/2014/main" id="{8BED4B25-520B-44B8-9038-05DE8346BC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40804" y="4869160"/>
            <a:ext cx="3167032" cy="1942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圖片 1">
            <a:extLst>
              <a:ext uri="{FF2B5EF4-FFF2-40B4-BE49-F238E27FC236}">
                <a16:creationId xmlns:a16="http://schemas.microsoft.com/office/drawing/2014/main" id="{6BA88C3C-41C5-4D7F-BEA6-F670AF449A08}"/>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007"/>
          <a:stretch/>
        </p:blipFill>
        <p:spPr bwMode="auto">
          <a:xfrm>
            <a:off x="6266186" y="4828783"/>
            <a:ext cx="2877814" cy="194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9173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200" dirty="0">
                <a:latin typeface="標楷體" pitchFamily="65" charset="-120"/>
                <a:ea typeface="標楷體" pitchFamily="65" charset="-120"/>
              </a:rPr>
              <a:t>五、方案內容</a:t>
            </a:r>
          </a:p>
        </p:txBody>
      </p:sp>
      <p:sp>
        <p:nvSpPr>
          <p:cNvPr id="3" name="內容版面配置區 2"/>
          <p:cNvSpPr>
            <a:spLocks noGrp="1"/>
          </p:cNvSpPr>
          <p:nvPr>
            <p:ph idx="1"/>
          </p:nvPr>
        </p:nvSpPr>
        <p:spPr>
          <a:xfrm>
            <a:off x="395536" y="836712"/>
            <a:ext cx="8229600" cy="1214264"/>
          </a:xfrm>
        </p:spPr>
        <p:txBody>
          <a:bodyPr/>
          <a:lstStyle/>
          <a:p>
            <a:pPr marL="0" indent="0">
              <a:buNone/>
            </a:pPr>
            <a:r>
              <a:rPr lang="zh-TW" altLang="en-US" sz="2800" b="1" dirty="0">
                <a:solidFill>
                  <a:srgbClr val="FF0000"/>
                </a:solidFill>
                <a:latin typeface="標楷體" pitchFamily="65" charset="-120"/>
                <a:ea typeface="標楷體" pitchFamily="65" charset="-120"/>
              </a:rPr>
              <a:t>方案四：社區共生</a:t>
            </a:r>
            <a:r>
              <a:rPr lang="en-US" altLang="zh-TW" sz="2800" b="1" dirty="0">
                <a:solidFill>
                  <a:srgbClr val="FF0000"/>
                </a:solidFill>
                <a:latin typeface="標楷體" pitchFamily="65" charset="-120"/>
                <a:ea typeface="標楷體" pitchFamily="65" charset="-120"/>
              </a:rPr>
              <a:t>-</a:t>
            </a:r>
            <a:r>
              <a:rPr lang="zh-TW" altLang="en-US" sz="2800" b="1" dirty="0">
                <a:solidFill>
                  <a:srgbClr val="FF0000"/>
                </a:solidFill>
                <a:latin typeface="標楷體" pitchFamily="65" charset="-120"/>
                <a:ea typeface="標楷體" pitchFamily="65" charset="-120"/>
              </a:rPr>
              <a:t>簡易水電維修培訓</a:t>
            </a:r>
            <a:endParaRPr lang="en-US" altLang="zh-TW" sz="2800" b="1" dirty="0">
              <a:solidFill>
                <a:srgbClr val="FF0000"/>
              </a:solidFill>
              <a:latin typeface="標楷體" pitchFamily="65" charset="-120"/>
              <a:ea typeface="標楷體" pitchFamily="65" charset="-120"/>
            </a:endParaRPr>
          </a:p>
          <a:p>
            <a:pPr marL="0" indent="0">
              <a:buNone/>
            </a:pPr>
            <a:r>
              <a:rPr lang="zh-TW" altLang="en-US" sz="2400" b="1" dirty="0">
                <a:solidFill>
                  <a:schemeClr val="bg2">
                    <a:lumMod val="10000"/>
                  </a:schemeClr>
                </a:solidFill>
                <a:latin typeface="標楷體" pitchFamily="65" charset="-120"/>
                <a:ea typeface="標楷體" pitchFamily="65" charset="-120"/>
              </a:rPr>
              <a:t>計畫類型：■福利服務類</a:t>
            </a:r>
          </a:p>
        </p:txBody>
      </p:sp>
      <p:sp>
        <p:nvSpPr>
          <p:cNvPr id="5" name="矩形 4"/>
          <p:cNvSpPr/>
          <p:nvPr/>
        </p:nvSpPr>
        <p:spPr>
          <a:xfrm>
            <a:off x="323528" y="1995130"/>
            <a:ext cx="8280920" cy="4603311"/>
          </a:xfrm>
          <a:prstGeom prst="rect">
            <a:avLst/>
          </a:prstGeom>
        </p:spPr>
        <p:txBody>
          <a:bodyPr wrap="square">
            <a:spAutoFit/>
          </a:bodyPr>
          <a:lstStyle/>
          <a:p>
            <a:pPr marL="457200" marR="0" lvl="0" indent="-457200" algn="l" defTabSz="914400" rtl="0" eaLnBrk="1" fontAlgn="auto" latinLnBrk="0" hangingPunct="1">
              <a:lnSpc>
                <a:spcPct val="150000"/>
              </a:lnSpc>
              <a:spcBef>
                <a:spcPts val="0"/>
              </a:spcBef>
              <a:spcAft>
                <a:spcPts val="0"/>
              </a:spcAft>
              <a:buClrTx/>
              <a:buSzTx/>
              <a:buFontTx/>
              <a:buNone/>
              <a:tabLst/>
              <a:defRPr/>
            </a:pP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               </a:t>
            </a:r>
            <a:r>
              <a:rPr kumimoji="0" lang="en-US" altLang="zh-TW" sz="22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社區位於偏鄉地區，各社區中除了山崇社區有</a:t>
            </a:r>
            <a:r>
              <a:rPr kumimoji="0" lang="en-US" altLang="zh-TW" sz="2200" b="1"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家水電行，其他社區則沒有，社區中會簡易水電維修人才不多，志工們常反映社區中的獨老臨時找不到需要簡易維修水電等服務，我們希望透過本計畫培訓</a:t>
            </a:r>
            <a:r>
              <a:rPr kumimoji="0" lang="en-US" altLang="zh-TW" sz="22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社區居民簡易技能，未來導入社區共生概念，讓來參與的社區居民回到社區中也可以協助低收、邊緣、中低收入獨居長者及身心障礙者臨時簡易水電維修，進而招募加入志工隊行列，社區並帶入時間銀行執行，讓居民學習後，成為志工，可以換算時間銀行服務時數，日後也可以提出需要的其他服務。</a:t>
            </a:r>
            <a:endParaRPr kumimoji="0" lang="zh-TW" altLang="zh-TW" sz="2200" b="1" i="0" u="none" strike="noStrike" kern="100" cap="none" spc="0" normalizeH="0" baseline="0" noProof="0" dirty="0">
              <a:ln>
                <a:noFill/>
              </a:ln>
              <a:solidFill>
                <a:srgbClr val="FF0000"/>
              </a:solidFill>
              <a:effectLst/>
              <a:uLnTx/>
              <a:uFillTx/>
              <a:latin typeface="標楷體" pitchFamily="65" charset="-120"/>
              <a:ea typeface="標楷體" pitchFamily="65" charset="-120"/>
              <a:cs typeface="+mn-cs"/>
            </a:endParaRPr>
          </a:p>
        </p:txBody>
      </p:sp>
    </p:spTree>
    <p:extLst>
      <p:ext uri="{BB962C8B-B14F-4D97-AF65-F5344CB8AC3E}">
        <p14:creationId xmlns:p14="http://schemas.microsoft.com/office/powerpoint/2010/main" val="480611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79512" y="116632"/>
            <a:ext cx="8526016" cy="563562"/>
          </a:xfrm>
        </p:spPr>
        <p:txBody>
          <a:bodyPr/>
          <a:lstStyle/>
          <a:p>
            <a:pPr lvl="0">
              <a:spcBef>
                <a:spcPct val="20000"/>
              </a:spcBef>
            </a:pPr>
            <a:r>
              <a:rPr lang="zh-TW" altLang="en-US" dirty="0">
                <a:latin typeface="標楷體" pitchFamily="65" charset="-120"/>
                <a:ea typeface="標楷體" pitchFamily="65" charset="-120"/>
              </a:rPr>
              <a:t>方案四：社區共生</a:t>
            </a:r>
            <a:r>
              <a:rPr lang="en-US" altLang="zh-TW" dirty="0">
                <a:latin typeface="標楷體" pitchFamily="65" charset="-120"/>
                <a:ea typeface="標楷體" pitchFamily="65" charset="-120"/>
              </a:rPr>
              <a:t>-</a:t>
            </a:r>
            <a:r>
              <a:rPr lang="zh-TW" altLang="en-US" dirty="0">
                <a:latin typeface="標楷體" pitchFamily="65" charset="-120"/>
                <a:ea typeface="標楷體" pitchFamily="65" charset="-120"/>
              </a:rPr>
              <a:t>簡易水電維修培訓</a:t>
            </a:r>
            <a:endParaRPr lang="zh-TW" altLang="en-US" dirty="0"/>
          </a:p>
        </p:txBody>
      </p:sp>
      <p:sp>
        <p:nvSpPr>
          <p:cNvPr id="3" name="內容版面配置區 2"/>
          <p:cNvSpPr>
            <a:spLocks noGrp="1"/>
          </p:cNvSpPr>
          <p:nvPr>
            <p:ph idx="1"/>
          </p:nvPr>
        </p:nvSpPr>
        <p:spPr>
          <a:xfrm>
            <a:off x="3419872" y="764704"/>
            <a:ext cx="2160240" cy="576064"/>
          </a:xfrm>
        </p:spPr>
        <p:txBody>
          <a:bodyPr/>
          <a:lstStyle/>
          <a:p>
            <a:pPr marL="0" indent="0">
              <a:buNone/>
            </a:pPr>
            <a:r>
              <a:rPr lang="zh-TW" altLang="en-US" sz="2800" b="1" dirty="0">
                <a:solidFill>
                  <a:srgbClr val="FF0000"/>
                </a:solidFill>
                <a:latin typeface="標楷體" pitchFamily="65" charset="-120"/>
                <a:ea typeface="標楷體" pitchFamily="65" charset="-120"/>
              </a:rPr>
              <a:t>執行方式</a:t>
            </a:r>
          </a:p>
        </p:txBody>
      </p:sp>
      <p:graphicFrame>
        <p:nvGraphicFramePr>
          <p:cNvPr id="4" name="表格 3">
            <a:extLst>
              <a:ext uri="{FF2B5EF4-FFF2-40B4-BE49-F238E27FC236}">
                <a16:creationId xmlns:a16="http://schemas.microsoft.com/office/drawing/2014/main" id="{25280AB1-12BB-4517-BAFB-4CA57A4FF1A9}"/>
              </a:ext>
            </a:extLst>
          </p:cNvPr>
          <p:cNvGraphicFramePr>
            <a:graphicFrameLocks noGrp="1"/>
          </p:cNvGraphicFramePr>
          <p:nvPr/>
        </p:nvGraphicFramePr>
        <p:xfrm>
          <a:off x="755576" y="1556792"/>
          <a:ext cx="7272807" cy="2664296"/>
        </p:xfrm>
        <a:graphic>
          <a:graphicData uri="http://schemas.openxmlformats.org/drawingml/2006/table">
            <a:tbl>
              <a:tblPr firstRow="1" firstCol="1" lastRow="1" lastCol="1" bandRow="1" bandCol="1"/>
              <a:tblGrid>
                <a:gridCol w="430091">
                  <a:extLst>
                    <a:ext uri="{9D8B030D-6E8A-4147-A177-3AD203B41FA5}">
                      <a16:colId xmlns:a16="http://schemas.microsoft.com/office/drawing/2014/main" val="3461228955"/>
                    </a:ext>
                  </a:extLst>
                </a:gridCol>
                <a:gridCol w="2710996">
                  <a:extLst>
                    <a:ext uri="{9D8B030D-6E8A-4147-A177-3AD203B41FA5}">
                      <a16:colId xmlns:a16="http://schemas.microsoft.com/office/drawing/2014/main" val="700363660"/>
                    </a:ext>
                  </a:extLst>
                </a:gridCol>
                <a:gridCol w="1234140">
                  <a:extLst>
                    <a:ext uri="{9D8B030D-6E8A-4147-A177-3AD203B41FA5}">
                      <a16:colId xmlns:a16="http://schemas.microsoft.com/office/drawing/2014/main" val="3671285891"/>
                    </a:ext>
                  </a:extLst>
                </a:gridCol>
                <a:gridCol w="1119502">
                  <a:extLst>
                    <a:ext uri="{9D8B030D-6E8A-4147-A177-3AD203B41FA5}">
                      <a16:colId xmlns:a16="http://schemas.microsoft.com/office/drawing/2014/main" val="508062179"/>
                    </a:ext>
                  </a:extLst>
                </a:gridCol>
                <a:gridCol w="785865">
                  <a:extLst>
                    <a:ext uri="{9D8B030D-6E8A-4147-A177-3AD203B41FA5}">
                      <a16:colId xmlns:a16="http://schemas.microsoft.com/office/drawing/2014/main" val="2178028232"/>
                    </a:ext>
                  </a:extLst>
                </a:gridCol>
                <a:gridCol w="992213">
                  <a:extLst>
                    <a:ext uri="{9D8B030D-6E8A-4147-A177-3AD203B41FA5}">
                      <a16:colId xmlns:a16="http://schemas.microsoft.com/office/drawing/2014/main" val="1199603704"/>
                    </a:ext>
                  </a:extLst>
                </a:gridCol>
              </a:tblGrid>
              <a:tr h="624216">
                <a:tc>
                  <a:txBody>
                    <a:bodyPr/>
                    <a:lstStyle/>
                    <a:p>
                      <a:pPr marL="66675" algn="l">
                        <a:spcBef>
                          <a:spcPts val="355"/>
                        </a:spcBef>
                        <a:spcAft>
                          <a:spcPts val="0"/>
                        </a:spcAft>
                      </a:pPr>
                      <a:r>
                        <a:rPr lang="en-US" sz="1600" b="1" kern="0" spc="-55" dirty="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次</a:t>
                      </a:r>
                      <a:endParaRPr lang="zh-TW" sz="16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0" algn="l">
                        <a:spcBef>
                          <a:spcPts val="355"/>
                        </a:spcBef>
                        <a:spcAft>
                          <a:spcPts val="0"/>
                        </a:spcAft>
                      </a:pPr>
                      <a:r>
                        <a:rPr lang="zh-TW" sz="1600" b="1" kern="0" spc="-10" dirty="0">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社區共生</a:t>
                      </a:r>
                      <a:r>
                        <a:rPr lang="en-US" sz="1600" b="1" kern="0" spc="-10" dirty="0">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a:t>
                      </a:r>
                      <a:r>
                        <a:rPr lang="zh-TW" sz="1600" b="1" kern="0" spc="-10" dirty="0">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簡易水電維修培訓</a:t>
                      </a:r>
                      <a:endParaRPr lang="zh-TW" sz="16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2250" algn="l">
                        <a:spcBef>
                          <a:spcPts val="355"/>
                        </a:spcBef>
                        <a:spcAft>
                          <a:spcPts val="0"/>
                        </a:spcAft>
                      </a:pPr>
                      <a:r>
                        <a:rPr lang="en-US" sz="1600" b="1" kern="0" spc="-25">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講師</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2230" algn="l">
                        <a:spcBef>
                          <a:spcPts val="355"/>
                        </a:spcBef>
                        <a:spcAft>
                          <a:spcPts val="0"/>
                        </a:spcAft>
                      </a:pPr>
                      <a:r>
                        <a:rPr lang="en-US" sz="1600" b="1" kern="0" spc="-2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學經歷</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2230" algn="l">
                        <a:spcBef>
                          <a:spcPts val="355"/>
                        </a:spcBef>
                        <a:spcAft>
                          <a:spcPts val="0"/>
                        </a:spcAft>
                      </a:pPr>
                      <a:r>
                        <a:rPr lang="en-US" sz="1600" b="1" kern="0" spc="-15">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內</a:t>
                      </a:r>
                      <a:r>
                        <a:rPr lang="en-US" sz="1600" b="1" kern="0" spc="-5">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a:t>
                      </a:r>
                      <a:r>
                        <a:rPr lang="en-US" sz="1600" b="1" kern="0" spc="-15">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外聘</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2230" algn="l">
                        <a:spcBef>
                          <a:spcPts val="355"/>
                        </a:spcBef>
                        <a:spcAft>
                          <a:spcPts val="0"/>
                        </a:spcAft>
                      </a:pPr>
                      <a:r>
                        <a:rPr lang="en-US" sz="1600" b="1" kern="0" spc="-3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對象</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961078"/>
                  </a:ext>
                </a:extLst>
              </a:tr>
              <a:tr h="596582">
                <a:tc>
                  <a:txBody>
                    <a:bodyPr/>
                    <a:lstStyle/>
                    <a:p>
                      <a:pPr marL="66675" algn="l">
                        <a:spcBef>
                          <a:spcPts val="355"/>
                        </a:spcBef>
                        <a:spcAft>
                          <a:spcPts val="0"/>
                        </a:spcAft>
                      </a:pPr>
                      <a:r>
                        <a:rPr lang="en-US" sz="1600" b="1" kern="0" spc="-6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1</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TW" sz="1600" b="1" kern="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簡易水電維修</a:t>
                      </a:r>
                      <a:endParaRPr lang="zh-TW" sz="16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l">
                        <a:spcAft>
                          <a:spcPts val="0"/>
                        </a:spcAft>
                      </a:pPr>
                      <a:r>
                        <a:rPr lang="zh-TW" sz="1600" b="1" kern="10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暫定葉錫根老師</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l">
                        <a:spcAft>
                          <a:spcPts val="0"/>
                        </a:spcAft>
                      </a:pPr>
                      <a:r>
                        <a:rPr lang="en-US" sz="1600" b="1" kern="100">
                          <a:solidFill>
                            <a:schemeClr val="bg2">
                              <a:lumMod val="10000"/>
                            </a:schemeClr>
                          </a:solidFill>
                          <a:effectLst/>
                          <a:latin typeface="標楷體" panose="03000509000000000000" pitchFamily="65" charset="-120"/>
                          <a:ea typeface="新細明體" panose="02020500000000000000" pitchFamily="18" charset="-120"/>
                          <a:cs typeface="Times New Roman" panose="02020603050405020304" pitchFamily="18" charset="0"/>
                        </a:rPr>
                        <a:t> </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l">
                        <a:spcAft>
                          <a:spcPts val="0"/>
                        </a:spcAft>
                      </a:pPr>
                      <a:r>
                        <a:rPr lang="en-US" sz="1600" b="1" kern="0" spc="-25">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外聘</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marL="62230" marR="76200" algn="l">
                        <a:lnSpc>
                          <a:spcPct val="109000"/>
                        </a:lnSpc>
                        <a:spcBef>
                          <a:spcPts val="355"/>
                        </a:spcBef>
                        <a:spcAft>
                          <a:spcPts val="0"/>
                        </a:spcAft>
                      </a:pPr>
                      <a:r>
                        <a:rPr lang="en-US" sz="1600" b="1" kern="0" spc="15">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4</a:t>
                      </a:r>
                      <a:r>
                        <a:rPr lang="zh-TW" sz="1600" b="1" kern="0" spc="40">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個小旗</a:t>
                      </a:r>
                      <a:r>
                        <a:rPr lang="zh-TW" sz="1600" b="1" kern="0" spc="-140">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艦</a:t>
                      </a:r>
                      <a:r>
                        <a:rPr lang="zh-TW" sz="1600" b="1" kern="0" spc="-65">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 </a:t>
                      </a:r>
                      <a:r>
                        <a:rPr lang="zh-TW" sz="1600" b="1" kern="0" spc="-140">
                          <a:solidFill>
                            <a:schemeClr val="bg2">
                              <a:lumMod val="10000"/>
                            </a:schemeClr>
                          </a:solidFill>
                          <a:effectLst/>
                          <a:latin typeface="Times New Roman" panose="02020603050405020304" pitchFamily="18" charset="0"/>
                          <a:ea typeface="標楷體" panose="03000509000000000000" pitchFamily="65" charset="-120"/>
                          <a:cs typeface="SimSun" panose="02010600030101010101" pitchFamily="2" charset="-122"/>
                        </a:rPr>
                        <a:t>社區居民</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9729797"/>
                  </a:ext>
                </a:extLst>
              </a:tr>
              <a:tr h="481166">
                <a:tc>
                  <a:txBody>
                    <a:bodyPr/>
                    <a:lstStyle/>
                    <a:p>
                      <a:pPr marL="66675" algn="l">
                        <a:spcBef>
                          <a:spcPts val="355"/>
                        </a:spcBef>
                        <a:spcAft>
                          <a:spcPts val="0"/>
                        </a:spcAft>
                      </a:pPr>
                      <a:r>
                        <a:rPr lang="en-US" sz="1600" b="1" kern="0" spc="-6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2</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600" b="1" kern="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簡易水電維修</a:t>
                      </a:r>
                      <a:endParaRPr lang="zh-TW" sz="16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257805695"/>
                  </a:ext>
                </a:extLst>
              </a:tr>
              <a:tr h="481166">
                <a:tc>
                  <a:txBody>
                    <a:bodyPr/>
                    <a:lstStyle/>
                    <a:p>
                      <a:pPr marL="66675" algn="l">
                        <a:spcBef>
                          <a:spcPts val="355"/>
                        </a:spcBef>
                        <a:spcAft>
                          <a:spcPts val="0"/>
                        </a:spcAft>
                      </a:pPr>
                      <a:r>
                        <a:rPr lang="en-US" sz="1600" b="1" kern="0" spc="-6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3</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600" b="1" kern="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簡易水電維修</a:t>
                      </a:r>
                      <a:endParaRPr lang="zh-TW" sz="16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675523355"/>
                  </a:ext>
                </a:extLst>
              </a:tr>
              <a:tr h="481166">
                <a:tc>
                  <a:txBody>
                    <a:bodyPr/>
                    <a:lstStyle/>
                    <a:p>
                      <a:pPr marL="66675" algn="l">
                        <a:spcBef>
                          <a:spcPts val="355"/>
                        </a:spcBef>
                        <a:spcAft>
                          <a:spcPts val="0"/>
                        </a:spcAft>
                      </a:pPr>
                      <a:r>
                        <a:rPr lang="en-US" sz="1600" b="1" kern="0" spc="-60">
                          <a:solidFill>
                            <a:schemeClr val="bg2">
                              <a:lumMod val="10000"/>
                            </a:schemeClr>
                          </a:solidFill>
                          <a:effectLst/>
                          <a:latin typeface="標楷體" panose="03000509000000000000" pitchFamily="65" charset="-120"/>
                          <a:ea typeface="新細明體" panose="02020500000000000000" pitchFamily="18" charset="-120"/>
                          <a:cs typeface="SimSun" panose="02010600030101010101" pitchFamily="2" charset="-122"/>
                        </a:rPr>
                        <a:t>4</a:t>
                      </a:r>
                      <a:endParaRPr lang="zh-TW" sz="16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600" b="1" kern="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簡易水電維修</a:t>
                      </a:r>
                      <a:endParaRPr lang="zh-TW" sz="16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1447189913"/>
                  </a:ext>
                </a:extLst>
              </a:tr>
            </a:tbl>
          </a:graphicData>
        </a:graphic>
      </p:graphicFrame>
      <p:sp>
        <p:nvSpPr>
          <p:cNvPr id="5" name="矩形 4">
            <a:extLst>
              <a:ext uri="{FF2B5EF4-FFF2-40B4-BE49-F238E27FC236}">
                <a16:creationId xmlns:a16="http://schemas.microsoft.com/office/drawing/2014/main" id="{4FF7600B-BD35-4607-8EDB-9315101CAC65}"/>
              </a:ext>
            </a:extLst>
          </p:cNvPr>
          <p:cNvSpPr/>
          <p:nvPr/>
        </p:nvSpPr>
        <p:spPr>
          <a:xfrm>
            <a:off x="899592" y="4425406"/>
            <a:ext cx="7344816" cy="101566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zh-TW" sz="2000" b="1" i="0" u="none" strike="noStrike" kern="12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Times New Roman" panose="02020603050405020304" pitchFamily="18" charset="0"/>
              </a:rPr>
              <a:t>辦理</a:t>
            </a:r>
            <a:r>
              <a:rPr kumimoji="0" lang="en-US" altLang="zh-TW" sz="2000" b="1" i="0" u="none" strike="noStrike" kern="12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4</a:t>
            </a:r>
            <a:r>
              <a:rPr kumimoji="0" lang="zh-TW" altLang="zh-TW" sz="2000" b="1" i="0" u="none" strike="noStrike" kern="12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Times New Roman" panose="02020603050405020304" pitchFamily="18" charset="0"/>
              </a:rPr>
              <a:t>次簡易水電維修培訓，培訓</a:t>
            </a:r>
            <a:r>
              <a:rPr kumimoji="0" lang="en-US" altLang="zh-TW" sz="2000" b="1" i="0" u="none" strike="noStrike" kern="12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30</a:t>
            </a:r>
            <a:r>
              <a:rPr kumimoji="0" lang="zh-TW" altLang="zh-TW" sz="2000" b="1" i="0" u="none" strike="noStrike" kern="12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Times New Roman" panose="02020603050405020304" pitchFamily="18" charset="0"/>
              </a:rPr>
              <a:t>位社區居民簡易水電維修課程，帶入社區共生精神，進而成立志工隊，協助社區中低收、邊緣、中低收入獨居長者及身心障礙者臨時簡易水電維修。</a:t>
            </a:r>
            <a:endParaRPr kumimoji="0" lang="zh-TW" altLang="en-US" sz="2000" b="1" i="0" u="none" strike="noStrike" kern="1200" cap="none" spc="0" normalizeH="0" baseline="0" noProof="0" dirty="0">
              <a:ln>
                <a:noFill/>
              </a:ln>
              <a:solidFill>
                <a:srgbClr val="024631"/>
              </a:solidFill>
              <a:effectLst/>
              <a:uLnTx/>
              <a:uFillTx/>
              <a:latin typeface="Arial"/>
              <a:ea typeface="+mn-ea"/>
              <a:cs typeface="+mn-cs"/>
            </a:endParaRPr>
          </a:p>
        </p:txBody>
      </p:sp>
    </p:spTree>
    <p:extLst>
      <p:ext uri="{BB962C8B-B14F-4D97-AF65-F5344CB8AC3E}">
        <p14:creationId xmlns:p14="http://schemas.microsoft.com/office/powerpoint/2010/main" val="3264921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9" name="圖片 24">
            <a:extLst>
              <a:ext uri="{FF2B5EF4-FFF2-40B4-BE49-F238E27FC236}">
                <a16:creationId xmlns:a16="http://schemas.microsoft.com/office/drawing/2014/main" id="{4369708E-8B6A-4E3F-828B-7B88614153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76601" y="4386828"/>
            <a:ext cx="3267399" cy="2452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p:cNvSpPr>
            <a:spLocks noGrp="1"/>
          </p:cNvSpPr>
          <p:nvPr>
            <p:ph type="title"/>
          </p:nvPr>
        </p:nvSpPr>
        <p:spPr/>
        <p:txBody>
          <a:bodyPr/>
          <a:lstStyle/>
          <a:p>
            <a:r>
              <a:rPr lang="zh-TW" altLang="en-US" dirty="0"/>
              <a:t>小旗艦計畫執行成果</a:t>
            </a:r>
          </a:p>
        </p:txBody>
      </p:sp>
      <p:sp>
        <p:nvSpPr>
          <p:cNvPr id="5" name="矩形 4"/>
          <p:cNvSpPr/>
          <p:nvPr/>
        </p:nvSpPr>
        <p:spPr>
          <a:xfrm>
            <a:off x="395536" y="764704"/>
            <a:ext cx="8424936" cy="2910412"/>
          </a:xfrm>
          <a:prstGeom prst="rect">
            <a:avLst/>
          </a:prstGeom>
        </p:spPr>
        <p:txBody>
          <a:bodyPr wrap="square">
            <a:spAutoFit/>
          </a:bodyPr>
          <a:lstStyle/>
          <a:p>
            <a:pPr marL="304800" lvl="0">
              <a:lnSpc>
                <a:spcPct val="150000"/>
              </a:lnSpc>
              <a:defRPr/>
            </a:pPr>
            <a:r>
              <a:rPr lang="en-US" altLang="zh-TW" b="1" kern="100" dirty="0">
                <a:solidFill>
                  <a:srgbClr val="FF0000"/>
                </a:solidFill>
                <a:latin typeface="Times New Roman"/>
                <a:ea typeface="標楷體"/>
              </a:rPr>
              <a:t>111</a:t>
            </a:r>
            <a:r>
              <a:rPr lang="zh-TW" altLang="en-US" b="1" kern="100" dirty="0">
                <a:solidFill>
                  <a:srgbClr val="FF0000"/>
                </a:solidFill>
                <a:latin typeface="Times New Roman"/>
                <a:ea typeface="標楷體"/>
              </a:rPr>
              <a:t>年</a:t>
            </a:r>
            <a:r>
              <a:rPr lang="zh-TW" altLang="zh-TW" b="1" kern="100" dirty="0">
                <a:solidFill>
                  <a:srgbClr val="FF0000"/>
                </a:solidFill>
                <a:latin typeface="Times New Roman"/>
                <a:ea typeface="標楷體"/>
              </a:rPr>
              <a:t>方案五：【你來，你學，你發聲】——兒少表意權培力營隊：</a:t>
            </a:r>
            <a:endParaRPr lang="zh-TW" altLang="zh-TW" sz="1600" b="1" kern="100" dirty="0">
              <a:solidFill>
                <a:srgbClr val="FF0000"/>
              </a:solidFill>
              <a:latin typeface="Times New Roman"/>
              <a:ea typeface="新細明體"/>
            </a:endParaRPr>
          </a:p>
          <a:p>
            <a:pPr marL="304800" lvl="0">
              <a:lnSpc>
                <a:spcPct val="150000"/>
              </a:lnSpc>
              <a:defRPr/>
            </a:pPr>
            <a:r>
              <a:rPr lang="en-US" altLang="zh-TW" b="1" kern="100" dirty="0">
                <a:solidFill>
                  <a:srgbClr val="000000"/>
                </a:solidFill>
                <a:latin typeface="標楷體"/>
                <a:ea typeface="新細明體"/>
              </a:rPr>
              <a:t>	   </a:t>
            </a:r>
            <a:r>
              <a:rPr lang="zh-TW" altLang="zh-TW" b="1" kern="100" dirty="0">
                <a:solidFill>
                  <a:srgbClr val="000000"/>
                </a:solidFill>
                <a:latin typeface="Times New Roman"/>
                <a:ea typeface="標楷體"/>
              </a:rPr>
              <a:t>參與的學童有</a:t>
            </a:r>
            <a:r>
              <a:rPr lang="en-US" altLang="zh-TW" b="1" kern="100" dirty="0">
                <a:solidFill>
                  <a:srgbClr val="000000"/>
                </a:solidFill>
                <a:latin typeface="Times New Roman"/>
                <a:ea typeface="標楷體"/>
              </a:rPr>
              <a:t>30</a:t>
            </a:r>
            <a:r>
              <a:rPr lang="zh-TW" altLang="zh-TW" b="1" kern="100" dirty="0">
                <a:solidFill>
                  <a:srgbClr val="000000"/>
                </a:solidFill>
                <a:latin typeface="Times New Roman"/>
                <a:ea typeface="標楷體"/>
              </a:rPr>
              <a:t>人，總計</a:t>
            </a:r>
            <a:r>
              <a:rPr lang="en-US" altLang="zh-TW" b="1" kern="100" dirty="0">
                <a:solidFill>
                  <a:srgbClr val="000000"/>
                </a:solidFill>
                <a:latin typeface="Times New Roman"/>
                <a:ea typeface="標楷體"/>
              </a:rPr>
              <a:t>3</a:t>
            </a:r>
            <a:r>
              <a:rPr lang="zh-TW" altLang="zh-TW" b="1" kern="100" dirty="0">
                <a:solidFill>
                  <a:srgbClr val="000000"/>
                </a:solidFill>
                <a:latin typeface="Times New Roman"/>
                <a:ea typeface="標楷體"/>
              </a:rPr>
              <a:t>場次學童參與人次有</a:t>
            </a:r>
            <a:r>
              <a:rPr lang="en-US" altLang="zh-TW" b="1" kern="100" dirty="0">
                <a:solidFill>
                  <a:srgbClr val="000000"/>
                </a:solidFill>
                <a:latin typeface="Times New Roman"/>
                <a:ea typeface="標楷體"/>
              </a:rPr>
              <a:t>71</a:t>
            </a:r>
            <a:r>
              <a:rPr lang="zh-TW" altLang="zh-TW" b="1" kern="100" dirty="0">
                <a:solidFill>
                  <a:srgbClr val="000000"/>
                </a:solidFill>
                <a:latin typeface="Times New Roman"/>
                <a:ea typeface="標楷體"/>
              </a:rPr>
              <a:t>人次。</a:t>
            </a:r>
            <a:endParaRPr lang="zh-TW" altLang="zh-TW" sz="1600" b="1" kern="100" dirty="0">
              <a:solidFill>
                <a:srgbClr val="000000"/>
              </a:solidFill>
              <a:latin typeface="Times New Roman"/>
              <a:ea typeface="新細明體"/>
            </a:endParaRPr>
          </a:p>
          <a:p>
            <a:pPr marL="304800" lvl="0">
              <a:lnSpc>
                <a:spcPct val="150000"/>
              </a:lnSpc>
            </a:pP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112</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年</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方案五：</a:t>
            </a:r>
            <a:r>
              <a:rPr lang="zh-TW" altLang="en-US" b="1" kern="100" dirty="0">
                <a:solidFill>
                  <a:srgbClr val="FF0000"/>
                </a:solidFill>
                <a:latin typeface="Times New Roman"/>
                <a:ea typeface="標楷體"/>
              </a:rPr>
              <a:t>親子團體動力心體驗</a:t>
            </a:r>
            <a:r>
              <a:rPr lang="zh-TW" altLang="zh-TW" b="1" kern="100" dirty="0">
                <a:solidFill>
                  <a:srgbClr val="FF0000"/>
                </a:solidFill>
                <a:latin typeface="Times New Roman"/>
                <a:ea typeface="標楷體"/>
              </a:rPr>
              <a:t>：</a:t>
            </a:r>
            <a:endParaRPr lang="zh-TW" altLang="zh-TW" b="1" kern="100" dirty="0">
              <a:solidFill>
                <a:srgbClr val="FF0000"/>
              </a:solidFill>
              <a:latin typeface="Times New Roman"/>
              <a:ea typeface="新細明體"/>
            </a:endParaRPr>
          </a:p>
          <a:p>
            <a:pPr marL="304800" lvl="0">
              <a:lnSpc>
                <a:spcPct val="150000"/>
              </a:lnSpc>
            </a:pPr>
            <a:r>
              <a:rPr lang="zh-TW" altLang="en-US"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                參與的學童及家長有</a:t>
            </a:r>
            <a:r>
              <a:rPr lang="en-US" altLang="zh-TW"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33</a:t>
            </a:r>
            <a:r>
              <a:rPr lang="zh-TW" altLang="en-US"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人，總計</a:t>
            </a:r>
            <a:r>
              <a:rPr lang="en-US" altLang="zh-TW"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2</a:t>
            </a:r>
            <a:r>
              <a:rPr lang="zh-TW" altLang="en-US"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場次學童及家長參與人次有</a:t>
            </a:r>
            <a:r>
              <a:rPr lang="en-US" altLang="zh-TW"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65</a:t>
            </a:r>
            <a:r>
              <a:rPr lang="zh-TW" altLang="en-US"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人次。</a:t>
            </a:r>
            <a:r>
              <a:rPr lang="en-US" altLang="zh-TW"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113</a:t>
            </a:r>
            <a:r>
              <a:rPr lang="zh-TW" altLang="en-US"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年</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方案</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五</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lang="zh-TW" altLang="en-US" b="1" kern="100" dirty="0">
                <a:solidFill>
                  <a:srgbClr val="FF0000"/>
                </a:solidFill>
                <a:latin typeface="Times New Roman"/>
                <a:ea typeface="標楷體"/>
              </a:rPr>
              <a:t>親子團體動力心體驗：</a:t>
            </a:r>
          </a:p>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000000"/>
                </a:solidFill>
                <a:effectLst/>
                <a:uLnTx/>
                <a:uFillTx/>
                <a:latin typeface="標楷體"/>
                <a:ea typeface="新細明體"/>
                <a:cs typeface="+mn-cs"/>
              </a:rPr>
              <a:t>        </a:t>
            </a:r>
            <a:endParaRPr kumimoji="0" lang="zh-TW" altLang="zh-TW" sz="1600" b="1" i="0" u="none" strike="noStrike" kern="100" cap="none" spc="0" normalizeH="0" baseline="0" noProof="0" dirty="0">
              <a:ln>
                <a:noFill/>
              </a:ln>
              <a:solidFill>
                <a:srgbClr val="000000"/>
              </a:solidFill>
              <a:effectLst/>
              <a:uLnTx/>
              <a:uFillTx/>
              <a:latin typeface="Times New Roman"/>
              <a:ea typeface="新細明體"/>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TW" altLang="zh-TW" sz="1600" b="0" i="0" u="none" strike="noStrike" kern="100" cap="none" spc="0" normalizeH="0" baseline="0" noProof="0" dirty="0">
              <a:ln>
                <a:noFill/>
              </a:ln>
              <a:solidFill>
                <a:srgbClr val="024631"/>
              </a:solidFill>
              <a:effectLst/>
              <a:uLnTx/>
              <a:uFillTx/>
              <a:latin typeface="Times New Roman"/>
              <a:ea typeface="新細明體"/>
              <a:cs typeface="+mn-cs"/>
            </a:endParaRPr>
          </a:p>
        </p:txBody>
      </p:sp>
      <p:pic>
        <p:nvPicPr>
          <p:cNvPr id="11266" name="圖片 4">
            <a:extLst>
              <a:ext uri="{FF2B5EF4-FFF2-40B4-BE49-F238E27FC236}">
                <a16:creationId xmlns:a16="http://schemas.microsoft.com/office/drawing/2014/main" id="{97BD9E14-7A70-4124-B545-FAD4140206C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386828"/>
            <a:ext cx="3284503" cy="2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圖片 9">
            <a:extLst>
              <a:ext uri="{FF2B5EF4-FFF2-40B4-BE49-F238E27FC236}">
                <a16:creationId xmlns:a16="http://schemas.microsoft.com/office/drawing/2014/main" id="{7E4E383B-31C1-4E5F-9ECB-5603D877D28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84503" y="4396337"/>
            <a:ext cx="3275856" cy="2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圖片 11">
            <a:extLst>
              <a:ext uri="{FF2B5EF4-FFF2-40B4-BE49-F238E27FC236}">
                <a16:creationId xmlns:a16="http://schemas.microsoft.com/office/drawing/2014/main" id="{5636F8C9-2DF6-429C-9927-792DAA4F933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24128" y="2689863"/>
            <a:ext cx="3275856" cy="147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29488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200" dirty="0">
                <a:latin typeface="標楷體" pitchFamily="65" charset="-120"/>
                <a:ea typeface="標楷體" pitchFamily="65" charset="-120"/>
              </a:rPr>
              <a:t>五、方案內容</a:t>
            </a:r>
          </a:p>
        </p:txBody>
      </p:sp>
      <p:sp>
        <p:nvSpPr>
          <p:cNvPr id="3" name="內容版面配置區 2"/>
          <p:cNvSpPr>
            <a:spLocks noGrp="1"/>
          </p:cNvSpPr>
          <p:nvPr>
            <p:ph idx="1"/>
          </p:nvPr>
        </p:nvSpPr>
        <p:spPr>
          <a:xfrm>
            <a:off x="635046" y="836712"/>
            <a:ext cx="9430784" cy="1214264"/>
          </a:xfrm>
        </p:spPr>
        <p:txBody>
          <a:bodyPr/>
          <a:lstStyle/>
          <a:p>
            <a:pPr marL="0" indent="0">
              <a:buNone/>
            </a:pPr>
            <a:r>
              <a:rPr lang="en-US" altLang="zh-TW" sz="2500" b="1" dirty="0">
                <a:solidFill>
                  <a:srgbClr val="FF0000"/>
                </a:solidFill>
                <a:latin typeface="標楷體" pitchFamily="65" charset="-120"/>
                <a:ea typeface="標楷體" pitchFamily="65" charset="-120"/>
              </a:rPr>
              <a:t>113</a:t>
            </a:r>
            <a:r>
              <a:rPr lang="zh-TW" altLang="en-US" sz="2500" b="1" dirty="0">
                <a:solidFill>
                  <a:srgbClr val="FF0000"/>
                </a:solidFill>
                <a:latin typeface="標楷體" pitchFamily="65" charset="-120"/>
                <a:ea typeface="標楷體" pitchFamily="65" charset="-120"/>
              </a:rPr>
              <a:t>年方案六：親子團體動力心體驗</a:t>
            </a:r>
            <a:endParaRPr lang="en-US" altLang="zh-TW" sz="2500" b="1" dirty="0">
              <a:solidFill>
                <a:srgbClr val="FF0000"/>
              </a:solidFill>
              <a:latin typeface="標楷體" pitchFamily="65" charset="-120"/>
              <a:ea typeface="標楷體" pitchFamily="65" charset="-120"/>
            </a:endParaRPr>
          </a:p>
          <a:p>
            <a:pPr marL="0" indent="0">
              <a:buNone/>
            </a:pPr>
            <a:r>
              <a:rPr lang="zh-TW" altLang="en-US" sz="2400" b="1" dirty="0">
                <a:solidFill>
                  <a:schemeClr val="bg2">
                    <a:lumMod val="10000"/>
                  </a:schemeClr>
                </a:solidFill>
                <a:latin typeface="標楷體" pitchFamily="65" charset="-120"/>
                <a:ea typeface="標楷體" pitchFamily="65" charset="-120"/>
              </a:rPr>
              <a:t>        計畫類型：■福利服務類</a:t>
            </a:r>
          </a:p>
        </p:txBody>
      </p:sp>
      <p:sp>
        <p:nvSpPr>
          <p:cNvPr id="4" name="矩形 3"/>
          <p:cNvSpPr/>
          <p:nvPr/>
        </p:nvSpPr>
        <p:spPr>
          <a:xfrm>
            <a:off x="611560" y="1916832"/>
            <a:ext cx="8064896" cy="37856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    </a:t>
            </a:r>
            <a:r>
              <a:rPr kumimoji="0" lang="en-US" altLang="zh-TW" sz="2400" b="1"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4</a:t>
            </a:r>
            <a:r>
              <a:rPr kumimoji="0" lang="zh-TW" altLang="en-US" sz="2400" b="1"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社區中的弱勢家庭、新住民、邊緣戶之家庭，常可看到家庭教育功能失效，家長又因工作繁多，常疏於親子溝通及情緒管理，本活動將以親子雙方自我探索活動設計來進行，引導參加的親子家庭透過有趣、冒險的自然探索去面對親子現狀，並且透過學習與親子合作的過程裡，經由老師的引導增加親子互動及感情，並透過自然體驗、探索體驗教育及親子營隊運作的方式，培養共同解決問題即面對挫折的能力，促進弱勢家庭親子間的感情、親子情緒管理，並增加弱勢家庭溫馨活力、親子凝聚、快樂成長、激發潛能。</a:t>
            </a:r>
          </a:p>
        </p:txBody>
      </p:sp>
    </p:spTree>
    <p:extLst>
      <p:ext uri="{BB962C8B-B14F-4D97-AF65-F5344CB8AC3E}">
        <p14:creationId xmlns:p14="http://schemas.microsoft.com/office/powerpoint/2010/main" val="3865225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0" y="116632"/>
            <a:ext cx="9180512" cy="648072"/>
          </a:xfrm>
        </p:spPr>
        <p:txBody>
          <a:bodyPr/>
          <a:lstStyle/>
          <a:p>
            <a:pPr marL="0" indent="0">
              <a:buNone/>
            </a:pPr>
            <a:r>
              <a:rPr lang="zh-TW" altLang="en-US" sz="2500" b="1" dirty="0">
                <a:solidFill>
                  <a:schemeClr val="bg1"/>
                </a:solidFill>
                <a:latin typeface="標楷體" pitchFamily="65" charset="-120"/>
                <a:ea typeface="標楷體" pitchFamily="65" charset="-120"/>
              </a:rPr>
              <a:t>              方案六：親子團體動力心體驗</a:t>
            </a:r>
          </a:p>
          <a:p>
            <a:pPr marL="0" indent="0">
              <a:buNone/>
            </a:pPr>
            <a:endParaRPr lang="en-US" altLang="zh-TW" sz="2400" b="1" dirty="0">
              <a:solidFill>
                <a:schemeClr val="bg1"/>
              </a:solidFill>
              <a:latin typeface="標楷體" pitchFamily="65" charset="-120"/>
              <a:ea typeface="標楷體" pitchFamily="65" charset="-120"/>
            </a:endParaRPr>
          </a:p>
          <a:p>
            <a:pPr marL="0" indent="0">
              <a:buNone/>
            </a:pPr>
            <a:r>
              <a:rPr lang="zh-TW" altLang="en-US" sz="2400" b="1" dirty="0">
                <a:solidFill>
                  <a:schemeClr val="bg1"/>
                </a:solidFill>
                <a:latin typeface="標楷體" pitchFamily="65" charset="-120"/>
                <a:ea typeface="標楷體" pitchFamily="65" charset="-120"/>
              </a:rPr>
              <a:t>                        </a:t>
            </a:r>
            <a:endParaRPr lang="zh-TW" altLang="en-US" sz="2400" b="1" dirty="0">
              <a:solidFill>
                <a:srgbClr val="C00000"/>
              </a:solidFill>
              <a:latin typeface="標楷體" pitchFamily="65" charset="-120"/>
              <a:ea typeface="標楷體" pitchFamily="65" charset="-120"/>
            </a:endParaRPr>
          </a:p>
        </p:txBody>
      </p:sp>
      <p:graphicFrame>
        <p:nvGraphicFramePr>
          <p:cNvPr id="4" name="表格 3">
            <a:extLst>
              <a:ext uri="{FF2B5EF4-FFF2-40B4-BE49-F238E27FC236}">
                <a16:creationId xmlns:a16="http://schemas.microsoft.com/office/drawing/2014/main" id="{0A0E6EE4-5F9F-4F1F-BD30-9A358E34C3B4}"/>
              </a:ext>
            </a:extLst>
          </p:cNvPr>
          <p:cNvGraphicFramePr>
            <a:graphicFrameLocks noGrp="1"/>
          </p:cNvGraphicFramePr>
          <p:nvPr/>
        </p:nvGraphicFramePr>
        <p:xfrm>
          <a:off x="323528" y="1285762"/>
          <a:ext cx="8064895" cy="5590109"/>
        </p:xfrm>
        <a:graphic>
          <a:graphicData uri="http://schemas.openxmlformats.org/drawingml/2006/table">
            <a:tbl>
              <a:tblPr firstRow="1" firstCol="1" bandRow="1"/>
              <a:tblGrid>
                <a:gridCol w="1532717">
                  <a:extLst>
                    <a:ext uri="{9D8B030D-6E8A-4147-A177-3AD203B41FA5}">
                      <a16:colId xmlns:a16="http://schemas.microsoft.com/office/drawing/2014/main" val="903834041"/>
                    </a:ext>
                  </a:extLst>
                </a:gridCol>
                <a:gridCol w="1628978">
                  <a:extLst>
                    <a:ext uri="{9D8B030D-6E8A-4147-A177-3AD203B41FA5}">
                      <a16:colId xmlns:a16="http://schemas.microsoft.com/office/drawing/2014/main" val="44498284"/>
                    </a:ext>
                  </a:extLst>
                </a:gridCol>
                <a:gridCol w="1628978">
                  <a:extLst>
                    <a:ext uri="{9D8B030D-6E8A-4147-A177-3AD203B41FA5}">
                      <a16:colId xmlns:a16="http://schemas.microsoft.com/office/drawing/2014/main" val="3224160010"/>
                    </a:ext>
                  </a:extLst>
                </a:gridCol>
                <a:gridCol w="1637111">
                  <a:extLst>
                    <a:ext uri="{9D8B030D-6E8A-4147-A177-3AD203B41FA5}">
                      <a16:colId xmlns:a16="http://schemas.microsoft.com/office/drawing/2014/main" val="1679075457"/>
                    </a:ext>
                  </a:extLst>
                </a:gridCol>
                <a:gridCol w="1637111">
                  <a:extLst>
                    <a:ext uri="{9D8B030D-6E8A-4147-A177-3AD203B41FA5}">
                      <a16:colId xmlns:a16="http://schemas.microsoft.com/office/drawing/2014/main" val="2017466941"/>
                    </a:ext>
                  </a:extLst>
                </a:gridCol>
              </a:tblGrid>
              <a:tr h="185840">
                <a:tc rowSpan="2">
                  <a:txBody>
                    <a:bodyPr/>
                    <a:lstStyle/>
                    <a:p>
                      <a:pPr marL="43180" algn="just">
                        <a:lnSpc>
                          <a:spcPct val="107000"/>
                        </a:lnSpc>
                        <a:spcAft>
                          <a:spcPts val="0"/>
                        </a:spcAft>
                      </a:pP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時間</a:t>
                      </a:r>
                      <a:r>
                        <a:rPr lang="zh-TW" sz="1200" b="1" kern="100" dirty="0">
                          <a:solidFill>
                            <a:schemeClr val="bg2">
                              <a:lumMod val="10000"/>
                            </a:schemeClr>
                          </a:solidFill>
                          <a:effectLst/>
                          <a:latin typeface="Times New Roman" panose="02020603050405020304" pitchFamily="18" charset="0"/>
                          <a:ea typeface="Microsoft JhengHei UI" panose="020B0604030504040204" pitchFamily="34" charset="-120"/>
                          <a:cs typeface="Microsoft JhengHei UI" panose="020B0604030504040204" pitchFamily="34" charset="-120"/>
                        </a:rPr>
                        <a:t>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gridSpan="2">
                  <a:txBody>
                    <a:bodyPr/>
                    <a:lstStyle/>
                    <a:p>
                      <a:pPr marR="20955" algn="ctr">
                        <a:lnSpc>
                          <a:spcPct val="107000"/>
                        </a:lnSpc>
                        <a:spcAft>
                          <a:spcPts val="0"/>
                        </a:spcAft>
                      </a:pP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第一天</a:t>
                      </a:r>
                      <a:r>
                        <a:rPr lang="zh-TW" sz="1200" b="1" kern="100" dirty="0">
                          <a:solidFill>
                            <a:schemeClr val="bg2">
                              <a:lumMod val="10000"/>
                            </a:schemeClr>
                          </a:solidFill>
                          <a:effectLst/>
                          <a:latin typeface="Times New Roman" panose="02020603050405020304" pitchFamily="18" charset="0"/>
                          <a:ea typeface="Microsoft JhengHei UI" panose="020B0604030504040204" pitchFamily="34" charset="-120"/>
                          <a:cs typeface="Microsoft JhengHei UI" panose="020B0604030504040204" pitchFamily="34" charset="-120"/>
                        </a:rPr>
                        <a:t>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marR="19050" algn="ctr">
                        <a:lnSpc>
                          <a:spcPct val="107000"/>
                        </a:lnSpc>
                        <a:spcAft>
                          <a:spcPts val="0"/>
                        </a:spcAft>
                      </a:pP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第二天</a:t>
                      </a:r>
                      <a:r>
                        <a:rPr lang="zh-TW" sz="1200" b="1" kern="100">
                          <a:solidFill>
                            <a:schemeClr val="bg2">
                              <a:lumMod val="10000"/>
                            </a:schemeClr>
                          </a:solidFill>
                          <a:effectLst/>
                          <a:latin typeface="Times New Roman" panose="02020603050405020304" pitchFamily="18" charset="0"/>
                          <a:ea typeface="Microsoft JhengHei UI" panose="020B0604030504040204" pitchFamily="34" charset="-120"/>
                          <a:cs typeface="Microsoft JhengHei UI" panose="020B0604030504040204" pitchFamily="34" charset="-120"/>
                        </a:rPr>
                        <a:t>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extLst>
                  <a:ext uri="{0D108BD9-81ED-4DB2-BD59-A6C34878D82A}">
                    <a16:rowId xmlns:a16="http://schemas.microsoft.com/office/drawing/2014/main" val="2284496025"/>
                  </a:ext>
                </a:extLst>
              </a:tr>
              <a:tr h="201030">
                <a:tc vMerge="1">
                  <a:txBody>
                    <a:bodyPr/>
                    <a:lstStyle/>
                    <a:p>
                      <a:endParaRPr lang="zh-TW" altLang="en-US"/>
                    </a:p>
                  </a:txBody>
                  <a:tcPr/>
                </a:tc>
                <a:tc>
                  <a:txBody>
                    <a:bodyPr/>
                    <a:lstStyle/>
                    <a:p>
                      <a:pPr marR="24765" algn="ctr">
                        <a:lnSpc>
                          <a:spcPct val="107000"/>
                        </a:lnSpc>
                        <a:spcAft>
                          <a:spcPts val="0"/>
                        </a:spcAft>
                      </a:pP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課程結構</a:t>
                      </a:r>
                      <a:r>
                        <a:rPr lang="zh-TW" sz="1200" b="1" kern="100" dirty="0">
                          <a:solidFill>
                            <a:schemeClr val="bg2">
                              <a:lumMod val="10000"/>
                            </a:schemeClr>
                          </a:solidFill>
                          <a:effectLst/>
                          <a:latin typeface="Times New Roman" panose="02020603050405020304" pitchFamily="18" charset="0"/>
                          <a:ea typeface="Microsoft JhengHei UI" panose="020B0604030504040204" pitchFamily="34" charset="-120"/>
                          <a:cs typeface="Microsoft JhengHei UI" panose="020B0604030504040204" pitchFamily="34" charset="-120"/>
                        </a:rPr>
                        <a:t>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R="22860" algn="ctr">
                        <a:lnSpc>
                          <a:spcPct val="107000"/>
                        </a:lnSpc>
                        <a:spcAft>
                          <a:spcPts val="0"/>
                        </a:spcAft>
                      </a:pP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活動名稱</a:t>
                      </a:r>
                      <a:r>
                        <a:rPr lang="zh-TW" sz="1200" b="1" kern="100" dirty="0">
                          <a:solidFill>
                            <a:schemeClr val="bg2">
                              <a:lumMod val="10000"/>
                            </a:schemeClr>
                          </a:solidFill>
                          <a:effectLst/>
                          <a:latin typeface="Times New Roman" panose="02020603050405020304" pitchFamily="18" charset="0"/>
                          <a:ea typeface="Microsoft JhengHei UI" panose="020B0604030504040204" pitchFamily="34" charset="-120"/>
                          <a:cs typeface="Microsoft JhengHei UI" panose="020B0604030504040204" pitchFamily="34" charset="-120"/>
                        </a:rPr>
                        <a:t>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271780">
                        <a:lnSpc>
                          <a:spcPct val="107000"/>
                        </a:lnSpc>
                        <a:spcAft>
                          <a:spcPts val="0"/>
                        </a:spcAft>
                      </a:pP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課程結構</a:t>
                      </a:r>
                      <a:r>
                        <a:rPr lang="zh-TW" sz="1200" b="1" kern="100">
                          <a:solidFill>
                            <a:schemeClr val="bg2">
                              <a:lumMod val="10000"/>
                            </a:schemeClr>
                          </a:solidFill>
                          <a:effectLst/>
                          <a:latin typeface="Times New Roman" panose="02020603050405020304" pitchFamily="18" charset="0"/>
                          <a:ea typeface="Microsoft JhengHei UI" panose="020B0604030504040204" pitchFamily="34" charset="-120"/>
                          <a:cs typeface="Microsoft JhengHei UI" panose="020B0604030504040204" pitchFamily="34" charset="-120"/>
                        </a:rPr>
                        <a:t>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R="25400" algn="ctr">
                        <a:lnSpc>
                          <a:spcPct val="107000"/>
                        </a:lnSpc>
                        <a:spcAft>
                          <a:spcPts val="0"/>
                        </a:spcAft>
                      </a:pP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活動名稱</a:t>
                      </a:r>
                      <a:r>
                        <a:rPr lang="zh-TW" sz="1200" b="1" kern="100">
                          <a:solidFill>
                            <a:schemeClr val="bg2">
                              <a:lumMod val="10000"/>
                            </a:schemeClr>
                          </a:solidFill>
                          <a:effectLst/>
                          <a:latin typeface="Times New Roman" panose="02020603050405020304" pitchFamily="18" charset="0"/>
                          <a:ea typeface="Microsoft JhengHei UI" panose="020B0604030504040204" pitchFamily="34" charset="-120"/>
                          <a:cs typeface="Microsoft JhengHei UI" panose="020B0604030504040204" pitchFamily="34" charset="-120"/>
                        </a:rPr>
                        <a:t>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1840391"/>
                  </a:ext>
                </a:extLst>
              </a:tr>
              <a:tr h="1398643">
                <a:tc rowSpan="2">
                  <a:txBody>
                    <a:bodyPr/>
                    <a:lstStyle/>
                    <a:p>
                      <a:pPr algn="just">
                        <a:lnSpc>
                          <a:spcPct val="107000"/>
                        </a:lnSpc>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09</a:t>
                      </a: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a:t>
                      </a:r>
                      <a:r>
                        <a:rPr lang="en-US"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00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147320">
                        <a:lnSpc>
                          <a:spcPct val="107000"/>
                        </a:lnSpc>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algn="just">
                        <a:lnSpc>
                          <a:spcPct val="107000"/>
                        </a:lnSpc>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12</a:t>
                      </a: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a:t>
                      </a:r>
                      <a:r>
                        <a:rPr lang="en-US"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30</a:t>
                      </a:r>
                      <a:r>
                        <a:rPr lang="en-US" sz="1200" b="1" kern="100" dirty="0">
                          <a:solidFill>
                            <a:schemeClr val="bg2">
                              <a:lumMod val="10000"/>
                            </a:schemeClr>
                          </a:solidFill>
                          <a:effectLst/>
                          <a:latin typeface="Microsoft JhengHei UI" panose="020B0604030504040204" pitchFamily="34" charset="-120"/>
                          <a:ea typeface="新細明體" panose="02020500000000000000" pitchFamily="18" charset="-120"/>
                          <a:cs typeface="Microsoft JhengHei UI" panose="020B0604030504040204" pitchFamily="34" charset="-120"/>
                        </a:rPr>
                        <a:t>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b">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46050" marR="92075" algn="ctr">
                        <a:spcAft>
                          <a:spcPts val="5"/>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Opening </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破冰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algn="ctr">
                        <a:spcAft>
                          <a:spcPts val="25"/>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Team building </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團隊建立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R="34290" algn="ctr">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Goal</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目標</a:t>
                      </a:r>
                      <a:r>
                        <a:rPr lang="zh-TW" sz="1200" b="1" kern="100">
                          <a:solidFill>
                            <a:schemeClr val="bg2">
                              <a:lumMod val="10000"/>
                            </a:schemeClr>
                          </a:solidFill>
                          <a:effectLst/>
                          <a:latin typeface="Times New Roman" panose="02020603050405020304" pitchFamily="18" charset="0"/>
                          <a:ea typeface="Microsoft JhengHei UI" panose="020B0604030504040204" pitchFamily="34" charset="-120"/>
                          <a:cs typeface="Microsoft JhengHei UI" panose="020B0604030504040204" pitchFamily="34" charset="-120"/>
                        </a:rPr>
                        <a:t>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1590">
                        <a:lnSpc>
                          <a:spcPct val="107000"/>
                        </a:lnSpc>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a:t>
                      </a: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品格主題</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R="216535" algn="ctr">
                        <a:lnSpc>
                          <a:spcPct val="107000"/>
                        </a:lnSpc>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GREAT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21590">
                        <a:lnSpc>
                          <a:spcPct val="107000"/>
                        </a:lnSpc>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Goal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21590">
                        <a:lnSpc>
                          <a:spcPct val="107000"/>
                        </a:lnSpc>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Respect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21590">
                        <a:lnSpc>
                          <a:spcPct val="107000"/>
                        </a:lnSpc>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Empathy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21590">
                        <a:lnSpc>
                          <a:spcPct val="107000"/>
                        </a:lnSpc>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Attitude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21590">
                        <a:lnSpc>
                          <a:spcPct val="107000"/>
                        </a:lnSpc>
                        <a:spcAft>
                          <a:spcPts val="0"/>
                        </a:spcAft>
                      </a:pPr>
                      <a:r>
                        <a:rPr lang="en-US" sz="1200" b="1" kern="100" dirty="0" err="1">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Thanksful</a:t>
                      </a: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21590" algn="just">
                        <a:lnSpc>
                          <a:spcPct val="107000"/>
                        </a:lnSpc>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G</a:t>
                      </a: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共同價值契約</a:t>
                      </a:r>
                      <a:r>
                        <a:rPr lang="zh-TW" sz="1200" b="1" kern="100" dirty="0">
                          <a:solidFill>
                            <a:schemeClr val="bg2">
                              <a:lumMod val="10000"/>
                            </a:schemeClr>
                          </a:solidFill>
                          <a:effectLst/>
                          <a:latin typeface="Times New Roman" panose="02020603050405020304" pitchFamily="18" charset="0"/>
                          <a:ea typeface="Microsoft JhengHei UI" panose="020B0604030504040204" pitchFamily="34" charset="-120"/>
                          <a:cs typeface="Microsoft JhengHei UI" panose="020B0604030504040204" pitchFamily="34" charset="-120"/>
                        </a:rPr>
                        <a:t>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spcAft>
                          <a:spcPts val="0"/>
                        </a:spcAft>
                      </a:pP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社區采風 戶外定向活動</a:t>
                      </a:r>
                      <a:r>
                        <a:rPr lang="en-US" sz="1200" b="1" kern="10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 Empathy </a:t>
                      </a: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同理心</a:t>
                      </a:r>
                      <a:r>
                        <a:rPr lang="en-US" sz="1200" b="1" kern="10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 ●</a:t>
                      </a: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品格主題： 助人 信任</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Times New Roman" panose="02020603050405020304" pitchFamily="18" charset="0"/>
                        </a:rPr>
                        <a:t>1.</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學習地圖</a:t>
                      </a:r>
                      <a:r>
                        <a:rPr lang="en-US" sz="1200" b="1" kern="10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 </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誠實表達內心 感受與需要的 非暴力溝通</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Times New Roman" panose="02020603050405020304" pitchFamily="18" charset="0"/>
                        </a:rPr>
                        <a:t>2.</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Times New Roman" panose="02020603050405020304" pitchFamily="18" charset="0"/>
                        </a:rPr>
                        <a:t>滿意度調查及心得回饋</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6450512"/>
                  </a:ext>
                </a:extLst>
              </a:tr>
              <a:tr h="918471">
                <a:tc vMerge="1">
                  <a:txBody>
                    <a:bodyPr/>
                    <a:lstStyle/>
                    <a:p>
                      <a:endParaRPr lang="zh-TW" altLang="en-US"/>
                    </a:p>
                  </a:txBody>
                  <a:tcPr/>
                </a:tc>
                <a:tc>
                  <a:txBody>
                    <a:bodyPr/>
                    <a:lstStyle/>
                    <a:p>
                      <a:pPr marL="110490">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Respect </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尊重</a:t>
                      </a:r>
                      <a:r>
                        <a:rPr lang="zh-TW" sz="1200" b="1" kern="100">
                          <a:solidFill>
                            <a:schemeClr val="bg2">
                              <a:lumMod val="10000"/>
                            </a:schemeClr>
                          </a:solidFill>
                          <a:effectLst/>
                          <a:latin typeface="Times New Roman" panose="02020603050405020304" pitchFamily="18" charset="0"/>
                          <a:ea typeface="Microsoft JhengHei UI" panose="020B0604030504040204" pitchFamily="34" charset="-120"/>
                          <a:cs typeface="Microsoft JhengHei UI" panose="020B0604030504040204" pitchFamily="34" charset="-120"/>
                        </a:rPr>
                        <a:t>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1590">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a:t>
                      </a: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品格主題：尊重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21590">
                        <a:lnSpc>
                          <a:spcPct val="107000"/>
                        </a:lnSpc>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a:t>
                      </a: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學習地圖：尊重不只有接受自己，更要懂得接受別人不同。</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4078605344"/>
                  </a:ext>
                </a:extLst>
              </a:tr>
              <a:tr h="1121439">
                <a:tc>
                  <a:txBody>
                    <a:bodyPr/>
                    <a:lstStyle/>
                    <a:p>
                      <a:pPr algn="just">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13</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a:t>
                      </a:r>
                      <a:r>
                        <a:rPr lang="en-US"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00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147320">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algn="just">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18</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a:t>
                      </a:r>
                      <a:r>
                        <a:rPr lang="en-US"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00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7790" marR="46355" algn="ctr">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Attitude </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態度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1590">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品格主題：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21590" algn="just">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  </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負責誠實合作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21590">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學習地圖：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209550" indent="-187960">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  </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態度決定你的高度，心態可以戰勝一切。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R="29210" algn="ctr">
                        <a:lnSpc>
                          <a:spcPct val="107000"/>
                        </a:lnSpc>
                        <a:spcAft>
                          <a:spcPts val="0"/>
                        </a:spcAft>
                      </a:pPr>
                      <a:r>
                        <a:rPr lang="zh-TW" sz="1200" b="1" kern="100" dirty="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賦歸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TW" altLang="en-US"/>
                    </a:p>
                  </a:txBody>
                  <a:tcPr/>
                </a:tc>
                <a:extLst>
                  <a:ext uri="{0D108BD9-81ED-4DB2-BD59-A6C34878D82A}">
                    <a16:rowId xmlns:a16="http://schemas.microsoft.com/office/drawing/2014/main" val="769580880"/>
                  </a:ext>
                </a:extLst>
              </a:tr>
              <a:tr h="1493298">
                <a:tc>
                  <a:txBody>
                    <a:bodyPr/>
                    <a:lstStyle/>
                    <a:p>
                      <a:pPr algn="just">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18</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a:t>
                      </a:r>
                      <a:r>
                        <a:rPr lang="en-US"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00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147320">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algn="just">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20</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a:t>
                      </a:r>
                      <a:r>
                        <a:rPr lang="en-US"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00</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97790" marR="46355" algn="ctr">
                        <a:lnSpc>
                          <a:spcPct val="107000"/>
                        </a:lnSpc>
                        <a:spcAft>
                          <a:spcPts val="0"/>
                        </a:spcAft>
                      </a:pP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晚會活動帶領</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21590">
                        <a:lnSpc>
                          <a:spcPct val="107000"/>
                        </a:lnSpc>
                        <a:spcAft>
                          <a:spcPts val="0"/>
                        </a:spcAft>
                      </a:pP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●品格主題：助人 信任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21590">
                        <a:lnSpc>
                          <a:spcPct val="107000"/>
                        </a:lnSpc>
                        <a:spcAft>
                          <a:spcPts val="0"/>
                        </a:spcAft>
                      </a:pP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■學習地圖</a:t>
                      </a:r>
                      <a:r>
                        <a:rPr lang="en-US"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 </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p>
                      <a:pPr marL="21590">
                        <a:lnSpc>
                          <a:spcPct val="107000"/>
                        </a:lnSpc>
                        <a:spcAft>
                          <a:spcPts val="0"/>
                        </a:spcAft>
                      </a:pPr>
                      <a:r>
                        <a:rPr lang="en-US" sz="1200" b="1" kern="10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  </a:t>
                      </a:r>
                      <a:r>
                        <a:rPr lang="zh-TW" sz="1200" b="1" kern="100">
                          <a:solidFill>
                            <a:schemeClr val="bg2">
                              <a:lumMod val="10000"/>
                            </a:schemeClr>
                          </a:solidFill>
                          <a:effectLst/>
                          <a:latin typeface="Times New Roman" panose="02020603050405020304" pitchFamily="18" charset="0"/>
                          <a:ea typeface="標楷體" panose="03000509000000000000" pitchFamily="65" charset="-120"/>
                          <a:cs typeface="標楷體" panose="03000509000000000000" pitchFamily="65" charset="-120"/>
                        </a:rPr>
                        <a:t>誠實表達內心感受與需要的非暴力溝通</a:t>
                      </a:r>
                      <a:endParaRPr lang="zh-TW" sz="1200" b="1" kern="10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gridSpan="2">
                  <a:txBody>
                    <a:bodyPr/>
                    <a:lstStyle/>
                    <a:p>
                      <a:pPr marR="29210" algn="ctr">
                        <a:lnSpc>
                          <a:spcPct val="107000"/>
                        </a:lnSpc>
                        <a:spcAft>
                          <a:spcPts val="0"/>
                        </a:spcAft>
                      </a:pPr>
                      <a:r>
                        <a:rPr lang="en-US" sz="1200" b="1" kern="100" dirty="0">
                          <a:solidFill>
                            <a:schemeClr val="bg2">
                              <a:lumMod val="10000"/>
                            </a:schemeClr>
                          </a:solidFill>
                          <a:effectLst/>
                          <a:latin typeface="標楷體" panose="03000509000000000000" pitchFamily="65" charset="-120"/>
                          <a:ea typeface="新細明體" panose="02020500000000000000" pitchFamily="18" charset="-120"/>
                          <a:cs typeface="標楷體" panose="03000509000000000000" pitchFamily="65" charset="-120"/>
                        </a:rPr>
                        <a:t> </a:t>
                      </a:r>
                      <a:endParaRPr lang="zh-TW" sz="1200" b="1" kern="100" dirty="0">
                        <a:solidFill>
                          <a:schemeClr val="bg2">
                            <a:lumMod val="10000"/>
                          </a:schemeClr>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33928" marR="0" marT="22925" marB="22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zh-TW" altLang="en-US"/>
                    </a:p>
                  </a:txBody>
                  <a:tcPr/>
                </a:tc>
                <a:extLst>
                  <a:ext uri="{0D108BD9-81ED-4DB2-BD59-A6C34878D82A}">
                    <a16:rowId xmlns:a16="http://schemas.microsoft.com/office/drawing/2014/main" val="1814633792"/>
                  </a:ext>
                </a:extLst>
              </a:tr>
            </a:tbl>
          </a:graphicData>
        </a:graphic>
      </p:graphicFrame>
      <p:sp>
        <p:nvSpPr>
          <p:cNvPr id="5" name="矩形 4">
            <a:extLst>
              <a:ext uri="{FF2B5EF4-FFF2-40B4-BE49-F238E27FC236}">
                <a16:creationId xmlns:a16="http://schemas.microsoft.com/office/drawing/2014/main" id="{83CAD41F-7BBF-4985-80F8-6017EB7FA3DC}"/>
              </a:ext>
            </a:extLst>
          </p:cNvPr>
          <p:cNvSpPr/>
          <p:nvPr/>
        </p:nvSpPr>
        <p:spPr>
          <a:xfrm>
            <a:off x="3720097" y="648270"/>
            <a:ext cx="2800767"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0" cap="none" spc="0" normalizeH="0" baseline="0" noProof="0" dirty="0">
                <a:ln>
                  <a:noFill/>
                </a:ln>
                <a:solidFill>
                  <a:srgbClr val="C00000"/>
                </a:solidFill>
                <a:effectLst/>
                <a:uLnTx/>
                <a:uFillTx/>
                <a:latin typeface="標楷體" pitchFamily="65" charset="-120"/>
                <a:ea typeface="標楷體" pitchFamily="65" charset="-120"/>
                <a:cs typeface="+mn-cs"/>
              </a:rPr>
              <a:t>執行方式</a:t>
            </a:r>
            <a:r>
              <a:rPr kumimoji="0" lang="en-US" altLang="zh-TW" sz="2400" b="1" i="0" u="none" strike="noStrike" kern="0" cap="none" spc="0" normalizeH="0" baseline="0" noProof="0" dirty="0">
                <a:ln>
                  <a:noFill/>
                </a:ln>
                <a:solidFill>
                  <a:srgbClr val="C00000"/>
                </a:solidFill>
                <a:effectLst/>
                <a:uLnTx/>
                <a:uFillTx/>
                <a:latin typeface="標楷體" pitchFamily="65" charset="-120"/>
                <a:ea typeface="標楷體" pitchFamily="65" charset="-120"/>
                <a:cs typeface="+mn-cs"/>
              </a:rPr>
              <a:t>-</a:t>
            </a:r>
            <a:r>
              <a:rPr kumimoji="0" lang="zh-TW" altLang="en-US" sz="2400" b="1" i="0" u="none" strike="noStrike" kern="0" cap="none" spc="0" normalizeH="0" baseline="0" noProof="0" dirty="0">
                <a:ln>
                  <a:noFill/>
                </a:ln>
                <a:solidFill>
                  <a:srgbClr val="C00000"/>
                </a:solidFill>
                <a:effectLst/>
                <a:uLnTx/>
                <a:uFillTx/>
                <a:latin typeface="標楷體" pitchFamily="65" charset="-120"/>
                <a:ea typeface="標楷體" pitchFamily="65" charset="-120"/>
                <a:cs typeface="+mn-cs"/>
              </a:rPr>
              <a:t>活動課程</a:t>
            </a:r>
            <a:endParaRPr kumimoji="0" lang="zh-TW" altLang="en-US" sz="1800" b="0" i="0" u="none" strike="noStrike" kern="1200" cap="none" spc="0" normalizeH="0" baseline="0" noProof="0" dirty="0">
              <a:ln>
                <a:noFill/>
              </a:ln>
              <a:solidFill>
                <a:srgbClr val="024631"/>
              </a:solidFill>
              <a:effectLst/>
              <a:uLnTx/>
              <a:uFillTx/>
              <a:latin typeface="Arial"/>
              <a:ea typeface="+mn-ea"/>
              <a:cs typeface="+mn-cs"/>
            </a:endParaRPr>
          </a:p>
        </p:txBody>
      </p:sp>
    </p:spTree>
    <p:extLst>
      <p:ext uri="{BB962C8B-B14F-4D97-AF65-F5344CB8AC3E}">
        <p14:creationId xmlns:p14="http://schemas.microsoft.com/office/powerpoint/2010/main" val="33348958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小旗艦計畫執行成果</a:t>
            </a:r>
          </a:p>
        </p:txBody>
      </p:sp>
      <p:sp>
        <p:nvSpPr>
          <p:cNvPr id="5" name="矩形 4"/>
          <p:cNvSpPr/>
          <p:nvPr/>
        </p:nvSpPr>
        <p:spPr>
          <a:xfrm>
            <a:off x="395536" y="764704"/>
            <a:ext cx="8424936" cy="4941737"/>
          </a:xfrm>
          <a:prstGeom prst="rect">
            <a:avLst/>
          </a:prstGeom>
        </p:spPr>
        <p:txBody>
          <a:bodyPr wrap="square">
            <a:spAutoFit/>
          </a:bodyPr>
          <a:lstStyle/>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b="1" i="0" u="none" strike="noStrike" kern="100" cap="none" spc="0" normalizeH="0" baseline="0" noProof="0" dirty="0">
                <a:ln>
                  <a:noFill/>
                </a:ln>
                <a:solidFill>
                  <a:srgbClr val="FF0000"/>
                </a:solidFill>
                <a:effectLst/>
                <a:uLnTx/>
                <a:uFillTx/>
                <a:latin typeface="Times New Roman"/>
                <a:ea typeface="標楷體"/>
                <a:cs typeface="+mn-cs"/>
              </a:rPr>
              <a:t>111</a:t>
            </a:r>
            <a:r>
              <a:rPr kumimoji="0" lang="zh-TW" altLang="en-US" b="1" i="0" u="none" strike="noStrike" kern="100" cap="none" spc="0" normalizeH="0" baseline="0" noProof="0" dirty="0">
                <a:ln>
                  <a:noFill/>
                </a:ln>
                <a:solidFill>
                  <a:srgbClr val="FF0000"/>
                </a:solidFill>
                <a:effectLst/>
                <a:uLnTx/>
                <a:uFillTx/>
                <a:latin typeface="Times New Roman"/>
                <a:ea typeface="標楷體"/>
                <a:cs typeface="+mn-cs"/>
              </a:rPr>
              <a:t>年</a:t>
            </a:r>
            <a:r>
              <a:rPr kumimoji="0" lang="zh-TW" altLang="zh-TW" b="1" i="0" u="none" strike="noStrike" kern="100" cap="none" spc="0" normalizeH="0" baseline="0" noProof="0" dirty="0">
                <a:ln>
                  <a:noFill/>
                </a:ln>
                <a:solidFill>
                  <a:srgbClr val="FF0000"/>
                </a:solidFill>
                <a:effectLst/>
                <a:uLnTx/>
                <a:uFillTx/>
                <a:latin typeface="Times New Roman"/>
                <a:ea typeface="標楷體"/>
                <a:cs typeface="+mn-cs"/>
              </a:rPr>
              <a:t>方案六：銀髮網路起步走：</a:t>
            </a:r>
            <a:endParaRPr kumimoji="0" lang="zh-TW" altLang="zh-TW" b="1" i="0" u="none" strike="noStrike" kern="100" cap="none" spc="0" normalizeH="0" baseline="0" noProof="0" dirty="0">
              <a:ln>
                <a:noFill/>
              </a:ln>
              <a:solidFill>
                <a:srgbClr val="FF0000"/>
              </a:solidFill>
              <a:effectLst/>
              <a:uLnTx/>
              <a:uFillTx/>
              <a:latin typeface="Times New Roman"/>
              <a:ea typeface="新細明體"/>
              <a:cs typeface="+mn-cs"/>
            </a:endParaRPr>
          </a:p>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b="1" i="0" u="none" strike="noStrike" kern="100" cap="none" spc="0" normalizeH="0" baseline="0" noProof="0" dirty="0">
                <a:ln>
                  <a:noFill/>
                </a:ln>
                <a:solidFill>
                  <a:srgbClr val="000000"/>
                </a:solidFill>
                <a:effectLst/>
                <a:uLnTx/>
                <a:uFillTx/>
                <a:latin typeface="標楷體"/>
                <a:ea typeface="新細明體"/>
                <a:cs typeface="+mn-cs"/>
              </a:rPr>
              <a:t>        </a:t>
            </a:r>
            <a:r>
              <a:rPr kumimoji="0" lang="zh-TW" altLang="zh-TW" b="1" i="0" u="none" strike="noStrike" kern="100" cap="none" spc="0" normalizeH="0" baseline="0" noProof="0" dirty="0">
                <a:ln>
                  <a:noFill/>
                </a:ln>
                <a:solidFill>
                  <a:srgbClr val="000000"/>
                </a:solidFill>
                <a:effectLst/>
                <a:uLnTx/>
                <a:uFillTx/>
                <a:latin typeface="Times New Roman"/>
                <a:ea typeface="標楷體"/>
                <a:cs typeface="+mn-cs"/>
              </a:rPr>
              <a:t>參與的長者有</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18</a:t>
            </a:r>
            <a:r>
              <a:rPr kumimoji="0" lang="zh-TW" altLang="zh-TW" b="1" i="0" u="none" strike="noStrike" kern="100" cap="none" spc="0" normalizeH="0" baseline="0" noProof="0" dirty="0">
                <a:ln>
                  <a:noFill/>
                </a:ln>
                <a:solidFill>
                  <a:srgbClr val="000000"/>
                </a:solidFill>
                <a:effectLst/>
                <a:uLnTx/>
                <a:uFillTx/>
                <a:latin typeface="Times New Roman"/>
                <a:ea typeface="標楷體"/>
                <a:cs typeface="+mn-cs"/>
              </a:rPr>
              <a:t>人，總計</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10</a:t>
            </a:r>
            <a:r>
              <a:rPr kumimoji="0" lang="zh-TW" altLang="zh-TW" b="1" i="0" u="none" strike="noStrike" kern="100" cap="none" spc="0" normalizeH="0" baseline="0" noProof="0" dirty="0">
                <a:ln>
                  <a:noFill/>
                </a:ln>
                <a:solidFill>
                  <a:srgbClr val="000000"/>
                </a:solidFill>
                <a:effectLst/>
                <a:uLnTx/>
                <a:uFillTx/>
                <a:latin typeface="Times New Roman"/>
                <a:ea typeface="標楷體"/>
                <a:cs typeface="+mn-cs"/>
              </a:rPr>
              <a:t>場次參與人次有</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175</a:t>
            </a:r>
            <a:r>
              <a:rPr kumimoji="0" lang="zh-TW" altLang="zh-TW" b="1" i="0" u="none" strike="noStrike" kern="100" cap="none" spc="0" normalizeH="0" baseline="0" noProof="0" dirty="0">
                <a:ln>
                  <a:noFill/>
                </a:ln>
                <a:solidFill>
                  <a:srgbClr val="000000"/>
                </a:solidFill>
                <a:effectLst/>
                <a:uLnTx/>
                <a:uFillTx/>
                <a:latin typeface="Times New Roman"/>
                <a:ea typeface="標楷體"/>
                <a:cs typeface="+mn-cs"/>
              </a:rPr>
              <a:t>人次。</a:t>
            </a:r>
            <a:endParaRPr kumimoji="0" lang="zh-TW" altLang="zh-TW" b="1" i="0" u="none" strike="noStrike" kern="100" cap="none" spc="0" normalizeH="0" baseline="0" noProof="0" dirty="0">
              <a:ln>
                <a:noFill/>
              </a:ln>
              <a:solidFill>
                <a:srgbClr val="000000"/>
              </a:solidFill>
              <a:effectLst/>
              <a:uLnTx/>
              <a:uFillTx/>
              <a:latin typeface="Times New Roman"/>
              <a:ea typeface="新細明體"/>
              <a:cs typeface="+mn-cs"/>
            </a:endParaRPr>
          </a:p>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b="1" i="0" u="none" strike="noStrike" kern="100" cap="none" spc="0" normalizeH="0" baseline="0" noProof="0" dirty="0">
                <a:ln>
                  <a:noFill/>
                </a:ln>
                <a:solidFill>
                  <a:srgbClr val="FF0000"/>
                </a:solidFill>
                <a:effectLst/>
                <a:uLnTx/>
                <a:uFillTx/>
                <a:latin typeface="Times New Roman"/>
                <a:ea typeface="標楷體"/>
                <a:cs typeface="+mn-cs"/>
              </a:rPr>
              <a:t>112</a:t>
            </a:r>
            <a:r>
              <a:rPr kumimoji="0" lang="zh-TW" altLang="en-US" b="1" i="0" u="none" strike="noStrike" kern="100" cap="none" spc="0" normalizeH="0" baseline="0" noProof="0" dirty="0">
                <a:ln>
                  <a:noFill/>
                </a:ln>
                <a:solidFill>
                  <a:srgbClr val="FF0000"/>
                </a:solidFill>
                <a:effectLst/>
                <a:uLnTx/>
                <a:uFillTx/>
                <a:latin typeface="Times New Roman"/>
                <a:ea typeface="標楷體"/>
                <a:cs typeface="+mn-cs"/>
              </a:rPr>
              <a:t>年</a:t>
            </a:r>
            <a:r>
              <a:rPr kumimoji="0" lang="zh-TW" altLang="zh-TW" b="1" i="0" u="none" strike="noStrike" kern="100" cap="none" spc="0" normalizeH="0" baseline="0" noProof="0" dirty="0">
                <a:ln>
                  <a:noFill/>
                </a:ln>
                <a:solidFill>
                  <a:srgbClr val="FF0000"/>
                </a:solidFill>
                <a:effectLst/>
                <a:uLnTx/>
                <a:uFillTx/>
                <a:latin typeface="Times New Roman"/>
                <a:ea typeface="標楷體"/>
                <a:cs typeface="+mn-cs"/>
              </a:rPr>
              <a:t>方案</a:t>
            </a:r>
            <a:r>
              <a:rPr kumimoji="0" lang="zh-TW" altLang="en-US" b="1" i="0" u="none" strike="noStrike" kern="100" cap="none" spc="0" normalizeH="0" baseline="0" noProof="0" dirty="0">
                <a:ln>
                  <a:noFill/>
                </a:ln>
                <a:solidFill>
                  <a:srgbClr val="FF0000"/>
                </a:solidFill>
                <a:effectLst/>
                <a:uLnTx/>
                <a:uFillTx/>
                <a:latin typeface="Times New Roman"/>
                <a:ea typeface="標楷體"/>
                <a:cs typeface="+mn-cs"/>
              </a:rPr>
              <a:t>六</a:t>
            </a:r>
            <a:r>
              <a:rPr kumimoji="0" lang="zh-TW" altLang="zh-TW" b="1"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en-US" b="1" i="0" u="none" strike="noStrike" kern="100" cap="none" spc="0" normalizeH="0" baseline="0" noProof="0" dirty="0">
                <a:ln>
                  <a:noFill/>
                </a:ln>
                <a:solidFill>
                  <a:srgbClr val="FF0000"/>
                </a:solidFill>
                <a:effectLst/>
                <a:uLnTx/>
                <a:uFillTx/>
                <a:latin typeface="Times New Roman"/>
                <a:ea typeface="標楷體"/>
                <a:cs typeface="+mn-cs"/>
              </a:rPr>
              <a:t>建立社會安全網</a:t>
            </a:r>
            <a:r>
              <a:rPr kumimoji="0" lang="zh-TW" altLang="en-US" b="1" i="0" u="none" strike="noStrike" kern="100" cap="none" spc="0" normalizeH="0" baseline="0" noProof="0" dirty="0">
                <a:ln>
                  <a:noFill/>
                </a:ln>
                <a:solidFill>
                  <a:srgbClr val="FF0000"/>
                </a:solidFill>
                <a:effectLst/>
                <a:uLnTx/>
                <a:uFillTx/>
                <a:latin typeface="PMingLiU" panose="02020500000000000000" pitchFamily="18" charset="-120"/>
                <a:ea typeface="PMingLiU" panose="02020500000000000000" pitchFamily="18" charset="-120"/>
                <a:cs typeface="+mn-cs"/>
              </a:rPr>
              <a:t>：</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	</a:t>
            </a:r>
            <a:endParaRPr kumimoji="0" lang="zh-TW" altLang="zh-TW" b="1" i="0" u="none" strike="noStrike" kern="100" cap="none" spc="0" normalizeH="0" baseline="0" noProof="0" dirty="0">
              <a:ln>
                <a:noFill/>
              </a:ln>
              <a:solidFill>
                <a:srgbClr val="000000"/>
              </a:solidFill>
              <a:effectLst/>
              <a:uLnTx/>
              <a:uFillTx/>
              <a:latin typeface="Times New Roman"/>
              <a:ea typeface="新細明體"/>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                    </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老年憂鬱症預防宣導課程：邀請南投衛生局免費授課，</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社區各</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次總</a:t>
            </a:r>
            <a:endParaRPr kumimoji="0" lang="en-US" altLang="zh-TW" b="1" i="0" u="none" strike="noStrike" kern="100" cap="none" spc="0" normalizeH="0" baseline="0" noProof="0" dirty="0">
              <a:ln>
                <a:noFill/>
              </a:ln>
              <a:solidFill>
                <a:srgbClr val="000000"/>
              </a:solidFill>
              <a:effectLst/>
              <a:uLnTx/>
              <a:uFillTx/>
              <a:latin typeface="Times New Roman"/>
              <a:ea typeface="標楷體"/>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                       計</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86</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人。</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                    </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家庭暴力防治宣導課程：邀請林燕菁授課，</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社區各</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次總計</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82</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人。</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                    </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毒品防治宣導課程：邀請林燕菁授課授課，</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社區各</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次總計</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89</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人。</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                    </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成立兒童儲蓄專帳宣導講座：邀請中州儲蓄互助社專職人員主講，在</a:t>
            </a:r>
            <a:endParaRPr kumimoji="0" lang="en-US" altLang="zh-TW" b="1" i="0" u="none" strike="noStrike" kern="100" cap="none" spc="0" normalizeH="0" baseline="0" noProof="0" dirty="0">
              <a:ln>
                <a:noFill/>
              </a:ln>
              <a:solidFill>
                <a:srgbClr val="000000"/>
              </a:solidFill>
              <a:effectLst/>
              <a:uLnTx/>
              <a:uFillTx/>
              <a:latin typeface="Times New Roman"/>
              <a:ea typeface="標楷體"/>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                      中州國小及社寮國小各辦理一場次，總計</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183</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人，經過兩次宣導，鼓勵</a:t>
            </a:r>
            <a:endParaRPr kumimoji="0" lang="en-US" altLang="zh-TW" b="1" i="0" u="none" strike="noStrike" kern="100" cap="none" spc="0" normalizeH="0" baseline="0" noProof="0" dirty="0">
              <a:ln>
                <a:noFill/>
              </a:ln>
              <a:solidFill>
                <a:srgbClr val="000000"/>
              </a:solidFill>
              <a:effectLst/>
              <a:uLnTx/>
              <a:uFillTx/>
              <a:latin typeface="Times New Roman"/>
              <a:ea typeface="標楷體"/>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b="1" kern="100" dirty="0">
                <a:solidFill>
                  <a:srgbClr val="000000"/>
                </a:solidFill>
                <a:latin typeface="Times New Roman"/>
                <a:ea typeface="標楷體"/>
              </a:rPr>
              <a:t>                       </a:t>
            </a:r>
            <a:r>
              <a:rPr kumimoji="0" lang="en-US" altLang="zh-TW" b="1" i="0" u="none" strike="noStrike" kern="100" cap="none" spc="0" normalizeH="0" baseline="0" noProof="0" dirty="0">
                <a:ln>
                  <a:noFill/>
                </a:ln>
                <a:solidFill>
                  <a:srgbClr val="000000"/>
                </a:solidFill>
                <a:effectLst/>
                <a:uLnTx/>
                <a:uFillTx/>
                <a:latin typeface="Times New Roman"/>
                <a:ea typeface="標楷體"/>
                <a:cs typeface="+mn-cs"/>
              </a:rPr>
              <a:t>52</a:t>
            </a:r>
            <a:r>
              <a:rPr kumimoji="0" lang="zh-TW" altLang="en-US" b="1" i="0" u="none" strike="noStrike" kern="100" cap="none" spc="0" normalizeH="0" baseline="0" noProof="0" dirty="0">
                <a:ln>
                  <a:noFill/>
                </a:ln>
                <a:solidFill>
                  <a:srgbClr val="000000"/>
                </a:solidFill>
                <a:effectLst/>
                <a:uLnTx/>
                <a:uFillTx/>
                <a:latin typeface="Times New Roman"/>
                <a:ea typeface="標楷體"/>
                <a:cs typeface="+mn-cs"/>
              </a:rPr>
              <a:t>個小朋友加入儲蓄專帳</a:t>
            </a:r>
            <a:r>
              <a:rPr kumimoji="0" lang="zh-TW" altLang="en-US" b="1" i="0" u="none" strike="noStrike" kern="1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t>
            </a:r>
            <a:endParaRPr kumimoji="0" lang="zh-TW" altLang="en-US" b="1" i="0" u="none" strike="noStrike" kern="100" cap="none" spc="0" normalizeH="0" baseline="0" noProof="0" dirty="0">
              <a:ln>
                <a:noFill/>
              </a:ln>
              <a:solidFill>
                <a:srgbClr val="000000"/>
              </a:solidFill>
              <a:effectLst/>
              <a:uLnTx/>
              <a:uFillTx/>
              <a:latin typeface="Times New Roman"/>
              <a:ea typeface="標楷體"/>
              <a:cs typeface="+mn-cs"/>
            </a:endParaRPr>
          </a:p>
          <a:p>
            <a:pPr marL="304800" marR="0" lvl="0" indent="0" algn="l" defTabSz="914400" rtl="0" eaLnBrk="1" fontAlgn="auto" latinLnBrk="0" hangingPunct="1">
              <a:lnSpc>
                <a:spcPct val="150000"/>
              </a:lnSpc>
              <a:spcBef>
                <a:spcPts val="0"/>
              </a:spcBef>
              <a:spcAft>
                <a:spcPts val="0"/>
              </a:spcAft>
              <a:buClrTx/>
              <a:buSzTx/>
              <a:buFontTx/>
              <a:buNone/>
              <a:tabLst/>
              <a:defRPr/>
            </a:pPr>
            <a:endParaRPr kumimoji="0" lang="zh-TW" altLang="zh-TW" sz="1600" b="1" i="0" u="none" strike="noStrike" kern="100" cap="none" spc="0" normalizeH="0" baseline="0" noProof="0" dirty="0">
              <a:ln>
                <a:noFill/>
              </a:ln>
              <a:solidFill>
                <a:srgbClr val="000000"/>
              </a:solidFill>
              <a:effectLst/>
              <a:uLnTx/>
              <a:uFillTx/>
              <a:latin typeface="Times New Roman"/>
              <a:ea typeface="新細明體"/>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TW" altLang="zh-TW" sz="1600" b="0" i="0" u="none" strike="noStrike" kern="100" cap="none" spc="0" normalizeH="0" baseline="0" noProof="0" dirty="0">
              <a:ln>
                <a:noFill/>
              </a:ln>
              <a:solidFill>
                <a:srgbClr val="024631"/>
              </a:solidFill>
              <a:effectLst/>
              <a:uLnTx/>
              <a:uFillTx/>
              <a:latin typeface="Times New Roman"/>
              <a:ea typeface="新細明體"/>
              <a:cs typeface="+mn-cs"/>
            </a:endParaRPr>
          </a:p>
        </p:txBody>
      </p:sp>
      <p:pic>
        <p:nvPicPr>
          <p:cNvPr id="13314" name="Picture 2">
            <a:extLst>
              <a:ext uri="{FF2B5EF4-FFF2-40B4-BE49-F238E27FC236}">
                <a16:creationId xmlns:a16="http://schemas.microsoft.com/office/drawing/2014/main" id="{65C5AF5F-51F0-480F-9A7E-0CBB56AF4B28}"/>
              </a:ext>
            </a:extLst>
          </p:cNvPr>
          <p:cNvPicPr>
            <a:picLocks noChangeAspect="1" noChangeArrowheads="1"/>
          </p:cNvPicPr>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bwMode="auto">
          <a:xfrm>
            <a:off x="47560" y="4951090"/>
            <a:ext cx="2481163" cy="1860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4">
            <a:extLst>
              <a:ext uri="{FF2B5EF4-FFF2-40B4-BE49-F238E27FC236}">
                <a16:creationId xmlns:a16="http://schemas.microsoft.com/office/drawing/2014/main" id="{BB6FAFE0-5841-4E25-9F1C-4C05AA2A04B8}"/>
              </a:ext>
            </a:extLst>
          </p:cNvPr>
          <p:cNvPicPr>
            <a:picLocks noChangeAspect="1" noChangeArrowheads="1"/>
          </p:cNvPicPr>
          <p:nvPr/>
        </p:nvPicPr>
        <p:blipFill>
          <a:blip r:embed="rId3" cstate="print">
            <a:lum bright="20000" contrast="20000"/>
            <a:extLst>
              <a:ext uri="{28A0092B-C50C-407E-A947-70E740481C1C}">
                <a14:useLocalDpi xmlns:a14="http://schemas.microsoft.com/office/drawing/2010/main" val="0"/>
              </a:ext>
            </a:extLst>
          </a:blip>
          <a:srcRect/>
          <a:stretch>
            <a:fillRect/>
          </a:stretch>
        </p:blipFill>
        <p:spPr bwMode="auto">
          <a:xfrm>
            <a:off x="4823640" y="4951090"/>
            <a:ext cx="2481163" cy="1864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5">
            <a:extLst>
              <a:ext uri="{FF2B5EF4-FFF2-40B4-BE49-F238E27FC236}">
                <a16:creationId xmlns:a16="http://schemas.microsoft.com/office/drawing/2014/main" id="{61380227-CF49-4550-B392-387534CD41D9}"/>
              </a:ext>
            </a:extLst>
          </p:cNvPr>
          <p:cNvPicPr>
            <a:picLocks noChangeAspect="1" noChangeArrowheads="1"/>
          </p:cNvPicPr>
          <p:nvPr/>
        </p:nvPicPr>
        <p:blipFill>
          <a:blip r:embed="rId4" cstate="print">
            <a:lum bright="20000" contrast="20000"/>
            <a:extLst>
              <a:ext uri="{28A0092B-C50C-407E-A947-70E740481C1C}">
                <a14:useLocalDpi xmlns:a14="http://schemas.microsoft.com/office/drawing/2010/main" val="0"/>
              </a:ext>
            </a:extLst>
          </a:blip>
          <a:srcRect/>
          <a:stretch>
            <a:fillRect/>
          </a:stretch>
        </p:blipFill>
        <p:spPr bwMode="auto">
          <a:xfrm>
            <a:off x="7304803" y="4823122"/>
            <a:ext cx="1988840" cy="1988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圖片 3">
            <a:extLst>
              <a:ext uri="{FF2B5EF4-FFF2-40B4-BE49-F238E27FC236}">
                <a16:creationId xmlns:a16="http://schemas.microsoft.com/office/drawing/2014/main" id="{AE17A978-6BA2-4379-948A-1CFA011319F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98638" y="4951090"/>
            <a:ext cx="2481162" cy="186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14916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200" dirty="0">
                <a:latin typeface="標楷體" pitchFamily="65" charset="-120"/>
                <a:ea typeface="標楷體" pitchFamily="65" charset="-120"/>
              </a:rPr>
              <a:t>五、方案內容</a:t>
            </a:r>
          </a:p>
        </p:txBody>
      </p:sp>
      <p:sp>
        <p:nvSpPr>
          <p:cNvPr id="3" name="內容版面配置區 2"/>
          <p:cNvSpPr>
            <a:spLocks noGrp="1"/>
          </p:cNvSpPr>
          <p:nvPr>
            <p:ph idx="1"/>
          </p:nvPr>
        </p:nvSpPr>
        <p:spPr>
          <a:xfrm>
            <a:off x="24705" y="836712"/>
            <a:ext cx="9430784" cy="1214264"/>
          </a:xfrm>
        </p:spPr>
        <p:txBody>
          <a:bodyPr/>
          <a:lstStyle/>
          <a:p>
            <a:pPr marL="0" indent="0">
              <a:buNone/>
            </a:pPr>
            <a:r>
              <a:rPr lang="en-US" altLang="zh-TW" sz="2500" b="1" dirty="0">
                <a:solidFill>
                  <a:srgbClr val="FF0000"/>
                </a:solidFill>
                <a:latin typeface="標楷體" pitchFamily="65" charset="-120"/>
                <a:ea typeface="標楷體" pitchFamily="65" charset="-120"/>
              </a:rPr>
              <a:t>113</a:t>
            </a:r>
            <a:r>
              <a:rPr lang="zh-TW" altLang="en-US" sz="2500" b="1" dirty="0">
                <a:solidFill>
                  <a:srgbClr val="FF0000"/>
                </a:solidFill>
                <a:latin typeface="標楷體" pitchFamily="65" charset="-120"/>
                <a:ea typeface="標楷體" pitchFamily="65" charset="-120"/>
              </a:rPr>
              <a:t>年方案五：夫妻溫度計 </a:t>
            </a:r>
            <a:r>
              <a:rPr lang="en-US" altLang="zh-TW" sz="2500" b="1" dirty="0">
                <a:solidFill>
                  <a:srgbClr val="FF0000"/>
                </a:solidFill>
                <a:latin typeface="標楷體" pitchFamily="65" charset="-120"/>
                <a:ea typeface="標楷體" pitchFamily="65" charset="-120"/>
              </a:rPr>
              <a:t>-</a:t>
            </a:r>
            <a:r>
              <a:rPr lang="zh-TW" altLang="en-US" sz="2500" b="1" dirty="0">
                <a:solidFill>
                  <a:srgbClr val="FF0000"/>
                </a:solidFill>
                <a:latin typeface="標楷體" pitchFamily="65" charset="-120"/>
                <a:ea typeface="標楷體" pitchFamily="65" charset="-120"/>
              </a:rPr>
              <a:t>幸福嗎？美滿嗎？</a:t>
            </a:r>
            <a:endParaRPr lang="en-US" altLang="zh-TW" sz="2500" b="1" dirty="0">
              <a:solidFill>
                <a:srgbClr val="FF0000"/>
              </a:solidFill>
              <a:latin typeface="標楷體" pitchFamily="65" charset="-120"/>
              <a:ea typeface="標楷體" pitchFamily="65" charset="-120"/>
            </a:endParaRPr>
          </a:p>
          <a:p>
            <a:pPr marL="0" indent="0">
              <a:buNone/>
            </a:pPr>
            <a:r>
              <a:rPr lang="zh-TW" altLang="en-US" sz="2400" b="1" dirty="0">
                <a:solidFill>
                  <a:schemeClr val="bg2">
                    <a:lumMod val="10000"/>
                  </a:schemeClr>
                </a:solidFill>
                <a:latin typeface="標楷體" pitchFamily="65" charset="-120"/>
                <a:ea typeface="標楷體" pitchFamily="65" charset="-120"/>
              </a:rPr>
              <a:t>計畫類型：■福利服務類</a:t>
            </a:r>
          </a:p>
        </p:txBody>
      </p:sp>
      <p:sp>
        <p:nvSpPr>
          <p:cNvPr id="4" name="矩形 3"/>
          <p:cNvSpPr/>
          <p:nvPr/>
        </p:nvSpPr>
        <p:spPr>
          <a:xfrm>
            <a:off x="611560" y="1916832"/>
            <a:ext cx="8064896" cy="230832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1"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根據內政部統計，老年離婚在台灣有逐步攀升的現象，婚齡三十年以上夫妻離異對數，近十年來增加約</a:t>
            </a:r>
            <a:r>
              <a:rPr kumimoji="0" lang="en-US" altLang="zh-TW" sz="2400" b="1"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12</a:t>
            </a:r>
            <a:r>
              <a:rPr kumimoji="0" lang="zh-TW" altLang="en-US" sz="2400" b="1"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％，是所有婚齡中最高。台灣的離婚率將近有</a:t>
            </a:r>
            <a:r>
              <a:rPr kumimoji="0" lang="en-US" altLang="zh-TW" sz="2400" b="1"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42%</a:t>
            </a:r>
            <a:r>
              <a:rPr kumimoji="0" lang="zh-TW" altLang="en-US" sz="2400" b="1" i="0" u="none" strike="noStrike" kern="1200" cap="none" spc="0" normalizeH="0" baseline="0" noProof="0" dirty="0">
                <a:ln>
                  <a:noFill/>
                </a:ln>
                <a:solidFill>
                  <a:srgbClr val="DDDDDD">
                    <a:lumMod val="10000"/>
                  </a:srgbClr>
                </a:solidFill>
                <a:effectLst/>
                <a:uLnTx/>
                <a:uFillTx/>
                <a:latin typeface="標楷體" pitchFamily="65" charset="-120"/>
                <a:ea typeface="標楷體" pitchFamily="65" charset="-120"/>
                <a:cs typeface="+mn-cs"/>
              </a:rPr>
              <a:t>，近年來年輕夫妻離婚率攀高，為了增加小旗艦社區中的已婚家庭夫妻間關係圓融，促進夫妻或是親密伴侶感情，增加夫妻了解度及日後相處的模式。</a:t>
            </a:r>
          </a:p>
        </p:txBody>
      </p:sp>
    </p:spTree>
    <p:extLst>
      <p:ext uri="{BB962C8B-B14F-4D97-AF65-F5344CB8AC3E}">
        <p14:creationId xmlns:p14="http://schemas.microsoft.com/office/powerpoint/2010/main" val="1467441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200" dirty="0">
                <a:solidFill>
                  <a:srgbClr val="FFFFFF"/>
                </a:solidFill>
                <a:latin typeface="標楷體" pitchFamily="65" charset="-120"/>
                <a:ea typeface="標楷體" pitchFamily="65" charset="-120"/>
              </a:rPr>
              <a:t>五、方案內容</a:t>
            </a:r>
            <a:endParaRPr lang="zh-TW" altLang="en-US" dirty="0"/>
          </a:p>
        </p:txBody>
      </p:sp>
      <p:sp>
        <p:nvSpPr>
          <p:cNvPr id="3" name="內容版面配置區 2"/>
          <p:cNvSpPr>
            <a:spLocks noGrp="1"/>
          </p:cNvSpPr>
          <p:nvPr>
            <p:ph idx="1"/>
          </p:nvPr>
        </p:nvSpPr>
        <p:spPr>
          <a:xfrm>
            <a:off x="-34248" y="836712"/>
            <a:ext cx="9358776" cy="1214264"/>
          </a:xfrm>
        </p:spPr>
        <p:txBody>
          <a:bodyPr/>
          <a:lstStyle/>
          <a:p>
            <a:pPr marL="0" indent="0">
              <a:buNone/>
            </a:pPr>
            <a:r>
              <a:rPr lang="zh-TW" altLang="en-US" sz="2500" b="1" dirty="0">
                <a:solidFill>
                  <a:srgbClr val="FF0000"/>
                </a:solidFill>
                <a:latin typeface="標楷體" pitchFamily="65" charset="-120"/>
                <a:ea typeface="標楷體" pitchFamily="65" charset="-120"/>
              </a:rPr>
              <a:t>    方案五：夫妻溫度計 </a:t>
            </a:r>
            <a:r>
              <a:rPr lang="en-US" altLang="zh-TW" sz="2500" b="1" dirty="0">
                <a:solidFill>
                  <a:srgbClr val="FF0000"/>
                </a:solidFill>
                <a:latin typeface="標楷體" pitchFamily="65" charset="-120"/>
                <a:ea typeface="標楷體" pitchFamily="65" charset="-120"/>
              </a:rPr>
              <a:t>-</a:t>
            </a:r>
            <a:r>
              <a:rPr lang="zh-TW" altLang="en-US" sz="2500" b="1" dirty="0">
                <a:solidFill>
                  <a:srgbClr val="FF0000"/>
                </a:solidFill>
                <a:latin typeface="標楷體" pitchFamily="65" charset="-120"/>
                <a:ea typeface="標楷體" pitchFamily="65" charset="-120"/>
              </a:rPr>
              <a:t>幸福嗎？美滿嗎？</a:t>
            </a:r>
          </a:p>
          <a:p>
            <a:pPr marL="0" indent="0" algn="ctr">
              <a:buNone/>
            </a:pPr>
            <a:r>
              <a:rPr lang="zh-TW" altLang="en-US" sz="2400" b="1" dirty="0">
                <a:solidFill>
                  <a:srgbClr val="C00000"/>
                </a:solidFill>
                <a:latin typeface="標楷體" pitchFamily="65" charset="-120"/>
                <a:ea typeface="標楷體" pitchFamily="65" charset="-120"/>
              </a:rPr>
              <a:t>計畫執行方式</a:t>
            </a:r>
          </a:p>
        </p:txBody>
      </p:sp>
      <p:sp>
        <p:nvSpPr>
          <p:cNvPr id="4" name="矩形 3"/>
          <p:cNvSpPr/>
          <p:nvPr/>
        </p:nvSpPr>
        <p:spPr>
          <a:xfrm>
            <a:off x="236672" y="1772816"/>
            <a:ext cx="8568952" cy="2243371"/>
          </a:xfrm>
          <a:prstGeom prst="rect">
            <a:avLst/>
          </a:prstGeom>
        </p:spPr>
        <p:txBody>
          <a:bodyPr wrap="square">
            <a:spAutoFit/>
          </a:bodyPr>
          <a:lstStyle/>
          <a:p>
            <a:pPr marL="495300" marR="0" lvl="0" indent="-495300" algn="l" defTabSz="914400" rtl="0" eaLnBrk="1" fontAlgn="auto" latinLnBrk="0" hangingPunct="1">
              <a:lnSpc>
                <a:spcPct val="150000"/>
              </a:lnSpc>
              <a:spcBef>
                <a:spcPts val="0"/>
              </a:spcBef>
              <a:spcAft>
                <a:spcPts val="0"/>
              </a:spcAft>
              <a:buClrTx/>
              <a:buSzTx/>
              <a:buFontTx/>
              <a:buNone/>
              <a:tabLst/>
              <a:defRPr/>
            </a:pPr>
            <a:r>
              <a:rPr kumimoji="0" lang="en-US"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 1</a:t>
            </a:r>
            <a:r>
              <a:rPr kumimoji="0" lang="zh-TW" altLang="en-US"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zh-TW"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在小旗艦</a:t>
            </a:r>
            <a:r>
              <a:rPr kumimoji="0" lang="en-US"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4</a:t>
            </a:r>
            <a:r>
              <a:rPr kumimoji="0" lang="zh-TW"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社區各辦理一場夫妻關係增進活動，總計</a:t>
            </a:r>
            <a:r>
              <a:rPr kumimoji="0" lang="en-US"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4</a:t>
            </a:r>
            <a:r>
              <a:rPr kumimoji="0" lang="zh-TW"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場次。</a:t>
            </a:r>
            <a:endParaRPr kumimoji="0" lang="zh-TW" altLang="zh-TW" sz="2000" b="1"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a:p>
            <a:pPr marL="495300" marR="0" lvl="0" indent="-495300" algn="l" defTabSz="914400" rtl="0" eaLnBrk="1" fontAlgn="auto" latinLnBrk="0" hangingPunct="1">
              <a:lnSpc>
                <a:spcPct val="150000"/>
              </a:lnSpc>
              <a:spcBef>
                <a:spcPts val="0"/>
              </a:spcBef>
              <a:spcAft>
                <a:spcPts val="0"/>
              </a:spcAft>
              <a:buClrTx/>
              <a:buSzTx/>
              <a:buFontTx/>
              <a:buNone/>
              <a:tabLst/>
              <a:defRPr/>
            </a:pPr>
            <a:r>
              <a:rPr kumimoji="0" lang="en-US"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 2</a:t>
            </a:r>
            <a:r>
              <a:rPr kumimoji="0" lang="zh-TW" altLang="en-US"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zh-TW"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辦理第四次時將活動場地布置溫馨茶會模式，邀請老師帶入團體帶領，我們希望營造浪漫的氛圍讓夫妻、親子等一起參加，增加家庭間的和諧，夫妻的感情。</a:t>
            </a:r>
            <a:endParaRPr kumimoji="0" lang="zh-TW" altLang="en-US" sz="2200" b="1" i="0" u="none" strike="noStrike" kern="100" cap="none" spc="0" normalizeH="0" baseline="0" noProof="0" dirty="0">
              <a:ln>
                <a:noFill/>
              </a:ln>
              <a:solidFill>
                <a:srgbClr val="000000"/>
              </a:solidFill>
              <a:effectLst/>
              <a:uLnTx/>
              <a:uFillTx/>
              <a:latin typeface="標楷體" pitchFamily="65" charset="-120"/>
              <a:ea typeface="標楷體" pitchFamily="65" charset="-120"/>
              <a:cs typeface="+mn-cs"/>
            </a:endParaRPr>
          </a:p>
        </p:txBody>
      </p:sp>
    </p:spTree>
    <p:extLst>
      <p:ext uri="{BB962C8B-B14F-4D97-AF65-F5344CB8AC3E}">
        <p14:creationId xmlns:p14="http://schemas.microsoft.com/office/powerpoint/2010/main" val="33135871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1115616" y="112921"/>
            <a:ext cx="9144000" cy="792088"/>
          </a:xfrm>
        </p:spPr>
        <p:txBody>
          <a:bodyPr/>
          <a:lstStyle/>
          <a:p>
            <a:pPr marL="0" indent="0">
              <a:buNone/>
            </a:pPr>
            <a:r>
              <a:rPr lang="zh-TW" altLang="en-US" sz="2500" b="1" dirty="0">
                <a:solidFill>
                  <a:schemeClr val="bg1"/>
                </a:solidFill>
                <a:latin typeface="標楷體" pitchFamily="65" charset="-120"/>
                <a:ea typeface="標楷體" pitchFamily="65" charset="-120"/>
              </a:rPr>
              <a:t>方案五：夫妻溫度計 </a:t>
            </a:r>
            <a:r>
              <a:rPr lang="en-US" altLang="zh-TW" sz="2500" b="1" dirty="0">
                <a:solidFill>
                  <a:schemeClr val="bg1"/>
                </a:solidFill>
                <a:latin typeface="標楷體" pitchFamily="65" charset="-120"/>
                <a:ea typeface="標楷體" pitchFamily="65" charset="-120"/>
              </a:rPr>
              <a:t>-</a:t>
            </a:r>
            <a:r>
              <a:rPr lang="zh-TW" altLang="en-US" sz="2500" b="1" dirty="0">
                <a:solidFill>
                  <a:schemeClr val="bg1"/>
                </a:solidFill>
                <a:latin typeface="標楷體" pitchFamily="65" charset="-120"/>
                <a:ea typeface="標楷體" pitchFamily="65" charset="-120"/>
              </a:rPr>
              <a:t>幸福嗎？美滿嗎？</a:t>
            </a:r>
            <a:endParaRPr lang="en-US" altLang="zh-TW" sz="2400" b="1" dirty="0">
              <a:solidFill>
                <a:schemeClr val="bg1"/>
              </a:solidFill>
              <a:latin typeface="標楷體" pitchFamily="65" charset="-120"/>
              <a:ea typeface="標楷體" pitchFamily="65" charset="-120"/>
            </a:endParaRPr>
          </a:p>
          <a:p>
            <a:pPr marL="0" indent="0">
              <a:buNone/>
            </a:pPr>
            <a:r>
              <a:rPr lang="zh-TW" altLang="en-US" sz="2400" b="1" dirty="0">
                <a:solidFill>
                  <a:schemeClr val="bg1"/>
                </a:solidFill>
                <a:latin typeface="標楷體" pitchFamily="65" charset="-120"/>
                <a:ea typeface="標楷體" pitchFamily="65" charset="-120"/>
              </a:rPr>
              <a:t>            </a:t>
            </a:r>
            <a:r>
              <a:rPr lang="zh-TW" altLang="en-US" sz="2400" b="1" dirty="0">
                <a:solidFill>
                  <a:srgbClr val="C00000"/>
                </a:solidFill>
                <a:latin typeface="標楷體" pitchFamily="65" charset="-120"/>
                <a:ea typeface="標楷體" pitchFamily="65" charset="-120"/>
              </a:rPr>
              <a:t>執行方式</a:t>
            </a:r>
            <a:r>
              <a:rPr lang="en-US" altLang="zh-TW" sz="2400" b="1" dirty="0">
                <a:solidFill>
                  <a:srgbClr val="C00000"/>
                </a:solidFill>
                <a:latin typeface="標楷體" pitchFamily="65" charset="-120"/>
                <a:ea typeface="標楷體" pitchFamily="65" charset="-120"/>
              </a:rPr>
              <a:t>--</a:t>
            </a:r>
            <a:r>
              <a:rPr lang="zh-TW" altLang="en-US" sz="2400" b="1" dirty="0">
                <a:solidFill>
                  <a:srgbClr val="C00000"/>
                </a:solidFill>
                <a:latin typeface="標楷體" pitchFamily="65" charset="-120"/>
                <a:ea typeface="標楷體" pitchFamily="65" charset="-120"/>
              </a:rPr>
              <a:t>課程研習</a:t>
            </a:r>
          </a:p>
        </p:txBody>
      </p:sp>
      <p:graphicFrame>
        <p:nvGraphicFramePr>
          <p:cNvPr id="4" name="表格 3">
            <a:extLst>
              <a:ext uri="{FF2B5EF4-FFF2-40B4-BE49-F238E27FC236}">
                <a16:creationId xmlns:a16="http://schemas.microsoft.com/office/drawing/2014/main" id="{A328717B-A0A6-47F4-9089-83E6B4E52690}"/>
              </a:ext>
            </a:extLst>
          </p:cNvPr>
          <p:cNvGraphicFramePr>
            <a:graphicFrameLocks noGrp="1"/>
          </p:cNvGraphicFramePr>
          <p:nvPr/>
        </p:nvGraphicFramePr>
        <p:xfrm>
          <a:off x="539552" y="1916832"/>
          <a:ext cx="7632848" cy="3250911"/>
        </p:xfrm>
        <a:graphic>
          <a:graphicData uri="http://schemas.openxmlformats.org/drawingml/2006/table">
            <a:tbl>
              <a:tblPr firstRow="1" firstCol="1" lastRow="1" lastCol="1" bandRow="1" bandCol="1"/>
              <a:tblGrid>
                <a:gridCol w="451382">
                  <a:extLst>
                    <a:ext uri="{9D8B030D-6E8A-4147-A177-3AD203B41FA5}">
                      <a16:colId xmlns:a16="http://schemas.microsoft.com/office/drawing/2014/main" val="4006159571"/>
                    </a:ext>
                  </a:extLst>
                </a:gridCol>
                <a:gridCol w="2845205">
                  <a:extLst>
                    <a:ext uri="{9D8B030D-6E8A-4147-A177-3AD203B41FA5}">
                      <a16:colId xmlns:a16="http://schemas.microsoft.com/office/drawing/2014/main" val="3865842026"/>
                    </a:ext>
                  </a:extLst>
                </a:gridCol>
                <a:gridCol w="1295236">
                  <a:extLst>
                    <a:ext uri="{9D8B030D-6E8A-4147-A177-3AD203B41FA5}">
                      <a16:colId xmlns:a16="http://schemas.microsoft.com/office/drawing/2014/main" val="3353529368"/>
                    </a:ext>
                  </a:extLst>
                </a:gridCol>
                <a:gridCol w="1174922">
                  <a:extLst>
                    <a:ext uri="{9D8B030D-6E8A-4147-A177-3AD203B41FA5}">
                      <a16:colId xmlns:a16="http://schemas.microsoft.com/office/drawing/2014/main" val="2527099574"/>
                    </a:ext>
                  </a:extLst>
                </a:gridCol>
                <a:gridCol w="824770">
                  <a:extLst>
                    <a:ext uri="{9D8B030D-6E8A-4147-A177-3AD203B41FA5}">
                      <a16:colId xmlns:a16="http://schemas.microsoft.com/office/drawing/2014/main" val="1407486205"/>
                    </a:ext>
                  </a:extLst>
                </a:gridCol>
                <a:gridCol w="1041333">
                  <a:extLst>
                    <a:ext uri="{9D8B030D-6E8A-4147-A177-3AD203B41FA5}">
                      <a16:colId xmlns:a16="http://schemas.microsoft.com/office/drawing/2014/main" val="1654808256"/>
                    </a:ext>
                  </a:extLst>
                </a:gridCol>
              </a:tblGrid>
              <a:tr h="787044">
                <a:tc>
                  <a:txBody>
                    <a:bodyPr/>
                    <a:lstStyle/>
                    <a:p>
                      <a:pPr marL="66675" algn="l">
                        <a:spcBef>
                          <a:spcPts val="355"/>
                        </a:spcBef>
                        <a:spcAft>
                          <a:spcPts val="0"/>
                        </a:spcAft>
                      </a:pPr>
                      <a:r>
                        <a:rPr lang="en-US" sz="1600" kern="0" spc="-55" dirty="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次</a:t>
                      </a:r>
                      <a:endParaRPr lang="zh-TW" sz="1600" kern="10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0" algn="l">
                        <a:spcBef>
                          <a:spcPts val="355"/>
                        </a:spcBef>
                        <a:spcAft>
                          <a:spcPts val="0"/>
                        </a:spcAft>
                      </a:pPr>
                      <a:r>
                        <a:rPr lang="zh-TW" sz="1600" kern="0" spc="-10" dirty="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夫妻溫度計</a:t>
                      </a:r>
                      <a:r>
                        <a:rPr lang="en-US" sz="1600" kern="0" spc="-10" dirty="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 -</a:t>
                      </a:r>
                      <a:r>
                        <a:rPr lang="zh-TW" sz="1600" kern="0" spc="-10" dirty="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幸福嗎？美滿嗎？</a:t>
                      </a:r>
                      <a:endParaRPr lang="zh-TW" sz="1600" kern="10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2250" algn="l">
                        <a:spcBef>
                          <a:spcPts val="355"/>
                        </a:spcBef>
                        <a:spcAft>
                          <a:spcPts val="0"/>
                        </a:spcAft>
                      </a:pPr>
                      <a:r>
                        <a:rPr lang="en-US" sz="1600" kern="0" spc="-25">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講師</a:t>
                      </a:r>
                      <a:endParaRPr lang="zh-TW" sz="1600" kern="10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2230" algn="l">
                        <a:spcBef>
                          <a:spcPts val="355"/>
                        </a:spcBef>
                        <a:spcAft>
                          <a:spcPts val="0"/>
                        </a:spcAft>
                      </a:pPr>
                      <a:r>
                        <a:rPr lang="en-US" sz="1600" kern="0" spc="-2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學經歷</a:t>
                      </a:r>
                      <a:endParaRPr lang="zh-TW" sz="1600" kern="10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2230" algn="l">
                        <a:spcBef>
                          <a:spcPts val="355"/>
                        </a:spcBef>
                        <a:spcAft>
                          <a:spcPts val="0"/>
                        </a:spcAft>
                      </a:pPr>
                      <a:r>
                        <a:rPr lang="en-US" sz="1600" kern="0" spc="-15">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內</a:t>
                      </a:r>
                      <a:r>
                        <a:rPr lang="en-US" sz="1600" kern="0" spc="-5">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a:t>
                      </a:r>
                      <a:r>
                        <a:rPr lang="en-US" sz="1600" kern="0" spc="-15">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外聘</a:t>
                      </a:r>
                      <a:endParaRPr lang="zh-TW" sz="1600" kern="10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2230" algn="l">
                        <a:spcBef>
                          <a:spcPts val="355"/>
                        </a:spcBef>
                        <a:spcAft>
                          <a:spcPts val="0"/>
                        </a:spcAft>
                      </a:pPr>
                      <a:r>
                        <a:rPr lang="en-US" sz="1600" kern="0" spc="-3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對象</a:t>
                      </a:r>
                      <a:endParaRPr lang="zh-TW" sz="1600" kern="10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1105127"/>
                  </a:ext>
                </a:extLst>
              </a:tr>
              <a:tr h="673299">
                <a:tc>
                  <a:txBody>
                    <a:bodyPr/>
                    <a:lstStyle/>
                    <a:p>
                      <a:pPr marL="66675" algn="l">
                        <a:spcBef>
                          <a:spcPts val="355"/>
                        </a:spcBef>
                        <a:spcAft>
                          <a:spcPts val="0"/>
                        </a:spcAft>
                      </a:pPr>
                      <a:r>
                        <a:rPr lang="en-US" sz="1600" kern="0" spc="-6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1</a:t>
                      </a:r>
                      <a:endParaRPr lang="zh-TW" sz="1600" kern="10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TW" sz="1600" kern="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親密溝通</a:t>
                      </a:r>
                      <a:r>
                        <a:rPr lang="en-US" sz="1600" kern="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a:t>
                      </a:r>
                      <a:r>
                        <a:rPr lang="zh-TW" sz="1600" kern="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兩人世界</a:t>
                      </a:r>
                      <a:endParaRPr lang="zh-TW" sz="1600" kern="10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l">
                        <a:spcAft>
                          <a:spcPts val="0"/>
                        </a:spcAft>
                      </a:pPr>
                      <a:r>
                        <a:rPr lang="zh-TW" sz="1600" kern="10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暫定張英陣教授</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l">
                        <a:spcAft>
                          <a:spcPts val="0"/>
                        </a:spcAft>
                      </a:pPr>
                      <a:r>
                        <a:rPr lang="zh-TW" sz="1600" kern="10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亞洲大學教授</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l">
                        <a:spcAft>
                          <a:spcPts val="0"/>
                        </a:spcAft>
                      </a:pPr>
                      <a:r>
                        <a:rPr lang="en-US" sz="1600" kern="0" spc="-25">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外聘</a:t>
                      </a:r>
                      <a:endParaRPr lang="zh-TW" sz="1600" kern="10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marL="62230" marR="76200" algn="l">
                        <a:lnSpc>
                          <a:spcPct val="109000"/>
                        </a:lnSpc>
                        <a:spcBef>
                          <a:spcPts val="355"/>
                        </a:spcBef>
                        <a:spcAft>
                          <a:spcPts val="0"/>
                        </a:spcAft>
                      </a:pPr>
                      <a:r>
                        <a:rPr lang="en-US" sz="1600" kern="0" spc="15">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4</a:t>
                      </a:r>
                      <a:r>
                        <a:rPr lang="zh-TW" sz="1600" kern="0" spc="4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個小旗</a:t>
                      </a:r>
                      <a:r>
                        <a:rPr lang="zh-TW" sz="1600" kern="0" spc="-14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艦</a:t>
                      </a:r>
                      <a:r>
                        <a:rPr lang="zh-TW" sz="1600" kern="0" spc="-65">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 </a:t>
                      </a:r>
                      <a:r>
                        <a:rPr lang="zh-TW" sz="1600" kern="0" spc="-14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社區夫妻</a:t>
                      </a:r>
                      <a:endParaRPr lang="zh-TW" sz="1600" kern="10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5493175"/>
                  </a:ext>
                </a:extLst>
              </a:tr>
              <a:tr h="543041">
                <a:tc>
                  <a:txBody>
                    <a:bodyPr/>
                    <a:lstStyle/>
                    <a:p>
                      <a:pPr marL="66675" algn="l">
                        <a:spcBef>
                          <a:spcPts val="355"/>
                        </a:spcBef>
                        <a:spcAft>
                          <a:spcPts val="0"/>
                        </a:spcAft>
                      </a:pPr>
                      <a:r>
                        <a:rPr lang="en-US" sz="1600" kern="0" spc="-6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2</a:t>
                      </a:r>
                      <a:endParaRPr lang="zh-TW" sz="1600" kern="10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TW" sz="1600" kern="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親子互動</a:t>
                      </a:r>
                      <a:r>
                        <a:rPr lang="en-US" sz="1600" kern="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a:t>
                      </a:r>
                      <a:r>
                        <a:rPr lang="zh-TW" sz="1600" kern="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你我他</a:t>
                      </a:r>
                      <a:endParaRPr lang="zh-TW" sz="1600" kern="10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218893636"/>
                  </a:ext>
                </a:extLst>
              </a:tr>
              <a:tr h="543041">
                <a:tc>
                  <a:txBody>
                    <a:bodyPr/>
                    <a:lstStyle/>
                    <a:p>
                      <a:pPr marL="66675" algn="l">
                        <a:spcBef>
                          <a:spcPts val="355"/>
                        </a:spcBef>
                        <a:spcAft>
                          <a:spcPts val="0"/>
                        </a:spcAft>
                      </a:pPr>
                      <a:r>
                        <a:rPr lang="en-US" sz="1600" kern="0" spc="-6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3</a:t>
                      </a:r>
                      <a:endParaRPr lang="zh-TW" sz="1600" kern="10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TW" sz="1600" kern="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理財規劃</a:t>
                      </a:r>
                      <a:r>
                        <a:rPr lang="en-US" sz="1600" kern="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a:t>
                      </a:r>
                      <a:r>
                        <a:rPr lang="zh-TW" sz="1600" kern="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愛情和麵包 </a:t>
                      </a:r>
                      <a:endParaRPr lang="zh-TW" sz="1600" kern="10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877873506"/>
                  </a:ext>
                </a:extLst>
              </a:tr>
              <a:tr h="704486">
                <a:tc>
                  <a:txBody>
                    <a:bodyPr/>
                    <a:lstStyle/>
                    <a:p>
                      <a:pPr marL="66675" algn="l">
                        <a:spcBef>
                          <a:spcPts val="355"/>
                        </a:spcBef>
                        <a:spcAft>
                          <a:spcPts val="0"/>
                        </a:spcAft>
                      </a:pPr>
                      <a:r>
                        <a:rPr lang="en-US" sz="1600" kern="0" spc="-60">
                          <a:solidFill>
                            <a:schemeClr val="bg2">
                              <a:lumMod val="10000"/>
                            </a:schemeClr>
                          </a:solidFill>
                          <a:effectLst/>
                          <a:latin typeface="標楷體" panose="03000509000000000000" pitchFamily="65" charset="-120"/>
                          <a:ea typeface="標楷體" panose="03000509000000000000" pitchFamily="65" charset="-120"/>
                          <a:cs typeface="SimSun" panose="02010600030101010101" pitchFamily="2" charset="-122"/>
                        </a:rPr>
                        <a:t>4</a:t>
                      </a:r>
                      <a:endParaRPr lang="zh-TW" sz="1600" kern="10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TW" sz="1600" kern="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家庭懇談</a:t>
                      </a:r>
                      <a:r>
                        <a:rPr lang="en-US" sz="1600" kern="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a:t>
                      </a:r>
                      <a:r>
                        <a:rPr lang="zh-TW" sz="1600" kern="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rPr>
                        <a:t>營造浪漫的氛圍</a:t>
                      </a:r>
                      <a:endParaRPr lang="zh-TW" sz="1600" kern="100" dirty="0">
                        <a:solidFill>
                          <a:schemeClr val="bg2">
                            <a:lumMod val="10000"/>
                          </a:schemeClr>
                        </a:solidFill>
                        <a:effectLst/>
                        <a:latin typeface="標楷體" panose="03000509000000000000" pitchFamily="65" charset="-120"/>
                        <a:ea typeface="標楷體" panose="03000509000000000000" pitchFamily="65"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968686600"/>
                  </a:ext>
                </a:extLst>
              </a:tr>
            </a:tbl>
          </a:graphicData>
        </a:graphic>
      </p:graphicFrame>
    </p:spTree>
    <p:extLst>
      <p:ext uri="{BB962C8B-B14F-4D97-AF65-F5344CB8AC3E}">
        <p14:creationId xmlns:p14="http://schemas.microsoft.com/office/powerpoint/2010/main" val="174827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200" dirty="0">
                <a:solidFill>
                  <a:srgbClr val="FFFFFF"/>
                </a:solidFill>
                <a:latin typeface="標楷體" pitchFamily="65" charset="-120"/>
                <a:ea typeface="標楷體" pitchFamily="65" charset="-120"/>
              </a:rPr>
              <a:t>五、方案內容</a:t>
            </a:r>
            <a:endParaRPr lang="zh-TW" altLang="en-US" dirty="0"/>
          </a:p>
        </p:txBody>
      </p:sp>
      <p:sp>
        <p:nvSpPr>
          <p:cNvPr id="3" name="內容版面配置區 2"/>
          <p:cNvSpPr>
            <a:spLocks noGrp="1"/>
          </p:cNvSpPr>
          <p:nvPr>
            <p:ph idx="1"/>
          </p:nvPr>
        </p:nvSpPr>
        <p:spPr>
          <a:xfrm>
            <a:off x="1619672" y="728595"/>
            <a:ext cx="9070744" cy="1214264"/>
          </a:xfrm>
        </p:spPr>
        <p:txBody>
          <a:bodyPr/>
          <a:lstStyle/>
          <a:p>
            <a:pPr marL="0" indent="0">
              <a:buNone/>
            </a:pPr>
            <a:r>
              <a:rPr lang="en-US" altLang="zh-TW" sz="2500" b="1" dirty="0">
                <a:solidFill>
                  <a:srgbClr val="FF0000"/>
                </a:solidFill>
                <a:latin typeface="標楷體" pitchFamily="65" charset="-120"/>
                <a:ea typeface="標楷體" pitchFamily="65" charset="-120"/>
              </a:rPr>
              <a:t>113</a:t>
            </a:r>
            <a:r>
              <a:rPr lang="zh-TW" altLang="en-US" sz="2500" b="1" dirty="0">
                <a:solidFill>
                  <a:srgbClr val="FF0000"/>
                </a:solidFill>
                <a:latin typeface="標楷體" pitchFamily="65" charset="-120"/>
                <a:ea typeface="標楷體" pitchFamily="65" charset="-120"/>
              </a:rPr>
              <a:t>年方案七：強化社會安全網</a:t>
            </a:r>
            <a:r>
              <a:rPr lang="en-US" altLang="zh-TW" sz="2500" b="1" dirty="0">
                <a:solidFill>
                  <a:srgbClr val="FF0000"/>
                </a:solidFill>
                <a:latin typeface="標楷體" pitchFamily="65" charset="-120"/>
                <a:ea typeface="標楷體" pitchFamily="65" charset="-120"/>
              </a:rPr>
              <a:t>-</a:t>
            </a:r>
          </a:p>
          <a:p>
            <a:pPr marL="0" indent="0">
              <a:buNone/>
            </a:pPr>
            <a:r>
              <a:rPr lang="zh-TW" altLang="en-US" sz="2500" b="1" dirty="0">
                <a:solidFill>
                  <a:srgbClr val="FF0000"/>
                </a:solidFill>
                <a:latin typeface="標楷體" pitchFamily="65" charset="-120"/>
                <a:ea typeface="標楷體" pitchFamily="65" charset="-120"/>
              </a:rPr>
              <a:t>建立兒童安全及脫貧自立服務方案</a:t>
            </a:r>
            <a:endParaRPr lang="en-US" altLang="zh-TW" sz="2500" b="1" dirty="0">
              <a:solidFill>
                <a:srgbClr val="FF0000"/>
              </a:solidFill>
              <a:latin typeface="標楷體" pitchFamily="65" charset="-120"/>
              <a:ea typeface="標楷體" pitchFamily="65" charset="-120"/>
            </a:endParaRPr>
          </a:p>
          <a:p>
            <a:pPr marL="0" lvl="0" indent="0">
              <a:buClr>
                <a:srgbClr val="69AAB1"/>
              </a:buClr>
              <a:buNone/>
            </a:pPr>
            <a:r>
              <a:rPr lang="zh-TW" altLang="en-US" sz="2400" b="1" dirty="0">
                <a:solidFill>
                  <a:srgbClr val="DDDDDD">
                    <a:lumMod val="10000"/>
                  </a:srgbClr>
                </a:solidFill>
                <a:latin typeface="標楷體" pitchFamily="65" charset="-120"/>
                <a:ea typeface="標楷體" pitchFamily="65" charset="-120"/>
              </a:rPr>
              <a:t>        計畫類型：■福利服務類</a:t>
            </a:r>
          </a:p>
          <a:p>
            <a:pPr marL="0" indent="0">
              <a:buNone/>
            </a:pPr>
            <a:endParaRPr lang="zh-TW" altLang="en-US" sz="2400" b="1" dirty="0">
              <a:solidFill>
                <a:schemeClr val="bg2">
                  <a:lumMod val="10000"/>
                </a:schemeClr>
              </a:solidFill>
              <a:latin typeface="標楷體" pitchFamily="65" charset="-120"/>
              <a:ea typeface="標楷體" pitchFamily="65" charset="-120"/>
            </a:endParaRPr>
          </a:p>
        </p:txBody>
      </p:sp>
      <p:sp>
        <p:nvSpPr>
          <p:cNvPr id="6" name="矩形 5"/>
          <p:cNvSpPr/>
          <p:nvPr/>
        </p:nvSpPr>
        <p:spPr>
          <a:xfrm>
            <a:off x="-37986" y="2050976"/>
            <a:ext cx="8496944" cy="4370427"/>
          </a:xfrm>
          <a:prstGeom prst="rect">
            <a:avLst/>
          </a:prstGeom>
        </p:spPr>
        <p:txBody>
          <a:bodyPr wrap="square">
            <a:spAutoFit/>
          </a:bodyPr>
          <a:lstStyle/>
          <a:p>
            <a:pPr marL="538480" marR="0" lvl="0" indent="-234950" algn="l" defTabSz="914400" rtl="0" eaLnBrk="1" fontAlgn="auto" latinLnBrk="0" hangingPunct="1">
              <a:lnSpc>
                <a:spcPct val="100000"/>
              </a:lnSpc>
              <a:spcBef>
                <a:spcPts val="0"/>
              </a:spcBef>
              <a:spcAft>
                <a:spcPts val="0"/>
              </a:spcAft>
              <a:buClrTx/>
              <a:buSzTx/>
              <a:buFontTx/>
              <a:buNone/>
              <a:tabLst/>
              <a:defRPr/>
            </a:pP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  </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、成立兒童儲蓄專帳：</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112</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年由本社區與鄰近中州儲蓄互助社合作，邀請儲蓄互助社專職人員在中州國小及社寮國小宣導儲蓄互助社業務及儲蓄概念，透過宣講活動鼓勵小朋友儲蓄，社區並與儲蓄互助社合作為</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社區兒少開帳戶，先以小額存款為主，小朋友每個月存多少錢由小朋友和家長協議，富州社區則以產業收入協助幫每人存</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50</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元，鼓勵小朋友儲蓄。</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112</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年總計幫助</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52</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位學童建立儲蓄概念及在中州儲蓄互助社開戶存款。</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113</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年我們希望持續辦理，並以協助</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30</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位弱勢兒童為主，持續在儲蓄互助社成立兒童專帳。社區持續每個月補助每位小朋友至國中三年級為止。</a:t>
            </a:r>
          </a:p>
          <a:p>
            <a:pPr marL="538480" marR="0" lvl="0" indent="-234950" algn="l" defTabSz="914400" rtl="0" eaLnBrk="1" fontAlgn="auto" latinLnBrk="0" hangingPunct="1">
              <a:lnSpc>
                <a:spcPct val="100000"/>
              </a:lnSpc>
              <a:spcBef>
                <a:spcPts val="0"/>
              </a:spcBef>
              <a:spcAft>
                <a:spcPts val="0"/>
              </a:spcAft>
              <a:buClrTx/>
              <a:buSzTx/>
              <a:buFontTx/>
              <a:buNone/>
              <a:tabLst/>
              <a:defRPr/>
            </a:pP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   </a:t>
            </a:r>
            <a:r>
              <a:rPr kumimoji="0" lang="en-US" altLang="zh-TW" sz="1800" b="1" i="0" u="none" strike="noStrike" kern="100" cap="none" spc="0" normalizeH="0" baseline="0" noProof="0" dirty="0">
                <a:ln>
                  <a:noFill/>
                </a:ln>
                <a:solidFill>
                  <a:srgbClr val="C00000"/>
                </a:solidFill>
                <a:effectLst/>
                <a:uLnTx/>
                <a:uFillTx/>
                <a:latin typeface="Times New Roman"/>
                <a:ea typeface="標楷體"/>
                <a:cs typeface="+mn-cs"/>
              </a:rPr>
              <a:t>2</a:t>
            </a:r>
            <a:r>
              <a:rPr kumimoji="0" lang="zh-TW" altLang="en-US" sz="1800" b="1" i="0" u="none" strike="noStrike" kern="100" cap="none" spc="0" normalizeH="0" baseline="0" noProof="0" dirty="0">
                <a:ln>
                  <a:noFill/>
                </a:ln>
                <a:solidFill>
                  <a:srgbClr val="C00000"/>
                </a:solidFill>
                <a:effectLst/>
                <a:uLnTx/>
                <a:uFillTx/>
                <a:latin typeface="Times New Roman"/>
                <a:ea typeface="標楷體"/>
                <a:cs typeface="+mn-cs"/>
              </a:rPr>
              <a:t>、邀請講師辦理兒少理財講座及網路安全宣導講座各一場，由</a:t>
            </a:r>
            <a:r>
              <a:rPr kumimoji="0" lang="en-US" altLang="zh-TW" sz="1800" b="1" i="0" u="none" strike="noStrike" kern="100" cap="none" spc="0" normalizeH="0" baseline="0" noProof="0" dirty="0">
                <a:ln>
                  <a:noFill/>
                </a:ln>
                <a:solidFill>
                  <a:srgbClr val="C00000"/>
                </a:solidFill>
                <a:effectLst/>
                <a:uLnTx/>
                <a:uFillTx/>
                <a:latin typeface="Times New Roman"/>
                <a:ea typeface="標楷體"/>
                <a:cs typeface="+mn-cs"/>
              </a:rPr>
              <a:t>4</a:t>
            </a:r>
            <a:r>
              <a:rPr kumimoji="0" lang="zh-TW" altLang="en-US" sz="1800" b="1" i="0" u="none" strike="noStrike" kern="100" cap="none" spc="0" normalizeH="0" baseline="0" noProof="0" dirty="0">
                <a:ln>
                  <a:noFill/>
                </a:ln>
                <a:solidFill>
                  <a:srgbClr val="C00000"/>
                </a:solidFill>
                <a:effectLst/>
                <a:uLnTx/>
                <a:uFillTx/>
                <a:latin typeface="Times New Roman"/>
                <a:ea typeface="標楷體"/>
                <a:cs typeface="+mn-cs"/>
              </a:rPr>
              <a:t>社區一起邀請社區兒童每次</a:t>
            </a:r>
            <a:r>
              <a:rPr kumimoji="0" lang="en-US" altLang="zh-TW" sz="1800" b="1" i="0" u="none" strike="noStrike" kern="100" cap="none" spc="0" normalizeH="0" baseline="0" noProof="0" dirty="0">
                <a:ln>
                  <a:noFill/>
                </a:ln>
                <a:solidFill>
                  <a:srgbClr val="C00000"/>
                </a:solidFill>
                <a:effectLst/>
                <a:uLnTx/>
                <a:uFillTx/>
                <a:latin typeface="Times New Roman"/>
                <a:ea typeface="標楷體"/>
                <a:cs typeface="+mn-cs"/>
              </a:rPr>
              <a:t>30</a:t>
            </a:r>
            <a:r>
              <a:rPr kumimoji="0" lang="zh-TW" altLang="en-US" sz="1800" b="1" i="0" u="none" strike="noStrike" kern="100" cap="none" spc="0" normalizeH="0" baseline="0" noProof="0" dirty="0">
                <a:ln>
                  <a:noFill/>
                </a:ln>
                <a:solidFill>
                  <a:srgbClr val="C00000"/>
                </a:solidFill>
                <a:effectLst/>
                <a:uLnTx/>
                <a:uFillTx/>
                <a:latin typeface="Times New Roman"/>
                <a:ea typeface="標楷體"/>
                <a:cs typeface="+mn-cs"/>
              </a:rPr>
              <a:t>人參加辦理。課程主題：</a:t>
            </a:r>
            <a:r>
              <a:rPr kumimoji="0" lang="en-US" altLang="zh-TW" sz="1800" b="1" i="0" u="none" strike="noStrike" kern="100" cap="none" spc="0" normalizeH="0" baseline="0" noProof="0" dirty="0">
                <a:ln>
                  <a:noFill/>
                </a:ln>
                <a:solidFill>
                  <a:srgbClr val="C00000"/>
                </a:solidFill>
                <a:effectLst/>
                <a:uLnTx/>
                <a:uFillTx/>
                <a:latin typeface="Times New Roman"/>
                <a:ea typeface="標楷體"/>
                <a:cs typeface="+mn-cs"/>
              </a:rPr>
              <a:t>A.</a:t>
            </a:r>
            <a:r>
              <a:rPr kumimoji="0" lang="zh-TW" altLang="en-US" sz="1800" b="1" i="0" u="none" strike="noStrike" kern="100" cap="none" spc="0" normalizeH="0" baseline="0" noProof="0" dirty="0">
                <a:ln>
                  <a:noFill/>
                </a:ln>
                <a:solidFill>
                  <a:srgbClr val="C00000"/>
                </a:solidFill>
                <a:effectLst/>
                <a:uLnTx/>
                <a:uFillTx/>
                <a:latin typeface="Times New Roman"/>
                <a:ea typeface="標楷體"/>
                <a:cs typeface="+mn-cs"/>
              </a:rPr>
              <a:t>「網路小尖兵：兒童網路安全大作戰」課程簡介：透過有趣的活動和案例，教導兒童學習在網路上保護自己的基本技能，提高對網路安全的警覺性。</a:t>
            </a:r>
            <a:r>
              <a:rPr kumimoji="0" lang="en-US" altLang="zh-TW" sz="1800" b="1" i="0" u="none" strike="noStrike" kern="100" cap="none" spc="0" normalizeH="0" baseline="0" noProof="0" dirty="0">
                <a:ln>
                  <a:noFill/>
                </a:ln>
                <a:solidFill>
                  <a:srgbClr val="C00000"/>
                </a:solidFill>
                <a:effectLst/>
                <a:uLnTx/>
                <a:uFillTx/>
                <a:latin typeface="Times New Roman"/>
                <a:ea typeface="標楷體"/>
                <a:cs typeface="+mn-cs"/>
              </a:rPr>
              <a:t>B.</a:t>
            </a:r>
            <a:r>
              <a:rPr kumimoji="0" lang="zh-TW" altLang="en-US" sz="1800" b="1" i="0" u="none" strike="noStrike" kern="100" cap="none" spc="0" normalizeH="0" baseline="0" noProof="0" dirty="0">
                <a:ln>
                  <a:noFill/>
                </a:ln>
                <a:solidFill>
                  <a:srgbClr val="C00000"/>
                </a:solidFill>
                <a:effectLst/>
                <a:uLnTx/>
                <a:uFillTx/>
                <a:latin typeface="Times New Roman"/>
                <a:ea typeface="標楷體"/>
                <a:cs typeface="+mn-cs"/>
              </a:rPr>
              <a:t>「兒童數位騎士：玩得開心，上網守安全」課程簡介：以冒險故事和遊戲方式，教育兒童建立正確的網路使用觀念，學習辨識網路風險，培養健康的數位生活習慣。</a:t>
            </a:r>
          </a:p>
          <a:p>
            <a:pPr marL="538480" marR="0" lvl="0" indent="-234950" algn="l" defTabSz="914400" rtl="0" eaLnBrk="1" fontAlgn="auto" latinLnBrk="0" hangingPunct="1">
              <a:lnSpc>
                <a:spcPct val="100000"/>
              </a:lnSpc>
              <a:spcBef>
                <a:spcPts val="0"/>
              </a:spcBef>
              <a:spcAft>
                <a:spcPts val="0"/>
              </a:spcAft>
              <a:buClrTx/>
              <a:buSzTx/>
              <a:buFontTx/>
              <a:buNone/>
              <a:tabLst/>
              <a:defRPr/>
            </a:pPr>
            <a:endParaRPr kumimoji="0" lang="zh-TW" altLang="zh-TW" sz="2200" b="1" i="0" u="none" strike="noStrike" kern="100" cap="none" spc="0" normalizeH="0" baseline="0" noProof="0" dirty="0">
              <a:ln>
                <a:noFill/>
              </a:ln>
              <a:solidFill>
                <a:srgbClr val="024631"/>
              </a:solidFill>
              <a:effectLst/>
              <a:uLnTx/>
              <a:uFillTx/>
              <a:latin typeface="Times New Roman"/>
              <a:ea typeface="新細明體"/>
              <a:cs typeface="+mn-cs"/>
            </a:endParaRPr>
          </a:p>
        </p:txBody>
      </p:sp>
    </p:spTree>
    <p:extLst>
      <p:ext uri="{BB962C8B-B14F-4D97-AF65-F5344CB8AC3E}">
        <p14:creationId xmlns:p14="http://schemas.microsoft.com/office/powerpoint/2010/main" val="7516396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200" dirty="0">
                <a:solidFill>
                  <a:srgbClr val="FFFFFF"/>
                </a:solidFill>
                <a:latin typeface="標楷體" pitchFamily="65" charset="-120"/>
                <a:ea typeface="標楷體" pitchFamily="65" charset="-120"/>
              </a:rPr>
              <a:t>五、方案內容</a:t>
            </a:r>
            <a:endParaRPr lang="zh-TW" altLang="en-US" dirty="0"/>
          </a:p>
        </p:txBody>
      </p:sp>
      <p:sp>
        <p:nvSpPr>
          <p:cNvPr id="3" name="內容版面配置區 2"/>
          <p:cNvSpPr>
            <a:spLocks noGrp="1"/>
          </p:cNvSpPr>
          <p:nvPr>
            <p:ph idx="1"/>
          </p:nvPr>
        </p:nvSpPr>
        <p:spPr>
          <a:xfrm>
            <a:off x="-34248" y="836712"/>
            <a:ext cx="9070744" cy="1214264"/>
          </a:xfrm>
        </p:spPr>
        <p:txBody>
          <a:bodyPr/>
          <a:lstStyle/>
          <a:p>
            <a:pPr marL="0" indent="0">
              <a:buNone/>
            </a:pPr>
            <a:r>
              <a:rPr lang="zh-TW" altLang="en-US" sz="2500" b="1" dirty="0">
                <a:solidFill>
                  <a:srgbClr val="FF0000"/>
                </a:solidFill>
                <a:latin typeface="標楷體" pitchFamily="65" charset="-120"/>
                <a:ea typeface="標楷體" pitchFamily="65" charset="-120"/>
              </a:rPr>
              <a:t>方案七：強化社會安全網</a:t>
            </a:r>
            <a:r>
              <a:rPr lang="en-US" altLang="zh-TW" sz="2500" b="1" dirty="0">
                <a:solidFill>
                  <a:srgbClr val="FF0000"/>
                </a:solidFill>
                <a:latin typeface="標楷體" pitchFamily="65" charset="-120"/>
                <a:ea typeface="標楷體" pitchFamily="65" charset="-120"/>
              </a:rPr>
              <a:t>-</a:t>
            </a:r>
            <a:r>
              <a:rPr lang="zh-TW" altLang="en-US" sz="2500" b="1" dirty="0">
                <a:solidFill>
                  <a:srgbClr val="FF0000"/>
                </a:solidFill>
                <a:latin typeface="標楷體" pitchFamily="65" charset="-120"/>
                <a:ea typeface="標楷體" pitchFamily="65" charset="-120"/>
              </a:rPr>
              <a:t>建立兒童安全及脫貧自立服務方案</a:t>
            </a:r>
            <a:endParaRPr lang="en-US" altLang="zh-TW" sz="2500" b="1" dirty="0">
              <a:solidFill>
                <a:srgbClr val="FF0000"/>
              </a:solidFill>
              <a:latin typeface="標楷體" pitchFamily="65" charset="-120"/>
              <a:ea typeface="標楷體" pitchFamily="65" charset="-120"/>
            </a:endParaRPr>
          </a:p>
          <a:p>
            <a:pPr marL="0" lvl="0" indent="0">
              <a:buClr>
                <a:srgbClr val="69AAB1"/>
              </a:buClr>
              <a:buNone/>
            </a:pPr>
            <a:r>
              <a:rPr lang="zh-TW" altLang="en-US" sz="2400" b="1" dirty="0">
                <a:solidFill>
                  <a:srgbClr val="DDDDDD">
                    <a:lumMod val="10000"/>
                  </a:srgbClr>
                </a:solidFill>
                <a:latin typeface="標楷體" pitchFamily="65" charset="-120"/>
                <a:ea typeface="標楷體" pitchFamily="65" charset="-120"/>
              </a:rPr>
              <a:t>       </a:t>
            </a:r>
          </a:p>
          <a:p>
            <a:pPr marL="0" indent="0">
              <a:buNone/>
            </a:pPr>
            <a:endParaRPr lang="zh-TW" altLang="en-US" sz="2400" b="1" dirty="0">
              <a:solidFill>
                <a:schemeClr val="bg2">
                  <a:lumMod val="10000"/>
                </a:schemeClr>
              </a:solidFill>
              <a:latin typeface="標楷體" pitchFamily="65" charset="-120"/>
              <a:ea typeface="標楷體" pitchFamily="65" charset="-120"/>
            </a:endParaRPr>
          </a:p>
        </p:txBody>
      </p:sp>
      <p:graphicFrame>
        <p:nvGraphicFramePr>
          <p:cNvPr id="4" name="表格 3">
            <a:extLst>
              <a:ext uri="{FF2B5EF4-FFF2-40B4-BE49-F238E27FC236}">
                <a16:creationId xmlns:a16="http://schemas.microsoft.com/office/drawing/2014/main" id="{3CFC8417-8DBB-4AAB-A8D4-F5648632FCFC}"/>
              </a:ext>
            </a:extLst>
          </p:cNvPr>
          <p:cNvGraphicFramePr>
            <a:graphicFrameLocks noGrp="1"/>
          </p:cNvGraphicFramePr>
          <p:nvPr/>
        </p:nvGraphicFramePr>
        <p:xfrm>
          <a:off x="539552" y="2564904"/>
          <a:ext cx="8064894" cy="2961375"/>
        </p:xfrm>
        <a:graphic>
          <a:graphicData uri="http://schemas.openxmlformats.org/drawingml/2006/table">
            <a:tbl>
              <a:tblPr firstRow="1" firstCol="1" lastRow="1" lastCol="1" bandRow="1" bandCol="1"/>
              <a:tblGrid>
                <a:gridCol w="441689">
                  <a:extLst>
                    <a:ext uri="{9D8B030D-6E8A-4147-A177-3AD203B41FA5}">
                      <a16:colId xmlns:a16="http://schemas.microsoft.com/office/drawing/2014/main" val="986998454"/>
                    </a:ext>
                  </a:extLst>
                </a:gridCol>
                <a:gridCol w="2784106">
                  <a:extLst>
                    <a:ext uri="{9D8B030D-6E8A-4147-A177-3AD203B41FA5}">
                      <a16:colId xmlns:a16="http://schemas.microsoft.com/office/drawing/2014/main" val="3961478454"/>
                    </a:ext>
                  </a:extLst>
                </a:gridCol>
                <a:gridCol w="1611680">
                  <a:extLst>
                    <a:ext uri="{9D8B030D-6E8A-4147-A177-3AD203B41FA5}">
                      <a16:colId xmlns:a16="http://schemas.microsoft.com/office/drawing/2014/main" val="1405600726"/>
                    </a:ext>
                  </a:extLst>
                </a:gridCol>
                <a:gridCol w="1265798">
                  <a:extLst>
                    <a:ext uri="{9D8B030D-6E8A-4147-A177-3AD203B41FA5}">
                      <a16:colId xmlns:a16="http://schemas.microsoft.com/office/drawing/2014/main" val="2499930857"/>
                    </a:ext>
                  </a:extLst>
                </a:gridCol>
                <a:gridCol w="925599">
                  <a:extLst>
                    <a:ext uri="{9D8B030D-6E8A-4147-A177-3AD203B41FA5}">
                      <a16:colId xmlns:a16="http://schemas.microsoft.com/office/drawing/2014/main" val="2752198060"/>
                    </a:ext>
                  </a:extLst>
                </a:gridCol>
                <a:gridCol w="1036022">
                  <a:extLst>
                    <a:ext uri="{9D8B030D-6E8A-4147-A177-3AD203B41FA5}">
                      <a16:colId xmlns:a16="http://schemas.microsoft.com/office/drawing/2014/main" val="3130742604"/>
                    </a:ext>
                  </a:extLst>
                </a:gridCol>
              </a:tblGrid>
              <a:tr h="775053">
                <a:tc>
                  <a:txBody>
                    <a:bodyPr/>
                    <a:lstStyle/>
                    <a:p>
                      <a:pPr marL="66675" algn="l">
                        <a:spcBef>
                          <a:spcPts val="355"/>
                        </a:spcBef>
                        <a:spcAft>
                          <a:spcPts val="0"/>
                        </a:spcAft>
                      </a:pPr>
                      <a:r>
                        <a:rPr lang="en-US" sz="1800" kern="0" spc="-55" dirty="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次</a:t>
                      </a:r>
                      <a:endParaRPr 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0" algn="l">
                        <a:spcBef>
                          <a:spcPts val="355"/>
                        </a:spcBef>
                        <a:spcAft>
                          <a:spcPts val="0"/>
                        </a:spcAft>
                      </a:pPr>
                      <a:r>
                        <a:rPr lang="zh-TW" sz="1800" kern="0" spc="-10" dirty="0">
                          <a:solidFill>
                            <a:srgbClr val="000000"/>
                          </a:solidFill>
                          <a:effectLst/>
                          <a:latin typeface="Times New Roman" panose="02020603050405020304" pitchFamily="18" charset="0"/>
                          <a:ea typeface="標楷體" panose="03000509000000000000" pitchFamily="65" charset="-120"/>
                          <a:cs typeface="SimSun" panose="02010600030101010101" pitchFamily="2" charset="-122"/>
                        </a:rPr>
                        <a:t>強化社會安全網</a:t>
                      </a:r>
                      <a:r>
                        <a:rPr lang="en-US" sz="1800" kern="0" spc="-10" dirty="0">
                          <a:solidFill>
                            <a:srgbClr val="000000"/>
                          </a:solidFill>
                          <a:effectLst/>
                          <a:latin typeface="Times New Roman" panose="02020603050405020304" pitchFamily="18" charset="0"/>
                          <a:ea typeface="標楷體" panose="03000509000000000000" pitchFamily="65" charset="-120"/>
                          <a:cs typeface="SimSun" panose="02010600030101010101" pitchFamily="2" charset="-122"/>
                        </a:rPr>
                        <a:t>-</a:t>
                      </a:r>
                      <a:r>
                        <a:rPr lang="zh-TW" sz="1800" kern="0" spc="-10" dirty="0">
                          <a:solidFill>
                            <a:srgbClr val="000000"/>
                          </a:solidFill>
                          <a:effectLst/>
                          <a:latin typeface="Times New Roman" panose="02020603050405020304" pitchFamily="18" charset="0"/>
                          <a:ea typeface="標楷體" panose="03000509000000000000" pitchFamily="65" charset="-120"/>
                          <a:cs typeface="SimSun" panose="02010600030101010101" pitchFamily="2" charset="-122"/>
                        </a:rPr>
                        <a:t>建立兒童安全及脫貧自立服務方案</a:t>
                      </a:r>
                      <a:endParaRPr 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2250" algn="l">
                        <a:spcBef>
                          <a:spcPts val="355"/>
                        </a:spcBef>
                        <a:spcAft>
                          <a:spcPts val="0"/>
                        </a:spcAft>
                      </a:pPr>
                      <a:r>
                        <a:rPr lang="en-US" sz="1800" kern="0" spc="-25">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講師</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2230" algn="l">
                        <a:spcBef>
                          <a:spcPts val="355"/>
                        </a:spcBef>
                        <a:spcAft>
                          <a:spcPts val="0"/>
                        </a:spcAft>
                      </a:pPr>
                      <a:r>
                        <a:rPr lang="en-US" sz="1800" kern="0" spc="-2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學經歷</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2230" algn="l">
                        <a:spcBef>
                          <a:spcPts val="355"/>
                        </a:spcBef>
                        <a:spcAft>
                          <a:spcPts val="0"/>
                        </a:spcAft>
                      </a:pPr>
                      <a:r>
                        <a:rPr lang="en-US" sz="1800" kern="0" spc="-15">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內</a:t>
                      </a:r>
                      <a:r>
                        <a:rPr lang="en-US" sz="1800" kern="0" spc="-5">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a:t>
                      </a:r>
                      <a:r>
                        <a:rPr lang="en-US" sz="1800" kern="0" spc="-15">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外聘</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2230" algn="l">
                        <a:spcBef>
                          <a:spcPts val="355"/>
                        </a:spcBef>
                        <a:spcAft>
                          <a:spcPts val="0"/>
                        </a:spcAft>
                      </a:pPr>
                      <a:r>
                        <a:rPr lang="en-US" sz="1800" kern="0" spc="-3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對象</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0433203"/>
                  </a:ext>
                </a:extLst>
              </a:tr>
              <a:tr h="674157">
                <a:tc>
                  <a:txBody>
                    <a:bodyPr/>
                    <a:lstStyle/>
                    <a:p>
                      <a:pPr marL="66675" algn="l">
                        <a:spcBef>
                          <a:spcPts val="355"/>
                        </a:spcBef>
                        <a:spcAft>
                          <a:spcPts val="0"/>
                        </a:spcAft>
                      </a:pPr>
                      <a:r>
                        <a:rPr lang="en-US" sz="1800" kern="0" spc="-6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1</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TW" sz="1800" kern="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兒少理財講座</a:t>
                      </a:r>
                      <a:endParaRPr 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暫定張英陣教授</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亞洲大學教授</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algn="l">
                        <a:spcAft>
                          <a:spcPts val="0"/>
                        </a:spcAft>
                      </a:pPr>
                      <a:r>
                        <a:rPr lang="en-US" sz="1800" kern="0" spc="-25">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外聘</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marL="62230" marR="76200" algn="l">
                        <a:lnSpc>
                          <a:spcPct val="109000"/>
                        </a:lnSpc>
                        <a:spcBef>
                          <a:spcPts val="355"/>
                        </a:spcBef>
                        <a:spcAft>
                          <a:spcPts val="0"/>
                        </a:spcAft>
                      </a:pPr>
                      <a:r>
                        <a:rPr lang="en-US" sz="1800" kern="0" spc="15">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4</a:t>
                      </a:r>
                      <a:r>
                        <a:rPr lang="zh-TW" sz="1800" kern="0" spc="40">
                          <a:solidFill>
                            <a:srgbClr val="000000"/>
                          </a:solidFill>
                          <a:effectLst/>
                          <a:latin typeface="Times New Roman" panose="02020603050405020304" pitchFamily="18" charset="0"/>
                          <a:ea typeface="標楷體" panose="03000509000000000000" pitchFamily="65" charset="-120"/>
                          <a:cs typeface="SimSun" panose="02010600030101010101" pitchFamily="2" charset="-122"/>
                        </a:rPr>
                        <a:t>個小旗</a:t>
                      </a:r>
                      <a:r>
                        <a:rPr lang="zh-TW" sz="1800" kern="0" spc="-140">
                          <a:solidFill>
                            <a:srgbClr val="000000"/>
                          </a:solidFill>
                          <a:effectLst/>
                          <a:latin typeface="Times New Roman" panose="02020603050405020304" pitchFamily="18" charset="0"/>
                          <a:ea typeface="標楷體" panose="03000509000000000000" pitchFamily="65" charset="-120"/>
                          <a:cs typeface="SimSun" panose="02010600030101010101" pitchFamily="2" charset="-122"/>
                        </a:rPr>
                        <a:t>艦</a:t>
                      </a:r>
                      <a:r>
                        <a:rPr lang="zh-TW" sz="1800" kern="0" spc="-65">
                          <a:solidFill>
                            <a:srgbClr val="000000"/>
                          </a:solidFill>
                          <a:effectLst/>
                          <a:latin typeface="Times New Roman" panose="02020603050405020304" pitchFamily="18" charset="0"/>
                          <a:ea typeface="標楷體" panose="03000509000000000000" pitchFamily="65" charset="-120"/>
                          <a:cs typeface="SimSun" panose="02010600030101010101" pitchFamily="2" charset="-122"/>
                        </a:rPr>
                        <a:t> </a:t>
                      </a:r>
                      <a:r>
                        <a:rPr lang="zh-TW" sz="1800" kern="0" spc="-140">
                          <a:solidFill>
                            <a:srgbClr val="000000"/>
                          </a:solidFill>
                          <a:effectLst/>
                          <a:latin typeface="Times New Roman" panose="02020603050405020304" pitchFamily="18" charset="0"/>
                          <a:ea typeface="標楷體" panose="03000509000000000000" pitchFamily="65" charset="-120"/>
                          <a:cs typeface="SimSun" panose="02010600030101010101" pitchFamily="2" charset="-122"/>
                        </a:rPr>
                        <a:t>社區夫妻</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7310741"/>
                  </a:ext>
                </a:extLst>
              </a:tr>
              <a:tr h="727176">
                <a:tc>
                  <a:txBody>
                    <a:bodyPr/>
                    <a:lstStyle/>
                    <a:p>
                      <a:pPr marL="66675" algn="l">
                        <a:spcBef>
                          <a:spcPts val="355"/>
                        </a:spcBef>
                        <a:spcAft>
                          <a:spcPts val="0"/>
                        </a:spcAft>
                      </a:pPr>
                      <a:r>
                        <a:rPr lang="en-US" sz="1800" kern="0" spc="-6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2</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TW" sz="1800" kern="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網路小尖兵：兒童網路安全大作戰</a:t>
                      </a:r>
                      <a:endParaRPr 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暫定陳霓瑄老師</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南開科技大學碩士</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4057589050"/>
                  </a:ext>
                </a:extLst>
              </a:tr>
              <a:tr h="784989">
                <a:tc>
                  <a:txBody>
                    <a:bodyPr/>
                    <a:lstStyle/>
                    <a:p>
                      <a:pPr marL="66675" algn="l">
                        <a:spcBef>
                          <a:spcPts val="355"/>
                        </a:spcBef>
                        <a:spcAft>
                          <a:spcPts val="0"/>
                        </a:spcAft>
                      </a:pPr>
                      <a:r>
                        <a:rPr lang="en-US" sz="1800" kern="0" spc="-6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3</a:t>
                      </a:r>
                      <a:endParaRPr lang="zh-TW" sz="1800" kern="10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TW" sz="1800" kern="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網路安全宣導</a:t>
                      </a:r>
                      <a:r>
                        <a:rPr lang="en-US" sz="1800" kern="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a:t>
                      </a:r>
                      <a:r>
                        <a:rPr lang="zh-TW" sz="1800" kern="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兒童數位騎士</a:t>
                      </a:r>
                      <a:endParaRPr 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暫定陳霓瑄老師</a:t>
                      </a:r>
                      <a:endParaRPr 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TW" sz="1800"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南開科技大學碩士</a:t>
                      </a:r>
                      <a:endParaRPr 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1081136082"/>
                  </a:ext>
                </a:extLst>
              </a:tr>
            </a:tbl>
          </a:graphicData>
        </a:graphic>
      </p:graphicFrame>
      <p:sp>
        <p:nvSpPr>
          <p:cNvPr id="5" name="Rectangle 1">
            <a:extLst>
              <a:ext uri="{FF2B5EF4-FFF2-40B4-BE49-F238E27FC236}">
                <a16:creationId xmlns:a16="http://schemas.microsoft.com/office/drawing/2014/main" id="{0813627E-3F3B-4D28-95EA-4EF47C09E0F6}"/>
              </a:ext>
            </a:extLst>
          </p:cNvPr>
          <p:cNvSpPr>
            <a:spLocks noChangeArrowheads="1"/>
          </p:cNvSpPr>
          <p:nvPr/>
        </p:nvSpPr>
        <p:spPr bwMode="auto">
          <a:xfrm>
            <a:off x="1475656" y="1789366"/>
            <a:ext cx="16209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zh-TW" sz="28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Times New Roman" panose="02020603050405020304" pitchFamily="18" charset="0"/>
              </a:rPr>
              <a:t>課程研習</a:t>
            </a:r>
            <a:endParaRPr kumimoji="0" lang="zh-TW" altLang="zh-TW" sz="1800" b="0" i="0" u="none" strike="noStrike" kern="1200" cap="none" spc="0" normalizeH="0" baseline="0" noProof="0" dirty="0">
              <a:ln>
                <a:noFill/>
              </a:ln>
              <a:solidFill>
                <a:srgbClr val="024631"/>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3944106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小旗艦計畫執行成果</a:t>
            </a:r>
          </a:p>
        </p:txBody>
      </p:sp>
      <p:sp>
        <p:nvSpPr>
          <p:cNvPr id="5" name="矩形 4"/>
          <p:cNvSpPr/>
          <p:nvPr/>
        </p:nvSpPr>
        <p:spPr>
          <a:xfrm>
            <a:off x="395536" y="764704"/>
            <a:ext cx="8424936" cy="3695242"/>
          </a:xfrm>
          <a:prstGeom prst="rect">
            <a:avLst/>
          </a:prstGeom>
        </p:spPr>
        <p:txBody>
          <a:bodyPr wrap="square">
            <a:spAutoFit/>
          </a:bodyPr>
          <a:lstStyle/>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111</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年</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方案七：社區友愛＊轉動無礙 小旗艦社區報：</a:t>
            </a:r>
            <a:endParaRPr kumimoji="0" lang="zh-TW" altLang="zh-TW" sz="1800" b="1" i="0" u="none" strike="noStrike" kern="100" cap="none" spc="0" normalizeH="0" baseline="0" noProof="0" dirty="0">
              <a:ln>
                <a:noFill/>
              </a:ln>
              <a:solidFill>
                <a:srgbClr val="FF0000"/>
              </a:solidFill>
              <a:effectLst/>
              <a:uLnTx/>
              <a:uFillTx/>
              <a:latin typeface="Times New Roman"/>
              <a:ea typeface="新細明體"/>
              <a:cs typeface="+mn-cs"/>
            </a:endParaRPr>
          </a:p>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000000"/>
                </a:solidFill>
                <a:effectLst/>
                <a:uLnTx/>
                <a:uFillTx/>
                <a:latin typeface="標楷體"/>
                <a:ea typeface="新細明體"/>
                <a:cs typeface="+mn-cs"/>
              </a:rPr>
              <a:t>       4</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社區</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*100</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份</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期＝</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1,600</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份。</a:t>
            </a:r>
            <a:endParaRPr kumimoji="0" lang="zh-TW" altLang="zh-TW" sz="1800" b="1" i="0" u="none" strike="noStrike" kern="100" cap="none" spc="0" normalizeH="0" baseline="0" noProof="0" dirty="0">
              <a:ln>
                <a:noFill/>
              </a:ln>
              <a:solidFill>
                <a:srgbClr val="000000"/>
              </a:solidFill>
              <a:effectLst/>
              <a:uLnTx/>
              <a:uFillTx/>
              <a:latin typeface="Times New Roman"/>
              <a:ea typeface="新細明體"/>
              <a:cs typeface="+mn-cs"/>
            </a:endParaRPr>
          </a:p>
          <a:p>
            <a:pPr marL="304800" lvl="0">
              <a:lnSpc>
                <a:spcPct val="150000"/>
              </a:lnSpc>
            </a:pP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112</a:t>
            </a:r>
            <a:r>
              <a:rPr lang="zh-TW" altLang="en-US" b="1" kern="100" dirty="0">
                <a:solidFill>
                  <a:srgbClr val="FF0000"/>
                </a:solidFill>
                <a:latin typeface="Times New Roman"/>
                <a:ea typeface="標楷體"/>
              </a:rPr>
              <a:t>年方案七：社區友愛＊轉動無礙 小旗艦社區報</a:t>
            </a:r>
            <a:r>
              <a:rPr lang="zh-TW" altLang="zh-TW" b="1" kern="100" dirty="0">
                <a:solidFill>
                  <a:srgbClr val="FF0000"/>
                </a:solidFill>
                <a:latin typeface="Times New Roman"/>
                <a:ea typeface="標楷體"/>
              </a:rPr>
              <a:t>：</a:t>
            </a:r>
            <a:endParaRPr lang="en-US" altLang="zh-TW" b="1" kern="100" dirty="0">
              <a:solidFill>
                <a:srgbClr val="FF0000"/>
              </a:solidFill>
              <a:latin typeface="Times New Roman"/>
              <a:ea typeface="標楷體"/>
            </a:endParaRPr>
          </a:p>
          <a:p>
            <a:pPr marL="304800" lvl="0">
              <a:lnSpc>
                <a:spcPct val="150000"/>
              </a:lnSpc>
            </a:pPr>
            <a:r>
              <a:rPr lang="zh-TW" altLang="en-US" b="1" kern="100" dirty="0">
                <a:solidFill>
                  <a:srgbClr val="FF0000"/>
                </a:solidFill>
                <a:latin typeface="Times New Roman"/>
                <a:ea typeface="標楷體"/>
              </a:rPr>
              <a:t>              </a:t>
            </a:r>
            <a:r>
              <a:rPr lang="zh-TW" altLang="en-US" b="1" kern="100" dirty="0">
                <a:solidFill>
                  <a:srgbClr val="000000"/>
                </a:solidFill>
                <a:latin typeface="Times New Roman"/>
                <a:ea typeface="標楷體"/>
              </a:rPr>
              <a:t> </a:t>
            </a:r>
            <a:r>
              <a:rPr lang="en-US" altLang="zh-TW" b="1" kern="100" dirty="0">
                <a:solidFill>
                  <a:srgbClr val="000000"/>
                </a:solidFill>
                <a:latin typeface="Times New Roman"/>
                <a:ea typeface="標楷體"/>
              </a:rPr>
              <a:t>4</a:t>
            </a:r>
            <a:r>
              <a:rPr lang="zh-TW" altLang="en-US" b="1" kern="100" dirty="0">
                <a:solidFill>
                  <a:srgbClr val="000000"/>
                </a:solidFill>
                <a:latin typeface="Times New Roman"/>
                <a:ea typeface="標楷體"/>
              </a:rPr>
              <a:t>社區*</a:t>
            </a:r>
            <a:r>
              <a:rPr lang="en-US" altLang="zh-TW" b="1" kern="100" dirty="0">
                <a:solidFill>
                  <a:srgbClr val="000000"/>
                </a:solidFill>
                <a:latin typeface="Times New Roman"/>
                <a:ea typeface="標楷體"/>
              </a:rPr>
              <a:t>100</a:t>
            </a:r>
            <a:r>
              <a:rPr lang="zh-TW" altLang="en-US" b="1" kern="100" dirty="0">
                <a:solidFill>
                  <a:srgbClr val="000000"/>
                </a:solidFill>
                <a:latin typeface="Times New Roman"/>
                <a:ea typeface="標楷體"/>
              </a:rPr>
              <a:t>份*</a:t>
            </a:r>
            <a:r>
              <a:rPr lang="en-US" altLang="zh-TW" b="1" kern="100" dirty="0">
                <a:solidFill>
                  <a:srgbClr val="000000"/>
                </a:solidFill>
                <a:latin typeface="Times New Roman"/>
                <a:ea typeface="標楷體"/>
              </a:rPr>
              <a:t>4</a:t>
            </a:r>
            <a:r>
              <a:rPr lang="zh-TW" altLang="en-US" b="1" kern="100" dirty="0">
                <a:solidFill>
                  <a:srgbClr val="000000"/>
                </a:solidFill>
                <a:latin typeface="Times New Roman"/>
                <a:ea typeface="標楷體"/>
              </a:rPr>
              <a:t>期＝</a:t>
            </a:r>
            <a:r>
              <a:rPr lang="en-US" altLang="zh-TW" b="1" kern="100" dirty="0">
                <a:solidFill>
                  <a:srgbClr val="000000"/>
                </a:solidFill>
                <a:latin typeface="Times New Roman"/>
                <a:ea typeface="標楷體"/>
              </a:rPr>
              <a:t>1,600</a:t>
            </a:r>
            <a:r>
              <a:rPr lang="zh-TW" altLang="en-US" b="1" kern="100" dirty="0">
                <a:solidFill>
                  <a:srgbClr val="000000"/>
                </a:solidFill>
                <a:latin typeface="Times New Roman"/>
                <a:ea typeface="標楷體"/>
              </a:rPr>
              <a:t>份。</a:t>
            </a:r>
            <a:endParaRPr lang="en-US" altLang="zh-TW" b="1" kern="100" dirty="0">
              <a:solidFill>
                <a:srgbClr val="000000"/>
              </a:solidFill>
              <a:latin typeface="Times New Roman"/>
              <a:ea typeface="標楷體"/>
            </a:endParaRPr>
          </a:p>
          <a:p>
            <a:pPr marL="304800" lvl="0">
              <a:lnSpc>
                <a:spcPct val="150000"/>
              </a:lnSpc>
            </a:pPr>
            <a:r>
              <a:rPr lang="en-US" altLang="zh-TW" b="1" kern="100" dirty="0">
                <a:solidFill>
                  <a:srgbClr val="FF0000"/>
                </a:solidFill>
                <a:latin typeface="Times New Roman"/>
                <a:ea typeface="標楷體"/>
              </a:rPr>
              <a:t>113</a:t>
            </a:r>
            <a:r>
              <a:rPr lang="zh-TW" altLang="en-US" b="1" kern="100" dirty="0">
                <a:solidFill>
                  <a:srgbClr val="FF0000"/>
                </a:solidFill>
                <a:latin typeface="Times New Roman"/>
                <a:ea typeface="標楷體"/>
              </a:rPr>
              <a:t>年方案八：社區友愛＊轉動無礙 小旗艦社區報</a:t>
            </a:r>
            <a:r>
              <a:rPr lang="zh-TW" altLang="zh-TW" b="1" kern="100" dirty="0">
                <a:solidFill>
                  <a:srgbClr val="FF0000"/>
                </a:solidFill>
                <a:latin typeface="Times New Roman"/>
                <a:ea typeface="標楷體"/>
              </a:rPr>
              <a:t>：</a:t>
            </a:r>
            <a:endParaRPr lang="en-US" altLang="zh-TW" b="1" kern="100" dirty="0">
              <a:solidFill>
                <a:srgbClr val="FF0000"/>
              </a:solidFill>
              <a:latin typeface="Times New Roman"/>
              <a:ea typeface="標楷體"/>
            </a:endParaRPr>
          </a:p>
          <a:p>
            <a:pPr marL="304800" lvl="0">
              <a:lnSpc>
                <a:spcPct val="150000"/>
              </a:lnSpc>
            </a:pPr>
            <a:r>
              <a:rPr lang="zh-TW" altLang="en-US" b="1" kern="100" dirty="0">
                <a:solidFill>
                  <a:srgbClr val="FF0000"/>
                </a:solidFill>
                <a:latin typeface="Times New Roman"/>
                <a:ea typeface="標楷體"/>
              </a:rPr>
              <a:t>              </a:t>
            </a:r>
            <a:r>
              <a:rPr lang="zh-TW" altLang="en-US" b="1" kern="100" dirty="0">
                <a:solidFill>
                  <a:srgbClr val="000000"/>
                </a:solidFill>
                <a:latin typeface="Times New Roman"/>
                <a:ea typeface="標楷體"/>
              </a:rPr>
              <a:t> </a:t>
            </a:r>
            <a:r>
              <a:rPr lang="en-US" altLang="zh-TW" b="1" kern="100" dirty="0">
                <a:solidFill>
                  <a:srgbClr val="000000"/>
                </a:solidFill>
                <a:latin typeface="Times New Roman"/>
                <a:ea typeface="標楷體"/>
              </a:rPr>
              <a:t>4</a:t>
            </a:r>
            <a:r>
              <a:rPr lang="zh-TW" altLang="en-US" b="1" kern="100" dirty="0">
                <a:solidFill>
                  <a:srgbClr val="000000"/>
                </a:solidFill>
                <a:latin typeface="Times New Roman"/>
                <a:ea typeface="標楷體"/>
              </a:rPr>
              <a:t>社區*</a:t>
            </a:r>
            <a:r>
              <a:rPr lang="en-US" altLang="zh-TW" b="1" kern="100" dirty="0">
                <a:solidFill>
                  <a:srgbClr val="000000"/>
                </a:solidFill>
                <a:latin typeface="Times New Roman"/>
                <a:ea typeface="標楷體"/>
              </a:rPr>
              <a:t>100</a:t>
            </a:r>
            <a:r>
              <a:rPr lang="zh-TW" altLang="en-US" b="1" kern="100" dirty="0">
                <a:solidFill>
                  <a:srgbClr val="000000"/>
                </a:solidFill>
                <a:latin typeface="Times New Roman"/>
                <a:ea typeface="標楷體"/>
              </a:rPr>
              <a:t>份*</a:t>
            </a:r>
            <a:r>
              <a:rPr lang="en-US" altLang="zh-TW" b="1" kern="100" dirty="0">
                <a:solidFill>
                  <a:srgbClr val="000000"/>
                </a:solidFill>
                <a:latin typeface="Times New Roman"/>
                <a:ea typeface="標楷體"/>
              </a:rPr>
              <a:t>4</a:t>
            </a:r>
            <a:r>
              <a:rPr lang="zh-TW" altLang="en-US" b="1" kern="100" dirty="0">
                <a:solidFill>
                  <a:srgbClr val="000000"/>
                </a:solidFill>
                <a:latin typeface="Times New Roman"/>
                <a:ea typeface="標楷體"/>
              </a:rPr>
              <a:t>期＝</a:t>
            </a:r>
            <a:r>
              <a:rPr lang="en-US" altLang="zh-TW" b="1" kern="100" dirty="0">
                <a:solidFill>
                  <a:srgbClr val="000000"/>
                </a:solidFill>
                <a:latin typeface="Times New Roman"/>
                <a:ea typeface="標楷體"/>
              </a:rPr>
              <a:t>1,600</a:t>
            </a:r>
            <a:r>
              <a:rPr lang="zh-TW" altLang="en-US" b="1" kern="100" dirty="0">
                <a:solidFill>
                  <a:srgbClr val="000000"/>
                </a:solidFill>
                <a:latin typeface="Times New Roman"/>
                <a:ea typeface="標楷體"/>
              </a:rPr>
              <a:t>份。</a:t>
            </a:r>
            <a:endParaRPr lang="en-US" altLang="zh-TW" b="1" kern="100" dirty="0">
              <a:solidFill>
                <a:srgbClr val="000000"/>
              </a:solidFill>
              <a:latin typeface="Times New Roman"/>
              <a:ea typeface="標楷體"/>
            </a:endParaRPr>
          </a:p>
          <a:p>
            <a:pPr marL="304800" lvl="0">
              <a:lnSpc>
                <a:spcPct val="150000"/>
              </a:lnSpc>
            </a:pPr>
            <a:endParaRPr lang="en-US" altLang="zh-TW" b="1" kern="100" dirty="0">
              <a:solidFill>
                <a:srgbClr val="000000"/>
              </a:solidFill>
              <a:latin typeface="Times New Roman"/>
              <a:ea typeface="標楷體"/>
            </a:endParaRPr>
          </a:p>
          <a:p>
            <a:pPr marL="304800" marR="0" lvl="0" indent="0" algn="l" defTabSz="914400" rtl="0" eaLnBrk="1" fontAlgn="auto" latinLnBrk="0" hangingPunct="1">
              <a:lnSpc>
                <a:spcPct val="150000"/>
              </a:lnSpc>
              <a:spcBef>
                <a:spcPts val="0"/>
              </a:spcBef>
              <a:spcAft>
                <a:spcPts val="0"/>
              </a:spcAft>
              <a:buClrTx/>
              <a:buSzTx/>
              <a:buFontTx/>
              <a:buNone/>
              <a:tabLst/>
              <a:defRPr/>
            </a:pPr>
            <a:endParaRPr kumimoji="0" lang="zh-TW" altLang="zh-TW" sz="1600" b="1" i="0" u="none" strike="noStrike" kern="100" cap="none" spc="0" normalizeH="0" baseline="0" noProof="0" dirty="0">
              <a:ln>
                <a:noFill/>
              </a:ln>
              <a:solidFill>
                <a:srgbClr val="000000"/>
              </a:solidFill>
              <a:effectLst/>
              <a:uLnTx/>
              <a:uFillTx/>
              <a:latin typeface="Times New Roman"/>
              <a:ea typeface="新細明體"/>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TW" altLang="zh-TW" sz="1600" b="0" i="0" u="none" strike="noStrike" kern="100" cap="none" spc="0" normalizeH="0" baseline="0" noProof="0" dirty="0">
              <a:ln>
                <a:noFill/>
              </a:ln>
              <a:solidFill>
                <a:srgbClr val="024631"/>
              </a:solidFill>
              <a:effectLst/>
              <a:uLnTx/>
              <a:uFillTx/>
              <a:latin typeface="Times New Roman"/>
              <a:ea typeface="新細明體"/>
              <a:cs typeface="+mn-cs"/>
            </a:endParaRPr>
          </a:p>
        </p:txBody>
      </p:sp>
      <p:pic>
        <p:nvPicPr>
          <p:cNvPr id="4" name="圖片 5">
            <a:extLst>
              <a:ext uri="{FF2B5EF4-FFF2-40B4-BE49-F238E27FC236}">
                <a16:creationId xmlns:a16="http://schemas.microsoft.com/office/drawing/2014/main" id="{2FA03C75-1D1D-46A5-82DD-423868494B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512" y="3813610"/>
            <a:ext cx="4067944" cy="299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圖片 4">
            <a:extLst>
              <a:ext uri="{FF2B5EF4-FFF2-40B4-BE49-F238E27FC236}">
                <a16:creationId xmlns:a16="http://schemas.microsoft.com/office/drawing/2014/main" id="{50DEB8FD-79C3-44F2-9FB2-03EFF7043B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8004" y="3786299"/>
            <a:ext cx="4239236" cy="2994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3274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200" dirty="0">
                <a:solidFill>
                  <a:srgbClr val="FFFFFF"/>
                </a:solidFill>
                <a:latin typeface="標楷體" pitchFamily="65" charset="-120"/>
                <a:ea typeface="標楷體" pitchFamily="65" charset="-120"/>
              </a:rPr>
              <a:t>五、方案內容</a:t>
            </a:r>
            <a:endParaRPr lang="zh-TW" altLang="en-US" dirty="0"/>
          </a:p>
        </p:txBody>
      </p:sp>
      <p:sp>
        <p:nvSpPr>
          <p:cNvPr id="3" name="內容版面配置區 2"/>
          <p:cNvSpPr>
            <a:spLocks noGrp="1"/>
          </p:cNvSpPr>
          <p:nvPr>
            <p:ph idx="1"/>
          </p:nvPr>
        </p:nvSpPr>
        <p:spPr>
          <a:xfrm>
            <a:off x="-34248" y="836712"/>
            <a:ext cx="9070744" cy="1214264"/>
          </a:xfrm>
        </p:spPr>
        <p:txBody>
          <a:bodyPr/>
          <a:lstStyle/>
          <a:p>
            <a:pPr marL="0" indent="0">
              <a:buNone/>
            </a:pPr>
            <a:r>
              <a:rPr lang="zh-TW" altLang="en-US" sz="2500" b="1" dirty="0">
                <a:solidFill>
                  <a:srgbClr val="FF0000"/>
                </a:solidFill>
                <a:latin typeface="標楷體" pitchFamily="65" charset="-120"/>
                <a:ea typeface="標楷體" pitchFamily="65" charset="-120"/>
              </a:rPr>
              <a:t>方案八：社區友愛＊轉動無礙 小旗艦社區報</a:t>
            </a:r>
            <a:endParaRPr lang="en-US" altLang="zh-TW" sz="2500" b="1" dirty="0">
              <a:solidFill>
                <a:srgbClr val="FF0000"/>
              </a:solidFill>
              <a:latin typeface="標楷體" pitchFamily="65" charset="-120"/>
              <a:ea typeface="標楷體" pitchFamily="65" charset="-120"/>
            </a:endParaRPr>
          </a:p>
          <a:p>
            <a:pPr marL="0" indent="0">
              <a:buNone/>
            </a:pPr>
            <a:r>
              <a:rPr lang="zh-TW" altLang="en-US" sz="2500" b="1" dirty="0">
                <a:solidFill>
                  <a:srgbClr val="FF0000"/>
                </a:solidFill>
                <a:latin typeface="標楷體" pitchFamily="65" charset="-120"/>
                <a:ea typeface="標楷體" pitchFamily="65" charset="-120"/>
              </a:rPr>
              <a:t>       </a:t>
            </a:r>
            <a:r>
              <a:rPr lang="zh-TW" altLang="en-US" sz="2400" b="1" dirty="0">
                <a:solidFill>
                  <a:schemeClr val="bg2">
                    <a:lumMod val="10000"/>
                  </a:schemeClr>
                </a:solidFill>
                <a:latin typeface="標楷體" pitchFamily="65" charset="-120"/>
                <a:ea typeface="標楷體" pitchFamily="65" charset="-120"/>
              </a:rPr>
              <a:t>計畫類型：■協調宣傳類</a:t>
            </a:r>
          </a:p>
        </p:txBody>
      </p:sp>
      <p:sp>
        <p:nvSpPr>
          <p:cNvPr id="6" name="矩形 5"/>
          <p:cNvSpPr/>
          <p:nvPr/>
        </p:nvSpPr>
        <p:spPr>
          <a:xfrm>
            <a:off x="107504" y="1916832"/>
            <a:ext cx="8496944" cy="1446550"/>
          </a:xfrm>
          <a:prstGeom prst="rect">
            <a:avLst/>
          </a:prstGeom>
        </p:spPr>
        <p:txBody>
          <a:bodyPr wrap="square">
            <a:spAutoFit/>
          </a:bodyPr>
          <a:lstStyle/>
          <a:p>
            <a:pPr marL="538480" marR="0" lvl="0" indent="-234950" algn="l" defTabSz="914400" rtl="0" eaLnBrk="1" fontAlgn="auto" latinLnBrk="0" hangingPunct="1">
              <a:lnSpc>
                <a:spcPct val="100000"/>
              </a:lnSpc>
              <a:spcBef>
                <a:spcPts val="0"/>
              </a:spcBef>
              <a:spcAft>
                <a:spcPts val="0"/>
              </a:spcAft>
              <a:buClrTx/>
              <a:buSzTx/>
              <a:buFontTx/>
              <a:buNone/>
              <a:tabLst/>
              <a:defRPr/>
            </a:pP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        </a:t>
            </a: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以小旗艦社區富州、中央、社寮及山崇社區為主，成立小旗艦特刊報導編輯委員會，收集旗艦活動資訊，刊載報導旗艦聯合社區相關活動集錦、志工活動、活動預告、成果報導、政令宣導等紀錄性質之文稿。</a:t>
            </a:r>
            <a:endParaRPr kumimoji="0" lang="zh-TW" altLang="zh-TW" sz="2200" b="1" i="0" u="none" strike="noStrike" kern="100" cap="none" spc="0" normalizeH="0" baseline="0" noProof="0" dirty="0">
              <a:ln>
                <a:noFill/>
              </a:ln>
              <a:solidFill>
                <a:srgbClr val="024631"/>
              </a:solidFill>
              <a:effectLst/>
              <a:uLnTx/>
              <a:uFillTx/>
              <a:latin typeface="Times New Roman"/>
              <a:ea typeface="新細明體"/>
              <a:cs typeface="+mn-cs"/>
            </a:endParaRPr>
          </a:p>
        </p:txBody>
      </p:sp>
      <p:graphicFrame>
        <p:nvGraphicFramePr>
          <p:cNvPr id="4" name="表格 3"/>
          <p:cNvGraphicFramePr>
            <a:graphicFrameLocks noGrp="1"/>
          </p:cNvGraphicFramePr>
          <p:nvPr/>
        </p:nvGraphicFramePr>
        <p:xfrm>
          <a:off x="827584" y="3789040"/>
          <a:ext cx="7344816" cy="2664294"/>
        </p:xfrm>
        <a:graphic>
          <a:graphicData uri="http://schemas.openxmlformats.org/drawingml/2006/table">
            <a:tbl>
              <a:tblPr firstRow="1" firstCol="1" bandRow="1" bandCol="1"/>
              <a:tblGrid>
                <a:gridCol w="3822139">
                  <a:extLst>
                    <a:ext uri="{9D8B030D-6E8A-4147-A177-3AD203B41FA5}">
                      <a16:colId xmlns:a16="http://schemas.microsoft.com/office/drawing/2014/main" val="20000"/>
                    </a:ext>
                  </a:extLst>
                </a:gridCol>
                <a:gridCol w="3522677">
                  <a:extLst>
                    <a:ext uri="{9D8B030D-6E8A-4147-A177-3AD203B41FA5}">
                      <a16:colId xmlns:a16="http://schemas.microsoft.com/office/drawing/2014/main" val="20001"/>
                    </a:ext>
                  </a:extLst>
                </a:gridCol>
              </a:tblGrid>
              <a:tr h="309358">
                <a:tc>
                  <a:txBody>
                    <a:bodyPr/>
                    <a:lstStyle/>
                    <a:p>
                      <a:pPr algn="ctr">
                        <a:lnSpc>
                          <a:spcPct val="100000"/>
                        </a:lnSpc>
                        <a:spcAft>
                          <a:spcPts val="0"/>
                        </a:spcAft>
                      </a:pPr>
                      <a:r>
                        <a:rPr lang="zh-TW" sz="1800" b="1" kern="100" dirty="0">
                          <a:solidFill>
                            <a:schemeClr val="accent5">
                              <a:lumMod val="10000"/>
                            </a:schemeClr>
                          </a:solidFill>
                          <a:effectLst/>
                          <a:latin typeface="Times New Roman"/>
                          <a:ea typeface="標楷體"/>
                          <a:cs typeface="Times New Roman"/>
                        </a:rPr>
                        <a:t>所屬社區</a:t>
                      </a:r>
                      <a:endParaRPr lang="zh-TW" sz="1800" b="1" kern="100" dirty="0">
                        <a:solidFill>
                          <a:schemeClr val="accent5">
                            <a:lumMod val="10000"/>
                          </a:schemeClr>
                        </a:solidFill>
                        <a:effectLst/>
                        <a:latin typeface="Times New Roman"/>
                        <a:ea typeface="新細明體"/>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TW" sz="1800" b="1" kern="100" dirty="0">
                          <a:solidFill>
                            <a:schemeClr val="accent5">
                              <a:lumMod val="10000"/>
                            </a:schemeClr>
                          </a:solidFill>
                          <a:effectLst/>
                          <a:latin typeface="Times New Roman"/>
                          <a:ea typeface="標楷體"/>
                          <a:cs typeface="Times New Roman"/>
                        </a:rPr>
                        <a:t>委員會委員</a:t>
                      </a:r>
                      <a:endParaRPr lang="zh-TW" sz="1800" b="1" kern="100" dirty="0">
                        <a:solidFill>
                          <a:schemeClr val="accent5">
                            <a:lumMod val="10000"/>
                          </a:schemeClr>
                        </a:solidFill>
                        <a:effectLst/>
                        <a:latin typeface="Times New Roman"/>
                        <a:ea typeface="新細明體"/>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88734">
                <a:tc>
                  <a:txBody>
                    <a:bodyPr/>
                    <a:lstStyle/>
                    <a:p>
                      <a:pPr algn="just">
                        <a:lnSpc>
                          <a:spcPct val="100000"/>
                        </a:lnSpc>
                        <a:spcAft>
                          <a:spcPts val="0"/>
                        </a:spcAft>
                      </a:pPr>
                      <a:r>
                        <a:rPr lang="zh-TW" sz="1800" b="1" kern="100" dirty="0">
                          <a:solidFill>
                            <a:schemeClr val="accent5">
                              <a:lumMod val="10000"/>
                            </a:schemeClr>
                          </a:solidFill>
                          <a:effectLst/>
                          <a:latin typeface="Times New Roman"/>
                          <a:ea typeface="標楷體"/>
                          <a:cs typeface="Times New Roman"/>
                        </a:rPr>
                        <a:t>南投縣竹山鎮富州社區發展協會</a:t>
                      </a:r>
                      <a:endParaRPr lang="zh-TW" sz="1800" b="1" kern="100" dirty="0">
                        <a:solidFill>
                          <a:schemeClr val="accent5">
                            <a:lumMod val="10000"/>
                          </a:schemeClr>
                        </a:solidFill>
                        <a:effectLst/>
                        <a:latin typeface="Times New Roman"/>
                        <a:ea typeface="新細明體"/>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zh-TW" sz="1800" b="1" kern="100" dirty="0">
                          <a:solidFill>
                            <a:schemeClr val="accent5">
                              <a:lumMod val="10000"/>
                            </a:schemeClr>
                          </a:solidFill>
                          <a:effectLst/>
                          <a:latin typeface="Times New Roman"/>
                          <a:ea typeface="標楷體"/>
                          <a:cs typeface="Times New Roman"/>
                        </a:rPr>
                        <a:t>楊麗娜、陳朝焚</a:t>
                      </a:r>
                      <a:endParaRPr lang="zh-TW" sz="1800" b="1" kern="100" dirty="0">
                        <a:solidFill>
                          <a:schemeClr val="accent5">
                            <a:lumMod val="10000"/>
                          </a:schemeClr>
                        </a:solidFill>
                        <a:effectLst/>
                        <a:latin typeface="Times New Roman"/>
                        <a:ea typeface="新細明體"/>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88734">
                <a:tc>
                  <a:txBody>
                    <a:bodyPr/>
                    <a:lstStyle/>
                    <a:p>
                      <a:pPr algn="just">
                        <a:lnSpc>
                          <a:spcPct val="100000"/>
                        </a:lnSpc>
                        <a:spcAft>
                          <a:spcPts val="0"/>
                        </a:spcAft>
                      </a:pPr>
                      <a:r>
                        <a:rPr lang="zh-TW" sz="1800" b="1" kern="100" dirty="0">
                          <a:solidFill>
                            <a:schemeClr val="accent5">
                              <a:lumMod val="10000"/>
                            </a:schemeClr>
                          </a:solidFill>
                          <a:effectLst/>
                          <a:latin typeface="Times New Roman"/>
                          <a:ea typeface="標楷體"/>
                          <a:cs typeface="Times New Roman"/>
                        </a:rPr>
                        <a:t>南投縣竹山鎮中央社區發展協會</a:t>
                      </a:r>
                      <a:endParaRPr lang="zh-TW" sz="1800" b="1" kern="100" dirty="0">
                        <a:solidFill>
                          <a:schemeClr val="accent5">
                            <a:lumMod val="10000"/>
                          </a:schemeClr>
                        </a:solidFill>
                        <a:effectLst/>
                        <a:latin typeface="Times New Roman"/>
                        <a:ea typeface="新細明體"/>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zh-TW" sz="1800" b="1" kern="100" dirty="0">
                          <a:solidFill>
                            <a:schemeClr val="accent5">
                              <a:lumMod val="10000"/>
                            </a:schemeClr>
                          </a:solidFill>
                          <a:effectLst/>
                          <a:latin typeface="Times New Roman"/>
                          <a:ea typeface="標楷體"/>
                          <a:cs typeface="Times New Roman"/>
                        </a:rPr>
                        <a:t>曾金水、</a:t>
                      </a:r>
                      <a:r>
                        <a:rPr lang="zh-TW" altLang="en-US" sz="1800" b="1" kern="100" dirty="0">
                          <a:solidFill>
                            <a:schemeClr val="accent5">
                              <a:lumMod val="10000"/>
                            </a:schemeClr>
                          </a:solidFill>
                          <a:effectLst/>
                          <a:latin typeface="Times New Roman"/>
                          <a:ea typeface="標楷體"/>
                          <a:cs typeface="Times New Roman"/>
                        </a:rPr>
                        <a:t>林惠仕、</a:t>
                      </a:r>
                      <a:r>
                        <a:rPr lang="zh-TW" sz="1800" b="1" kern="100" dirty="0">
                          <a:solidFill>
                            <a:schemeClr val="accent5">
                              <a:lumMod val="10000"/>
                            </a:schemeClr>
                          </a:solidFill>
                          <a:effectLst/>
                          <a:latin typeface="Times New Roman"/>
                          <a:ea typeface="標楷體"/>
                          <a:cs typeface="Times New Roman"/>
                        </a:rPr>
                        <a:t>曾文哲</a:t>
                      </a:r>
                      <a:endParaRPr lang="zh-TW" sz="1800" b="1" kern="100" dirty="0">
                        <a:solidFill>
                          <a:schemeClr val="accent5">
                            <a:lumMod val="10000"/>
                          </a:schemeClr>
                        </a:solidFill>
                        <a:effectLst/>
                        <a:latin typeface="Times New Roman"/>
                        <a:ea typeface="新細明體"/>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88734">
                <a:tc>
                  <a:txBody>
                    <a:bodyPr/>
                    <a:lstStyle/>
                    <a:p>
                      <a:pPr algn="just">
                        <a:lnSpc>
                          <a:spcPct val="100000"/>
                        </a:lnSpc>
                        <a:spcAft>
                          <a:spcPts val="0"/>
                        </a:spcAft>
                      </a:pPr>
                      <a:r>
                        <a:rPr lang="zh-TW" sz="1800" b="1" kern="100" dirty="0">
                          <a:solidFill>
                            <a:schemeClr val="accent5">
                              <a:lumMod val="10000"/>
                            </a:schemeClr>
                          </a:solidFill>
                          <a:effectLst/>
                          <a:latin typeface="Times New Roman"/>
                          <a:ea typeface="標楷體"/>
                          <a:cs typeface="Times New Roman"/>
                        </a:rPr>
                        <a:t>南投縣竹山鎮社寮社區發展協會</a:t>
                      </a:r>
                      <a:endParaRPr lang="zh-TW" sz="1800" b="1" kern="100" dirty="0">
                        <a:solidFill>
                          <a:schemeClr val="accent5">
                            <a:lumMod val="10000"/>
                          </a:schemeClr>
                        </a:solidFill>
                        <a:effectLst/>
                        <a:latin typeface="Times New Roman"/>
                        <a:ea typeface="新細明體"/>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zh-TW" altLang="en-US" sz="1800" b="1" kern="100" dirty="0">
                          <a:solidFill>
                            <a:schemeClr val="accent5">
                              <a:lumMod val="10000"/>
                            </a:schemeClr>
                          </a:solidFill>
                          <a:effectLst/>
                          <a:latin typeface="Times New Roman"/>
                          <a:ea typeface="標楷體"/>
                          <a:cs typeface="Times New Roman"/>
                        </a:rPr>
                        <a:t>莊竣發</a:t>
                      </a:r>
                      <a:endParaRPr lang="zh-TW" sz="1800" b="1" kern="100" dirty="0">
                        <a:solidFill>
                          <a:schemeClr val="accent5">
                            <a:lumMod val="10000"/>
                          </a:schemeClr>
                        </a:solidFill>
                        <a:effectLst/>
                        <a:latin typeface="Times New Roman"/>
                        <a:ea typeface="新細明體"/>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88734">
                <a:tc>
                  <a:txBody>
                    <a:bodyPr/>
                    <a:lstStyle/>
                    <a:p>
                      <a:pPr algn="just">
                        <a:lnSpc>
                          <a:spcPct val="100000"/>
                        </a:lnSpc>
                        <a:spcAft>
                          <a:spcPts val="0"/>
                        </a:spcAft>
                      </a:pPr>
                      <a:r>
                        <a:rPr lang="zh-TW" sz="1800" b="1" kern="100">
                          <a:solidFill>
                            <a:schemeClr val="accent5">
                              <a:lumMod val="10000"/>
                            </a:schemeClr>
                          </a:solidFill>
                          <a:effectLst/>
                          <a:latin typeface="Times New Roman"/>
                          <a:ea typeface="標楷體"/>
                          <a:cs typeface="Times New Roman"/>
                        </a:rPr>
                        <a:t>南投縣竹山鎮山崇社區發展協會</a:t>
                      </a:r>
                      <a:endParaRPr lang="zh-TW" sz="1800" b="1" kern="100">
                        <a:solidFill>
                          <a:schemeClr val="accent5">
                            <a:lumMod val="10000"/>
                          </a:schemeClr>
                        </a:solidFill>
                        <a:effectLst/>
                        <a:latin typeface="Times New Roman"/>
                        <a:ea typeface="新細明體"/>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zh-TW" altLang="en-US" sz="1800" b="1" kern="100" dirty="0">
                          <a:solidFill>
                            <a:schemeClr val="accent5">
                              <a:lumMod val="10000"/>
                            </a:schemeClr>
                          </a:solidFill>
                          <a:effectLst/>
                          <a:latin typeface="Times New Roman"/>
                          <a:ea typeface="標楷體"/>
                          <a:cs typeface="Times New Roman"/>
                        </a:rPr>
                        <a:t>吳心如</a:t>
                      </a:r>
                      <a:endParaRPr lang="zh-TW" sz="1800" b="1" kern="100" dirty="0">
                        <a:solidFill>
                          <a:schemeClr val="accent5">
                            <a:lumMod val="10000"/>
                          </a:schemeClr>
                        </a:solidFill>
                        <a:effectLst/>
                        <a:latin typeface="Times New Roman"/>
                        <a:ea typeface="新細明體"/>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358768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小旗艦計畫執行成果</a:t>
            </a:r>
          </a:p>
        </p:txBody>
      </p:sp>
      <p:sp>
        <p:nvSpPr>
          <p:cNvPr id="5" name="矩形 4"/>
          <p:cNvSpPr/>
          <p:nvPr/>
        </p:nvSpPr>
        <p:spPr>
          <a:xfrm>
            <a:off x="395536" y="764704"/>
            <a:ext cx="8424936" cy="3972241"/>
          </a:xfrm>
          <a:prstGeom prst="rect">
            <a:avLst/>
          </a:prstGeom>
        </p:spPr>
        <p:txBody>
          <a:bodyPr wrap="square">
            <a:spAutoFit/>
          </a:bodyPr>
          <a:lstStyle/>
          <a:p>
            <a:pPr marL="304800">
              <a:lnSpc>
                <a:spcPct val="150000"/>
              </a:lnSpc>
              <a:spcAft>
                <a:spcPts val="0"/>
              </a:spcAft>
            </a:pPr>
            <a:r>
              <a:rPr lang="en-US" altLang="zh-TW" sz="2000" b="1" kern="100" dirty="0">
                <a:solidFill>
                  <a:srgbClr val="FF0000"/>
                </a:solidFill>
                <a:latin typeface="Times New Roman"/>
                <a:ea typeface="標楷體"/>
              </a:rPr>
              <a:t>111</a:t>
            </a:r>
            <a:r>
              <a:rPr lang="zh-TW" altLang="en-US" sz="2000" b="1" kern="100" dirty="0">
                <a:solidFill>
                  <a:srgbClr val="FF0000"/>
                </a:solidFill>
                <a:latin typeface="Times New Roman"/>
                <a:ea typeface="標楷體"/>
              </a:rPr>
              <a:t>年</a:t>
            </a:r>
            <a:r>
              <a:rPr lang="zh-TW" altLang="zh-TW" sz="2000" b="1" kern="100" dirty="0">
                <a:solidFill>
                  <a:srgbClr val="FF0000"/>
                </a:solidFill>
                <a:latin typeface="Times New Roman"/>
                <a:ea typeface="標楷體"/>
              </a:rPr>
              <a:t>方案</a:t>
            </a:r>
            <a:r>
              <a:rPr lang="zh-TW" altLang="en-US" sz="2000" b="1" kern="100" dirty="0">
                <a:solidFill>
                  <a:srgbClr val="FF0000"/>
                </a:solidFill>
                <a:latin typeface="Times New Roman"/>
                <a:ea typeface="標楷體"/>
              </a:rPr>
              <a:t>七</a:t>
            </a:r>
            <a:r>
              <a:rPr lang="zh-TW" altLang="zh-TW" sz="2000" b="1" kern="100" dirty="0">
                <a:solidFill>
                  <a:srgbClr val="FF0000"/>
                </a:solidFill>
                <a:latin typeface="Times New Roman"/>
                <a:ea typeface="標楷體"/>
              </a:rPr>
              <a:t>：社區有愛＊轉動無礙</a:t>
            </a:r>
            <a:r>
              <a:rPr lang="en-US" altLang="zh-TW" sz="2000" b="1" kern="100" dirty="0">
                <a:solidFill>
                  <a:srgbClr val="FF0000"/>
                </a:solidFill>
                <a:latin typeface="Times New Roman"/>
                <a:ea typeface="標楷體"/>
              </a:rPr>
              <a:t>-</a:t>
            </a:r>
            <a:r>
              <a:rPr lang="zh-TW" altLang="zh-TW" sz="2000" b="1" kern="100" dirty="0">
                <a:solidFill>
                  <a:srgbClr val="FF0000"/>
                </a:solidFill>
                <a:latin typeface="Times New Roman"/>
                <a:ea typeface="標楷體"/>
              </a:rPr>
              <a:t>成 果 展：</a:t>
            </a:r>
            <a:endParaRPr lang="zh-TW" altLang="zh-TW" sz="2000" b="1" kern="100" dirty="0">
              <a:solidFill>
                <a:srgbClr val="FF0000"/>
              </a:solidFill>
              <a:latin typeface="Times New Roman"/>
              <a:ea typeface="新細明體"/>
            </a:endParaRPr>
          </a:p>
          <a:p>
            <a:pPr marL="304800">
              <a:lnSpc>
                <a:spcPct val="150000"/>
              </a:lnSpc>
              <a:spcAft>
                <a:spcPts val="0"/>
              </a:spcAft>
            </a:pPr>
            <a:r>
              <a:rPr lang="en-US" altLang="zh-TW" sz="2000" b="1" kern="100" dirty="0">
                <a:solidFill>
                  <a:srgbClr val="000000"/>
                </a:solidFill>
                <a:latin typeface="標楷體"/>
                <a:ea typeface="新細明體"/>
              </a:rPr>
              <a:t>  	  1.</a:t>
            </a:r>
            <a:r>
              <a:rPr lang="zh-TW" altLang="zh-TW" sz="2000" b="1" kern="100" dirty="0">
                <a:solidFill>
                  <a:srgbClr val="000000"/>
                </a:solidFill>
                <a:latin typeface="Times New Roman"/>
                <a:ea typeface="標楷體"/>
              </a:rPr>
              <a:t>成果展</a:t>
            </a:r>
            <a:r>
              <a:rPr lang="en-US" altLang="zh-TW" sz="2000" b="1" kern="100" dirty="0">
                <a:solidFill>
                  <a:srgbClr val="000000"/>
                </a:solidFill>
                <a:latin typeface="Times New Roman"/>
                <a:ea typeface="標楷體"/>
              </a:rPr>
              <a:t>-</a:t>
            </a:r>
            <a:r>
              <a:rPr lang="zh-TW" altLang="zh-TW" sz="2000" b="1" kern="100" dirty="0">
                <a:solidFill>
                  <a:srgbClr val="000000"/>
                </a:solidFill>
                <a:latin typeface="Times New Roman"/>
                <a:ea typeface="標楷體"/>
              </a:rPr>
              <a:t>總計有</a:t>
            </a:r>
            <a:r>
              <a:rPr lang="en-US" altLang="zh-TW" sz="2000" b="1" kern="100" dirty="0">
                <a:solidFill>
                  <a:srgbClr val="000000"/>
                </a:solidFill>
                <a:latin typeface="Times New Roman"/>
                <a:ea typeface="標楷體"/>
              </a:rPr>
              <a:t>303</a:t>
            </a:r>
            <a:r>
              <a:rPr lang="zh-TW" altLang="zh-TW" sz="2000" b="1" kern="100" dirty="0">
                <a:solidFill>
                  <a:srgbClr val="000000"/>
                </a:solidFill>
                <a:latin typeface="Times New Roman"/>
                <a:ea typeface="標楷體"/>
              </a:rPr>
              <a:t>人參與（男生</a:t>
            </a:r>
            <a:r>
              <a:rPr lang="en-US" altLang="zh-TW" sz="2000" b="1" kern="100" dirty="0">
                <a:solidFill>
                  <a:srgbClr val="000000"/>
                </a:solidFill>
                <a:latin typeface="Times New Roman"/>
                <a:ea typeface="標楷體"/>
              </a:rPr>
              <a:t>113</a:t>
            </a:r>
            <a:r>
              <a:rPr lang="zh-TW" altLang="zh-TW" sz="2000" b="1" kern="100" dirty="0">
                <a:solidFill>
                  <a:srgbClr val="000000"/>
                </a:solidFill>
                <a:latin typeface="Times New Roman"/>
                <a:ea typeface="標楷體"/>
              </a:rPr>
              <a:t>人，女生</a:t>
            </a:r>
            <a:r>
              <a:rPr lang="en-US" altLang="zh-TW" sz="2000" b="1" kern="100" dirty="0">
                <a:solidFill>
                  <a:srgbClr val="000000"/>
                </a:solidFill>
                <a:latin typeface="Times New Roman"/>
                <a:ea typeface="標楷體"/>
              </a:rPr>
              <a:t>190</a:t>
            </a:r>
            <a:r>
              <a:rPr lang="zh-TW" altLang="zh-TW" sz="2000" b="1" kern="100" dirty="0">
                <a:solidFill>
                  <a:srgbClr val="000000"/>
                </a:solidFill>
                <a:latin typeface="Times New Roman"/>
                <a:ea typeface="標楷體"/>
              </a:rPr>
              <a:t>人）。</a:t>
            </a:r>
            <a:endParaRPr lang="zh-TW" altLang="zh-TW" sz="2000" b="1" kern="100" dirty="0">
              <a:solidFill>
                <a:srgbClr val="000000"/>
              </a:solidFill>
              <a:latin typeface="Times New Roman"/>
              <a:ea typeface="新細明體"/>
            </a:endParaRPr>
          </a:p>
          <a:p>
            <a:pPr>
              <a:lnSpc>
                <a:spcPct val="150000"/>
              </a:lnSpc>
              <a:spcAft>
                <a:spcPts val="0"/>
              </a:spcAft>
            </a:pPr>
            <a:r>
              <a:rPr lang="en-US" altLang="zh-TW" sz="2000" b="1" kern="100" dirty="0">
                <a:solidFill>
                  <a:srgbClr val="000000"/>
                </a:solidFill>
                <a:latin typeface="標楷體"/>
                <a:ea typeface="新細明體"/>
              </a:rPr>
              <a:t>          2.</a:t>
            </a:r>
            <a:r>
              <a:rPr lang="zh-TW" altLang="zh-TW" sz="2000" b="1" kern="100" dirty="0">
                <a:solidFill>
                  <a:srgbClr val="000000"/>
                </a:solidFill>
                <a:latin typeface="Times New Roman"/>
                <a:ea typeface="標楷體"/>
              </a:rPr>
              <a:t>產業行銷收入</a:t>
            </a:r>
            <a:r>
              <a:rPr lang="en-US" altLang="zh-TW" sz="2000" b="1" kern="100" dirty="0">
                <a:solidFill>
                  <a:srgbClr val="000000"/>
                </a:solidFill>
                <a:latin typeface="Times New Roman"/>
                <a:ea typeface="標楷體"/>
              </a:rPr>
              <a:t>-</a:t>
            </a:r>
            <a:r>
              <a:rPr lang="zh-TW" altLang="zh-TW" sz="2000" b="1" kern="100" dirty="0">
                <a:solidFill>
                  <a:srgbClr val="000000"/>
                </a:solidFill>
                <a:latin typeface="Times New Roman"/>
                <a:ea typeface="標楷體"/>
              </a:rPr>
              <a:t>每社區達到</a:t>
            </a:r>
            <a:r>
              <a:rPr lang="en-US" altLang="zh-TW" sz="2000" b="1" kern="100" dirty="0">
                <a:solidFill>
                  <a:srgbClr val="000000"/>
                </a:solidFill>
                <a:latin typeface="Times New Roman"/>
                <a:ea typeface="標楷體"/>
              </a:rPr>
              <a:t>6,000</a:t>
            </a:r>
            <a:r>
              <a:rPr lang="zh-TW" altLang="zh-TW" sz="2000" b="1" kern="100" dirty="0">
                <a:solidFill>
                  <a:srgbClr val="000000"/>
                </a:solidFill>
                <a:latin typeface="Times New Roman"/>
                <a:ea typeface="標楷體"/>
              </a:rPr>
              <a:t>元。</a:t>
            </a:r>
            <a:endParaRPr lang="en-US" altLang="zh-TW" sz="2000" b="1" kern="100" dirty="0">
              <a:solidFill>
                <a:srgbClr val="000000"/>
              </a:solidFill>
              <a:latin typeface="Times New Roman"/>
              <a:ea typeface="標楷體"/>
            </a:endParaRPr>
          </a:p>
          <a:p>
            <a:pPr marL="304800" lvl="0">
              <a:lnSpc>
                <a:spcPct val="150000"/>
              </a:lnSpc>
            </a:pPr>
            <a:r>
              <a:rPr lang="en-US" altLang="zh-TW" sz="2000" b="1" kern="100" dirty="0">
                <a:solidFill>
                  <a:srgbClr val="FF0000"/>
                </a:solidFill>
                <a:latin typeface="Times New Roman"/>
                <a:ea typeface="標楷體"/>
              </a:rPr>
              <a:t>112</a:t>
            </a:r>
            <a:r>
              <a:rPr lang="zh-TW" altLang="en-US" sz="2000" b="1" kern="100" dirty="0">
                <a:solidFill>
                  <a:srgbClr val="FF0000"/>
                </a:solidFill>
                <a:latin typeface="Times New Roman"/>
                <a:ea typeface="標楷體"/>
              </a:rPr>
              <a:t>年</a:t>
            </a:r>
            <a:r>
              <a:rPr lang="zh-TW" altLang="zh-TW" sz="2000" b="1" kern="100" dirty="0">
                <a:solidFill>
                  <a:srgbClr val="FF0000"/>
                </a:solidFill>
                <a:latin typeface="Times New Roman"/>
                <a:ea typeface="標楷體"/>
              </a:rPr>
              <a:t>方案</a:t>
            </a:r>
            <a:r>
              <a:rPr lang="zh-TW" altLang="en-US" sz="2000" b="1" kern="100" dirty="0">
                <a:solidFill>
                  <a:srgbClr val="FF0000"/>
                </a:solidFill>
                <a:latin typeface="Times New Roman"/>
                <a:ea typeface="標楷體"/>
              </a:rPr>
              <a:t>八</a:t>
            </a:r>
            <a:r>
              <a:rPr lang="zh-TW" altLang="zh-TW" sz="2000" b="1" kern="100" dirty="0">
                <a:solidFill>
                  <a:srgbClr val="FF0000"/>
                </a:solidFill>
                <a:latin typeface="Times New Roman"/>
                <a:ea typeface="標楷體"/>
              </a:rPr>
              <a:t>：</a:t>
            </a:r>
            <a:r>
              <a:rPr lang="zh-TW" altLang="en-US" sz="2000" b="1" kern="100" dirty="0">
                <a:solidFill>
                  <a:srgbClr val="FF0000"/>
                </a:solidFill>
                <a:latin typeface="Times New Roman"/>
                <a:ea typeface="標楷體"/>
              </a:rPr>
              <a:t>社區有愛＊轉動無礙</a:t>
            </a:r>
            <a:r>
              <a:rPr lang="en-US" altLang="zh-TW" sz="2000" b="1" kern="100" dirty="0">
                <a:solidFill>
                  <a:srgbClr val="FF0000"/>
                </a:solidFill>
                <a:latin typeface="Times New Roman"/>
                <a:ea typeface="標楷體"/>
              </a:rPr>
              <a:t>-</a:t>
            </a:r>
            <a:r>
              <a:rPr lang="zh-TW" altLang="en-US" sz="2000" b="1" kern="100" dirty="0">
                <a:solidFill>
                  <a:srgbClr val="FF0000"/>
                </a:solidFill>
                <a:latin typeface="Times New Roman"/>
                <a:ea typeface="標楷體"/>
              </a:rPr>
              <a:t>成 果 展：</a:t>
            </a:r>
            <a:r>
              <a:rPr lang="en-US" altLang="zh-TW" sz="2000" b="1" kern="100" dirty="0">
                <a:solidFill>
                  <a:srgbClr val="FF0000"/>
                </a:solidFill>
                <a:latin typeface="Times New Roman"/>
                <a:ea typeface="標楷體"/>
              </a:rPr>
              <a:t>	</a:t>
            </a:r>
            <a:endParaRPr lang="zh-TW" altLang="zh-TW" sz="2000" b="1" kern="100" dirty="0">
              <a:solidFill>
                <a:srgbClr val="FF0000"/>
              </a:solidFill>
              <a:latin typeface="Times New Roman"/>
              <a:ea typeface="新細明體"/>
            </a:endParaRPr>
          </a:p>
          <a:p>
            <a:pPr marL="304800" lvl="0">
              <a:lnSpc>
                <a:spcPct val="150000"/>
              </a:lnSpc>
            </a:pPr>
            <a:r>
              <a:rPr lang="zh-TW" altLang="en-US" sz="2000"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000"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 成果展</a:t>
            </a:r>
            <a:r>
              <a:rPr lang="en-US" altLang="zh-TW" sz="2000"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總計有</a:t>
            </a:r>
            <a:r>
              <a:rPr lang="en-US" altLang="zh-TW" sz="2000"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52</a:t>
            </a:r>
            <a:r>
              <a:rPr lang="zh-TW" altLang="en-US" sz="2000"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人參與（男生</a:t>
            </a:r>
            <a:r>
              <a:rPr lang="en-US" altLang="zh-TW" sz="2000"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18</a:t>
            </a:r>
            <a:r>
              <a:rPr lang="zh-TW" altLang="en-US" sz="2000"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人，女生</a:t>
            </a:r>
            <a:r>
              <a:rPr lang="en-US" altLang="zh-TW" sz="2000"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34</a:t>
            </a:r>
            <a:r>
              <a:rPr lang="zh-TW" altLang="en-US" sz="2000"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rPr>
              <a:t>人）。</a:t>
            </a:r>
            <a:endParaRPr lang="en-US" altLang="zh-TW" sz="2000" b="1" dirty="0">
              <a:solidFill>
                <a:srgbClr val="000000"/>
              </a:solidFill>
              <a:latin typeface="Times New Roman" panose="02020603050405020304" pitchFamily="18" charset="0"/>
              <a:ea typeface="標楷體" panose="03000509000000000000" pitchFamily="65" charset="-120"/>
              <a:cs typeface="Times New Roman" panose="02020603050405020304" pitchFamily="18" charset="0"/>
            </a:endParaRPr>
          </a:p>
          <a:p>
            <a:pPr marL="304800" lvl="0">
              <a:lnSpc>
                <a:spcPct val="150000"/>
              </a:lnSpc>
            </a:pPr>
            <a:r>
              <a:rPr lang="en-US" altLang="zh-TW" sz="2000" b="1" kern="100" dirty="0">
                <a:solidFill>
                  <a:srgbClr val="FF0000"/>
                </a:solidFill>
                <a:latin typeface="Times New Roman"/>
                <a:ea typeface="標楷體"/>
              </a:rPr>
              <a:t>113</a:t>
            </a:r>
            <a:r>
              <a:rPr lang="zh-TW" altLang="en-US" sz="2000" b="1" kern="100" dirty="0">
                <a:solidFill>
                  <a:srgbClr val="FF0000"/>
                </a:solidFill>
                <a:latin typeface="Times New Roman"/>
                <a:ea typeface="標楷體"/>
              </a:rPr>
              <a:t>年</a:t>
            </a:r>
            <a:r>
              <a:rPr lang="zh-TW" altLang="zh-TW" sz="2000" b="1" kern="100" dirty="0">
                <a:solidFill>
                  <a:srgbClr val="FF0000"/>
                </a:solidFill>
                <a:latin typeface="Times New Roman"/>
                <a:ea typeface="標楷體"/>
              </a:rPr>
              <a:t>方案</a:t>
            </a:r>
            <a:r>
              <a:rPr lang="zh-TW" altLang="en-US" sz="2000" b="1" kern="100" dirty="0">
                <a:solidFill>
                  <a:srgbClr val="FF0000"/>
                </a:solidFill>
                <a:latin typeface="Times New Roman"/>
                <a:ea typeface="標楷體"/>
              </a:rPr>
              <a:t>九</a:t>
            </a:r>
            <a:r>
              <a:rPr lang="zh-TW" altLang="zh-TW" sz="2000" b="1" kern="100" dirty="0">
                <a:solidFill>
                  <a:srgbClr val="FF0000"/>
                </a:solidFill>
                <a:latin typeface="Times New Roman"/>
                <a:ea typeface="標楷體"/>
              </a:rPr>
              <a:t>：</a:t>
            </a:r>
            <a:r>
              <a:rPr lang="zh-TW" altLang="en-US" sz="2000" b="1" kern="100" dirty="0">
                <a:solidFill>
                  <a:srgbClr val="FF0000"/>
                </a:solidFill>
                <a:latin typeface="Times New Roman"/>
                <a:ea typeface="標楷體"/>
              </a:rPr>
              <a:t>社區有愛＊轉動無礙</a:t>
            </a:r>
            <a:r>
              <a:rPr lang="en-US" altLang="zh-TW" sz="2000" b="1" kern="100" dirty="0">
                <a:solidFill>
                  <a:srgbClr val="FF0000"/>
                </a:solidFill>
                <a:latin typeface="Times New Roman"/>
                <a:ea typeface="標楷體"/>
              </a:rPr>
              <a:t>-</a:t>
            </a:r>
            <a:r>
              <a:rPr lang="zh-TW" altLang="en-US" sz="2000" b="1" kern="100" dirty="0">
                <a:solidFill>
                  <a:srgbClr val="FF0000"/>
                </a:solidFill>
                <a:latin typeface="Times New Roman"/>
                <a:ea typeface="標楷體"/>
              </a:rPr>
              <a:t>成 果 展：</a:t>
            </a:r>
            <a:endParaRPr lang="zh-TW" altLang="zh-TW" sz="2000" kern="100" dirty="0">
              <a:solidFill>
                <a:srgbClr val="024631"/>
              </a:solidFill>
              <a:latin typeface="Times New Roman"/>
              <a:ea typeface="新細明體"/>
            </a:endParaRPr>
          </a:p>
          <a:p>
            <a:pPr>
              <a:lnSpc>
                <a:spcPct val="150000"/>
              </a:lnSpc>
              <a:spcAft>
                <a:spcPts val="0"/>
              </a:spcAft>
            </a:pPr>
            <a:endParaRPr lang="zh-TW" altLang="zh-TW" b="1" kern="100" dirty="0">
              <a:solidFill>
                <a:srgbClr val="000000"/>
              </a:solidFill>
              <a:latin typeface="Times New Roman"/>
              <a:ea typeface="新細明體"/>
            </a:endParaRPr>
          </a:p>
          <a:p>
            <a:pPr marL="304800">
              <a:lnSpc>
                <a:spcPct val="150000"/>
              </a:lnSpc>
            </a:pPr>
            <a:endParaRPr lang="zh-TW" altLang="zh-TW" sz="1600" b="1" kern="100" dirty="0">
              <a:solidFill>
                <a:srgbClr val="000000"/>
              </a:solidFill>
              <a:latin typeface="Times New Roman"/>
              <a:ea typeface="新細明體"/>
            </a:endParaRPr>
          </a:p>
          <a:p>
            <a:pPr>
              <a:lnSpc>
                <a:spcPct val="150000"/>
              </a:lnSpc>
            </a:pPr>
            <a:endParaRPr lang="zh-TW" altLang="zh-TW" sz="1600" kern="100" dirty="0">
              <a:solidFill>
                <a:srgbClr val="024631"/>
              </a:solidFill>
              <a:latin typeface="Times New Roman"/>
              <a:ea typeface="新細明體"/>
            </a:endParaRPr>
          </a:p>
        </p:txBody>
      </p:sp>
      <p:pic>
        <p:nvPicPr>
          <p:cNvPr id="15365" name="圖片 5">
            <a:extLst>
              <a:ext uri="{FF2B5EF4-FFF2-40B4-BE49-F238E27FC236}">
                <a16:creationId xmlns:a16="http://schemas.microsoft.com/office/drawing/2014/main" id="{C49600B9-E825-4B40-B47C-98B07DBF206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40" y="4581525"/>
            <a:ext cx="5067300"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圖片 2">
            <a:extLst>
              <a:ext uri="{FF2B5EF4-FFF2-40B4-BE49-F238E27FC236}">
                <a16:creationId xmlns:a16="http://schemas.microsoft.com/office/drawing/2014/main" id="{0062D09F-59A4-4AC9-8BB3-74B3233195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3184" t="10838" r="26472" b="6136"/>
          <a:stretch>
            <a:fillRect/>
          </a:stretch>
        </p:blipFill>
        <p:spPr bwMode="auto">
          <a:xfrm>
            <a:off x="5358444" y="4535242"/>
            <a:ext cx="3752147" cy="2322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8823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六、社區資源盤點</a:t>
            </a:r>
          </a:p>
        </p:txBody>
      </p:sp>
      <p:sp>
        <p:nvSpPr>
          <p:cNvPr id="7" name="矩形 6"/>
          <p:cNvSpPr/>
          <p:nvPr/>
        </p:nvSpPr>
        <p:spPr>
          <a:xfrm>
            <a:off x="2123728" y="786498"/>
            <a:ext cx="433965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zh-TW" sz="1800" b="1" i="0" u="none" strike="noStrike" kern="1200" cap="none" spc="0" normalizeH="0" baseline="0" noProof="0" dirty="0">
                <a:ln>
                  <a:noFill/>
                </a:ln>
                <a:solidFill>
                  <a:srgbClr val="000000"/>
                </a:solidFill>
                <a:effectLst/>
                <a:uLnTx/>
                <a:uFillTx/>
                <a:latin typeface="Arial"/>
                <a:ea typeface="標楷體"/>
                <a:cs typeface="Times New Roman"/>
              </a:rPr>
              <a:t>（廟宇、企業、基金會、非營利組織等）</a:t>
            </a:r>
            <a:endParaRPr kumimoji="0" lang="zh-TW" altLang="en-US" sz="1800" b="0" i="0" u="none" strike="noStrike" kern="1200" cap="none" spc="0" normalizeH="0" baseline="0" noProof="0" dirty="0">
              <a:ln>
                <a:noFill/>
              </a:ln>
              <a:solidFill>
                <a:srgbClr val="024631"/>
              </a:solidFill>
              <a:effectLst/>
              <a:uLnTx/>
              <a:uFillTx/>
              <a:latin typeface="Arial"/>
              <a:ea typeface="+mn-ea"/>
              <a:cs typeface="+mn-cs"/>
            </a:endParaRPr>
          </a:p>
        </p:txBody>
      </p:sp>
      <p:graphicFrame>
        <p:nvGraphicFramePr>
          <p:cNvPr id="3" name="表格 2">
            <a:extLst>
              <a:ext uri="{FF2B5EF4-FFF2-40B4-BE49-F238E27FC236}">
                <a16:creationId xmlns:a16="http://schemas.microsoft.com/office/drawing/2014/main" id="{CEFEF6FD-728B-4DE4-85D7-236DECF199B0}"/>
              </a:ext>
            </a:extLst>
          </p:cNvPr>
          <p:cNvGraphicFramePr>
            <a:graphicFrameLocks noGrp="1"/>
          </p:cNvGraphicFramePr>
          <p:nvPr/>
        </p:nvGraphicFramePr>
        <p:xfrm>
          <a:off x="602374" y="1332728"/>
          <a:ext cx="8064500" cy="5276850"/>
        </p:xfrm>
        <a:graphic>
          <a:graphicData uri="http://schemas.openxmlformats.org/drawingml/2006/table">
            <a:tbl>
              <a:tblPr firstRow="1" firstCol="1" bandRow="1" bandCol="1"/>
              <a:tblGrid>
                <a:gridCol w="2276886">
                  <a:extLst>
                    <a:ext uri="{9D8B030D-6E8A-4147-A177-3AD203B41FA5}">
                      <a16:colId xmlns:a16="http://schemas.microsoft.com/office/drawing/2014/main" val="597023902"/>
                    </a:ext>
                  </a:extLst>
                </a:gridCol>
                <a:gridCol w="1628164">
                  <a:extLst>
                    <a:ext uri="{9D8B030D-6E8A-4147-A177-3AD203B41FA5}">
                      <a16:colId xmlns:a16="http://schemas.microsoft.com/office/drawing/2014/main" val="2795839557"/>
                    </a:ext>
                  </a:extLst>
                </a:gridCol>
                <a:gridCol w="1793524">
                  <a:extLst>
                    <a:ext uri="{9D8B030D-6E8A-4147-A177-3AD203B41FA5}">
                      <a16:colId xmlns:a16="http://schemas.microsoft.com/office/drawing/2014/main" val="1711673595"/>
                    </a:ext>
                  </a:extLst>
                </a:gridCol>
                <a:gridCol w="2365926">
                  <a:extLst>
                    <a:ext uri="{9D8B030D-6E8A-4147-A177-3AD203B41FA5}">
                      <a16:colId xmlns:a16="http://schemas.microsoft.com/office/drawing/2014/main" val="1809812027"/>
                    </a:ext>
                  </a:extLst>
                </a:gridCol>
              </a:tblGrid>
              <a:tr h="239395">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服務內容</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服務單位</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服務對象</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主要服務內容</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3174254"/>
                  </a:ext>
                </a:extLst>
              </a:tr>
              <a:tr h="498475">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社區照顧關懷據點餐飲服務</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紫南宮管理委員會</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社區長者、身心障礙者、</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補助每月</a:t>
                      </a:r>
                      <a:r>
                        <a:rPr lang="en-US"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2</a:t>
                      </a: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萬元餐費</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1953761"/>
                  </a:ext>
                </a:extLst>
              </a:tr>
              <a:tr h="772795">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社區照顧關懷據點餐飲服務</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竹山鎮公所</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社區長者共餐、身心障礙者及中低收老人送餐、</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補助每人每餐</a:t>
                      </a:r>
                      <a:r>
                        <a:rPr lang="en-US"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20</a:t>
                      </a: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元餐費。身心障礙者及中低收老人送餐補助每人每餐</a:t>
                      </a:r>
                      <a:r>
                        <a:rPr lang="en-US"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30</a:t>
                      </a: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元</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6248485"/>
                  </a:ext>
                </a:extLst>
              </a:tr>
              <a:tr h="758190">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遠距健康照顧</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竹山秀傳醫院</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社區長者、身心障礙者、獨居、弱勢長者</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生理量測及緊急按鈕平安機</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2769786"/>
                  </a:ext>
                </a:extLst>
              </a:tr>
              <a:tr h="862965">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兒少關懷課後陪伴</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宏將媒體蒲公英關懷教育基金會</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兒少</a:t>
                      </a:r>
                      <a:r>
                        <a:rPr lang="en-US"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a:t>
                      </a: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低收、中低收、新住民、特殊境況、隔代教養</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兒少課後陪伴</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6636729"/>
                  </a:ext>
                </a:extLst>
              </a:tr>
              <a:tr h="498475">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微型保險</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臺銀人壽</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弱勢族群及農漁民</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微型保險</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5037418"/>
                  </a:ext>
                </a:extLst>
              </a:tr>
              <a:tr h="498475">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儲蓄</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中州儲蓄互助社</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社員</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小額儲蓄及借款</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8661953"/>
                  </a:ext>
                </a:extLst>
              </a:tr>
              <a:tr h="498475">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婦女福利</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南投縣竹鹿區婦女服務中心</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夫妻及脆弱家庭</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家庭懇談、婦女服務</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0608090"/>
                  </a:ext>
                </a:extLst>
              </a:tr>
              <a:tr h="498475">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擴大供餐計畫</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水保署</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社區長者、身心障礙者、兒童餐食</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800"/>
                        </a:lnSpc>
                        <a:spcAft>
                          <a:spcPts val="0"/>
                        </a:spcAft>
                      </a:pPr>
                      <a:r>
                        <a:rPr lang="zh-TW" sz="16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補助每人</a:t>
                      </a:r>
                      <a:r>
                        <a:rPr lang="en-US" sz="16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80</a:t>
                      </a:r>
                      <a:r>
                        <a:rPr lang="zh-TW" sz="1600" b="1" kern="100" dirty="0">
                          <a:solidFill>
                            <a:srgbClr val="000000"/>
                          </a:solidFill>
                          <a:effectLst/>
                          <a:latin typeface="Times New Roman" panose="02020603050405020304" pitchFamily="18" charset="0"/>
                          <a:ea typeface="標楷體" panose="03000509000000000000" pitchFamily="65" charset="-120"/>
                          <a:cs typeface="Times New Roman" panose="02020603050405020304" pitchFamily="18" charset="0"/>
                        </a:rPr>
                        <a:t>元</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6312851"/>
                  </a:ext>
                </a:extLst>
              </a:tr>
            </a:tbl>
          </a:graphicData>
        </a:graphic>
      </p:graphicFrame>
    </p:spTree>
    <p:extLst>
      <p:ext uri="{BB962C8B-B14F-4D97-AF65-F5344CB8AC3E}">
        <p14:creationId xmlns:p14="http://schemas.microsoft.com/office/powerpoint/2010/main" val="30365032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113</a:t>
            </a:r>
            <a:r>
              <a:rPr lang="zh-TW" altLang="en-US" dirty="0"/>
              <a:t>年小旗艦計畫執行成果</a:t>
            </a:r>
          </a:p>
        </p:txBody>
      </p:sp>
      <p:sp>
        <p:nvSpPr>
          <p:cNvPr id="5" name="矩形 4"/>
          <p:cNvSpPr/>
          <p:nvPr/>
        </p:nvSpPr>
        <p:spPr>
          <a:xfrm>
            <a:off x="359532" y="1122054"/>
            <a:ext cx="8424936" cy="4865114"/>
          </a:xfrm>
          <a:prstGeom prst="rect">
            <a:avLst/>
          </a:prstGeom>
        </p:spPr>
        <p:txBody>
          <a:bodyPr wrap="square">
            <a:spAutoFit/>
          </a:bodyPr>
          <a:lstStyle/>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zh-TW" altLang="zh-TW" sz="1900" b="1" i="0" u="none" strike="noStrike" kern="100" cap="none" spc="0" normalizeH="0" baseline="0" noProof="0" dirty="0">
                <a:ln>
                  <a:noFill/>
                </a:ln>
                <a:solidFill>
                  <a:srgbClr val="FF0000"/>
                </a:solidFill>
                <a:effectLst/>
                <a:uLnTx/>
                <a:uFillTx/>
                <a:latin typeface="Times New Roman"/>
                <a:ea typeface="標楷體"/>
                <a:cs typeface="+mn-cs"/>
              </a:rPr>
              <a:t>方案一：</a:t>
            </a:r>
            <a:r>
              <a:rPr kumimoji="0" lang="zh-TW" altLang="en-US" sz="1900" b="1" i="0" u="none" strike="noStrike" kern="100" cap="none" spc="0" normalizeH="0" baseline="0" noProof="0" dirty="0">
                <a:ln>
                  <a:noFill/>
                </a:ln>
                <a:solidFill>
                  <a:srgbClr val="FF0000"/>
                </a:solidFill>
                <a:effectLst/>
                <a:uLnTx/>
                <a:uFillTx/>
                <a:latin typeface="Times New Roman"/>
                <a:ea typeface="標楷體"/>
                <a:cs typeface="+mn-cs"/>
              </a:rPr>
              <a:t>福利社區化工作圈會議</a:t>
            </a:r>
            <a:endParaRPr kumimoji="0" lang="en-US" altLang="zh-TW" sz="1900" b="1" i="0" u="none" strike="noStrike" kern="100" cap="none" spc="0" normalizeH="0" baseline="0" noProof="0" dirty="0">
              <a:ln>
                <a:noFill/>
              </a:ln>
              <a:solidFill>
                <a:srgbClr val="FF0000"/>
              </a:solidFill>
              <a:effectLst/>
              <a:uLnTx/>
              <a:uFillTx/>
              <a:latin typeface="Times New Roman"/>
              <a:ea typeface="標楷體"/>
              <a:cs typeface="+mn-cs"/>
            </a:endParaRPr>
          </a:p>
          <a:p>
            <a:pPr marL="304800" marR="0" lvl="0" indent="774700" algn="l" defTabSz="914400" rtl="0" eaLnBrk="1" fontAlgn="auto" latinLnBrk="0" hangingPunct="1">
              <a:lnSpc>
                <a:spcPct val="150000"/>
              </a:lnSpc>
              <a:spcBef>
                <a:spcPts val="0"/>
              </a:spcBef>
              <a:spcAft>
                <a:spcPts val="0"/>
              </a:spcAft>
              <a:buClrTx/>
              <a:buSzTx/>
              <a:buFontTx/>
              <a:buNone/>
              <a:tabLst/>
              <a:defRPr/>
            </a:pP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工作圈會議</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社區*</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5</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次＝</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 42</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人次（男</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24</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人次、女</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18</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a:t>
            </a:r>
            <a:endPar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endParaRPr>
          </a:p>
          <a:p>
            <a:pPr marL="304800" marR="0" lvl="0" indent="774700" algn="l" defTabSz="914400" rtl="0" eaLnBrk="1" fontAlgn="auto" latinLnBrk="0" hangingPunct="1">
              <a:lnSpc>
                <a:spcPct val="150000"/>
              </a:lnSpc>
              <a:spcBef>
                <a:spcPts val="0"/>
              </a:spcBef>
              <a:spcAft>
                <a:spcPts val="0"/>
              </a:spcAft>
              <a:buClrTx/>
              <a:buSzTx/>
              <a:buFontTx/>
              <a:buNone/>
              <a:tabLst/>
              <a:defRPr/>
            </a:pP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 工作推動小組會議</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社區*</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5</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次＝</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31</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人次（男</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17</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人次、女</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14</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 </a:t>
            </a:r>
            <a:endPar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endParaRPr>
          </a:p>
          <a:p>
            <a:pPr marL="304800" marR="0" lvl="0" indent="774700" algn="l" defTabSz="914400" rtl="0" eaLnBrk="1" fontAlgn="auto" latinLnBrk="0" hangingPunct="1">
              <a:lnSpc>
                <a:spcPct val="150000"/>
              </a:lnSpc>
              <a:spcBef>
                <a:spcPts val="0"/>
              </a:spcBef>
              <a:spcAft>
                <a:spcPts val="0"/>
              </a:spcAft>
              <a:buClrTx/>
              <a:buSzTx/>
              <a:buFontTx/>
              <a:buNone/>
              <a:tabLst/>
              <a:defRPr/>
            </a:pP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總計</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10</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場，參與人數</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73</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人次（男</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41</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人次、女</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32</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a:t>
            </a:r>
            <a:endPar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endParaRPr>
          </a:p>
          <a:p>
            <a:pPr marL="304800" marR="0" lvl="0" indent="-38100" algn="l" defTabSz="914400" rtl="0" eaLnBrk="1" fontAlgn="auto" latinLnBrk="0" hangingPunct="1">
              <a:lnSpc>
                <a:spcPct val="150000"/>
              </a:lnSpc>
              <a:spcBef>
                <a:spcPts val="0"/>
              </a:spcBef>
              <a:spcAft>
                <a:spcPts val="0"/>
              </a:spcAft>
              <a:buClrTx/>
              <a:buSzTx/>
              <a:buFontTx/>
              <a:buNone/>
              <a:tabLst/>
              <a:defRPr/>
            </a:pPr>
            <a:r>
              <a:rPr kumimoji="0" lang="zh-TW" altLang="en-US" sz="1900" b="1" i="0" u="none" strike="noStrike" kern="100" cap="none" spc="0" normalizeH="0" baseline="0" noProof="0" dirty="0">
                <a:ln>
                  <a:noFill/>
                </a:ln>
                <a:solidFill>
                  <a:srgbClr val="FF0000"/>
                </a:solidFill>
                <a:effectLst/>
                <a:uLnTx/>
                <a:uFillTx/>
                <a:latin typeface="Times New Roman"/>
                <a:ea typeface="標楷體"/>
                <a:cs typeface="+mn-cs"/>
              </a:rPr>
              <a:t>方案二：銀髮族音樂照護種子師資培訓</a:t>
            </a:r>
            <a:endParaRPr kumimoji="0" lang="en-US" altLang="zh-TW" sz="1900" b="1" i="0" u="none" strike="noStrike" kern="100" cap="none" spc="0" normalizeH="0" baseline="0" noProof="0" dirty="0">
              <a:ln>
                <a:noFill/>
              </a:ln>
              <a:solidFill>
                <a:srgbClr val="FF0000"/>
              </a:solidFill>
              <a:effectLst/>
              <a:uLnTx/>
              <a:uFillTx/>
              <a:latin typeface="Times New Roman"/>
              <a:ea typeface="標楷體"/>
              <a:cs typeface="+mn-cs"/>
            </a:endParaRPr>
          </a:p>
          <a:p>
            <a:pPr marL="304800" marR="0" lvl="0" indent="863600" algn="l" defTabSz="914400" rtl="0" eaLnBrk="1" fontAlgn="auto" latinLnBrk="0" hangingPunct="1">
              <a:lnSpc>
                <a:spcPct val="150000"/>
              </a:lnSpc>
              <a:spcBef>
                <a:spcPts val="0"/>
              </a:spcBef>
              <a:spcAft>
                <a:spcPts val="0"/>
              </a:spcAft>
              <a:buClrTx/>
              <a:buSzTx/>
              <a:buFontTx/>
              <a:buNone/>
              <a:tabLst/>
              <a:defRPr/>
            </a:pPr>
            <a:r>
              <a:rPr kumimoji="0" lang="zh-TW" altLang="zh-TW" sz="1900" b="1" i="0" u="none" strike="noStrike" kern="100" cap="none" spc="0" normalizeH="0" baseline="0" noProof="0" dirty="0">
                <a:ln>
                  <a:noFill/>
                </a:ln>
                <a:solidFill>
                  <a:srgbClr val="000000"/>
                </a:solidFill>
                <a:effectLst/>
                <a:uLnTx/>
                <a:uFillTx/>
                <a:latin typeface="Times New Roman"/>
                <a:ea typeface="標楷體"/>
                <a:cs typeface="+mn-cs"/>
              </a:rPr>
              <a:t>辦理日期</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zh-TW" sz="1900" b="1" i="0" u="none" strike="noStrike" kern="100" cap="none" spc="0" normalizeH="0" baseline="0" noProof="0" dirty="0">
                <a:ln>
                  <a:noFill/>
                </a:ln>
                <a:solidFill>
                  <a:srgbClr val="000000"/>
                </a:solidFill>
                <a:effectLst/>
                <a:uLnTx/>
                <a:uFillTx/>
                <a:latin typeface="Times New Roman"/>
                <a:ea typeface="標楷體"/>
                <a:cs typeface="+mn-cs"/>
              </a:rPr>
              <a:t>月</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13</a:t>
            </a:r>
            <a:r>
              <a:rPr kumimoji="0" lang="zh-TW" altLang="zh-TW" sz="1900" b="1" i="0" u="none" strike="noStrike" kern="100" cap="none" spc="0" normalizeH="0" baseline="0" noProof="0" dirty="0">
                <a:ln>
                  <a:noFill/>
                </a:ln>
                <a:solidFill>
                  <a:srgbClr val="000000"/>
                </a:solidFill>
                <a:effectLst/>
                <a:uLnTx/>
                <a:uFillTx/>
                <a:latin typeface="Times New Roman"/>
                <a:ea typeface="標楷體"/>
                <a:cs typeface="+mn-cs"/>
              </a:rPr>
              <a:t>日，參加人數有</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39</a:t>
            </a:r>
            <a:r>
              <a:rPr kumimoji="0" lang="zh-TW" altLang="zh-TW" sz="1900" b="1" i="0" u="none" strike="noStrike" kern="100" cap="none" spc="0" normalizeH="0" baseline="0" noProof="0" dirty="0">
                <a:ln>
                  <a:noFill/>
                </a:ln>
                <a:solidFill>
                  <a:srgbClr val="000000"/>
                </a:solidFill>
                <a:effectLst/>
                <a:uLnTx/>
                <a:uFillTx/>
                <a:latin typeface="Times New Roman"/>
                <a:ea typeface="標楷體"/>
                <a:cs typeface="+mn-cs"/>
              </a:rPr>
              <a:t>人</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zh-TW" sz="1900" b="1" i="0" u="none" strike="noStrike" kern="100" cap="none" spc="0" normalizeH="0" baseline="0" noProof="0" dirty="0">
                <a:ln>
                  <a:noFill/>
                </a:ln>
                <a:solidFill>
                  <a:srgbClr val="000000"/>
                </a:solidFill>
                <a:effectLst/>
                <a:uLnTx/>
                <a:uFillTx/>
                <a:latin typeface="Times New Roman"/>
                <a:ea typeface="標楷體"/>
                <a:cs typeface="+mn-cs"/>
              </a:rPr>
              <a:t>男</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6</a:t>
            </a:r>
            <a:r>
              <a:rPr kumimoji="0" lang="zh-TW" altLang="zh-TW" sz="1900" b="1" i="0" u="none" strike="noStrike" kern="100" cap="none" spc="0" normalizeH="0" baseline="0" noProof="0" dirty="0">
                <a:ln>
                  <a:noFill/>
                </a:ln>
                <a:solidFill>
                  <a:srgbClr val="000000"/>
                </a:solidFill>
                <a:effectLst/>
                <a:uLnTx/>
                <a:uFillTx/>
                <a:latin typeface="Times New Roman"/>
                <a:ea typeface="標楷體"/>
                <a:cs typeface="+mn-cs"/>
              </a:rPr>
              <a:t>人、女</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33</a:t>
            </a:r>
            <a:r>
              <a:rPr kumimoji="0" lang="zh-TW" altLang="zh-TW" sz="1900" b="1" i="0" u="none" strike="noStrike" kern="100" cap="none" spc="0" normalizeH="0" baseline="0" noProof="0" dirty="0">
                <a:ln>
                  <a:noFill/>
                </a:ln>
                <a:solidFill>
                  <a:srgbClr val="000000"/>
                </a:solidFill>
                <a:effectLst/>
                <a:uLnTx/>
                <a:uFillTx/>
                <a:latin typeface="Times New Roman"/>
                <a:ea typeface="標楷體"/>
                <a:cs typeface="+mn-cs"/>
              </a:rPr>
              <a:t>人</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 </a:t>
            </a:r>
            <a:r>
              <a:rPr kumimoji="0" lang="zh-TW" altLang="zh-TW" sz="1900" b="1" i="0" u="none" strike="noStrike" kern="100" cap="none" spc="0" normalizeH="0" baseline="0" noProof="0" dirty="0">
                <a:ln>
                  <a:noFill/>
                </a:ln>
                <a:solidFill>
                  <a:srgbClr val="000000"/>
                </a:solidFill>
                <a:effectLst/>
                <a:uLnTx/>
                <a:uFillTx/>
                <a:latin typeface="Times New Roman"/>
                <a:ea typeface="標楷體"/>
                <a:cs typeface="+mn-cs"/>
              </a:rPr>
              <a:t>。</a:t>
            </a:r>
            <a:endParaRPr kumimoji="0" lang="zh-TW" altLang="zh-TW" sz="1900" b="1" i="0" u="none" strike="noStrike" kern="100" cap="none" spc="0" normalizeH="0" baseline="0" noProof="0" dirty="0">
              <a:ln>
                <a:noFill/>
              </a:ln>
              <a:solidFill>
                <a:srgbClr val="000000"/>
              </a:solidFill>
              <a:effectLst/>
              <a:uLnTx/>
              <a:uFillTx/>
              <a:latin typeface="Times New Roman"/>
              <a:ea typeface="新細明體"/>
              <a:cs typeface="+mn-cs"/>
            </a:endParaRPr>
          </a:p>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zh-TW" altLang="zh-TW" sz="1900" b="1" i="0" u="none" strike="noStrike" kern="100" cap="none" spc="0" normalizeH="0" baseline="0" noProof="0" dirty="0">
                <a:ln>
                  <a:noFill/>
                </a:ln>
                <a:solidFill>
                  <a:srgbClr val="FF0000"/>
                </a:solidFill>
                <a:effectLst/>
                <a:uLnTx/>
                <a:uFillTx/>
                <a:latin typeface="Times New Roman"/>
                <a:ea typeface="標楷體"/>
                <a:cs typeface="+mn-cs"/>
              </a:rPr>
              <a:t>方案三：</a:t>
            </a:r>
            <a:r>
              <a:rPr kumimoji="0" lang="zh-TW" altLang="en-US" sz="1900" b="1" i="0" u="none" strike="noStrike" kern="100" cap="none" spc="0" normalizeH="0" baseline="0" noProof="0" dirty="0">
                <a:ln>
                  <a:noFill/>
                </a:ln>
                <a:solidFill>
                  <a:srgbClr val="FF0000"/>
                </a:solidFill>
                <a:effectLst/>
                <a:uLnTx/>
                <a:uFillTx/>
                <a:latin typeface="Times New Roman"/>
                <a:ea typeface="標楷體"/>
                <a:cs typeface="+mn-cs"/>
              </a:rPr>
              <a:t>獨老出走及居家安全設置</a:t>
            </a:r>
            <a:endParaRPr kumimoji="0" lang="en-US" altLang="zh-TW" sz="1900" b="1" i="0" u="none" strike="noStrike" kern="100" cap="none" spc="0" normalizeH="0" baseline="0" noProof="0" dirty="0">
              <a:ln>
                <a:noFill/>
              </a:ln>
              <a:solidFill>
                <a:srgbClr val="FF0000"/>
              </a:solidFill>
              <a:effectLst/>
              <a:uLnTx/>
              <a:uFillTx/>
              <a:latin typeface="Times New Roman"/>
              <a:ea typeface="標楷體"/>
              <a:cs typeface="+mn-cs"/>
            </a:endParaRPr>
          </a:p>
          <a:p>
            <a:pPr marL="304800" marR="0" lvl="0" indent="774700" algn="l" defTabSz="914400" rtl="0" eaLnBrk="1" fontAlgn="auto" latinLnBrk="0" hangingPunct="1">
              <a:lnSpc>
                <a:spcPct val="150000"/>
              </a:lnSpc>
              <a:spcBef>
                <a:spcPts val="0"/>
              </a:spcBef>
              <a:spcAft>
                <a:spcPts val="0"/>
              </a:spcAft>
              <a:buClrTx/>
              <a:buSzTx/>
              <a:buFontTx/>
              <a:buNone/>
              <a:tabLst/>
              <a:defRPr/>
            </a:pP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居家安全環境設施設備扶手 </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20</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位（男</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8</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人次、女</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12</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a:t>
            </a:r>
            <a:endPar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endParaRPr>
          </a:p>
          <a:p>
            <a:pPr marL="304800" marR="0" lvl="0" indent="952500" algn="l" defTabSz="914400" rtl="0" eaLnBrk="1" fontAlgn="auto" latinLnBrk="0" hangingPunct="1">
              <a:lnSpc>
                <a:spcPct val="150000"/>
              </a:lnSpc>
              <a:spcBef>
                <a:spcPts val="0"/>
              </a:spcBef>
              <a:spcAft>
                <a:spcPts val="0"/>
              </a:spcAft>
              <a:buClrTx/>
              <a:buSzTx/>
              <a:buFontTx/>
              <a:buNone/>
              <a:tabLst/>
              <a:defRPr/>
            </a:pP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防滑墊</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40</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位（男</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26</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人次、女</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14</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a:t>
            </a:r>
            <a:endPar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endParaRPr>
          </a:p>
          <a:p>
            <a:pPr marL="304800" marR="0" lvl="0" indent="774700" algn="l" defTabSz="914400" rtl="0" eaLnBrk="1" fontAlgn="auto" latinLnBrk="0" hangingPunct="1">
              <a:lnSpc>
                <a:spcPct val="150000"/>
              </a:lnSpc>
              <a:spcBef>
                <a:spcPts val="0"/>
              </a:spcBef>
              <a:spcAft>
                <a:spcPts val="0"/>
              </a:spcAft>
              <a:buClrTx/>
              <a:buSzTx/>
              <a:buFontTx/>
              <a:buNone/>
              <a:tabLst/>
              <a:defRPr/>
            </a:pP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靈性關懷陪伴課程總計</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5</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場＝</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191</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人次（男</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56</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人次、女</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135</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 </a:t>
            </a:r>
            <a:endPar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endParaRPr>
          </a:p>
          <a:p>
            <a:pPr marL="304800" marR="0" lvl="0" indent="774700" algn="l" defTabSz="914400" rtl="0" eaLnBrk="1" fontAlgn="auto" latinLnBrk="0" hangingPunct="1">
              <a:lnSpc>
                <a:spcPct val="150000"/>
              </a:lnSpc>
              <a:spcBef>
                <a:spcPts val="0"/>
              </a:spcBef>
              <a:spcAft>
                <a:spcPts val="0"/>
              </a:spcAft>
              <a:buClrTx/>
              <a:buSzTx/>
              <a:buFontTx/>
              <a:buNone/>
              <a:tabLst/>
              <a:defRPr/>
            </a:pP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戶外活動總計</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場，參與人數</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40</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人次（男</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13</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人次、女</a:t>
            </a:r>
            <a:r>
              <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rPr>
              <a:t>27</a:t>
            </a:r>
            <a:r>
              <a:rPr kumimoji="0" lang="zh-TW" altLang="en-US" sz="1900" b="1" i="0" u="none" strike="noStrike" kern="100" cap="none" spc="0" normalizeH="0" baseline="0" noProof="0" dirty="0">
                <a:ln>
                  <a:noFill/>
                </a:ln>
                <a:solidFill>
                  <a:srgbClr val="000000"/>
                </a:solidFill>
                <a:effectLst/>
                <a:uLnTx/>
                <a:uFillTx/>
                <a:latin typeface="Times New Roman"/>
                <a:ea typeface="標楷體"/>
                <a:cs typeface="+mn-cs"/>
              </a:rPr>
              <a:t>人次）。</a:t>
            </a:r>
            <a:endParaRPr kumimoji="0" lang="en-US" altLang="zh-TW" sz="1900" b="1" i="0" u="none" strike="noStrike" kern="100" cap="none" spc="0" normalizeH="0" baseline="0" noProof="0" dirty="0">
              <a:ln>
                <a:noFill/>
              </a:ln>
              <a:solidFill>
                <a:srgbClr val="000000"/>
              </a:solidFill>
              <a:effectLst/>
              <a:uLnTx/>
              <a:uFillTx/>
              <a:latin typeface="Times New Roman"/>
              <a:ea typeface="標楷體"/>
              <a:cs typeface="+mn-cs"/>
            </a:endParaRPr>
          </a:p>
        </p:txBody>
      </p:sp>
    </p:spTree>
    <p:extLst>
      <p:ext uri="{BB962C8B-B14F-4D97-AF65-F5344CB8AC3E}">
        <p14:creationId xmlns:p14="http://schemas.microsoft.com/office/powerpoint/2010/main" val="20554158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27649-905E-A63B-57E6-A52EDDA3D5B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24DD7A5-C1E3-1CE1-4799-2472CA4CC4FF}"/>
              </a:ext>
            </a:extLst>
          </p:cNvPr>
          <p:cNvSpPr>
            <a:spLocks noGrp="1"/>
          </p:cNvSpPr>
          <p:nvPr>
            <p:ph type="title"/>
          </p:nvPr>
        </p:nvSpPr>
        <p:spPr/>
        <p:txBody>
          <a:bodyPr/>
          <a:lstStyle/>
          <a:p>
            <a:r>
              <a:rPr lang="en-US" altLang="zh-TW" dirty="0"/>
              <a:t>113</a:t>
            </a:r>
            <a:r>
              <a:rPr lang="zh-TW" altLang="en-US" dirty="0"/>
              <a:t>年小旗艦計畫執行成果</a:t>
            </a:r>
          </a:p>
        </p:txBody>
      </p:sp>
      <p:sp>
        <p:nvSpPr>
          <p:cNvPr id="5" name="矩形 4">
            <a:extLst>
              <a:ext uri="{FF2B5EF4-FFF2-40B4-BE49-F238E27FC236}">
                <a16:creationId xmlns:a16="http://schemas.microsoft.com/office/drawing/2014/main" id="{743580D2-BB1B-AFFF-CEE4-924983564651}"/>
              </a:ext>
            </a:extLst>
          </p:cNvPr>
          <p:cNvSpPr/>
          <p:nvPr/>
        </p:nvSpPr>
        <p:spPr>
          <a:xfrm>
            <a:off x="359532" y="1124744"/>
            <a:ext cx="8424936" cy="3367397"/>
          </a:xfrm>
          <a:prstGeom prst="rect">
            <a:avLst/>
          </a:prstGeom>
        </p:spPr>
        <p:txBody>
          <a:bodyPr wrap="square">
            <a:spAutoFit/>
          </a:bodyPr>
          <a:lstStyle/>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方案</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四</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社區共生</a:t>
            </a: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簡易水電維修培訓</a:t>
            </a:r>
            <a:endPar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endParaRPr>
          </a:p>
          <a:p>
            <a:pPr marL="304800" marR="0" lvl="0" indent="77470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社區共生概念課程總計</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場＝</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26</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人次（男</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11</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人次、女</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15</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 </a:t>
            </a:r>
            <a:endPar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endParaRPr>
          </a:p>
          <a:p>
            <a:pPr marL="304800" marR="0" lvl="0" indent="77470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簡易水電維修課程總計</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場＝</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84</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人次（男</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33</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人次、女</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51</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 </a:t>
            </a:r>
          </a:p>
          <a:p>
            <a:pPr marL="304800" marR="0" lvl="0" indent="-38100" algn="l" defTabSz="914400" rtl="0" eaLnBrk="1" fontAlgn="auto" latinLnBrk="0" hangingPunct="1">
              <a:lnSpc>
                <a:spcPct val="150000"/>
              </a:lnSpc>
              <a:spcBef>
                <a:spcPts val="0"/>
              </a:spcBef>
              <a:spcAft>
                <a:spcPts val="0"/>
              </a:spcAft>
              <a:buClrTx/>
              <a:buSzTx/>
              <a:buFontTx/>
              <a:buNone/>
              <a:tabLst/>
              <a:defRPr/>
            </a:pP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方案五：夫妻溫度計</a:t>
            </a: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幸福嗎？美滿嗎？</a:t>
            </a:r>
            <a:endPar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endParaRPr>
          </a:p>
          <a:p>
            <a:pPr marL="304800" marR="0" lvl="0" indent="863600" algn="l" defTabSz="914400" rtl="0" eaLnBrk="1" fontAlgn="auto" latinLnBrk="0" hangingPunct="1">
              <a:lnSpc>
                <a:spcPct val="150000"/>
              </a:lnSpc>
              <a:spcBef>
                <a:spcPts val="0"/>
              </a:spcBef>
              <a:spcAft>
                <a:spcPts val="0"/>
              </a:spcAft>
              <a:buClrTx/>
              <a:buSzTx/>
              <a:buFontTx/>
              <a:buNone/>
              <a:tabLst/>
              <a:defRPr/>
            </a:pP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夫妻溫度計課程總計</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場＝</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57</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男</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19</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人、女</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38</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人</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 </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a:t>
            </a:r>
            <a:endParaRPr kumimoji="0" lang="zh-TW" altLang="zh-TW" sz="1800" b="1" i="0" u="none" strike="noStrike" kern="100" cap="none" spc="0" normalizeH="0" baseline="0" noProof="0" dirty="0">
              <a:ln>
                <a:noFill/>
              </a:ln>
              <a:solidFill>
                <a:srgbClr val="000000"/>
              </a:solidFill>
              <a:effectLst/>
              <a:uLnTx/>
              <a:uFillTx/>
              <a:latin typeface="Times New Roman"/>
              <a:ea typeface="新細明體"/>
              <a:cs typeface="+mn-cs"/>
            </a:endParaRPr>
          </a:p>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方案</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六</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親子團體動力心體驗</a:t>
            </a:r>
            <a:endPar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endParaRPr>
          </a:p>
          <a:p>
            <a:pPr marL="1168400" marR="0" lvl="0" indent="0" algn="l" defTabSz="914400" rtl="0" eaLnBrk="1" fontAlgn="auto" latinLnBrk="0" hangingPunct="1">
              <a:lnSpc>
                <a:spcPct val="150000"/>
              </a:lnSpc>
              <a:spcBef>
                <a:spcPts val="0"/>
              </a:spcBef>
              <a:spcAft>
                <a:spcPts val="0"/>
              </a:spcAft>
              <a:buClrTx/>
              <a:buSzTx/>
              <a:buFontTx/>
              <a:buNone/>
              <a:tabLst/>
              <a:defRPr/>
            </a:pP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辦理時間為</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10/5~6</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，共兩天</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85</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男</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39</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人、女</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46</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人</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 </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，兒童共</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36</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人次，成人共</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49</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a:t>
            </a:r>
            <a:r>
              <a:rPr kumimoji="0" lang="zh-TW" altLang="zh-TW" sz="1800" b="1" i="0" u="none" strike="noStrike" kern="100" cap="none" spc="0" normalizeH="0" baseline="0" noProof="0" dirty="0">
                <a:ln>
                  <a:noFill/>
                </a:ln>
                <a:solidFill>
                  <a:srgbClr val="000000"/>
                </a:solidFill>
                <a:effectLst/>
                <a:uLnTx/>
                <a:uFillTx/>
                <a:latin typeface="Times New Roman"/>
                <a:ea typeface="標楷體"/>
                <a:cs typeface="+mn-cs"/>
              </a:rPr>
              <a:t>。</a:t>
            </a:r>
            <a:endPar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endParaRPr>
          </a:p>
        </p:txBody>
      </p:sp>
      <p:pic>
        <p:nvPicPr>
          <p:cNvPr id="4" name="圖片 3">
            <a:extLst>
              <a:ext uri="{FF2B5EF4-FFF2-40B4-BE49-F238E27FC236}">
                <a16:creationId xmlns:a16="http://schemas.microsoft.com/office/drawing/2014/main" id="{056FE087-8997-3308-B439-5AA10147F3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000" y="4788774"/>
            <a:ext cx="2771800" cy="2078850"/>
          </a:xfrm>
          <a:prstGeom prst="rect">
            <a:avLst/>
          </a:prstGeom>
        </p:spPr>
      </p:pic>
      <p:pic>
        <p:nvPicPr>
          <p:cNvPr id="7" name="圖片 6">
            <a:extLst>
              <a:ext uri="{FF2B5EF4-FFF2-40B4-BE49-F238E27FC236}">
                <a16:creationId xmlns:a16="http://schemas.microsoft.com/office/drawing/2014/main" id="{3A9ADC25-3AD0-7B6B-C259-E4CEE5018EFB}"/>
              </a:ext>
            </a:extLst>
          </p:cNvPr>
          <p:cNvPicPr>
            <a:picLocks noChangeAspect="1"/>
          </p:cNvPicPr>
          <p:nvPr/>
        </p:nvPicPr>
        <p:blipFill>
          <a:blip r:embed="rId4" cstate="print">
            <a:extLst>
              <a:ext uri="{28A0092B-C50C-407E-A947-70E740481C1C}">
                <a14:useLocalDpi xmlns:a14="http://schemas.microsoft.com/office/drawing/2010/main" val="0"/>
              </a:ext>
            </a:extLst>
          </a:blip>
          <a:srcRect l="23226" b="8000"/>
          <a:stretch/>
        </p:blipFill>
        <p:spPr>
          <a:xfrm>
            <a:off x="2752800" y="4788774"/>
            <a:ext cx="2313102" cy="2078851"/>
          </a:xfrm>
          <a:prstGeom prst="rect">
            <a:avLst/>
          </a:prstGeom>
        </p:spPr>
      </p:pic>
      <p:pic>
        <p:nvPicPr>
          <p:cNvPr id="9" name="圖片 8">
            <a:extLst>
              <a:ext uri="{FF2B5EF4-FFF2-40B4-BE49-F238E27FC236}">
                <a16:creationId xmlns:a16="http://schemas.microsoft.com/office/drawing/2014/main" id="{57FEABB5-87D9-8270-8FBF-8F1B059F4468}"/>
              </a:ext>
            </a:extLst>
          </p:cNvPr>
          <p:cNvPicPr>
            <a:picLocks noChangeAspect="1"/>
          </p:cNvPicPr>
          <p:nvPr/>
        </p:nvPicPr>
        <p:blipFill>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l="23226" t="5900" r="16925" b="672"/>
          <a:stretch/>
        </p:blipFill>
        <p:spPr>
          <a:xfrm>
            <a:off x="5065902" y="4779149"/>
            <a:ext cx="1775590" cy="2078851"/>
          </a:xfrm>
          <a:prstGeom prst="rect">
            <a:avLst/>
          </a:prstGeom>
        </p:spPr>
      </p:pic>
      <p:pic>
        <p:nvPicPr>
          <p:cNvPr id="11" name="圖片 10">
            <a:extLst>
              <a:ext uri="{FF2B5EF4-FFF2-40B4-BE49-F238E27FC236}">
                <a16:creationId xmlns:a16="http://schemas.microsoft.com/office/drawing/2014/main" id="{FBA30C15-0DE5-39EA-6A3B-94415B1C26B2}"/>
              </a:ext>
            </a:extLst>
          </p:cNvPr>
          <p:cNvPicPr>
            <a:picLocks noChangeAspect="1"/>
          </p:cNvPicPr>
          <p:nvPr/>
        </p:nvPicPr>
        <p:blipFill>
          <a:blip r:embed="rId7" cstate="print">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rcRect l="14563" t="1700" r="8197" b="-141"/>
          <a:stretch/>
        </p:blipFill>
        <p:spPr>
          <a:xfrm>
            <a:off x="6841492" y="4769524"/>
            <a:ext cx="2195004" cy="2098100"/>
          </a:xfrm>
          <a:prstGeom prst="rect">
            <a:avLst/>
          </a:prstGeom>
        </p:spPr>
      </p:pic>
    </p:spTree>
    <p:extLst>
      <p:ext uri="{BB962C8B-B14F-4D97-AF65-F5344CB8AC3E}">
        <p14:creationId xmlns:p14="http://schemas.microsoft.com/office/powerpoint/2010/main" val="1869606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73327-D014-10F6-0DAD-EA9044B952A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1D3F0DB-82B0-29D9-CA58-4FE81DBB62A1}"/>
              </a:ext>
            </a:extLst>
          </p:cNvPr>
          <p:cNvSpPr>
            <a:spLocks noGrp="1"/>
          </p:cNvSpPr>
          <p:nvPr>
            <p:ph type="title"/>
          </p:nvPr>
        </p:nvSpPr>
        <p:spPr/>
        <p:txBody>
          <a:bodyPr/>
          <a:lstStyle/>
          <a:p>
            <a:r>
              <a:rPr lang="en-US" altLang="zh-TW" dirty="0"/>
              <a:t>113</a:t>
            </a:r>
            <a:r>
              <a:rPr lang="zh-TW" altLang="en-US" dirty="0"/>
              <a:t>年小旗艦計畫執行成果</a:t>
            </a:r>
          </a:p>
        </p:txBody>
      </p:sp>
      <p:sp>
        <p:nvSpPr>
          <p:cNvPr id="5" name="矩形 4">
            <a:extLst>
              <a:ext uri="{FF2B5EF4-FFF2-40B4-BE49-F238E27FC236}">
                <a16:creationId xmlns:a16="http://schemas.microsoft.com/office/drawing/2014/main" id="{898278BE-4856-4F2A-0875-AD787923DDF8}"/>
              </a:ext>
            </a:extLst>
          </p:cNvPr>
          <p:cNvSpPr/>
          <p:nvPr/>
        </p:nvSpPr>
        <p:spPr>
          <a:xfrm>
            <a:off x="359532" y="1024368"/>
            <a:ext cx="8424936" cy="3367397"/>
          </a:xfrm>
          <a:prstGeom prst="rect">
            <a:avLst/>
          </a:prstGeom>
        </p:spPr>
        <p:txBody>
          <a:bodyPr wrap="square">
            <a:spAutoFit/>
          </a:bodyPr>
          <a:lstStyle/>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方案</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七</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強化社會安全網</a:t>
            </a: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建立兒童安全及脫貧自立服務方案</a:t>
            </a:r>
            <a:endPar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endParaRPr>
          </a:p>
          <a:p>
            <a:pPr marL="304800" marR="0" lvl="0" indent="77470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兒童儲蓄專帳共</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52</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位。 </a:t>
            </a:r>
            <a:endPar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endParaRPr>
          </a:p>
          <a:p>
            <a:pPr marL="304800" marR="0" lvl="0" indent="77470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兒少理財及實務教學課程總計</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場＝</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60</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人次（男</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25</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人次、女</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35</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 </a:t>
            </a:r>
            <a:endPar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endParaRPr>
          </a:p>
          <a:p>
            <a:pPr marL="304800" marR="0" lvl="0" indent="77470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網路安全宣導講座總計</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場＝</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43</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人次（男</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18</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人次、女</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25</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 </a:t>
            </a:r>
          </a:p>
          <a:p>
            <a:pPr marL="304800" marR="0" lvl="0" indent="-38100" algn="l" defTabSz="914400" rtl="0" eaLnBrk="1" fontAlgn="auto" latinLnBrk="0" hangingPunct="1">
              <a:lnSpc>
                <a:spcPct val="150000"/>
              </a:lnSpc>
              <a:spcBef>
                <a:spcPts val="0"/>
              </a:spcBef>
              <a:spcAft>
                <a:spcPts val="0"/>
              </a:spcAft>
              <a:buClrTx/>
              <a:buSzTx/>
              <a:buFontTx/>
              <a:buNone/>
              <a:tabLst/>
              <a:defRPr/>
            </a:pP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方案八：社區友愛*轉動無礙</a:t>
            </a: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小旗艦社區報</a:t>
            </a:r>
            <a:endPar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endParaRPr>
          </a:p>
          <a:p>
            <a:pPr marL="304800" marR="0" lvl="0" indent="863600" algn="l" defTabSz="914400" rtl="0" eaLnBrk="1" fontAlgn="auto" latinLnBrk="0" hangingPunct="1">
              <a:lnSpc>
                <a:spcPct val="150000"/>
              </a:lnSpc>
              <a:spcBef>
                <a:spcPts val="0"/>
              </a:spcBef>
              <a:spcAft>
                <a:spcPts val="0"/>
              </a:spcAft>
              <a:buClrTx/>
              <a:buSzTx/>
              <a:buFontTx/>
              <a:buNone/>
              <a:tabLst/>
              <a:defRPr/>
            </a:pP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社區*</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100</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份*</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期＝</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1,600</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份（男</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800</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人次、女</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800</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人次）。</a:t>
            </a:r>
          </a:p>
          <a:p>
            <a:pPr marL="304800" marR="0" lvl="0" indent="0" algn="l" defTabSz="914400" rtl="0" eaLnBrk="1" fontAlgn="auto" latinLnBrk="0" hangingPunct="1">
              <a:lnSpc>
                <a:spcPct val="150000"/>
              </a:lnSpc>
              <a:spcBef>
                <a:spcPts val="0"/>
              </a:spcBef>
              <a:spcAft>
                <a:spcPts val="0"/>
              </a:spcAft>
              <a:buClrTx/>
              <a:buSzTx/>
              <a:buFontTx/>
              <a:buNone/>
              <a:tabLst/>
              <a:defRPr/>
            </a:pP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方案</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九</a:t>
            </a:r>
            <a:r>
              <a:rPr kumimoji="0" lang="zh-TW"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社區有愛*轉動無礙</a:t>
            </a:r>
            <a:r>
              <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en-US" sz="1800" b="1" i="0" u="none" strike="noStrike" kern="100" cap="none" spc="0" normalizeH="0" baseline="0" noProof="0" dirty="0">
                <a:ln>
                  <a:noFill/>
                </a:ln>
                <a:solidFill>
                  <a:srgbClr val="FF0000"/>
                </a:solidFill>
                <a:effectLst/>
                <a:uLnTx/>
                <a:uFillTx/>
                <a:latin typeface="Times New Roman"/>
                <a:ea typeface="標楷體"/>
                <a:cs typeface="+mn-cs"/>
              </a:rPr>
              <a:t>成果分享會</a:t>
            </a:r>
            <a:endParaRPr kumimoji="0" lang="en-US" altLang="zh-TW" sz="1800" b="1" i="0" u="none" strike="noStrike" kern="100" cap="none" spc="0" normalizeH="0" baseline="0" noProof="0" dirty="0">
              <a:ln>
                <a:noFill/>
              </a:ln>
              <a:solidFill>
                <a:srgbClr val="FF0000"/>
              </a:solidFill>
              <a:effectLst/>
              <a:uLnTx/>
              <a:uFillTx/>
              <a:latin typeface="Times New Roman"/>
              <a:ea typeface="標楷體"/>
              <a:cs typeface="+mn-cs"/>
            </a:endParaRPr>
          </a:p>
          <a:p>
            <a:pPr marL="1168400" marR="0" lvl="0" indent="0" algn="l" defTabSz="914400" rtl="0" eaLnBrk="1" fontAlgn="auto" latinLnBrk="0" hangingPunct="1">
              <a:lnSpc>
                <a:spcPct val="150000"/>
              </a:lnSpc>
              <a:spcBef>
                <a:spcPts val="0"/>
              </a:spcBef>
              <a:spcAft>
                <a:spcPts val="0"/>
              </a:spcAft>
              <a:buClrTx/>
              <a:buSzTx/>
              <a:buFontTx/>
              <a:buNone/>
              <a:tabLst/>
              <a:defRPr/>
            </a:pP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辦理日期</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11</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月</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19</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日，參加人數有</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107</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男</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34</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人、女</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73</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人</a:t>
            </a:r>
            <a:r>
              <a:rPr kumimoji="0" lang="en-US" altLang="zh-TW" sz="1800" b="1" i="0" u="none" strike="noStrike" kern="100" cap="none" spc="0" normalizeH="0" baseline="0" noProof="0" dirty="0">
                <a:ln>
                  <a:noFill/>
                </a:ln>
                <a:solidFill>
                  <a:srgbClr val="000000"/>
                </a:solidFill>
                <a:effectLst/>
                <a:uLnTx/>
                <a:uFillTx/>
                <a:latin typeface="Times New Roman"/>
                <a:ea typeface="標楷體"/>
                <a:cs typeface="+mn-cs"/>
              </a:rPr>
              <a:t>) </a:t>
            </a:r>
            <a:r>
              <a:rPr kumimoji="0" lang="zh-TW" altLang="en-US" sz="1800" b="1" i="0" u="none" strike="noStrike" kern="100" cap="none" spc="0" normalizeH="0" baseline="0" noProof="0" dirty="0">
                <a:ln>
                  <a:noFill/>
                </a:ln>
                <a:solidFill>
                  <a:srgbClr val="000000"/>
                </a:solidFill>
                <a:effectLst/>
                <a:uLnTx/>
                <a:uFillTx/>
                <a:latin typeface="Times New Roman"/>
                <a:ea typeface="標楷體"/>
                <a:cs typeface="+mn-cs"/>
              </a:rPr>
              <a:t>。</a:t>
            </a:r>
          </a:p>
        </p:txBody>
      </p:sp>
      <p:pic>
        <p:nvPicPr>
          <p:cNvPr id="4" name="圖片 3">
            <a:extLst>
              <a:ext uri="{FF2B5EF4-FFF2-40B4-BE49-F238E27FC236}">
                <a16:creationId xmlns:a16="http://schemas.microsoft.com/office/drawing/2014/main" id="{F0FA2E58-9388-2E2C-597C-33F81DEDD57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9000" y="4788774"/>
            <a:ext cx="2771800" cy="2078850"/>
          </a:xfrm>
          <a:prstGeom prst="rect">
            <a:avLst/>
          </a:prstGeom>
        </p:spPr>
      </p:pic>
      <p:pic>
        <p:nvPicPr>
          <p:cNvPr id="7" name="圖片 6">
            <a:extLst>
              <a:ext uri="{FF2B5EF4-FFF2-40B4-BE49-F238E27FC236}">
                <a16:creationId xmlns:a16="http://schemas.microsoft.com/office/drawing/2014/main" id="{9DDF59AA-1FB7-3B9C-604D-06C6D7CE8424}"/>
              </a:ext>
            </a:extLst>
          </p:cNvPr>
          <p:cNvPicPr>
            <a:picLocks noChangeAspect="1"/>
          </p:cNvPicPr>
          <p:nvPr/>
        </p:nvPicPr>
        <p:blipFill>
          <a:blip r:embed="rId4" cstate="print">
            <a:extLst>
              <a:ext uri="{28A0092B-C50C-407E-A947-70E740481C1C}">
                <a14:useLocalDpi xmlns:a14="http://schemas.microsoft.com/office/drawing/2010/main" val="0"/>
              </a:ext>
            </a:extLst>
          </a:blip>
          <a:srcRect l="8274" r="8274"/>
          <a:stretch/>
        </p:blipFill>
        <p:spPr>
          <a:xfrm>
            <a:off x="2752800" y="4788774"/>
            <a:ext cx="2313102" cy="2078851"/>
          </a:xfrm>
          <a:prstGeom prst="rect">
            <a:avLst/>
          </a:prstGeom>
        </p:spPr>
      </p:pic>
      <p:pic>
        <p:nvPicPr>
          <p:cNvPr id="9" name="圖片 8">
            <a:extLst>
              <a:ext uri="{FF2B5EF4-FFF2-40B4-BE49-F238E27FC236}">
                <a16:creationId xmlns:a16="http://schemas.microsoft.com/office/drawing/2014/main" id="{1F646BF2-4A90-E895-00B8-02DF4DFD3730}"/>
              </a:ext>
            </a:extLst>
          </p:cNvPr>
          <p:cNvPicPr>
            <a:picLocks noChangeAspect="1"/>
          </p:cNvPicPr>
          <p:nvPr/>
        </p:nvPicPr>
        <p:blipFill>
          <a:blip r:embed="rId5" cstate="print">
            <a:extLst>
              <a:ext uri="{28A0092B-C50C-407E-A947-70E740481C1C}">
                <a14:useLocalDpi xmlns:a14="http://schemas.microsoft.com/office/drawing/2010/main" val="0"/>
              </a:ext>
            </a:extLst>
          </a:blip>
          <a:srcRect t="6095" b="6095"/>
          <a:stretch/>
        </p:blipFill>
        <p:spPr>
          <a:xfrm>
            <a:off x="5065902" y="4779149"/>
            <a:ext cx="1775590" cy="2078851"/>
          </a:xfrm>
          <a:prstGeom prst="rect">
            <a:avLst/>
          </a:prstGeom>
        </p:spPr>
      </p:pic>
      <p:pic>
        <p:nvPicPr>
          <p:cNvPr id="11" name="圖片 10">
            <a:extLst>
              <a:ext uri="{FF2B5EF4-FFF2-40B4-BE49-F238E27FC236}">
                <a16:creationId xmlns:a16="http://schemas.microsoft.com/office/drawing/2014/main" id="{0C28AB35-AA14-BE2A-C29A-FA2DA2242F9E}"/>
              </a:ext>
            </a:extLst>
          </p:cNvPr>
          <p:cNvPicPr>
            <a:picLocks noChangeAspect="1"/>
          </p:cNvPicPr>
          <p:nvPr/>
        </p:nvPicPr>
        <p:blipFill>
          <a:blip r:embed="rId6" cstate="print">
            <a:extLst>
              <a:ext uri="{28A0092B-C50C-407E-A947-70E740481C1C}">
                <a14:useLocalDpi xmlns:a14="http://schemas.microsoft.com/office/drawing/2010/main" val="0"/>
              </a:ext>
            </a:extLst>
          </a:blip>
          <a:srcRect t="-1758" r="21518" b="1758"/>
          <a:stretch/>
        </p:blipFill>
        <p:spPr>
          <a:xfrm>
            <a:off x="6841492" y="4769524"/>
            <a:ext cx="2195004" cy="2098100"/>
          </a:xfrm>
          <a:prstGeom prst="rect">
            <a:avLst/>
          </a:prstGeom>
        </p:spPr>
      </p:pic>
    </p:spTree>
    <p:extLst>
      <p:ext uri="{BB962C8B-B14F-4D97-AF65-F5344CB8AC3E}">
        <p14:creationId xmlns:p14="http://schemas.microsoft.com/office/powerpoint/2010/main" val="353729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42156" y="552586"/>
            <a:ext cx="8382000" cy="563562"/>
          </a:xfrm>
        </p:spPr>
        <p:txBody>
          <a:bodyPr/>
          <a:lstStyle/>
          <a:p>
            <a:r>
              <a:rPr lang="zh-TW" altLang="en-US" sz="4000" dirty="0">
                <a:solidFill>
                  <a:srgbClr val="000000"/>
                </a:solidFill>
                <a:latin typeface="華康隸書體W7" panose="02010609010101010101" pitchFamily="49" charset="-120"/>
                <a:ea typeface="華康隸書體W7" panose="02010609010101010101" pitchFamily="49" charset="-120"/>
              </a:rPr>
              <a:t>方案一：福利社區化工作圈會議</a:t>
            </a:r>
            <a:endParaRPr lang="zh-TW" altLang="en-US" dirty="0">
              <a:solidFill>
                <a:srgbClr val="000000"/>
              </a:solidFill>
            </a:endParaRPr>
          </a:p>
        </p:txBody>
      </p:sp>
      <p:sp>
        <p:nvSpPr>
          <p:cNvPr id="3" name="內容版面配置區 2"/>
          <p:cNvSpPr>
            <a:spLocks noGrp="1"/>
          </p:cNvSpPr>
          <p:nvPr>
            <p:ph idx="1"/>
          </p:nvPr>
        </p:nvSpPr>
        <p:spPr>
          <a:xfrm>
            <a:off x="179512" y="1116148"/>
            <a:ext cx="8507288" cy="5606752"/>
          </a:xfrm>
        </p:spPr>
        <p:txBody>
          <a:bodyPr/>
          <a:lstStyle/>
          <a:p>
            <a:pPr marL="0" indent="0" algn="ctr">
              <a:buNone/>
            </a:pPr>
            <a:r>
              <a:rPr lang="zh-TW" altLang="en-US" sz="2800" b="1" dirty="0">
                <a:solidFill>
                  <a:srgbClr val="FF0000"/>
                </a:solidFill>
                <a:latin typeface="標楷體" pitchFamily="65" charset="-120"/>
                <a:ea typeface="標楷體" pitchFamily="65" charset="-120"/>
              </a:rPr>
              <a:t>方案內容</a:t>
            </a:r>
          </a:p>
        </p:txBody>
      </p:sp>
      <p:sp>
        <p:nvSpPr>
          <p:cNvPr id="5" name="矩形 4"/>
          <p:cNvSpPr/>
          <p:nvPr/>
        </p:nvSpPr>
        <p:spPr>
          <a:xfrm>
            <a:off x="698598" y="1556792"/>
            <a:ext cx="3570208"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a:t>
            </a:r>
            <a:r>
              <a:rPr kumimoji="0" lang="zh-TW" altLang="en-US" sz="2400" b="0" i="0" u="none" strike="noStrike" kern="0" cap="none" spc="0" normalizeH="0" baseline="0" noProof="0" dirty="0">
                <a:ln>
                  <a:noFill/>
                </a:ln>
                <a:solidFill>
                  <a:srgbClr val="000000"/>
                </a:solidFill>
                <a:effectLst/>
                <a:uLnTx/>
                <a:uFillTx/>
                <a:latin typeface="Arial"/>
                <a:ea typeface="標楷體"/>
                <a:cs typeface="Times New Roman"/>
              </a:rPr>
              <a:t>協調宣傳類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sp>
        <p:nvSpPr>
          <p:cNvPr id="4" name="矩形 3"/>
          <p:cNvSpPr/>
          <p:nvPr/>
        </p:nvSpPr>
        <p:spPr>
          <a:xfrm>
            <a:off x="587654" y="2132856"/>
            <a:ext cx="8099146" cy="4524315"/>
          </a:xfrm>
          <a:prstGeom prst="rect">
            <a:avLst/>
          </a:prstGeom>
        </p:spPr>
        <p:txBody>
          <a:bodyPr wrap="square">
            <a:spAutoFit/>
          </a:bodyPr>
          <a:lstStyle/>
          <a:p>
            <a:pPr marL="265113" marR="0" lvl="0" indent="-265113" algn="just"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srgbClr val="000000"/>
                </a:solidFill>
                <a:effectLst/>
                <a:uLnTx/>
                <a:uFillTx/>
                <a:latin typeface="Arial"/>
                <a:ea typeface="標楷體"/>
                <a:cs typeface="Times New Roman"/>
              </a:rPr>
              <a:t>1.</a:t>
            </a:r>
            <a:r>
              <a:rPr kumimoji="0" lang="zh-TW" altLang="en-US" sz="2400" b="1" i="0" u="none" strike="noStrike" kern="1200" cap="none" spc="0" normalizeH="0" baseline="0" noProof="0" dirty="0">
                <a:ln>
                  <a:noFill/>
                </a:ln>
                <a:solidFill>
                  <a:srgbClr val="000000"/>
                </a:solidFill>
                <a:effectLst/>
                <a:uLnTx/>
                <a:uFillTx/>
                <a:latin typeface="Arial"/>
                <a:ea typeface="標楷體"/>
                <a:cs typeface="Times New Roman"/>
              </a:rPr>
              <a:t>工作圈會議：</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由竹山鎮公所從</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2</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月起在小旗艦社區輪流辦理。每二個月召開「福利社區化小旗艦計畫工作圈會議」，預定在</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2</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4</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6</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8</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10</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月辦理</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5</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次「工作圈會議」，協助小旗艦社區資源整合及掌控計畫執行進度。由小旗艦社區輪流擔任主席，做成會議記錄轉呈主管機關備查。</a:t>
            </a:r>
            <a:endPar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2400" b="1" i="0" u="none" strike="noStrike" kern="1200" cap="none" spc="0" normalizeH="0" baseline="0" noProof="0" dirty="0">
              <a:ln>
                <a:noFill/>
              </a:ln>
              <a:solidFill>
                <a:srgbClr val="000000"/>
              </a:solidFill>
              <a:effectLst/>
              <a:uLnTx/>
              <a:uFillTx/>
              <a:latin typeface="Arial"/>
              <a:ea typeface="標楷體"/>
              <a:cs typeface="Times New Roman"/>
            </a:endParaRPr>
          </a:p>
          <a:p>
            <a:pPr marL="265113" marR="0" lvl="0" indent="-265113" algn="just"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srgbClr val="000000"/>
                </a:solidFill>
                <a:effectLst/>
                <a:uLnTx/>
                <a:uFillTx/>
                <a:latin typeface="Arial"/>
                <a:ea typeface="標楷體"/>
                <a:cs typeface="Times New Roman"/>
              </a:rPr>
              <a:t>2.</a:t>
            </a:r>
            <a:r>
              <a:rPr kumimoji="0" lang="zh-TW" altLang="en-US" sz="2400" b="1" i="0" u="none" strike="noStrike" kern="1200" cap="none" spc="0" normalizeH="0" baseline="0" noProof="0" dirty="0">
                <a:ln>
                  <a:noFill/>
                </a:ln>
                <a:solidFill>
                  <a:srgbClr val="000000"/>
                </a:solidFill>
                <a:effectLst/>
                <a:uLnTx/>
                <a:uFillTx/>
                <a:latin typeface="Arial"/>
                <a:ea typeface="標楷體"/>
                <a:cs typeface="Times New Roman"/>
              </a:rPr>
              <a:t>工作推動小組會議：</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由領航的富州社區每二個月召開「工作推動小組會議」，預定在</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1</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3</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5</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7</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9</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月辦理</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5</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次，透過會議由領航社區針對各社區發展工作加以指導，小旗艦社區彼此交流學習、增進感情，達到互助合作、共同成長。由小旗艦社區輪流擔任主席，並做成會議記錄轉呈主管機關備查。</a:t>
            </a:r>
          </a:p>
        </p:txBody>
      </p:sp>
      <p:sp>
        <p:nvSpPr>
          <p:cNvPr id="7" name="文字方塊 6">
            <a:extLst>
              <a:ext uri="{FF2B5EF4-FFF2-40B4-BE49-F238E27FC236}">
                <a16:creationId xmlns:a16="http://schemas.microsoft.com/office/drawing/2014/main" id="{60902C4D-A7AC-7384-2F7C-1BF1055FEB45}"/>
              </a:ext>
            </a:extLst>
          </p:cNvPr>
          <p:cNvSpPr txBox="1"/>
          <p:nvPr/>
        </p:nvSpPr>
        <p:spPr>
          <a:xfrm>
            <a:off x="2286000" y="3169699"/>
            <a:ext cx="4572000" cy="523220"/>
          </a:xfrm>
          <a:prstGeom prst="rect">
            <a:avLst/>
          </a:prstGeom>
          <a:noFill/>
        </p:spPr>
        <p:txBody>
          <a:bodyPr wrap="square">
            <a:spAutoFit/>
          </a:bodyPr>
          <a:lstStyle/>
          <a:p>
            <a:r>
              <a:rPr kumimoji="0" lang="en-US" altLang="zh-TW" sz="2800" b="1" i="0" u="none" strike="noStrike" kern="0" cap="none" spc="0" normalizeH="0" baseline="0" noProof="0" dirty="0">
                <a:ln>
                  <a:noFill/>
                </a:ln>
                <a:solidFill>
                  <a:srgbClr val="FFFFFF"/>
                </a:solidFill>
                <a:effectLst/>
                <a:uLnTx/>
                <a:uFillTx/>
                <a:latin typeface="Arial"/>
                <a:ea typeface="+mj-ea"/>
                <a:cs typeface="+mj-cs"/>
              </a:rPr>
              <a:t>113</a:t>
            </a:r>
            <a:r>
              <a:rPr kumimoji="0" lang="zh-TW" altLang="en-US" sz="2800" b="1" i="0" u="none" strike="noStrike" kern="0" cap="none" spc="0" normalizeH="0" baseline="0" noProof="0" dirty="0">
                <a:ln>
                  <a:noFill/>
                </a:ln>
                <a:solidFill>
                  <a:srgbClr val="FFFFFF"/>
                </a:solidFill>
                <a:effectLst/>
                <a:uLnTx/>
                <a:uFillTx/>
                <a:latin typeface="Arial"/>
                <a:ea typeface="+mj-ea"/>
                <a:cs typeface="+mj-cs"/>
              </a:rPr>
              <a:t>年小旗艦計畫執行成果</a:t>
            </a:r>
            <a:endParaRPr lang="zh-TW" altLang="en-US" dirty="0"/>
          </a:p>
        </p:txBody>
      </p:sp>
      <p:sp>
        <p:nvSpPr>
          <p:cNvPr id="8" name="標題 1">
            <a:extLst>
              <a:ext uri="{FF2B5EF4-FFF2-40B4-BE49-F238E27FC236}">
                <a16:creationId xmlns:a16="http://schemas.microsoft.com/office/drawing/2014/main" id="{FD057A4B-220C-90BA-BFFB-341727EF1DF7}"/>
              </a:ext>
            </a:extLst>
          </p:cNvPr>
          <p:cNvSpPr txBox="1">
            <a:spLocks/>
          </p:cNvSpPr>
          <p:nvPr/>
        </p:nvSpPr>
        <p:spPr bwMode="black">
          <a:xfrm>
            <a:off x="304800" y="46038"/>
            <a:ext cx="838200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b="1">
                <a:solidFill>
                  <a:schemeClr val="bg1"/>
                </a:solidFill>
                <a:latin typeface="+mj-lt"/>
                <a:ea typeface="+mj-ea"/>
                <a:cs typeface="+mj-cs"/>
              </a:defRPr>
            </a:lvl1pPr>
            <a:lvl2pPr algn="ctr" rtl="0" eaLnBrk="0" fontAlgn="base" hangingPunct="0">
              <a:spcBef>
                <a:spcPct val="0"/>
              </a:spcBef>
              <a:spcAft>
                <a:spcPct val="0"/>
              </a:spcAft>
              <a:defRPr sz="2800" b="1">
                <a:solidFill>
                  <a:schemeClr val="bg1"/>
                </a:solidFill>
                <a:latin typeface="Arial" pitchFamily="34" charset="0"/>
              </a:defRPr>
            </a:lvl2pPr>
            <a:lvl3pPr algn="ctr" rtl="0" eaLnBrk="0" fontAlgn="base" hangingPunct="0">
              <a:spcBef>
                <a:spcPct val="0"/>
              </a:spcBef>
              <a:spcAft>
                <a:spcPct val="0"/>
              </a:spcAft>
              <a:defRPr sz="2800" b="1">
                <a:solidFill>
                  <a:schemeClr val="bg1"/>
                </a:solidFill>
                <a:latin typeface="Arial" pitchFamily="34" charset="0"/>
              </a:defRPr>
            </a:lvl3pPr>
            <a:lvl4pPr algn="ctr" rtl="0" eaLnBrk="0" fontAlgn="base" hangingPunct="0">
              <a:spcBef>
                <a:spcPct val="0"/>
              </a:spcBef>
              <a:spcAft>
                <a:spcPct val="0"/>
              </a:spcAft>
              <a:defRPr sz="2800" b="1">
                <a:solidFill>
                  <a:schemeClr val="bg1"/>
                </a:solidFill>
                <a:latin typeface="Arial" pitchFamily="34" charset="0"/>
              </a:defRPr>
            </a:lvl4pPr>
            <a:lvl5pPr algn="ctr" rtl="0" eaLnBrk="0" fontAlgn="base" hangingPunct="0">
              <a:spcBef>
                <a:spcPct val="0"/>
              </a:spcBef>
              <a:spcAft>
                <a:spcPct val="0"/>
              </a:spcAft>
              <a:defRPr sz="2800" b="1">
                <a:solidFill>
                  <a:schemeClr val="bg1"/>
                </a:solidFill>
                <a:latin typeface="Arial" pitchFamily="34" charset="0"/>
              </a:defRPr>
            </a:lvl5pPr>
            <a:lvl6pPr marL="457200" algn="ctr" rtl="0" eaLnBrk="1" fontAlgn="base" hangingPunct="1">
              <a:spcBef>
                <a:spcPct val="0"/>
              </a:spcBef>
              <a:spcAft>
                <a:spcPct val="0"/>
              </a:spcAft>
              <a:defRPr sz="2800" b="1">
                <a:solidFill>
                  <a:schemeClr val="bg1"/>
                </a:solidFill>
                <a:latin typeface="Arial" pitchFamily="34" charset="0"/>
              </a:defRPr>
            </a:lvl6pPr>
            <a:lvl7pPr marL="914400" algn="ctr" rtl="0" eaLnBrk="1" fontAlgn="base" hangingPunct="1">
              <a:spcBef>
                <a:spcPct val="0"/>
              </a:spcBef>
              <a:spcAft>
                <a:spcPct val="0"/>
              </a:spcAft>
              <a:defRPr sz="2800" b="1">
                <a:solidFill>
                  <a:schemeClr val="bg1"/>
                </a:solidFill>
                <a:latin typeface="Arial" pitchFamily="34" charset="0"/>
              </a:defRPr>
            </a:lvl7pPr>
            <a:lvl8pPr marL="1371600" algn="ctr" rtl="0" eaLnBrk="1" fontAlgn="base" hangingPunct="1">
              <a:spcBef>
                <a:spcPct val="0"/>
              </a:spcBef>
              <a:spcAft>
                <a:spcPct val="0"/>
              </a:spcAft>
              <a:defRPr sz="2800" b="1">
                <a:solidFill>
                  <a:schemeClr val="bg1"/>
                </a:solidFill>
                <a:latin typeface="Arial" pitchFamily="34" charset="0"/>
              </a:defRPr>
            </a:lvl8pPr>
            <a:lvl9pPr marL="1828800" algn="ctr" rtl="0" eaLnBrk="1" fontAlgn="base" hangingPunct="1">
              <a:spcBef>
                <a:spcPct val="0"/>
              </a:spcBef>
              <a:spcAft>
                <a:spcPct val="0"/>
              </a:spcAft>
              <a:defRPr sz="2800" b="1">
                <a:solidFill>
                  <a:schemeClr val="bg1"/>
                </a:solidFill>
                <a:latin typeface="Arial" pitchFamily="34" charset="0"/>
              </a:defRPr>
            </a:lvl9pPr>
          </a:lstStyle>
          <a:p>
            <a:r>
              <a:rPr lang="en-US" altLang="zh-TW" kern="0" dirty="0"/>
              <a:t>114</a:t>
            </a:r>
            <a:r>
              <a:rPr lang="zh-TW" altLang="en-US" kern="0" dirty="0"/>
              <a:t>年小旗艦執行計畫</a:t>
            </a:r>
          </a:p>
        </p:txBody>
      </p:sp>
    </p:spTree>
    <p:extLst>
      <p:ext uri="{BB962C8B-B14F-4D97-AF65-F5344CB8AC3E}">
        <p14:creationId xmlns:p14="http://schemas.microsoft.com/office/powerpoint/2010/main" val="16816749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1046F-B81A-AE24-C419-979E713A451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C1A38B9-6930-7043-0274-B3DB12DFFAAC}"/>
              </a:ext>
            </a:extLst>
          </p:cNvPr>
          <p:cNvSpPr>
            <a:spLocks noGrp="1"/>
          </p:cNvSpPr>
          <p:nvPr>
            <p:ph type="title"/>
          </p:nvPr>
        </p:nvSpPr>
        <p:spPr/>
        <p:txBody>
          <a:bodyPr/>
          <a:lstStyle/>
          <a:p>
            <a:r>
              <a:rPr lang="zh-TW" altLang="en-US" sz="4000" dirty="0">
                <a:solidFill>
                  <a:srgbClr val="FFFFFF"/>
                </a:solidFill>
                <a:ea typeface="華康隸書體W7" panose="02010609010101010101" pitchFamily="49" charset="-120"/>
              </a:rPr>
              <a:t>方案一：福利社區化工作圈會議</a:t>
            </a:r>
            <a:endParaRPr lang="zh-TW" altLang="en-US" dirty="0"/>
          </a:p>
        </p:txBody>
      </p:sp>
      <p:sp>
        <p:nvSpPr>
          <p:cNvPr id="3" name="內容版面配置區 2">
            <a:extLst>
              <a:ext uri="{FF2B5EF4-FFF2-40B4-BE49-F238E27FC236}">
                <a16:creationId xmlns:a16="http://schemas.microsoft.com/office/drawing/2014/main" id="{97FFAB1A-4343-308A-3CB0-5ADDA772A0DA}"/>
              </a:ext>
            </a:extLst>
          </p:cNvPr>
          <p:cNvSpPr>
            <a:spLocks noGrp="1"/>
          </p:cNvSpPr>
          <p:nvPr>
            <p:ph idx="1"/>
          </p:nvPr>
        </p:nvSpPr>
        <p:spPr>
          <a:xfrm>
            <a:off x="3696751" y="692088"/>
            <a:ext cx="1750498" cy="427112"/>
          </a:xfrm>
        </p:spPr>
        <p:txBody>
          <a:bodyPr/>
          <a:lstStyle/>
          <a:p>
            <a:pPr marL="0" indent="0" algn="ctr">
              <a:buNone/>
            </a:pPr>
            <a:r>
              <a:rPr lang="zh-TW" altLang="en-US" sz="2800" b="1" dirty="0">
                <a:solidFill>
                  <a:srgbClr val="FF0000"/>
                </a:solidFill>
                <a:latin typeface="標楷體" pitchFamily="65" charset="-120"/>
                <a:ea typeface="標楷體" pitchFamily="65" charset="-120"/>
              </a:rPr>
              <a:t>內容規劃</a:t>
            </a:r>
          </a:p>
        </p:txBody>
      </p:sp>
      <p:graphicFrame>
        <p:nvGraphicFramePr>
          <p:cNvPr id="7" name="表格 6">
            <a:extLst>
              <a:ext uri="{FF2B5EF4-FFF2-40B4-BE49-F238E27FC236}">
                <a16:creationId xmlns:a16="http://schemas.microsoft.com/office/drawing/2014/main" id="{507FA03B-880E-6558-5733-B7172C55000F}"/>
              </a:ext>
            </a:extLst>
          </p:cNvPr>
          <p:cNvGraphicFramePr>
            <a:graphicFrameLocks noGrp="1"/>
          </p:cNvGraphicFramePr>
          <p:nvPr/>
        </p:nvGraphicFramePr>
        <p:xfrm>
          <a:off x="146094" y="1340768"/>
          <a:ext cx="8851812" cy="2914496"/>
        </p:xfrm>
        <a:graphic>
          <a:graphicData uri="http://schemas.openxmlformats.org/drawingml/2006/table">
            <a:tbl>
              <a:tblPr firstRow="1" firstCol="1" bandRow="1" bandCol="1"/>
              <a:tblGrid>
                <a:gridCol w="360040">
                  <a:extLst>
                    <a:ext uri="{9D8B030D-6E8A-4147-A177-3AD203B41FA5}">
                      <a16:colId xmlns:a16="http://schemas.microsoft.com/office/drawing/2014/main" val="56207116"/>
                    </a:ext>
                  </a:extLst>
                </a:gridCol>
                <a:gridCol w="1710681">
                  <a:extLst>
                    <a:ext uri="{9D8B030D-6E8A-4147-A177-3AD203B41FA5}">
                      <a16:colId xmlns:a16="http://schemas.microsoft.com/office/drawing/2014/main" val="4224036909"/>
                    </a:ext>
                  </a:extLst>
                </a:gridCol>
                <a:gridCol w="3161306">
                  <a:extLst>
                    <a:ext uri="{9D8B030D-6E8A-4147-A177-3AD203B41FA5}">
                      <a16:colId xmlns:a16="http://schemas.microsoft.com/office/drawing/2014/main" val="4224928412"/>
                    </a:ext>
                  </a:extLst>
                </a:gridCol>
                <a:gridCol w="3619785">
                  <a:extLst>
                    <a:ext uri="{9D8B030D-6E8A-4147-A177-3AD203B41FA5}">
                      <a16:colId xmlns:a16="http://schemas.microsoft.com/office/drawing/2014/main" val="1398904196"/>
                    </a:ext>
                  </a:extLst>
                </a:gridCol>
              </a:tblGrid>
              <a:tr h="705156">
                <a:tc>
                  <a:txBody>
                    <a:bodyPr/>
                    <a:lstStyle/>
                    <a:p>
                      <a:pPr algn="ctr">
                        <a:lnSpc>
                          <a:spcPts val="3000"/>
                        </a:lnSpc>
                      </a:pPr>
                      <a:r>
                        <a:rPr lang="zh-TW" sz="2400" kern="100" dirty="0">
                          <a:solidFill>
                            <a:srgbClr val="000000"/>
                          </a:solidFill>
                          <a:effectLst/>
                          <a:latin typeface="Times New Roman" panose="02020603050405020304" pitchFamily="18" charset="0"/>
                          <a:ea typeface="標楷體" panose="03000509000000000000" pitchFamily="65" charset="-120"/>
                        </a:rPr>
                        <a:t>編號</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zh-TW" sz="2400" kern="100" dirty="0">
                          <a:solidFill>
                            <a:srgbClr val="000000"/>
                          </a:solidFill>
                          <a:effectLst/>
                          <a:latin typeface="Times New Roman" panose="02020603050405020304" pitchFamily="18" charset="0"/>
                          <a:ea typeface="標楷體" panose="03000509000000000000" pitchFamily="65" charset="-120"/>
                        </a:rPr>
                        <a:t>活動項目</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zh-TW" sz="2400" kern="100" dirty="0">
                          <a:solidFill>
                            <a:srgbClr val="000000"/>
                          </a:solidFill>
                          <a:effectLst/>
                          <a:latin typeface="Times New Roman" panose="02020603050405020304" pitchFamily="18" charset="0"/>
                          <a:ea typeface="標楷體" panose="03000509000000000000" pitchFamily="65" charset="-120"/>
                        </a:rPr>
                        <a:t>服務量</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zh-TW" sz="2400" kern="100" dirty="0">
                          <a:solidFill>
                            <a:srgbClr val="000000"/>
                          </a:solidFill>
                          <a:effectLst/>
                          <a:latin typeface="Times New Roman" panose="02020603050405020304" pitchFamily="18" charset="0"/>
                          <a:ea typeface="標楷體" panose="03000509000000000000" pitchFamily="65" charset="-120"/>
                        </a:rPr>
                        <a:t>評估方法</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7027829"/>
                  </a:ext>
                </a:extLst>
              </a:tr>
              <a:tr h="705156">
                <a:tc>
                  <a:txBody>
                    <a:bodyPr/>
                    <a:lstStyle/>
                    <a:p>
                      <a:pPr algn="ctr">
                        <a:lnSpc>
                          <a:spcPts val="3000"/>
                        </a:lnSpc>
                      </a:pPr>
                      <a:r>
                        <a:rPr lang="en-US" sz="2400" kern="100">
                          <a:solidFill>
                            <a:srgbClr val="000000"/>
                          </a:solidFill>
                          <a:effectLst/>
                          <a:latin typeface="標楷體" panose="03000509000000000000" pitchFamily="65" charset="-120"/>
                          <a:ea typeface="新細明體" panose="02020500000000000000" pitchFamily="18" charset="-120"/>
                        </a:rPr>
                        <a:t>1</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3000"/>
                        </a:lnSpc>
                      </a:pPr>
                      <a:r>
                        <a:rPr lang="zh-TW" sz="2400" kern="100">
                          <a:solidFill>
                            <a:srgbClr val="000000"/>
                          </a:solidFill>
                          <a:effectLst/>
                          <a:latin typeface="Times New Roman" panose="02020603050405020304" pitchFamily="18" charset="0"/>
                          <a:ea typeface="標楷體" panose="03000509000000000000" pitchFamily="65" charset="-120"/>
                        </a:rPr>
                        <a:t>工作圈會議</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3000"/>
                        </a:lnSpc>
                      </a:pPr>
                      <a:r>
                        <a:rPr lang="en-US" sz="2400" kern="100" dirty="0">
                          <a:solidFill>
                            <a:srgbClr val="000000"/>
                          </a:solidFill>
                          <a:effectLst/>
                          <a:latin typeface="標楷體" panose="03000509000000000000" pitchFamily="65" charset="-120"/>
                          <a:ea typeface="新細明體" panose="02020500000000000000" pitchFamily="18" charset="-120"/>
                        </a:rPr>
                        <a:t>5</a:t>
                      </a:r>
                      <a:r>
                        <a:rPr lang="zh-TW" sz="2400" kern="100" dirty="0">
                          <a:solidFill>
                            <a:srgbClr val="000000"/>
                          </a:solidFill>
                          <a:effectLst/>
                          <a:latin typeface="Times New Roman" panose="02020603050405020304" pitchFamily="18" charset="0"/>
                          <a:ea typeface="標楷體" panose="03000509000000000000" pitchFamily="65" charset="-120"/>
                        </a:rPr>
                        <a:t>社區</a:t>
                      </a:r>
                      <a:r>
                        <a:rPr lang="en-US" sz="2400" kern="100" dirty="0">
                          <a:solidFill>
                            <a:srgbClr val="000000"/>
                          </a:solidFill>
                          <a:effectLst/>
                          <a:latin typeface="Times New Roman" panose="02020603050405020304" pitchFamily="18" charset="0"/>
                          <a:ea typeface="標楷體" panose="03000509000000000000" pitchFamily="65" charset="-120"/>
                        </a:rPr>
                        <a:t>*5</a:t>
                      </a:r>
                      <a:r>
                        <a:rPr lang="zh-TW" sz="2400" kern="100" dirty="0">
                          <a:solidFill>
                            <a:srgbClr val="000000"/>
                          </a:solidFill>
                          <a:effectLst/>
                          <a:latin typeface="Times New Roman" panose="02020603050405020304" pitchFamily="18" charset="0"/>
                          <a:ea typeface="標楷體" panose="03000509000000000000" pitchFamily="65" charset="-120"/>
                        </a:rPr>
                        <a:t>次</a:t>
                      </a:r>
                      <a:r>
                        <a:rPr lang="en-US" sz="2400" kern="100" dirty="0">
                          <a:solidFill>
                            <a:srgbClr val="000000"/>
                          </a:solidFill>
                          <a:effectLst/>
                          <a:latin typeface="Times New Roman" panose="02020603050405020304" pitchFamily="18" charset="0"/>
                          <a:ea typeface="標楷體" panose="03000509000000000000" pitchFamily="65" charset="-120"/>
                        </a:rPr>
                        <a:t>*2</a:t>
                      </a:r>
                      <a:r>
                        <a:rPr lang="zh-TW" sz="2400" kern="100" dirty="0">
                          <a:solidFill>
                            <a:srgbClr val="000000"/>
                          </a:solidFill>
                          <a:effectLst/>
                          <a:latin typeface="Times New Roman" panose="02020603050405020304" pitchFamily="18" charset="0"/>
                          <a:ea typeface="標楷體" panose="03000509000000000000" pitchFamily="65" charset="-120"/>
                        </a:rPr>
                        <a:t>人＝</a:t>
                      </a:r>
                      <a:r>
                        <a:rPr lang="en-US" sz="2400" kern="100" dirty="0">
                          <a:solidFill>
                            <a:srgbClr val="000000"/>
                          </a:solidFill>
                          <a:effectLst/>
                          <a:latin typeface="Times New Roman" panose="02020603050405020304" pitchFamily="18" charset="0"/>
                          <a:ea typeface="標楷體" panose="03000509000000000000" pitchFamily="65" charset="-120"/>
                        </a:rPr>
                        <a:t>50</a:t>
                      </a:r>
                      <a:r>
                        <a:rPr lang="zh-TW" sz="2400" kern="100" dirty="0">
                          <a:solidFill>
                            <a:srgbClr val="000000"/>
                          </a:solidFill>
                          <a:effectLst/>
                          <a:latin typeface="Times New Roman" panose="02020603050405020304" pitchFamily="18" charset="0"/>
                          <a:ea typeface="標楷體" panose="03000509000000000000" pitchFamily="65" charset="-120"/>
                        </a:rPr>
                        <a:t>人</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342900" lvl="0" indent="-342900">
                        <a:lnSpc>
                          <a:spcPts val="3000"/>
                        </a:lnSpc>
                        <a:buFont typeface="+mj-lt"/>
                        <a:buAutoNum type="arabicPeriod"/>
                      </a:pPr>
                      <a:r>
                        <a:rPr lang="zh-TW" sz="2400" kern="100">
                          <a:solidFill>
                            <a:srgbClr val="000000"/>
                          </a:solidFill>
                          <a:effectLst/>
                          <a:latin typeface="Times New Roman" panose="02020603050405020304" pitchFamily="18" charset="0"/>
                          <a:ea typeface="標楷體" panose="03000509000000000000" pitchFamily="65" charset="-120"/>
                        </a:rPr>
                        <a:t>會議紀錄</a:t>
                      </a:r>
                      <a:endParaRPr lang="zh-TW" sz="2400" kern="100">
                        <a:effectLst/>
                        <a:latin typeface="Times New Roman" panose="02020603050405020304" pitchFamily="18" charset="0"/>
                        <a:ea typeface="新細明體" panose="02020500000000000000" pitchFamily="18" charset="-120"/>
                      </a:endParaRPr>
                    </a:p>
                    <a:p>
                      <a:pPr marL="342900" lvl="0" indent="-342900">
                        <a:lnSpc>
                          <a:spcPts val="3000"/>
                        </a:lnSpc>
                        <a:buFont typeface="+mj-lt"/>
                        <a:buAutoNum type="arabicPeriod"/>
                      </a:pPr>
                      <a:r>
                        <a:rPr lang="zh-TW" sz="2400" kern="100">
                          <a:solidFill>
                            <a:srgbClr val="000000"/>
                          </a:solidFill>
                          <a:effectLst/>
                          <a:latin typeface="Times New Roman" panose="02020603050405020304" pitchFamily="18" charset="0"/>
                          <a:ea typeface="標楷體" panose="03000509000000000000" pitchFamily="65" charset="-120"/>
                        </a:rPr>
                        <a:t>運用焦點團體評估成效</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1029857"/>
                  </a:ext>
                </a:extLst>
              </a:tr>
              <a:tr h="1470009">
                <a:tc>
                  <a:txBody>
                    <a:bodyPr/>
                    <a:lstStyle/>
                    <a:p>
                      <a:pPr algn="ctr">
                        <a:lnSpc>
                          <a:spcPts val="3000"/>
                        </a:lnSpc>
                      </a:pPr>
                      <a:r>
                        <a:rPr lang="en-US" sz="2400" kern="100">
                          <a:solidFill>
                            <a:srgbClr val="000000"/>
                          </a:solidFill>
                          <a:effectLst/>
                          <a:latin typeface="標楷體" panose="03000509000000000000" pitchFamily="65" charset="-120"/>
                          <a:ea typeface="新細明體" panose="02020500000000000000" pitchFamily="18" charset="-120"/>
                        </a:rPr>
                        <a:t>2</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3000"/>
                        </a:lnSpc>
                      </a:pPr>
                      <a:r>
                        <a:rPr lang="zh-TW" sz="2400" kern="100">
                          <a:solidFill>
                            <a:srgbClr val="000000"/>
                          </a:solidFill>
                          <a:effectLst/>
                          <a:latin typeface="Times New Roman" panose="02020603050405020304" pitchFamily="18" charset="0"/>
                          <a:ea typeface="標楷體" panose="03000509000000000000" pitchFamily="65" charset="-120"/>
                        </a:rPr>
                        <a:t>工作推動小組會議</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3000"/>
                        </a:lnSpc>
                      </a:pPr>
                      <a:r>
                        <a:rPr lang="en-US" sz="2400" kern="100" dirty="0">
                          <a:solidFill>
                            <a:srgbClr val="000000"/>
                          </a:solidFill>
                          <a:effectLst/>
                          <a:latin typeface="標楷體" panose="03000509000000000000" pitchFamily="65" charset="-120"/>
                          <a:ea typeface="新細明體" panose="02020500000000000000" pitchFamily="18" charset="-120"/>
                        </a:rPr>
                        <a:t>5</a:t>
                      </a:r>
                      <a:r>
                        <a:rPr lang="zh-TW" sz="2400" kern="100" dirty="0">
                          <a:solidFill>
                            <a:srgbClr val="000000"/>
                          </a:solidFill>
                          <a:effectLst/>
                          <a:latin typeface="Times New Roman" panose="02020603050405020304" pitchFamily="18" charset="0"/>
                          <a:ea typeface="標楷體" panose="03000509000000000000" pitchFamily="65" charset="-120"/>
                        </a:rPr>
                        <a:t>社區</a:t>
                      </a:r>
                      <a:r>
                        <a:rPr lang="en-US" sz="2400" kern="100" dirty="0">
                          <a:solidFill>
                            <a:srgbClr val="000000"/>
                          </a:solidFill>
                          <a:effectLst/>
                          <a:latin typeface="Times New Roman" panose="02020603050405020304" pitchFamily="18" charset="0"/>
                          <a:ea typeface="標楷體" panose="03000509000000000000" pitchFamily="65" charset="-120"/>
                        </a:rPr>
                        <a:t>*5</a:t>
                      </a:r>
                      <a:r>
                        <a:rPr lang="zh-TW" sz="2400" kern="100" dirty="0">
                          <a:solidFill>
                            <a:srgbClr val="000000"/>
                          </a:solidFill>
                          <a:effectLst/>
                          <a:latin typeface="Times New Roman" panose="02020603050405020304" pitchFamily="18" charset="0"/>
                          <a:ea typeface="標楷體" panose="03000509000000000000" pitchFamily="65" charset="-120"/>
                        </a:rPr>
                        <a:t>次</a:t>
                      </a:r>
                      <a:r>
                        <a:rPr lang="en-US" sz="2400" kern="100" dirty="0">
                          <a:solidFill>
                            <a:srgbClr val="000000"/>
                          </a:solidFill>
                          <a:effectLst/>
                          <a:latin typeface="Times New Roman" panose="02020603050405020304" pitchFamily="18" charset="0"/>
                          <a:ea typeface="標楷體" panose="03000509000000000000" pitchFamily="65" charset="-120"/>
                        </a:rPr>
                        <a:t>*2</a:t>
                      </a:r>
                      <a:r>
                        <a:rPr lang="zh-TW" sz="2400" kern="100" dirty="0">
                          <a:solidFill>
                            <a:srgbClr val="000000"/>
                          </a:solidFill>
                          <a:effectLst/>
                          <a:latin typeface="Times New Roman" panose="02020603050405020304" pitchFamily="18" charset="0"/>
                          <a:ea typeface="標楷體" panose="03000509000000000000" pitchFamily="65" charset="-120"/>
                        </a:rPr>
                        <a:t>人＝</a:t>
                      </a:r>
                      <a:r>
                        <a:rPr lang="en-US" sz="2400" kern="100" dirty="0">
                          <a:solidFill>
                            <a:srgbClr val="000000"/>
                          </a:solidFill>
                          <a:effectLst/>
                          <a:latin typeface="Times New Roman" panose="02020603050405020304" pitchFamily="18" charset="0"/>
                          <a:ea typeface="標楷體" panose="03000509000000000000" pitchFamily="65" charset="-120"/>
                        </a:rPr>
                        <a:t>50</a:t>
                      </a:r>
                      <a:r>
                        <a:rPr lang="zh-TW" sz="2400" kern="100" dirty="0">
                          <a:solidFill>
                            <a:srgbClr val="000000"/>
                          </a:solidFill>
                          <a:effectLst/>
                          <a:latin typeface="Times New Roman" panose="02020603050405020304" pitchFamily="18" charset="0"/>
                          <a:ea typeface="標楷體" panose="03000509000000000000" pitchFamily="65" charset="-120"/>
                        </a:rPr>
                        <a:t>人</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3603753184"/>
                  </a:ext>
                </a:extLst>
              </a:tr>
            </a:tbl>
          </a:graphicData>
        </a:graphic>
      </p:graphicFrame>
      <p:pic>
        <p:nvPicPr>
          <p:cNvPr id="5" name="圖片 4">
            <a:extLst>
              <a:ext uri="{FF2B5EF4-FFF2-40B4-BE49-F238E27FC236}">
                <a16:creationId xmlns:a16="http://schemas.microsoft.com/office/drawing/2014/main" id="{8B7D832A-806E-ABB6-69EB-232CCB9129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79055"/>
            <a:ext cx="2904604" cy="2178945"/>
          </a:xfrm>
          <a:prstGeom prst="rect">
            <a:avLst/>
          </a:prstGeom>
        </p:spPr>
      </p:pic>
      <p:pic>
        <p:nvPicPr>
          <p:cNvPr id="8" name="圖片 7">
            <a:extLst>
              <a:ext uri="{FF2B5EF4-FFF2-40B4-BE49-F238E27FC236}">
                <a16:creationId xmlns:a16="http://schemas.microsoft.com/office/drawing/2014/main" id="{29D7F84C-6B3F-61D1-22AE-A8C71FAB11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90438" y="4677567"/>
            <a:ext cx="2904604" cy="2178945"/>
          </a:xfrm>
          <a:prstGeom prst="rect">
            <a:avLst/>
          </a:prstGeom>
        </p:spPr>
      </p:pic>
      <p:pic>
        <p:nvPicPr>
          <p:cNvPr id="10" name="圖片 9">
            <a:extLst>
              <a:ext uri="{FF2B5EF4-FFF2-40B4-BE49-F238E27FC236}">
                <a16:creationId xmlns:a16="http://schemas.microsoft.com/office/drawing/2014/main" id="{9103D199-F8ED-0804-D197-CA3D79B77C2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37412" y="4677567"/>
            <a:ext cx="2906588" cy="2180433"/>
          </a:xfrm>
          <a:prstGeom prst="rect">
            <a:avLst/>
          </a:prstGeom>
        </p:spPr>
      </p:pic>
    </p:spTree>
    <p:extLst>
      <p:ext uri="{BB962C8B-B14F-4D97-AF65-F5344CB8AC3E}">
        <p14:creationId xmlns:p14="http://schemas.microsoft.com/office/powerpoint/2010/main" val="36060684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200" dirty="0">
                <a:solidFill>
                  <a:srgbClr val="FFFFFF"/>
                </a:solidFill>
                <a:latin typeface="華康隸書體W7" panose="02010609010101010101" pitchFamily="49" charset="-120"/>
                <a:ea typeface="華康隸書體W7" panose="02010609010101010101" pitchFamily="49" charset="-120"/>
              </a:rPr>
              <a:t>方案二：獨老不孤老</a:t>
            </a:r>
            <a:r>
              <a:rPr lang="en-US" altLang="zh-TW" sz="3200" dirty="0">
                <a:solidFill>
                  <a:srgbClr val="FFFFFF"/>
                </a:solidFill>
                <a:latin typeface="華康隸書體W7" panose="02010609010101010101" pitchFamily="49" charset="-120"/>
                <a:ea typeface="華康隸書體W7" panose="02010609010101010101" pitchFamily="49" charset="-120"/>
              </a:rPr>
              <a:t>-</a:t>
            </a:r>
            <a:r>
              <a:rPr lang="zh-TW" altLang="en-US" sz="3200" dirty="0">
                <a:solidFill>
                  <a:srgbClr val="FFFFFF"/>
                </a:solidFill>
                <a:latin typeface="華康隸書體W7" panose="02010609010101010101" pitchFamily="49" charset="-120"/>
                <a:ea typeface="華康隸書體W7" panose="02010609010101010101" pitchFamily="49" charset="-120"/>
              </a:rPr>
              <a:t>獨老聯合服務計畫</a:t>
            </a:r>
            <a:endParaRPr lang="zh-TW" altLang="en-US" sz="2400" dirty="0"/>
          </a:p>
        </p:txBody>
      </p:sp>
      <p:sp>
        <p:nvSpPr>
          <p:cNvPr id="3" name="內容版面配置區 2"/>
          <p:cNvSpPr>
            <a:spLocks noGrp="1"/>
          </p:cNvSpPr>
          <p:nvPr>
            <p:ph idx="1"/>
          </p:nvPr>
        </p:nvSpPr>
        <p:spPr>
          <a:xfrm>
            <a:off x="457200" y="773200"/>
            <a:ext cx="8229600" cy="1214264"/>
          </a:xfrm>
        </p:spPr>
        <p:txBody>
          <a:bodyPr/>
          <a:lstStyle/>
          <a:p>
            <a:pPr marL="0" indent="0" algn="ctr">
              <a:buNone/>
            </a:pPr>
            <a:r>
              <a:rPr lang="zh-TW" altLang="en-US" sz="2800" b="1" dirty="0">
                <a:solidFill>
                  <a:srgbClr val="FF0000"/>
                </a:solidFill>
                <a:latin typeface="標楷體" pitchFamily="65" charset="-120"/>
                <a:ea typeface="標楷體" pitchFamily="65" charset="-120"/>
              </a:rPr>
              <a:t>方案內容</a:t>
            </a:r>
            <a:r>
              <a:rPr lang="en-US" altLang="zh-TW" sz="2800" b="1" dirty="0">
                <a:solidFill>
                  <a:srgbClr val="FF0000"/>
                </a:solidFill>
                <a:latin typeface="標楷體" pitchFamily="65" charset="-120"/>
                <a:ea typeface="標楷體" pitchFamily="65" charset="-120"/>
              </a:rPr>
              <a:t>-1</a:t>
            </a:r>
            <a:endParaRPr lang="zh-TW" altLang="en-US" sz="2800" b="1" dirty="0">
              <a:solidFill>
                <a:srgbClr val="FF0000"/>
              </a:solidFill>
              <a:latin typeface="標楷體" pitchFamily="65" charset="-120"/>
              <a:ea typeface="標楷體" pitchFamily="65" charset="-120"/>
            </a:endParaRPr>
          </a:p>
        </p:txBody>
      </p:sp>
      <p:sp>
        <p:nvSpPr>
          <p:cNvPr id="5" name="矩形 4"/>
          <p:cNvSpPr/>
          <p:nvPr/>
        </p:nvSpPr>
        <p:spPr>
          <a:xfrm>
            <a:off x="308496" y="1306253"/>
            <a:ext cx="3570208"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a:t>
            </a:r>
            <a:r>
              <a:rPr kumimoji="0" lang="zh-TW" altLang="en-US" sz="2400" b="0" i="0" u="none" strike="noStrike" kern="0" cap="none" spc="0" normalizeH="0" baseline="0" noProof="0" dirty="0">
                <a:ln>
                  <a:noFill/>
                </a:ln>
                <a:solidFill>
                  <a:srgbClr val="000000"/>
                </a:solidFill>
                <a:effectLst/>
                <a:uLnTx/>
                <a:uFillTx/>
                <a:latin typeface="Arial"/>
                <a:ea typeface="標楷體"/>
                <a:cs typeface="Times New Roman"/>
              </a:rPr>
              <a:t>■福利服務類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sp>
        <p:nvSpPr>
          <p:cNvPr id="4" name="矩形 3"/>
          <p:cNvSpPr/>
          <p:nvPr/>
        </p:nvSpPr>
        <p:spPr>
          <a:xfrm>
            <a:off x="-180528" y="1771490"/>
            <a:ext cx="9036496" cy="4686091"/>
          </a:xfrm>
          <a:prstGeom prst="rect">
            <a:avLst/>
          </a:prstGeom>
        </p:spPr>
        <p:txBody>
          <a:bodyPr wrap="square">
            <a:spAutoFit/>
          </a:bodyPr>
          <a:lstStyle/>
          <a:p>
            <a:pPr marL="723900" marR="0" lvl="0" indent="-279400" algn="just" defTabSz="914400" rtl="0" eaLnBrk="1" fontAlgn="auto" latinLnBrk="0" hangingPunct="1">
              <a:lnSpc>
                <a:spcPts val="3000"/>
              </a:lnSpc>
              <a:spcBef>
                <a:spcPts val="0"/>
              </a:spcBef>
              <a:spcAft>
                <a:spcPts val="0"/>
              </a:spcAft>
              <a:buClrTx/>
              <a:buSzTx/>
              <a:buFontTx/>
              <a:buNone/>
              <a:tabLst>
                <a:tab pos="622300" algn="l"/>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宅配獨老健康</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：在</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6</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8</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10</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月，由</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5</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社區各派</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位志工，總計</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10</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位志工</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形成聯合服務團隊，分成</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2-3</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組，每月至小旗艦</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5</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社區輪流訪視社區獨老長者，並帶入靈性關懷及體適能操作，訪視時也會設計針對服務個案的獨老運動處方箋及體適能前後測作為本計畫方案服務成果。</a:t>
            </a:r>
            <a:endPar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endParaRPr>
          </a:p>
          <a:p>
            <a:pPr marL="723900" marR="0" lvl="0" indent="-279400" algn="just" defTabSz="914400" rtl="0" eaLnBrk="1" fontAlgn="auto" latinLnBrk="0" hangingPunct="1">
              <a:lnSpc>
                <a:spcPts val="3000"/>
              </a:lnSpc>
              <a:spcBef>
                <a:spcPts val="0"/>
              </a:spcBef>
              <a:spcAft>
                <a:spcPts val="0"/>
              </a:spcAft>
              <a:buClrTx/>
              <a:buSzTx/>
              <a:buFontTx/>
              <a:buNone/>
              <a:tabLst>
                <a:tab pos="622300" algn="l"/>
              </a:tabLst>
              <a:defRPr/>
            </a:pPr>
            <a:endPar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endParaRPr>
          </a:p>
          <a:p>
            <a:pPr marL="723900" marR="0" lvl="0" indent="-279400" algn="l" defTabSz="914400" rtl="0" eaLnBrk="1" fontAlgn="auto" latinLnBrk="0" hangingPunct="1">
              <a:lnSpc>
                <a:spcPts val="30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獨老參與活動服務</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：請小旗艦社區結合社區擁有的人力資源進行活動，由各社區適可推派的服務群志工，例如由兒童帶領長者、婦女帶領長者、或是青銀共創，由各服務團隊針對獨老設計帶領活動，預計在協力</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社區各辦理一場次，預定</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5</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7</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9</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月辦理，共執行</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次，並由志工帶領至每協力社區參與每次獨老參與活動服務。</a:t>
            </a:r>
          </a:p>
        </p:txBody>
      </p:sp>
    </p:spTree>
    <p:extLst>
      <p:ext uri="{BB962C8B-B14F-4D97-AF65-F5344CB8AC3E}">
        <p14:creationId xmlns:p14="http://schemas.microsoft.com/office/powerpoint/2010/main" val="30638615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D0EB2-4662-1882-2B47-2BDFF10F704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B40D9F6-C6D3-7484-42D2-E7618FEF2D96}"/>
              </a:ext>
            </a:extLst>
          </p:cNvPr>
          <p:cNvSpPr>
            <a:spLocks noGrp="1"/>
          </p:cNvSpPr>
          <p:nvPr>
            <p:ph type="title"/>
          </p:nvPr>
        </p:nvSpPr>
        <p:spPr/>
        <p:txBody>
          <a:bodyPr/>
          <a:lstStyle/>
          <a:p>
            <a:r>
              <a:rPr lang="zh-TW" altLang="en-US" sz="3600" dirty="0"/>
              <a:t>方案二：獨老不孤老</a:t>
            </a:r>
            <a:r>
              <a:rPr lang="en-US" altLang="zh-TW" sz="3600" dirty="0"/>
              <a:t>-</a:t>
            </a:r>
            <a:r>
              <a:rPr lang="zh-TW" altLang="en-US" sz="3600" dirty="0"/>
              <a:t>獨老聯合服務計畫</a:t>
            </a:r>
          </a:p>
        </p:txBody>
      </p:sp>
      <p:sp>
        <p:nvSpPr>
          <p:cNvPr id="3" name="內容版面配置區 2">
            <a:extLst>
              <a:ext uri="{FF2B5EF4-FFF2-40B4-BE49-F238E27FC236}">
                <a16:creationId xmlns:a16="http://schemas.microsoft.com/office/drawing/2014/main" id="{B826FC26-A788-991B-1D75-61DF16E58AE0}"/>
              </a:ext>
            </a:extLst>
          </p:cNvPr>
          <p:cNvSpPr>
            <a:spLocks noGrp="1"/>
          </p:cNvSpPr>
          <p:nvPr>
            <p:ph idx="1"/>
          </p:nvPr>
        </p:nvSpPr>
        <p:spPr>
          <a:xfrm>
            <a:off x="457200" y="990600"/>
            <a:ext cx="8229600" cy="1214264"/>
          </a:xfrm>
        </p:spPr>
        <p:txBody>
          <a:bodyPr/>
          <a:lstStyle/>
          <a:p>
            <a:pPr marL="0" indent="0" algn="ctr">
              <a:buNone/>
            </a:pPr>
            <a:r>
              <a:rPr lang="zh-TW" altLang="en-US" sz="2800" b="1" dirty="0">
                <a:solidFill>
                  <a:srgbClr val="FF0000"/>
                </a:solidFill>
                <a:latin typeface="標楷體" pitchFamily="65" charset="-120"/>
                <a:ea typeface="標楷體" pitchFamily="65" charset="-120"/>
              </a:rPr>
              <a:t>方案內容</a:t>
            </a:r>
            <a:r>
              <a:rPr lang="en-US" altLang="zh-TW" sz="2800" b="1" dirty="0">
                <a:solidFill>
                  <a:srgbClr val="FF0000"/>
                </a:solidFill>
                <a:latin typeface="標楷體" pitchFamily="65" charset="-120"/>
                <a:ea typeface="標楷體" pitchFamily="65" charset="-120"/>
              </a:rPr>
              <a:t>-2</a:t>
            </a:r>
            <a:endParaRPr lang="zh-TW" altLang="en-US" sz="2800" b="1" dirty="0">
              <a:solidFill>
                <a:srgbClr val="FF0000"/>
              </a:solidFill>
              <a:latin typeface="標楷體" pitchFamily="65" charset="-120"/>
              <a:ea typeface="標楷體" pitchFamily="65" charset="-120"/>
            </a:endParaRPr>
          </a:p>
        </p:txBody>
      </p:sp>
      <p:sp>
        <p:nvSpPr>
          <p:cNvPr id="5" name="矩形 4">
            <a:extLst>
              <a:ext uri="{FF2B5EF4-FFF2-40B4-BE49-F238E27FC236}">
                <a16:creationId xmlns:a16="http://schemas.microsoft.com/office/drawing/2014/main" id="{FC2CA5CB-1405-B649-88A2-5C3510E4814B}"/>
              </a:ext>
            </a:extLst>
          </p:cNvPr>
          <p:cNvSpPr/>
          <p:nvPr/>
        </p:nvSpPr>
        <p:spPr>
          <a:xfrm>
            <a:off x="304800" y="1548371"/>
            <a:ext cx="3570208"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a:t>
            </a:r>
            <a:r>
              <a:rPr kumimoji="0" lang="zh-TW" altLang="en-US" sz="2400" b="0" i="0" u="none" strike="noStrike" kern="0" cap="none" spc="0" normalizeH="0" baseline="0" noProof="0" dirty="0">
                <a:ln>
                  <a:noFill/>
                </a:ln>
                <a:solidFill>
                  <a:srgbClr val="000000"/>
                </a:solidFill>
                <a:effectLst/>
                <a:uLnTx/>
                <a:uFillTx/>
                <a:latin typeface="Arial"/>
                <a:ea typeface="標楷體"/>
                <a:cs typeface="Times New Roman"/>
              </a:rPr>
              <a:t>■福利服務類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sp>
        <p:nvSpPr>
          <p:cNvPr id="4" name="矩形 3">
            <a:extLst>
              <a:ext uri="{FF2B5EF4-FFF2-40B4-BE49-F238E27FC236}">
                <a16:creationId xmlns:a16="http://schemas.microsoft.com/office/drawing/2014/main" id="{ED3AE0A2-6A4A-BF17-6563-A4AC8BDD0598}"/>
              </a:ext>
            </a:extLst>
          </p:cNvPr>
          <p:cNvSpPr/>
          <p:nvPr/>
        </p:nvSpPr>
        <p:spPr>
          <a:xfrm>
            <a:off x="-22448" y="2420888"/>
            <a:ext cx="9036496" cy="2746457"/>
          </a:xfrm>
          <a:prstGeom prst="rect">
            <a:avLst/>
          </a:prstGeom>
        </p:spPr>
        <p:txBody>
          <a:bodyPr wrap="square">
            <a:spAutoFit/>
          </a:bodyPr>
          <a:lstStyle/>
          <a:p>
            <a:pPr marL="901700" marR="0" lvl="0" indent="-279400" algn="l"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獨老出走</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：小旗艦</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5</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社區每社區至多</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5</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位獨居長者參加獨老聯合服務，辦理一次戶外活動以鼓勵獨居長者參與。</a:t>
            </a:r>
            <a:b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br>
            <a:endPar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endParaRPr>
          </a:p>
          <a:p>
            <a:pPr marL="901700" marR="0" lvl="0" indent="-279400" algn="l"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獨老同樂會</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：在獨老聯合服務結束後，辦理同樂會，藉由同樂會促進獨居長者與社區以及彼此之互動，並且請獨居長者、提供服務之人力分享心得。</a:t>
            </a:r>
          </a:p>
        </p:txBody>
      </p:sp>
    </p:spTree>
    <p:extLst>
      <p:ext uri="{BB962C8B-B14F-4D97-AF65-F5344CB8AC3E}">
        <p14:creationId xmlns:p14="http://schemas.microsoft.com/office/powerpoint/2010/main" val="5104047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44FFA-A2A8-7D1F-E245-3EEB84192DD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03598DE-00A8-2417-3081-B7B4C10D280F}"/>
              </a:ext>
            </a:extLst>
          </p:cNvPr>
          <p:cNvSpPr>
            <a:spLocks noGrp="1"/>
          </p:cNvSpPr>
          <p:nvPr>
            <p:ph type="title"/>
          </p:nvPr>
        </p:nvSpPr>
        <p:spPr/>
        <p:txBody>
          <a:bodyPr/>
          <a:lstStyle/>
          <a:p>
            <a:r>
              <a:rPr lang="zh-TW" altLang="en-US" sz="3200" dirty="0"/>
              <a:t>方案二：獨老不孤老</a:t>
            </a:r>
            <a:r>
              <a:rPr lang="en-US" altLang="zh-TW" sz="3200" dirty="0"/>
              <a:t>-</a:t>
            </a:r>
            <a:r>
              <a:rPr lang="zh-TW" altLang="en-US" sz="3200" dirty="0"/>
              <a:t>獨老聯合服務計畫</a:t>
            </a:r>
          </a:p>
        </p:txBody>
      </p:sp>
      <p:sp>
        <p:nvSpPr>
          <p:cNvPr id="3" name="內容版面配置區 2">
            <a:extLst>
              <a:ext uri="{FF2B5EF4-FFF2-40B4-BE49-F238E27FC236}">
                <a16:creationId xmlns:a16="http://schemas.microsoft.com/office/drawing/2014/main" id="{2960C797-3AEB-E6CA-AC7A-7146CFD16D8C}"/>
              </a:ext>
            </a:extLst>
          </p:cNvPr>
          <p:cNvSpPr>
            <a:spLocks noGrp="1"/>
          </p:cNvSpPr>
          <p:nvPr>
            <p:ph idx="1"/>
          </p:nvPr>
        </p:nvSpPr>
        <p:spPr>
          <a:xfrm>
            <a:off x="3630723" y="623615"/>
            <a:ext cx="1882552" cy="563562"/>
          </a:xfrm>
        </p:spPr>
        <p:txBody>
          <a:bodyPr/>
          <a:lstStyle/>
          <a:p>
            <a:pPr marL="0" indent="0" algn="ctr">
              <a:buNone/>
            </a:pPr>
            <a:r>
              <a:rPr lang="zh-TW" altLang="en-US" sz="2800" b="1" dirty="0">
                <a:solidFill>
                  <a:srgbClr val="FF0000"/>
                </a:solidFill>
                <a:latin typeface="標楷體" pitchFamily="65" charset="-120"/>
                <a:ea typeface="標楷體" pitchFamily="65" charset="-120"/>
              </a:rPr>
              <a:t>內容規劃</a:t>
            </a:r>
            <a:endParaRPr lang="en-US" altLang="zh-TW" sz="2800" b="1" dirty="0">
              <a:solidFill>
                <a:srgbClr val="FF0000"/>
              </a:solidFill>
              <a:latin typeface="標楷體" pitchFamily="65" charset="-120"/>
              <a:ea typeface="標楷體" pitchFamily="65" charset="-120"/>
            </a:endParaRPr>
          </a:p>
        </p:txBody>
      </p:sp>
      <p:graphicFrame>
        <p:nvGraphicFramePr>
          <p:cNvPr id="6" name="表格 5">
            <a:extLst>
              <a:ext uri="{FF2B5EF4-FFF2-40B4-BE49-F238E27FC236}">
                <a16:creationId xmlns:a16="http://schemas.microsoft.com/office/drawing/2014/main" id="{01615D81-003A-7D50-356A-F71AAFD9369B}"/>
              </a:ext>
            </a:extLst>
          </p:cNvPr>
          <p:cNvGraphicFramePr>
            <a:graphicFrameLocks noGrp="1"/>
          </p:cNvGraphicFramePr>
          <p:nvPr/>
        </p:nvGraphicFramePr>
        <p:xfrm>
          <a:off x="380998" y="1340768"/>
          <a:ext cx="8511482" cy="5041969"/>
        </p:xfrm>
        <a:graphic>
          <a:graphicData uri="http://schemas.openxmlformats.org/drawingml/2006/table">
            <a:tbl>
              <a:tblPr firstRow="1" firstCol="1" lastRow="1" lastCol="1" bandRow="1" bandCol="1"/>
              <a:tblGrid>
                <a:gridCol w="395099">
                  <a:extLst>
                    <a:ext uri="{9D8B030D-6E8A-4147-A177-3AD203B41FA5}">
                      <a16:colId xmlns:a16="http://schemas.microsoft.com/office/drawing/2014/main" val="2962014621"/>
                    </a:ext>
                  </a:extLst>
                </a:gridCol>
                <a:gridCol w="1831486">
                  <a:extLst>
                    <a:ext uri="{9D8B030D-6E8A-4147-A177-3AD203B41FA5}">
                      <a16:colId xmlns:a16="http://schemas.microsoft.com/office/drawing/2014/main" val="1307490298"/>
                    </a:ext>
                  </a:extLst>
                </a:gridCol>
                <a:gridCol w="1052366">
                  <a:extLst>
                    <a:ext uri="{9D8B030D-6E8A-4147-A177-3AD203B41FA5}">
                      <a16:colId xmlns:a16="http://schemas.microsoft.com/office/drawing/2014/main" val="3869820868"/>
                    </a:ext>
                  </a:extLst>
                </a:gridCol>
                <a:gridCol w="3794978">
                  <a:extLst>
                    <a:ext uri="{9D8B030D-6E8A-4147-A177-3AD203B41FA5}">
                      <a16:colId xmlns:a16="http://schemas.microsoft.com/office/drawing/2014/main" val="548205571"/>
                    </a:ext>
                  </a:extLst>
                </a:gridCol>
                <a:gridCol w="1437553">
                  <a:extLst>
                    <a:ext uri="{9D8B030D-6E8A-4147-A177-3AD203B41FA5}">
                      <a16:colId xmlns:a16="http://schemas.microsoft.com/office/drawing/2014/main" val="2290466634"/>
                    </a:ext>
                  </a:extLst>
                </a:gridCol>
              </a:tblGrid>
              <a:tr h="618477">
                <a:tc>
                  <a:txBody>
                    <a:bodyPr/>
                    <a:lstStyle/>
                    <a:p>
                      <a:pPr marL="66675" algn="ctr">
                        <a:lnSpc>
                          <a:spcPts val="2200"/>
                        </a:lnSpc>
                        <a:spcBef>
                          <a:spcPts val="355"/>
                        </a:spcBef>
                      </a:pPr>
                      <a:r>
                        <a:rPr lang="en-US" sz="2000" kern="0" spc="-5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次</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r>
                        <a:rPr lang="zh-TW" sz="2000" kern="0">
                          <a:solidFill>
                            <a:srgbClr val="000000"/>
                          </a:solidFill>
                          <a:effectLst/>
                          <a:latin typeface="標楷體" panose="03000509000000000000" pitchFamily="65" charset="-120"/>
                          <a:ea typeface="標楷體" panose="03000509000000000000" pitchFamily="65" charset="-120"/>
                        </a:rPr>
                        <a:t>名稱</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spcBef>
                          <a:spcPts val="355"/>
                        </a:spcBef>
                      </a:pPr>
                      <a:r>
                        <a:rPr lang="zh-TW" sz="2000" kern="0">
                          <a:solidFill>
                            <a:srgbClr val="000000"/>
                          </a:solidFill>
                          <a:effectLst/>
                          <a:latin typeface="標楷體" panose="03000509000000000000" pitchFamily="65" charset="-120"/>
                          <a:ea typeface="標楷體" panose="03000509000000000000" pitchFamily="65" charset="-120"/>
                        </a:rPr>
                        <a:t>時間</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2230" algn="ctr">
                        <a:lnSpc>
                          <a:spcPts val="2200"/>
                        </a:lnSpc>
                        <a:spcBef>
                          <a:spcPts val="355"/>
                        </a:spcBef>
                      </a:pPr>
                      <a:r>
                        <a:rPr lang="zh-TW" sz="2000" kern="0">
                          <a:solidFill>
                            <a:srgbClr val="000000"/>
                          </a:solidFill>
                          <a:effectLst/>
                          <a:latin typeface="標楷體" panose="03000509000000000000" pitchFamily="65" charset="-120"/>
                          <a:ea typeface="標楷體" panose="03000509000000000000" pitchFamily="65" charset="-120"/>
                        </a:rPr>
                        <a:t>負責社區</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2230" algn="ctr">
                        <a:lnSpc>
                          <a:spcPts val="2200"/>
                        </a:lnSpc>
                        <a:spcBef>
                          <a:spcPts val="355"/>
                        </a:spcBef>
                      </a:pPr>
                      <a:r>
                        <a:rPr lang="en-US" sz="13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對象</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8842321"/>
                  </a:ext>
                </a:extLst>
              </a:tr>
              <a:tr h="401666">
                <a:tc>
                  <a:txBody>
                    <a:bodyPr/>
                    <a:lstStyle/>
                    <a:p>
                      <a:pPr algn="ctr">
                        <a:spcBef>
                          <a:spcPts val="355"/>
                        </a:spcBef>
                      </a:pPr>
                      <a:r>
                        <a:rPr lang="en-US" sz="2000" kern="0" spc="-6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9">
                  <a:txBody>
                    <a:bodyPr/>
                    <a:lstStyle/>
                    <a:p>
                      <a:pPr algn="ctr">
                        <a:lnSpc>
                          <a:spcPts val="2000"/>
                        </a:lnSpc>
                      </a:pPr>
                      <a:r>
                        <a:rPr lang="zh-TW" sz="2000" kern="0" dirty="0">
                          <a:solidFill>
                            <a:srgbClr val="000000"/>
                          </a:solidFill>
                          <a:effectLst/>
                          <a:latin typeface="標楷體" panose="03000509000000000000" pitchFamily="65" charset="-120"/>
                          <a:ea typeface="標楷體" panose="03000509000000000000" pitchFamily="65" charset="-120"/>
                        </a:rPr>
                        <a:t>聯合服務</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2000" kern="0">
                          <a:solidFill>
                            <a:srgbClr val="000000"/>
                          </a:solidFill>
                          <a:effectLst/>
                          <a:latin typeface="標楷體" panose="03000509000000000000" pitchFamily="65" charset="-120"/>
                          <a:ea typeface="標楷體" panose="03000509000000000000" pitchFamily="65" charset="-120"/>
                        </a:rPr>
                        <a:t>2</a:t>
                      </a:r>
                      <a:r>
                        <a:rPr lang="zh-TW" sz="2000" kern="0">
                          <a:solidFill>
                            <a:srgbClr val="000000"/>
                          </a:solidFill>
                          <a:effectLst/>
                          <a:latin typeface="標楷體" panose="03000509000000000000" pitchFamily="65" charset="-120"/>
                          <a:ea typeface="標楷體" panose="03000509000000000000" pitchFamily="65" charset="-120"/>
                        </a:rPr>
                        <a:t>月</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TW" sz="2000" kern="100" dirty="0">
                          <a:solidFill>
                            <a:srgbClr val="000000"/>
                          </a:solidFill>
                          <a:effectLst/>
                          <a:latin typeface="標楷體" panose="03000509000000000000" pitchFamily="65" charset="-120"/>
                          <a:ea typeface="標楷體" panose="03000509000000000000" pitchFamily="65" charset="-120"/>
                        </a:rPr>
                        <a:t>宅配獨老健康處方箋</a:t>
                      </a:r>
                      <a:r>
                        <a:rPr lang="en-US" sz="2000" kern="100" dirty="0">
                          <a:solidFill>
                            <a:srgbClr val="000000"/>
                          </a:solidFill>
                          <a:effectLst/>
                          <a:latin typeface="標楷體" panose="03000509000000000000" pitchFamily="65" charset="-120"/>
                          <a:ea typeface="標楷體" panose="03000509000000000000" pitchFamily="65" charset="-120"/>
                        </a:rPr>
                        <a:t>-</a:t>
                      </a:r>
                      <a:r>
                        <a:rPr lang="zh-TW" sz="2000" kern="100" dirty="0">
                          <a:solidFill>
                            <a:srgbClr val="000000"/>
                          </a:solidFill>
                          <a:effectLst/>
                          <a:latin typeface="標楷體" panose="03000509000000000000" pitchFamily="65" charset="-120"/>
                          <a:ea typeface="標楷體" panose="03000509000000000000" pitchFamily="65" charset="-120"/>
                        </a:rPr>
                        <a:t>社寮社區</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11">
                  <a:txBody>
                    <a:bodyPr/>
                    <a:lstStyle/>
                    <a:p>
                      <a:pPr marR="76200" algn="just">
                        <a:lnSpc>
                          <a:spcPct val="109000"/>
                        </a:lnSpc>
                        <a:spcBef>
                          <a:spcPts val="355"/>
                        </a:spcBef>
                      </a:pPr>
                      <a:r>
                        <a:rPr lang="zh-TW" sz="2000"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小旗艦</a:t>
                      </a:r>
                      <a:r>
                        <a:rPr lang="en-US" sz="2000"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r>
                        <a:rPr lang="zh-TW" sz="2000"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社區之獨居長者，每社區至多</a:t>
                      </a:r>
                      <a:r>
                        <a:rPr lang="en-US" sz="2000"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r>
                        <a:rPr lang="zh-TW" sz="2000"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人</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318582"/>
                  </a:ext>
                </a:extLst>
              </a:tr>
              <a:tr h="402527">
                <a:tc>
                  <a:txBody>
                    <a:bodyPr/>
                    <a:lstStyle/>
                    <a:p>
                      <a:pPr algn="ctr">
                        <a:spcBef>
                          <a:spcPts val="355"/>
                        </a:spcBef>
                      </a:pPr>
                      <a:r>
                        <a:rPr lang="en-US" sz="2000" kern="0" spc="-6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a:r>
                        <a:rPr lang="en-US" sz="2000" kern="0">
                          <a:solidFill>
                            <a:srgbClr val="000000"/>
                          </a:solidFill>
                          <a:effectLst/>
                          <a:latin typeface="標楷體" panose="03000509000000000000" pitchFamily="65" charset="-120"/>
                          <a:ea typeface="標楷體" panose="03000509000000000000" pitchFamily="65" charset="-120"/>
                        </a:rPr>
                        <a:t>3</a:t>
                      </a:r>
                      <a:r>
                        <a:rPr lang="zh-TW" sz="2000" kern="0">
                          <a:solidFill>
                            <a:srgbClr val="000000"/>
                          </a:solidFill>
                          <a:effectLst/>
                          <a:latin typeface="標楷體" panose="03000509000000000000" pitchFamily="65" charset="-120"/>
                          <a:ea typeface="標楷體" panose="03000509000000000000" pitchFamily="65" charset="-120"/>
                        </a:rPr>
                        <a:t>月</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TW" sz="2000" kern="100" dirty="0">
                          <a:solidFill>
                            <a:srgbClr val="000000"/>
                          </a:solidFill>
                          <a:effectLst/>
                          <a:latin typeface="標楷體" panose="03000509000000000000" pitchFamily="65" charset="-120"/>
                          <a:ea typeface="標楷體" panose="03000509000000000000" pitchFamily="65" charset="-120"/>
                        </a:rPr>
                        <a:t>獨老參與活動服務</a:t>
                      </a:r>
                      <a:r>
                        <a:rPr lang="en-US" sz="2000" kern="100" dirty="0">
                          <a:solidFill>
                            <a:srgbClr val="000000"/>
                          </a:solidFill>
                          <a:effectLst/>
                          <a:latin typeface="標楷體" panose="03000509000000000000" pitchFamily="65" charset="-120"/>
                          <a:ea typeface="標楷體" panose="03000509000000000000" pitchFamily="65" charset="-120"/>
                        </a:rPr>
                        <a:t>-</a:t>
                      </a:r>
                      <a:r>
                        <a:rPr lang="zh-TW" sz="2000" kern="100" dirty="0">
                          <a:solidFill>
                            <a:srgbClr val="000000"/>
                          </a:solidFill>
                          <a:effectLst/>
                          <a:latin typeface="標楷體" panose="03000509000000000000" pitchFamily="65" charset="-120"/>
                          <a:ea typeface="標楷體" panose="03000509000000000000" pitchFamily="65" charset="-120"/>
                        </a:rPr>
                        <a:t>社寮社區</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2279130602"/>
                  </a:ext>
                </a:extLst>
              </a:tr>
              <a:tr h="401666">
                <a:tc>
                  <a:txBody>
                    <a:bodyPr/>
                    <a:lstStyle/>
                    <a:p>
                      <a:pPr algn="ctr">
                        <a:spcBef>
                          <a:spcPts val="355"/>
                        </a:spcBef>
                      </a:pPr>
                      <a:r>
                        <a:rPr lang="en-US" sz="2000" kern="0" spc="-6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3</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a:r>
                        <a:rPr lang="en-US" sz="2000" kern="0">
                          <a:solidFill>
                            <a:srgbClr val="000000"/>
                          </a:solidFill>
                          <a:effectLst/>
                          <a:latin typeface="標楷體" panose="03000509000000000000" pitchFamily="65" charset="-120"/>
                          <a:ea typeface="標楷體" panose="03000509000000000000" pitchFamily="65" charset="-120"/>
                        </a:rPr>
                        <a:t>4</a:t>
                      </a:r>
                      <a:r>
                        <a:rPr lang="zh-TW" sz="2000" kern="0">
                          <a:solidFill>
                            <a:srgbClr val="000000"/>
                          </a:solidFill>
                          <a:effectLst/>
                          <a:latin typeface="標楷體" panose="03000509000000000000" pitchFamily="65" charset="-120"/>
                          <a:ea typeface="標楷體" panose="03000509000000000000" pitchFamily="65" charset="-120"/>
                        </a:rPr>
                        <a:t>月</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TW" sz="2000" kern="100" dirty="0">
                          <a:solidFill>
                            <a:srgbClr val="000000"/>
                          </a:solidFill>
                          <a:effectLst/>
                          <a:latin typeface="標楷體" panose="03000509000000000000" pitchFamily="65" charset="-120"/>
                          <a:ea typeface="標楷體" panose="03000509000000000000" pitchFamily="65" charset="-120"/>
                        </a:rPr>
                        <a:t>宅配獨老健康處方箋</a:t>
                      </a:r>
                      <a:r>
                        <a:rPr lang="en-US" sz="2000" kern="100" dirty="0">
                          <a:solidFill>
                            <a:srgbClr val="000000"/>
                          </a:solidFill>
                          <a:effectLst/>
                          <a:latin typeface="標楷體" panose="03000509000000000000" pitchFamily="65" charset="-120"/>
                          <a:ea typeface="標楷體" panose="03000509000000000000" pitchFamily="65" charset="-120"/>
                        </a:rPr>
                        <a:t>-</a:t>
                      </a:r>
                      <a:r>
                        <a:rPr lang="zh-TW" sz="2000" kern="100" dirty="0">
                          <a:solidFill>
                            <a:srgbClr val="000000"/>
                          </a:solidFill>
                          <a:effectLst/>
                          <a:latin typeface="標楷體" panose="03000509000000000000" pitchFamily="65" charset="-120"/>
                          <a:ea typeface="標楷體" panose="03000509000000000000" pitchFamily="65" charset="-120"/>
                        </a:rPr>
                        <a:t>富州社區</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3539248293"/>
                  </a:ext>
                </a:extLst>
              </a:tr>
              <a:tr h="402527">
                <a:tc>
                  <a:txBody>
                    <a:bodyPr/>
                    <a:lstStyle/>
                    <a:p>
                      <a:pPr algn="ctr">
                        <a:spcBef>
                          <a:spcPts val="355"/>
                        </a:spcBef>
                      </a:pPr>
                      <a:r>
                        <a:rPr lang="en-US" sz="2000" kern="0" spc="-6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4</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a:r>
                        <a:rPr lang="en-US" sz="2000" kern="0" dirty="0">
                          <a:solidFill>
                            <a:srgbClr val="000000"/>
                          </a:solidFill>
                          <a:effectLst/>
                          <a:latin typeface="標楷體" panose="03000509000000000000" pitchFamily="65" charset="-120"/>
                          <a:ea typeface="標楷體" panose="03000509000000000000" pitchFamily="65" charset="-120"/>
                        </a:rPr>
                        <a:t>5</a:t>
                      </a:r>
                      <a:r>
                        <a:rPr lang="zh-TW" sz="2000" kern="0" dirty="0">
                          <a:solidFill>
                            <a:srgbClr val="000000"/>
                          </a:solidFill>
                          <a:effectLst/>
                          <a:latin typeface="標楷體" panose="03000509000000000000" pitchFamily="65" charset="-120"/>
                          <a:ea typeface="標楷體" panose="03000509000000000000" pitchFamily="65" charset="-120"/>
                        </a:rPr>
                        <a:t>月</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TW" sz="2000" kern="100">
                          <a:solidFill>
                            <a:srgbClr val="000000"/>
                          </a:solidFill>
                          <a:effectLst/>
                          <a:latin typeface="標楷體" panose="03000509000000000000" pitchFamily="65" charset="-120"/>
                          <a:ea typeface="標楷體" panose="03000509000000000000" pitchFamily="65" charset="-120"/>
                        </a:rPr>
                        <a:t>獨老參與活動服務</a:t>
                      </a:r>
                      <a:r>
                        <a:rPr lang="en-US" sz="2000" kern="100">
                          <a:solidFill>
                            <a:srgbClr val="000000"/>
                          </a:solidFill>
                          <a:effectLst/>
                          <a:latin typeface="標楷體" panose="03000509000000000000" pitchFamily="65" charset="-120"/>
                          <a:ea typeface="標楷體" panose="03000509000000000000" pitchFamily="65" charset="-120"/>
                        </a:rPr>
                        <a:t>-</a:t>
                      </a:r>
                      <a:r>
                        <a:rPr lang="zh-TW" sz="2000" kern="100">
                          <a:solidFill>
                            <a:srgbClr val="000000"/>
                          </a:solidFill>
                          <a:effectLst/>
                          <a:latin typeface="標楷體" panose="03000509000000000000" pitchFamily="65" charset="-120"/>
                          <a:ea typeface="標楷體" panose="03000509000000000000" pitchFamily="65" charset="-120"/>
                        </a:rPr>
                        <a:t>山崇社區</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1043959343"/>
                  </a:ext>
                </a:extLst>
              </a:tr>
              <a:tr h="401666">
                <a:tc>
                  <a:txBody>
                    <a:bodyPr/>
                    <a:lstStyle/>
                    <a:p>
                      <a:pPr algn="ctr">
                        <a:spcBef>
                          <a:spcPts val="355"/>
                        </a:spcBef>
                      </a:pPr>
                      <a:r>
                        <a:rPr lang="en-US" sz="2000" kern="0" spc="-6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a:r>
                        <a:rPr lang="en-US" sz="2000" kern="0">
                          <a:solidFill>
                            <a:srgbClr val="000000"/>
                          </a:solidFill>
                          <a:effectLst/>
                          <a:latin typeface="標楷體" panose="03000509000000000000" pitchFamily="65" charset="-120"/>
                          <a:ea typeface="標楷體" panose="03000509000000000000" pitchFamily="65" charset="-120"/>
                        </a:rPr>
                        <a:t>6</a:t>
                      </a:r>
                      <a:r>
                        <a:rPr lang="zh-TW" sz="2000" kern="0">
                          <a:solidFill>
                            <a:srgbClr val="000000"/>
                          </a:solidFill>
                          <a:effectLst/>
                          <a:latin typeface="標楷體" panose="03000509000000000000" pitchFamily="65" charset="-120"/>
                          <a:ea typeface="標楷體" panose="03000509000000000000" pitchFamily="65" charset="-120"/>
                        </a:rPr>
                        <a:t>月</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TW" sz="2000" kern="100">
                          <a:solidFill>
                            <a:srgbClr val="000000"/>
                          </a:solidFill>
                          <a:effectLst/>
                          <a:latin typeface="標楷體" panose="03000509000000000000" pitchFamily="65" charset="-120"/>
                          <a:ea typeface="標楷體" panose="03000509000000000000" pitchFamily="65" charset="-120"/>
                        </a:rPr>
                        <a:t>宅配獨老健康處方箋</a:t>
                      </a:r>
                      <a:r>
                        <a:rPr lang="en-US" sz="2000" kern="100">
                          <a:solidFill>
                            <a:srgbClr val="000000"/>
                          </a:solidFill>
                          <a:effectLst/>
                          <a:latin typeface="標楷體" panose="03000509000000000000" pitchFamily="65" charset="-120"/>
                          <a:ea typeface="標楷體" panose="03000509000000000000" pitchFamily="65" charset="-120"/>
                        </a:rPr>
                        <a:t>-</a:t>
                      </a:r>
                      <a:r>
                        <a:rPr lang="zh-TW" sz="2000" kern="100">
                          <a:solidFill>
                            <a:srgbClr val="000000"/>
                          </a:solidFill>
                          <a:effectLst/>
                          <a:latin typeface="標楷體" panose="03000509000000000000" pitchFamily="65" charset="-120"/>
                          <a:ea typeface="標楷體" panose="03000509000000000000" pitchFamily="65" charset="-120"/>
                        </a:rPr>
                        <a:t>山崇社區</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1743997386"/>
                  </a:ext>
                </a:extLst>
              </a:tr>
              <a:tr h="402527">
                <a:tc>
                  <a:txBody>
                    <a:bodyPr/>
                    <a:lstStyle/>
                    <a:p>
                      <a:pPr algn="ctr">
                        <a:spcBef>
                          <a:spcPts val="355"/>
                        </a:spcBef>
                      </a:pPr>
                      <a:r>
                        <a:rPr lang="en-US" sz="2000" kern="0" spc="-6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6</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a:r>
                        <a:rPr lang="en-US" sz="2000" kern="0">
                          <a:solidFill>
                            <a:srgbClr val="000000"/>
                          </a:solidFill>
                          <a:effectLst/>
                          <a:latin typeface="標楷體" panose="03000509000000000000" pitchFamily="65" charset="-120"/>
                          <a:ea typeface="標楷體" panose="03000509000000000000" pitchFamily="65" charset="-120"/>
                        </a:rPr>
                        <a:t>7</a:t>
                      </a:r>
                      <a:r>
                        <a:rPr lang="zh-TW" sz="2000" kern="0">
                          <a:solidFill>
                            <a:srgbClr val="000000"/>
                          </a:solidFill>
                          <a:effectLst/>
                          <a:latin typeface="標楷體" panose="03000509000000000000" pitchFamily="65" charset="-120"/>
                          <a:ea typeface="標楷體" panose="03000509000000000000" pitchFamily="65" charset="-120"/>
                        </a:rPr>
                        <a:t>月</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TW" sz="2000" kern="100">
                          <a:solidFill>
                            <a:srgbClr val="000000"/>
                          </a:solidFill>
                          <a:effectLst/>
                          <a:latin typeface="標楷體" panose="03000509000000000000" pitchFamily="65" charset="-120"/>
                          <a:ea typeface="標楷體" panose="03000509000000000000" pitchFamily="65" charset="-120"/>
                        </a:rPr>
                        <a:t>獨老參與活動服務</a:t>
                      </a:r>
                      <a:r>
                        <a:rPr lang="en-US" sz="2000" kern="100">
                          <a:solidFill>
                            <a:srgbClr val="000000"/>
                          </a:solidFill>
                          <a:effectLst/>
                          <a:latin typeface="標楷體" panose="03000509000000000000" pitchFamily="65" charset="-120"/>
                          <a:ea typeface="標楷體" panose="03000509000000000000" pitchFamily="65" charset="-120"/>
                        </a:rPr>
                        <a:t>-</a:t>
                      </a:r>
                      <a:r>
                        <a:rPr lang="zh-TW" sz="2000" kern="100">
                          <a:solidFill>
                            <a:srgbClr val="000000"/>
                          </a:solidFill>
                          <a:effectLst/>
                          <a:latin typeface="標楷體" panose="03000509000000000000" pitchFamily="65" charset="-120"/>
                          <a:ea typeface="標楷體" panose="03000509000000000000" pitchFamily="65" charset="-120"/>
                        </a:rPr>
                        <a:t>中央社區</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1263883360"/>
                  </a:ext>
                </a:extLst>
              </a:tr>
              <a:tr h="401666">
                <a:tc>
                  <a:txBody>
                    <a:bodyPr/>
                    <a:lstStyle/>
                    <a:p>
                      <a:pPr algn="ctr">
                        <a:spcBef>
                          <a:spcPts val="355"/>
                        </a:spcBef>
                      </a:pPr>
                      <a:r>
                        <a:rPr lang="en-US" sz="2000" kern="0" spc="-6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a:r>
                        <a:rPr lang="en-US" sz="2000" kern="0">
                          <a:solidFill>
                            <a:srgbClr val="000000"/>
                          </a:solidFill>
                          <a:effectLst/>
                          <a:latin typeface="標楷體" panose="03000509000000000000" pitchFamily="65" charset="-120"/>
                          <a:ea typeface="標楷體" panose="03000509000000000000" pitchFamily="65" charset="-120"/>
                        </a:rPr>
                        <a:t>8</a:t>
                      </a:r>
                      <a:r>
                        <a:rPr lang="zh-TW" sz="2000" kern="0">
                          <a:solidFill>
                            <a:srgbClr val="000000"/>
                          </a:solidFill>
                          <a:effectLst/>
                          <a:latin typeface="標楷體" panose="03000509000000000000" pitchFamily="65" charset="-120"/>
                          <a:ea typeface="標楷體" panose="03000509000000000000" pitchFamily="65" charset="-120"/>
                        </a:rPr>
                        <a:t>月</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TW" sz="2000" kern="100" dirty="0">
                          <a:solidFill>
                            <a:srgbClr val="000000"/>
                          </a:solidFill>
                          <a:effectLst/>
                          <a:latin typeface="標楷體" panose="03000509000000000000" pitchFamily="65" charset="-120"/>
                          <a:ea typeface="標楷體" panose="03000509000000000000" pitchFamily="65" charset="-120"/>
                        </a:rPr>
                        <a:t>宅配獨老健康處方箋</a:t>
                      </a:r>
                      <a:r>
                        <a:rPr lang="en-US" sz="2000" kern="100" dirty="0">
                          <a:solidFill>
                            <a:srgbClr val="000000"/>
                          </a:solidFill>
                          <a:effectLst/>
                          <a:latin typeface="標楷體" panose="03000509000000000000" pitchFamily="65" charset="-120"/>
                          <a:ea typeface="標楷體" panose="03000509000000000000" pitchFamily="65" charset="-120"/>
                        </a:rPr>
                        <a:t>-</a:t>
                      </a:r>
                      <a:r>
                        <a:rPr lang="zh-TW" sz="2000" kern="100" dirty="0">
                          <a:solidFill>
                            <a:srgbClr val="000000"/>
                          </a:solidFill>
                          <a:effectLst/>
                          <a:latin typeface="標楷體" panose="03000509000000000000" pitchFamily="65" charset="-120"/>
                          <a:ea typeface="標楷體" panose="03000509000000000000" pitchFamily="65" charset="-120"/>
                        </a:rPr>
                        <a:t>中央社區</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3056864537"/>
                  </a:ext>
                </a:extLst>
              </a:tr>
              <a:tr h="402527">
                <a:tc>
                  <a:txBody>
                    <a:bodyPr/>
                    <a:lstStyle/>
                    <a:p>
                      <a:pPr algn="ctr">
                        <a:spcBef>
                          <a:spcPts val="355"/>
                        </a:spcBef>
                      </a:pPr>
                      <a:r>
                        <a:rPr lang="en-US" sz="2000" kern="0" spc="-6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8</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a:r>
                        <a:rPr lang="en-US" sz="2000" kern="0">
                          <a:solidFill>
                            <a:srgbClr val="000000"/>
                          </a:solidFill>
                          <a:effectLst/>
                          <a:latin typeface="標楷體" panose="03000509000000000000" pitchFamily="65" charset="-120"/>
                          <a:ea typeface="標楷體" panose="03000509000000000000" pitchFamily="65" charset="-120"/>
                        </a:rPr>
                        <a:t>9</a:t>
                      </a:r>
                      <a:r>
                        <a:rPr lang="zh-TW" sz="2000" kern="0">
                          <a:solidFill>
                            <a:srgbClr val="000000"/>
                          </a:solidFill>
                          <a:effectLst/>
                          <a:latin typeface="標楷體" panose="03000509000000000000" pitchFamily="65" charset="-120"/>
                          <a:ea typeface="標楷體" panose="03000509000000000000" pitchFamily="65" charset="-120"/>
                        </a:rPr>
                        <a:t>月</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TW" sz="2000" kern="100" dirty="0">
                          <a:solidFill>
                            <a:srgbClr val="000000"/>
                          </a:solidFill>
                          <a:effectLst/>
                          <a:latin typeface="標楷體" panose="03000509000000000000" pitchFamily="65" charset="-120"/>
                          <a:ea typeface="標楷體" panose="03000509000000000000" pitchFamily="65" charset="-120"/>
                        </a:rPr>
                        <a:t>獨老參與活動服務</a:t>
                      </a:r>
                      <a:r>
                        <a:rPr lang="en-US" sz="2000" kern="100" dirty="0">
                          <a:solidFill>
                            <a:srgbClr val="000000"/>
                          </a:solidFill>
                          <a:effectLst/>
                          <a:latin typeface="標楷體" panose="03000509000000000000" pitchFamily="65" charset="-120"/>
                          <a:ea typeface="標楷體" panose="03000509000000000000" pitchFamily="65" charset="-120"/>
                        </a:rPr>
                        <a:t>-</a:t>
                      </a:r>
                      <a:r>
                        <a:rPr lang="zh-TW" sz="2000" kern="100" dirty="0">
                          <a:solidFill>
                            <a:srgbClr val="000000"/>
                          </a:solidFill>
                          <a:effectLst/>
                          <a:latin typeface="標楷體" panose="03000509000000000000" pitchFamily="65" charset="-120"/>
                          <a:ea typeface="標楷體" panose="03000509000000000000" pitchFamily="65" charset="-120"/>
                        </a:rPr>
                        <a:t>中崎社區</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3146030204"/>
                  </a:ext>
                </a:extLst>
              </a:tr>
              <a:tr h="401666">
                <a:tc>
                  <a:txBody>
                    <a:bodyPr/>
                    <a:lstStyle/>
                    <a:p>
                      <a:pPr algn="ctr">
                        <a:spcBef>
                          <a:spcPts val="355"/>
                        </a:spcBef>
                      </a:pPr>
                      <a:r>
                        <a:rPr lang="en-US" sz="2000" kern="0" spc="-6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9</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a:r>
                        <a:rPr lang="en-US" sz="2000" kern="0">
                          <a:solidFill>
                            <a:srgbClr val="000000"/>
                          </a:solidFill>
                          <a:effectLst/>
                          <a:latin typeface="標楷體" panose="03000509000000000000" pitchFamily="65" charset="-120"/>
                          <a:ea typeface="標楷體" panose="03000509000000000000" pitchFamily="65" charset="-120"/>
                        </a:rPr>
                        <a:t>10</a:t>
                      </a:r>
                      <a:r>
                        <a:rPr lang="zh-TW" sz="2000" kern="0">
                          <a:solidFill>
                            <a:srgbClr val="000000"/>
                          </a:solidFill>
                          <a:effectLst/>
                          <a:latin typeface="標楷體" panose="03000509000000000000" pitchFamily="65" charset="-120"/>
                          <a:ea typeface="標楷體" panose="03000509000000000000" pitchFamily="65" charset="-120"/>
                        </a:rPr>
                        <a:t>月</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TW" sz="2000" kern="100" dirty="0">
                          <a:solidFill>
                            <a:srgbClr val="000000"/>
                          </a:solidFill>
                          <a:effectLst/>
                          <a:latin typeface="標楷體" panose="03000509000000000000" pitchFamily="65" charset="-120"/>
                          <a:ea typeface="標楷體" panose="03000509000000000000" pitchFamily="65" charset="-120"/>
                        </a:rPr>
                        <a:t>宅配獨老健康處方箋</a:t>
                      </a:r>
                      <a:r>
                        <a:rPr lang="en-US" sz="2000" kern="100" dirty="0">
                          <a:solidFill>
                            <a:srgbClr val="000000"/>
                          </a:solidFill>
                          <a:effectLst/>
                          <a:latin typeface="標楷體" panose="03000509000000000000" pitchFamily="65" charset="-120"/>
                          <a:ea typeface="標楷體" panose="03000509000000000000" pitchFamily="65" charset="-120"/>
                        </a:rPr>
                        <a:t>-</a:t>
                      </a:r>
                      <a:r>
                        <a:rPr lang="zh-TW" sz="2000" kern="100" dirty="0">
                          <a:solidFill>
                            <a:srgbClr val="000000"/>
                          </a:solidFill>
                          <a:effectLst/>
                          <a:latin typeface="標楷體" panose="03000509000000000000" pitchFamily="65" charset="-120"/>
                          <a:ea typeface="標楷體" panose="03000509000000000000" pitchFamily="65" charset="-120"/>
                        </a:rPr>
                        <a:t>中崎社區</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1934806737"/>
                  </a:ext>
                </a:extLst>
              </a:tr>
              <a:tr h="402527">
                <a:tc>
                  <a:txBody>
                    <a:bodyPr/>
                    <a:lstStyle/>
                    <a:p>
                      <a:pPr algn="ctr">
                        <a:spcBef>
                          <a:spcPts val="355"/>
                        </a:spcBef>
                      </a:pPr>
                      <a:r>
                        <a:rPr lang="en-US" sz="2000" kern="0" spc="-6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r>
                        <a:rPr lang="zh-TW" sz="2000" kern="0">
                          <a:solidFill>
                            <a:srgbClr val="000000"/>
                          </a:solidFill>
                          <a:effectLst/>
                          <a:latin typeface="標楷體" panose="03000509000000000000" pitchFamily="65" charset="-120"/>
                          <a:ea typeface="標楷體" panose="03000509000000000000" pitchFamily="65" charset="-120"/>
                        </a:rPr>
                        <a:t>獨老出走</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2000" kern="0">
                          <a:solidFill>
                            <a:srgbClr val="000000"/>
                          </a:solidFill>
                          <a:effectLst/>
                          <a:latin typeface="標楷體" panose="03000509000000000000" pitchFamily="65" charset="-120"/>
                          <a:ea typeface="標楷體" panose="03000509000000000000" pitchFamily="65" charset="-120"/>
                        </a:rPr>
                        <a:t>10</a:t>
                      </a:r>
                      <a:r>
                        <a:rPr lang="zh-TW" sz="2000" kern="0">
                          <a:solidFill>
                            <a:srgbClr val="000000"/>
                          </a:solidFill>
                          <a:effectLst/>
                          <a:latin typeface="標楷體" panose="03000509000000000000" pitchFamily="65" charset="-120"/>
                          <a:ea typeface="標楷體" panose="03000509000000000000" pitchFamily="65" charset="-120"/>
                        </a:rPr>
                        <a:t>月</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TW" sz="2000" kern="100" dirty="0">
                          <a:solidFill>
                            <a:srgbClr val="000000"/>
                          </a:solidFill>
                          <a:effectLst/>
                          <a:latin typeface="標楷體" panose="03000509000000000000" pitchFamily="65" charset="-120"/>
                          <a:ea typeface="標楷體" panose="03000509000000000000" pitchFamily="65" charset="-120"/>
                        </a:rPr>
                        <a:t>共同負責</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1536510679"/>
                  </a:ext>
                </a:extLst>
              </a:tr>
              <a:tr h="402527">
                <a:tc>
                  <a:txBody>
                    <a:bodyPr/>
                    <a:lstStyle/>
                    <a:p>
                      <a:pPr algn="ctr">
                        <a:spcBef>
                          <a:spcPts val="355"/>
                        </a:spcBef>
                      </a:pPr>
                      <a:r>
                        <a:rPr lang="en-US" sz="2000" kern="0" spc="-6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r>
                        <a:rPr lang="zh-TW" sz="2000" kern="0">
                          <a:solidFill>
                            <a:srgbClr val="000000"/>
                          </a:solidFill>
                          <a:effectLst/>
                          <a:latin typeface="標楷體" panose="03000509000000000000" pitchFamily="65" charset="-120"/>
                          <a:ea typeface="標楷體" panose="03000509000000000000" pitchFamily="65" charset="-120"/>
                        </a:rPr>
                        <a:t>獨老同樂會</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2000" kern="0">
                          <a:solidFill>
                            <a:srgbClr val="000000"/>
                          </a:solidFill>
                          <a:effectLst/>
                          <a:latin typeface="標楷體" panose="03000509000000000000" pitchFamily="65" charset="-120"/>
                          <a:ea typeface="標楷體" panose="03000509000000000000" pitchFamily="65" charset="-120"/>
                        </a:rPr>
                        <a:t>11</a:t>
                      </a:r>
                      <a:r>
                        <a:rPr lang="zh-TW" sz="2000" kern="0">
                          <a:solidFill>
                            <a:srgbClr val="000000"/>
                          </a:solidFill>
                          <a:effectLst/>
                          <a:latin typeface="標楷體" panose="03000509000000000000" pitchFamily="65" charset="-120"/>
                          <a:ea typeface="標楷體" panose="03000509000000000000" pitchFamily="65" charset="-120"/>
                        </a:rPr>
                        <a:t>月</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TW" sz="2000" kern="100" dirty="0">
                          <a:solidFill>
                            <a:srgbClr val="000000"/>
                          </a:solidFill>
                          <a:effectLst/>
                          <a:latin typeface="標楷體" panose="03000509000000000000" pitchFamily="65" charset="-120"/>
                          <a:ea typeface="標楷體" panose="03000509000000000000" pitchFamily="65" charset="-120"/>
                        </a:rPr>
                        <a:t>共同負責</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2291750074"/>
                  </a:ext>
                </a:extLst>
              </a:tr>
            </a:tbl>
          </a:graphicData>
        </a:graphic>
      </p:graphicFrame>
    </p:spTree>
    <p:extLst>
      <p:ext uri="{BB962C8B-B14F-4D97-AF65-F5344CB8AC3E}">
        <p14:creationId xmlns:p14="http://schemas.microsoft.com/office/powerpoint/2010/main" val="14687924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11CF5-14F4-1AA8-44FF-F1E3C7DDCC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51BA06A-2130-C5EF-E5DA-827DE1DC56C0}"/>
              </a:ext>
            </a:extLst>
          </p:cNvPr>
          <p:cNvSpPr>
            <a:spLocks noGrp="1"/>
          </p:cNvSpPr>
          <p:nvPr>
            <p:ph type="title"/>
          </p:nvPr>
        </p:nvSpPr>
        <p:spPr/>
        <p:txBody>
          <a:bodyPr/>
          <a:lstStyle/>
          <a:p>
            <a:r>
              <a:rPr lang="zh-TW" altLang="en-US" dirty="0"/>
              <a:t>方案三：小社區大未來</a:t>
            </a:r>
            <a:r>
              <a:rPr lang="en-US" altLang="zh-TW" dirty="0"/>
              <a:t>-</a:t>
            </a:r>
            <a:r>
              <a:rPr lang="zh-TW" altLang="en-US" dirty="0"/>
              <a:t>兒少小小自治團體方案</a:t>
            </a:r>
          </a:p>
        </p:txBody>
      </p:sp>
      <p:sp>
        <p:nvSpPr>
          <p:cNvPr id="3" name="內容版面配置區 2">
            <a:extLst>
              <a:ext uri="{FF2B5EF4-FFF2-40B4-BE49-F238E27FC236}">
                <a16:creationId xmlns:a16="http://schemas.microsoft.com/office/drawing/2014/main" id="{67A3D111-3972-466B-4D1C-6EF44404BBAD}"/>
              </a:ext>
            </a:extLst>
          </p:cNvPr>
          <p:cNvSpPr>
            <a:spLocks noGrp="1"/>
          </p:cNvSpPr>
          <p:nvPr>
            <p:ph idx="1"/>
          </p:nvPr>
        </p:nvSpPr>
        <p:spPr>
          <a:xfrm>
            <a:off x="457200" y="990600"/>
            <a:ext cx="8229600" cy="1214264"/>
          </a:xfrm>
        </p:spPr>
        <p:txBody>
          <a:bodyPr/>
          <a:lstStyle/>
          <a:p>
            <a:pPr marL="0" indent="0" algn="ctr">
              <a:buNone/>
            </a:pPr>
            <a:r>
              <a:rPr lang="zh-TW" altLang="en-US" sz="2800" b="1" dirty="0">
                <a:solidFill>
                  <a:srgbClr val="FF0000"/>
                </a:solidFill>
                <a:latin typeface="標楷體" pitchFamily="65" charset="-120"/>
                <a:ea typeface="標楷體" pitchFamily="65" charset="-120"/>
              </a:rPr>
              <a:t>方案內容</a:t>
            </a:r>
            <a:r>
              <a:rPr lang="en-US" altLang="zh-TW" sz="2800" b="1" dirty="0">
                <a:solidFill>
                  <a:srgbClr val="FF0000"/>
                </a:solidFill>
                <a:latin typeface="標楷體" pitchFamily="65" charset="-120"/>
                <a:ea typeface="標楷體" pitchFamily="65" charset="-120"/>
              </a:rPr>
              <a:t>-1</a:t>
            </a:r>
            <a:endParaRPr lang="zh-TW" altLang="en-US" sz="2800" b="1" dirty="0">
              <a:solidFill>
                <a:srgbClr val="FF0000"/>
              </a:solidFill>
              <a:latin typeface="標楷體" pitchFamily="65" charset="-120"/>
              <a:ea typeface="標楷體" pitchFamily="65" charset="-120"/>
            </a:endParaRPr>
          </a:p>
        </p:txBody>
      </p:sp>
      <p:sp>
        <p:nvSpPr>
          <p:cNvPr id="5" name="矩形 4">
            <a:extLst>
              <a:ext uri="{FF2B5EF4-FFF2-40B4-BE49-F238E27FC236}">
                <a16:creationId xmlns:a16="http://schemas.microsoft.com/office/drawing/2014/main" id="{7BEBEE71-E624-850C-A391-6ECCC04ABFF8}"/>
              </a:ext>
            </a:extLst>
          </p:cNvPr>
          <p:cNvSpPr/>
          <p:nvPr/>
        </p:nvSpPr>
        <p:spPr>
          <a:xfrm>
            <a:off x="304800" y="1548371"/>
            <a:ext cx="3570208"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a:t>
            </a:r>
            <a:r>
              <a:rPr kumimoji="0" lang="zh-TW" altLang="en-US" sz="2400" b="0" i="0" u="none" strike="noStrike" kern="0" cap="none" spc="0" normalizeH="0" baseline="0" noProof="0" dirty="0">
                <a:ln>
                  <a:noFill/>
                </a:ln>
                <a:solidFill>
                  <a:srgbClr val="000000"/>
                </a:solidFill>
                <a:effectLst/>
                <a:uLnTx/>
                <a:uFillTx/>
                <a:latin typeface="Arial"/>
                <a:ea typeface="標楷體"/>
                <a:cs typeface="Times New Roman"/>
              </a:rPr>
              <a:t>■福利服務類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sp>
        <p:nvSpPr>
          <p:cNvPr id="4" name="矩形 3">
            <a:extLst>
              <a:ext uri="{FF2B5EF4-FFF2-40B4-BE49-F238E27FC236}">
                <a16:creationId xmlns:a16="http://schemas.microsoft.com/office/drawing/2014/main" id="{97A51801-8DFE-4BCC-AC48-00F520697A67}"/>
              </a:ext>
            </a:extLst>
          </p:cNvPr>
          <p:cNvSpPr/>
          <p:nvPr/>
        </p:nvSpPr>
        <p:spPr>
          <a:xfrm>
            <a:off x="-22448" y="2348880"/>
            <a:ext cx="9036496" cy="3644139"/>
          </a:xfrm>
          <a:prstGeom prst="rect">
            <a:avLst/>
          </a:prstGeom>
        </p:spPr>
        <p:txBody>
          <a:bodyPr wrap="square">
            <a:spAutoFit/>
          </a:bodyPr>
          <a:lstStyle/>
          <a:p>
            <a:pPr marL="901700" marR="0" lvl="0" indent="-279400" algn="l"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認識社區發展協會與社會責任課程</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：介紹社區發展協會的角色和功能，討論社會責任與公民參與的意義。</a:t>
            </a:r>
            <a:b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br>
            <a:endPar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endParaRPr>
          </a:p>
          <a:p>
            <a:pPr marL="901700" marR="0" lvl="0" indent="-279400" algn="l"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進行模擬選舉</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：請學童以社區發展協會模式選出</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9</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位理事及</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位監事，再由里、監事會中選出理事長。</a:t>
            </a:r>
            <a:b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br>
            <a:endPar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endParaRPr>
          </a:p>
          <a:p>
            <a:pPr marL="901700" marR="0" lvl="0" indent="-279400" algn="l"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參與社區理監事會議</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：學童觀察並參與一次社區理監事會議，了解協會的決策過程。</a:t>
            </a:r>
          </a:p>
        </p:txBody>
      </p:sp>
    </p:spTree>
    <p:extLst>
      <p:ext uri="{BB962C8B-B14F-4D97-AF65-F5344CB8AC3E}">
        <p14:creationId xmlns:p14="http://schemas.microsoft.com/office/powerpoint/2010/main" val="31891129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1DD33-2501-13DE-373C-C4681801A31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D3F2079-9614-C3FB-2A7D-472D76A2AD87}"/>
              </a:ext>
            </a:extLst>
          </p:cNvPr>
          <p:cNvSpPr>
            <a:spLocks noGrp="1"/>
          </p:cNvSpPr>
          <p:nvPr>
            <p:ph type="title"/>
          </p:nvPr>
        </p:nvSpPr>
        <p:spPr/>
        <p:txBody>
          <a:bodyPr/>
          <a:lstStyle/>
          <a:p>
            <a:r>
              <a:rPr lang="zh-TW" altLang="en-US" dirty="0"/>
              <a:t>方案三：小社區大未來</a:t>
            </a:r>
            <a:r>
              <a:rPr lang="en-US" altLang="zh-TW" dirty="0"/>
              <a:t>-</a:t>
            </a:r>
            <a:r>
              <a:rPr lang="zh-TW" altLang="en-US" dirty="0"/>
              <a:t>兒少小小自治團體方案</a:t>
            </a:r>
          </a:p>
        </p:txBody>
      </p:sp>
      <p:sp>
        <p:nvSpPr>
          <p:cNvPr id="3" name="內容版面配置區 2">
            <a:extLst>
              <a:ext uri="{FF2B5EF4-FFF2-40B4-BE49-F238E27FC236}">
                <a16:creationId xmlns:a16="http://schemas.microsoft.com/office/drawing/2014/main" id="{0F0AE641-78EA-D889-FD05-B70EC23A0165}"/>
              </a:ext>
            </a:extLst>
          </p:cNvPr>
          <p:cNvSpPr>
            <a:spLocks noGrp="1"/>
          </p:cNvSpPr>
          <p:nvPr>
            <p:ph idx="1"/>
          </p:nvPr>
        </p:nvSpPr>
        <p:spPr>
          <a:xfrm>
            <a:off x="457200" y="990600"/>
            <a:ext cx="8229600" cy="1214264"/>
          </a:xfrm>
        </p:spPr>
        <p:txBody>
          <a:bodyPr/>
          <a:lstStyle/>
          <a:p>
            <a:pPr marL="0" indent="0" algn="ctr">
              <a:buNone/>
            </a:pPr>
            <a:r>
              <a:rPr lang="zh-TW" altLang="en-US" sz="2800" b="1" dirty="0">
                <a:solidFill>
                  <a:srgbClr val="FF0000"/>
                </a:solidFill>
                <a:latin typeface="標楷體" pitchFamily="65" charset="-120"/>
                <a:ea typeface="標楷體" pitchFamily="65" charset="-120"/>
              </a:rPr>
              <a:t>方案內容</a:t>
            </a:r>
            <a:r>
              <a:rPr lang="en-US" altLang="zh-TW" sz="2800" b="1" dirty="0">
                <a:solidFill>
                  <a:srgbClr val="FF0000"/>
                </a:solidFill>
                <a:latin typeface="標楷體" pitchFamily="65" charset="-120"/>
                <a:ea typeface="標楷體" pitchFamily="65" charset="-120"/>
              </a:rPr>
              <a:t>-2</a:t>
            </a:r>
            <a:endParaRPr lang="zh-TW" altLang="en-US" sz="2800" b="1" dirty="0">
              <a:solidFill>
                <a:srgbClr val="FF0000"/>
              </a:solidFill>
              <a:latin typeface="標楷體" pitchFamily="65" charset="-120"/>
              <a:ea typeface="標楷體" pitchFamily="65" charset="-120"/>
            </a:endParaRPr>
          </a:p>
        </p:txBody>
      </p:sp>
      <p:sp>
        <p:nvSpPr>
          <p:cNvPr id="5" name="矩形 4">
            <a:extLst>
              <a:ext uri="{FF2B5EF4-FFF2-40B4-BE49-F238E27FC236}">
                <a16:creationId xmlns:a16="http://schemas.microsoft.com/office/drawing/2014/main" id="{151D5524-5437-1ED3-7C6C-132CCB42F31F}"/>
              </a:ext>
            </a:extLst>
          </p:cNvPr>
          <p:cNvSpPr/>
          <p:nvPr/>
        </p:nvSpPr>
        <p:spPr>
          <a:xfrm>
            <a:off x="304800" y="1548371"/>
            <a:ext cx="3570208"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a:t>
            </a:r>
            <a:r>
              <a:rPr kumimoji="0" lang="zh-TW" altLang="en-US" sz="2400" b="0" i="0" u="none" strike="noStrike" kern="0" cap="none" spc="0" normalizeH="0" baseline="0" noProof="0" dirty="0">
                <a:ln>
                  <a:noFill/>
                </a:ln>
                <a:solidFill>
                  <a:srgbClr val="000000"/>
                </a:solidFill>
                <a:effectLst/>
                <a:uLnTx/>
                <a:uFillTx/>
                <a:latin typeface="Arial"/>
                <a:ea typeface="標楷體"/>
                <a:cs typeface="Times New Roman"/>
              </a:rPr>
              <a:t>■福利服務類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sp>
        <p:nvSpPr>
          <p:cNvPr id="6" name="矩形 5">
            <a:extLst>
              <a:ext uri="{FF2B5EF4-FFF2-40B4-BE49-F238E27FC236}">
                <a16:creationId xmlns:a16="http://schemas.microsoft.com/office/drawing/2014/main" id="{6A67CC23-D932-6833-8A48-1D4A146E4E2F}"/>
              </a:ext>
            </a:extLst>
          </p:cNvPr>
          <p:cNvSpPr/>
          <p:nvPr/>
        </p:nvSpPr>
        <p:spPr>
          <a:xfrm>
            <a:off x="-22448" y="2204864"/>
            <a:ext cx="9036496" cy="4429611"/>
          </a:xfrm>
          <a:prstGeom prst="rect">
            <a:avLst/>
          </a:prstGeom>
        </p:spPr>
        <p:txBody>
          <a:bodyPr wrap="square">
            <a:spAutoFit/>
          </a:bodyPr>
          <a:lstStyle/>
          <a:p>
            <a:pPr marL="901700" marR="0" lvl="0" indent="-279400" algn="l" defTabSz="914400" rtl="0" eaLnBrk="1" fontAlgn="auto" latinLnBrk="0" hangingPunct="1">
              <a:lnSpc>
                <a:spcPts val="38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模擬社區發展協會的運作課程</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：請學生共同設計一份社區發展計畫，再由老師引導學童如何進行。</a:t>
            </a:r>
            <a:b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br>
            <a:endPar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endParaRPr>
          </a:p>
          <a:p>
            <a:pPr marL="901700" marR="0" lvl="0" indent="-279400" algn="l" defTabSz="914400" rtl="0" eaLnBrk="1" fontAlgn="auto" latinLnBrk="0" hangingPunct="1">
              <a:lnSpc>
                <a:spcPts val="38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5.</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社區實踐與反思課程</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：實踐社區發展計畫並展示成果，最後請老師帶學童進行反思與討論。</a:t>
            </a:r>
            <a:b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br>
            <a:endPar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endParaRPr>
          </a:p>
          <a:p>
            <a:pPr marL="901700" marR="0" lvl="0" indent="-279400" algn="l" defTabSz="914400" rtl="0" eaLnBrk="1" fontAlgn="auto" latinLnBrk="0" hangingPunct="1">
              <a:lnSpc>
                <a:spcPts val="38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6.</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模擬理監事會議</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：依照人民團體法規定人民團體理事會、監事會，每三個月至少舉行會議一次，預計執行三次，最後一次邀請家長及地方人士觀摩。</a:t>
            </a:r>
          </a:p>
        </p:txBody>
      </p:sp>
    </p:spTree>
    <p:extLst>
      <p:ext uri="{BB962C8B-B14F-4D97-AF65-F5344CB8AC3E}">
        <p14:creationId xmlns:p14="http://schemas.microsoft.com/office/powerpoint/2010/main" val="11037267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219B9-8C14-4202-E11B-7692A4D3FEA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E24F706-7190-A3F1-1FC6-55933991BA58}"/>
              </a:ext>
            </a:extLst>
          </p:cNvPr>
          <p:cNvSpPr>
            <a:spLocks noGrp="1"/>
          </p:cNvSpPr>
          <p:nvPr>
            <p:ph type="title"/>
          </p:nvPr>
        </p:nvSpPr>
        <p:spPr/>
        <p:txBody>
          <a:bodyPr/>
          <a:lstStyle/>
          <a:p>
            <a:r>
              <a:rPr lang="zh-TW" altLang="en-US" dirty="0"/>
              <a:t>方案三：小社區大未來</a:t>
            </a:r>
            <a:r>
              <a:rPr lang="en-US" altLang="zh-TW" dirty="0"/>
              <a:t>-</a:t>
            </a:r>
            <a:r>
              <a:rPr lang="zh-TW" altLang="en-US" dirty="0"/>
              <a:t>兒少小小自治團體方案</a:t>
            </a:r>
          </a:p>
        </p:txBody>
      </p:sp>
      <p:sp>
        <p:nvSpPr>
          <p:cNvPr id="3" name="內容版面配置區 2">
            <a:extLst>
              <a:ext uri="{FF2B5EF4-FFF2-40B4-BE49-F238E27FC236}">
                <a16:creationId xmlns:a16="http://schemas.microsoft.com/office/drawing/2014/main" id="{26165C1E-9C30-FD4C-752F-C7784A4851CE}"/>
              </a:ext>
            </a:extLst>
          </p:cNvPr>
          <p:cNvSpPr>
            <a:spLocks noGrp="1"/>
          </p:cNvSpPr>
          <p:nvPr>
            <p:ph idx="1"/>
          </p:nvPr>
        </p:nvSpPr>
        <p:spPr>
          <a:xfrm>
            <a:off x="3666728" y="836712"/>
            <a:ext cx="1810544" cy="563562"/>
          </a:xfrm>
        </p:spPr>
        <p:txBody>
          <a:bodyPr/>
          <a:lstStyle/>
          <a:p>
            <a:pPr marL="0" indent="0" algn="ctr">
              <a:buNone/>
            </a:pPr>
            <a:r>
              <a:rPr lang="zh-TW" altLang="en-US" sz="2800" b="1" dirty="0">
                <a:solidFill>
                  <a:srgbClr val="FF0000"/>
                </a:solidFill>
                <a:latin typeface="標楷體" pitchFamily="65" charset="-120"/>
                <a:ea typeface="標楷體" pitchFamily="65" charset="-120"/>
              </a:rPr>
              <a:t>內容規劃</a:t>
            </a:r>
          </a:p>
        </p:txBody>
      </p:sp>
      <p:graphicFrame>
        <p:nvGraphicFramePr>
          <p:cNvPr id="4" name="表格 3">
            <a:extLst>
              <a:ext uri="{FF2B5EF4-FFF2-40B4-BE49-F238E27FC236}">
                <a16:creationId xmlns:a16="http://schemas.microsoft.com/office/drawing/2014/main" id="{5B5A8DA1-C3D6-5BED-F169-5B284CC23D46}"/>
              </a:ext>
            </a:extLst>
          </p:cNvPr>
          <p:cNvGraphicFramePr>
            <a:graphicFrameLocks noGrp="1"/>
          </p:cNvGraphicFramePr>
          <p:nvPr/>
        </p:nvGraphicFramePr>
        <p:xfrm>
          <a:off x="304800" y="1627386"/>
          <a:ext cx="8587680" cy="4493411"/>
        </p:xfrm>
        <a:graphic>
          <a:graphicData uri="http://schemas.openxmlformats.org/drawingml/2006/table">
            <a:tbl>
              <a:tblPr firstRow="1" firstCol="1" bandRow="1"/>
              <a:tblGrid>
                <a:gridCol w="849818">
                  <a:extLst>
                    <a:ext uri="{9D8B030D-6E8A-4147-A177-3AD203B41FA5}">
                      <a16:colId xmlns:a16="http://schemas.microsoft.com/office/drawing/2014/main" val="3332396526"/>
                    </a:ext>
                  </a:extLst>
                </a:gridCol>
                <a:gridCol w="2265254">
                  <a:extLst>
                    <a:ext uri="{9D8B030D-6E8A-4147-A177-3AD203B41FA5}">
                      <a16:colId xmlns:a16="http://schemas.microsoft.com/office/drawing/2014/main" val="2660127700"/>
                    </a:ext>
                  </a:extLst>
                </a:gridCol>
                <a:gridCol w="3456384">
                  <a:extLst>
                    <a:ext uri="{9D8B030D-6E8A-4147-A177-3AD203B41FA5}">
                      <a16:colId xmlns:a16="http://schemas.microsoft.com/office/drawing/2014/main" val="1495458804"/>
                    </a:ext>
                  </a:extLst>
                </a:gridCol>
                <a:gridCol w="2016224">
                  <a:extLst>
                    <a:ext uri="{9D8B030D-6E8A-4147-A177-3AD203B41FA5}">
                      <a16:colId xmlns:a16="http://schemas.microsoft.com/office/drawing/2014/main" val="816735006"/>
                    </a:ext>
                  </a:extLst>
                </a:gridCol>
              </a:tblGrid>
              <a:tr h="355330">
                <a:tc>
                  <a:txBody>
                    <a:bodyPr/>
                    <a:lstStyle/>
                    <a:p>
                      <a:pPr algn="ctr">
                        <a:lnSpc>
                          <a:spcPts val="2200"/>
                        </a:lnSpc>
                      </a:pPr>
                      <a:r>
                        <a:rPr lang="zh-HK" sz="1800" b="1" kern="100" dirty="0">
                          <a:solidFill>
                            <a:srgbClr val="000000"/>
                          </a:solidFill>
                          <a:effectLst/>
                          <a:latin typeface="標楷體" panose="03000509000000000000" pitchFamily="65" charset="-120"/>
                          <a:ea typeface="標楷體" panose="03000509000000000000" pitchFamily="65" charset="-120"/>
                        </a:rPr>
                        <a:t>編號</a:t>
                      </a:r>
                      <a:endParaRPr lang="zh-TW" sz="1800" b="1" kern="100" dirty="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zh-HK" sz="1800" b="1" kern="100">
                          <a:solidFill>
                            <a:srgbClr val="000000"/>
                          </a:solidFill>
                          <a:effectLst/>
                          <a:latin typeface="標楷體" panose="03000509000000000000" pitchFamily="65" charset="-120"/>
                          <a:ea typeface="標楷體" panose="03000509000000000000" pitchFamily="65" charset="-120"/>
                        </a:rPr>
                        <a:t>活動項目</a:t>
                      </a:r>
                      <a:endParaRPr lang="zh-TW" sz="1800" b="1" kern="10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zh-HK" sz="1800" b="1" kern="100">
                          <a:solidFill>
                            <a:srgbClr val="000000"/>
                          </a:solidFill>
                          <a:effectLst/>
                          <a:latin typeface="標楷體" panose="03000509000000000000" pitchFamily="65" charset="-120"/>
                          <a:ea typeface="標楷體" panose="03000509000000000000" pitchFamily="65" charset="-120"/>
                        </a:rPr>
                        <a:t>服務量</a:t>
                      </a:r>
                      <a:endParaRPr lang="zh-TW" sz="1800" b="1" kern="10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zh-HK" sz="1800" b="1" kern="100" dirty="0">
                          <a:solidFill>
                            <a:srgbClr val="000000"/>
                          </a:solidFill>
                          <a:effectLst/>
                          <a:latin typeface="標楷體" panose="03000509000000000000" pitchFamily="65" charset="-120"/>
                          <a:ea typeface="標楷體" panose="03000509000000000000" pitchFamily="65" charset="-120"/>
                        </a:rPr>
                        <a:t>評估方法</a:t>
                      </a:r>
                      <a:endParaRPr lang="zh-TW" sz="1800" b="1" kern="100" dirty="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6615500"/>
                  </a:ext>
                </a:extLst>
              </a:tr>
              <a:tr h="1590300">
                <a:tc>
                  <a:txBody>
                    <a:bodyPr/>
                    <a:lstStyle/>
                    <a:p>
                      <a:pPr algn="ctr">
                        <a:lnSpc>
                          <a:spcPts val="2300"/>
                        </a:lnSpc>
                      </a:pPr>
                      <a:r>
                        <a:rPr lang="en-US" sz="1800" kern="100" dirty="0">
                          <a:solidFill>
                            <a:srgbClr val="000000"/>
                          </a:solidFill>
                          <a:effectLst/>
                          <a:latin typeface="標楷體" panose="03000509000000000000" pitchFamily="65" charset="-120"/>
                          <a:ea typeface="標楷體" panose="03000509000000000000" pitchFamily="65" charset="-120"/>
                        </a:rPr>
                        <a:t>1</a:t>
                      </a:r>
                      <a:endParaRPr lang="zh-TW" sz="1800" kern="100" dirty="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66700" indent="-266700" algn="just">
                        <a:lnSpc>
                          <a:spcPts val="2300"/>
                        </a:lnSpc>
                      </a:pPr>
                      <a:r>
                        <a:rPr lang="en-US" sz="1800" kern="100" dirty="0">
                          <a:solidFill>
                            <a:srgbClr val="000000"/>
                          </a:solidFill>
                          <a:effectLst/>
                          <a:latin typeface="標楷體" panose="03000509000000000000" pitchFamily="65" charset="-120"/>
                          <a:ea typeface="標楷體" panose="03000509000000000000" pitchFamily="65" charset="-120"/>
                        </a:rPr>
                        <a:t>1.</a:t>
                      </a:r>
                      <a:r>
                        <a:rPr lang="zh-TW" sz="1800" kern="100" dirty="0">
                          <a:solidFill>
                            <a:srgbClr val="000000"/>
                          </a:solidFill>
                          <a:effectLst/>
                          <a:latin typeface="標楷體" panose="03000509000000000000" pitchFamily="65" charset="-120"/>
                          <a:ea typeface="標楷體" panose="03000509000000000000" pitchFamily="65" charset="-120"/>
                        </a:rPr>
                        <a:t>認識社區發展協會與社會責任</a:t>
                      </a:r>
                      <a:endParaRPr lang="zh-TW" sz="1800" kern="100" dirty="0">
                        <a:effectLst/>
                        <a:latin typeface="標楷體" panose="03000509000000000000" pitchFamily="65" charset="-120"/>
                        <a:ea typeface="標楷體" panose="03000509000000000000" pitchFamily="65" charset="-120"/>
                      </a:endParaRPr>
                    </a:p>
                    <a:p>
                      <a:pPr marL="266700" indent="-266700" algn="just">
                        <a:lnSpc>
                          <a:spcPts val="2300"/>
                        </a:lnSpc>
                      </a:pPr>
                      <a:r>
                        <a:rPr lang="en-US" sz="1800" kern="100" dirty="0">
                          <a:solidFill>
                            <a:srgbClr val="000000"/>
                          </a:solidFill>
                          <a:effectLst/>
                          <a:latin typeface="標楷體" panose="03000509000000000000" pitchFamily="65" charset="-120"/>
                          <a:ea typeface="標楷體" panose="03000509000000000000" pitchFamily="65" charset="-120"/>
                        </a:rPr>
                        <a:t>2.</a:t>
                      </a:r>
                      <a:r>
                        <a:rPr lang="zh-TW" sz="1800" kern="100" dirty="0">
                          <a:solidFill>
                            <a:srgbClr val="000000"/>
                          </a:solidFill>
                          <a:effectLst/>
                          <a:latin typeface="標楷體" panose="03000509000000000000" pitchFamily="65" charset="-120"/>
                          <a:ea typeface="標楷體" panose="03000509000000000000" pitchFamily="65" charset="-120"/>
                        </a:rPr>
                        <a:t>模擬社區發展協會的運作</a:t>
                      </a:r>
                      <a:endParaRPr lang="zh-TW" sz="1800" kern="100" dirty="0">
                        <a:effectLst/>
                        <a:latin typeface="標楷體" panose="03000509000000000000" pitchFamily="65" charset="-120"/>
                        <a:ea typeface="標楷體" panose="03000509000000000000" pitchFamily="65" charset="-120"/>
                      </a:endParaRPr>
                    </a:p>
                    <a:p>
                      <a:pPr algn="just">
                        <a:lnSpc>
                          <a:spcPts val="2300"/>
                        </a:lnSpc>
                      </a:pPr>
                      <a:r>
                        <a:rPr lang="en-US" sz="1800" kern="100" dirty="0">
                          <a:solidFill>
                            <a:srgbClr val="000000"/>
                          </a:solidFill>
                          <a:effectLst/>
                          <a:latin typeface="標楷體" panose="03000509000000000000" pitchFamily="65" charset="-120"/>
                          <a:ea typeface="標楷體" panose="03000509000000000000" pitchFamily="65" charset="-120"/>
                        </a:rPr>
                        <a:t>3.</a:t>
                      </a:r>
                      <a:r>
                        <a:rPr lang="zh-TW" sz="1800" kern="100" dirty="0">
                          <a:solidFill>
                            <a:srgbClr val="000000"/>
                          </a:solidFill>
                          <a:effectLst/>
                          <a:latin typeface="標楷體" panose="03000509000000000000" pitchFamily="65" charset="-120"/>
                          <a:ea typeface="標楷體" panose="03000509000000000000" pitchFamily="65" charset="-120"/>
                        </a:rPr>
                        <a:t>社區實踐與反思</a:t>
                      </a:r>
                      <a:endParaRPr lang="zh-TW" sz="1800" kern="100" dirty="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300"/>
                        </a:lnSpc>
                      </a:pPr>
                      <a:r>
                        <a:rPr lang="zh-TW" sz="1800" kern="100" dirty="0">
                          <a:solidFill>
                            <a:srgbClr val="000000"/>
                          </a:solidFill>
                          <a:effectLst/>
                          <a:latin typeface="標楷體" panose="03000509000000000000" pitchFamily="65" charset="-120"/>
                          <a:ea typeface="標楷體" panose="03000509000000000000" pitchFamily="65" charset="-120"/>
                        </a:rPr>
                        <a:t>每堂課約</a:t>
                      </a:r>
                      <a:r>
                        <a:rPr lang="en-US" sz="1800" kern="100" dirty="0">
                          <a:solidFill>
                            <a:srgbClr val="000000"/>
                          </a:solidFill>
                          <a:effectLst/>
                          <a:latin typeface="標楷體" panose="03000509000000000000" pitchFamily="65" charset="-120"/>
                          <a:ea typeface="標楷體" panose="03000509000000000000" pitchFamily="65" charset="-120"/>
                        </a:rPr>
                        <a:t>20</a:t>
                      </a:r>
                      <a:r>
                        <a:rPr lang="zh-TW" sz="1800" kern="100" dirty="0">
                          <a:solidFill>
                            <a:srgbClr val="000000"/>
                          </a:solidFill>
                          <a:effectLst/>
                          <a:latin typeface="標楷體" panose="03000509000000000000" pitchFamily="65" charset="-120"/>
                          <a:ea typeface="標楷體" panose="03000509000000000000" pitchFamily="65" charset="-120"/>
                        </a:rPr>
                        <a:t>人次國小學童，</a:t>
                      </a:r>
                      <a:endParaRPr lang="zh-TW" sz="1800" kern="100" dirty="0">
                        <a:effectLst/>
                        <a:latin typeface="標楷體" panose="03000509000000000000" pitchFamily="65" charset="-120"/>
                        <a:ea typeface="標楷體" panose="03000509000000000000" pitchFamily="65" charset="-120"/>
                      </a:endParaRPr>
                    </a:p>
                    <a:p>
                      <a:pPr algn="ctr">
                        <a:lnSpc>
                          <a:spcPts val="2300"/>
                        </a:lnSpc>
                      </a:pPr>
                      <a:r>
                        <a:rPr lang="zh-TW" sz="1800" kern="100" dirty="0">
                          <a:solidFill>
                            <a:srgbClr val="000000"/>
                          </a:solidFill>
                          <a:effectLst/>
                          <a:latin typeface="標楷體" panose="03000509000000000000" pitchFamily="65" charset="-120"/>
                          <a:ea typeface="標楷體" panose="03000509000000000000" pitchFamily="65" charset="-120"/>
                        </a:rPr>
                        <a:t>共三堂課</a:t>
                      </a:r>
                      <a:r>
                        <a:rPr lang="en-US" sz="1800" kern="100" dirty="0">
                          <a:solidFill>
                            <a:srgbClr val="000000"/>
                          </a:solidFill>
                          <a:effectLst/>
                          <a:latin typeface="標楷體" panose="03000509000000000000" pitchFamily="65" charset="-120"/>
                          <a:ea typeface="標楷體" panose="03000509000000000000" pitchFamily="65" charset="-120"/>
                        </a:rPr>
                        <a:t>60</a:t>
                      </a:r>
                      <a:r>
                        <a:rPr lang="zh-TW" sz="1800" kern="100" dirty="0">
                          <a:solidFill>
                            <a:srgbClr val="000000"/>
                          </a:solidFill>
                          <a:effectLst/>
                          <a:latin typeface="標楷體" panose="03000509000000000000" pitchFamily="65" charset="-120"/>
                          <a:ea typeface="標楷體" panose="03000509000000000000" pitchFamily="65" charset="-120"/>
                        </a:rPr>
                        <a:t>人次</a:t>
                      </a:r>
                      <a:endParaRPr lang="zh-TW" sz="1800" kern="100" dirty="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2300"/>
                        </a:lnSpc>
                      </a:pPr>
                      <a:r>
                        <a:rPr lang="en-US" sz="1800" kern="100" dirty="0">
                          <a:solidFill>
                            <a:srgbClr val="000000"/>
                          </a:solidFill>
                          <a:effectLst/>
                          <a:latin typeface="標楷體" panose="03000509000000000000" pitchFamily="65" charset="-120"/>
                          <a:ea typeface="標楷體" panose="03000509000000000000" pitchFamily="65" charset="-120"/>
                        </a:rPr>
                        <a:t>1.</a:t>
                      </a:r>
                      <a:r>
                        <a:rPr lang="zh-TW" sz="1800" kern="100" dirty="0">
                          <a:solidFill>
                            <a:srgbClr val="000000"/>
                          </a:solidFill>
                          <a:effectLst/>
                          <a:latin typeface="標楷體" panose="03000509000000000000" pitchFamily="65" charset="-120"/>
                          <a:ea typeface="標楷體" panose="03000509000000000000" pitchFamily="65" charset="-120"/>
                        </a:rPr>
                        <a:t>參</a:t>
                      </a:r>
                      <a:r>
                        <a:rPr lang="zh-HK" sz="1800" kern="100" dirty="0">
                          <a:solidFill>
                            <a:srgbClr val="000000"/>
                          </a:solidFill>
                          <a:effectLst/>
                          <a:latin typeface="標楷體" panose="03000509000000000000" pitchFamily="65" charset="-120"/>
                          <a:ea typeface="標楷體" panose="03000509000000000000" pitchFamily="65" charset="-120"/>
                        </a:rPr>
                        <a:t>與人數與人次</a:t>
                      </a:r>
                      <a:endParaRPr lang="zh-TW" sz="1800" kern="100" dirty="0">
                        <a:effectLst/>
                        <a:latin typeface="標楷體" panose="03000509000000000000" pitchFamily="65" charset="-120"/>
                        <a:ea typeface="標楷體" panose="03000509000000000000" pitchFamily="65" charset="-120"/>
                      </a:endParaRPr>
                    </a:p>
                    <a:p>
                      <a:pPr algn="just">
                        <a:lnSpc>
                          <a:spcPts val="2300"/>
                        </a:lnSpc>
                      </a:pPr>
                      <a:r>
                        <a:rPr lang="en-US" sz="1800" kern="100" dirty="0">
                          <a:solidFill>
                            <a:srgbClr val="000000"/>
                          </a:solidFill>
                          <a:effectLst/>
                          <a:latin typeface="標楷體" panose="03000509000000000000" pitchFamily="65" charset="-120"/>
                          <a:ea typeface="標楷體" panose="03000509000000000000" pitchFamily="65" charset="-120"/>
                        </a:rPr>
                        <a:t>2.</a:t>
                      </a:r>
                      <a:r>
                        <a:rPr lang="zh-HK" sz="1800" kern="100" dirty="0">
                          <a:solidFill>
                            <a:srgbClr val="000000"/>
                          </a:solidFill>
                          <a:effectLst/>
                          <a:latin typeface="標楷體" panose="03000509000000000000" pitchFamily="65" charset="-120"/>
                          <a:ea typeface="標楷體" panose="03000509000000000000" pitchFamily="65" charset="-120"/>
                        </a:rPr>
                        <a:t>滿意度調查</a:t>
                      </a:r>
                      <a:endParaRPr lang="zh-TW" sz="1800" kern="100" dirty="0">
                        <a:effectLst/>
                        <a:latin typeface="標楷體" panose="03000509000000000000" pitchFamily="65" charset="-120"/>
                        <a:ea typeface="標楷體" panose="03000509000000000000" pitchFamily="65" charset="-120"/>
                      </a:endParaRPr>
                    </a:p>
                    <a:p>
                      <a:pPr algn="just">
                        <a:lnSpc>
                          <a:spcPts val="2300"/>
                        </a:lnSpc>
                      </a:pPr>
                      <a:r>
                        <a:rPr lang="en-US" sz="1800" kern="100" dirty="0">
                          <a:solidFill>
                            <a:srgbClr val="000000"/>
                          </a:solidFill>
                          <a:effectLst/>
                          <a:latin typeface="標楷體" panose="03000509000000000000" pitchFamily="65" charset="-120"/>
                          <a:ea typeface="標楷體" panose="03000509000000000000" pitchFamily="65" charset="-120"/>
                        </a:rPr>
                        <a:t>3.</a:t>
                      </a:r>
                      <a:r>
                        <a:rPr lang="zh-HK" sz="1800" kern="100" dirty="0">
                          <a:solidFill>
                            <a:srgbClr val="000000"/>
                          </a:solidFill>
                          <a:effectLst/>
                          <a:latin typeface="標楷體" panose="03000509000000000000" pitchFamily="65" charset="-120"/>
                          <a:ea typeface="標楷體" panose="03000509000000000000" pitchFamily="65" charset="-120"/>
                        </a:rPr>
                        <a:t>心得回饋</a:t>
                      </a:r>
                      <a:endParaRPr lang="zh-TW" sz="1800" kern="100" dirty="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9363904"/>
                  </a:ext>
                </a:extLst>
              </a:tr>
              <a:tr h="601131">
                <a:tc>
                  <a:txBody>
                    <a:bodyPr/>
                    <a:lstStyle/>
                    <a:p>
                      <a:pPr algn="ctr">
                        <a:lnSpc>
                          <a:spcPts val="2300"/>
                        </a:lnSpc>
                      </a:pPr>
                      <a:r>
                        <a:rPr lang="en-US" sz="1800" kern="100">
                          <a:solidFill>
                            <a:srgbClr val="000000"/>
                          </a:solidFill>
                          <a:effectLst/>
                          <a:latin typeface="標楷體" panose="03000509000000000000" pitchFamily="65" charset="-120"/>
                          <a:ea typeface="標楷體" panose="03000509000000000000" pitchFamily="65" charset="-120"/>
                        </a:rPr>
                        <a:t>2</a:t>
                      </a:r>
                      <a:endParaRPr lang="zh-TW" sz="1800" kern="10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5100" indent="-165100" algn="just">
                        <a:lnSpc>
                          <a:spcPts val="2300"/>
                        </a:lnSpc>
                      </a:pPr>
                      <a:r>
                        <a:rPr lang="zh-TW" sz="1800" kern="100">
                          <a:solidFill>
                            <a:srgbClr val="000000"/>
                          </a:solidFill>
                          <a:effectLst/>
                          <a:latin typeface="標楷體" panose="03000509000000000000" pitchFamily="65" charset="-120"/>
                          <a:ea typeface="標楷體" panose="03000509000000000000" pitchFamily="65" charset="-120"/>
                        </a:rPr>
                        <a:t>進行模擬選舉</a:t>
                      </a:r>
                      <a:endParaRPr lang="zh-TW" sz="1800" kern="10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300"/>
                        </a:lnSpc>
                      </a:pPr>
                      <a:r>
                        <a:rPr lang="zh-TW" sz="1800" kern="100" dirty="0">
                          <a:solidFill>
                            <a:srgbClr val="000000"/>
                          </a:solidFill>
                          <a:effectLst/>
                          <a:latin typeface="標楷體" panose="03000509000000000000" pitchFamily="65" charset="-120"/>
                          <a:ea typeface="標楷體" panose="03000509000000000000" pitchFamily="65" charset="-120"/>
                        </a:rPr>
                        <a:t>約</a:t>
                      </a:r>
                      <a:r>
                        <a:rPr lang="en-US" sz="1800" kern="100" dirty="0">
                          <a:solidFill>
                            <a:srgbClr val="000000"/>
                          </a:solidFill>
                          <a:effectLst/>
                          <a:latin typeface="標楷體" panose="03000509000000000000" pitchFamily="65" charset="-120"/>
                          <a:ea typeface="標楷體" panose="03000509000000000000" pitchFamily="65" charset="-120"/>
                        </a:rPr>
                        <a:t>20</a:t>
                      </a:r>
                      <a:r>
                        <a:rPr lang="zh-TW" sz="1800" kern="100" dirty="0">
                          <a:solidFill>
                            <a:srgbClr val="000000"/>
                          </a:solidFill>
                          <a:effectLst/>
                          <a:latin typeface="標楷體" panose="03000509000000000000" pitchFamily="65" charset="-120"/>
                          <a:ea typeface="標楷體" panose="03000509000000000000" pitchFamily="65" charset="-120"/>
                        </a:rPr>
                        <a:t>位國小學童</a:t>
                      </a:r>
                      <a:endParaRPr lang="zh-TW" sz="1800" kern="100" dirty="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2300"/>
                        </a:lnSpc>
                      </a:pPr>
                      <a:r>
                        <a:rPr lang="en-US" sz="1800" kern="100">
                          <a:solidFill>
                            <a:srgbClr val="000000"/>
                          </a:solidFill>
                          <a:effectLst/>
                          <a:latin typeface="標楷體" panose="03000509000000000000" pitchFamily="65" charset="-120"/>
                          <a:ea typeface="標楷體" panose="03000509000000000000" pitchFamily="65" charset="-120"/>
                        </a:rPr>
                        <a:t>1.</a:t>
                      </a:r>
                      <a:r>
                        <a:rPr lang="zh-TW" sz="1800" kern="100">
                          <a:solidFill>
                            <a:srgbClr val="000000"/>
                          </a:solidFill>
                          <a:effectLst/>
                          <a:latin typeface="標楷體" panose="03000509000000000000" pitchFamily="65" charset="-120"/>
                          <a:ea typeface="標楷體" panose="03000509000000000000" pitchFamily="65" charset="-120"/>
                        </a:rPr>
                        <a:t>當選理監事名單</a:t>
                      </a:r>
                      <a:endParaRPr lang="zh-TW" sz="1800" kern="10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7407387"/>
                  </a:ext>
                </a:extLst>
              </a:tr>
              <a:tr h="751641">
                <a:tc>
                  <a:txBody>
                    <a:bodyPr/>
                    <a:lstStyle/>
                    <a:p>
                      <a:pPr algn="ctr">
                        <a:lnSpc>
                          <a:spcPts val="2300"/>
                        </a:lnSpc>
                      </a:pPr>
                      <a:r>
                        <a:rPr lang="en-US" sz="1800" kern="100">
                          <a:solidFill>
                            <a:srgbClr val="000000"/>
                          </a:solidFill>
                          <a:effectLst/>
                          <a:latin typeface="標楷體" panose="03000509000000000000" pitchFamily="65" charset="-120"/>
                          <a:ea typeface="標楷體" panose="03000509000000000000" pitchFamily="65" charset="-120"/>
                        </a:rPr>
                        <a:t>3</a:t>
                      </a:r>
                      <a:endParaRPr lang="zh-TW" sz="1800" kern="10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just">
                        <a:lnSpc>
                          <a:spcPts val="2300"/>
                        </a:lnSpc>
                      </a:pPr>
                      <a:r>
                        <a:rPr lang="zh-TW" sz="1800" kern="100" dirty="0">
                          <a:solidFill>
                            <a:srgbClr val="000000"/>
                          </a:solidFill>
                          <a:effectLst/>
                          <a:latin typeface="標楷體" panose="03000509000000000000" pitchFamily="65" charset="-120"/>
                          <a:ea typeface="標楷體" panose="03000509000000000000" pitchFamily="65" charset="-120"/>
                        </a:rPr>
                        <a:t>參與社區理監事會議</a:t>
                      </a:r>
                      <a:endParaRPr lang="zh-TW" sz="1800" kern="100" dirty="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300"/>
                        </a:lnSpc>
                      </a:pPr>
                      <a:r>
                        <a:rPr lang="zh-TW" sz="1800" kern="100" dirty="0">
                          <a:solidFill>
                            <a:srgbClr val="000000"/>
                          </a:solidFill>
                          <a:effectLst/>
                          <a:latin typeface="標楷體" panose="03000509000000000000" pitchFamily="65" charset="-120"/>
                          <a:ea typeface="標楷體" panose="03000509000000000000" pitchFamily="65" charset="-120"/>
                        </a:rPr>
                        <a:t>約</a:t>
                      </a:r>
                      <a:r>
                        <a:rPr lang="en-US" sz="1800" kern="100" dirty="0">
                          <a:solidFill>
                            <a:srgbClr val="000000"/>
                          </a:solidFill>
                          <a:effectLst/>
                          <a:latin typeface="標楷體" panose="03000509000000000000" pitchFamily="65" charset="-120"/>
                          <a:ea typeface="標楷體" panose="03000509000000000000" pitchFamily="65" charset="-120"/>
                        </a:rPr>
                        <a:t>20</a:t>
                      </a:r>
                      <a:r>
                        <a:rPr lang="zh-TW" sz="1800" kern="100" dirty="0">
                          <a:solidFill>
                            <a:srgbClr val="000000"/>
                          </a:solidFill>
                          <a:effectLst/>
                          <a:latin typeface="標楷體" panose="03000509000000000000" pitchFamily="65" charset="-120"/>
                          <a:ea typeface="標楷體" panose="03000509000000000000" pitchFamily="65" charset="-120"/>
                        </a:rPr>
                        <a:t>位國小學童</a:t>
                      </a:r>
                      <a:endParaRPr lang="zh-TW" sz="1800" kern="100" dirty="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2300"/>
                        </a:lnSpc>
                      </a:pPr>
                      <a:r>
                        <a:rPr lang="en-US" sz="1800" kern="100" dirty="0">
                          <a:solidFill>
                            <a:srgbClr val="000000"/>
                          </a:solidFill>
                          <a:effectLst/>
                          <a:latin typeface="標楷體" panose="03000509000000000000" pitchFamily="65" charset="-120"/>
                          <a:ea typeface="標楷體" panose="03000509000000000000" pitchFamily="65" charset="-120"/>
                        </a:rPr>
                        <a:t>1.</a:t>
                      </a:r>
                      <a:r>
                        <a:rPr lang="zh-TW" sz="1800" kern="100" dirty="0">
                          <a:solidFill>
                            <a:srgbClr val="000000"/>
                          </a:solidFill>
                          <a:effectLst/>
                          <a:latin typeface="標楷體" panose="03000509000000000000" pitchFamily="65" charset="-120"/>
                          <a:ea typeface="標楷體" panose="03000509000000000000" pitchFamily="65" charset="-120"/>
                        </a:rPr>
                        <a:t>觀察學習單</a:t>
                      </a:r>
                      <a:endParaRPr lang="zh-TW" sz="1800" kern="100" dirty="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9557521"/>
                  </a:ext>
                </a:extLst>
              </a:tr>
              <a:tr h="1195009">
                <a:tc>
                  <a:txBody>
                    <a:bodyPr/>
                    <a:lstStyle/>
                    <a:p>
                      <a:pPr algn="ctr">
                        <a:lnSpc>
                          <a:spcPts val="2300"/>
                        </a:lnSpc>
                      </a:pPr>
                      <a:r>
                        <a:rPr lang="en-US" sz="1800" kern="100">
                          <a:solidFill>
                            <a:srgbClr val="000000"/>
                          </a:solidFill>
                          <a:effectLst/>
                          <a:latin typeface="標楷體" panose="03000509000000000000" pitchFamily="65" charset="-120"/>
                          <a:ea typeface="標楷體" panose="03000509000000000000" pitchFamily="65" charset="-120"/>
                        </a:rPr>
                        <a:t>4</a:t>
                      </a:r>
                      <a:endParaRPr lang="zh-TW" sz="1800" kern="10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5100" indent="-165100" algn="just">
                        <a:lnSpc>
                          <a:spcPts val="2300"/>
                        </a:lnSpc>
                      </a:pPr>
                      <a:r>
                        <a:rPr lang="zh-TW" sz="1800" kern="100">
                          <a:solidFill>
                            <a:srgbClr val="000000"/>
                          </a:solidFill>
                          <a:effectLst/>
                          <a:latin typeface="標楷體" panose="03000509000000000000" pitchFamily="65" charset="-120"/>
                          <a:ea typeface="標楷體" panose="03000509000000000000" pitchFamily="65" charset="-120"/>
                        </a:rPr>
                        <a:t>模擬理監事會議</a:t>
                      </a:r>
                      <a:endParaRPr lang="zh-TW" sz="1800" kern="10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300"/>
                        </a:lnSpc>
                      </a:pPr>
                      <a:r>
                        <a:rPr lang="en-US" sz="1800" kern="100" dirty="0">
                          <a:solidFill>
                            <a:srgbClr val="000000"/>
                          </a:solidFill>
                          <a:effectLst/>
                          <a:latin typeface="標楷體" panose="03000509000000000000" pitchFamily="65" charset="-120"/>
                          <a:ea typeface="標楷體" panose="03000509000000000000" pitchFamily="65" charset="-120"/>
                        </a:rPr>
                        <a:t>20</a:t>
                      </a:r>
                      <a:r>
                        <a:rPr lang="zh-TW" sz="1800" kern="100" dirty="0">
                          <a:solidFill>
                            <a:srgbClr val="000000"/>
                          </a:solidFill>
                          <a:effectLst/>
                          <a:latin typeface="標楷體" panose="03000509000000000000" pitchFamily="65" charset="-120"/>
                          <a:ea typeface="標楷體" panose="03000509000000000000" pitchFamily="65" charset="-120"/>
                        </a:rPr>
                        <a:t>位學童及</a:t>
                      </a:r>
                      <a:r>
                        <a:rPr lang="en-US" sz="1800" kern="100" dirty="0">
                          <a:solidFill>
                            <a:srgbClr val="000000"/>
                          </a:solidFill>
                          <a:effectLst/>
                          <a:latin typeface="標楷體" panose="03000509000000000000" pitchFamily="65" charset="-120"/>
                          <a:ea typeface="標楷體" panose="03000509000000000000" pitchFamily="65" charset="-120"/>
                        </a:rPr>
                        <a:t>20</a:t>
                      </a:r>
                      <a:r>
                        <a:rPr lang="zh-TW" sz="1800" kern="100" dirty="0">
                          <a:solidFill>
                            <a:srgbClr val="000000"/>
                          </a:solidFill>
                          <a:effectLst/>
                          <a:latin typeface="標楷體" panose="03000509000000000000" pitchFamily="65" charset="-120"/>
                          <a:ea typeface="標楷體" panose="03000509000000000000" pitchFamily="65" charset="-120"/>
                        </a:rPr>
                        <a:t>位家長或地方人士</a:t>
                      </a:r>
                      <a:endParaRPr lang="zh-TW" sz="1800" kern="100" dirty="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lvl="0" indent="0" algn="just">
                        <a:lnSpc>
                          <a:spcPts val="2300"/>
                        </a:lnSpc>
                        <a:buFont typeface="+mj-lt"/>
                        <a:buAutoNum type="arabicPeriod"/>
                      </a:pPr>
                      <a:r>
                        <a:rPr lang="zh-TW" sz="1800" kern="100" dirty="0">
                          <a:solidFill>
                            <a:srgbClr val="000000"/>
                          </a:solidFill>
                          <a:effectLst/>
                          <a:latin typeface="標楷體" panose="03000509000000000000" pitchFamily="65" charset="-120"/>
                          <a:ea typeface="標楷體" panose="03000509000000000000" pitchFamily="65" charset="-120"/>
                        </a:rPr>
                        <a:t>會議記錄</a:t>
                      </a:r>
                      <a:endParaRPr lang="en-US" altLang="zh-TW" sz="1800" kern="100" dirty="0">
                        <a:solidFill>
                          <a:schemeClr val="tx1"/>
                        </a:solidFill>
                        <a:effectLst/>
                        <a:latin typeface="標楷體" panose="03000509000000000000" pitchFamily="65" charset="-120"/>
                        <a:ea typeface="標楷體" panose="03000509000000000000" pitchFamily="65" charset="-120"/>
                      </a:endParaRPr>
                    </a:p>
                    <a:p>
                      <a:pPr marL="0" lvl="0" indent="0" algn="just">
                        <a:lnSpc>
                          <a:spcPts val="2300"/>
                        </a:lnSpc>
                        <a:buFont typeface="+mj-lt"/>
                        <a:buAutoNum type="arabicPeriod"/>
                      </a:pPr>
                      <a:r>
                        <a:rPr lang="zh-TW" sz="1800" kern="100" dirty="0">
                          <a:solidFill>
                            <a:srgbClr val="000000"/>
                          </a:solidFill>
                          <a:effectLst/>
                          <a:latin typeface="標楷體" panose="03000509000000000000" pitchFamily="65" charset="-120"/>
                          <a:ea typeface="標楷體" panose="03000509000000000000" pitchFamily="65" charset="-120"/>
                        </a:rPr>
                        <a:t>簽到表</a:t>
                      </a:r>
                      <a:endParaRPr lang="zh-TW" sz="1800" kern="100" dirty="0">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5267108"/>
                  </a:ext>
                </a:extLst>
              </a:tr>
            </a:tbl>
          </a:graphicData>
        </a:graphic>
      </p:graphicFrame>
    </p:spTree>
    <p:extLst>
      <p:ext uri="{BB962C8B-B14F-4D97-AF65-F5344CB8AC3E}">
        <p14:creationId xmlns:p14="http://schemas.microsoft.com/office/powerpoint/2010/main" val="12991049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D013C-691A-38AB-FAC7-3624F105D2D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7A91329-882C-101A-F3EE-1CACF8D880C8}"/>
              </a:ext>
            </a:extLst>
          </p:cNvPr>
          <p:cNvSpPr>
            <a:spLocks noGrp="1"/>
          </p:cNvSpPr>
          <p:nvPr>
            <p:ph type="title"/>
          </p:nvPr>
        </p:nvSpPr>
        <p:spPr/>
        <p:txBody>
          <a:bodyPr/>
          <a:lstStyle/>
          <a:p>
            <a:r>
              <a:rPr lang="zh-TW" altLang="en-US" sz="3600" dirty="0"/>
              <a:t>方案四：立竿見影</a:t>
            </a:r>
            <a:r>
              <a:rPr lang="en-US" altLang="zh-TW" sz="3600" dirty="0"/>
              <a:t>-</a:t>
            </a:r>
            <a:r>
              <a:rPr lang="zh-TW" altLang="en-US" sz="3600" dirty="0"/>
              <a:t>提案培力</a:t>
            </a:r>
            <a:endParaRPr lang="zh-TW" altLang="en-US" sz="3200" dirty="0"/>
          </a:p>
        </p:txBody>
      </p:sp>
      <p:sp>
        <p:nvSpPr>
          <p:cNvPr id="3" name="內容版面配置區 2">
            <a:extLst>
              <a:ext uri="{FF2B5EF4-FFF2-40B4-BE49-F238E27FC236}">
                <a16:creationId xmlns:a16="http://schemas.microsoft.com/office/drawing/2014/main" id="{5578704E-D8AA-371F-A331-BA334D321670}"/>
              </a:ext>
            </a:extLst>
          </p:cNvPr>
          <p:cNvSpPr>
            <a:spLocks noGrp="1"/>
          </p:cNvSpPr>
          <p:nvPr>
            <p:ph idx="1"/>
          </p:nvPr>
        </p:nvSpPr>
        <p:spPr>
          <a:xfrm>
            <a:off x="474464" y="758625"/>
            <a:ext cx="8229600" cy="1214264"/>
          </a:xfrm>
        </p:spPr>
        <p:txBody>
          <a:bodyPr/>
          <a:lstStyle/>
          <a:p>
            <a:pPr marL="0" indent="0" algn="ctr">
              <a:buNone/>
            </a:pPr>
            <a:r>
              <a:rPr lang="zh-TW" altLang="en-US" sz="2800" b="1" dirty="0">
                <a:solidFill>
                  <a:srgbClr val="FF0000"/>
                </a:solidFill>
                <a:latin typeface="標楷體" pitchFamily="65" charset="-120"/>
                <a:ea typeface="標楷體" pitchFamily="65" charset="-120"/>
              </a:rPr>
              <a:t>方案內容</a:t>
            </a:r>
          </a:p>
        </p:txBody>
      </p:sp>
      <p:sp>
        <p:nvSpPr>
          <p:cNvPr id="5" name="矩形 4">
            <a:extLst>
              <a:ext uri="{FF2B5EF4-FFF2-40B4-BE49-F238E27FC236}">
                <a16:creationId xmlns:a16="http://schemas.microsoft.com/office/drawing/2014/main" id="{BE2C0EAD-D90B-A688-BD15-942238BE7FE6}"/>
              </a:ext>
            </a:extLst>
          </p:cNvPr>
          <p:cNvSpPr/>
          <p:nvPr/>
        </p:nvSpPr>
        <p:spPr>
          <a:xfrm>
            <a:off x="304800" y="1134924"/>
            <a:ext cx="3570208"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a:t>
            </a:r>
            <a:r>
              <a:rPr kumimoji="0" lang="zh-TW" altLang="en-US" sz="2400" b="0" i="0" u="none" strike="noStrike" kern="0" cap="none" spc="0" normalizeH="0" baseline="0" noProof="0" dirty="0">
                <a:ln>
                  <a:noFill/>
                </a:ln>
                <a:solidFill>
                  <a:srgbClr val="000000"/>
                </a:solidFill>
                <a:effectLst/>
                <a:uLnTx/>
                <a:uFillTx/>
                <a:latin typeface="Arial"/>
                <a:ea typeface="標楷體"/>
                <a:cs typeface="Times New Roman"/>
              </a:rPr>
              <a:t>■提案培力類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sp>
        <p:nvSpPr>
          <p:cNvPr id="4" name="矩形 3">
            <a:extLst>
              <a:ext uri="{FF2B5EF4-FFF2-40B4-BE49-F238E27FC236}">
                <a16:creationId xmlns:a16="http://schemas.microsoft.com/office/drawing/2014/main" id="{DD02F94D-C857-842E-E234-B2C0F1710286}"/>
              </a:ext>
            </a:extLst>
          </p:cNvPr>
          <p:cNvSpPr/>
          <p:nvPr/>
        </p:nvSpPr>
        <p:spPr>
          <a:xfrm>
            <a:off x="-22448" y="1984844"/>
            <a:ext cx="9036496" cy="4660763"/>
          </a:xfrm>
          <a:prstGeom prst="rect">
            <a:avLst/>
          </a:prstGeom>
        </p:spPr>
        <p:txBody>
          <a:bodyPr wrap="square">
            <a:spAutoFit/>
          </a:bodyPr>
          <a:lstStyle/>
          <a:p>
            <a:pPr marL="901700" marR="0" lvl="0" indent="-279400" algn="l" defTabSz="914400" rtl="0" eaLnBrk="1" fontAlgn="auto" latinLnBrk="0" hangingPunct="1">
              <a:lnSpc>
                <a:spcPts val="36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請欲申請計畫的社區先將計畫草案撰寫完成，再請專家以團督或個督方式輔導社區，給予計畫專業的建議，每計畫預計輔導</a:t>
            </a: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次。</a:t>
            </a:r>
            <a:b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br>
            <a:endPar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endParaRPr>
          </a:p>
          <a:p>
            <a:pPr marL="901700" marR="0" lvl="0" indent="-279400" algn="l" defTabSz="914400" rtl="0" eaLnBrk="1" fontAlgn="auto" latinLnBrk="0" hangingPunct="1">
              <a:lnSpc>
                <a:spcPts val="36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以下為</a:t>
            </a: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114</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年小旗艦社區欲申請的計畫</a:t>
            </a:r>
          </a:p>
          <a:p>
            <a:pPr marL="901700" marR="0" lvl="0" indent="-279400" algn="l" defTabSz="914400" rtl="0" eaLnBrk="1" fontAlgn="auto" latinLnBrk="0" hangingPunct="1">
              <a:lnSpc>
                <a:spcPts val="36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A.</a:t>
            </a: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信義房屋全民社造行動計畫</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：中央社區（報名時間：</a:t>
            </a: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3/1~4/30</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a:t>
            </a:r>
          </a:p>
          <a:p>
            <a:pPr marL="901700" marR="0" lvl="0" indent="-279400" algn="l" defTabSz="914400" rtl="0" eaLnBrk="1" fontAlgn="auto" latinLnBrk="0" hangingPunct="1">
              <a:lnSpc>
                <a:spcPts val="36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B.</a:t>
            </a: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萬海航運慈善基金會</a:t>
            </a:r>
            <a:r>
              <a:rPr kumimoji="0" lang="en-US" altLang="zh-TW" sz="2200" b="1"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讓愛閃耀</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：富州社區（提案時間：</a:t>
            </a: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7/1~8/31</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a:t>
            </a:r>
          </a:p>
          <a:p>
            <a:pPr marL="901700" marR="0" lvl="0" indent="-279400" algn="l" defTabSz="914400" rtl="0" eaLnBrk="1" fontAlgn="auto" latinLnBrk="0" hangingPunct="1">
              <a:lnSpc>
                <a:spcPts val="36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C.</a:t>
            </a: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幸福發芽</a:t>
            </a:r>
            <a:r>
              <a:rPr kumimoji="0" lang="en-US" altLang="zh-TW" sz="2200" b="1"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微型扶植補助專案</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：中央社區（提案時間：</a:t>
            </a: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8/19~9/6</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a:t>
            </a:r>
          </a:p>
          <a:p>
            <a:pPr marL="901700" marR="0" lvl="0" indent="-279400" algn="l" defTabSz="914400" rtl="0" eaLnBrk="1" fontAlgn="auto" latinLnBrk="0" hangingPunct="1">
              <a:lnSpc>
                <a:spcPts val="36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D.</a:t>
            </a: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聯合勸募年度方案</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：富州社區（提案時間：</a:t>
            </a: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9/1~9/30</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a:t>
            </a:r>
            <a:b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br>
            <a:endPar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endParaRPr>
          </a:p>
          <a:p>
            <a:pPr marL="901700" marR="0" lvl="0" indent="-279400" algn="l" defTabSz="914400" rtl="0" eaLnBrk="1" fontAlgn="auto" latinLnBrk="0" hangingPunct="1">
              <a:lnSpc>
                <a:spcPts val="36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評估方式</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：團督或個督紀錄。</a:t>
            </a:r>
          </a:p>
        </p:txBody>
      </p:sp>
    </p:spTree>
    <p:extLst>
      <p:ext uri="{BB962C8B-B14F-4D97-AF65-F5344CB8AC3E}">
        <p14:creationId xmlns:p14="http://schemas.microsoft.com/office/powerpoint/2010/main" val="26164927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7E419-2C9D-59C6-732F-458DBC5B249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94D5C3C-A64C-5611-9871-131E767728CB}"/>
              </a:ext>
            </a:extLst>
          </p:cNvPr>
          <p:cNvSpPr>
            <a:spLocks noGrp="1"/>
          </p:cNvSpPr>
          <p:nvPr>
            <p:ph type="title"/>
          </p:nvPr>
        </p:nvSpPr>
        <p:spPr/>
        <p:txBody>
          <a:bodyPr/>
          <a:lstStyle/>
          <a:p>
            <a:r>
              <a:rPr lang="zh-TW" altLang="en-US" sz="3600" dirty="0"/>
              <a:t>方案四：立竿見影</a:t>
            </a:r>
            <a:r>
              <a:rPr lang="en-US" altLang="zh-TW" sz="3600" dirty="0"/>
              <a:t>-</a:t>
            </a:r>
            <a:r>
              <a:rPr lang="zh-TW" altLang="en-US" sz="3600" dirty="0"/>
              <a:t>提案培力</a:t>
            </a:r>
            <a:endParaRPr lang="zh-TW" altLang="en-US" sz="3200" dirty="0"/>
          </a:p>
        </p:txBody>
      </p:sp>
      <p:sp>
        <p:nvSpPr>
          <p:cNvPr id="3" name="內容版面配置區 2">
            <a:extLst>
              <a:ext uri="{FF2B5EF4-FFF2-40B4-BE49-F238E27FC236}">
                <a16:creationId xmlns:a16="http://schemas.microsoft.com/office/drawing/2014/main" id="{61846E94-EAC0-A48B-5836-0805BF2F86C5}"/>
              </a:ext>
            </a:extLst>
          </p:cNvPr>
          <p:cNvSpPr>
            <a:spLocks noGrp="1"/>
          </p:cNvSpPr>
          <p:nvPr>
            <p:ph idx="1"/>
          </p:nvPr>
        </p:nvSpPr>
        <p:spPr>
          <a:xfrm>
            <a:off x="474464" y="758625"/>
            <a:ext cx="8229600" cy="1214264"/>
          </a:xfrm>
        </p:spPr>
        <p:txBody>
          <a:bodyPr/>
          <a:lstStyle/>
          <a:p>
            <a:pPr marL="0" indent="0" algn="ctr">
              <a:buNone/>
            </a:pPr>
            <a:r>
              <a:rPr lang="zh-TW" altLang="en-US" sz="2800" b="1" dirty="0">
                <a:solidFill>
                  <a:srgbClr val="FF0000"/>
                </a:solidFill>
                <a:latin typeface="標楷體" pitchFamily="65" charset="-120"/>
                <a:ea typeface="標楷體" pitchFamily="65" charset="-120"/>
              </a:rPr>
              <a:t>內容規劃</a:t>
            </a:r>
            <a:endParaRPr lang="en-US" altLang="zh-TW" sz="2800" b="1" dirty="0">
              <a:solidFill>
                <a:srgbClr val="FF0000"/>
              </a:solidFill>
              <a:latin typeface="標楷體" pitchFamily="65" charset="-120"/>
              <a:ea typeface="標楷體" pitchFamily="65" charset="-120"/>
            </a:endParaRPr>
          </a:p>
        </p:txBody>
      </p:sp>
      <p:graphicFrame>
        <p:nvGraphicFramePr>
          <p:cNvPr id="4" name="表格 3">
            <a:extLst>
              <a:ext uri="{FF2B5EF4-FFF2-40B4-BE49-F238E27FC236}">
                <a16:creationId xmlns:a16="http://schemas.microsoft.com/office/drawing/2014/main" id="{2AB685C3-A2A8-E770-B086-C0C9D1148DEE}"/>
              </a:ext>
            </a:extLst>
          </p:cNvPr>
          <p:cNvGraphicFramePr>
            <a:graphicFrameLocks noGrp="1"/>
          </p:cNvGraphicFramePr>
          <p:nvPr/>
        </p:nvGraphicFramePr>
        <p:xfrm>
          <a:off x="204689" y="2348880"/>
          <a:ext cx="8769150" cy="3096344"/>
        </p:xfrm>
        <a:graphic>
          <a:graphicData uri="http://schemas.openxmlformats.org/drawingml/2006/table">
            <a:tbl>
              <a:tblPr firstRow="1" firstCol="1" bandRow="1"/>
              <a:tblGrid>
                <a:gridCol w="635874">
                  <a:extLst>
                    <a:ext uri="{9D8B030D-6E8A-4147-A177-3AD203B41FA5}">
                      <a16:colId xmlns:a16="http://schemas.microsoft.com/office/drawing/2014/main" val="2780934672"/>
                    </a:ext>
                  </a:extLst>
                </a:gridCol>
                <a:gridCol w="2165024">
                  <a:extLst>
                    <a:ext uri="{9D8B030D-6E8A-4147-A177-3AD203B41FA5}">
                      <a16:colId xmlns:a16="http://schemas.microsoft.com/office/drawing/2014/main" val="2023877254"/>
                    </a:ext>
                  </a:extLst>
                </a:gridCol>
                <a:gridCol w="2208529">
                  <a:extLst>
                    <a:ext uri="{9D8B030D-6E8A-4147-A177-3AD203B41FA5}">
                      <a16:colId xmlns:a16="http://schemas.microsoft.com/office/drawing/2014/main" val="1764285649"/>
                    </a:ext>
                  </a:extLst>
                </a:gridCol>
                <a:gridCol w="1590132">
                  <a:extLst>
                    <a:ext uri="{9D8B030D-6E8A-4147-A177-3AD203B41FA5}">
                      <a16:colId xmlns:a16="http://schemas.microsoft.com/office/drawing/2014/main" val="2804556279"/>
                    </a:ext>
                  </a:extLst>
                </a:gridCol>
                <a:gridCol w="2169591">
                  <a:extLst>
                    <a:ext uri="{9D8B030D-6E8A-4147-A177-3AD203B41FA5}">
                      <a16:colId xmlns:a16="http://schemas.microsoft.com/office/drawing/2014/main" val="3443882529"/>
                    </a:ext>
                  </a:extLst>
                </a:gridCol>
              </a:tblGrid>
              <a:tr h="403424">
                <a:tc>
                  <a:txBody>
                    <a:bodyPr/>
                    <a:lstStyle/>
                    <a:p>
                      <a:pPr algn="ctr">
                        <a:lnSpc>
                          <a:spcPts val="2200"/>
                        </a:lnSpc>
                      </a:pPr>
                      <a:r>
                        <a:rPr lang="zh-HK" sz="1800" kern="100" dirty="0">
                          <a:solidFill>
                            <a:srgbClr val="000000"/>
                          </a:solidFill>
                          <a:effectLst/>
                          <a:latin typeface="Times New Roman" panose="02020603050405020304" pitchFamily="18" charset="0"/>
                          <a:ea typeface="標楷體" panose="03000509000000000000" pitchFamily="65" charset="-120"/>
                        </a:rPr>
                        <a:t>編號</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zh-HK" sz="1800" kern="100">
                          <a:solidFill>
                            <a:srgbClr val="000000"/>
                          </a:solidFill>
                          <a:effectLst/>
                          <a:latin typeface="Times New Roman" panose="02020603050405020304" pitchFamily="18" charset="0"/>
                          <a:ea typeface="標楷體" panose="03000509000000000000" pitchFamily="65" charset="-120"/>
                        </a:rPr>
                        <a:t>活動項目</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zh-HK" sz="1800" kern="100">
                          <a:solidFill>
                            <a:srgbClr val="000000"/>
                          </a:solidFill>
                          <a:effectLst/>
                          <a:latin typeface="Times New Roman" panose="02020603050405020304" pitchFamily="18" charset="0"/>
                          <a:ea typeface="標楷體" panose="03000509000000000000" pitchFamily="65" charset="-120"/>
                        </a:rPr>
                        <a:t>服務量</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zh-HK" sz="1800" kern="100">
                          <a:solidFill>
                            <a:srgbClr val="000000"/>
                          </a:solidFill>
                          <a:effectLst/>
                          <a:latin typeface="Times New Roman" panose="02020603050405020304" pitchFamily="18" charset="0"/>
                          <a:ea typeface="標楷體" panose="03000509000000000000" pitchFamily="65" charset="-120"/>
                        </a:rPr>
                        <a:t>輔導老師</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zh-HK" sz="1800" kern="100">
                          <a:solidFill>
                            <a:srgbClr val="000000"/>
                          </a:solidFill>
                          <a:effectLst/>
                          <a:latin typeface="Times New Roman" panose="02020603050405020304" pitchFamily="18" charset="0"/>
                          <a:ea typeface="標楷體" panose="03000509000000000000" pitchFamily="65" charset="-120"/>
                        </a:rPr>
                        <a:t>評估方法</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031591"/>
                  </a:ext>
                </a:extLst>
              </a:tr>
              <a:tr h="673230">
                <a:tc>
                  <a:txBody>
                    <a:bodyPr/>
                    <a:lstStyle/>
                    <a:p>
                      <a:pPr algn="ctr">
                        <a:lnSpc>
                          <a:spcPts val="2000"/>
                        </a:lnSpc>
                      </a:pPr>
                      <a:r>
                        <a:rPr lang="en-US" sz="1800" kern="100">
                          <a:solidFill>
                            <a:srgbClr val="000000"/>
                          </a:solidFill>
                          <a:effectLst/>
                          <a:latin typeface="Times New Roman" panose="02020603050405020304" pitchFamily="18" charset="0"/>
                          <a:ea typeface="標楷體" panose="03000509000000000000" pitchFamily="65" charset="-120"/>
                        </a:rPr>
                        <a:t>1</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2000"/>
                        </a:lnSpc>
                      </a:pPr>
                      <a:r>
                        <a:rPr lang="zh-TW" sz="1800" kern="100" dirty="0">
                          <a:solidFill>
                            <a:srgbClr val="000000"/>
                          </a:solidFill>
                          <a:effectLst/>
                          <a:latin typeface="Times New Roman" panose="02020603050405020304" pitchFamily="18" charset="0"/>
                          <a:ea typeface="標楷體" panose="03000509000000000000" pitchFamily="65" charset="-120"/>
                        </a:rPr>
                        <a:t>信義房屋計畫輔導</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zh-TW" sz="1800" kern="100" dirty="0">
                          <a:solidFill>
                            <a:srgbClr val="000000"/>
                          </a:solidFill>
                          <a:effectLst/>
                          <a:latin typeface="Times New Roman" panose="02020603050405020304" pitchFamily="18" charset="0"/>
                          <a:ea typeface="標楷體" panose="03000509000000000000" pitchFamily="65" charset="-120"/>
                        </a:rPr>
                        <a:t>中央社區共</a:t>
                      </a:r>
                      <a:r>
                        <a:rPr lang="en-US" sz="1800" kern="100" dirty="0">
                          <a:solidFill>
                            <a:srgbClr val="000000"/>
                          </a:solidFill>
                          <a:effectLst/>
                          <a:latin typeface="Times New Roman" panose="02020603050405020304" pitchFamily="18" charset="0"/>
                          <a:ea typeface="標楷體" panose="03000509000000000000" pitchFamily="65" charset="-120"/>
                        </a:rPr>
                        <a:t>2</a:t>
                      </a:r>
                      <a:r>
                        <a:rPr lang="zh-TW" sz="1800" kern="100" dirty="0">
                          <a:solidFill>
                            <a:srgbClr val="000000"/>
                          </a:solidFill>
                          <a:effectLst/>
                          <a:latin typeface="Times New Roman" panose="02020603050405020304" pitchFamily="18" charset="0"/>
                          <a:ea typeface="標楷體" panose="03000509000000000000" pitchFamily="65" charset="-120"/>
                        </a:rPr>
                        <a:t>次</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4">
                  <a:txBody>
                    <a:bodyPr/>
                    <a:lstStyle/>
                    <a:p>
                      <a:pPr marL="0" algn="ctr">
                        <a:lnSpc>
                          <a:spcPts val="2000"/>
                        </a:lnSpc>
                      </a:pPr>
                      <a:r>
                        <a:rPr lang="zh-TW" sz="1800" kern="100" dirty="0">
                          <a:solidFill>
                            <a:srgbClr val="000000"/>
                          </a:solidFill>
                          <a:effectLst/>
                          <a:latin typeface="Times New Roman" panose="02020603050405020304" pitchFamily="18" charset="0"/>
                          <a:ea typeface="標楷體" panose="03000509000000000000" pitchFamily="65" charset="-120"/>
                        </a:rPr>
                        <a:t>暫定謝儒賢</a:t>
                      </a:r>
                      <a:endParaRPr lang="zh-TW" sz="1800" kern="100" dirty="0">
                        <a:solidFill>
                          <a:srgbClr val="000000"/>
                        </a:solidFill>
                        <a:effectLst/>
                        <a:latin typeface="Times New Roman" panose="02020603050405020304" pitchFamily="18" charset="0"/>
                        <a:ea typeface="新細明體" panose="02020500000000000000" pitchFamily="18" charset="-120"/>
                      </a:endParaRPr>
                    </a:p>
                    <a:p>
                      <a:pPr marL="0" algn="ctr">
                        <a:lnSpc>
                          <a:spcPts val="2000"/>
                        </a:lnSpc>
                      </a:pPr>
                      <a:r>
                        <a:rPr lang="zh-TW" sz="1800" kern="100" dirty="0">
                          <a:solidFill>
                            <a:srgbClr val="000000"/>
                          </a:solidFill>
                          <a:effectLst/>
                          <a:latin typeface="Times New Roman" panose="02020603050405020304" pitchFamily="18" charset="0"/>
                          <a:ea typeface="標楷體" panose="03000509000000000000" pitchFamily="65" charset="-120"/>
                        </a:rPr>
                        <a:t>副教授</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4">
                  <a:txBody>
                    <a:bodyPr/>
                    <a:lstStyle/>
                    <a:p>
                      <a:pPr marL="0" lvl="0" indent="0" algn="just">
                        <a:lnSpc>
                          <a:spcPts val="2000"/>
                        </a:lnSpc>
                        <a:buFont typeface="+mj-lt"/>
                        <a:buNone/>
                      </a:pPr>
                      <a:r>
                        <a:rPr lang="en-US" altLang="zh-TW" sz="1800" kern="100" dirty="0">
                          <a:solidFill>
                            <a:srgbClr val="000000"/>
                          </a:solidFill>
                          <a:effectLst/>
                          <a:latin typeface="Times New Roman" panose="02020603050405020304" pitchFamily="18" charset="0"/>
                          <a:ea typeface="標楷體" panose="03000509000000000000" pitchFamily="65" charset="-120"/>
                        </a:rPr>
                        <a:t>1.</a:t>
                      </a:r>
                      <a:r>
                        <a:rPr lang="zh-HK" sz="1800" kern="100" dirty="0">
                          <a:solidFill>
                            <a:srgbClr val="000000"/>
                          </a:solidFill>
                          <a:effectLst/>
                          <a:latin typeface="Times New Roman" panose="02020603050405020304" pitchFamily="18" charset="0"/>
                          <a:ea typeface="標楷體" panose="03000509000000000000" pitchFamily="65" charset="-120"/>
                        </a:rPr>
                        <a:t>團督或個督紀錄</a:t>
                      </a:r>
                      <a:endParaRPr lang="zh-TW" sz="1800" kern="100" dirty="0">
                        <a:solidFill>
                          <a:srgbClr val="000000"/>
                        </a:solidFill>
                        <a:effectLst/>
                        <a:latin typeface="Times New Roman" panose="02020603050405020304" pitchFamily="18" charset="0"/>
                        <a:ea typeface="新細明體" panose="02020500000000000000" pitchFamily="18" charset="-120"/>
                      </a:endParaRPr>
                    </a:p>
                    <a:p>
                      <a:pPr marL="0" lvl="0" indent="0" algn="just">
                        <a:lnSpc>
                          <a:spcPts val="2000"/>
                        </a:lnSpc>
                        <a:buFont typeface="+mj-lt"/>
                        <a:buNone/>
                      </a:pPr>
                      <a:r>
                        <a:rPr lang="en-US" altLang="zh-TW" sz="1800" kern="100" dirty="0">
                          <a:solidFill>
                            <a:srgbClr val="000000"/>
                          </a:solidFill>
                          <a:effectLst/>
                          <a:latin typeface="Times New Roman" panose="02020603050405020304" pitchFamily="18" charset="0"/>
                          <a:ea typeface="標楷體" panose="03000509000000000000" pitchFamily="65" charset="-120"/>
                        </a:rPr>
                        <a:t>2.</a:t>
                      </a:r>
                      <a:r>
                        <a:rPr lang="zh-HK" sz="1800" kern="100" dirty="0">
                          <a:solidFill>
                            <a:srgbClr val="000000"/>
                          </a:solidFill>
                          <a:effectLst/>
                          <a:latin typeface="Times New Roman" panose="02020603050405020304" pitchFamily="18" charset="0"/>
                          <a:ea typeface="標楷體" panose="03000509000000000000" pitchFamily="65" charset="-120"/>
                        </a:rPr>
                        <a:t>簽到表</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0517040"/>
                  </a:ext>
                </a:extLst>
              </a:tr>
              <a:tr h="673230">
                <a:tc>
                  <a:txBody>
                    <a:bodyPr/>
                    <a:lstStyle/>
                    <a:p>
                      <a:pPr algn="ctr">
                        <a:lnSpc>
                          <a:spcPts val="2000"/>
                        </a:lnSpc>
                      </a:pPr>
                      <a:r>
                        <a:rPr lang="en-US" sz="1800" kern="100">
                          <a:solidFill>
                            <a:srgbClr val="000000"/>
                          </a:solidFill>
                          <a:effectLst/>
                          <a:latin typeface="Times New Roman" panose="02020603050405020304" pitchFamily="18" charset="0"/>
                          <a:ea typeface="標楷體" panose="03000509000000000000" pitchFamily="65" charset="-120"/>
                        </a:rPr>
                        <a:t>2</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5100" indent="-165100" algn="just">
                        <a:lnSpc>
                          <a:spcPts val="2000"/>
                        </a:lnSpc>
                      </a:pPr>
                      <a:r>
                        <a:rPr lang="zh-TW" sz="1800" kern="100">
                          <a:solidFill>
                            <a:srgbClr val="000000"/>
                          </a:solidFill>
                          <a:effectLst/>
                          <a:latin typeface="Times New Roman" panose="02020603050405020304" pitchFamily="18" charset="0"/>
                          <a:ea typeface="標楷體" panose="03000509000000000000" pitchFamily="65" charset="-120"/>
                        </a:rPr>
                        <a:t>萬海計畫輔導</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zh-TW" sz="1800" kern="100" dirty="0">
                          <a:solidFill>
                            <a:srgbClr val="000000"/>
                          </a:solidFill>
                          <a:effectLst/>
                          <a:latin typeface="Times New Roman" panose="02020603050405020304" pitchFamily="18" charset="0"/>
                          <a:ea typeface="標楷體" panose="03000509000000000000" pitchFamily="65" charset="-120"/>
                        </a:rPr>
                        <a:t>富州社區共</a:t>
                      </a:r>
                      <a:r>
                        <a:rPr lang="en-US" sz="1800" kern="100" dirty="0">
                          <a:solidFill>
                            <a:srgbClr val="000000"/>
                          </a:solidFill>
                          <a:effectLst/>
                          <a:latin typeface="Times New Roman" panose="02020603050405020304" pitchFamily="18" charset="0"/>
                          <a:ea typeface="標楷體" panose="03000509000000000000" pitchFamily="65" charset="-120"/>
                        </a:rPr>
                        <a:t>2</a:t>
                      </a:r>
                      <a:r>
                        <a:rPr lang="zh-TW" sz="1800" kern="100" dirty="0">
                          <a:solidFill>
                            <a:srgbClr val="000000"/>
                          </a:solidFill>
                          <a:effectLst/>
                          <a:latin typeface="Times New Roman" panose="02020603050405020304" pitchFamily="18" charset="0"/>
                          <a:ea typeface="標楷體" panose="03000509000000000000" pitchFamily="65" charset="-120"/>
                        </a:rPr>
                        <a:t>次</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765978810"/>
                  </a:ext>
                </a:extLst>
              </a:tr>
              <a:tr h="673230">
                <a:tc>
                  <a:txBody>
                    <a:bodyPr/>
                    <a:lstStyle/>
                    <a:p>
                      <a:pPr algn="ctr">
                        <a:lnSpc>
                          <a:spcPts val="2000"/>
                        </a:lnSpc>
                      </a:pPr>
                      <a:r>
                        <a:rPr lang="en-US" sz="1800" kern="100">
                          <a:solidFill>
                            <a:srgbClr val="000000"/>
                          </a:solidFill>
                          <a:effectLst/>
                          <a:latin typeface="Times New Roman" panose="02020603050405020304" pitchFamily="18" charset="0"/>
                          <a:ea typeface="標楷體" panose="03000509000000000000" pitchFamily="65" charset="-120"/>
                        </a:rPr>
                        <a:t>3</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5100" indent="-165100" algn="just">
                        <a:lnSpc>
                          <a:spcPts val="2000"/>
                        </a:lnSpc>
                      </a:pPr>
                      <a:r>
                        <a:rPr lang="zh-TW" sz="1800" kern="100">
                          <a:solidFill>
                            <a:srgbClr val="000000"/>
                          </a:solidFill>
                          <a:effectLst/>
                          <a:latin typeface="Times New Roman" panose="02020603050405020304" pitchFamily="18" charset="0"/>
                          <a:ea typeface="標楷體" panose="03000509000000000000" pitchFamily="65" charset="-120"/>
                        </a:rPr>
                        <a:t>幸福發芽計畫輔導</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zh-TW" sz="1800" kern="100" dirty="0">
                          <a:solidFill>
                            <a:srgbClr val="000000"/>
                          </a:solidFill>
                          <a:effectLst/>
                          <a:latin typeface="Times New Roman" panose="02020603050405020304" pitchFamily="18" charset="0"/>
                          <a:ea typeface="標楷體" panose="03000509000000000000" pitchFamily="65" charset="-120"/>
                        </a:rPr>
                        <a:t>中央社區共</a:t>
                      </a:r>
                      <a:r>
                        <a:rPr lang="en-US" sz="1800" kern="100" dirty="0">
                          <a:solidFill>
                            <a:srgbClr val="000000"/>
                          </a:solidFill>
                          <a:effectLst/>
                          <a:latin typeface="Times New Roman" panose="02020603050405020304" pitchFamily="18" charset="0"/>
                          <a:ea typeface="標楷體" panose="03000509000000000000" pitchFamily="65" charset="-120"/>
                        </a:rPr>
                        <a:t>2</a:t>
                      </a:r>
                      <a:r>
                        <a:rPr lang="zh-TW" sz="1800" kern="100" dirty="0">
                          <a:solidFill>
                            <a:srgbClr val="000000"/>
                          </a:solidFill>
                          <a:effectLst/>
                          <a:latin typeface="Times New Roman" panose="02020603050405020304" pitchFamily="18" charset="0"/>
                          <a:ea typeface="標楷體" panose="03000509000000000000" pitchFamily="65" charset="-120"/>
                        </a:rPr>
                        <a:t>次</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661326643"/>
                  </a:ext>
                </a:extLst>
              </a:tr>
              <a:tr h="673230">
                <a:tc>
                  <a:txBody>
                    <a:bodyPr/>
                    <a:lstStyle/>
                    <a:p>
                      <a:pPr algn="ctr">
                        <a:lnSpc>
                          <a:spcPts val="2000"/>
                        </a:lnSpc>
                      </a:pPr>
                      <a:r>
                        <a:rPr lang="en-US" sz="1800" kern="100">
                          <a:solidFill>
                            <a:srgbClr val="000000"/>
                          </a:solidFill>
                          <a:effectLst/>
                          <a:latin typeface="Times New Roman" panose="02020603050405020304" pitchFamily="18" charset="0"/>
                          <a:ea typeface="標楷體" panose="03000509000000000000" pitchFamily="65" charset="-120"/>
                        </a:rPr>
                        <a:t>4</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5100" indent="-165100" algn="just">
                        <a:lnSpc>
                          <a:spcPts val="2000"/>
                        </a:lnSpc>
                      </a:pPr>
                      <a:r>
                        <a:rPr lang="zh-TW" sz="1800" kern="100">
                          <a:solidFill>
                            <a:srgbClr val="000000"/>
                          </a:solidFill>
                          <a:effectLst/>
                          <a:latin typeface="Times New Roman" panose="02020603050405020304" pitchFamily="18" charset="0"/>
                          <a:ea typeface="標楷體" panose="03000509000000000000" pitchFamily="65" charset="-120"/>
                        </a:rPr>
                        <a:t>聯勸計畫輔導</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zh-TW" sz="1800" kern="100" dirty="0">
                          <a:solidFill>
                            <a:srgbClr val="000000"/>
                          </a:solidFill>
                          <a:effectLst/>
                          <a:latin typeface="Times New Roman" panose="02020603050405020304" pitchFamily="18" charset="0"/>
                          <a:ea typeface="標楷體" panose="03000509000000000000" pitchFamily="65" charset="-120"/>
                        </a:rPr>
                        <a:t>富州社區共</a:t>
                      </a:r>
                      <a:r>
                        <a:rPr lang="en-US" sz="1800" kern="100" dirty="0">
                          <a:solidFill>
                            <a:srgbClr val="000000"/>
                          </a:solidFill>
                          <a:effectLst/>
                          <a:latin typeface="Times New Roman" panose="02020603050405020304" pitchFamily="18" charset="0"/>
                          <a:ea typeface="標楷體" panose="03000509000000000000" pitchFamily="65" charset="-120"/>
                        </a:rPr>
                        <a:t>2</a:t>
                      </a:r>
                      <a:r>
                        <a:rPr lang="zh-TW" sz="1800" kern="100" dirty="0">
                          <a:solidFill>
                            <a:srgbClr val="000000"/>
                          </a:solidFill>
                          <a:effectLst/>
                          <a:latin typeface="Times New Roman" panose="02020603050405020304" pitchFamily="18" charset="0"/>
                          <a:ea typeface="標楷體" panose="03000509000000000000" pitchFamily="65" charset="-120"/>
                        </a:rPr>
                        <a:t>次</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2408973806"/>
                  </a:ext>
                </a:extLst>
              </a:tr>
            </a:tbl>
          </a:graphicData>
        </a:graphic>
      </p:graphicFrame>
    </p:spTree>
    <p:extLst>
      <p:ext uri="{BB962C8B-B14F-4D97-AF65-F5344CB8AC3E}">
        <p14:creationId xmlns:p14="http://schemas.microsoft.com/office/powerpoint/2010/main" val="21359282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016FC-4432-78C4-3BF4-D062471D055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A8BCFB5-8DF2-C393-8322-61E9A859FB85}"/>
              </a:ext>
            </a:extLst>
          </p:cNvPr>
          <p:cNvSpPr>
            <a:spLocks noGrp="1"/>
          </p:cNvSpPr>
          <p:nvPr>
            <p:ph type="title"/>
          </p:nvPr>
        </p:nvSpPr>
        <p:spPr/>
        <p:txBody>
          <a:bodyPr/>
          <a:lstStyle/>
          <a:p>
            <a:r>
              <a:rPr lang="zh-TW" altLang="en-US" dirty="0"/>
              <a:t>方案五：社區築夢 歡樂童行</a:t>
            </a:r>
            <a:r>
              <a:rPr lang="en-US" altLang="zh-TW" dirty="0"/>
              <a:t>-</a:t>
            </a:r>
            <a:r>
              <a:rPr lang="zh-TW" altLang="en-US" dirty="0"/>
              <a:t>親子團體動力體驗</a:t>
            </a:r>
            <a:endParaRPr lang="zh-TW" altLang="en-US" sz="2400" dirty="0"/>
          </a:p>
        </p:txBody>
      </p:sp>
      <p:sp>
        <p:nvSpPr>
          <p:cNvPr id="3" name="內容版面配置區 2">
            <a:extLst>
              <a:ext uri="{FF2B5EF4-FFF2-40B4-BE49-F238E27FC236}">
                <a16:creationId xmlns:a16="http://schemas.microsoft.com/office/drawing/2014/main" id="{0F7FC503-5008-727E-4A9F-C98C904CBA82}"/>
              </a:ext>
            </a:extLst>
          </p:cNvPr>
          <p:cNvSpPr>
            <a:spLocks noGrp="1"/>
          </p:cNvSpPr>
          <p:nvPr>
            <p:ph idx="1"/>
          </p:nvPr>
        </p:nvSpPr>
        <p:spPr>
          <a:xfrm>
            <a:off x="3401876" y="716873"/>
            <a:ext cx="2187848" cy="563562"/>
          </a:xfrm>
        </p:spPr>
        <p:txBody>
          <a:bodyPr/>
          <a:lstStyle/>
          <a:p>
            <a:pPr marL="0" indent="0" algn="ctr">
              <a:buNone/>
            </a:pPr>
            <a:r>
              <a:rPr lang="zh-TW" altLang="en-US" sz="2800" b="1" dirty="0">
                <a:solidFill>
                  <a:srgbClr val="FF0000"/>
                </a:solidFill>
                <a:latin typeface="標楷體" pitchFamily="65" charset="-120"/>
                <a:ea typeface="標楷體" pitchFamily="65" charset="-120"/>
              </a:rPr>
              <a:t>方案內容</a:t>
            </a:r>
          </a:p>
        </p:txBody>
      </p:sp>
      <p:sp>
        <p:nvSpPr>
          <p:cNvPr id="5" name="矩形 4">
            <a:extLst>
              <a:ext uri="{FF2B5EF4-FFF2-40B4-BE49-F238E27FC236}">
                <a16:creationId xmlns:a16="http://schemas.microsoft.com/office/drawing/2014/main" id="{90E1AB36-B1A1-DCAF-0680-92555C8BCE20}"/>
              </a:ext>
            </a:extLst>
          </p:cNvPr>
          <p:cNvSpPr/>
          <p:nvPr/>
        </p:nvSpPr>
        <p:spPr>
          <a:xfrm>
            <a:off x="304800" y="1134924"/>
            <a:ext cx="3570208"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a:t>
            </a:r>
            <a:r>
              <a:rPr kumimoji="0" lang="zh-TW" altLang="en-US" sz="2400" b="0" i="0" u="none" strike="noStrike" kern="0" cap="none" spc="0" normalizeH="0" baseline="0" noProof="0" dirty="0">
                <a:ln>
                  <a:noFill/>
                </a:ln>
                <a:solidFill>
                  <a:srgbClr val="000000"/>
                </a:solidFill>
                <a:effectLst/>
                <a:uLnTx/>
                <a:uFillTx/>
                <a:latin typeface="Arial"/>
                <a:ea typeface="標楷體"/>
                <a:cs typeface="Times New Roman"/>
              </a:rPr>
              <a:t>■福利服務類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sp>
        <p:nvSpPr>
          <p:cNvPr id="4" name="矩形 3">
            <a:extLst>
              <a:ext uri="{FF2B5EF4-FFF2-40B4-BE49-F238E27FC236}">
                <a16:creationId xmlns:a16="http://schemas.microsoft.com/office/drawing/2014/main" id="{932513F4-F062-390D-716D-89D18CEF227F}"/>
              </a:ext>
            </a:extLst>
          </p:cNvPr>
          <p:cNvSpPr/>
          <p:nvPr/>
        </p:nvSpPr>
        <p:spPr>
          <a:xfrm>
            <a:off x="-22448" y="2019948"/>
            <a:ext cx="9036496" cy="3275769"/>
          </a:xfrm>
          <a:prstGeom prst="rect">
            <a:avLst/>
          </a:prstGeom>
        </p:spPr>
        <p:txBody>
          <a:bodyPr wrap="square">
            <a:spAutoFit/>
          </a:bodyPr>
          <a:lstStyle/>
          <a:p>
            <a:pPr marL="901700" marR="0" lvl="0" indent="-279400" algn="just" defTabSz="914400" rtl="0" eaLnBrk="1" fontAlgn="auto" latinLnBrk="0" hangingPunct="1">
              <a:lnSpc>
                <a:spcPts val="3600"/>
              </a:lnSpc>
              <a:spcBef>
                <a:spcPts val="0"/>
              </a:spcBef>
              <a:spcAft>
                <a:spcPts val="0"/>
              </a:spcAft>
              <a:buClrTx/>
              <a:buSzTx/>
              <a:buFontTx/>
              <a:buNone/>
              <a:tabLst/>
              <a:defRPr/>
            </a:pPr>
            <a:r>
              <a:rPr kumimoji="0" lang="en-US" altLang="zh-TW" sz="2200" b="0"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2200" b="1" i="0" u="none" strike="noStrike" kern="100" cap="none" spc="0" normalizeH="0" baseline="0" noProof="0" dirty="0">
                <a:ln>
                  <a:noFill/>
                </a:ln>
                <a:solidFill>
                  <a:srgbClr val="000000"/>
                </a:solidFill>
                <a:effectLst/>
                <a:uLnTx/>
                <a:uFillTx/>
                <a:latin typeface="Times New Roman"/>
                <a:ea typeface="標楷體"/>
                <a:cs typeface="+mn-cs"/>
              </a:rPr>
              <a:t>探索體驗增能學習課程</a:t>
            </a:r>
            <a:r>
              <a:rPr kumimoji="0" lang="zh-TW" altLang="en-US" sz="2200" b="0" i="0" u="none" strike="noStrike" kern="100" cap="none" spc="0" normalizeH="0" baseline="0" noProof="0" dirty="0">
                <a:ln>
                  <a:noFill/>
                </a:ln>
                <a:solidFill>
                  <a:srgbClr val="000000"/>
                </a:solidFill>
                <a:effectLst/>
                <a:uLnTx/>
                <a:uFillTx/>
                <a:latin typeface="Times New Roman"/>
                <a:ea typeface="標楷體"/>
                <a:cs typeface="+mn-cs"/>
              </a:rPr>
              <a:t>：邀請范國樑校長及暫定白金樹主任以團體帶領方式，以講授式之認知課程和體驗式之探索教育活動交叉運用。除認知課程採室內講授方式實施外，體驗式課程採動態的情境式領導活動，及室內、戶外挑戰性活動體驗與實作，以激發學員的創意、潛能和企圖心。每項活動必須透過團隊合作，才能迎接挑戰、克服困難、發揮創意、解決問題、達成目標，課程具教育性、啟思性、挑戰性及趣味性。</a:t>
            </a:r>
          </a:p>
        </p:txBody>
      </p:sp>
    </p:spTree>
    <p:extLst>
      <p:ext uri="{BB962C8B-B14F-4D97-AF65-F5344CB8AC3E}">
        <p14:creationId xmlns:p14="http://schemas.microsoft.com/office/powerpoint/2010/main" val="25119664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B9821-39F4-E8A0-51B9-4BC3A9A41D6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B9A8019-78D3-8ECB-A4EA-E62AC46D4BE3}"/>
              </a:ext>
            </a:extLst>
          </p:cNvPr>
          <p:cNvSpPr>
            <a:spLocks noGrp="1"/>
          </p:cNvSpPr>
          <p:nvPr>
            <p:ph type="title"/>
          </p:nvPr>
        </p:nvSpPr>
        <p:spPr/>
        <p:txBody>
          <a:bodyPr/>
          <a:lstStyle/>
          <a:p>
            <a:r>
              <a:rPr lang="zh-TW" altLang="en-US" dirty="0"/>
              <a:t>方案五：社區築夢 歡樂童行</a:t>
            </a:r>
            <a:r>
              <a:rPr lang="en-US" altLang="zh-TW" dirty="0"/>
              <a:t>-</a:t>
            </a:r>
            <a:r>
              <a:rPr lang="zh-TW" altLang="en-US" dirty="0"/>
              <a:t>親子團體動力體驗</a:t>
            </a:r>
            <a:endParaRPr lang="zh-TW" altLang="en-US" sz="2400" dirty="0"/>
          </a:p>
        </p:txBody>
      </p:sp>
      <p:sp>
        <p:nvSpPr>
          <p:cNvPr id="3" name="內容版面配置區 2">
            <a:extLst>
              <a:ext uri="{FF2B5EF4-FFF2-40B4-BE49-F238E27FC236}">
                <a16:creationId xmlns:a16="http://schemas.microsoft.com/office/drawing/2014/main" id="{F5ABC88C-199C-B4CE-955C-512A2E50F3D1}"/>
              </a:ext>
            </a:extLst>
          </p:cNvPr>
          <p:cNvSpPr>
            <a:spLocks noGrp="1"/>
          </p:cNvSpPr>
          <p:nvPr>
            <p:ph idx="1"/>
          </p:nvPr>
        </p:nvSpPr>
        <p:spPr>
          <a:xfrm>
            <a:off x="3401876" y="1203710"/>
            <a:ext cx="2187848" cy="563562"/>
          </a:xfrm>
        </p:spPr>
        <p:txBody>
          <a:bodyPr/>
          <a:lstStyle/>
          <a:p>
            <a:pPr marL="0" indent="0" algn="ctr">
              <a:buNone/>
            </a:pPr>
            <a:r>
              <a:rPr lang="zh-TW" altLang="en-US" sz="2800" b="1" dirty="0">
                <a:solidFill>
                  <a:srgbClr val="FF0000"/>
                </a:solidFill>
                <a:latin typeface="標楷體" pitchFamily="65" charset="-120"/>
                <a:ea typeface="標楷體" pitchFamily="65" charset="-120"/>
              </a:rPr>
              <a:t>內容規劃</a:t>
            </a:r>
          </a:p>
        </p:txBody>
      </p:sp>
      <p:graphicFrame>
        <p:nvGraphicFramePr>
          <p:cNvPr id="6" name="表格 5">
            <a:extLst>
              <a:ext uri="{FF2B5EF4-FFF2-40B4-BE49-F238E27FC236}">
                <a16:creationId xmlns:a16="http://schemas.microsoft.com/office/drawing/2014/main" id="{9D3CF8D9-8524-2770-6A2D-54C2BDE1F097}"/>
              </a:ext>
            </a:extLst>
          </p:cNvPr>
          <p:cNvGraphicFramePr>
            <a:graphicFrameLocks noGrp="1"/>
          </p:cNvGraphicFramePr>
          <p:nvPr/>
        </p:nvGraphicFramePr>
        <p:xfrm>
          <a:off x="206152" y="2924944"/>
          <a:ext cx="8731696" cy="1700912"/>
        </p:xfrm>
        <a:graphic>
          <a:graphicData uri="http://schemas.openxmlformats.org/drawingml/2006/table">
            <a:tbl>
              <a:tblPr firstRow="1" firstCol="1" bandRow="1" bandCol="1"/>
              <a:tblGrid>
                <a:gridCol w="385120">
                  <a:extLst>
                    <a:ext uri="{9D8B030D-6E8A-4147-A177-3AD203B41FA5}">
                      <a16:colId xmlns:a16="http://schemas.microsoft.com/office/drawing/2014/main" val="2340633287"/>
                    </a:ext>
                  </a:extLst>
                </a:gridCol>
                <a:gridCol w="2369912">
                  <a:extLst>
                    <a:ext uri="{9D8B030D-6E8A-4147-A177-3AD203B41FA5}">
                      <a16:colId xmlns:a16="http://schemas.microsoft.com/office/drawing/2014/main" val="898480860"/>
                    </a:ext>
                  </a:extLst>
                </a:gridCol>
                <a:gridCol w="2608747">
                  <a:extLst>
                    <a:ext uri="{9D8B030D-6E8A-4147-A177-3AD203B41FA5}">
                      <a16:colId xmlns:a16="http://schemas.microsoft.com/office/drawing/2014/main" val="914029500"/>
                    </a:ext>
                  </a:extLst>
                </a:gridCol>
                <a:gridCol w="3367917">
                  <a:extLst>
                    <a:ext uri="{9D8B030D-6E8A-4147-A177-3AD203B41FA5}">
                      <a16:colId xmlns:a16="http://schemas.microsoft.com/office/drawing/2014/main" val="2460547884"/>
                    </a:ext>
                  </a:extLst>
                </a:gridCol>
              </a:tblGrid>
              <a:tr h="107950">
                <a:tc>
                  <a:txBody>
                    <a:bodyPr/>
                    <a:lstStyle/>
                    <a:p>
                      <a:pPr algn="ctr">
                        <a:lnSpc>
                          <a:spcPts val="3500"/>
                        </a:lnSpc>
                      </a:pPr>
                      <a:r>
                        <a:rPr lang="zh-TW" sz="2400" kern="100" dirty="0">
                          <a:solidFill>
                            <a:srgbClr val="000000"/>
                          </a:solidFill>
                          <a:effectLst/>
                          <a:latin typeface="Times New Roman" panose="02020603050405020304" pitchFamily="18" charset="0"/>
                          <a:ea typeface="標楷體" panose="03000509000000000000" pitchFamily="65" charset="-120"/>
                        </a:rPr>
                        <a:t>編號</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500"/>
                        </a:lnSpc>
                      </a:pPr>
                      <a:r>
                        <a:rPr lang="zh-TW" sz="2400" kern="100" dirty="0">
                          <a:solidFill>
                            <a:srgbClr val="000000"/>
                          </a:solidFill>
                          <a:effectLst/>
                          <a:latin typeface="Times New Roman" panose="02020603050405020304" pitchFamily="18" charset="0"/>
                          <a:ea typeface="標楷體" panose="03000509000000000000" pitchFamily="65" charset="-120"/>
                        </a:rPr>
                        <a:t>活動項目</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500"/>
                        </a:lnSpc>
                      </a:pPr>
                      <a:r>
                        <a:rPr lang="zh-TW" sz="2400" kern="100" dirty="0">
                          <a:solidFill>
                            <a:srgbClr val="000000"/>
                          </a:solidFill>
                          <a:effectLst/>
                          <a:latin typeface="Times New Roman" panose="02020603050405020304" pitchFamily="18" charset="0"/>
                          <a:ea typeface="標楷體" panose="03000509000000000000" pitchFamily="65" charset="-120"/>
                        </a:rPr>
                        <a:t>服務量</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500"/>
                        </a:lnSpc>
                      </a:pPr>
                      <a:r>
                        <a:rPr lang="zh-TW" sz="2400" kern="100">
                          <a:solidFill>
                            <a:srgbClr val="000000"/>
                          </a:solidFill>
                          <a:effectLst/>
                          <a:latin typeface="Times New Roman" panose="02020603050405020304" pitchFamily="18" charset="0"/>
                          <a:ea typeface="標楷體" panose="03000509000000000000" pitchFamily="65" charset="-120"/>
                        </a:rPr>
                        <a:t>評估方法</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9874044"/>
                  </a:ext>
                </a:extLst>
              </a:tr>
              <a:tr h="0">
                <a:tc>
                  <a:txBody>
                    <a:bodyPr/>
                    <a:lstStyle/>
                    <a:p>
                      <a:pPr algn="ctr">
                        <a:lnSpc>
                          <a:spcPts val="3500"/>
                        </a:lnSpc>
                      </a:pPr>
                      <a:r>
                        <a:rPr lang="en-US" sz="2400" kern="100">
                          <a:solidFill>
                            <a:srgbClr val="000000"/>
                          </a:solidFill>
                          <a:effectLst/>
                          <a:latin typeface="標楷體" panose="03000509000000000000" pitchFamily="65" charset="-120"/>
                          <a:ea typeface="新細明體" panose="02020500000000000000" pitchFamily="18" charset="-120"/>
                        </a:rPr>
                        <a:t>1</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3500"/>
                        </a:lnSpc>
                      </a:pPr>
                      <a:r>
                        <a:rPr lang="zh-TW" sz="2400" kern="100" dirty="0">
                          <a:solidFill>
                            <a:srgbClr val="000000"/>
                          </a:solidFill>
                          <a:effectLst/>
                          <a:latin typeface="Times New Roman" panose="02020603050405020304" pitchFamily="18" charset="0"/>
                          <a:ea typeface="標楷體" panose="03000509000000000000" pitchFamily="65" charset="-120"/>
                        </a:rPr>
                        <a:t>其樂融融</a:t>
                      </a:r>
                      <a:r>
                        <a:rPr lang="en-US" sz="2400" kern="100" dirty="0">
                          <a:solidFill>
                            <a:srgbClr val="000000"/>
                          </a:solidFill>
                          <a:effectLst/>
                          <a:latin typeface="Times New Roman" panose="02020603050405020304" pitchFamily="18" charset="0"/>
                          <a:ea typeface="標楷體" panose="03000509000000000000" pitchFamily="65" charset="-120"/>
                        </a:rPr>
                        <a:t>-</a:t>
                      </a:r>
                      <a:r>
                        <a:rPr lang="zh-TW" sz="2400" kern="100" dirty="0">
                          <a:solidFill>
                            <a:srgbClr val="000000"/>
                          </a:solidFill>
                          <a:effectLst/>
                          <a:latin typeface="Times New Roman" panose="02020603050405020304" pitchFamily="18" charset="0"/>
                          <a:ea typeface="標楷體" panose="03000509000000000000" pitchFamily="65" charset="-120"/>
                        </a:rPr>
                        <a:t>親子團體動力心體驗</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3500"/>
                        </a:lnSpc>
                      </a:pPr>
                      <a:r>
                        <a:rPr lang="en-US" sz="2400" kern="100" dirty="0">
                          <a:solidFill>
                            <a:srgbClr val="000000"/>
                          </a:solidFill>
                          <a:effectLst/>
                          <a:latin typeface="標楷體" panose="03000509000000000000" pitchFamily="65" charset="-120"/>
                          <a:ea typeface="新細明體" panose="02020500000000000000" pitchFamily="18" charset="-120"/>
                        </a:rPr>
                        <a:t>2</a:t>
                      </a:r>
                      <a:r>
                        <a:rPr lang="zh-TW" sz="2400" kern="100" dirty="0">
                          <a:solidFill>
                            <a:srgbClr val="000000"/>
                          </a:solidFill>
                          <a:effectLst/>
                          <a:latin typeface="Times New Roman" panose="02020603050405020304" pitchFamily="18" charset="0"/>
                          <a:ea typeface="標楷體" panose="03000509000000000000" pitchFamily="65" charset="-120"/>
                        </a:rPr>
                        <a:t>天</a:t>
                      </a:r>
                      <a:r>
                        <a:rPr lang="en-US" sz="2400" kern="100" dirty="0">
                          <a:solidFill>
                            <a:srgbClr val="000000"/>
                          </a:solidFill>
                          <a:effectLst/>
                          <a:latin typeface="Times New Roman" panose="02020603050405020304" pitchFamily="18" charset="0"/>
                          <a:ea typeface="標楷體" panose="03000509000000000000" pitchFamily="65" charset="-120"/>
                        </a:rPr>
                        <a:t>*35</a:t>
                      </a:r>
                      <a:r>
                        <a:rPr lang="zh-TW" sz="2400" kern="100" dirty="0">
                          <a:solidFill>
                            <a:srgbClr val="000000"/>
                          </a:solidFill>
                          <a:effectLst/>
                          <a:latin typeface="Times New Roman" panose="02020603050405020304" pitchFamily="18" charset="0"/>
                          <a:ea typeface="標楷體" panose="03000509000000000000" pitchFamily="65" charset="-120"/>
                        </a:rPr>
                        <a:t>人＝</a:t>
                      </a:r>
                      <a:r>
                        <a:rPr lang="en-US" sz="2400" kern="100" dirty="0">
                          <a:solidFill>
                            <a:srgbClr val="000000"/>
                          </a:solidFill>
                          <a:effectLst/>
                          <a:latin typeface="Times New Roman" panose="02020603050405020304" pitchFamily="18" charset="0"/>
                          <a:ea typeface="標楷體" panose="03000509000000000000" pitchFamily="65" charset="-120"/>
                        </a:rPr>
                        <a:t>70</a:t>
                      </a:r>
                      <a:r>
                        <a:rPr lang="zh-TW" sz="2400" kern="100" dirty="0">
                          <a:solidFill>
                            <a:srgbClr val="000000"/>
                          </a:solidFill>
                          <a:effectLst/>
                          <a:latin typeface="Times New Roman" panose="02020603050405020304" pitchFamily="18" charset="0"/>
                          <a:ea typeface="標楷體" panose="03000509000000000000" pitchFamily="65" charset="-120"/>
                        </a:rPr>
                        <a:t>人次</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nSpc>
                          <a:spcPts val="3500"/>
                        </a:lnSpc>
                        <a:buFont typeface="+mj-lt"/>
                        <a:buAutoNum type="arabicPeriod"/>
                      </a:pPr>
                      <a:r>
                        <a:rPr lang="zh-TW" sz="2400" kern="100" dirty="0">
                          <a:solidFill>
                            <a:srgbClr val="000000"/>
                          </a:solidFill>
                          <a:effectLst/>
                          <a:latin typeface="Times New Roman" panose="02020603050405020304" pitchFamily="18" charset="0"/>
                          <a:ea typeface="標楷體" panose="03000509000000000000" pitchFamily="65" charset="-120"/>
                        </a:rPr>
                        <a:t>滿意度調查</a:t>
                      </a:r>
                      <a:endParaRPr lang="zh-TW" sz="2400" kern="100" dirty="0">
                        <a:effectLst/>
                        <a:latin typeface="Times New Roman" panose="02020603050405020304" pitchFamily="18" charset="0"/>
                        <a:ea typeface="新細明體" panose="02020500000000000000" pitchFamily="18" charset="-120"/>
                      </a:endParaRPr>
                    </a:p>
                    <a:p>
                      <a:pPr marL="342900" lvl="0" indent="-342900">
                        <a:lnSpc>
                          <a:spcPts val="3500"/>
                        </a:lnSpc>
                        <a:buFont typeface="+mj-lt"/>
                        <a:buAutoNum type="arabicPeriod"/>
                      </a:pPr>
                      <a:r>
                        <a:rPr lang="zh-TW" sz="2400" kern="100" dirty="0">
                          <a:solidFill>
                            <a:srgbClr val="000000"/>
                          </a:solidFill>
                          <a:effectLst/>
                          <a:latin typeface="Times New Roman" panose="02020603050405020304" pitchFamily="18" charset="0"/>
                          <a:ea typeface="標楷體" panose="03000509000000000000" pitchFamily="65" charset="-120"/>
                        </a:rPr>
                        <a:t>參與人次與人數</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9972380"/>
                  </a:ext>
                </a:extLst>
              </a:tr>
            </a:tbl>
          </a:graphicData>
        </a:graphic>
      </p:graphicFrame>
    </p:spTree>
    <p:extLst>
      <p:ext uri="{BB962C8B-B14F-4D97-AF65-F5344CB8AC3E}">
        <p14:creationId xmlns:p14="http://schemas.microsoft.com/office/powerpoint/2010/main" val="39331324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71ECC-6F05-DB32-E7C3-EFE156FC233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7C6F41F-2AE2-4044-C495-EF013F4A7B7A}"/>
              </a:ext>
            </a:extLst>
          </p:cNvPr>
          <p:cNvSpPr>
            <a:spLocks noGrp="1"/>
          </p:cNvSpPr>
          <p:nvPr>
            <p:ph type="title"/>
          </p:nvPr>
        </p:nvSpPr>
        <p:spPr/>
        <p:txBody>
          <a:bodyPr/>
          <a:lstStyle/>
          <a:p>
            <a:r>
              <a:rPr lang="zh-TW" altLang="en-US" dirty="0"/>
              <a:t>方案六：水電維修志工隊</a:t>
            </a:r>
            <a:r>
              <a:rPr lang="en-US" altLang="zh-TW" dirty="0"/>
              <a:t>-</a:t>
            </a:r>
            <a:r>
              <a:rPr lang="zh-TW" altLang="en-US" dirty="0"/>
              <a:t>時間銀行計畫</a:t>
            </a:r>
          </a:p>
        </p:txBody>
      </p:sp>
      <p:sp>
        <p:nvSpPr>
          <p:cNvPr id="3" name="內容版面配置區 2">
            <a:extLst>
              <a:ext uri="{FF2B5EF4-FFF2-40B4-BE49-F238E27FC236}">
                <a16:creationId xmlns:a16="http://schemas.microsoft.com/office/drawing/2014/main" id="{0FD8ADDB-4441-B397-150B-512479091F58}"/>
              </a:ext>
            </a:extLst>
          </p:cNvPr>
          <p:cNvSpPr>
            <a:spLocks noGrp="1"/>
          </p:cNvSpPr>
          <p:nvPr>
            <p:ph idx="1"/>
          </p:nvPr>
        </p:nvSpPr>
        <p:spPr>
          <a:xfrm>
            <a:off x="3571354" y="643965"/>
            <a:ext cx="1848892" cy="461665"/>
          </a:xfrm>
        </p:spPr>
        <p:txBody>
          <a:bodyPr/>
          <a:lstStyle/>
          <a:p>
            <a:pPr marL="0" indent="0" algn="ctr">
              <a:buNone/>
            </a:pPr>
            <a:r>
              <a:rPr lang="zh-TW" altLang="en-US" sz="2800" b="1" dirty="0">
                <a:solidFill>
                  <a:srgbClr val="FF0000"/>
                </a:solidFill>
                <a:latin typeface="標楷體" pitchFamily="65" charset="-120"/>
                <a:ea typeface="標楷體" pitchFamily="65" charset="-120"/>
              </a:rPr>
              <a:t>方案內容</a:t>
            </a:r>
          </a:p>
        </p:txBody>
      </p:sp>
      <p:sp>
        <p:nvSpPr>
          <p:cNvPr id="5" name="矩形 4">
            <a:extLst>
              <a:ext uri="{FF2B5EF4-FFF2-40B4-BE49-F238E27FC236}">
                <a16:creationId xmlns:a16="http://schemas.microsoft.com/office/drawing/2014/main" id="{E566D372-5015-4395-4D30-6C1599700F61}"/>
              </a:ext>
            </a:extLst>
          </p:cNvPr>
          <p:cNvSpPr/>
          <p:nvPr/>
        </p:nvSpPr>
        <p:spPr>
          <a:xfrm>
            <a:off x="304800" y="1078985"/>
            <a:ext cx="3570208"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a:t>
            </a:r>
            <a:r>
              <a:rPr kumimoji="0" lang="zh-TW" altLang="en-US" sz="2400" b="0" i="0" u="none" strike="noStrike" kern="0" cap="none" spc="0" normalizeH="0" baseline="0" noProof="0" dirty="0">
                <a:ln>
                  <a:noFill/>
                </a:ln>
                <a:solidFill>
                  <a:srgbClr val="000000"/>
                </a:solidFill>
                <a:effectLst/>
                <a:uLnTx/>
                <a:uFillTx/>
                <a:latin typeface="Arial"/>
                <a:ea typeface="標楷體"/>
                <a:cs typeface="Times New Roman"/>
              </a:rPr>
              <a:t>■福利服務類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sp>
        <p:nvSpPr>
          <p:cNvPr id="4" name="矩形 3">
            <a:extLst>
              <a:ext uri="{FF2B5EF4-FFF2-40B4-BE49-F238E27FC236}">
                <a16:creationId xmlns:a16="http://schemas.microsoft.com/office/drawing/2014/main" id="{3ACFD149-5F08-9DC8-6442-47E4EC1EFD19}"/>
              </a:ext>
            </a:extLst>
          </p:cNvPr>
          <p:cNvSpPr/>
          <p:nvPr/>
        </p:nvSpPr>
        <p:spPr>
          <a:xfrm>
            <a:off x="-22448" y="1575015"/>
            <a:ext cx="9036496" cy="4990662"/>
          </a:xfrm>
          <a:prstGeom prst="rect">
            <a:avLst/>
          </a:prstGeom>
        </p:spPr>
        <p:txBody>
          <a:bodyPr wrap="square">
            <a:spAutoFit/>
          </a:bodyPr>
          <a:lstStyle/>
          <a:p>
            <a:pPr marL="622300" marR="0" lvl="0" indent="-279400" algn="just"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辦理</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次水電維修培訓，預計於</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月開始培訓</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30</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位社區居民簡易水電維修課程，帶入社區共生精神，以有意願的培訓學員鼓勵進而成立小旗艦志工隊，協助社區中低收、邊緣、中低收入獨居長者及身心障礙者臨時簡易水電維修或初步水電檢查。</a:t>
            </a:r>
            <a:b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br>
            <a:endPar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endParaRPr>
          </a:p>
          <a:p>
            <a:pPr marL="622300" marR="0" lvl="0" indent="-279400" algn="l"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第一堂培訓課程會請參與學員簽署切結書，約定在課程結束後</a:t>
            </a:r>
            <a:r>
              <a:rPr kumimoji="0" lang="zh-TW" altLang="en-US" sz="2400" b="0" i="0" u="none" strike="noStrike" kern="100" cap="none" spc="0" normalizeH="0" baseline="0" noProof="0" dirty="0">
                <a:ln>
                  <a:noFill/>
                </a:ln>
                <a:solidFill>
                  <a:srgbClr val="FF0000"/>
                </a:solidFill>
                <a:effectLst/>
                <a:uLnTx/>
                <a:uFillTx/>
                <a:latin typeface="Times New Roman"/>
                <a:ea typeface="標楷體"/>
                <a:cs typeface="+mn-cs"/>
              </a:rPr>
              <a:t>需參與水電志工隊兩次服務</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FF0000"/>
                </a:solidFill>
                <a:effectLst/>
                <a:uLnTx/>
                <a:uFillTx/>
                <a:latin typeface="Times New Roman"/>
                <a:ea typeface="標楷體"/>
                <a:cs typeface="+mn-cs"/>
              </a:rPr>
              <a:t>3</a:t>
            </a:r>
            <a:r>
              <a:rPr kumimoji="0" lang="zh-TW" altLang="en-US" sz="2400" b="0" i="0" u="none" strike="noStrike" kern="100" cap="none" spc="0" normalizeH="0" baseline="0" noProof="0" dirty="0">
                <a:ln>
                  <a:noFill/>
                </a:ln>
                <a:solidFill>
                  <a:srgbClr val="FF0000"/>
                </a:solidFill>
                <a:effectLst/>
                <a:uLnTx/>
                <a:uFillTx/>
                <a:latin typeface="Times New Roman"/>
                <a:ea typeface="標楷體"/>
                <a:cs typeface="+mn-cs"/>
              </a:rPr>
              <a:t>小時</a:t>
            </a:r>
            <a:r>
              <a:rPr kumimoji="0" lang="en-US" altLang="zh-TW" sz="2400" b="0" i="0" u="none" strike="noStrike" kern="100" cap="none" spc="0" normalizeH="0" baseline="0" noProof="0" dirty="0">
                <a:ln>
                  <a:noFill/>
                </a:ln>
                <a:solidFill>
                  <a:srgbClr val="FF0000"/>
                </a:solidFill>
                <a:effectLst/>
                <a:uLnTx/>
                <a:uFillTx/>
                <a:latin typeface="Times New Roman"/>
                <a:ea typeface="標楷體"/>
                <a:cs typeface="+mn-cs"/>
              </a:rPr>
              <a:t>/</a:t>
            </a:r>
            <a:r>
              <a:rPr kumimoji="0" lang="zh-TW" altLang="en-US" sz="2400" b="0" i="0" u="none" strike="noStrike" kern="100" cap="none" spc="0" normalizeH="0" baseline="0" noProof="0" dirty="0">
                <a:ln>
                  <a:noFill/>
                </a:ln>
                <a:solidFill>
                  <a:srgbClr val="FF0000"/>
                </a:solidFill>
                <a:effectLst/>
                <a:uLnTx/>
                <a:uFillTx/>
                <a:latin typeface="Times New Roman"/>
                <a:ea typeface="標楷體"/>
                <a:cs typeface="+mn-cs"/>
              </a:rPr>
              <a:t>次</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b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br>
            <a:endPar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endParaRPr>
          </a:p>
          <a:p>
            <a:pPr marL="622300" marR="0" lvl="0" indent="-279400" algn="l"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請小旗艦各社區提出幾戶較需進行水電維修或初步水電檢查，依需求進行安排，目前規劃為</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月至</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11</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月，</a:t>
            </a:r>
            <a:r>
              <a:rPr kumimoji="0" lang="zh-TW" altLang="en-US" sz="2400" b="0" i="0" u="none" strike="noStrike" kern="100" cap="none" spc="0" normalizeH="0" baseline="0" noProof="0" dirty="0">
                <a:ln>
                  <a:noFill/>
                </a:ln>
                <a:solidFill>
                  <a:srgbClr val="FF0000"/>
                </a:solidFill>
                <a:effectLst/>
                <a:uLnTx/>
                <a:uFillTx/>
                <a:latin typeface="Times New Roman"/>
                <a:ea typeface="標楷體"/>
                <a:cs typeface="+mn-cs"/>
              </a:rPr>
              <a:t>每</a:t>
            </a:r>
            <a:r>
              <a:rPr kumimoji="0" lang="en-US" altLang="zh-TW" sz="2400" b="0" i="0" u="none" strike="noStrike" kern="100" cap="none" spc="0" normalizeH="0" baseline="0" noProof="0" dirty="0">
                <a:ln>
                  <a:noFill/>
                </a:ln>
                <a:solidFill>
                  <a:srgbClr val="FF0000"/>
                </a:solidFill>
                <a:effectLst/>
                <a:uLnTx/>
                <a:uFillTx/>
                <a:latin typeface="Times New Roman"/>
                <a:ea typeface="標楷體"/>
                <a:cs typeface="+mn-cs"/>
              </a:rPr>
              <a:t>3</a:t>
            </a:r>
            <a:r>
              <a:rPr kumimoji="0" lang="zh-TW" altLang="en-US" sz="2400" b="0" i="0" u="none" strike="noStrike" kern="100" cap="none" spc="0" normalizeH="0" baseline="0" noProof="0" dirty="0">
                <a:ln>
                  <a:noFill/>
                </a:ln>
                <a:solidFill>
                  <a:srgbClr val="FF0000"/>
                </a:solidFill>
                <a:effectLst/>
                <a:uLnTx/>
                <a:uFillTx/>
                <a:latin typeface="Times New Roman"/>
                <a:ea typeface="標楷體"/>
                <a:cs typeface="+mn-cs"/>
              </a:rPr>
              <a:t>個月出勤一次</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水電志工隊，共執行</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次，會視需求更改出勤頻率。</a:t>
            </a:r>
          </a:p>
        </p:txBody>
      </p:sp>
    </p:spTree>
    <p:extLst>
      <p:ext uri="{BB962C8B-B14F-4D97-AF65-F5344CB8AC3E}">
        <p14:creationId xmlns:p14="http://schemas.microsoft.com/office/powerpoint/2010/main" val="41033539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4EC58-D226-B79A-8E6A-3F4DD5F11DF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C25B9A1-54D4-2B8E-07C3-FDCC6A4A66D3}"/>
              </a:ext>
            </a:extLst>
          </p:cNvPr>
          <p:cNvSpPr>
            <a:spLocks noGrp="1"/>
          </p:cNvSpPr>
          <p:nvPr>
            <p:ph type="title"/>
          </p:nvPr>
        </p:nvSpPr>
        <p:spPr/>
        <p:txBody>
          <a:bodyPr/>
          <a:lstStyle/>
          <a:p>
            <a:r>
              <a:rPr lang="zh-TW" altLang="en-US" dirty="0"/>
              <a:t>方案六：水電維修志工隊</a:t>
            </a:r>
            <a:r>
              <a:rPr lang="en-US" altLang="zh-TW" dirty="0"/>
              <a:t>-</a:t>
            </a:r>
            <a:r>
              <a:rPr lang="zh-TW" altLang="en-US" dirty="0"/>
              <a:t>時間銀行計畫</a:t>
            </a:r>
          </a:p>
        </p:txBody>
      </p:sp>
      <p:sp>
        <p:nvSpPr>
          <p:cNvPr id="3" name="內容版面配置區 2">
            <a:extLst>
              <a:ext uri="{FF2B5EF4-FFF2-40B4-BE49-F238E27FC236}">
                <a16:creationId xmlns:a16="http://schemas.microsoft.com/office/drawing/2014/main" id="{117EB54B-4B95-8A33-66F5-5DC310AC53D8}"/>
              </a:ext>
            </a:extLst>
          </p:cNvPr>
          <p:cNvSpPr>
            <a:spLocks noGrp="1"/>
          </p:cNvSpPr>
          <p:nvPr>
            <p:ph idx="1"/>
          </p:nvPr>
        </p:nvSpPr>
        <p:spPr>
          <a:xfrm>
            <a:off x="3647554" y="908720"/>
            <a:ext cx="1848892" cy="461665"/>
          </a:xfrm>
        </p:spPr>
        <p:txBody>
          <a:bodyPr/>
          <a:lstStyle/>
          <a:p>
            <a:pPr marL="0" indent="0" algn="ctr">
              <a:buNone/>
            </a:pPr>
            <a:r>
              <a:rPr lang="zh-TW" altLang="en-US" sz="2800" b="1" dirty="0">
                <a:solidFill>
                  <a:srgbClr val="FF0000"/>
                </a:solidFill>
                <a:latin typeface="標楷體" pitchFamily="65" charset="-120"/>
                <a:ea typeface="標楷體" pitchFamily="65" charset="-120"/>
              </a:rPr>
              <a:t>內容規劃</a:t>
            </a:r>
            <a:endParaRPr lang="en-US" altLang="zh-TW" sz="2800" b="1" dirty="0">
              <a:solidFill>
                <a:srgbClr val="FF0000"/>
              </a:solidFill>
              <a:latin typeface="標楷體" pitchFamily="65" charset="-120"/>
              <a:ea typeface="標楷體" pitchFamily="65" charset="-120"/>
            </a:endParaRPr>
          </a:p>
        </p:txBody>
      </p:sp>
      <p:graphicFrame>
        <p:nvGraphicFramePr>
          <p:cNvPr id="6" name="表格 5">
            <a:extLst>
              <a:ext uri="{FF2B5EF4-FFF2-40B4-BE49-F238E27FC236}">
                <a16:creationId xmlns:a16="http://schemas.microsoft.com/office/drawing/2014/main" id="{89F07933-009A-352A-AA5D-C21C6973CFE8}"/>
              </a:ext>
            </a:extLst>
          </p:cNvPr>
          <p:cNvGraphicFramePr>
            <a:graphicFrameLocks noGrp="1"/>
          </p:cNvGraphicFramePr>
          <p:nvPr/>
        </p:nvGraphicFramePr>
        <p:xfrm>
          <a:off x="165956" y="1930685"/>
          <a:ext cx="8659687" cy="2996630"/>
        </p:xfrm>
        <a:graphic>
          <a:graphicData uri="http://schemas.openxmlformats.org/drawingml/2006/table">
            <a:tbl>
              <a:tblPr firstRow="1" firstCol="1" bandRow="1" bandCol="1"/>
              <a:tblGrid>
                <a:gridCol w="450776">
                  <a:extLst>
                    <a:ext uri="{9D8B030D-6E8A-4147-A177-3AD203B41FA5}">
                      <a16:colId xmlns:a16="http://schemas.microsoft.com/office/drawing/2014/main" val="501320810"/>
                    </a:ext>
                  </a:extLst>
                </a:gridCol>
                <a:gridCol w="2025129">
                  <a:extLst>
                    <a:ext uri="{9D8B030D-6E8A-4147-A177-3AD203B41FA5}">
                      <a16:colId xmlns:a16="http://schemas.microsoft.com/office/drawing/2014/main" val="2925718927"/>
                    </a:ext>
                  </a:extLst>
                </a:gridCol>
                <a:gridCol w="3523724">
                  <a:extLst>
                    <a:ext uri="{9D8B030D-6E8A-4147-A177-3AD203B41FA5}">
                      <a16:colId xmlns:a16="http://schemas.microsoft.com/office/drawing/2014/main" val="448210238"/>
                    </a:ext>
                  </a:extLst>
                </a:gridCol>
                <a:gridCol w="2660058">
                  <a:extLst>
                    <a:ext uri="{9D8B030D-6E8A-4147-A177-3AD203B41FA5}">
                      <a16:colId xmlns:a16="http://schemas.microsoft.com/office/drawing/2014/main" val="2367367304"/>
                    </a:ext>
                  </a:extLst>
                </a:gridCol>
              </a:tblGrid>
              <a:tr h="107950">
                <a:tc>
                  <a:txBody>
                    <a:bodyPr/>
                    <a:lstStyle/>
                    <a:p>
                      <a:pPr algn="ctr">
                        <a:lnSpc>
                          <a:spcPts val="3500"/>
                        </a:lnSpc>
                      </a:pPr>
                      <a:r>
                        <a:rPr lang="zh-TW" sz="2400" kern="100" dirty="0">
                          <a:solidFill>
                            <a:srgbClr val="000000"/>
                          </a:solidFill>
                          <a:effectLst/>
                          <a:latin typeface="標楷體" panose="03000509000000000000" pitchFamily="65" charset="-120"/>
                          <a:ea typeface="標楷體" panose="03000509000000000000" pitchFamily="65" charset="-120"/>
                        </a:rPr>
                        <a:t>編號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500"/>
                        </a:lnSpc>
                      </a:pPr>
                      <a:r>
                        <a:rPr lang="zh-TW" sz="2400" kern="100" dirty="0">
                          <a:solidFill>
                            <a:srgbClr val="000000"/>
                          </a:solidFill>
                          <a:effectLst/>
                          <a:latin typeface="標楷體" panose="03000509000000000000" pitchFamily="65" charset="-120"/>
                          <a:ea typeface="標楷體" panose="03000509000000000000" pitchFamily="65" charset="-120"/>
                        </a:rPr>
                        <a:t>活動項目</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500"/>
                        </a:lnSpc>
                      </a:pPr>
                      <a:r>
                        <a:rPr lang="zh-TW" sz="2400" kern="100">
                          <a:solidFill>
                            <a:srgbClr val="000000"/>
                          </a:solidFill>
                          <a:effectLst/>
                          <a:latin typeface="標楷體" panose="03000509000000000000" pitchFamily="65" charset="-120"/>
                          <a:ea typeface="標楷體" panose="03000509000000000000" pitchFamily="65" charset="-120"/>
                        </a:rPr>
                        <a:t>服務量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500"/>
                        </a:lnSpc>
                      </a:pPr>
                      <a:r>
                        <a:rPr lang="zh-TW" sz="2400" kern="100">
                          <a:solidFill>
                            <a:srgbClr val="000000"/>
                          </a:solidFill>
                          <a:effectLst/>
                          <a:latin typeface="標楷體" panose="03000509000000000000" pitchFamily="65" charset="-120"/>
                          <a:ea typeface="標楷體" panose="03000509000000000000" pitchFamily="65" charset="-120"/>
                        </a:rPr>
                        <a:t>評估方法</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9767780"/>
                  </a:ext>
                </a:extLst>
              </a:tr>
              <a:tr h="0">
                <a:tc>
                  <a:txBody>
                    <a:bodyPr/>
                    <a:lstStyle/>
                    <a:p>
                      <a:pPr algn="ctr">
                        <a:lnSpc>
                          <a:spcPts val="3500"/>
                        </a:lnSpc>
                      </a:pPr>
                      <a:r>
                        <a:rPr lang="en-US" sz="2400" kern="100">
                          <a:solidFill>
                            <a:srgbClr val="000000"/>
                          </a:solidFill>
                          <a:effectLst/>
                          <a:latin typeface="標楷體" panose="03000509000000000000" pitchFamily="65" charset="-120"/>
                          <a:ea typeface="標楷體" panose="03000509000000000000" pitchFamily="65" charset="-120"/>
                        </a:rPr>
                        <a:t>1</a:t>
                      </a:r>
                      <a:endParaRPr lang="zh-TW" sz="24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3500"/>
                        </a:lnSpc>
                      </a:pPr>
                      <a:r>
                        <a:rPr lang="zh-TW" sz="2400" kern="100">
                          <a:solidFill>
                            <a:srgbClr val="000000"/>
                          </a:solidFill>
                          <a:effectLst/>
                          <a:latin typeface="標楷體" panose="03000509000000000000" pitchFamily="65" charset="-120"/>
                          <a:ea typeface="標楷體" panose="03000509000000000000" pitchFamily="65" charset="-120"/>
                        </a:rPr>
                        <a:t>水電維修課程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5100" indent="-165100" algn="just">
                        <a:lnSpc>
                          <a:spcPts val="3500"/>
                        </a:lnSpc>
                      </a:pPr>
                      <a:r>
                        <a:rPr lang="zh-TW" sz="2400" kern="100" dirty="0">
                          <a:solidFill>
                            <a:srgbClr val="000000"/>
                          </a:solidFill>
                          <a:effectLst/>
                          <a:latin typeface="標楷體" panose="03000509000000000000" pitchFamily="65" charset="-120"/>
                          <a:ea typeface="標楷體" panose="03000509000000000000" pitchFamily="65" charset="-120"/>
                        </a:rPr>
                        <a:t>水電維修學習課程辦</a:t>
                      </a:r>
                      <a:r>
                        <a:rPr lang="en-US" sz="2400" kern="100" dirty="0">
                          <a:solidFill>
                            <a:srgbClr val="000000"/>
                          </a:solidFill>
                          <a:effectLst/>
                          <a:latin typeface="標楷體" panose="03000509000000000000" pitchFamily="65" charset="-120"/>
                          <a:ea typeface="標楷體" panose="03000509000000000000" pitchFamily="65" charset="-120"/>
                        </a:rPr>
                        <a:t>4</a:t>
                      </a:r>
                      <a:r>
                        <a:rPr lang="zh-TW" sz="2400" kern="100" dirty="0">
                          <a:solidFill>
                            <a:srgbClr val="000000"/>
                          </a:solidFill>
                          <a:effectLst/>
                          <a:latin typeface="標楷體" panose="03000509000000000000" pitchFamily="65" charset="-120"/>
                          <a:ea typeface="標楷體" panose="03000509000000000000" pitchFamily="65" charset="-120"/>
                        </a:rPr>
                        <a:t>場，每場</a:t>
                      </a:r>
                      <a:r>
                        <a:rPr lang="en-US" sz="2400" kern="100" dirty="0">
                          <a:solidFill>
                            <a:srgbClr val="000000"/>
                          </a:solidFill>
                          <a:effectLst/>
                          <a:latin typeface="標楷體" panose="03000509000000000000" pitchFamily="65" charset="-120"/>
                          <a:ea typeface="標楷體" panose="03000509000000000000" pitchFamily="65" charset="-120"/>
                        </a:rPr>
                        <a:t>30</a:t>
                      </a:r>
                      <a:r>
                        <a:rPr lang="zh-TW" sz="2400" kern="100" dirty="0">
                          <a:solidFill>
                            <a:srgbClr val="000000"/>
                          </a:solidFill>
                          <a:effectLst/>
                          <a:latin typeface="標楷體" panose="03000509000000000000" pitchFamily="65" charset="-120"/>
                          <a:ea typeface="標楷體" panose="03000509000000000000" pitchFamily="65" charset="-120"/>
                        </a:rPr>
                        <a:t>人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nSpc>
                          <a:spcPts val="3500"/>
                        </a:lnSpc>
                        <a:buFont typeface="+mj-lt"/>
                        <a:buAutoNum type="arabicPeriod"/>
                      </a:pPr>
                      <a:r>
                        <a:rPr lang="zh-TW" sz="2400" kern="100">
                          <a:solidFill>
                            <a:srgbClr val="000000"/>
                          </a:solidFill>
                          <a:effectLst/>
                          <a:latin typeface="標楷體" panose="03000509000000000000" pitchFamily="65" charset="-120"/>
                          <a:ea typeface="標楷體" panose="03000509000000000000" pitchFamily="65" charset="-120"/>
                        </a:rPr>
                        <a:t>滿意度調查</a:t>
                      </a:r>
                    </a:p>
                    <a:p>
                      <a:pPr marL="342900" lvl="0" indent="-342900">
                        <a:lnSpc>
                          <a:spcPts val="3500"/>
                        </a:lnSpc>
                        <a:buFont typeface="+mj-lt"/>
                        <a:buAutoNum type="arabicPeriod"/>
                      </a:pPr>
                      <a:r>
                        <a:rPr lang="zh-TW" sz="2400" kern="100">
                          <a:solidFill>
                            <a:srgbClr val="000000"/>
                          </a:solidFill>
                          <a:effectLst/>
                          <a:latin typeface="標楷體" panose="03000509000000000000" pitchFamily="65" charset="-120"/>
                          <a:ea typeface="標楷體" panose="03000509000000000000" pitchFamily="65" charset="-120"/>
                        </a:rPr>
                        <a:t>簽到表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3079516"/>
                  </a:ext>
                </a:extLst>
              </a:tr>
              <a:tr h="0">
                <a:tc>
                  <a:txBody>
                    <a:bodyPr/>
                    <a:lstStyle/>
                    <a:p>
                      <a:pPr algn="ctr">
                        <a:lnSpc>
                          <a:spcPts val="3500"/>
                        </a:lnSpc>
                      </a:pPr>
                      <a:r>
                        <a:rPr lang="en-US" sz="2400" kern="100">
                          <a:solidFill>
                            <a:srgbClr val="000000"/>
                          </a:solidFill>
                          <a:effectLst/>
                          <a:latin typeface="標楷體" panose="03000509000000000000" pitchFamily="65" charset="-120"/>
                          <a:ea typeface="標楷體" panose="03000509000000000000" pitchFamily="65" charset="-120"/>
                        </a:rPr>
                        <a:t>2</a:t>
                      </a:r>
                      <a:endParaRPr lang="zh-TW" sz="24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3500"/>
                        </a:lnSpc>
                      </a:pPr>
                      <a:r>
                        <a:rPr lang="zh-TW" sz="2400" kern="100">
                          <a:solidFill>
                            <a:srgbClr val="000000"/>
                          </a:solidFill>
                          <a:effectLst/>
                          <a:latin typeface="標楷體" panose="03000509000000000000" pitchFamily="65" charset="-120"/>
                          <a:ea typeface="標楷體" panose="03000509000000000000" pitchFamily="65" charset="-120"/>
                        </a:rPr>
                        <a:t>水電志工隊</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5100" indent="-165100" algn="just">
                        <a:lnSpc>
                          <a:spcPts val="3500"/>
                        </a:lnSpc>
                      </a:pPr>
                      <a:r>
                        <a:rPr lang="zh-TW" sz="2400" kern="100" dirty="0">
                          <a:solidFill>
                            <a:srgbClr val="000000"/>
                          </a:solidFill>
                          <a:effectLst/>
                          <a:latin typeface="標楷體" panose="03000509000000000000" pitchFamily="65" charset="-120"/>
                          <a:ea typeface="標楷體" panose="03000509000000000000" pitchFamily="65" charset="-120"/>
                        </a:rPr>
                        <a:t>預計每次出勤服務</a:t>
                      </a:r>
                      <a:r>
                        <a:rPr lang="en-US" sz="2400" kern="100" dirty="0">
                          <a:solidFill>
                            <a:srgbClr val="000000"/>
                          </a:solidFill>
                          <a:effectLst/>
                          <a:latin typeface="標楷體" panose="03000509000000000000" pitchFamily="65" charset="-120"/>
                          <a:ea typeface="標楷體" panose="03000509000000000000" pitchFamily="65" charset="-120"/>
                        </a:rPr>
                        <a:t>2-3</a:t>
                      </a:r>
                      <a:r>
                        <a:rPr lang="zh-TW" sz="2400" kern="100" dirty="0">
                          <a:solidFill>
                            <a:srgbClr val="000000"/>
                          </a:solidFill>
                          <a:effectLst/>
                          <a:latin typeface="標楷體" panose="03000509000000000000" pitchFamily="65" charset="-120"/>
                          <a:ea typeface="標楷體" panose="03000509000000000000" pitchFamily="65" charset="-120"/>
                        </a:rPr>
                        <a:t>戶，共服務約</a:t>
                      </a:r>
                      <a:r>
                        <a:rPr lang="en-US" sz="2400" kern="100" dirty="0">
                          <a:solidFill>
                            <a:srgbClr val="000000"/>
                          </a:solidFill>
                          <a:effectLst/>
                          <a:latin typeface="標楷體" panose="03000509000000000000" pitchFamily="65" charset="-120"/>
                          <a:ea typeface="標楷體" panose="03000509000000000000" pitchFamily="65" charset="-120"/>
                        </a:rPr>
                        <a:t>6-9</a:t>
                      </a:r>
                      <a:r>
                        <a:rPr lang="zh-TW" sz="2400" kern="100" dirty="0">
                          <a:solidFill>
                            <a:srgbClr val="000000"/>
                          </a:solidFill>
                          <a:effectLst/>
                          <a:latin typeface="標楷體" panose="03000509000000000000" pitchFamily="65" charset="-120"/>
                          <a:ea typeface="標楷體" panose="03000509000000000000" pitchFamily="65" charset="-120"/>
                        </a:rPr>
                        <a:t>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3500"/>
                        </a:lnSpc>
                      </a:pPr>
                      <a:r>
                        <a:rPr lang="en-US" sz="2400" kern="100" dirty="0">
                          <a:solidFill>
                            <a:srgbClr val="000000"/>
                          </a:solidFill>
                          <a:effectLst/>
                          <a:latin typeface="標楷體" panose="03000509000000000000" pitchFamily="65" charset="-120"/>
                          <a:ea typeface="標楷體" panose="03000509000000000000" pitchFamily="65" charset="-120"/>
                        </a:rPr>
                        <a:t>1.</a:t>
                      </a:r>
                      <a:r>
                        <a:rPr lang="zh-TW" sz="2400" kern="100" dirty="0">
                          <a:solidFill>
                            <a:srgbClr val="000000"/>
                          </a:solidFill>
                          <a:effectLst/>
                          <a:latin typeface="標楷體" panose="03000509000000000000" pitchFamily="65" charset="-120"/>
                          <a:ea typeface="標楷體" panose="03000509000000000000" pitchFamily="65" charset="-120"/>
                        </a:rPr>
                        <a:t>照片</a:t>
                      </a:r>
                    </a:p>
                    <a:p>
                      <a:pPr>
                        <a:lnSpc>
                          <a:spcPts val="3500"/>
                        </a:lnSpc>
                      </a:pPr>
                      <a:r>
                        <a:rPr lang="en-US" sz="2400" kern="100" dirty="0">
                          <a:solidFill>
                            <a:srgbClr val="000000"/>
                          </a:solidFill>
                          <a:effectLst/>
                          <a:latin typeface="標楷體" panose="03000509000000000000" pitchFamily="65" charset="-120"/>
                          <a:ea typeface="標楷體" panose="03000509000000000000" pitchFamily="65" charset="-120"/>
                        </a:rPr>
                        <a:t>2.</a:t>
                      </a:r>
                      <a:r>
                        <a:rPr lang="zh-TW" sz="2400" kern="100" dirty="0">
                          <a:solidFill>
                            <a:srgbClr val="000000"/>
                          </a:solidFill>
                          <a:effectLst/>
                          <a:latin typeface="標楷體" panose="03000509000000000000" pitchFamily="65" charset="-120"/>
                          <a:ea typeface="標楷體" panose="03000509000000000000" pitchFamily="65" charset="-120"/>
                        </a:rPr>
                        <a:t>簽到表</a:t>
                      </a:r>
                    </a:p>
                    <a:p>
                      <a:pPr>
                        <a:lnSpc>
                          <a:spcPts val="3500"/>
                        </a:lnSpc>
                      </a:pPr>
                      <a:r>
                        <a:rPr lang="en-US" sz="2400" kern="100" dirty="0">
                          <a:solidFill>
                            <a:srgbClr val="000000"/>
                          </a:solidFill>
                          <a:effectLst/>
                          <a:latin typeface="標楷體" panose="03000509000000000000" pitchFamily="65" charset="-120"/>
                          <a:ea typeface="標楷體" panose="03000509000000000000" pitchFamily="65" charset="-120"/>
                        </a:rPr>
                        <a:t>3.</a:t>
                      </a:r>
                      <a:r>
                        <a:rPr lang="zh-TW" sz="2400" kern="100" dirty="0">
                          <a:solidFill>
                            <a:srgbClr val="000000"/>
                          </a:solidFill>
                          <a:effectLst/>
                          <a:latin typeface="標楷體" panose="03000509000000000000" pitchFamily="65" charset="-120"/>
                          <a:ea typeface="標楷體" panose="03000509000000000000" pitchFamily="65" charset="-120"/>
                        </a:rPr>
                        <a:t>服務滿意問卷</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3733142"/>
                  </a:ext>
                </a:extLst>
              </a:tr>
            </a:tbl>
          </a:graphicData>
        </a:graphic>
      </p:graphicFrame>
    </p:spTree>
    <p:extLst>
      <p:ext uri="{BB962C8B-B14F-4D97-AF65-F5344CB8AC3E}">
        <p14:creationId xmlns:p14="http://schemas.microsoft.com/office/powerpoint/2010/main" val="1870393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37A14-3EA0-A5FD-AD49-1E893A6E108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7374A8F-8400-D7AE-8D19-83E29DD91760}"/>
              </a:ext>
            </a:extLst>
          </p:cNvPr>
          <p:cNvSpPr>
            <a:spLocks noGrp="1"/>
          </p:cNvSpPr>
          <p:nvPr>
            <p:ph type="title"/>
          </p:nvPr>
        </p:nvSpPr>
        <p:spPr/>
        <p:txBody>
          <a:bodyPr/>
          <a:lstStyle/>
          <a:p>
            <a:r>
              <a:rPr lang="zh-TW" altLang="en-US" dirty="0"/>
              <a:t>方案七：社區友愛＊轉動無礙</a:t>
            </a:r>
            <a:r>
              <a:rPr lang="en-US" altLang="zh-TW" dirty="0"/>
              <a:t>--</a:t>
            </a:r>
            <a:r>
              <a:rPr lang="zh-TW" altLang="en-US" dirty="0"/>
              <a:t>小旗艦社區報</a:t>
            </a:r>
          </a:p>
        </p:txBody>
      </p:sp>
      <p:sp>
        <p:nvSpPr>
          <p:cNvPr id="3" name="內容版面配置區 2">
            <a:extLst>
              <a:ext uri="{FF2B5EF4-FFF2-40B4-BE49-F238E27FC236}">
                <a16:creationId xmlns:a16="http://schemas.microsoft.com/office/drawing/2014/main" id="{D94CAF20-28BC-A793-1F67-BABD85808E19}"/>
              </a:ext>
            </a:extLst>
          </p:cNvPr>
          <p:cNvSpPr>
            <a:spLocks noGrp="1"/>
          </p:cNvSpPr>
          <p:nvPr>
            <p:ph idx="1"/>
          </p:nvPr>
        </p:nvSpPr>
        <p:spPr>
          <a:xfrm>
            <a:off x="3571354" y="643965"/>
            <a:ext cx="1848892" cy="461665"/>
          </a:xfrm>
        </p:spPr>
        <p:txBody>
          <a:bodyPr/>
          <a:lstStyle/>
          <a:p>
            <a:pPr marL="0" indent="0" algn="ctr">
              <a:buNone/>
            </a:pPr>
            <a:r>
              <a:rPr lang="zh-TW" altLang="en-US" sz="2800" b="1" dirty="0">
                <a:solidFill>
                  <a:srgbClr val="FF0000"/>
                </a:solidFill>
                <a:latin typeface="標楷體" pitchFamily="65" charset="-120"/>
                <a:ea typeface="標楷體" pitchFamily="65" charset="-120"/>
              </a:rPr>
              <a:t>方案內容</a:t>
            </a:r>
          </a:p>
        </p:txBody>
      </p:sp>
      <p:sp>
        <p:nvSpPr>
          <p:cNvPr id="5" name="矩形 4">
            <a:extLst>
              <a:ext uri="{FF2B5EF4-FFF2-40B4-BE49-F238E27FC236}">
                <a16:creationId xmlns:a16="http://schemas.microsoft.com/office/drawing/2014/main" id="{30B1D95F-FF2F-24FD-7FA7-CEB8D516F63F}"/>
              </a:ext>
            </a:extLst>
          </p:cNvPr>
          <p:cNvSpPr/>
          <p:nvPr/>
        </p:nvSpPr>
        <p:spPr>
          <a:xfrm>
            <a:off x="304800" y="1078985"/>
            <a:ext cx="3570208" cy="461665"/>
          </a:xfrm>
          <a:prstGeom prst="rect">
            <a:avLst/>
          </a:prstGeom>
        </p:spPr>
        <p:txBody>
          <a:bodyPr wrap="none">
            <a:spAutoFit/>
          </a:bodyPr>
          <a:lstStyle/>
          <a:p>
            <a:pPr marL="0" marR="0" lvl="0" indent="0" algn="l" defTabSz="914400" rtl="0" eaLnBrk="0" fontAlgn="base" latinLnBrk="0" hangingPunct="0">
              <a:lnSpc>
                <a:spcPct val="100000"/>
              </a:lnSpc>
              <a:spcBef>
                <a:spcPct val="20000"/>
              </a:spcBef>
              <a:spcAft>
                <a:spcPct val="0"/>
              </a:spcAft>
              <a:buClr>
                <a:srgbClr val="69AAB1"/>
              </a:buClr>
              <a:buSzTx/>
              <a:buFontTx/>
              <a:buNone/>
              <a:tabLst/>
              <a:defRPr/>
            </a:pPr>
            <a:r>
              <a:rPr kumimoji="0" lang="zh-TW" altLang="zh-TW" sz="2400" b="0" i="0" u="none" strike="noStrike" kern="0" cap="none" spc="0" normalizeH="0" baseline="0" noProof="0" dirty="0">
                <a:ln>
                  <a:noFill/>
                </a:ln>
                <a:solidFill>
                  <a:srgbClr val="000000"/>
                </a:solidFill>
                <a:effectLst/>
                <a:uLnTx/>
                <a:uFillTx/>
                <a:latin typeface="Arial"/>
                <a:ea typeface="標楷體"/>
                <a:cs typeface="Times New Roman"/>
              </a:rPr>
              <a:t>計畫類型：</a:t>
            </a:r>
            <a:r>
              <a:rPr kumimoji="0" lang="zh-TW" altLang="en-US" sz="2400" b="0" i="0" u="none" strike="noStrike" kern="0" cap="none" spc="0" normalizeH="0" baseline="0" noProof="0" dirty="0">
                <a:ln>
                  <a:noFill/>
                </a:ln>
                <a:solidFill>
                  <a:srgbClr val="000000"/>
                </a:solidFill>
                <a:effectLst/>
                <a:uLnTx/>
                <a:uFillTx/>
                <a:latin typeface="Arial"/>
                <a:ea typeface="標楷體"/>
                <a:cs typeface="Times New Roman"/>
              </a:rPr>
              <a:t>■協調宣傳類</a:t>
            </a:r>
            <a:endParaRPr kumimoji="0" lang="en-US" altLang="zh-TW" sz="2400" b="0" i="0" u="none" strike="noStrike" kern="0" cap="none" spc="0" normalizeH="0" baseline="0" noProof="0" dirty="0">
              <a:ln>
                <a:noFill/>
              </a:ln>
              <a:solidFill>
                <a:srgbClr val="000000"/>
              </a:solidFill>
              <a:effectLst/>
              <a:uLnTx/>
              <a:uFillTx/>
              <a:latin typeface="Arial"/>
              <a:ea typeface="標楷體"/>
              <a:cs typeface="Times New Roman"/>
            </a:endParaRPr>
          </a:p>
        </p:txBody>
      </p:sp>
      <p:sp>
        <p:nvSpPr>
          <p:cNvPr id="4" name="矩形 3">
            <a:extLst>
              <a:ext uri="{FF2B5EF4-FFF2-40B4-BE49-F238E27FC236}">
                <a16:creationId xmlns:a16="http://schemas.microsoft.com/office/drawing/2014/main" id="{75E20608-5B0F-B773-2143-26BD6854D4B3}"/>
              </a:ext>
            </a:extLst>
          </p:cNvPr>
          <p:cNvSpPr/>
          <p:nvPr/>
        </p:nvSpPr>
        <p:spPr>
          <a:xfrm>
            <a:off x="53752" y="1763858"/>
            <a:ext cx="9036496" cy="2296463"/>
          </a:xfrm>
          <a:prstGeom prst="rect">
            <a:avLst/>
          </a:prstGeom>
        </p:spPr>
        <p:txBody>
          <a:bodyPr wrap="square">
            <a:spAutoFit/>
          </a:bodyPr>
          <a:lstStyle/>
          <a:p>
            <a:pPr marL="622300" marR="0" lvl="0" indent="-279400" algn="just"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zh-TW" sz="2400" b="0" i="0" u="none" strike="noStrike" kern="100" cap="none" spc="0" normalizeH="0" baseline="0" noProof="0" dirty="0">
                <a:ln>
                  <a:noFill/>
                </a:ln>
                <a:solidFill>
                  <a:srgbClr val="000000"/>
                </a:solidFill>
                <a:effectLst/>
                <a:uLnTx/>
                <a:uFillTx/>
                <a:latin typeface="Arial"/>
                <a:ea typeface="標楷體" panose="03000509000000000000" pitchFamily="65" charset="-120"/>
                <a:cs typeface="Times New Roman" panose="02020603050405020304" pitchFamily="18" charset="0"/>
              </a:rPr>
              <a:t>籌組旗艦特刊編輯委員會，以聯合社區幹部為主要成員，成立旗艦特刊報導編輯委員會，收集旗艦活動資訊，刊載報導旗艦聯合社區相關活動集錦、志工活動、活動預告、成果報導、政令宣導等紀錄性質之文稿</a:t>
            </a:r>
            <a:r>
              <a:rPr kumimoji="0" lang="zh-TW" altLang="en-US" sz="2400" b="0" i="0" u="none" strike="noStrike" kern="100" cap="none" spc="0" normalizeH="0" baseline="0" noProof="0" dirty="0">
                <a:ln>
                  <a:noFill/>
                </a:ln>
                <a:solidFill>
                  <a:srgbClr val="000000"/>
                </a:solidFill>
                <a:effectLst/>
                <a:uLnTx/>
                <a:uFillTx/>
                <a:latin typeface="Arial"/>
                <a:ea typeface="標楷體" panose="03000509000000000000" pitchFamily="65" charset="-120"/>
                <a:cs typeface="Times New Roman" panose="02020603050405020304" pitchFamily="18" charset="0"/>
              </a:rPr>
              <a:t>。</a:t>
            </a:r>
            <a:endParaRPr kumimoji="0" lang="en-US" altLang="zh-TW" sz="2400" b="0" i="0" u="none" strike="noStrike" kern="100" cap="none" spc="0" normalizeH="0" baseline="0" noProof="0" dirty="0">
              <a:ln>
                <a:noFill/>
              </a:ln>
              <a:solidFill>
                <a:srgbClr val="000000"/>
              </a:solidFill>
              <a:effectLst/>
              <a:uLnTx/>
              <a:uFillTx/>
              <a:latin typeface="Arial"/>
              <a:ea typeface="標楷體" panose="03000509000000000000" pitchFamily="65" charset="-120"/>
              <a:cs typeface="Times New Roman" panose="02020603050405020304" pitchFamily="18" charset="0"/>
            </a:endParaRPr>
          </a:p>
          <a:p>
            <a:pPr marL="622300" marR="0" lvl="0" indent="-279400" algn="just"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a:ea typeface="標楷體" panose="03000509000000000000" pitchFamily="65" charset="-120"/>
                <a:cs typeface="Times New Roman" panose="02020603050405020304" pitchFamily="18" charset="0"/>
              </a:rPr>
              <a:t>2.</a:t>
            </a:r>
            <a:r>
              <a:rPr kumimoji="0" lang="zh-TW" altLang="en-US" sz="2400" b="0" i="0" u="none" strike="noStrike" kern="100" cap="none" spc="0" normalizeH="0" baseline="0" noProof="0" dirty="0">
                <a:ln>
                  <a:noFill/>
                </a:ln>
                <a:solidFill>
                  <a:srgbClr val="000000"/>
                </a:solidFill>
                <a:effectLst/>
                <a:uLnTx/>
                <a:uFillTx/>
                <a:latin typeface="Times New Roman"/>
                <a:ea typeface="標楷體" panose="03000509000000000000" pitchFamily="65" charset="-120"/>
                <a:cs typeface="Times New Roman" panose="02020603050405020304" pitchFamily="18" charset="0"/>
              </a:rPr>
              <a:t> </a:t>
            </a:r>
            <a:r>
              <a:rPr kumimoji="0" lang="en-US" altLang="zh-TW" sz="2400" b="0" i="0" u="none" strike="noStrike" kern="100" cap="none" spc="0" normalizeH="0" baseline="0" noProof="0" dirty="0">
                <a:ln>
                  <a:noFill/>
                </a:ln>
                <a:solidFill>
                  <a:srgbClr val="000000"/>
                </a:solidFill>
                <a:effectLst/>
                <a:uLnTx/>
                <a:uFillTx/>
                <a:latin typeface="Times New Roman"/>
                <a:ea typeface="標楷體" panose="03000509000000000000" pitchFamily="65" charset="-120"/>
                <a:cs typeface="Times New Roman" panose="02020603050405020304" pitchFamily="18" charset="0"/>
              </a:rPr>
              <a:t>114</a:t>
            </a:r>
            <a:r>
              <a:rPr kumimoji="0" lang="zh-TW" altLang="en-US" sz="2400" b="0" i="0" u="none" strike="noStrike" kern="100" cap="none" spc="0" normalizeH="0" baseline="0" noProof="0" dirty="0">
                <a:ln>
                  <a:noFill/>
                </a:ln>
                <a:solidFill>
                  <a:srgbClr val="000000"/>
                </a:solidFill>
                <a:effectLst/>
                <a:uLnTx/>
                <a:uFillTx/>
                <a:latin typeface="Times New Roman"/>
                <a:ea typeface="標楷體" panose="03000509000000000000" pitchFamily="65" charset="-120"/>
                <a:cs typeface="Times New Roman" panose="02020603050405020304" pitchFamily="18" charset="0"/>
              </a:rPr>
              <a:t>年計畫預計分上、下半年</a:t>
            </a:r>
            <a:r>
              <a:rPr kumimoji="0" lang="en-US" altLang="zh-TW" sz="2400" b="0" i="0" u="none" strike="noStrike" kern="100" cap="none" spc="0" normalizeH="0" baseline="0" noProof="0" dirty="0">
                <a:ln>
                  <a:noFill/>
                </a:ln>
                <a:solidFill>
                  <a:srgbClr val="000000"/>
                </a:solidFill>
                <a:effectLst/>
                <a:uLnTx/>
                <a:uFillTx/>
                <a:latin typeface="Times New Roman"/>
                <a:ea typeface="標楷體" panose="03000509000000000000" pitchFamily="65" charset="-120"/>
                <a:cs typeface="Times New Roman" panose="02020603050405020304" pitchFamily="18" charset="0"/>
              </a:rPr>
              <a:t>2</a:t>
            </a:r>
            <a:r>
              <a:rPr kumimoji="0" lang="zh-TW" altLang="en-US" sz="2400" b="0" i="0" u="none" strike="noStrike" kern="100" cap="none" spc="0" normalizeH="0" baseline="0" noProof="0" dirty="0">
                <a:ln>
                  <a:noFill/>
                </a:ln>
                <a:solidFill>
                  <a:srgbClr val="000000"/>
                </a:solidFill>
                <a:effectLst/>
                <a:uLnTx/>
                <a:uFillTx/>
                <a:latin typeface="Times New Roman"/>
                <a:ea typeface="標楷體" panose="03000509000000000000" pitchFamily="65" charset="-120"/>
                <a:cs typeface="Times New Roman" panose="02020603050405020304" pitchFamily="18" charset="0"/>
              </a:rPr>
              <a:t>期出版。</a:t>
            </a:r>
            <a:endPar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endParaRPr>
          </a:p>
        </p:txBody>
      </p:sp>
      <p:graphicFrame>
        <p:nvGraphicFramePr>
          <p:cNvPr id="6" name="表格 5">
            <a:extLst>
              <a:ext uri="{FF2B5EF4-FFF2-40B4-BE49-F238E27FC236}">
                <a16:creationId xmlns:a16="http://schemas.microsoft.com/office/drawing/2014/main" id="{05002F79-1AE4-C511-69DD-5D83C30A2C58}"/>
              </a:ext>
            </a:extLst>
          </p:cNvPr>
          <p:cNvGraphicFramePr>
            <a:graphicFrameLocks noGrp="1"/>
          </p:cNvGraphicFramePr>
          <p:nvPr/>
        </p:nvGraphicFramePr>
        <p:xfrm>
          <a:off x="1202556" y="4340863"/>
          <a:ext cx="6738888" cy="2164758"/>
        </p:xfrm>
        <a:graphic>
          <a:graphicData uri="http://schemas.openxmlformats.org/drawingml/2006/table">
            <a:tbl>
              <a:tblPr firstRow="1" firstCol="1" bandRow="1" bandCol="1"/>
              <a:tblGrid>
                <a:gridCol w="3506823">
                  <a:extLst>
                    <a:ext uri="{9D8B030D-6E8A-4147-A177-3AD203B41FA5}">
                      <a16:colId xmlns:a16="http://schemas.microsoft.com/office/drawing/2014/main" val="2862183764"/>
                    </a:ext>
                  </a:extLst>
                </a:gridCol>
                <a:gridCol w="3232065">
                  <a:extLst>
                    <a:ext uri="{9D8B030D-6E8A-4147-A177-3AD203B41FA5}">
                      <a16:colId xmlns:a16="http://schemas.microsoft.com/office/drawing/2014/main" val="3265896418"/>
                    </a:ext>
                  </a:extLst>
                </a:gridCol>
              </a:tblGrid>
              <a:tr h="360793">
                <a:tc>
                  <a:txBody>
                    <a:bodyPr/>
                    <a:lstStyle/>
                    <a:p>
                      <a:pPr algn="ctr"/>
                      <a:r>
                        <a:rPr lang="zh-TW" sz="1800" b="1" kern="100" dirty="0">
                          <a:solidFill>
                            <a:srgbClr val="000000"/>
                          </a:solidFill>
                          <a:effectLst/>
                          <a:latin typeface="Times New Roman" panose="02020603050405020304" pitchFamily="18" charset="0"/>
                          <a:ea typeface="標楷體" panose="03000509000000000000" pitchFamily="65" charset="-120"/>
                        </a:rPr>
                        <a:t>所屬社區</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zh-TW" sz="1800" b="1" kern="100">
                          <a:solidFill>
                            <a:srgbClr val="000000"/>
                          </a:solidFill>
                          <a:effectLst/>
                          <a:latin typeface="Times New Roman" panose="02020603050405020304" pitchFamily="18" charset="0"/>
                          <a:ea typeface="標楷體" panose="03000509000000000000" pitchFamily="65" charset="-120"/>
                        </a:rPr>
                        <a:t>委員會委員</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0414480"/>
                  </a:ext>
                </a:extLst>
              </a:tr>
              <a:tr h="360793">
                <a:tc>
                  <a:txBody>
                    <a:bodyPr/>
                    <a:lstStyle/>
                    <a:p>
                      <a:pPr algn="just"/>
                      <a:r>
                        <a:rPr lang="zh-TW" sz="1800" kern="100" dirty="0">
                          <a:solidFill>
                            <a:srgbClr val="000000"/>
                          </a:solidFill>
                          <a:effectLst/>
                          <a:latin typeface="Times New Roman" panose="02020603050405020304" pitchFamily="18" charset="0"/>
                          <a:ea typeface="標楷體" panose="03000509000000000000" pitchFamily="65" charset="-120"/>
                        </a:rPr>
                        <a:t>南投縣竹山鎮富州社區發展協會</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zh-TW" sz="1800" kern="100">
                          <a:solidFill>
                            <a:srgbClr val="000000"/>
                          </a:solidFill>
                          <a:effectLst/>
                          <a:latin typeface="Times New Roman" panose="02020603050405020304" pitchFamily="18" charset="0"/>
                          <a:ea typeface="標楷體" panose="03000509000000000000" pitchFamily="65" charset="-120"/>
                        </a:rPr>
                        <a:t>楊麗娜、陳朝焚</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9682939"/>
                  </a:ext>
                </a:extLst>
              </a:tr>
              <a:tr h="360793">
                <a:tc>
                  <a:txBody>
                    <a:bodyPr/>
                    <a:lstStyle/>
                    <a:p>
                      <a:pPr algn="just"/>
                      <a:r>
                        <a:rPr lang="zh-TW" sz="1800" kern="100" dirty="0">
                          <a:solidFill>
                            <a:srgbClr val="000000"/>
                          </a:solidFill>
                          <a:effectLst/>
                          <a:latin typeface="Times New Roman" panose="02020603050405020304" pitchFamily="18" charset="0"/>
                          <a:ea typeface="標楷體" panose="03000509000000000000" pitchFamily="65" charset="-120"/>
                        </a:rPr>
                        <a:t>南投縣竹山鎮中央社區發展協會</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zh-TW" sz="1800" kern="100">
                          <a:solidFill>
                            <a:srgbClr val="000000"/>
                          </a:solidFill>
                          <a:effectLst/>
                          <a:latin typeface="Times New Roman" panose="02020603050405020304" pitchFamily="18" charset="0"/>
                          <a:ea typeface="標楷體" panose="03000509000000000000" pitchFamily="65" charset="-120"/>
                        </a:rPr>
                        <a:t>曾金水、曾文哲</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0433292"/>
                  </a:ext>
                </a:extLst>
              </a:tr>
              <a:tr h="360793">
                <a:tc>
                  <a:txBody>
                    <a:bodyPr/>
                    <a:lstStyle/>
                    <a:p>
                      <a:pPr algn="just"/>
                      <a:r>
                        <a:rPr lang="zh-TW" sz="1800" kern="100" dirty="0">
                          <a:solidFill>
                            <a:srgbClr val="000000"/>
                          </a:solidFill>
                          <a:effectLst/>
                          <a:latin typeface="Times New Roman" panose="02020603050405020304" pitchFamily="18" charset="0"/>
                          <a:ea typeface="標楷體" panose="03000509000000000000" pitchFamily="65" charset="-120"/>
                        </a:rPr>
                        <a:t>南投縣竹山鎮社寮社區發展協會</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zh-TW" sz="1800" kern="100">
                          <a:solidFill>
                            <a:srgbClr val="000000"/>
                          </a:solidFill>
                          <a:effectLst/>
                          <a:latin typeface="Times New Roman" panose="02020603050405020304" pitchFamily="18" charset="0"/>
                          <a:ea typeface="標楷體" panose="03000509000000000000" pitchFamily="65" charset="-120"/>
                        </a:rPr>
                        <a:t>莊竣發</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144212"/>
                  </a:ext>
                </a:extLst>
              </a:tr>
              <a:tr h="360793">
                <a:tc>
                  <a:txBody>
                    <a:bodyPr/>
                    <a:lstStyle/>
                    <a:p>
                      <a:pPr algn="just"/>
                      <a:r>
                        <a:rPr lang="zh-TW" sz="1800" kern="100">
                          <a:solidFill>
                            <a:srgbClr val="000000"/>
                          </a:solidFill>
                          <a:effectLst/>
                          <a:latin typeface="Times New Roman" panose="02020603050405020304" pitchFamily="18" charset="0"/>
                          <a:ea typeface="標楷體" panose="03000509000000000000" pitchFamily="65" charset="-120"/>
                        </a:rPr>
                        <a:t>南投縣竹山鎮山崇社區發展協會</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zh-TW" sz="1800" kern="100" dirty="0">
                          <a:solidFill>
                            <a:srgbClr val="000000"/>
                          </a:solidFill>
                          <a:effectLst/>
                          <a:latin typeface="Times New Roman" panose="02020603050405020304" pitchFamily="18" charset="0"/>
                          <a:ea typeface="標楷體" panose="03000509000000000000" pitchFamily="65" charset="-120"/>
                        </a:rPr>
                        <a:t>吳心如</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432270"/>
                  </a:ext>
                </a:extLst>
              </a:tr>
              <a:tr h="360793">
                <a:tc>
                  <a:txBody>
                    <a:bodyPr/>
                    <a:lstStyle/>
                    <a:p>
                      <a:pPr algn="just"/>
                      <a:r>
                        <a:rPr lang="zh-TW" sz="1800" kern="100">
                          <a:solidFill>
                            <a:srgbClr val="000000"/>
                          </a:solidFill>
                          <a:effectLst/>
                          <a:latin typeface="Times New Roman" panose="02020603050405020304" pitchFamily="18" charset="0"/>
                          <a:ea typeface="標楷體" panose="03000509000000000000" pitchFamily="65" charset="-120"/>
                        </a:rPr>
                        <a:t>南投縣竹山鎮中崎社區發展協會</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zh-TW" sz="1800" kern="100" dirty="0">
                          <a:solidFill>
                            <a:srgbClr val="000000"/>
                          </a:solidFill>
                          <a:effectLst/>
                          <a:latin typeface="Times New Roman" panose="02020603050405020304" pitchFamily="18" charset="0"/>
                          <a:ea typeface="標楷體" panose="03000509000000000000" pitchFamily="65" charset="-120"/>
                        </a:rPr>
                        <a:t>陳聰昭、林志豪</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8296919"/>
                  </a:ext>
                </a:extLst>
              </a:tr>
            </a:tbl>
          </a:graphicData>
        </a:graphic>
      </p:graphicFrame>
    </p:spTree>
    <p:extLst>
      <p:ext uri="{BB962C8B-B14F-4D97-AF65-F5344CB8AC3E}">
        <p14:creationId xmlns:p14="http://schemas.microsoft.com/office/powerpoint/2010/main" val="20280286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035AA-AA58-5EA9-2F84-C0176954041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24313AC-B8DF-BE69-7166-E4D5E32B9909}"/>
              </a:ext>
            </a:extLst>
          </p:cNvPr>
          <p:cNvSpPr>
            <a:spLocks noGrp="1"/>
          </p:cNvSpPr>
          <p:nvPr>
            <p:ph type="title"/>
          </p:nvPr>
        </p:nvSpPr>
        <p:spPr/>
        <p:txBody>
          <a:bodyPr/>
          <a:lstStyle/>
          <a:p>
            <a:r>
              <a:rPr lang="zh-TW" altLang="en-US" dirty="0"/>
              <a:t>方案七：社區友愛＊轉動無礙</a:t>
            </a:r>
            <a:r>
              <a:rPr lang="en-US" altLang="zh-TW" dirty="0"/>
              <a:t>--</a:t>
            </a:r>
            <a:r>
              <a:rPr lang="zh-TW" altLang="en-US" dirty="0"/>
              <a:t>小旗艦社區報</a:t>
            </a:r>
          </a:p>
        </p:txBody>
      </p:sp>
      <p:sp>
        <p:nvSpPr>
          <p:cNvPr id="3" name="內容版面配置區 2">
            <a:extLst>
              <a:ext uri="{FF2B5EF4-FFF2-40B4-BE49-F238E27FC236}">
                <a16:creationId xmlns:a16="http://schemas.microsoft.com/office/drawing/2014/main" id="{2BB527D6-64B4-48CC-C49B-2FC3941FD0A6}"/>
              </a:ext>
            </a:extLst>
          </p:cNvPr>
          <p:cNvSpPr>
            <a:spLocks noGrp="1"/>
          </p:cNvSpPr>
          <p:nvPr>
            <p:ph idx="1"/>
          </p:nvPr>
        </p:nvSpPr>
        <p:spPr>
          <a:xfrm>
            <a:off x="3571354" y="643965"/>
            <a:ext cx="1848892" cy="461665"/>
          </a:xfrm>
        </p:spPr>
        <p:txBody>
          <a:bodyPr/>
          <a:lstStyle/>
          <a:p>
            <a:pPr marL="0" indent="0" algn="ctr">
              <a:buNone/>
            </a:pPr>
            <a:r>
              <a:rPr lang="zh-TW" altLang="en-US" sz="2800" b="1" dirty="0">
                <a:solidFill>
                  <a:srgbClr val="FF0000"/>
                </a:solidFill>
                <a:latin typeface="標楷體" pitchFamily="65" charset="-120"/>
                <a:ea typeface="標楷體" pitchFamily="65" charset="-120"/>
              </a:rPr>
              <a:t>內容規劃</a:t>
            </a:r>
          </a:p>
        </p:txBody>
      </p:sp>
      <p:graphicFrame>
        <p:nvGraphicFramePr>
          <p:cNvPr id="8" name="表格 7">
            <a:extLst>
              <a:ext uri="{FF2B5EF4-FFF2-40B4-BE49-F238E27FC236}">
                <a16:creationId xmlns:a16="http://schemas.microsoft.com/office/drawing/2014/main" id="{9CAA4D99-5584-07D9-77A4-D810B2D4FD70}"/>
              </a:ext>
            </a:extLst>
          </p:cNvPr>
          <p:cNvGraphicFramePr>
            <a:graphicFrameLocks noGrp="1"/>
          </p:cNvGraphicFramePr>
          <p:nvPr/>
        </p:nvGraphicFramePr>
        <p:xfrm>
          <a:off x="280256" y="2689668"/>
          <a:ext cx="8583487" cy="1747444"/>
        </p:xfrm>
        <a:graphic>
          <a:graphicData uri="http://schemas.openxmlformats.org/drawingml/2006/table">
            <a:tbl>
              <a:tblPr firstRow="1" firstCol="1" bandRow="1" bandCol="1"/>
              <a:tblGrid>
                <a:gridCol w="691789">
                  <a:extLst>
                    <a:ext uri="{9D8B030D-6E8A-4147-A177-3AD203B41FA5}">
                      <a16:colId xmlns:a16="http://schemas.microsoft.com/office/drawing/2014/main" val="286971673"/>
                    </a:ext>
                  </a:extLst>
                </a:gridCol>
                <a:gridCol w="2692587">
                  <a:extLst>
                    <a:ext uri="{9D8B030D-6E8A-4147-A177-3AD203B41FA5}">
                      <a16:colId xmlns:a16="http://schemas.microsoft.com/office/drawing/2014/main" val="570434394"/>
                    </a:ext>
                  </a:extLst>
                </a:gridCol>
                <a:gridCol w="2664296">
                  <a:extLst>
                    <a:ext uri="{9D8B030D-6E8A-4147-A177-3AD203B41FA5}">
                      <a16:colId xmlns:a16="http://schemas.microsoft.com/office/drawing/2014/main" val="3288455986"/>
                    </a:ext>
                  </a:extLst>
                </a:gridCol>
                <a:gridCol w="2534815">
                  <a:extLst>
                    <a:ext uri="{9D8B030D-6E8A-4147-A177-3AD203B41FA5}">
                      <a16:colId xmlns:a16="http://schemas.microsoft.com/office/drawing/2014/main" val="1824715738"/>
                    </a:ext>
                  </a:extLst>
                </a:gridCol>
              </a:tblGrid>
              <a:tr h="873722">
                <a:tc>
                  <a:txBody>
                    <a:bodyPr/>
                    <a:lstStyle/>
                    <a:p>
                      <a:pPr algn="ctr">
                        <a:lnSpc>
                          <a:spcPts val="3000"/>
                        </a:lnSpc>
                      </a:pPr>
                      <a:r>
                        <a:rPr lang="zh-TW" sz="2400" kern="100" dirty="0">
                          <a:solidFill>
                            <a:srgbClr val="000000"/>
                          </a:solidFill>
                          <a:effectLst/>
                          <a:latin typeface="Times New Roman" panose="02020603050405020304" pitchFamily="18" charset="0"/>
                          <a:ea typeface="標楷體" panose="03000509000000000000" pitchFamily="65" charset="-120"/>
                        </a:rPr>
                        <a:t>編號</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zh-TW" sz="2400" kern="100" dirty="0">
                          <a:solidFill>
                            <a:srgbClr val="000000"/>
                          </a:solidFill>
                          <a:effectLst/>
                          <a:latin typeface="Times New Roman" panose="02020603050405020304" pitchFamily="18" charset="0"/>
                          <a:ea typeface="標楷體" panose="03000509000000000000" pitchFamily="65" charset="-120"/>
                        </a:rPr>
                        <a:t>活動項目</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zh-TW" sz="2400" kern="100">
                          <a:solidFill>
                            <a:srgbClr val="000000"/>
                          </a:solidFill>
                          <a:effectLst/>
                          <a:latin typeface="Times New Roman" panose="02020603050405020304" pitchFamily="18" charset="0"/>
                          <a:ea typeface="標楷體" panose="03000509000000000000" pitchFamily="65" charset="-120"/>
                        </a:rPr>
                        <a:t>服務量</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zh-TW" sz="2400" kern="100" dirty="0">
                          <a:solidFill>
                            <a:srgbClr val="000000"/>
                          </a:solidFill>
                          <a:effectLst/>
                          <a:latin typeface="Times New Roman" panose="02020603050405020304" pitchFamily="18" charset="0"/>
                          <a:ea typeface="標楷體" panose="03000509000000000000" pitchFamily="65" charset="-120"/>
                        </a:rPr>
                        <a:t>評估方法</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7048969"/>
                  </a:ext>
                </a:extLst>
              </a:tr>
              <a:tr h="873722">
                <a:tc>
                  <a:txBody>
                    <a:bodyPr/>
                    <a:lstStyle/>
                    <a:p>
                      <a:pPr algn="ctr">
                        <a:lnSpc>
                          <a:spcPts val="3000"/>
                        </a:lnSpc>
                      </a:pPr>
                      <a:r>
                        <a:rPr lang="en-US" sz="2400" kern="100">
                          <a:solidFill>
                            <a:srgbClr val="000000"/>
                          </a:solidFill>
                          <a:effectLst/>
                          <a:latin typeface="標楷體" panose="03000509000000000000" pitchFamily="65" charset="-120"/>
                          <a:ea typeface="新細明體" panose="02020500000000000000" pitchFamily="18" charset="-120"/>
                        </a:rPr>
                        <a:t>1</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3000"/>
                        </a:lnSpc>
                      </a:pPr>
                      <a:r>
                        <a:rPr lang="zh-TW" sz="2400" kern="100">
                          <a:solidFill>
                            <a:srgbClr val="000000"/>
                          </a:solidFill>
                          <a:effectLst/>
                          <a:latin typeface="Times New Roman" panose="02020603050405020304" pitchFamily="18" charset="0"/>
                          <a:ea typeface="標楷體" panose="03000509000000000000" pitchFamily="65" charset="-120"/>
                        </a:rPr>
                        <a:t>社區友愛＊轉動無礙</a:t>
                      </a:r>
                      <a:r>
                        <a:rPr lang="en-US" sz="2400" kern="100">
                          <a:solidFill>
                            <a:srgbClr val="000000"/>
                          </a:solidFill>
                          <a:effectLst/>
                          <a:latin typeface="Times New Roman" panose="02020603050405020304" pitchFamily="18" charset="0"/>
                          <a:ea typeface="標楷體" panose="03000509000000000000" pitchFamily="65" charset="-120"/>
                        </a:rPr>
                        <a:t>-</a:t>
                      </a:r>
                      <a:r>
                        <a:rPr lang="zh-TW" sz="2400" kern="100">
                          <a:solidFill>
                            <a:srgbClr val="000000"/>
                          </a:solidFill>
                          <a:effectLst/>
                          <a:latin typeface="Times New Roman" panose="02020603050405020304" pitchFamily="18" charset="0"/>
                          <a:ea typeface="標楷體" panose="03000509000000000000" pitchFamily="65" charset="-120"/>
                        </a:rPr>
                        <a:t>小旗艦社區報</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3000"/>
                        </a:lnSpc>
                      </a:pPr>
                      <a:r>
                        <a:rPr lang="en-US" sz="2400" kern="100" dirty="0">
                          <a:solidFill>
                            <a:srgbClr val="000000"/>
                          </a:solidFill>
                          <a:effectLst/>
                          <a:latin typeface="標楷體" panose="03000509000000000000" pitchFamily="65" charset="-120"/>
                          <a:ea typeface="新細明體" panose="02020500000000000000" pitchFamily="18" charset="-120"/>
                        </a:rPr>
                        <a:t>5</a:t>
                      </a:r>
                      <a:r>
                        <a:rPr lang="zh-TW" sz="2400" kern="100" dirty="0">
                          <a:solidFill>
                            <a:srgbClr val="000000"/>
                          </a:solidFill>
                          <a:effectLst/>
                          <a:latin typeface="Times New Roman" panose="02020603050405020304" pitchFamily="18" charset="0"/>
                          <a:ea typeface="標楷體" panose="03000509000000000000" pitchFamily="65" charset="-120"/>
                        </a:rPr>
                        <a:t>社區</a:t>
                      </a:r>
                      <a:r>
                        <a:rPr lang="en-US" sz="2400" kern="100" dirty="0">
                          <a:solidFill>
                            <a:srgbClr val="000000"/>
                          </a:solidFill>
                          <a:effectLst/>
                          <a:latin typeface="Times New Roman" panose="02020603050405020304" pitchFamily="18" charset="0"/>
                          <a:ea typeface="標楷體" panose="03000509000000000000" pitchFamily="65" charset="-120"/>
                        </a:rPr>
                        <a:t>*100</a:t>
                      </a:r>
                      <a:r>
                        <a:rPr lang="zh-TW" sz="2400" kern="100" dirty="0">
                          <a:solidFill>
                            <a:srgbClr val="000000"/>
                          </a:solidFill>
                          <a:effectLst/>
                          <a:latin typeface="Times New Roman" panose="02020603050405020304" pitchFamily="18" charset="0"/>
                          <a:ea typeface="標楷體" panose="03000509000000000000" pitchFamily="65" charset="-120"/>
                        </a:rPr>
                        <a:t>份</a:t>
                      </a:r>
                      <a:r>
                        <a:rPr lang="en-US" sz="2400" kern="100" dirty="0">
                          <a:solidFill>
                            <a:srgbClr val="000000"/>
                          </a:solidFill>
                          <a:effectLst/>
                          <a:latin typeface="Times New Roman" panose="02020603050405020304" pitchFamily="18" charset="0"/>
                          <a:ea typeface="標楷體" panose="03000509000000000000" pitchFamily="65" charset="-120"/>
                        </a:rPr>
                        <a:t>*2</a:t>
                      </a:r>
                      <a:r>
                        <a:rPr lang="zh-TW" sz="2400" kern="100" dirty="0">
                          <a:solidFill>
                            <a:srgbClr val="000000"/>
                          </a:solidFill>
                          <a:effectLst/>
                          <a:latin typeface="Times New Roman" panose="02020603050405020304" pitchFamily="18" charset="0"/>
                          <a:ea typeface="標楷體" panose="03000509000000000000" pitchFamily="65" charset="-120"/>
                        </a:rPr>
                        <a:t>期</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3000"/>
                        </a:lnSpc>
                      </a:pPr>
                      <a:r>
                        <a:rPr lang="zh-TW" sz="2400" kern="100" dirty="0">
                          <a:solidFill>
                            <a:srgbClr val="000000"/>
                          </a:solidFill>
                          <a:effectLst/>
                          <a:latin typeface="Times New Roman" panose="02020603050405020304" pitchFamily="18" charset="0"/>
                          <a:ea typeface="標楷體" panose="03000509000000000000" pitchFamily="65" charset="-120"/>
                        </a:rPr>
                        <a:t>出版社區報</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5361622"/>
                  </a:ext>
                </a:extLst>
              </a:tr>
            </a:tbl>
          </a:graphicData>
        </a:graphic>
      </p:graphicFrame>
    </p:spTree>
    <p:extLst>
      <p:ext uri="{BB962C8B-B14F-4D97-AF65-F5344CB8AC3E}">
        <p14:creationId xmlns:p14="http://schemas.microsoft.com/office/powerpoint/2010/main" val="34374277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D0EAEA3B-7473-CB4D-91F9-62682D65BB09}"/>
              </a:ext>
            </a:extLst>
          </p:cNvPr>
          <p:cNvPicPr>
            <a:picLocks noChangeAspect="1"/>
          </p:cNvPicPr>
          <p:nvPr/>
        </p:nvPicPr>
        <p:blipFill>
          <a:blip r:embed="rId3">
            <a:extLst>
              <a:ext uri="{28A0092B-C50C-407E-A947-70E740481C1C}">
                <a14:useLocalDpi xmlns:a14="http://schemas.microsoft.com/office/drawing/2010/main" val="0"/>
              </a:ext>
            </a:extLst>
          </a:blip>
          <a:srcRect l="253" t="35153" r="-253" b="2657"/>
          <a:stretch>
            <a:fillRect/>
          </a:stretch>
        </p:blipFill>
        <p:spPr>
          <a:xfrm>
            <a:off x="0" y="2556026"/>
            <a:ext cx="9252520" cy="4315602"/>
          </a:xfrm>
          <a:prstGeom prst="rect">
            <a:avLst/>
          </a:prstGeom>
        </p:spPr>
      </p:pic>
      <p:sp>
        <p:nvSpPr>
          <p:cNvPr id="4" name="矩形 3"/>
          <p:cNvSpPr/>
          <p:nvPr/>
        </p:nvSpPr>
        <p:spPr>
          <a:xfrm>
            <a:off x="402643" y="5805264"/>
            <a:ext cx="8550696" cy="904863"/>
          </a:xfrm>
          <a:prstGeom prst="rect">
            <a:avLst/>
          </a:prstGeom>
        </p:spPr>
        <p:txBody>
          <a:bodyPr wrap="square">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zh-TW" altLang="en-US" sz="2400" b="1" i="0" u="none" strike="noStrike" kern="1200" cap="none" spc="0" normalizeH="0" baseline="0" noProof="0" dirty="0">
                <a:ln>
                  <a:noFill/>
                </a:ln>
                <a:solidFill>
                  <a:srgbClr val="FFFF00"/>
                </a:solidFill>
                <a:effectLst/>
                <a:uLnTx/>
                <a:uFillTx/>
                <a:latin typeface="標楷體" panose="03000509000000000000" pitchFamily="65" charset="-120"/>
                <a:ea typeface="標楷體" panose="03000509000000000000" pitchFamily="65" charset="-120"/>
                <a:cs typeface="+mn-cs"/>
              </a:rPr>
              <a:t>簡報人：社團法人南投縣竹山鎮富州社區發展協會</a:t>
            </a:r>
            <a:endParaRPr kumimoji="0" lang="en-US" altLang="zh-TW" sz="2400" b="1" i="0" u="none" strike="noStrike" kern="1200" cap="none" spc="0" normalizeH="0" baseline="0" noProof="0" dirty="0">
              <a:ln>
                <a:noFill/>
              </a:ln>
              <a:solidFill>
                <a:srgbClr val="FFFF00"/>
              </a:solidFill>
              <a:effectLst/>
              <a:uLnTx/>
              <a:uFillTx/>
              <a:latin typeface="標楷體" panose="03000509000000000000" pitchFamily="65" charset="-120"/>
              <a:ea typeface="標楷體" panose="03000509000000000000" pitchFamily="65" charset="-120"/>
              <a:cs typeface="+mn-cs"/>
            </a:endParaRPr>
          </a:p>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zh-TW" altLang="en-US" sz="2400" b="1" i="0" u="none" strike="noStrike" kern="1200" cap="none" spc="0" normalizeH="0" baseline="0" noProof="0" dirty="0">
                <a:ln>
                  <a:noFill/>
                </a:ln>
                <a:solidFill>
                  <a:srgbClr val="FFFF00"/>
                </a:solidFill>
                <a:effectLst/>
                <a:uLnTx/>
                <a:uFillTx/>
                <a:latin typeface="標楷體" panose="03000509000000000000" pitchFamily="65" charset="-120"/>
                <a:ea typeface="標楷體" panose="03000509000000000000" pitchFamily="65" charset="-120"/>
                <a:cs typeface="+mn-cs"/>
              </a:rPr>
              <a:t>社工員 林珈瑩</a:t>
            </a:r>
            <a:endParaRPr kumimoji="0" lang="en-US" altLang="zh-TW" sz="2400" b="1" i="0" u="none" strike="noStrike" kern="1200" cap="none" spc="0" normalizeH="0" baseline="0" noProof="0" dirty="0">
              <a:ln>
                <a:noFill/>
              </a:ln>
              <a:solidFill>
                <a:srgbClr val="FFFF00"/>
              </a:solidFill>
              <a:effectLst/>
              <a:uLnTx/>
              <a:uFillTx/>
              <a:latin typeface="標楷體" panose="03000509000000000000" pitchFamily="65" charset="-120"/>
              <a:ea typeface="標楷體" panose="03000509000000000000" pitchFamily="65" charset="-120"/>
              <a:cs typeface="+mn-cs"/>
            </a:endParaRPr>
          </a:p>
        </p:txBody>
      </p:sp>
      <p:sp>
        <p:nvSpPr>
          <p:cNvPr id="12" name="WordArt 12"/>
          <p:cNvSpPr>
            <a:spLocks noChangeArrowheads="1" noChangeShapeType="1" noTextEdit="1"/>
          </p:cNvSpPr>
          <p:nvPr/>
        </p:nvSpPr>
        <p:spPr bwMode="auto">
          <a:xfrm>
            <a:off x="539551" y="116633"/>
            <a:ext cx="8276881" cy="648071"/>
          </a:xfrm>
          <a:prstGeom prst="rect">
            <a:avLst/>
          </a:prstGeom>
        </p:spPr>
        <p:txBody>
          <a:bodyPr wrap="none" fromWordArt="1">
            <a:prstTxWarp prst="textPlain">
              <a:avLst>
                <a:gd name="adj" fmla="val 50000"/>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TW" altLang="en-US" sz="3600" b="0" i="0" u="none" strike="noStrike" kern="10" cap="none" spc="0" normalizeH="0" baseline="0" noProof="0" dirty="0">
                <a:ln w="19050">
                  <a:solidFill>
                    <a:srgbClr val="0000FF"/>
                  </a:solidFill>
                  <a:round/>
                  <a:headEnd/>
                  <a:tailEnd/>
                </a:ln>
                <a:solidFill>
                  <a:srgbClr val="0066CC"/>
                </a:solidFill>
                <a:effectLst>
                  <a:outerShdw dist="35921" dir="2700000" algn="ctr" rotWithShape="0">
                    <a:srgbClr val="990000"/>
                  </a:outerShdw>
                </a:effectLst>
                <a:uLnTx/>
                <a:uFillTx/>
                <a:latin typeface="新細明體"/>
                <a:ea typeface="文鼎粗隸" panose="02010609010101010101" pitchFamily="49" charset="-120"/>
                <a:cs typeface="+mn-cs"/>
              </a:rPr>
              <a:t>南投縣</a:t>
            </a:r>
            <a:r>
              <a:rPr kumimoji="1" lang="en-US" altLang="zh-TW" sz="3600" b="0" i="0" u="none" strike="noStrike" kern="10" cap="none" spc="0" normalizeH="0" baseline="0" noProof="0" dirty="0">
                <a:ln w="19050">
                  <a:solidFill>
                    <a:srgbClr val="0000FF"/>
                  </a:solidFill>
                  <a:round/>
                  <a:headEnd/>
                  <a:tailEnd/>
                </a:ln>
                <a:solidFill>
                  <a:srgbClr val="0066CC"/>
                </a:solidFill>
                <a:effectLst>
                  <a:outerShdw dist="35921" dir="2700000" algn="ctr" rotWithShape="0">
                    <a:srgbClr val="990000"/>
                  </a:outerShdw>
                </a:effectLst>
                <a:uLnTx/>
                <a:uFillTx/>
                <a:latin typeface="新細明體"/>
                <a:ea typeface="文鼎粗隸" panose="02010609010101010101" pitchFamily="49" charset="-120"/>
                <a:cs typeface="+mn-cs"/>
              </a:rPr>
              <a:t>115</a:t>
            </a:r>
            <a:r>
              <a:rPr kumimoji="1" lang="zh-TW" altLang="en-US" sz="3600" b="0" i="0" u="none" strike="noStrike" kern="10" cap="none" spc="0" normalizeH="0" baseline="0" noProof="0" dirty="0">
                <a:ln w="19050">
                  <a:solidFill>
                    <a:srgbClr val="0000FF"/>
                  </a:solidFill>
                  <a:round/>
                  <a:headEnd/>
                  <a:tailEnd/>
                </a:ln>
                <a:solidFill>
                  <a:srgbClr val="0066CC"/>
                </a:solidFill>
                <a:effectLst>
                  <a:outerShdw dist="35921" dir="2700000" algn="ctr" rotWithShape="0">
                    <a:srgbClr val="990000"/>
                  </a:outerShdw>
                </a:effectLst>
                <a:uLnTx/>
                <a:uFillTx/>
                <a:latin typeface="新細明體"/>
                <a:ea typeface="文鼎粗隸" panose="02010609010101010101" pitchFamily="49" charset="-120"/>
                <a:cs typeface="+mn-cs"/>
              </a:rPr>
              <a:t>年度福利社區化小旗艦型計畫</a:t>
            </a:r>
          </a:p>
        </p:txBody>
      </p:sp>
      <p:sp>
        <p:nvSpPr>
          <p:cNvPr id="2" name="內容版面配置區 1"/>
          <p:cNvSpPr>
            <a:spLocks noGrp="1"/>
          </p:cNvSpPr>
          <p:nvPr>
            <p:ph idx="1"/>
          </p:nvPr>
        </p:nvSpPr>
        <p:spPr>
          <a:xfrm>
            <a:off x="-180528" y="1628800"/>
            <a:ext cx="8291263" cy="3124944"/>
          </a:xfrm>
        </p:spPr>
        <p:txBody>
          <a:bodyPr/>
          <a:lstStyle/>
          <a:p>
            <a:endParaRPr lang="en-US" altLang="zh-TW" dirty="0"/>
          </a:p>
          <a:p>
            <a:endParaRPr lang="zh-TW" altLang="en-US" dirty="0"/>
          </a:p>
        </p:txBody>
      </p:sp>
      <p:sp>
        <p:nvSpPr>
          <p:cNvPr id="5" name="矩形 4"/>
          <p:cNvSpPr/>
          <p:nvPr/>
        </p:nvSpPr>
        <p:spPr>
          <a:xfrm>
            <a:off x="291077" y="967080"/>
            <a:ext cx="8773828" cy="1323439"/>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TW" altLang="en-US" sz="4000" b="0" i="0" u="none" strike="noStrike" kern="10" cap="none" spc="0" normalizeH="0" baseline="0" noProof="0" dirty="0">
                <a:ln w="19050">
                  <a:solidFill>
                    <a:srgbClr val="0000FF"/>
                  </a:solidFill>
                  <a:round/>
                  <a:headEnd/>
                  <a:tailEnd/>
                </a:ln>
                <a:solidFill>
                  <a:srgbClr val="C00000"/>
                </a:solidFill>
                <a:effectLst>
                  <a:outerShdw dist="35921" dir="2700000" algn="ctr" rotWithShape="0">
                    <a:srgbClr val="990000"/>
                  </a:outerShdw>
                </a:effectLst>
                <a:uLnTx/>
                <a:uFillTx/>
                <a:latin typeface="新細明體"/>
                <a:ea typeface="文鼎粗隸" panose="02010609010101010101" pitchFamily="49" charset="-120"/>
                <a:cs typeface="+mn-cs"/>
              </a:rPr>
              <a:t>計畫名稱：竹山鎮</a:t>
            </a:r>
            <a:r>
              <a:rPr kumimoji="1" lang="en-US" altLang="zh-TW" sz="4000" b="0" i="0" u="none" strike="noStrike" kern="10" cap="none" spc="0" normalizeH="0" baseline="0" noProof="0" dirty="0">
                <a:ln w="19050">
                  <a:solidFill>
                    <a:srgbClr val="0000FF"/>
                  </a:solidFill>
                  <a:round/>
                  <a:headEnd/>
                  <a:tailEnd/>
                </a:ln>
                <a:solidFill>
                  <a:srgbClr val="C00000"/>
                </a:solidFill>
                <a:effectLst>
                  <a:outerShdw dist="35921" dir="2700000" algn="ctr" rotWithShape="0">
                    <a:srgbClr val="990000"/>
                  </a:outerShdw>
                </a:effectLst>
                <a:uLnTx/>
                <a:uFillTx/>
                <a:latin typeface="新細明體"/>
                <a:ea typeface="文鼎粗隸" panose="02010609010101010101" pitchFamily="49" charset="-120"/>
                <a:cs typeface="+mn-cs"/>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TW" altLang="en-US" sz="4000" b="0" i="0" u="none" strike="noStrike" kern="10" cap="none" spc="0" normalizeH="0" baseline="0" noProof="0" dirty="0">
                <a:ln w="19050">
                  <a:solidFill>
                    <a:srgbClr val="0000FF"/>
                  </a:solidFill>
                  <a:round/>
                  <a:headEnd/>
                  <a:tailEnd/>
                </a:ln>
                <a:solidFill>
                  <a:srgbClr val="C00000"/>
                </a:solidFill>
                <a:effectLst>
                  <a:outerShdw dist="35921" dir="2700000" algn="ctr" rotWithShape="0">
                    <a:srgbClr val="990000"/>
                  </a:outerShdw>
                </a:effectLst>
                <a:uLnTx/>
                <a:uFillTx/>
                <a:latin typeface="新細明體"/>
                <a:ea typeface="文鼎粗隸" panose="02010609010101010101" pitchFamily="49" charset="-120"/>
                <a:cs typeface="+mn-cs"/>
              </a:rPr>
              <a:t>五社共進*共生合作永相伴</a:t>
            </a:r>
            <a:endParaRPr kumimoji="1" lang="zh-TW" altLang="en-US" sz="4400" b="0" i="0" u="none" strike="noStrike" kern="10" cap="none" spc="0" normalizeH="0" baseline="0" noProof="0" dirty="0">
              <a:ln w="19050">
                <a:solidFill>
                  <a:srgbClr val="0000FF"/>
                </a:solidFill>
                <a:round/>
                <a:headEnd/>
                <a:tailEnd/>
              </a:ln>
              <a:solidFill>
                <a:srgbClr val="C00000"/>
              </a:solidFill>
              <a:effectLst>
                <a:outerShdw dist="35921" dir="2700000" algn="ctr" rotWithShape="0">
                  <a:srgbClr val="990000"/>
                </a:outerShdw>
              </a:effectLst>
              <a:uLnTx/>
              <a:uFillTx/>
              <a:latin typeface="新細明體"/>
              <a:ea typeface="文鼎粗隸" panose="02010609010101010101" pitchFamily="49" charset="-120"/>
              <a:cs typeface="+mn-cs"/>
            </a:endParaRPr>
          </a:p>
        </p:txBody>
      </p:sp>
    </p:spTree>
    <p:extLst>
      <p:ext uri="{BB962C8B-B14F-4D97-AF65-F5344CB8AC3E}">
        <p14:creationId xmlns:p14="http://schemas.microsoft.com/office/powerpoint/2010/main" val="124946457"/>
      </p:ext>
    </p:extLst>
  </p:cSld>
  <p:clrMapOvr>
    <a:masterClrMapping/>
  </p:clrMapOvr>
  <p:transition spd="slow">
    <p:randomBar dir="ver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9844" y="88058"/>
            <a:ext cx="8382000" cy="563562"/>
          </a:xfrm>
        </p:spPr>
        <p:txBody>
          <a:bodyPr/>
          <a:lstStyle/>
          <a:p>
            <a:r>
              <a:rPr lang="zh-TW" altLang="en-US" sz="4000" dirty="0">
                <a:solidFill>
                  <a:srgbClr val="FFFFFF"/>
                </a:solidFill>
                <a:latin typeface="華康隸書體W7" panose="02010609010101010101" pitchFamily="49" charset="-120"/>
                <a:ea typeface="華康隸書體W7" panose="02010609010101010101" pitchFamily="49" charset="-120"/>
              </a:rPr>
              <a:t>子計畫一：福利社區化工作圈會議</a:t>
            </a:r>
            <a:endParaRPr lang="zh-TW" altLang="en-US" dirty="0"/>
          </a:p>
        </p:txBody>
      </p:sp>
      <p:sp>
        <p:nvSpPr>
          <p:cNvPr id="3" name="內容版面配置區 2"/>
          <p:cNvSpPr>
            <a:spLocks noGrp="1"/>
          </p:cNvSpPr>
          <p:nvPr>
            <p:ph idx="1"/>
          </p:nvPr>
        </p:nvSpPr>
        <p:spPr>
          <a:xfrm>
            <a:off x="457200" y="836712"/>
            <a:ext cx="8507288" cy="5606752"/>
          </a:xfrm>
        </p:spPr>
        <p:txBody>
          <a:bodyPr/>
          <a:lstStyle/>
          <a:p>
            <a:pPr marL="0" indent="0" algn="ctr">
              <a:buNone/>
            </a:pPr>
            <a:r>
              <a:rPr lang="zh-TW" altLang="en-US" sz="2800" b="1" dirty="0">
                <a:solidFill>
                  <a:srgbClr val="FF0000"/>
                </a:solidFill>
                <a:latin typeface="標楷體" pitchFamily="65" charset="-120"/>
                <a:ea typeface="標楷體" pitchFamily="65" charset="-120"/>
              </a:rPr>
              <a:t>方案內容</a:t>
            </a:r>
          </a:p>
        </p:txBody>
      </p:sp>
      <p:sp>
        <p:nvSpPr>
          <p:cNvPr id="4" name="矩形 3"/>
          <p:cNvSpPr/>
          <p:nvPr/>
        </p:nvSpPr>
        <p:spPr>
          <a:xfrm>
            <a:off x="522427" y="1268760"/>
            <a:ext cx="8099146" cy="5359544"/>
          </a:xfrm>
          <a:prstGeom prst="rect">
            <a:avLst/>
          </a:prstGeom>
        </p:spPr>
        <p:txBody>
          <a:bodyPr wrap="square">
            <a:spAutoFit/>
          </a:bodyPr>
          <a:lstStyle/>
          <a:p>
            <a:pPr marL="265113" marR="0" lvl="0" indent="-265113" algn="just" defTabSz="914400" rtl="0" eaLnBrk="1" fontAlgn="auto" latinLnBrk="0" hangingPunct="1">
              <a:lnSpc>
                <a:spcPts val="35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srgbClr val="000000"/>
                </a:solidFill>
                <a:effectLst/>
                <a:uLnTx/>
                <a:uFillTx/>
                <a:latin typeface="Arial"/>
                <a:ea typeface="標楷體"/>
                <a:cs typeface="Times New Roman"/>
              </a:rPr>
              <a:t>1.</a:t>
            </a:r>
            <a:r>
              <a:rPr kumimoji="0" lang="zh-TW" altLang="en-US" sz="2400" b="1" i="0" u="none" strike="noStrike" kern="1200" cap="none" spc="0" normalizeH="0" baseline="0" noProof="0" dirty="0">
                <a:ln>
                  <a:noFill/>
                </a:ln>
                <a:solidFill>
                  <a:srgbClr val="000000"/>
                </a:solidFill>
                <a:effectLst/>
                <a:uLnTx/>
                <a:uFillTx/>
                <a:latin typeface="Arial"/>
                <a:ea typeface="標楷體"/>
                <a:cs typeface="Times New Roman"/>
              </a:rPr>
              <a:t>工作圈會議：</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由竹山鎮公所從</a:t>
            </a:r>
            <a:r>
              <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rPr>
              <a:t>2</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月起在小旗艦社區輪流辦理。</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每二個月召開「福利社區化小旗艦計畫工作圈會議」，預定在</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2</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4</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6</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8</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10</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月辦理</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5</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次「工作圈會議」</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，協助小旗艦社區資源整合及掌控計畫執行進度。由小旗艦社區輪流擔任主席，做成會議記錄轉呈主管機關備查。</a:t>
            </a:r>
            <a:endParaRPr kumimoji="0" lang="en-US" altLang="zh-TW" sz="2400" b="0" i="0" u="none" strike="noStrike" kern="1200" cap="none" spc="0" normalizeH="0" baseline="0" noProof="0" dirty="0">
              <a:ln>
                <a:noFill/>
              </a:ln>
              <a:solidFill>
                <a:srgbClr val="000000"/>
              </a:solidFill>
              <a:effectLst/>
              <a:uLnTx/>
              <a:uFillTx/>
              <a:latin typeface="Arial"/>
              <a:ea typeface="標楷體"/>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2400" b="1" i="0" u="none" strike="noStrike" kern="1200" cap="none" spc="0" normalizeH="0" baseline="0" noProof="0" dirty="0">
              <a:ln>
                <a:noFill/>
              </a:ln>
              <a:solidFill>
                <a:srgbClr val="000000"/>
              </a:solidFill>
              <a:effectLst/>
              <a:uLnTx/>
              <a:uFillTx/>
              <a:latin typeface="Arial"/>
              <a:ea typeface="標楷體"/>
              <a:cs typeface="Times New Roman"/>
            </a:endParaRPr>
          </a:p>
          <a:p>
            <a:pPr marL="265113" marR="0" lvl="0" indent="-265113" algn="just" defTabSz="914400" rtl="0" eaLnBrk="1" fontAlgn="auto" latinLnBrk="0" hangingPunct="1">
              <a:lnSpc>
                <a:spcPts val="35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srgbClr val="000000"/>
                </a:solidFill>
                <a:effectLst/>
                <a:uLnTx/>
                <a:uFillTx/>
                <a:latin typeface="Arial"/>
                <a:ea typeface="標楷體"/>
                <a:cs typeface="Times New Roman"/>
              </a:rPr>
              <a:t>2.</a:t>
            </a:r>
            <a:r>
              <a:rPr kumimoji="0" lang="zh-TW" altLang="en-US" sz="2400" b="1" i="0" u="none" strike="noStrike" kern="1200" cap="none" spc="0" normalizeH="0" baseline="0" noProof="0" dirty="0">
                <a:ln>
                  <a:noFill/>
                </a:ln>
                <a:solidFill>
                  <a:srgbClr val="000000"/>
                </a:solidFill>
                <a:effectLst/>
                <a:uLnTx/>
                <a:uFillTx/>
                <a:latin typeface="Arial"/>
                <a:ea typeface="標楷體"/>
                <a:cs typeface="Times New Roman"/>
              </a:rPr>
              <a:t>工作推動小組會議：</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由領航的富州社區每二個月召開「工作推動小組會議」，</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預定在</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1</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3</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5</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7</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9</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11</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月辦理</a:t>
            </a:r>
            <a:r>
              <a:rPr kumimoji="0" lang="en-US" altLang="zh-TW" sz="2400" b="0" i="0" u="none" strike="noStrike" kern="1200" cap="none" spc="0" normalizeH="0" baseline="0" noProof="0" dirty="0">
                <a:ln>
                  <a:noFill/>
                </a:ln>
                <a:solidFill>
                  <a:srgbClr val="FF0000"/>
                </a:solidFill>
                <a:effectLst/>
                <a:uLnTx/>
                <a:uFillTx/>
                <a:latin typeface="Arial"/>
                <a:ea typeface="標楷體"/>
                <a:cs typeface="Times New Roman"/>
              </a:rPr>
              <a:t>6</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次</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，透過會議由領航社區針對各社區發展工作加以指導，小旗艦社區彼此交流學習、增進感情，達到互助合作、共同成長。由</a:t>
            </a:r>
            <a:r>
              <a:rPr kumimoji="0" lang="zh-TW" altLang="en-US" sz="2400" b="0" i="0" u="none" strike="noStrike" kern="1200" cap="none" spc="0" normalizeH="0" baseline="0" noProof="0" dirty="0">
                <a:ln>
                  <a:noFill/>
                </a:ln>
                <a:solidFill>
                  <a:srgbClr val="FF0000"/>
                </a:solidFill>
                <a:effectLst/>
                <a:uLnTx/>
                <a:uFillTx/>
                <a:latin typeface="Arial"/>
                <a:ea typeface="標楷體"/>
                <a:cs typeface="Times New Roman"/>
              </a:rPr>
              <a:t>小旗艦社區輪流擔任主席</a:t>
            </a:r>
            <a:r>
              <a:rPr kumimoji="0" lang="zh-TW" altLang="en-US" sz="2400" b="0" i="0" u="none" strike="noStrike" kern="1200" cap="none" spc="0" normalizeH="0" baseline="0" noProof="0" dirty="0">
                <a:ln>
                  <a:noFill/>
                </a:ln>
                <a:solidFill>
                  <a:srgbClr val="000000"/>
                </a:solidFill>
                <a:effectLst/>
                <a:uLnTx/>
                <a:uFillTx/>
                <a:latin typeface="Arial"/>
                <a:ea typeface="標楷體"/>
                <a:cs typeface="Times New Roman"/>
              </a:rPr>
              <a:t>，並做成會議記錄留存。</a:t>
            </a:r>
          </a:p>
        </p:txBody>
      </p:sp>
    </p:spTree>
    <p:extLst>
      <p:ext uri="{BB962C8B-B14F-4D97-AF65-F5344CB8AC3E}">
        <p14:creationId xmlns:p14="http://schemas.microsoft.com/office/powerpoint/2010/main" val="23153765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1046F-B81A-AE24-C419-979E713A451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C1A38B9-6930-7043-0274-B3DB12DFFAAC}"/>
              </a:ext>
            </a:extLst>
          </p:cNvPr>
          <p:cNvSpPr>
            <a:spLocks noGrp="1"/>
          </p:cNvSpPr>
          <p:nvPr>
            <p:ph type="title"/>
          </p:nvPr>
        </p:nvSpPr>
        <p:spPr/>
        <p:txBody>
          <a:bodyPr/>
          <a:lstStyle/>
          <a:p>
            <a:r>
              <a:rPr lang="zh-TW" altLang="en-US" sz="4000" dirty="0">
                <a:solidFill>
                  <a:srgbClr val="FFFFFF"/>
                </a:solidFill>
                <a:latin typeface="華康隸書體W7" panose="02010609010101010101" pitchFamily="49" charset="-120"/>
                <a:ea typeface="華康隸書體W7" panose="02010609010101010101" pitchFamily="49" charset="-120"/>
              </a:rPr>
              <a:t>子計畫一：福利社區化工作圈會議</a:t>
            </a:r>
            <a:endParaRPr lang="zh-TW" altLang="en-US" dirty="0"/>
          </a:p>
        </p:txBody>
      </p:sp>
      <p:sp>
        <p:nvSpPr>
          <p:cNvPr id="3" name="內容版面配置區 2">
            <a:extLst>
              <a:ext uri="{FF2B5EF4-FFF2-40B4-BE49-F238E27FC236}">
                <a16:creationId xmlns:a16="http://schemas.microsoft.com/office/drawing/2014/main" id="{97FFAB1A-4343-308A-3CB0-5ADDA772A0DA}"/>
              </a:ext>
            </a:extLst>
          </p:cNvPr>
          <p:cNvSpPr>
            <a:spLocks noGrp="1"/>
          </p:cNvSpPr>
          <p:nvPr>
            <p:ph idx="1"/>
          </p:nvPr>
        </p:nvSpPr>
        <p:spPr>
          <a:xfrm>
            <a:off x="3696751" y="692088"/>
            <a:ext cx="1750498" cy="427112"/>
          </a:xfrm>
        </p:spPr>
        <p:txBody>
          <a:bodyPr/>
          <a:lstStyle/>
          <a:p>
            <a:pPr marL="0" indent="0" algn="ctr">
              <a:buNone/>
            </a:pPr>
            <a:r>
              <a:rPr lang="zh-TW" altLang="en-US" sz="2800" b="1" dirty="0">
                <a:solidFill>
                  <a:srgbClr val="FF0000"/>
                </a:solidFill>
                <a:latin typeface="標楷體" pitchFamily="65" charset="-120"/>
                <a:ea typeface="標楷體" pitchFamily="65" charset="-120"/>
              </a:rPr>
              <a:t>內容規劃</a:t>
            </a:r>
          </a:p>
        </p:txBody>
      </p:sp>
      <p:graphicFrame>
        <p:nvGraphicFramePr>
          <p:cNvPr id="7" name="表格 6">
            <a:extLst>
              <a:ext uri="{FF2B5EF4-FFF2-40B4-BE49-F238E27FC236}">
                <a16:creationId xmlns:a16="http://schemas.microsoft.com/office/drawing/2014/main" id="{507FA03B-880E-6558-5733-B7172C55000F}"/>
              </a:ext>
            </a:extLst>
          </p:cNvPr>
          <p:cNvGraphicFramePr>
            <a:graphicFrameLocks noGrp="1"/>
          </p:cNvGraphicFramePr>
          <p:nvPr/>
        </p:nvGraphicFramePr>
        <p:xfrm>
          <a:off x="146094" y="1340768"/>
          <a:ext cx="8851812" cy="2914496"/>
        </p:xfrm>
        <a:graphic>
          <a:graphicData uri="http://schemas.openxmlformats.org/drawingml/2006/table">
            <a:tbl>
              <a:tblPr firstRow="1" firstCol="1" bandRow="1" bandCol="1"/>
              <a:tblGrid>
                <a:gridCol w="360040">
                  <a:extLst>
                    <a:ext uri="{9D8B030D-6E8A-4147-A177-3AD203B41FA5}">
                      <a16:colId xmlns:a16="http://schemas.microsoft.com/office/drawing/2014/main" val="56207116"/>
                    </a:ext>
                  </a:extLst>
                </a:gridCol>
                <a:gridCol w="1710681">
                  <a:extLst>
                    <a:ext uri="{9D8B030D-6E8A-4147-A177-3AD203B41FA5}">
                      <a16:colId xmlns:a16="http://schemas.microsoft.com/office/drawing/2014/main" val="4224036909"/>
                    </a:ext>
                  </a:extLst>
                </a:gridCol>
                <a:gridCol w="3161306">
                  <a:extLst>
                    <a:ext uri="{9D8B030D-6E8A-4147-A177-3AD203B41FA5}">
                      <a16:colId xmlns:a16="http://schemas.microsoft.com/office/drawing/2014/main" val="4224928412"/>
                    </a:ext>
                  </a:extLst>
                </a:gridCol>
                <a:gridCol w="3619785">
                  <a:extLst>
                    <a:ext uri="{9D8B030D-6E8A-4147-A177-3AD203B41FA5}">
                      <a16:colId xmlns:a16="http://schemas.microsoft.com/office/drawing/2014/main" val="1398904196"/>
                    </a:ext>
                  </a:extLst>
                </a:gridCol>
              </a:tblGrid>
              <a:tr h="705156">
                <a:tc>
                  <a:txBody>
                    <a:bodyPr/>
                    <a:lstStyle/>
                    <a:p>
                      <a:pPr algn="ctr">
                        <a:lnSpc>
                          <a:spcPts val="3000"/>
                        </a:lnSpc>
                      </a:pPr>
                      <a:r>
                        <a:rPr lang="zh-TW" sz="2400" kern="100" dirty="0">
                          <a:solidFill>
                            <a:srgbClr val="000000"/>
                          </a:solidFill>
                          <a:effectLst/>
                          <a:latin typeface="Times New Roman" panose="02020603050405020304" pitchFamily="18" charset="0"/>
                          <a:ea typeface="標楷體" panose="03000509000000000000" pitchFamily="65" charset="-120"/>
                        </a:rPr>
                        <a:t>編號</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zh-TW" sz="2400" kern="100" dirty="0">
                          <a:solidFill>
                            <a:srgbClr val="000000"/>
                          </a:solidFill>
                          <a:effectLst/>
                          <a:latin typeface="Times New Roman" panose="02020603050405020304" pitchFamily="18" charset="0"/>
                          <a:ea typeface="標楷體" panose="03000509000000000000" pitchFamily="65" charset="-120"/>
                        </a:rPr>
                        <a:t>活動項目</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zh-TW" sz="2400" kern="100" dirty="0">
                          <a:solidFill>
                            <a:srgbClr val="000000"/>
                          </a:solidFill>
                          <a:effectLst/>
                          <a:latin typeface="Times New Roman" panose="02020603050405020304" pitchFamily="18" charset="0"/>
                          <a:ea typeface="標楷體" panose="03000509000000000000" pitchFamily="65" charset="-120"/>
                        </a:rPr>
                        <a:t>服務量</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zh-TW" sz="2400" kern="100" dirty="0">
                          <a:solidFill>
                            <a:srgbClr val="000000"/>
                          </a:solidFill>
                          <a:effectLst/>
                          <a:latin typeface="Times New Roman" panose="02020603050405020304" pitchFamily="18" charset="0"/>
                          <a:ea typeface="標楷體" panose="03000509000000000000" pitchFamily="65" charset="-120"/>
                        </a:rPr>
                        <a:t>評估方法</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7027829"/>
                  </a:ext>
                </a:extLst>
              </a:tr>
              <a:tr h="705156">
                <a:tc>
                  <a:txBody>
                    <a:bodyPr/>
                    <a:lstStyle/>
                    <a:p>
                      <a:pPr algn="ctr">
                        <a:lnSpc>
                          <a:spcPts val="3000"/>
                        </a:lnSpc>
                      </a:pPr>
                      <a:r>
                        <a:rPr lang="en-US" sz="2400" kern="100">
                          <a:solidFill>
                            <a:srgbClr val="000000"/>
                          </a:solidFill>
                          <a:effectLst/>
                          <a:latin typeface="標楷體" panose="03000509000000000000" pitchFamily="65" charset="-120"/>
                          <a:ea typeface="新細明體" panose="02020500000000000000" pitchFamily="18" charset="-120"/>
                        </a:rPr>
                        <a:t>1</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3000"/>
                        </a:lnSpc>
                      </a:pPr>
                      <a:r>
                        <a:rPr lang="zh-TW" sz="2400" kern="100">
                          <a:solidFill>
                            <a:srgbClr val="000000"/>
                          </a:solidFill>
                          <a:effectLst/>
                          <a:latin typeface="Times New Roman" panose="02020603050405020304" pitchFamily="18" charset="0"/>
                          <a:ea typeface="標楷體" panose="03000509000000000000" pitchFamily="65" charset="-120"/>
                        </a:rPr>
                        <a:t>工作圈會議</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3000"/>
                        </a:lnSpc>
                      </a:pPr>
                      <a:r>
                        <a:rPr lang="en-US" sz="2400" kern="100" dirty="0">
                          <a:solidFill>
                            <a:srgbClr val="000000"/>
                          </a:solidFill>
                          <a:effectLst/>
                          <a:latin typeface="標楷體" panose="03000509000000000000" pitchFamily="65" charset="-120"/>
                          <a:ea typeface="新細明體" panose="02020500000000000000" pitchFamily="18" charset="-120"/>
                        </a:rPr>
                        <a:t>5</a:t>
                      </a:r>
                      <a:r>
                        <a:rPr lang="zh-TW" sz="2400" kern="100" dirty="0">
                          <a:solidFill>
                            <a:srgbClr val="000000"/>
                          </a:solidFill>
                          <a:effectLst/>
                          <a:latin typeface="Times New Roman" panose="02020603050405020304" pitchFamily="18" charset="0"/>
                          <a:ea typeface="標楷體" panose="03000509000000000000" pitchFamily="65" charset="-120"/>
                        </a:rPr>
                        <a:t>社區</a:t>
                      </a:r>
                      <a:r>
                        <a:rPr lang="en-US" sz="2400" kern="100" dirty="0">
                          <a:solidFill>
                            <a:srgbClr val="000000"/>
                          </a:solidFill>
                          <a:effectLst/>
                          <a:latin typeface="Times New Roman" panose="02020603050405020304" pitchFamily="18" charset="0"/>
                          <a:ea typeface="標楷體" panose="03000509000000000000" pitchFamily="65" charset="-120"/>
                        </a:rPr>
                        <a:t>*5</a:t>
                      </a:r>
                      <a:r>
                        <a:rPr lang="zh-TW" sz="2400" kern="100" dirty="0">
                          <a:solidFill>
                            <a:srgbClr val="000000"/>
                          </a:solidFill>
                          <a:effectLst/>
                          <a:latin typeface="Times New Roman" panose="02020603050405020304" pitchFamily="18" charset="0"/>
                          <a:ea typeface="標楷體" panose="03000509000000000000" pitchFamily="65" charset="-120"/>
                        </a:rPr>
                        <a:t>次</a:t>
                      </a:r>
                      <a:r>
                        <a:rPr lang="en-US" sz="2400" kern="100" dirty="0">
                          <a:solidFill>
                            <a:srgbClr val="000000"/>
                          </a:solidFill>
                          <a:effectLst/>
                          <a:latin typeface="Times New Roman" panose="02020603050405020304" pitchFamily="18" charset="0"/>
                          <a:ea typeface="標楷體" panose="03000509000000000000" pitchFamily="65" charset="-120"/>
                        </a:rPr>
                        <a:t>*2</a:t>
                      </a:r>
                      <a:r>
                        <a:rPr lang="zh-TW" sz="2400" kern="100" dirty="0">
                          <a:solidFill>
                            <a:srgbClr val="000000"/>
                          </a:solidFill>
                          <a:effectLst/>
                          <a:latin typeface="Times New Roman" panose="02020603050405020304" pitchFamily="18" charset="0"/>
                          <a:ea typeface="標楷體" panose="03000509000000000000" pitchFamily="65" charset="-120"/>
                        </a:rPr>
                        <a:t>人＝</a:t>
                      </a:r>
                      <a:r>
                        <a:rPr lang="en-US" sz="2400" kern="100" dirty="0">
                          <a:solidFill>
                            <a:srgbClr val="000000"/>
                          </a:solidFill>
                          <a:effectLst/>
                          <a:latin typeface="Times New Roman" panose="02020603050405020304" pitchFamily="18" charset="0"/>
                          <a:ea typeface="標楷體" panose="03000509000000000000" pitchFamily="65" charset="-120"/>
                        </a:rPr>
                        <a:t>50</a:t>
                      </a:r>
                      <a:r>
                        <a:rPr lang="zh-TW" sz="2400" kern="100" dirty="0">
                          <a:solidFill>
                            <a:srgbClr val="000000"/>
                          </a:solidFill>
                          <a:effectLst/>
                          <a:latin typeface="Times New Roman" panose="02020603050405020304" pitchFamily="18" charset="0"/>
                          <a:ea typeface="標楷體" panose="03000509000000000000" pitchFamily="65" charset="-120"/>
                        </a:rPr>
                        <a:t>人</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342900" lvl="0" indent="-342900">
                        <a:lnSpc>
                          <a:spcPts val="3000"/>
                        </a:lnSpc>
                        <a:buFont typeface="+mj-lt"/>
                        <a:buAutoNum type="arabicPeriod"/>
                      </a:pPr>
                      <a:r>
                        <a:rPr lang="zh-TW" sz="2400" kern="100">
                          <a:solidFill>
                            <a:srgbClr val="000000"/>
                          </a:solidFill>
                          <a:effectLst/>
                          <a:latin typeface="Times New Roman" panose="02020603050405020304" pitchFamily="18" charset="0"/>
                          <a:ea typeface="標楷體" panose="03000509000000000000" pitchFamily="65" charset="-120"/>
                        </a:rPr>
                        <a:t>會議紀錄</a:t>
                      </a:r>
                      <a:endParaRPr lang="zh-TW" sz="2400" kern="100">
                        <a:effectLst/>
                        <a:latin typeface="Times New Roman" panose="02020603050405020304" pitchFamily="18" charset="0"/>
                        <a:ea typeface="新細明體" panose="02020500000000000000" pitchFamily="18" charset="-120"/>
                      </a:endParaRPr>
                    </a:p>
                    <a:p>
                      <a:pPr marL="342900" lvl="0" indent="-342900">
                        <a:lnSpc>
                          <a:spcPts val="3000"/>
                        </a:lnSpc>
                        <a:buFont typeface="+mj-lt"/>
                        <a:buAutoNum type="arabicPeriod"/>
                      </a:pPr>
                      <a:r>
                        <a:rPr lang="zh-TW" sz="2400" kern="100">
                          <a:solidFill>
                            <a:srgbClr val="000000"/>
                          </a:solidFill>
                          <a:effectLst/>
                          <a:latin typeface="Times New Roman" panose="02020603050405020304" pitchFamily="18" charset="0"/>
                          <a:ea typeface="標楷體" panose="03000509000000000000" pitchFamily="65" charset="-120"/>
                        </a:rPr>
                        <a:t>運用焦點團體評估成效</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1029857"/>
                  </a:ext>
                </a:extLst>
              </a:tr>
              <a:tr h="1470009">
                <a:tc>
                  <a:txBody>
                    <a:bodyPr/>
                    <a:lstStyle/>
                    <a:p>
                      <a:pPr algn="ctr">
                        <a:lnSpc>
                          <a:spcPts val="3000"/>
                        </a:lnSpc>
                      </a:pPr>
                      <a:r>
                        <a:rPr lang="en-US" sz="2400" kern="100">
                          <a:solidFill>
                            <a:srgbClr val="000000"/>
                          </a:solidFill>
                          <a:effectLst/>
                          <a:latin typeface="標楷體" panose="03000509000000000000" pitchFamily="65" charset="-120"/>
                          <a:ea typeface="新細明體" panose="02020500000000000000" pitchFamily="18" charset="-120"/>
                        </a:rPr>
                        <a:t>2</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3000"/>
                        </a:lnSpc>
                      </a:pPr>
                      <a:r>
                        <a:rPr lang="zh-TW" sz="2400" kern="100">
                          <a:solidFill>
                            <a:srgbClr val="000000"/>
                          </a:solidFill>
                          <a:effectLst/>
                          <a:latin typeface="Times New Roman" panose="02020603050405020304" pitchFamily="18" charset="0"/>
                          <a:ea typeface="標楷體" panose="03000509000000000000" pitchFamily="65" charset="-120"/>
                        </a:rPr>
                        <a:t>工作推動小組會議</a:t>
                      </a:r>
                      <a:endParaRPr lang="zh-TW" sz="24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3000"/>
                        </a:lnSpc>
                      </a:pPr>
                      <a:r>
                        <a:rPr lang="en-US" sz="2400" kern="100" dirty="0">
                          <a:solidFill>
                            <a:srgbClr val="000000"/>
                          </a:solidFill>
                          <a:effectLst/>
                          <a:latin typeface="標楷體" panose="03000509000000000000" pitchFamily="65" charset="-120"/>
                          <a:ea typeface="新細明體" panose="02020500000000000000" pitchFamily="18" charset="-120"/>
                        </a:rPr>
                        <a:t>5</a:t>
                      </a:r>
                      <a:r>
                        <a:rPr lang="zh-TW" sz="2400" kern="100" dirty="0">
                          <a:solidFill>
                            <a:srgbClr val="000000"/>
                          </a:solidFill>
                          <a:effectLst/>
                          <a:latin typeface="Times New Roman" panose="02020603050405020304" pitchFamily="18" charset="0"/>
                          <a:ea typeface="標楷體" panose="03000509000000000000" pitchFamily="65" charset="-120"/>
                        </a:rPr>
                        <a:t>社區</a:t>
                      </a:r>
                      <a:r>
                        <a:rPr lang="en-US" sz="2400" kern="100" dirty="0">
                          <a:solidFill>
                            <a:srgbClr val="000000"/>
                          </a:solidFill>
                          <a:effectLst/>
                          <a:latin typeface="Times New Roman" panose="02020603050405020304" pitchFamily="18" charset="0"/>
                          <a:ea typeface="標楷體" panose="03000509000000000000" pitchFamily="65" charset="-120"/>
                        </a:rPr>
                        <a:t>*6</a:t>
                      </a:r>
                      <a:r>
                        <a:rPr lang="zh-TW" sz="2400" kern="100" dirty="0">
                          <a:solidFill>
                            <a:srgbClr val="000000"/>
                          </a:solidFill>
                          <a:effectLst/>
                          <a:latin typeface="Times New Roman" panose="02020603050405020304" pitchFamily="18" charset="0"/>
                          <a:ea typeface="標楷體" panose="03000509000000000000" pitchFamily="65" charset="-120"/>
                        </a:rPr>
                        <a:t>次</a:t>
                      </a:r>
                      <a:r>
                        <a:rPr lang="en-US" sz="2400" kern="100" dirty="0">
                          <a:solidFill>
                            <a:srgbClr val="000000"/>
                          </a:solidFill>
                          <a:effectLst/>
                          <a:latin typeface="Times New Roman" panose="02020603050405020304" pitchFamily="18" charset="0"/>
                          <a:ea typeface="標楷體" panose="03000509000000000000" pitchFamily="65" charset="-120"/>
                        </a:rPr>
                        <a:t>*2</a:t>
                      </a:r>
                      <a:r>
                        <a:rPr lang="zh-TW" sz="2400" kern="100" dirty="0">
                          <a:solidFill>
                            <a:srgbClr val="000000"/>
                          </a:solidFill>
                          <a:effectLst/>
                          <a:latin typeface="Times New Roman" panose="02020603050405020304" pitchFamily="18" charset="0"/>
                          <a:ea typeface="標楷體" panose="03000509000000000000" pitchFamily="65" charset="-120"/>
                        </a:rPr>
                        <a:t>人＝</a:t>
                      </a:r>
                      <a:r>
                        <a:rPr lang="en-US" sz="2400" kern="100" dirty="0">
                          <a:solidFill>
                            <a:srgbClr val="000000"/>
                          </a:solidFill>
                          <a:effectLst/>
                          <a:latin typeface="Times New Roman" panose="02020603050405020304" pitchFamily="18" charset="0"/>
                          <a:ea typeface="標楷體" panose="03000509000000000000" pitchFamily="65" charset="-120"/>
                        </a:rPr>
                        <a:t>60</a:t>
                      </a:r>
                      <a:r>
                        <a:rPr lang="zh-TW" sz="2400" kern="100" dirty="0">
                          <a:solidFill>
                            <a:srgbClr val="000000"/>
                          </a:solidFill>
                          <a:effectLst/>
                          <a:latin typeface="Times New Roman" panose="02020603050405020304" pitchFamily="18" charset="0"/>
                          <a:ea typeface="標楷體" panose="03000509000000000000" pitchFamily="65" charset="-120"/>
                        </a:rPr>
                        <a:t>人</a:t>
                      </a:r>
                      <a:endParaRPr lang="zh-TW" sz="24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3603753184"/>
                  </a:ext>
                </a:extLst>
              </a:tr>
            </a:tbl>
          </a:graphicData>
        </a:graphic>
      </p:graphicFrame>
      <p:pic>
        <p:nvPicPr>
          <p:cNvPr id="5" name="圖片 4">
            <a:extLst>
              <a:ext uri="{FF2B5EF4-FFF2-40B4-BE49-F238E27FC236}">
                <a16:creationId xmlns:a16="http://schemas.microsoft.com/office/drawing/2014/main" id="{8B7D832A-806E-ABB6-69EB-232CCB9129A0}"/>
              </a:ext>
            </a:extLst>
          </p:cNvPr>
          <p:cNvPicPr>
            <a:picLocks noChangeAspect="1"/>
          </p:cNvPicPr>
          <p:nvPr/>
        </p:nvPicPr>
        <p:blipFill>
          <a:blip r:embed="rId3" cstate="print">
            <a:extLst>
              <a:ext uri="{28A0092B-C50C-407E-A947-70E740481C1C}">
                <a14:useLocalDpi xmlns:a14="http://schemas.microsoft.com/office/drawing/2010/main" val="0"/>
              </a:ext>
            </a:extLst>
          </a:blip>
          <a:srcRect t="-3592" r="16239" b="-654"/>
          <a:stretch>
            <a:fillRect/>
          </a:stretch>
        </p:blipFill>
        <p:spPr>
          <a:xfrm>
            <a:off x="28352" y="4677567"/>
            <a:ext cx="3162086" cy="2214236"/>
          </a:xfrm>
          <a:prstGeom prst="rect">
            <a:avLst/>
          </a:prstGeom>
        </p:spPr>
      </p:pic>
      <p:pic>
        <p:nvPicPr>
          <p:cNvPr id="8" name="圖片 7">
            <a:extLst>
              <a:ext uri="{FF2B5EF4-FFF2-40B4-BE49-F238E27FC236}">
                <a16:creationId xmlns:a16="http://schemas.microsoft.com/office/drawing/2014/main" id="{29D7F84C-6B3F-61D1-22AE-A8C71FAB114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261623" y="4655144"/>
            <a:ext cx="2904604" cy="2178944"/>
          </a:xfrm>
          <a:prstGeom prst="rect">
            <a:avLst/>
          </a:prstGeom>
        </p:spPr>
      </p:pic>
      <p:pic>
        <p:nvPicPr>
          <p:cNvPr id="10" name="圖片 9">
            <a:extLst>
              <a:ext uri="{FF2B5EF4-FFF2-40B4-BE49-F238E27FC236}">
                <a16:creationId xmlns:a16="http://schemas.microsoft.com/office/drawing/2014/main" id="{9103D199-F8ED-0804-D197-CA3D79B77C2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6237412" y="4677567"/>
            <a:ext cx="2906588" cy="2180432"/>
          </a:xfrm>
          <a:prstGeom prst="rect">
            <a:avLst/>
          </a:prstGeom>
        </p:spPr>
      </p:pic>
    </p:spTree>
    <p:extLst>
      <p:ext uri="{BB962C8B-B14F-4D97-AF65-F5344CB8AC3E}">
        <p14:creationId xmlns:p14="http://schemas.microsoft.com/office/powerpoint/2010/main" val="3679702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華康POP1體W5(P)" panose="02010600010101010101" pitchFamily="2" charset="-120"/>
                <a:ea typeface="華康POP1體W5(P)" panose="02010600010101010101" pitchFamily="2" charset="-120"/>
              </a:rPr>
              <a:t>福利社區化工作圈會議經費表</a:t>
            </a:r>
          </a:p>
        </p:txBody>
      </p:sp>
      <p:graphicFrame>
        <p:nvGraphicFramePr>
          <p:cNvPr id="6" name="表格 5">
            <a:extLst>
              <a:ext uri="{FF2B5EF4-FFF2-40B4-BE49-F238E27FC236}">
                <a16:creationId xmlns:a16="http://schemas.microsoft.com/office/drawing/2014/main" id="{F81720D6-B258-17D1-B1E1-94698A49D00F}"/>
              </a:ext>
            </a:extLst>
          </p:cNvPr>
          <p:cNvGraphicFramePr>
            <a:graphicFrameLocks noGrp="1"/>
          </p:cNvGraphicFramePr>
          <p:nvPr/>
        </p:nvGraphicFramePr>
        <p:xfrm>
          <a:off x="143508" y="1364222"/>
          <a:ext cx="8856984" cy="4129556"/>
        </p:xfrm>
        <a:graphic>
          <a:graphicData uri="http://schemas.openxmlformats.org/drawingml/2006/table">
            <a:tbl>
              <a:tblPr firstRow="1" firstCol="1" lastRow="1" lastCol="1" bandRow="1" bandCol="1"/>
              <a:tblGrid>
                <a:gridCol w="1046734">
                  <a:extLst>
                    <a:ext uri="{9D8B030D-6E8A-4147-A177-3AD203B41FA5}">
                      <a16:colId xmlns:a16="http://schemas.microsoft.com/office/drawing/2014/main" val="3618586052"/>
                    </a:ext>
                  </a:extLst>
                </a:gridCol>
                <a:gridCol w="1288289">
                  <a:extLst>
                    <a:ext uri="{9D8B030D-6E8A-4147-A177-3AD203B41FA5}">
                      <a16:colId xmlns:a16="http://schemas.microsoft.com/office/drawing/2014/main" val="3807240101"/>
                    </a:ext>
                  </a:extLst>
                </a:gridCol>
                <a:gridCol w="1005769">
                  <a:extLst>
                    <a:ext uri="{9D8B030D-6E8A-4147-A177-3AD203B41FA5}">
                      <a16:colId xmlns:a16="http://schemas.microsoft.com/office/drawing/2014/main" val="1805193900"/>
                    </a:ext>
                  </a:extLst>
                </a:gridCol>
                <a:gridCol w="969069">
                  <a:extLst>
                    <a:ext uri="{9D8B030D-6E8A-4147-A177-3AD203B41FA5}">
                      <a16:colId xmlns:a16="http://schemas.microsoft.com/office/drawing/2014/main" val="935472736"/>
                    </a:ext>
                  </a:extLst>
                </a:gridCol>
                <a:gridCol w="904112">
                  <a:extLst>
                    <a:ext uri="{9D8B030D-6E8A-4147-A177-3AD203B41FA5}">
                      <a16:colId xmlns:a16="http://schemas.microsoft.com/office/drawing/2014/main" val="497617951"/>
                    </a:ext>
                  </a:extLst>
                </a:gridCol>
                <a:gridCol w="1656301">
                  <a:extLst>
                    <a:ext uri="{9D8B030D-6E8A-4147-A177-3AD203B41FA5}">
                      <a16:colId xmlns:a16="http://schemas.microsoft.com/office/drawing/2014/main" val="3556520570"/>
                    </a:ext>
                  </a:extLst>
                </a:gridCol>
                <a:gridCol w="1986710">
                  <a:extLst>
                    <a:ext uri="{9D8B030D-6E8A-4147-A177-3AD203B41FA5}">
                      <a16:colId xmlns:a16="http://schemas.microsoft.com/office/drawing/2014/main" val="1382268862"/>
                    </a:ext>
                  </a:extLst>
                </a:gridCol>
              </a:tblGrid>
              <a:tr h="454643">
                <a:tc>
                  <a:txBody>
                    <a:bodyPr/>
                    <a:lstStyle/>
                    <a:p>
                      <a:pPr marL="249555" algn="ctr">
                        <a:lnSpc>
                          <a:spcPts val="2200"/>
                        </a:lnSpc>
                      </a:pPr>
                      <a:r>
                        <a:rPr lang="en-US" sz="1800" kern="0" spc="-3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項目</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93980" algn="ctr">
                        <a:lnSpc>
                          <a:spcPts val="2200"/>
                        </a:lnSpc>
                      </a:pPr>
                      <a:r>
                        <a:rPr lang="en-US" sz="1800" kern="0" spc="-3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單價</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93980" algn="ctr">
                        <a:lnSpc>
                          <a:spcPts val="2200"/>
                        </a:lnSpc>
                      </a:pPr>
                      <a:r>
                        <a:rPr lang="en-US" sz="1800" kern="0" spc="-3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數量</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800" kern="0" spc="-2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總金額</a:t>
                      </a:r>
                      <a:endParaRPr lang="zh-TW" altLang="en-US" sz="20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5090" algn="ctr">
                        <a:lnSpc>
                          <a:spcPts val="2200"/>
                        </a:lnSpc>
                      </a:pPr>
                      <a:r>
                        <a:rPr lang="en-US" sz="1800" kern="0" spc="-3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自籌</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305" algn="ctr">
                        <a:lnSpc>
                          <a:spcPts val="2200"/>
                        </a:lnSpc>
                      </a:pPr>
                      <a:r>
                        <a:rPr lang="en-US" sz="1800" kern="0" spc="-25"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申請</a:t>
                      </a:r>
                      <a:r>
                        <a:rPr lang="en-US" sz="1800" kern="0" spc="-2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補助</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en-US" sz="1800" kern="0" spc="-3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說明</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0672575"/>
                  </a:ext>
                </a:extLst>
              </a:tr>
              <a:tr h="287903">
                <a:tc>
                  <a:txBody>
                    <a:bodyPr/>
                    <a:lstStyle/>
                    <a:p>
                      <a:pPr marL="15240" algn="ctr">
                        <a:lnSpc>
                          <a:spcPts val="2200"/>
                        </a:lnSpc>
                      </a:pPr>
                      <a:r>
                        <a:rPr lang="en-US" sz="1800" kern="0" dirty="0">
                          <a:solidFill>
                            <a:srgbClr val="000000"/>
                          </a:solidFill>
                          <a:effectLst/>
                          <a:latin typeface="標楷體" panose="03000509000000000000" pitchFamily="65" charset="-120"/>
                          <a:ea typeface="標楷體" panose="03000509000000000000" pitchFamily="65" charset="-120"/>
                        </a:rPr>
                        <a:t>1.</a:t>
                      </a:r>
                      <a:r>
                        <a:rPr lang="zh-TW" sz="1800" kern="0" dirty="0">
                          <a:solidFill>
                            <a:srgbClr val="000000"/>
                          </a:solidFill>
                          <a:effectLst/>
                          <a:latin typeface="標楷體" panose="03000509000000000000" pitchFamily="65" charset="-120"/>
                          <a:ea typeface="標楷體" panose="03000509000000000000" pitchFamily="65" charset="-120"/>
                        </a:rPr>
                        <a:t>佈置費</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114300" algn="r">
                        <a:lnSpc>
                          <a:spcPts val="2200"/>
                        </a:lnSpc>
                      </a:pPr>
                      <a:r>
                        <a:rPr lang="en-US" sz="1800" b="1"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r>
                        <a:rPr lang="en-US" sz="18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a:t>
                      </a:r>
                      <a:r>
                        <a:rPr lang="en-US" sz="1800" b="1"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000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pPr marR="114300" algn="r">
                        <a:lnSpc>
                          <a:spcPts val="2200"/>
                        </a:lnSpc>
                      </a:pP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noFill/>
                  </a:tcPr>
                </a:tc>
                <a:tc>
                  <a:txBody>
                    <a:bodyPr/>
                    <a:lstStyle/>
                    <a:p>
                      <a:pPr marR="114300" algn="r">
                        <a:lnSpc>
                          <a:spcPts val="2200"/>
                        </a:lnSpc>
                      </a:pPr>
                      <a:r>
                        <a:rPr lang="en-US" sz="1800" b="1" kern="0">
                          <a:solidFill>
                            <a:srgbClr val="000000"/>
                          </a:solidFill>
                          <a:effectLst/>
                          <a:latin typeface="標楷體" panose="03000509000000000000" pitchFamily="65" charset="-120"/>
                          <a:ea typeface="標楷體" panose="03000509000000000000" pitchFamily="65" charset="-120"/>
                        </a:rPr>
                        <a:t>0</a:t>
                      </a:r>
                      <a:endParaRPr lang="zh-TW" sz="18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pPr>
                      <a:r>
                        <a:rPr lang="en-US" sz="1800" b="1"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r>
                        <a:rPr lang="en-US" sz="18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a:t>
                      </a:r>
                      <a:r>
                        <a:rPr lang="en-US" sz="1800" b="1"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000</a:t>
                      </a:r>
                      <a:endParaRPr lang="zh-TW" sz="18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pPr>
                      <a:r>
                        <a:rPr lang="en-US" sz="1800" kern="0">
                          <a:solidFill>
                            <a:srgbClr val="000000"/>
                          </a:solidFill>
                          <a:effectLst/>
                          <a:latin typeface="標楷體" panose="03000509000000000000" pitchFamily="65" charset="-120"/>
                          <a:ea typeface="標楷體" panose="03000509000000000000" pitchFamily="65" charset="-120"/>
                        </a:rPr>
                        <a:t> </a:t>
                      </a:r>
                      <a:endParaRPr lang="zh-TW" sz="18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6731916"/>
                  </a:ext>
                </a:extLst>
              </a:tr>
              <a:tr h="454643">
                <a:tc>
                  <a:txBody>
                    <a:bodyPr/>
                    <a:lstStyle/>
                    <a:p>
                      <a:pPr marL="15240" algn="ctr">
                        <a:lnSpc>
                          <a:spcPts val="2200"/>
                        </a:lnSpc>
                      </a:pPr>
                      <a:r>
                        <a:rPr lang="zh-TW" sz="1800" kern="0" dirty="0">
                          <a:solidFill>
                            <a:srgbClr val="000000"/>
                          </a:solidFill>
                          <a:effectLst/>
                          <a:latin typeface="標楷體" panose="03000509000000000000" pitchFamily="65" charset="-120"/>
                          <a:ea typeface="標楷體" panose="03000509000000000000" pitchFamily="65" charset="-120"/>
                        </a:rPr>
                        <a:t>紅布條</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pPr>
                      <a:r>
                        <a:rPr lang="en-US" sz="18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1,000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lang="en-US" sz="1800" kern="0" spc="-3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r>
                        <a:rPr lang="zh-TW" sz="1800" kern="0" spc="-3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條</a:t>
                      </a:r>
                      <a:endParaRPr lang="zh-TW" altLang="en-US" sz="1800" dirty="0">
                        <a:solidFill>
                          <a:srgbClr val="000000"/>
                        </a:solidFill>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47625" algn="r">
                        <a:lnSpc>
                          <a:spcPts val="2200"/>
                        </a:lnSpc>
                      </a:pPr>
                      <a:r>
                        <a:rPr lang="en-US" sz="18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r>
                        <a:rPr lang="en-US" sz="1800"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a:t>
                      </a:r>
                      <a:r>
                        <a:rPr lang="en-US" sz="18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000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tc>
                  <a:txBody>
                    <a:bodyPr/>
                    <a:lstStyle/>
                    <a:p>
                      <a:pPr marR="114300" algn="r">
                        <a:lnSpc>
                          <a:spcPts val="2200"/>
                        </a:lnSpc>
                      </a:pPr>
                      <a:r>
                        <a:rPr lang="en-US" sz="1800" kern="0" spc="-9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pPr>
                      <a:r>
                        <a:rPr lang="en-US" sz="1800"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r>
                        <a:rPr lang="en-US" sz="18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a:t>
                      </a:r>
                      <a:r>
                        <a:rPr lang="en-US" sz="1800"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r>
                        <a:rPr lang="en-US" sz="18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00</a:t>
                      </a:r>
                      <a:endParaRPr lang="zh-TW" sz="18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52400" algn="ctr">
                        <a:lnSpc>
                          <a:spcPts val="2200"/>
                        </a:lnSpc>
                      </a:pPr>
                      <a:r>
                        <a:rPr lang="en-US" sz="1800" kern="0">
                          <a:solidFill>
                            <a:srgbClr val="000000"/>
                          </a:solidFill>
                          <a:effectLst/>
                          <a:latin typeface="標楷體" panose="03000509000000000000" pitchFamily="65" charset="-120"/>
                          <a:ea typeface="標楷體" panose="03000509000000000000" pitchFamily="65" charset="-120"/>
                        </a:rPr>
                        <a:t>5</a:t>
                      </a:r>
                      <a:r>
                        <a:rPr lang="zh-TW" sz="1800" kern="0">
                          <a:solidFill>
                            <a:srgbClr val="000000"/>
                          </a:solidFill>
                          <a:effectLst/>
                          <a:latin typeface="標楷體" panose="03000509000000000000" pitchFamily="65" charset="-120"/>
                          <a:ea typeface="標楷體" panose="03000509000000000000" pitchFamily="65" charset="-120"/>
                        </a:rPr>
                        <a:t>社區各</a:t>
                      </a:r>
                      <a:r>
                        <a:rPr lang="en-US" sz="1800" kern="0">
                          <a:solidFill>
                            <a:srgbClr val="000000"/>
                          </a:solidFill>
                          <a:effectLst/>
                          <a:latin typeface="標楷體" panose="03000509000000000000" pitchFamily="65" charset="-120"/>
                          <a:ea typeface="標楷體" panose="03000509000000000000" pitchFamily="65" charset="-120"/>
                        </a:rPr>
                        <a:t>1</a:t>
                      </a:r>
                      <a:r>
                        <a:rPr lang="zh-TW" sz="1800" kern="0">
                          <a:solidFill>
                            <a:srgbClr val="000000"/>
                          </a:solidFill>
                          <a:effectLst/>
                          <a:latin typeface="標楷體" panose="03000509000000000000" pitchFamily="65" charset="-120"/>
                          <a:ea typeface="標楷體" panose="03000509000000000000" pitchFamily="65" charset="-120"/>
                        </a:rPr>
                        <a:t>條</a:t>
                      </a:r>
                      <a:endParaRPr lang="zh-TW" sz="18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9118833"/>
                  </a:ext>
                </a:extLst>
              </a:tr>
              <a:tr h="287903">
                <a:tc>
                  <a:txBody>
                    <a:bodyPr/>
                    <a:lstStyle/>
                    <a:p>
                      <a:pPr>
                        <a:lnSpc>
                          <a:spcPts val="2200"/>
                        </a:lnSpc>
                        <a:buNone/>
                      </a:pPr>
                      <a:r>
                        <a:rPr lang="en-US" sz="1800"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a:t>
                      </a:r>
                      <a:r>
                        <a:rPr lang="zh-TW" sz="1800"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材料</a:t>
                      </a:r>
                      <a:r>
                        <a:rPr lang="en-US" sz="1800"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費</a:t>
                      </a:r>
                      <a:endParaRPr lang="zh-TW" sz="1800" kern="100" dirty="0">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114300" algn="r">
                        <a:lnSpc>
                          <a:spcPts val="2200"/>
                        </a:lnSpc>
                        <a:buNone/>
                      </a:pPr>
                      <a:r>
                        <a:rPr lang="en-US" sz="1800" b="1"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13,900</a:t>
                      </a:r>
                      <a:endParaRPr lang="zh-TW" sz="1800" kern="100" dirty="0">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noFill/>
                  </a:tcPr>
                </a:tc>
                <a:tc>
                  <a:txBody>
                    <a:bodyPr/>
                    <a:lstStyle/>
                    <a:p>
                      <a:pPr marR="114300" algn="r">
                        <a:lnSpc>
                          <a:spcPts val="2200"/>
                        </a:lnSpc>
                        <a:buNone/>
                      </a:pPr>
                      <a:r>
                        <a:rPr lang="en-US" sz="1800" b="1" kern="0" spc="-9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200</a:t>
                      </a:r>
                      <a:endParaRPr lang="zh-TW" sz="1800" kern="100" dirty="0">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indent="274320" algn="r">
                        <a:lnSpc>
                          <a:spcPts val="2200"/>
                        </a:lnSpc>
                        <a:buNone/>
                      </a:pPr>
                      <a:r>
                        <a:rPr lang="en-US" sz="18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13,700</a:t>
                      </a:r>
                      <a:endParaRPr lang="zh-TW" sz="1800" kern="100" dirty="0">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gn="ctr">
                        <a:lnSpc>
                          <a:spcPts val="2200"/>
                        </a:lnSpc>
                        <a:spcBef>
                          <a:spcPts val="40"/>
                        </a:spcBef>
                        <a:buNone/>
                      </a:pPr>
                      <a:r>
                        <a:rPr lang="en-US" sz="1800" kern="0" dirty="0">
                          <a:effectLst/>
                          <a:latin typeface="標楷體" panose="03000509000000000000" pitchFamily="65" charset="-120"/>
                          <a:ea typeface="標楷體" panose="03000509000000000000" pitchFamily="65" charset="-120"/>
                        </a:rPr>
                        <a:t> </a:t>
                      </a:r>
                      <a:endParaRPr lang="zh-TW" sz="1800" kern="100" dirty="0">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6284651"/>
                  </a:ext>
                </a:extLst>
              </a:tr>
              <a:tr h="568541">
                <a:tc>
                  <a:txBody>
                    <a:bodyPr/>
                    <a:lstStyle/>
                    <a:p>
                      <a:pPr algn="ctr">
                        <a:lnSpc>
                          <a:spcPts val="2200"/>
                        </a:lnSpc>
                        <a:buNone/>
                      </a:pPr>
                      <a:r>
                        <a:rPr lang="zh-TW" sz="1800" kern="10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影印紙</a:t>
                      </a:r>
                      <a:endParaRPr lang="zh-TW" sz="1800" kern="100">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spc="-3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140</a:t>
                      </a:r>
                      <a:endParaRPr lang="zh-TW" sz="1800" kern="100" dirty="0">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20</a:t>
                      </a:r>
                      <a:r>
                        <a:rPr lang="zh-TW" sz="1800" kern="100" spc="-4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包</a:t>
                      </a:r>
                      <a:endParaRPr lang="zh-TW" sz="1800" kern="100" dirty="0">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2,800</a:t>
                      </a:r>
                      <a:endParaRPr lang="zh-TW" sz="1800" kern="100" dirty="0">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spc="-9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1800" kern="100" dirty="0">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indent="274320" algn="r">
                        <a:lnSpc>
                          <a:spcPts val="2200"/>
                        </a:lnSpc>
                        <a:buNone/>
                      </a:pPr>
                      <a:r>
                        <a:rPr lang="en-US" sz="1800" kern="10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2,800</a:t>
                      </a:r>
                      <a:endParaRPr lang="zh-TW" sz="1800" kern="100" dirty="0">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gn="ctr">
                        <a:lnSpc>
                          <a:spcPts val="2200"/>
                        </a:lnSpc>
                        <a:spcBef>
                          <a:spcPts val="40"/>
                        </a:spcBef>
                        <a:buNone/>
                      </a:pPr>
                      <a:r>
                        <a:rPr lang="zh-TW" sz="1800" kern="0" dirty="0">
                          <a:effectLst/>
                          <a:latin typeface="標楷體" panose="03000509000000000000" pitchFamily="65" charset="-120"/>
                          <a:ea typeface="標楷體" panose="03000509000000000000" pitchFamily="65" charset="-120"/>
                        </a:rPr>
                        <a:t>會議及培力課程使用</a:t>
                      </a:r>
                      <a:endParaRPr lang="zh-TW" sz="1800" kern="100" dirty="0">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7623539"/>
                  </a:ext>
                </a:extLst>
              </a:tr>
              <a:tr h="498295">
                <a:tc>
                  <a:txBody>
                    <a:bodyPr/>
                    <a:lstStyle/>
                    <a:p>
                      <a:pPr algn="ctr">
                        <a:lnSpc>
                          <a:spcPts val="2200"/>
                        </a:lnSpc>
                      </a:pPr>
                      <a:r>
                        <a:rPr lang="zh-TW" sz="1800" kern="10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碳粉匣</a:t>
                      </a:r>
                      <a:endParaRPr lang="zh-TW" sz="18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pPr>
                      <a:r>
                        <a:rPr lang="en-US" sz="1800" kern="100" spc="-3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5,000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pPr>
                      <a:r>
                        <a:rPr lang="en-US" sz="18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a:t>
                      </a:r>
                      <a:r>
                        <a:rPr lang="zh-TW" sz="18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色</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lang="en-US" sz="18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10,000</a:t>
                      </a:r>
                      <a:endParaRPr lang="zh-TW" altLang="en-US" sz="20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pPr>
                      <a:r>
                        <a:rPr lang="en-US" sz="1800" kern="100" spc="-9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indent="274320" algn="r">
                        <a:lnSpc>
                          <a:spcPts val="2200"/>
                        </a:lnSpc>
                      </a:pPr>
                      <a:r>
                        <a:rPr lang="en-US" sz="1800" kern="10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10,000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spcBef>
                          <a:spcPts val="40"/>
                        </a:spcBef>
                      </a:pPr>
                      <a:r>
                        <a:rPr lang="zh-TW" sz="1800" kern="0" dirty="0">
                          <a:solidFill>
                            <a:srgbClr val="000000"/>
                          </a:solidFill>
                          <a:effectLst/>
                          <a:latin typeface="標楷體" panose="03000509000000000000" pitchFamily="65" charset="-120"/>
                          <a:ea typeface="標楷體" panose="03000509000000000000" pitchFamily="65" charset="-120"/>
                        </a:rPr>
                        <a:t>影印會議資料、成果報告、培力課程</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6356222"/>
                  </a:ext>
                </a:extLst>
              </a:tr>
              <a:tr h="454643">
                <a:tc>
                  <a:txBody>
                    <a:bodyPr/>
                    <a:lstStyle/>
                    <a:p>
                      <a:pPr algn="ctr">
                        <a:lnSpc>
                          <a:spcPts val="2200"/>
                        </a:lnSpc>
                      </a:pPr>
                      <a:r>
                        <a:rPr lang="zh-TW" sz="1800" kern="10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文具用品</a:t>
                      </a:r>
                      <a:endParaRPr lang="zh-TW" sz="18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spc="-3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1,100</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spc="-2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1</a:t>
                      </a:r>
                      <a:r>
                        <a:rPr lang="zh-TW" sz="1800" kern="100" spc="-20">
                          <a:solidFill>
                            <a:srgbClr val="000000"/>
                          </a:solidFill>
                          <a:effectLst/>
                          <a:latin typeface="Times New Roman" panose="02020603050405020304" pitchFamily="18" charset="0"/>
                          <a:ea typeface="標楷體" panose="03000509000000000000" pitchFamily="65" charset="-120"/>
                          <a:cs typeface="SimSun" panose="02010600030101010101" pitchFamily="2" charset="-122"/>
                        </a:rPr>
                        <a:t>式</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spc="-3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1,100</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0">
                          <a:solidFill>
                            <a:srgbClr val="000000"/>
                          </a:solidFill>
                          <a:effectLst/>
                          <a:latin typeface="標楷體" panose="03000509000000000000" pitchFamily="65" charset="-120"/>
                          <a:ea typeface="新細明體" panose="02020500000000000000" pitchFamily="18" charset="-120"/>
                        </a:rPr>
                        <a:t>200</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indent="267970" algn="r">
                        <a:lnSpc>
                          <a:spcPts val="2200"/>
                        </a:lnSpc>
                        <a:buNone/>
                      </a:pPr>
                      <a:r>
                        <a:rPr lang="en-US" sz="1800" kern="100" spc="-30" dirty="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900</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gn="ctr">
                        <a:lnSpc>
                          <a:spcPts val="2200"/>
                        </a:lnSpc>
                        <a:spcBef>
                          <a:spcPts val="40"/>
                        </a:spcBef>
                      </a:pPr>
                      <a:r>
                        <a:rPr lang="en-US" sz="1800" kern="0" dirty="0">
                          <a:solidFill>
                            <a:srgbClr val="000000"/>
                          </a:solidFill>
                          <a:effectLst/>
                          <a:latin typeface="標楷體" panose="03000509000000000000" pitchFamily="65" charset="-120"/>
                          <a:ea typeface="標楷體" panose="03000509000000000000" pitchFamily="65" charset="-120"/>
                        </a:rPr>
                        <a:t> </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4197176"/>
                  </a:ext>
                </a:extLst>
              </a:tr>
              <a:tr h="287903">
                <a:tc>
                  <a:txBody>
                    <a:bodyPr/>
                    <a:lstStyle/>
                    <a:p>
                      <a:pPr algn="ctr">
                        <a:lnSpc>
                          <a:spcPts val="2200"/>
                        </a:lnSpc>
                      </a:pPr>
                      <a:r>
                        <a:rPr lang="en-US" altLang="zh-TW" sz="1800" kern="100" dirty="0">
                          <a:solidFill>
                            <a:srgbClr val="000000"/>
                          </a:solidFill>
                          <a:effectLst/>
                          <a:latin typeface="標楷體" panose="03000509000000000000" pitchFamily="65" charset="-120"/>
                          <a:ea typeface="標楷體" panose="03000509000000000000" pitchFamily="65" charset="-120"/>
                        </a:rPr>
                        <a:t>3.</a:t>
                      </a:r>
                      <a:r>
                        <a:rPr lang="zh-TW" altLang="en-US" sz="1800" kern="100" dirty="0">
                          <a:solidFill>
                            <a:srgbClr val="000000"/>
                          </a:solidFill>
                          <a:effectLst/>
                          <a:latin typeface="標楷體" panose="03000509000000000000" pitchFamily="65" charset="-120"/>
                          <a:ea typeface="標楷體" panose="03000509000000000000" pitchFamily="65" charset="-120"/>
                        </a:rPr>
                        <a:t>茶水費</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114300" algn="r">
                        <a:lnSpc>
                          <a:spcPts val="2200"/>
                        </a:lnSpc>
                      </a:pPr>
                      <a:r>
                        <a:rPr lang="en-US" sz="1800" b="1"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1,500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pPr marR="114300" algn="r">
                        <a:lnSpc>
                          <a:spcPts val="2200"/>
                        </a:lnSpc>
                      </a:pP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noFill/>
                  </a:tcPr>
                </a:tc>
                <a:tc>
                  <a:txBody>
                    <a:bodyPr/>
                    <a:lstStyle/>
                    <a:p>
                      <a:pPr marR="114300" algn="r">
                        <a:lnSpc>
                          <a:spcPts val="2200"/>
                        </a:lnSpc>
                      </a:pPr>
                      <a:r>
                        <a:rPr lang="en-US" sz="1800" b="1" kern="0" dirty="0">
                          <a:solidFill>
                            <a:srgbClr val="000000"/>
                          </a:solidFill>
                          <a:effectLst/>
                          <a:latin typeface="標楷體" panose="03000509000000000000" pitchFamily="65" charset="-120"/>
                          <a:ea typeface="標楷體" panose="03000509000000000000" pitchFamily="65" charset="-120"/>
                        </a:rPr>
                        <a:t>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indent="272415" algn="r">
                        <a:lnSpc>
                          <a:spcPts val="2200"/>
                        </a:lnSpc>
                      </a:pPr>
                      <a:r>
                        <a:rPr lang="en-US" sz="1800" b="1"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1,500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gn="ctr">
                        <a:lnSpc>
                          <a:spcPts val="2200"/>
                        </a:lnSpc>
                        <a:spcBef>
                          <a:spcPts val="40"/>
                        </a:spcBef>
                      </a:pPr>
                      <a:r>
                        <a:rPr lang="en-US" sz="1800" kern="0" dirty="0">
                          <a:solidFill>
                            <a:srgbClr val="000000"/>
                          </a:solidFill>
                          <a:effectLst/>
                          <a:latin typeface="標楷體" panose="03000509000000000000" pitchFamily="65" charset="-120"/>
                          <a:ea typeface="標楷體" panose="03000509000000000000" pitchFamily="65" charset="-120"/>
                        </a:rPr>
                        <a:t> </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8580585"/>
                  </a:ext>
                </a:extLst>
              </a:tr>
              <a:tr h="536105">
                <a:tc>
                  <a:txBody>
                    <a:bodyPr/>
                    <a:lstStyle/>
                    <a:p>
                      <a:pPr algn="ctr">
                        <a:lnSpc>
                          <a:spcPts val="2200"/>
                        </a:lnSpc>
                      </a:pPr>
                      <a:r>
                        <a:rPr lang="zh-TW" sz="1800" kern="0">
                          <a:solidFill>
                            <a:srgbClr val="000000"/>
                          </a:solidFill>
                          <a:effectLst/>
                          <a:latin typeface="標楷體" panose="03000509000000000000" pitchFamily="65" charset="-120"/>
                          <a:ea typeface="標楷體" panose="03000509000000000000" pitchFamily="65" charset="-120"/>
                        </a:rPr>
                        <a:t>茶水費</a:t>
                      </a:r>
                      <a:endParaRPr lang="zh-TW" sz="18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pPr>
                      <a:r>
                        <a:rPr lang="en-US" sz="1800" kern="0" spc="-4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pPr>
                      <a:r>
                        <a:rPr lang="en-US" altLang="zh-TW" sz="18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75</a:t>
                      </a:r>
                      <a:r>
                        <a:rPr lang="zh-TW" sz="18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人次</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lang="en-US" sz="18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1,500</a:t>
                      </a:r>
                      <a:endParaRPr lang="zh-TW" altLang="en-US" sz="20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tc>
                  <a:txBody>
                    <a:bodyPr/>
                    <a:lstStyle/>
                    <a:p>
                      <a:pPr marR="114300" algn="r">
                        <a:lnSpc>
                          <a:spcPts val="2200"/>
                        </a:lnSpc>
                      </a:pPr>
                      <a:r>
                        <a:rPr lang="en-US" sz="1800" kern="0">
                          <a:solidFill>
                            <a:srgbClr val="000000"/>
                          </a:solidFill>
                          <a:effectLst/>
                          <a:latin typeface="標楷體" panose="03000509000000000000" pitchFamily="65" charset="-120"/>
                          <a:ea typeface="標楷體" panose="03000509000000000000" pitchFamily="65" charset="-120"/>
                        </a:rPr>
                        <a:t>0</a:t>
                      </a:r>
                      <a:endParaRPr lang="zh-TW" sz="18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indent="271780" algn="r">
                        <a:lnSpc>
                          <a:spcPts val="2200"/>
                        </a:lnSpc>
                      </a:pPr>
                      <a:r>
                        <a:rPr lang="en-US" sz="18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1,500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gn="ctr">
                        <a:lnSpc>
                          <a:spcPts val="2200"/>
                        </a:lnSpc>
                        <a:spcBef>
                          <a:spcPts val="40"/>
                        </a:spcBef>
                      </a:pPr>
                      <a:r>
                        <a:rPr lang="en-US" sz="1800" kern="0" dirty="0">
                          <a:solidFill>
                            <a:srgbClr val="000000"/>
                          </a:solidFill>
                          <a:effectLst/>
                          <a:latin typeface="標楷體" panose="03000509000000000000" pitchFamily="65" charset="-120"/>
                          <a:ea typeface="標楷體" panose="03000509000000000000" pitchFamily="65" charset="-120"/>
                        </a:rPr>
                        <a:t>10</a:t>
                      </a:r>
                      <a:r>
                        <a:rPr lang="zh-TW" sz="1800" kern="0" dirty="0">
                          <a:solidFill>
                            <a:srgbClr val="000000"/>
                          </a:solidFill>
                          <a:effectLst/>
                          <a:latin typeface="標楷體" panose="03000509000000000000" pitchFamily="65" charset="-120"/>
                          <a:ea typeface="標楷體" panose="03000509000000000000" pitchFamily="65" charset="-120"/>
                        </a:rPr>
                        <a:t>次會議茶水費</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36180504"/>
                  </a:ext>
                </a:extLst>
              </a:tr>
              <a:tr h="298977">
                <a:tc gridSpan="3">
                  <a:txBody>
                    <a:bodyPr/>
                    <a:lstStyle/>
                    <a:p>
                      <a:pPr marL="243840" algn="ctr">
                        <a:lnSpc>
                          <a:spcPts val="2200"/>
                        </a:lnSpc>
                      </a:pPr>
                      <a:r>
                        <a:rPr lang="zh-TW" sz="1800" b="1"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總</a:t>
                      </a:r>
                      <a:r>
                        <a:rPr lang="en-US" sz="1800" b="1"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  </a:t>
                      </a:r>
                      <a:r>
                        <a:rPr lang="zh-TW" sz="1800" b="1"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計</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algn="r"/>
                      <a:r>
                        <a:rPr lang="en-US" sz="18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20,400</a:t>
                      </a:r>
                      <a:endParaRPr lang="zh-TW" altLang="en-US" sz="20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pPr>
                      <a:r>
                        <a:rPr lang="en-US" sz="1800" b="1" kern="100" spc="-9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200</a:t>
                      </a:r>
                      <a:endParaRPr lang="zh-TW" sz="1800" b="1"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indent="371475" algn="r">
                        <a:lnSpc>
                          <a:spcPts val="2200"/>
                        </a:lnSpc>
                      </a:pPr>
                      <a:r>
                        <a:rPr lang="en-US" sz="18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20,200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2200"/>
                        </a:lnSpc>
                      </a:pPr>
                      <a:r>
                        <a:rPr lang="en-US" sz="1800" kern="0" dirty="0">
                          <a:solidFill>
                            <a:srgbClr val="000000"/>
                          </a:solidFill>
                          <a:effectLst/>
                          <a:latin typeface="標楷體" panose="03000509000000000000" pitchFamily="65" charset="-120"/>
                          <a:ea typeface="標楷體" panose="03000509000000000000" pitchFamily="65" charset="-120"/>
                        </a:rPr>
                        <a:t> </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1650588"/>
                  </a:ext>
                </a:extLst>
              </a:tr>
            </a:tbl>
          </a:graphicData>
        </a:graphic>
      </p:graphicFrame>
    </p:spTree>
    <p:extLst>
      <p:ext uri="{BB962C8B-B14F-4D97-AF65-F5344CB8AC3E}">
        <p14:creationId xmlns:p14="http://schemas.microsoft.com/office/powerpoint/2010/main" val="23631134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508D2-FC32-298E-FAF3-4549D7909D5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DB5223D-7EEF-2F06-0441-8DD0E9EE623C}"/>
              </a:ext>
            </a:extLst>
          </p:cNvPr>
          <p:cNvSpPr>
            <a:spLocks noGrp="1"/>
          </p:cNvSpPr>
          <p:nvPr>
            <p:ph type="title"/>
          </p:nvPr>
        </p:nvSpPr>
        <p:spPr/>
        <p:txBody>
          <a:bodyPr/>
          <a:lstStyle/>
          <a:p>
            <a:r>
              <a:rPr lang="zh-TW" altLang="en-US" sz="3200" dirty="0">
                <a:solidFill>
                  <a:srgbClr val="FFFFFF"/>
                </a:solidFill>
                <a:latin typeface="華康隸書體W7" panose="02010609010101010101" pitchFamily="49" charset="-120"/>
                <a:ea typeface="華康隸書體W7" panose="02010609010101010101" pitchFamily="49" charset="-120"/>
              </a:rPr>
              <a:t>子計畫二：新移共融計畫</a:t>
            </a:r>
            <a:endParaRPr lang="zh-TW" altLang="en-US" sz="2400" dirty="0"/>
          </a:p>
        </p:txBody>
      </p:sp>
      <p:sp>
        <p:nvSpPr>
          <p:cNvPr id="3" name="內容版面配置區 2">
            <a:extLst>
              <a:ext uri="{FF2B5EF4-FFF2-40B4-BE49-F238E27FC236}">
                <a16:creationId xmlns:a16="http://schemas.microsoft.com/office/drawing/2014/main" id="{EA6BF884-CC18-0EEC-4E1D-141099E61CD4}"/>
              </a:ext>
            </a:extLst>
          </p:cNvPr>
          <p:cNvSpPr>
            <a:spLocks noGrp="1"/>
          </p:cNvSpPr>
          <p:nvPr>
            <p:ph idx="1"/>
          </p:nvPr>
        </p:nvSpPr>
        <p:spPr>
          <a:xfrm>
            <a:off x="470148" y="723156"/>
            <a:ext cx="8229600" cy="473596"/>
          </a:xfrm>
        </p:spPr>
        <p:txBody>
          <a:bodyPr/>
          <a:lstStyle/>
          <a:p>
            <a:pPr marL="0" indent="0" algn="ctr">
              <a:buNone/>
            </a:pPr>
            <a:r>
              <a:rPr lang="zh-TW" altLang="en-US" sz="2400" b="1" dirty="0">
                <a:solidFill>
                  <a:srgbClr val="FF0000"/>
                </a:solidFill>
                <a:latin typeface="標楷體" pitchFamily="65" charset="-120"/>
                <a:ea typeface="標楷體" pitchFamily="65" charset="-120"/>
              </a:rPr>
              <a:t>目的</a:t>
            </a:r>
          </a:p>
        </p:txBody>
      </p:sp>
      <p:sp>
        <p:nvSpPr>
          <p:cNvPr id="4" name="矩形 3">
            <a:extLst>
              <a:ext uri="{FF2B5EF4-FFF2-40B4-BE49-F238E27FC236}">
                <a16:creationId xmlns:a16="http://schemas.microsoft.com/office/drawing/2014/main" id="{726266E0-88E7-A533-CDC9-B84727DDD7A3}"/>
              </a:ext>
            </a:extLst>
          </p:cNvPr>
          <p:cNvSpPr/>
          <p:nvPr/>
        </p:nvSpPr>
        <p:spPr>
          <a:xfrm>
            <a:off x="0" y="1187128"/>
            <a:ext cx="9145016" cy="3041410"/>
          </a:xfrm>
          <a:prstGeom prst="rect">
            <a:avLst/>
          </a:prstGeom>
        </p:spPr>
        <p:txBody>
          <a:bodyPr wrap="square">
            <a:spAutoFit/>
          </a:bodyPr>
          <a:lstStyle/>
          <a:p>
            <a:pPr marL="723900" marR="0" lvl="0" indent="-279400" algn="just" defTabSz="914400" rtl="0" eaLnBrk="1" fontAlgn="auto" latinLnBrk="0" hangingPunct="1">
              <a:lnSpc>
                <a:spcPts val="3900"/>
              </a:lnSpc>
              <a:spcBef>
                <a:spcPts val="0"/>
              </a:spcBef>
              <a:spcAft>
                <a:spcPts val="0"/>
              </a:spcAft>
              <a:buClrTx/>
              <a:buSzTx/>
              <a:buFontTx/>
              <a:buNone/>
              <a:tabLst>
                <a:tab pos="622300" algn="l"/>
              </a:tabLst>
              <a:defRPr/>
            </a:pP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）促進文化理解</a:t>
            </a:r>
            <a:endPar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endParaRPr>
          </a:p>
          <a:p>
            <a:pPr marL="723900" marR="0" lvl="0" indent="-279400" algn="just" defTabSz="914400" rtl="0" eaLnBrk="1" fontAlgn="auto" latinLnBrk="0" hangingPunct="1">
              <a:lnSpc>
                <a:spcPts val="3900"/>
              </a:lnSpc>
              <a:spcBef>
                <a:spcPts val="0"/>
              </a:spcBef>
              <a:spcAft>
                <a:spcPts val="0"/>
              </a:spcAft>
              <a:buClrTx/>
              <a:buSzTx/>
              <a:buFontTx/>
              <a:buNone/>
              <a:tabLst>
                <a:tab pos="622300" algn="l"/>
              </a:tabLst>
              <a:defRPr/>
            </a:pP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）推動多元平等理念（</a:t>
            </a:r>
            <a:r>
              <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rPr>
              <a:t>DEI</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）落實於社區行動。</a:t>
            </a:r>
          </a:p>
          <a:p>
            <a:pPr marL="723900" marR="0" lvl="0" indent="-279400" algn="just" defTabSz="914400" rtl="0" eaLnBrk="1" fontAlgn="auto" latinLnBrk="0" hangingPunct="1">
              <a:lnSpc>
                <a:spcPts val="3900"/>
              </a:lnSpc>
              <a:spcBef>
                <a:spcPts val="0"/>
              </a:spcBef>
              <a:spcAft>
                <a:spcPts val="0"/>
              </a:spcAft>
              <a:buClrTx/>
              <a:buSzTx/>
              <a:buFontTx/>
              <a:buNone/>
              <a:tabLst>
                <a:tab pos="622300" algn="l"/>
              </a:tabLst>
              <a:defRPr/>
            </a:pP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）強化社區自主規劃與執行力</a:t>
            </a:r>
            <a:endPar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endParaRPr>
          </a:p>
          <a:p>
            <a:pPr marL="723900" marR="0" lvl="0" indent="-279400" algn="just" defTabSz="914400" rtl="0" eaLnBrk="1" fontAlgn="auto" latinLnBrk="0" hangingPunct="1">
              <a:lnSpc>
                <a:spcPts val="3900"/>
              </a:lnSpc>
              <a:spcBef>
                <a:spcPts val="0"/>
              </a:spcBef>
              <a:spcAft>
                <a:spcPts val="0"/>
              </a:spcAft>
              <a:buClrTx/>
              <a:buSzTx/>
              <a:buFontTx/>
              <a:buNone/>
              <a:tabLst>
                <a:tab pos="622300" algn="l"/>
              </a:tabLst>
              <a:defRPr/>
            </a:pP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）建構跨文化交流平台</a:t>
            </a:r>
            <a:endPar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endParaRPr>
          </a:p>
          <a:p>
            <a:pPr marL="723900" marR="0" lvl="0" indent="-279400" algn="just" defTabSz="914400" rtl="0" eaLnBrk="1" fontAlgn="auto" latinLnBrk="0" hangingPunct="1">
              <a:lnSpc>
                <a:spcPts val="3900"/>
              </a:lnSpc>
              <a:spcBef>
                <a:spcPts val="0"/>
              </a:spcBef>
              <a:spcAft>
                <a:spcPts val="0"/>
              </a:spcAft>
              <a:buClrTx/>
              <a:buSzTx/>
              <a:buFontTx/>
              <a:buNone/>
              <a:tabLst>
                <a:tab pos="622300" algn="l"/>
              </a:tabLst>
              <a:defRPr/>
            </a:pP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rPr>
              <a:t>5</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）形成在地永續共融</a:t>
            </a:r>
            <a:endPar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endParaRPr>
          </a:p>
          <a:p>
            <a:pPr marL="723900" marR="0" lvl="0" indent="-279400" algn="just" defTabSz="914400" rtl="0" eaLnBrk="1" fontAlgn="auto" latinLnBrk="0" hangingPunct="1">
              <a:lnSpc>
                <a:spcPts val="3900"/>
              </a:lnSpc>
              <a:spcBef>
                <a:spcPts val="0"/>
              </a:spcBef>
              <a:spcAft>
                <a:spcPts val="0"/>
              </a:spcAft>
              <a:buClrTx/>
              <a:buSzTx/>
              <a:buFontTx/>
              <a:buNone/>
              <a:tabLst>
                <a:tab pos="622300" algn="l"/>
              </a:tabLst>
              <a:defRPr/>
            </a:pP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rPr>
              <a:t>6</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）提供新移民及移工紓壓與交流平台。</a:t>
            </a:r>
          </a:p>
        </p:txBody>
      </p:sp>
      <p:sp>
        <p:nvSpPr>
          <p:cNvPr id="5" name="內容版面配置區 2">
            <a:extLst>
              <a:ext uri="{FF2B5EF4-FFF2-40B4-BE49-F238E27FC236}">
                <a16:creationId xmlns:a16="http://schemas.microsoft.com/office/drawing/2014/main" id="{5FBC2037-D33E-8280-9206-08E13D26F5C4}"/>
              </a:ext>
            </a:extLst>
          </p:cNvPr>
          <p:cNvSpPr txBox="1">
            <a:spLocks/>
          </p:cNvSpPr>
          <p:nvPr/>
        </p:nvSpPr>
        <p:spPr bwMode="auto">
          <a:xfrm>
            <a:off x="457200" y="4398934"/>
            <a:ext cx="8229600" cy="58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6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marR="0" lvl="0" indent="0" algn="ctr" defTabSz="914400" rtl="0" eaLnBrk="0" fontAlgn="base" latinLnBrk="0" hangingPunct="0">
              <a:lnSpc>
                <a:spcPct val="100000"/>
              </a:lnSpc>
              <a:spcBef>
                <a:spcPct val="20000"/>
              </a:spcBef>
              <a:spcAft>
                <a:spcPct val="0"/>
              </a:spcAft>
              <a:buClr>
                <a:srgbClr val="69AAB1"/>
              </a:buClr>
              <a:buSzTx/>
              <a:buFont typeface="Wingdings" pitchFamily="2" charset="2"/>
              <a:buNone/>
              <a:tabLst/>
              <a:defRPr/>
            </a:pPr>
            <a:r>
              <a:rPr kumimoji="0" lang="zh-TW" altLang="en-US" sz="2400" b="1" i="0" u="none" strike="noStrike" kern="0" cap="none" spc="0" normalizeH="0" baseline="0" noProof="0" dirty="0">
                <a:ln>
                  <a:noFill/>
                </a:ln>
                <a:solidFill>
                  <a:srgbClr val="FF0000"/>
                </a:solidFill>
                <a:effectLst/>
                <a:uLnTx/>
                <a:uFillTx/>
                <a:latin typeface="標楷體" pitchFamily="65" charset="-120"/>
                <a:ea typeface="標楷體" pitchFamily="65" charset="-120"/>
                <a:cs typeface="+mn-cs"/>
              </a:rPr>
              <a:t>服務對象</a:t>
            </a:r>
            <a:r>
              <a:rPr kumimoji="0" lang="zh-TW" altLang="zh-TW" sz="2400" b="1" i="0" u="none" strike="noStrike" kern="1200" cap="none" spc="0" normalizeH="0" baseline="0" noProof="0" dirty="0">
                <a:ln>
                  <a:noFill/>
                </a:ln>
                <a:solidFill>
                  <a:srgbClr val="024631"/>
                </a:solidFill>
                <a:effectLst/>
                <a:uLnTx/>
                <a:uFillTx/>
                <a:latin typeface="標楷體" panose="03000509000000000000" pitchFamily="65" charset="-120"/>
                <a:ea typeface="標楷體" panose="03000509000000000000" pitchFamily="65" charset="-120"/>
                <a:cs typeface="+mn-cs"/>
              </a:rPr>
              <a:t>：由中央社區主責</a:t>
            </a:r>
            <a:endParaRPr kumimoji="0" lang="zh-TW" altLang="zh-TW" sz="2400" b="0" i="0" u="none" strike="noStrike" kern="1200" cap="none" spc="0" normalizeH="0" baseline="0" noProof="0" dirty="0">
              <a:ln>
                <a:noFill/>
              </a:ln>
              <a:solidFill>
                <a:srgbClr val="024631"/>
              </a:solidFill>
              <a:effectLst/>
              <a:uLnTx/>
              <a:uFillTx/>
              <a:latin typeface="標楷體" panose="03000509000000000000" pitchFamily="65" charset="-120"/>
              <a:ea typeface="標楷體" panose="03000509000000000000" pitchFamily="65" charset="-120"/>
              <a:cs typeface="+mn-cs"/>
            </a:endParaRPr>
          </a:p>
          <a:p>
            <a:pPr marL="0" marR="0" lvl="0" indent="0" algn="ctr" defTabSz="914400" rtl="0" eaLnBrk="0" fontAlgn="base" latinLnBrk="0" hangingPunct="0">
              <a:lnSpc>
                <a:spcPct val="100000"/>
              </a:lnSpc>
              <a:spcBef>
                <a:spcPct val="20000"/>
              </a:spcBef>
              <a:spcAft>
                <a:spcPct val="0"/>
              </a:spcAft>
              <a:buClr>
                <a:srgbClr val="69AAB1"/>
              </a:buClr>
              <a:buSzTx/>
              <a:buFont typeface="Wingdings" pitchFamily="2" charset="2"/>
              <a:buNone/>
              <a:tabLst/>
              <a:defRPr/>
            </a:pPr>
            <a:endParaRPr kumimoji="0" lang="zh-TW" altLang="en-US" sz="2800" b="1" i="0" u="none" strike="noStrike" kern="0" cap="none" spc="0" normalizeH="0" baseline="0" noProof="0" dirty="0">
              <a:ln>
                <a:noFill/>
              </a:ln>
              <a:solidFill>
                <a:srgbClr val="FF0000"/>
              </a:solidFill>
              <a:effectLst/>
              <a:uLnTx/>
              <a:uFillTx/>
              <a:latin typeface="標楷體" pitchFamily="65" charset="-120"/>
              <a:ea typeface="標楷體" pitchFamily="65" charset="-120"/>
              <a:cs typeface="+mn-cs"/>
            </a:endParaRPr>
          </a:p>
        </p:txBody>
      </p:sp>
      <p:sp>
        <p:nvSpPr>
          <p:cNvPr id="6" name="矩形 5">
            <a:extLst>
              <a:ext uri="{FF2B5EF4-FFF2-40B4-BE49-F238E27FC236}">
                <a16:creationId xmlns:a16="http://schemas.microsoft.com/office/drawing/2014/main" id="{4AB3E169-EA5B-6CAC-4381-DB35EB7847A5}"/>
              </a:ext>
            </a:extLst>
          </p:cNvPr>
          <p:cNvSpPr/>
          <p:nvPr/>
        </p:nvSpPr>
        <p:spPr>
          <a:xfrm>
            <a:off x="12440" y="4900372"/>
            <a:ext cx="9145016" cy="1540999"/>
          </a:xfrm>
          <a:prstGeom prst="rect">
            <a:avLst/>
          </a:prstGeom>
        </p:spPr>
        <p:txBody>
          <a:bodyPr wrap="square">
            <a:spAutoFit/>
          </a:bodyPr>
          <a:lstStyle/>
          <a:p>
            <a:pPr marL="552450" marR="0" lvl="0" indent="-247650" algn="just" defTabSz="914400" rtl="0" eaLnBrk="1" fontAlgn="auto" latinLnBrk="0" hangingPunct="1">
              <a:lnSpc>
                <a:spcPts val="39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1.</a:t>
            </a:r>
            <a:r>
              <a:rPr kumimoji="0" lang="zh-TW"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共融文化交流活動：</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富州社區、中央社區之外籍移工、新住民及社區居民。</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a:p>
            <a:pPr marL="552450" marR="0" lvl="0" indent="-247650" algn="just" defTabSz="914400" rtl="0" eaLnBrk="1" fontAlgn="auto" latinLnBrk="0" hangingPunct="1">
              <a:lnSpc>
                <a:spcPts val="39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2.</a:t>
            </a:r>
            <a:r>
              <a:rPr kumimoji="0" lang="zh-TW"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友善設施改善：</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小旗艦之社區。</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p:txBody>
      </p:sp>
    </p:spTree>
    <p:extLst>
      <p:ext uri="{BB962C8B-B14F-4D97-AF65-F5344CB8AC3E}">
        <p14:creationId xmlns:p14="http://schemas.microsoft.com/office/powerpoint/2010/main" val="26299392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200" dirty="0">
                <a:solidFill>
                  <a:srgbClr val="FFFFFF"/>
                </a:solidFill>
                <a:latin typeface="華康隸書體W7" panose="02010609010101010101" pitchFamily="49" charset="-120"/>
                <a:ea typeface="華康隸書體W7" panose="02010609010101010101" pitchFamily="49" charset="-120"/>
              </a:rPr>
              <a:t>子計畫二：新移共融計畫</a:t>
            </a:r>
            <a:endParaRPr lang="zh-TW" altLang="en-US" sz="2400" dirty="0"/>
          </a:p>
        </p:txBody>
      </p:sp>
      <p:sp>
        <p:nvSpPr>
          <p:cNvPr id="3" name="內容版面配置區 2"/>
          <p:cNvSpPr>
            <a:spLocks noGrp="1"/>
          </p:cNvSpPr>
          <p:nvPr>
            <p:ph idx="1"/>
          </p:nvPr>
        </p:nvSpPr>
        <p:spPr>
          <a:xfrm>
            <a:off x="457200" y="609600"/>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內容</a:t>
            </a:r>
          </a:p>
        </p:txBody>
      </p:sp>
      <p:sp>
        <p:nvSpPr>
          <p:cNvPr id="4" name="矩形 3"/>
          <p:cNvSpPr/>
          <p:nvPr/>
        </p:nvSpPr>
        <p:spPr>
          <a:xfrm>
            <a:off x="-76708" y="1167730"/>
            <a:ext cx="9145016" cy="6182142"/>
          </a:xfrm>
          <a:prstGeom prst="rect">
            <a:avLst/>
          </a:prstGeom>
        </p:spPr>
        <p:txBody>
          <a:bodyPr wrap="square">
            <a:spAutoFit/>
          </a:bodyPr>
          <a:lstStyle/>
          <a:p>
            <a:pPr marL="552450" marR="0" lvl="0" indent="-247650" algn="just"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標楷體" panose="03000509000000000000" pitchFamily="65" charset="-120"/>
                <a:ea typeface="新細明體" panose="02020500000000000000" pitchFamily="18" charset="-120"/>
                <a:cs typeface="+mn-cs"/>
              </a:rPr>
              <a:t>(1)</a:t>
            </a:r>
            <a:r>
              <a:rPr kumimoji="0" lang="zh-TW"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共融文化交流活動</a:t>
            </a:r>
            <a:r>
              <a:rPr kumimoji="0" lang="en-US" altLang="zh-TW" sz="2400" b="0" i="0" u="none" strike="noStrike" kern="100" cap="none" spc="0" normalizeH="0" baseline="0" noProof="0" dirty="0">
                <a:ln>
                  <a:noFill/>
                </a:ln>
                <a:solidFill>
                  <a:srgbClr val="000000"/>
                </a:solidFill>
                <a:effectLst/>
                <a:uLnTx/>
                <a:uFillTx/>
                <a:latin typeface="標楷體" panose="03000509000000000000" pitchFamily="65" charset="-120"/>
                <a:ea typeface="新細明體" panose="02020500000000000000" pitchFamily="18" charset="-120"/>
                <a:cs typeface="+mn-cs"/>
              </a:rPr>
              <a:t>-</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富州社區及中央社區</a:t>
            </a:r>
            <a:r>
              <a:rPr kumimoji="0" lang="zh-TW" altLang="zh-TW" sz="2400" b="0" i="0" u="none" strike="noStrike" kern="100" cap="none" spc="0" normalizeH="0" baseline="0" noProof="0" dirty="0">
                <a:ln>
                  <a:noFill/>
                </a:ln>
                <a:solidFill>
                  <a:srgbClr val="FF0000"/>
                </a:solidFill>
                <a:effectLst/>
                <a:uLnTx/>
                <a:uFillTx/>
                <a:latin typeface="Times New Roman" panose="02020603050405020304" pitchFamily="18" charset="0"/>
                <a:ea typeface="標楷體" panose="03000509000000000000" pitchFamily="65" charset="-120"/>
                <a:cs typeface="+mn-cs"/>
              </a:rPr>
              <a:t>各辦理</a:t>
            </a:r>
            <a:r>
              <a:rPr kumimoji="0" lang="en-US" altLang="zh-TW" sz="2400" b="0" i="0" u="none" strike="noStrike" kern="100" cap="none" spc="0" normalizeH="0" baseline="0" noProof="0" dirty="0">
                <a:ln>
                  <a:noFill/>
                </a:ln>
                <a:solidFill>
                  <a:srgbClr val="FF0000"/>
                </a:solidFill>
                <a:effectLst/>
                <a:uLnTx/>
                <a:uFillTx/>
                <a:latin typeface="Times New Roman" panose="02020603050405020304" pitchFamily="18" charset="0"/>
                <a:ea typeface="標楷體" panose="03000509000000000000" pitchFamily="65" charset="-120"/>
                <a:cs typeface="+mn-cs"/>
              </a:rPr>
              <a:t>4</a:t>
            </a:r>
            <a:r>
              <a:rPr kumimoji="0" lang="zh-TW" altLang="zh-TW" sz="2400" b="0" i="0" u="none" strike="noStrike" kern="100" cap="none" spc="0" normalizeH="0" baseline="0" noProof="0" dirty="0">
                <a:ln>
                  <a:noFill/>
                </a:ln>
                <a:solidFill>
                  <a:srgbClr val="FF0000"/>
                </a:solidFill>
                <a:effectLst/>
                <a:uLnTx/>
                <a:uFillTx/>
                <a:latin typeface="Times New Roman" panose="02020603050405020304" pitchFamily="18" charset="0"/>
                <a:ea typeface="標楷體" panose="03000509000000000000" pitchFamily="65" charset="-120"/>
                <a:cs typeface="+mn-cs"/>
              </a:rPr>
              <a:t>場，每次</a:t>
            </a:r>
            <a:r>
              <a:rPr kumimoji="0" lang="en-US" altLang="zh-TW" sz="2400" b="0" i="0" u="none" strike="noStrike" kern="100" cap="none" spc="0" normalizeH="0" baseline="0" noProof="0" dirty="0">
                <a:ln>
                  <a:noFill/>
                </a:ln>
                <a:solidFill>
                  <a:srgbClr val="FF0000"/>
                </a:solidFill>
                <a:effectLst/>
                <a:uLnTx/>
                <a:uFillTx/>
                <a:latin typeface="Times New Roman" panose="02020603050405020304" pitchFamily="18" charset="0"/>
                <a:ea typeface="標楷體" panose="03000509000000000000" pitchFamily="65" charset="-120"/>
                <a:cs typeface="+mn-cs"/>
              </a:rPr>
              <a:t>2</a:t>
            </a:r>
            <a:r>
              <a:rPr kumimoji="0" lang="zh-TW" altLang="zh-TW" sz="2400" b="0" i="0" u="none" strike="noStrike" kern="100" cap="none" spc="0" normalizeH="0" baseline="0" noProof="0" dirty="0">
                <a:ln>
                  <a:noFill/>
                </a:ln>
                <a:solidFill>
                  <a:srgbClr val="FF0000"/>
                </a:solidFill>
                <a:effectLst/>
                <a:uLnTx/>
                <a:uFillTx/>
                <a:latin typeface="Times New Roman" panose="02020603050405020304" pitchFamily="18" charset="0"/>
                <a:ea typeface="標楷體" panose="03000509000000000000" pitchFamily="65" charset="-120"/>
                <a:cs typeface="+mn-cs"/>
              </a:rPr>
              <a:t>小時，共</a:t>
            </a:r>
            <a:r>
              <a:rPr kumimoji="0" lang="en-US" altLang="zh-TW" sz="2400" b="0" i="0" u="none" strike="noStrike" kern="100" cap="none" spc="0" normalizeH="0" baseline="0" noProof="0" dirty="0">
                <a:ln>
                  <a:noFill/>
                </a:ln>
                <a:solidFill>
                  <a:srgbClr val="FF0000"/>
                </a:solidFill>
                <a:effectLst/>
                <a:uLnTx/>
                <a:uFillTx/>
                <a:latin typeface="Times New Roman" panose="02020603050405020304" pitchFamily="18" charset="0"/>
                <a:ea typeface="標楷體" panose="03000509000000000000" pitchFamily="65" charset="-120"/>
                <a:cs typeface="+mn-cs"/>
              </a:rPr>
              <a:t>8</a:t>
            </a:r>
            <a:r>
              <a:rPr kumimoji="0" lang="zh-TW" altLang="zh-TW" sz="2400" b="0" i="0" u="none" strike="noStrike" kern="100" cap="none" spc="0" normalizeH="0" baseline="0" noProof="0" dirty="0">
                <a:ln>
                  <a:noFill/>
                </a:ln>
                <a:solidFill>
                  <a:srgbClr val="FF0000"/>
                </a:solidFill>
                <a:effectLst/>
                <a:uLnTx/>
                <a:uFillTx/>
                <a:latin typeface="Times New Roman" panose="02020603050405020304" pitchFamily="18" charset="0"/>
                <a:ea typeface="標楷體" panose="03000509000000000000" pitchFamily="65" charset="-120"/>
                <a:cs typeface="+mn-cs"/>
              </a:rPr>
              <a:t>場</a:t>
            </a:r>
            <a:r>
              <a:rPr kumimoji="0" lang="en-US" altLang="zh-TW" sz="2400" b="0" i="0" u="none" strike="noStrike" kern="100" cap="none" spc="0" normalizeH="0" baseline="0" noProof="0" dirty="0">
                <a:ln>
                  <a:noFill/>
                </a:ln>
                <a:solidFill>
                  <a:srgbClr val="FF0000"/>
                </a:solidFill>
                <a:effectLst/>
                <a:uLnTx/>
                <a:uFillTx/>
                <a:latin typeface="Times New Roman" panose="02020603050405020304" pitchFamily="18" charset="0"/>
                <a:ea typeface="標楷體" panose="03000509000000000000" pitchFamily="65" charset="-120"/>
                <a:cs typeface="+mn-cs"/>
              </a:rPr>
              <a:t>16</a:t>
            </a:r>
            <a:r>
              <a:rPr kumimoji="0" lang="zh-TW" altLang="zh-TW" sz="2400" b="0" i="0" u="none" strike="noStrike" kern="100" cap="none" spc="0" normalizeH="0" baseline="0" noProof="0" dirty="0">
                <a:ln>
                  <a:noFill/>
                </a:ln>
                <a:solidFill>
                  <a:srgbClr val="FF0000"/>
                </a:solidFill>
                <a:effectLst/>
                <a:uLnTx/>
                <a:uFillTx/>
                <a:latin typeface="Times New Roman" panose="02020603050405020304" pitchFamily="18" charset="0"/>
                <a:ea typeface="標楷體" panose="03000509000000000000" pitchFamily="65" charset="-120"/>
                <a:cs typeface="+mn-cs"/>
              </a:rPr>
              <a:t>小時，預計每場次</a:t>
            </a:r>
            <a:r>
              <a:rPr kumimoji="0" lang="en-US" altLang="zh-TW" sz="2400" b="0" i="0" u="none" strike="noStrike" kern="100" cap="none" spc="0" normalizeH="0" baseline="0" noProof="0" dirty="0">
                <a:ln>
                  <a:noFill/>
                </a:ln>
                <a:solidFill>
                  <a:srgbClr val="FF0000"/>
                </a:solidFill>
                <a:effectLst/>
                <a:uLnTx/>
                <a:uFillTx/>
                <a:latin typeface="Times New Roman" panose="02020603050405020304" pitchFamily="18" charset="0"/>
                <a:ea typeface="標楷體" panose="03000509000000000000" pitchFamily="65" charset="-120"/>
                <a:cs typeface="+mn-cs"/>
              </a:rPr>
              <a:t>20</a:t>
            </a:r>
            <a:r>
              <a:rPr kumimoji="0" lang="zh-TW" altLang="zh-TW" sz="2400" b="0" i="0" u="none" strike="noStrike" kern="100" cap="none" spc="0" normalizeH="0" baseline="0" noProof="0" dirty="0">
                <a:ln>
                  <a:noFill/>
                </a:ln>
                <a:solidFill>
                  <a:srgbClr val="FF0000"/>
                </a:solidFill>
                <a:effectLst/>
                <a:uLnTx/>
                <a:uFillTx/>
                <a:latin typeface="Times New Roman" panose="02020603050405020304" pitchFamily="18" charset="0"/>
                <a:ea typeface="標楷體" panose="03000509000000000000" pitchFamily="65" charset="-120"/>
                <a:cs typeface="+mn-cs"/>
              </a:rPr>
              <a:t>人。</a:t>
            </a:r>
            <a:endParaRPr kumimoji="0" lang="zh-TW" altLang="zh-TW" sz="2000" b="0" i="0" u="none" strike="noStrike" kern="100" cap="none" spc="0" normalizeH="0" baseline="0" noProof="0" dirty="0">
              <a:ln>
                <a:noFill/>
              </a:ln>
              <a:solidFill>
                <a:srgbClr val="FF0000"/>
              </a:solidFill>
              <a:effectLst/>
              <a:uLnTx/>
              <a:uFillTx/>
              <a:latin typeface="Times New Roman" panose="02020603050405020304" pitchFamily="18" charset="0"/>
              <a:ea typeface="新細明體" panose="02020500000000000000" pitchFamily="18" charset="-120"/>
              <a:cs typeface="+mn-cs"/>
            </a:endParaRPr>
          </a:p>
          <a:p>
            <a:pPr marL="622300" marR="0" lvl="0" indent="-165100" algn="just"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1.</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各社區依移工之需求辦理文化節慶、料理體驗、語言交換、共煮共食、分享重要節日</a:t>
            </a: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如開齋節</a:t>
            </a: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、圖畫之文化對比、故事料理菜單等活動。</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a:p>
            <a:pPr marL="622300" marR="0" lvl="0" indent="-165100" algn="just"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2.</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由社區自主規劃適合在地移工族群的交流形式。</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a:p>
            <a:pPr marL="622300" marR="0" lvl="0" indent="-165100" algn="just" defTabSz="914400" rtl="0" eaLnBrk="1" fontAlgn="auto" latinLnBrk="0" hangingPunct="1">
              <a:lnSpc>
                <a:spcPts val="20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標楷體" panose="03000509000000000000" pitchFamily="65" charset="-120"/>
                <a:ea typeface="新細明體" panose="02020500000000000000" pitchFamily="18" charset="-120"/>
                <a:cs typeface="+mn-cs"/>
              </a:rPr>
              <a:t> </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a:p>
            <a:pPr marL="717550" marR="0" lvl="0" indent="-412750" algn="just"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標楷體" panose="03000509000000000000" pitchFamily="65" charset="-120"/>
                <a:ea typeface="新細明體" panose="02020500000000000000" pitchFamily="18" charset="-120"/>
                <a:cs typeface="+mn-cs"/>
              </a:rPr>
              <a:t>(2)</a:t>
            </a:r>
            <a:r>
              <a:rPr kumimoji="0" lang="zh-TW"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友善設施</a:t>
            </a:r>
            <a:r>
              <a:rPr kumimoji="0" lang="en-US" altLang="zh-TW" sz="2400" b="0" i="0" u="none" strike="noStrike" kern="100" cap="none" spc="0" normalizeH="0" baseline="0" noProof="0" dirty="0">
                <a:ln>
                  <a:noFill/>
                </a:ln>
                <a:solidFill>
                  <a:srgbClr val="000000"/>
                </a:solidFill>
                <a:effectLst/>
                <a:uLnTx/>
                <a:uFillTx/>
                <a:latin typeface="標楷體" panose="03000509000000000000" pitchFamily="65" charset="-120"/>
                <a:ea typeface="新細明體" panose="02020500000000000000" pitchFamily="18" charset="-120"/>
                <a:cs typeface="+mn-cs"/>
              </a:rPr>
              <a:t>-</a:t>
            </a:r>
            <a:r>
              <a:rPr kumimoji="0" lang="zh-TW" altLang="zh-TW" sz="2400" b="0" i="0" u="none" strike="noStrike" kern="100" cap="none" spc="0" normalizeH="0" baseline="0" noProof="0" dirty="0">
                <a:ln>
                  <a:noFill/>
                </a:ln>
                <a:solidFill>
                  <a:srgbClr val="FF0000"/>
                </a:solidFill>
                <a:effectLst/>
                <a:uLnTx/>
                <a:uFillTx/>
                <a:latin typeface="Times New Roman" panose="02020603050405020304" pitchFamily="18" charset="0"/>
                <a:ea typeface="標楷體" panose="03000509000000000000" pitchFamily="65" charset="-120"/>
                <a:cs typeface="+mn-cs"/>
              </a:rPr>
              <a:t>各社區各做一面，共五面。</a:t>
            </a:r>
            <a:endParaRPr kumimoji="0" lang="zh-TW" altLang="zh-TW" sz="2000" b="0" i="0" u="none" strike="noStrike" kern="100" cap="none" spc="0" normalizeH="0" baseline="0" noProof="0" dirty="0">
              <a:ln>
                <a:noFill/>
              </a:ln>
              <a:solidFill>
                <a:srgbClr val="FF0000"/>
              </a:solidFill>
              <a:effectLst/>
              <a:uLnTx/>
              <a:uFillTx/>
              <a:latin typeface="Times New Roman" panose="02020603050405020304" pitchFamily="18" charset="0"/>
              <a:ea typeface="新細明體" panose="02020500000000000000" pitchFamily="18" charset="-120"/>
              <a:cs typeface="+mn-cs"/>
            </a:endParaRPr>
          </a:p>
          <a:p>
            <a:pPr marL="622300" marR="0" lvl="0" indent="-165100" algn="just"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1.</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於社區內增設多語言社區名稱或常用語如：謝謝、您好等（中、英、印、越語）看板或布條掛在明顯之處或大門。</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a:p>
            <a:pPr marL="317500" marR="0" lvl="0" indent="-165100" algn="just" defTabSz="914400" rtl="0" eaLnBrk="1" fontAlgn="auto" latinLnBrk="0" hangingPunct="1">
              <a:lnSpc>
                <a:spcPts val="3500"/>
              </a:lnSpc>
              <a:spcBef>
                <a:spcPts val="0"/>
              </a:spcBef>
              <a:spcAft>
                <a:spcPts val="0"/>
              </a:spcAft>
              <a:buClrTx/>
              <a:buSzTx/>
              <a:buFontTx/>
              <a:buNone/>
              <a:tabLst/>
              <a:defRPr/>
            </a:pPr>
            <a:r>
              <a:rPr kumimoji="0" lang="en-US" altLang="zh-TW" sz="2400" b="1" i="0" u="none" strike="noStrike" kern="100" cap="none" spc="0" normalizeH="0" baseline="0" noProof="0" dirty="0">
                <a:ln>
                  <a:noFill/>
                </a:ln>
                <a:solidFill>
                  <a:srgbClr val="000000"/>
                </a:solidFill>
                <a:effectLst/>
                <a:uLnTx/>
                <a:uFillTx/>
                <a:latin typeface="標楷體" panose="03000509000000000000" pitchFamily="65" charset="-120"/>
                <a:ea typeface="新細明體" panose="02020500000000000000" pitchFamily="18" charset="-120"/>
                <a:cs typeface="+mn-cs"/>
              </a:rPr>
              <a:t>**</a:t>
            </a:r>
            <a:r>
              <a:rPr kumimoji="0" lang="zh-TW" altLang="zh-TW" sz="2400" b="1"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安全與支持措施</a:t>
            </a:r>
            <a:r>
              <a:rPr kumimoji="0" lang="en-US" altLang="zh-TW" sz="2400" b="1" i="0" u="none" strike="noStrike" kern="100" cap="none" spc="0" normalizeH="0" baseline="0" noProof="0" dirty="0">
                <a:ln>
                  <a:noFill/>
                </a:ln>
                <a:solidFill>
                  <a:srgbClr val="000000"/>
                </a:solidFill>
                <a:effectLst/>
                <a:uLnTx/>
                <a:uFillTx/>
                <a:latin typeface="標楷體" panose="03000509000000000000" pitchFamily="65" charset="-120"/>
                <a:ea typeface="新細明體" panose="02020500000000000000" pitchFamily="18" charset="-120"/>
                <a:cs typeface="+mn-cs"/>
              </a:rPr>
              <a:t>** </a:t>
            </a:r>
            <a:r>
              <a:rPr kumimoji="0" lang="zh-TW"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：在活動辦理期間，由社區具照服員單一級證照及證書的志工全程協助，負責陪同照顧長輩，確保長者在課程與活動中的安全與舒適，並分擔外籍看護學習過程中的壓力。</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a:p>
            <a:pPr marL="723900" marR="0" lvl="0" indent="-279400" algn="just" defTabSz="914400" rtl="0" eaLnBrk="1" fontAlgn="auto" latinLnBrk="0" hangingPunct="1">
              <a:lnSpc>
                <a:spcPts val="3900"/>
              </a:lnSpc>
              <a:spcBef>
                <a:spcPts val="0"/>
              </a:spcBef>
              <a:spcAft>
                <a:spcPts val="0"/>
              </a:spcAft>
              <a:buClrTx/>
              <a:buSzTx/>
              <a:buFontTx/>
              <a:buNone/>
              <a:tabLst>
                <a:tab pos="622300" algn="l"/>
              </a:tabLst>
              <a:defRPr/>
            </a:pPr>
            <a:endPar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endParaRPr>
          </a:p>
        </p:txBody>
      </p:sp>
    </p:spTree>
    <p:extLst>
      <p:ext uri="{BB962C8B-B14F-4D97-AF65-F5344CB8AC3E}">
        <p14:creationId xmlns:p14="http://schemas.microsoft.com/office/powerpoint/2010/main" val="39787176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1E8B5-7BF2-3A1D-F7FB-5EF44E74807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6BB76F7-CD69-384D-B242-F7C7CBF5A838}"/>
              </a:ext>
            </a:extLst>
          </p:cNvPr>
          <p:cNvSpPr>
            <a:spLocks noGrp="1"/>
          </p:cNvSpPr>
          <p:nvPr>
            <p:ph type="title"/>
          </p:nvPr>
        </p:nvSpPr>
        <p:spPr/>
        <p:txBody>
          <a:bodyPr/>
          <a:lstStyle/>
          <a:p>
            <a:r>
              <a:rPr lang="zh-TW" altLang="en-US" sz="3200" dirty="0">
                <a:solidFill>
                  <a:srgbClr val="FFFFFF"/>
                </a:solidFill>
                <a:latin typeface="華康隸書體W7" panose="02010609010101010101" pitchFamily="49" charset="-120"/>
                <a:ea typeface="華康隸書體W7" panose="02010609010101010101" pitchFamily="49" charset="-120"/>
              </a:rPr>
              <a:t>子計畫二：新移共融計畫</a:t>
            </a:r>
            <a:endParaRPr lang="zh-TW" altLang="en-US" sz="2400" dirty="0"/>
          </a:p>
        </p:txBody>
      </p:sp>
      <p:sp>
        <p:nvSpPr>
          <p:cNvPr id="3" name="內容版面配置區 2">
            <a:extLst>
              <a:ext uri="{FF2B5EF4-FFF2-40B4-BE49-F238E27FC236}">
                <a16:creationId xmlns:a16="http://schemas.microsoft.com/office/drawing/2014/main" id="{9748CEB4-D78A-C32A-BDC2-79C553B5DAF4}"/>
              </a:ext>
            </a:extLst>
          </p:cNvPr>
          <p:cNvSpPr>
            <a:spLocks noGrp="1"/>
          </p:cNvSpPr>
          <p:nvPr>
            <p:ph idx="1"/>
          </p:nvPr>
        </p:nvSpPr>
        <p:spPr>
          <a:xfrm>
            <a:off x="381000" y="1628800"/>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效益</a:t>
            </a:r>
            <a:endParaRPr lang="en-US" altLang="zh-TW" sz="2800" b="1" dirty="0">
              <a:solidFill>
                <a:srgbClr val="FF0000"/>
              </a:solidFill>
              <a:latin typeface="標楷體" pitchFamily="65" charset="-120"/>
              <a:ea typeface="標楷體" pitchFamily="65" charset="-120"/>
            </a:endParaRPr>
          </a:p>
        </p:txBody>
      </p:sp>
      <p:sp>
        <p:nvSpPr>
          <p:cNvPr id="4" name="矩形 3">
            <a:extLst>
              <a:ext uri="{FF2B5EF4-FFF2-40B4-BE49-F238E27FC236}">
                <a16:creationId xmlns:a16="http://schemas.microsoft.com/office/drawing/2014/main" id="{A8A932F2-43D6-F2EF-696D-382575478A21}"/>
              </a:ext>
            </a:extLst>
          </p:cNvPr>
          <p:cNvSpPr/>
          <p:nvPr/>
        </p:nvSpPr>
        <p:spPr>
          <a:xfrm>
            <a:off x="593812" y="2402308"/>
            <a:ext cx="7956376" cy="2341923"/>
          </a:xfrm>
          <a:prstGeom prst="rect">
            <a:avLst/>
          </a:prstGeom>
        </p:spPr>
        <p:txBody>
          <a:bodyPr wrap="square">
            <a:spAutoFit/>
          </a:bodyPr>
          <a:lstStyle/>
          <a:p>
            <a:pPr marL="717550" marR="0" lvl="0" indent="-1080000" algn="just" defTabSz="914400" rtl="0" eaLnBrk="1" fontAlgn="auto" latinLnBrk="0" hangingPunct="1">
              <a:lnSpc>
                <a:spcPts val="4500"/>
              </a:lnSpc>
              <a:spcBef>
                <a:spcPts val="0"/>
              </a:spcBef>
              <a:spcAft>
                <a:spcPts val="0"/>
              </a:spcAft>
              <a:buClrTx/>
              <a:buSzTx/>
              <a:buFontTx/>
              <a:buNone/>
              <a:tabLst/>
              <a:defRPr/>
            </a:pPr>
            <a:r>
              <a:rPr kumimoji="0" lang="zh-TW"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1</a:t>
            </a:r>
            <a:r>
              <a:rPr kumimoji="0" lang="zh-TW"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）建立跨文化交流，促進居民與移工感情。</a:t>
            </a:r>
            <a:endParaRPr kumimoji="0" lang="zh-TW" altLang="zh-TW" sz="28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a:p>
            <a:pPr marL="717550" marR="0" lvl="0" indent="-1080000" algn="just" defTabSz="914400" rtl="0" eaLnBrk="1" fontAlgn="auto" latinLnBrk="0" hangingPunct="1">
              <a:lnSpc>
                <a:spcPts val="4500"/>
              </a:lnSpc>
              <a:spcBef>
                <a:spcPts val="0"/>
              </a:spcBef>
              <a:spcAft>
                <a:spcPts val="0"/>
              </a:spcAft>
              <a:buClrTx/>
              <a:buSzTx/>
              <a:buFontTx/>
              <a:buNone/>
              <a:tabLst/>
              <a:defRPr/>
            </a:pPr>
            <a:r>
              <a:rPr kumimoji="0" lang="zh-TW"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2</a:t>
            </a:r>
            <a:r>
              <a:rPr kumimoji="0" lang="zh-TW"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）提升社區</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DEI</a:t>
            </a:r>
            <a:r>
              <a:rPr kumimoji="0" lang="zh-TW"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實踐力，營造友善公共空間。</a:t>
            </a:r>
            <a:endParaRPr kumimoji="0" lang="zh-TW" altLang="zh-TW" sz="28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a:p>
            <a:pPr marL="717550" marR="0" lvl="0" indent="-1080000" algn="just" defTabSz="914400" rtl="0" eaLnBrk="1" fontAlgn="auto" latinLnBrk="0" hangingPunct="1">
              <a:lnSpc>
                <a:spcPts val="4500"/>
              </a:lnSpc>
              <a:spcBef>
                <a:spcPts val="0"/>
              </a:spcBef>
              <a:spcAft>
                <a:spcPts val="0"/>
              </a:spcAft>
              <a:buClrTx/>
              <a:buSzTx/>
              <a:buFontTx/>
              <a:buNone/>
              <a:tabLst/>
              <a:defRPr/>
            </a:pPr>
            <a:r>
              <a:rPr kumimoji="0" lang="zh-TW"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3</a:t>
            </a:r>
            <a:r>
              <a:rPr kumimoji="0" lang="zh-TW"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）鼓勵社區持續以多元視角規劃活動，增加社會包容。</a:t>
            </a:r>
            <a:endParaRPr kumimoji="0" lang="zh-TW" altLang="zh-TW" sz="28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p:txBody>
      </p:sp>
    </p:spTree>
    <p:extLst>
      <p:ext uri="{BB962C8B-B14F-4D97-AF65-F5344CB8AC3E}">
        <p14:creationId xmlns:p14="http://schemas.microsoft.com/office/powerpoint/2010/main" val="26197548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6D547-06B8-6C55-09E4-36EEDB0E850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998CF4E-71E9-AAAE-3F7D-123CF04979C0}"/>
              </a:ext>
            </a:extLst>
          </p:cNvPr>
          <p:cNvSpPr>
            <a:spLocks noGrp="1"/>
          </p:cNvSpPr>
          <p:nvPr>
            <p:ph type="title"/>
          </p:nvPr>
        </p:nvSpPr>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新移共融計畫經費表</a:t>
            </a:r>
            <a:endParaRPr lang="zh-TW" altLang="en-US" sz="3600" dirty="0"/>
          </a:p>
        </p:txBody>
      </p:sp>
      <p:graphicFrame>
        <p:nvGraphicFramePr>
          <p:cNvPr id="5" name="表格 4">
            <a:extLst>
              <a:ext uri="{FF2B5EF4-FFF2-40B4-BE49-F238E27FC236}">
                <a16:creationId xmlns:a16="http://schemas.microsoft.com/office/drawing/2014/main" id="{EC85B536-42C6-9F99-3A10-B5A9C54C7CDC}"/>
              </a:ext>
            </a:extLst>
          </p:cNvPr>
          <p:cNvGraphicFramePr>
            <a:graphicFrameLocks noGrp="1"/>
          </p:cNvGraphicFramePr>
          <p:nvPr/>
        </p:nvGraphicFramePr>
        <p:xfrm>
          <a:off x="304800" y="1628800"/>
          <a:ext cx="8587681" cy="3448939"/>
        </p:xfrm>
        <a:graphic>
          <a:graphicData uri="http://schemas.openxmlformats.org/drawingml/2006/table">
            <a:tbl>
              <a:tblPr firstRow="1" firstCol="1" bandRow="1"/>
              <a:tblGrid>
                <a:gridCol w="1530896">
                  <a:extLst>
                    <a:ext uri="{9D8B030D-6E8A-4147-A177-3AD203B41FA5}">
                      <a16:colId xmlns:a16="http://schemas.microsoft.com/office/drawing/2014/main" val="3695537246"/>
                    </a:ext>
                  </a:extLst>
                </a:gridCol>
                <a:gridCol w="809330">
                  <a:extLst>
                    <a:ext uri="{9D8B030D-6E8A-4147-A177-3AD203B41FA5}">
                      <a16:colId xmlns:a16="http://schemas.microsoft.com/office/drawing/2014/main" val="1690860134"/>
                    </a:ext>
                  </a:extLst>
                </a:gridCol>
                <a:gridCol w="198782">
                  <a:extLst>
                    <a:ext uri="{9D8B030D-6E8A-4147-A177-3AD203B41FA5}">
                      <a16:colId xmlns:a16="http://schemas.microsoft.com/office/drawing/2014/main" val="2064917452"/>
                    </a:ext>
                  </a:extLst>
                </a:gridCol>
                <a:gridCol w="690661">
                  <a:extLst>
                    <a:ext uri="{9D8B030D-6E8A-4147-A177-3AD203B41FA5}">
                      <a16:colId xmlns:a16="http://schemas.microsoft.com/office/drawing/2014/main" val="168055215"/>
                    </a:ext>
                  </a:extLst>
                </a:gridCol>
                <a:gridCol w="1107655">
                  <a:extLst>
                    <a:ext uri="{9D8B030D-6E8A-4147-A177-3AD203B41FA5}">
                      <a16:colId xmlns:a16="http://schemas.microsoft.com/office/drawing/2014/main" val="1267669856"/>
                    </a:ext>
                  </a:extLst>
                </a:gridCol>
                <a:gridCol w="865980">
                  <a:extLst>
                    <a:ext uri="{9D8B030D-6E8A-4147-A177-3AD203B41FA5}">
                      <a16:colId xmlns:a16="http://schemas.microsoft.com/office/drawing/2014/main" val="3042577167"/>
                    </a:ext>
                  </a:extLst>
                </a:gridCol>
                <a:gridCol w="1390441">
                  <a:extLst>
                    <a:ext uri="{9D8B030D-6E8A-4147-A177-3AD203B41FA5}">
                      <a16:colId xmlns:a16="http://schemas.microsoft.com/office/drawing/2014/main" val="1729787080"/>
                    </a:ext>
                  </a:extLst>
                </a:gridCol>
                <a:gridCol w="1993936">
                  <a:extLst>
                    <a:ext uri="{9D8B030D-6E8A-4147-A177-3AD203B41FA5}">
                      <a16:colId xmlns:a16="http://schemas.microsoft.com/office/drawing/2014/main" val="4138351891"/>
                    </a:ext>
                  </a:extLst>
                </a:gridCol>
              </a:tblGrid>
              <a:tr h="0">
                <a:tc>
                  <a:txBody>
                    <a:bodyPr/>
                    <a:lstStyle/>
                    <a:p>
                      <a:pPr algn="ctr">
                        <a:lnSpc>
                          <a:spcPts val="2200"/>
                        </a:lnSpc>
                        <a:buNone/>
                      </a:pPr>
                      <a:r>
                        <a:rPr lang="zh-HK" sz="2000" kern="100" dirty="0">
                          <a:solidFill>
                            <a:srgbClr val="000000"/>
                          </a:solidFill>
                          <a:effectLst/>
                          <a:latin typeface="Times New Roman" panose="02020603050405020304" pitchFamily="18" charset="0"/>
                          <a:ea typeface="標楷體" panose="03000509000000000000" pitchFamily="65" charset="-120"/>
                        </a:rPr>
                        <a:t>項目</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2000" kern="100">
                          <a:solidFill>
                            <a:srgbClr val="000000"/>
                          </a:solidFill>
                          <a:effectLst/>
                          <a:latin typeface="Times New Roman" panose="02020603050405020304" pitchFamily="18" charset="0"/>
                          <a:ea typeface="標楷體" panose="03000509000000000000" pitchFamily="65" charset="-120"/>
                        </a:rPr>
                        <a:t>單價</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a:lnSpc>
                          <a:spcPts val="2200"/>
                        </a:lnSpc>
                        <a:buNone/>
                      </a:pPr>
                      <a:r>
                        <a:rPr lang="zh-HK" sz="2000" kern="100">
                          <a:solidFill>
                            <a:srgbClr val="000000"/>
                          </a:solidFill>
                          <a:effectLst/>
                          <a:latin typeface="Times New Roman" panose="02020603050405020304" pitchFamily="18" charset="0"/>
                          <a:ea typeface="標楷體" panose="03000509000000000000" pitchFamily="65" charset="-120"/>
                        </a:rPr>
                        <a:t>數量</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algn="ctr">
                        <a:lnSpc>
                          <a:spcPts val="2200"/>
                        </a:lnSpc>
                        <a:buNone/>
                      </a:pP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2000" kern="100">
                          <a:solidFill>
                            <a:srgbClr val="000000"/>
                          </a:solidFill>
                          <a:effectLst/>
                          <a:latin typeface="Times New Roman" panose="02020603050405020304" pitchFamily="18" charset="0"/>
                          <a:ea typeface="標楷體" panose="03000509000000000000" pitchFamily="65" charset="-120"/>
                        </a:rPr>
                        <a:t>總金額</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2000" kern="100">
                          <a:solidFill>
                            <a:srgbClr val="000000"/>
                          </a:solidFill>
                          <a:effectLst/>
                          <a:latin typeface="Times New Roman" panose="02020603050405020304" pitchFamily="18" charset="0"/>
                          <a:ea typeface="標楷體" panose="03000509000000000000" pitchFamily="65" charset="-120"/>
                        </a:rPr>
                        <a:t>自籌</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2000" kern="100">
                          <a:solidFill>
                            <a:srgbClr val="000000"/>
                          </a:solidFill>
                          <a:effectLst/>
                          <a:latin typeface="Times New Roman" panose="02020603050405020304" pitchFamily="18" charset="0"/>
                          <a:ea typeface="標楷體" panose="03000509000000000000" pitchFamily="65" charset="-120"/>
                        </a:rPr>
                        <a:t>申請補助</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2000" kern="100">
                          <a:solidFill>
                            <a:srgbClr val="000000"/>
                          </a:solidFill>
                          <a:effectLst/>
                          <a:latin typeface="Times New Roman" panose="02020603050405020304" pitchFamily="18" charset="0"/>
                          <a:ea typeface="標楷體" panose="03000509000000000000" pitchFamily="65" charset="-120"/>
                        </a:rPr>
                        <a:t>說明</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3438854"/>
                  </a:ext>
                </a:extLst>
              </a:tr>
              <a:tr h="0">
                <a:tc>
                  <a:txBody>
                    <a:bodyPr/>
                    <a:lstStyle/>
                    <a:p>
                      <a:pPr algn="just">
                        <a:lnSpc>
                          <a:spcPts val="2800"/>
                        </a:lnSpc>
                        <a:buNone/>
                      </a:pPr>
                      <a:r>
                        <a:rPr lang="en-US" sz="1800" b="1" kern="100" dirty="0">
                          <a:solidFill>
                            <a:srgbClr val="000000"/>
                          </a:solidFill>
                          <a:effectLst/>
                          <a:latin typeface="標楷體" panose="03000509000000000000" pitchFamily="65" charset="-120"/>
                          <a:ea typeface="新細明體" panose="02020500000000000000" pitchFamily="18" charset="-120"/>
                        </a:rPr>
                        <a:t>1.</a:t>
                      </a:r>
                      <a:r>
                        <a:rPr lang="zh-TW" sz="1800" b="1" kern="100" dirty="0">
                          <a:solidFill>
                            <a:srgbClr val="000000"/>
                          </a:solidFill>
                          <a:effectLst/>
                          <a:latin typeface="Times New Roman" panose="02020603050405020304" pitchFamily="18" charset="0"/>
                          <a:ea typeface="標楷體" panose="03000509000000000000" pitchFamily="65" charset="-120"/>
                        </a:rPr>
                        <a:t>活動材料費</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4">
                  <a:txBody>
                    <a:bodyPr/>
                    <a:lstStyle/>
                    <a:p>
                      <a:pPr marR="114300" algn="r">
                        <a:lnSpc>
                          <a:spcPts val="2800"/>
                        </a:lnSpc>
                        <a:buNone/>
                      </a:pPr>
                      <a:r>
                        <a:rPr lang="en-US" sz="2000" b="1" kern="100" dirty="0">
                          <a:solidFill>
                            <a:srgbClr val="000000"/>
                          </a:solidFill>
                          <a:effectLst/>
                          <a:latin typeface="標楷體" panose="03000509000000000000" pitchFamily="65" charset="-120"/>
                          <a:ea typeface="新細明體" panose="02020500000000000000" pitchFamily="18" charset="-120"/>
                        </a:rPr>
                        <a:t>16,000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a:txBody>
                    <a:bodyPr/>
                    <a:lstStyle/>
                    <a:p>
                      <a:pPr marR="99060" algn="r">
                        <a:lnSpc>
                          <a:spcPts val="2800"/>
                        </a:lnSpc>
                        <a:buNone/>
                      </a:pPr>
                      <a:r>
                        <a:rPr lang="en-US" sz="2000" b="1" kern="100">
                          <a:solidFill>
                            <a:srgbClr val="000000"/>
                          </a:solidFill>
                          <a:effectLst/>
                          <a:latin typeface="標楷體" panose="03000509000000000000" pitchFamily="65" charset="-120"/>
                          <a:ea typeface="新細明體" panose="02020500000000000000" pitchFamily="18" charset="-120"/>
                        </a:rPr>
                        <a:t>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2800"/>
                        </a:lnSpc>
                        <a:buNone/>
                      </a:pPr>
                      <a:r>
                        <a:rPr lang="en-US" sz="2000" b="1" kern="100">
                          <a:solidFill>
                            <a:srgbClr val="000000"/>
                          </a:solidFill>
                          <a:effectLst/>
                          <a:latin typeface="標楷體" panose="03000509000000000000" pitchFamily="65" charset="-120"/>
                          <a:ea typeface="新細明體" panose="02020500000000000000" pitchFamily="18" charset="-120"/>
                        </a:rPr>
                        <a:t>16,000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2200"/>
                        </a:lnSpc>
                        <a:buNone/>
                      </a:pPr>
                      <a:r>
                        <a:rPr lang="en-US" sz="2000" b="1" kern="100">
                          <a:solidFill>
                            <a:srgbClr val="000000"/>
                          </a:solidFill>
                          <a:effectLst/>
                          <a:latin typeface="標楷體" panose="03000509000000000000" pitchFamily="65" charset="-120"/>
                          <a:ea typeface="新細明體" panose="02020500000000000000" pitchFamily="18" charset="-120"/>
                        </a:rPr>
                        <a:t> </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8262441"/>
                  </a:ext>
                </a:extLst>
              </a:tr>
              <a:tr h="0">
                <a:tc>
                  <a:txBody>
                    <a:bodyPr/>
                    <a:lstStyle/>
                    <a:p>
                      <a:pPr algn="ctr">
                        <a:lnSpc>
                          <a:spcPts val="2800"/>
                        </a:lnSpc>
                        <a:buNone/>
                      </a:pPr>
                      <a:r>
                        <a:rPr lang="zh-TW" sz="1800" kern="100" dirty="0">
                          <a:solidFill>
                            <a:srgbClr val="000000"/>
                          </a:solidFill>
                          <a:effectLst/>
                          <a:latin typeface="Times New Roman" panose="02020603050405020304" pitchFamily="18" charset="0"/>
                          <a:ea typeface="標楷體" panose="03000509000000000000" pitchFamily="65" charset="-120"/>
                        </a:rPr>
                        <a:t>活動材料</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marR="114300" algn="r">
                        <a:lnSpc>
                          <a:spcPts val="2800"/>
                        </a:lnSpc>
                        <a:buNone/>
                      </a:pPr>
                      <a:r>
                        <a:rPr lang="en-US" sz="2000" kern="100" dirty="0">
                          <a:solidFill>
                            <a:srgbClr val="000000"/>
                          </a:solidFill>
                          <a:effectLst/>
                          <a:latin typeface="標楷體" panose="03000509000000000000" pitchFamily="65" charset="-120"/>
                          <a:ea typeface="新細明體" panose="02020500000000000000" pitchFamily="18" charset="-120"/>
                        </a:rPr>
                        <a:t>2,000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algn="ctr">
                        <a:lnSpc>
                          <a:spcPts val="2200"/>
                        </a:lnSpc>
                        <a:buNone/>
                      </a:pPr>
                      <a:r>
                        <a:rPr lang="en-US" sz="1800" kern="100">
                          <a:solidFill>
                            <a:srgbClr val="000000"/>
                          </a:solidFill>
                          <a:effectLst/>
                          <a:latin typeface="標楷體" panose="03000509000000000000" pitchFamily="65" charset="-120"/>
                          <a:ea typeface="新細明體" panose="02020500000000000000" pitchFamily="18" charset="-120"/>
                        </a:rPr>
                        <a:t>8</a:t>
                      </a:r>
                      <a:r>
                        <a:rPr lang="zh-TW" sz="1800" kern="100">
                          <a:solidFill>
                            <a:srgbClr val="000000"/>
                          </a:solidFill>
                          <a:effectLst/>
                          <a:latin typeface="Times New Roman" panose="02020603050405020304" pitchFamily="18" charset="0"/>
                          <a:ea typeface="標楷體" panose="03000509000000000000" pitchFamily="65" charset="-120"/>
                        </a:rPr>
                        <a:t>場</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800"/>
                        </a:lnSpc>
                        <a:buNone/>
                      </a:pPr>
                      <a:r>
                        <a:rPr lang="en-US" sz="2000" kern="100" dirty="0">
                          <a:solidFill>
                            <a:srgbClr val="000000"/>
                          </a:solidFill>
                          <a:effectLst/>
                          <a:latin typeface="標楷體" panose="03000509000000000000" pitchFamily="65" charset="-120"/>
                          <a:ea typeface="新細明體" panose="02020500000000000000" pitchFamily="18" charset="-120"/>
                        </a:rPr>
                        <a:t>8</a:t>
                      </a:r>
                      <a:r>
                        <a:rPr lang="zh-TW" sz="2000" kern="100" dirty="0">
                          <a:solidFill>
                            <a:srgbClr val="000000"/>
                          </a:solidFill>
                          <a:effectLst/>
                          <a:latin typeface="Times New Roman" panose="02020603050405020304" pitchFamily="18" charset="0"/>
                          <a:ea typeface="標楷體" panose="03000509000000000000" pitchFamily="65" charset="-120"/>
                        </a:rPr>
                        <a:t>場</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800"/>
                        </a:lnSpc>
                        <a:buNone/>
                      </a:pPr>
                      <a:r>
                        <a:rPr lang="en-US" sz="2000" kern="100" dirty="0">
                          <a:solidFill>
                            <a:srgbClr val="000000"/>
                          </a:solidFill>
                          <a:effectLst/>
                          <a:latin typeface="標楷體" panose="03000509000000000000" pitchFamily="65" charset="-120"/>
                          <a:ea typeface="新細明體" panose="02020500000000000000" pitchFamily="18" charset="-120"/>
                        </a:rPr>
                        <a:t>16,000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9060" algn="r">
                        <a:lnSpc>
                          <a:spcPts val="2800"/>
                        </a:lnSpc>
                        <a:buNone/>
                      </a:pPr>
                      <a:r>
                        <a:rPr lang="en-US" sz="2000" kern="100">
                          <a:solidFill>
                            <a:srgbClr val="000000"/>
                          </a:solidFill>
                          <a:effectLst/>
                          <a:latin typeface="標楷體" panose="03000509000000000000" pitchFamily="65" charset="-120"/>
                          <a:ea typeface="新細明體" panose="02020500000000000000" pitchFamily="18" charset="-120"/>
                        </a:rPr>
                        <a:t>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2800"/>
                        </a:lnSpc>
                        <a:buNone/>
                      </a:pPr>
                      <a:r>
                        <a:rPr lang="en-US" sz="2000" kern="100">
                          <a:solidFill>
                            <a:srgbClr val="000000"/>
                          </a:solidFill>
                          <a:effectLst/>
                          <a:latin typeface="標楷體" panose="03000509000000000000" pitchFamily="65" charset="-120"/>
                          <a:ea typeface="新細明體" panose="02020500000000000000" pitchFamily="18" charset="-120"/>
                        </a:rPr>
                        <a:t>16,000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1900"/>
                        </a:lnSpc>
                        <a:buNone/>
                      </a:pPr>
                      <a:r>
                        <a:rPr lang="zh-TW" sz="2000" kern="100">
                          <a:solidFill>
                            <a:srgbClr val="000000"/>
                          </a:solidFill>
                          <a:effectLst/>
                          <a:latin typeface="Times New Roman" panose="02020603050405020304" pitchFamily="18" charset="0"/>
                          <a:ea typeface="標楷體" panose="03000509000000000000" pitchFamily="65" charset="-120"/>
                        </a:rPr>
                        <a:t>每場次</a:t>
                      </a:r>
                      <a:r>
                        <a:rPr lang="en-US" sz="2000" kern="100">
                          <a:solidFill>
                            <a:srgbClr val="000000"/>
                          </a:solidFill>
                          <a:effectLst/>
                          <a:latin typeface="Times New Roman" panose="02020603050405020304" pitchFamily="18" charset="0"/>
                          <a:ea typeface="標楷體" panose="03000509000000000000" pitchFamily="65" charset="-120"/>
                        </a:rPr>
                        <a:t>2,000</a:t>
                      </a:r>
                      <a:r>
                        <a:rPr lang="zh-TW" sz="2000" kern="100">
                          <a:solidFill>
                            <a:srgbClr val="000000"/>
                          </a:solidFill>
                          <a:effectLst/>
                          <a:latin typeface="Times New Roman" panose="02020603050405020304" pitchFamily="18" charset="0"/>
                          <a:ea typeface="標楷體" panose="03000509000000000000" pitchFamily="65" charset="-120"/>
                        </a:rPr>
                        <a:t>元</a:t>
                      </a:r>
                      <a:br>
                        <a:rPr lang="en-US" sz="2000" kern="100">
                          <a:solidFill>
                            <a:srgbClr val="000000"/>
                          </a:solidFill>
                          <a:effectLst/>
                          <a:latin typeface="Times New Roman" panose="02020603050405020304" pitchFamily="18" charset="0"/>
                          <a:ea typeface="標楷體" panose="03000509000000000000" pitchFamily="65" charset="-120"/>
                        </a:rPr>
                      </a:br>
                      <a:r>
                        <a:rPr lang="zh-TW" sz="2000" kern="100">
                          <a:solidFill>
                            <a:srgbClr val="000000"/>
                          </a:solidFill>
                          <a:effectLst/>
                          <a:latin typeface="Times New Roman" panose="02020603050405020304" pitchFamily="18" charset="0"/>
                          <a:ea typeface="標楷體" panose="03000509000000000000" pitchFamily="65" charset="-120"/>
                        </a:rPr>
                        <a:t>用於共融文化交流活動之材料</a:t>
                      </a:r>
                      <a:r>
                        <a:rPr lang="en-US" sz="2000" kern="100">
                          <a:solidFill>
                            <a:srgbClr val="000000"/>
                          </a:solidFill>
                          <a:effectLst/>
                          <a:latin typeface="Times New Roman" panose="02020603050405020304" pitchFamily="18" charset="0"/>
                          <a:ea typeface="標楷體" panose="03000509000000000000" pitchFamily="65" charset="-120"/>
                        </a:rPr>
                        <a:t>(</a:t>
                      </a:r>
                      <a:r>
                        <a:rPr lang="zh-TW" sz="2000" kern="100">
                          <a:solidFill>
                            <a:srgbClr val="000000"/>
                          </a:solidFill>
                          <a:effectLst/>
                          <a:latin typeface="Times New Roman" panose="02020603050405020304" pitchFamily="18" charset="0"/>
                          <a:ea typeface="標楷體" panose="03000509000000000000" pitchFamily="65" charset="-120"/>
                        </a:rPr>
                        <a:t>如料理材料、文具用品等</a:t>
                      </a:r>
                      <a:r>
                        <a:rPr lang="en-US" sz="2000" kern="100">
                          <a:solidFill>
                            <a:srgbClr val="000000"/>
                          </a:solidFill>
                          <a:effectLst/>
                          <a:latin typeface="Times New Roman" panose="02020603050405020304" pitchFamily="18" charset="0"/>
                          <a:ea typeface="標楷體" panose="03000509000000000000" pitchFamily="65" charset="-120"/>
                        </a:rPr>
                        <a:t>)</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4985250"/>
                  </a:ext>
                </a:extLst>
              </a:tr>
              <a:tr h="0">
                <a:tc>
                  <a:txBody>
                    <a:bodyPr/>
                    <a:lstStyle/>
                    <a:p>
                      <a:pPr marL="15240" algn="just">
                        <a:lnSpc>
                          <a:spcPts val="2800"/>
                        </a:lnSpc>
                        <a:buNone/>
                      </a:pPr>
                      <a:r>
                        <a:rPr lang="en-US" sz="1800" b="1" kern="100" dirty="0">
                          <a:solidFill>
                            <a:srgbClr val="000000"/>
                          </a:solidFill>
                          <a:effectLst/>
                          <a:latin typeface="標楷體" panose="03000509000000000000" pitchFamily="65" charset="-120"/>
                          <a:ea typeface="新細明體" panose="02020500000000000000" pitchFamily="18" charset="-120"/>
                        </a:rPr>
                        <a:t>2.</a:t>
                      </a:r>
                      <a:r>
                        <a:rPr lang="zh-TW" sz="1800" b="1" kern="100" dirty="0">
                          <a:solidFill>
                            <a:srgbClr val="000000"/>
                          </a:solidFill>
                          <a:effectLst/>
                          <a:latin typeface="Times New Roman" panose="02020603050405020304" pitchFamily="18" charset="0"/>
                          <a:ea typeface="標楷體" panose="03000509000000000000" pitchFamily="65" charset="-120"/>
                        </a:rPr>
                        <a:t>宣導費</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4">
                  <a:txBody>
                    <a:bodyPr/>
                    <a:lstStyle/>
                    <a:p>
                      <a:pPr marR="114300" algn="r">
                        <a:lnSpc>
                          <a:spcPts val="2800"/>
                        </a:lnSpc>
                        <a:buNone/>
                      </a:pPr>
                      <a:r>
                        <a:rPr lang="en-US" sz="2000" b="1" kern="0" dirty="0">
                          <a:solidFill>
                            <a:srgbClr val="000000"/>
                          </a:solidFill>
                          <a:effectLst/>
                          <a:latin typeface="標楷體" panose="03000509000000000000" pitchFamily="65" charset="-120"/>
                          <a:ea typeface="新細明體" panose="02020500000000000000" pitchFamily="18" charset="-120"/>
                        </a:rPr>
                        <a:t>15,000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a:txBody>
                    <a:bodyPr/>
                    <a:lstStyle/>
                    <a:p>
                      <a:pPr marL="51435" marR="99060" indent="-345440" algn="r">
                        <a:lnSpc>
                          <a:spcPts val="2800"/>
                        </a:lnSpc>
                        <a:buNone/>
                      </a:pPr>
                      <a:r>
                        <a:rPr lang="en-US" sz="2000" b="1" kern="0">
                          <a:solidFill>
                            <a:srgbClr val="000000"/>
                          </a:solidFill>
                          <a:effectLst/>
                          <a:latin typeface="標楷體" panose="03000509000000000000" pitchFamily="65" charset="-120"/>
                          <a:ea typeface="新細明體" panose="02020500000000000000" pitchFamily="18" charset="-120"/>
                        </a:rPr>
                        <a:t>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69240" algn="r">
                        <a:lnSpc>
                          <a:spcPts val="2800"/>
                        </a:lnSpc>
                        <a:buNone/>
                      </a:pPr>
                      <a:r>
                        <a:rPr lang="en-US" sz="2000" b="1" kern="0">
                          <a:solidFill>
                            <a:srgbClr val="000000"/>
                          </a:solidFill>
                          <a:effectLst/>
                          <a:latin typeface="標楷體" panose="03000509000000000000" pitchFamily="65" charset="-120"/>
                          <a:ea typeface="新細明體" panose="02020500000000000000" pitchFamily="18" charset="-120"/>
                        </a:rPr>
                        <a:t>15,000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2200"/>
                        </a:lnSpc>
                        <a:buNone/>
                      </a:pPr>
                      <a:r>
                        <a:rPr lang="zh-TW" sz="2000" kern="100">
                          <a:solidFill>
                            <a:srgbClr val="000000"/>
                          </a:solidFill>
                          <a:effectLst/>
                          <a:latin typeface="Times New Roman" panose="02020603050405020304" pitchFamily="18" charset="0"/>
                          <a:ea typeface="標楷體" panose="03000509000000000000" pitchFamily="65" charset="-120"/>
                        </a:rPr>
                        <a:t>　</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0842566"/>
                  </a:ext>
                </a:extLst>
              </a:tr>
              <a:tr h="0">
                <a:tc>
                  <a:txBody>
                    <a:bodyPr/>
                    <a:lstStyle/>
                    <a:p>
                      <a:pPr algn="ctr">
                        <a:lnSpc>
                          <a:spcPts val="2800"/>
                        </a:lnSpc>
                        <a:buNone/>
                      </a:pPr>
                      <a:r>
                        <a:rPr lang="zh-TW" sz="1800" kern="100" dirty="0">
                          <a:solidFill>
                            <a:srgbClr val="000000"/>
                          </a:solidFill>
                          <a:effectLst/>
                          <a:latin typeface="Times New Roman" panose="02020603050405020304" pitchFamily="18" charset="0"/>
                          <a:ea typeface="標楷體" panose="03000509000000000000" pitchFamily="65" charset="-120"/>
                        </a:rPr>
                        <a:t>多語解說板</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marR="114300" algn="r">
                        <a:lnSpc>
                          <a:spcPts val="2800"/>
                        </a:lnSpc>
                        <a:buNone/>
                      </a:pPr>
                      <a:r>
                        <a:rPr lang="en-US" sz="2000" kern="100">
                          <a:solidFill>
                            <a:srgbClr val="000000"/>
                          </a:solidFill>
                          <a:effectLst/>
                          <a:latin typeface="標楷體" panose="03000509000000000000" pitchFamily="65" charset="-120"/>
                          <a:ea typeface="新細明體" panose="02020500000000000000" pitchFamily="18" charset="-120"/>
                        </a:rPr>
                        <a:t>3,000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marR="114300" algn="ctr">
                        <a:lnSpc>
                          <a:spcPts val="2200"/>
                        </a:lnSpc>
                        <a:buNone/>
                      </a:pPr>
                      <a:r>
                        <a:rPr lang="en-US" sz="1800" kern="100">
                          <a:solidFill>
                            <a:srgbClr val="000000"/>
                          </a:solidFill>
                          <a:effectLst/>
                          <a:latin typeface="標楷體" panose="03000509000000000000" pitchFamily="65" charset="-120"/>
                          <a:ea typeface="新細明體" panose="02020500000000000000" pitchFamily="18" charset="-120"/>
                        </a:rPr>
                        <a:t>5</a:t>
                      </a:r>
                      <a:r>
                        <a:rPr lang="zh-TW" sz="1800" kern="100">
                          <a:solidFill>
                            <a:srgbClr val="000000"/>
                          </a:solidFill>
                          <a:effectLst/>
                          <a:latin typeface="Times New Roman" panose="02020603050405020304" pitchFamily="18" charset="0"/>
                          <a:ea typeface="標楷體" panose="03000509000000000000" pitchFamily="65" charset="-120"/>
                        </a:rPr>
                        <a:t>面</a:t>
                      </a: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ctr">
                        <a:lnSpc>
                          <a:spcPts val="2800"/>
                        </a:lnSpc>
                        <a:buNone/>
                      </a:pPr>
                      <a:r>
                        <a:rPr lang="en-US" sz="2000" kern="100" dirty="0">
                          <a:solidFill>
                            <a:srgbClr val="000000"/>
                          </a:solidFill>
                          <a:effectLst/>
                          <a:latin typeface="標楷體" panose="03000509000000000000" pitchFamily="65" charset="-120"/>
                          <a:ea typeface="新細明體" panose="02020500000000000000" pitchFamily="18" charset="-120"/>
                        </a:rPr>
                        <a:t>5</a:t>
                      </a:r>
                      <a:r>
                        <a:rPr lang="zh-TW" sz="2000" kern="100" dirty="0">
                          <a:solidFill>
                            <a:srgbClr val="000000"/>
                          </a:solidFill>
                          <a:effectLst/>
                          <a:latin typeface="Times New Roman" panose="02020603050405020304" pitchFamily="18" charset="0"/>
                          <a:ea typeface="標楷體" panose="03000509000000000000" pitchFamily="65" charset="-120"/>
                        </a:rPr>
                        <a:t>面</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800"/>
                        </a:lnSpc>
                        <a:buNone/>
                      </a:pPr>
                      <a:r>
                        <a:rPr lang="en-US" sz="2000" kern="100" dirty="0">
                          <a:solidFill>
                            <a:srgbClr val="000000"/>
                          </a:solidFill>
                          <a:effectLst/>
                          <a:latin typeface="標楷體" panose="03000509000000000000" pitchFamily="65" charset="-120"/>
                          <a:ea typeface="新細明體" panose="02020500000000000000" pitchFamily="18" charset="-120"/>
                        </a:rPr>
                        <a:t>15,000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7780" marR="99060" indent="-132080" algn="r">
                        <a:lnSpc>
                          <a:spcPts val="2800"/>
                        </a:lnSpc>
                        <a:buNone/>
                        <a:tabLst>
                          <a:tab pos="454025" algn="l"/>
                        </a:tabLst>
                      </a:pPr>
                      <a:r>
                        <a:rPr lang="en-US" sz="2000" kern="100" dirty="0">
                          <a:solidFill>
                            <a:srgbClr val="000000"/>
                          </a:solidFill>
                          <a:effectLst/>
                          <a:latin typeface="標楷體" panose="03000509000000000000" pitchFamily="65" charset="-120"/>
                          <a:ea typeface="新細明體" panose="02020500000000000000" pitchFamily="18" charset="-120"/>
                        </a:rPr>
                        <a:t>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85090" indent="-62865" algn="r">
                        <a:lnSpc>
                          <a:spcPts val="2800"/>
                        </a:lnSpc>
                        <a:buNone/>
                        <a:tabLst>
                          <a:tab pos="568325" algn="l"/>
                        </a:tabLst>
                      </a:pPr>
                      <a:r>
                        <a:rPr lang="en-US" sz="2000" kern="100">
                          <a:solidFill>
                            <a:srgbClr val="000000"/>
                          </a:solidFill>
                          <a:effectLst/>
                          <a:latin typeface="標楷體" panose="03000509000000000000" pitchFamily="65" charset="-120"/>
                          <a:ea typeface="新細明體" panose="02020500000000000000" pitchFamily="18" charset="-120"/>
                        </a:rPr>
                        <a:t>15,000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TW" sz="2000" kern="100">
                          <a:solidFill>
                            <a:srgbClr val="000000"/>
                          </a:solidFill>
                          <a:effectLst/>
                          <a:latin typeface="Times New Roman" panose="02020603050405020304" pitchFamily="18" charset="0"/>
                          <a:ea typeface="標楷體" panose="03000509000000000000" pitchFamily="65" charset="-120"/>
                        </a:rPr>
                        <a:t>各社區各一面</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9656447"/>
                  </a:ext>
                </a:extLst>
              </a:tr>
              <a:tr h="0">
                <a:tc>
                  <a:txBody>
                    <a:bodyPr/>
                    <a:lstStyle/>
                    <a:p>
                      <a:pPr>
                        <a:lnSpc>
                          <a:spcPts val="2800"/>
                        </a:lnSpc>
                        <a:buNone/>
                      </a:pPr>
                      <a:r>
                        <a:rPr lang="en-US" sz="1800" b="1" kern="100" dirty="0">
                          <a:solidFill>
                            <a:srgbClr val="000000"/>
                          </a:solidFill>
                          <a:effectLst/>
                          <a:latin typeface="標楷體" panose="03000509000000000000" pitchFamily="65" charset="-120"/>
                          <a:ea typeface="新細明體" panose="02020500000000000000" pitchFamily="18" charset="-120"/>
                        </a:rPr>
                        <a:t>3.</a:t>
                      </a:r>
                      <a:r>
                        <a:rPr lang="zh-TW" sz="1800" b="1" kern="100" dirty="0">
                          <a:solidFill>
                            <a:srgbClr val="000000"/>
                          </a:solidFill>
                          <a:effectLst/>
                          <a:latin typeface="Times New Roman" panose="02020603050405020304" pitchFamily="18" charset="0"/>
                          <a:ea typeface="標楷體" panose="03000509000000000000" pitchFamily="65" charset="-120"/>
                        </a:rPr>
                        <a:t>茶水費</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4">
                  <a:txBody>
                    <a:bodyPr/>
                    <a:lstStyle/>
                    <a:p>
                      <a:pPr marR="114300" algn="r">
                        <a:lnSpc>
                          <a:spcPts val="2800"/>
                        </a:lnSpc>
                        <a:buNone/>
                      </a:pPr>
                      <a:r>
                        <a:rPr lang="en-US" sz="2000" b="1" kern="100" dirty="0">
                          <a:solidFill>
                            <a:srgbClr val="000000"/>
                          </a:solidFill>
                          <a:effectLst/>
                          <a:latin typeface="標楷體" panose="03000509000000000000" pitchFamily="65" charset="-120"/>
                          <a:ea typeface="新細明體" panose="02020500000000000000" pitchFamily="18" charset="-120"/>
                        </a:rPr>
                        <a:t>3,200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a:txBody>
                    <a:bodyPr/>
                    <a:lstStyle/>
                    <a:p>
                      <a:pPr marL="388620" marR="99060" algn="r">
                        <a:lnSpc>
                          <a:spcPts val="2800"/>
                        </a:lnSpc>
                        <a:buNone/>
                      </a:pPr>
                      <a:r>
                        <a:rPr lang="en-US" sz="2000" b="1" kern="100" spc="-9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85090" algn="r">
                        <a:lnSpc>
                          <a:spcPts val="2800"/>
                        </a:lnSpc>
                        <a:buNone/>
                      </a:pPr>
                      <a:r>
                        <a:rPr lang="en-US" sz="2000" b="1" kern="100" dirty="0">
                          <a:solidFill>
                            <a:srgbClr val="000000"/>
                          </a:solidFill>
                          <a:effectLst/>
                          <a:latin typeface="標楷體" panose="03000509000000000000" pitchFamily="65" charset="-120"/>
                          <a:ea typeface="新細明體" panose="02020500000000000000" pitchFamily="18" charset="-120"/>
                        </a:rPr>
                        <a:t>3,200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2000" kern="100">
                          <a:solidFill>
                            <a:srgbClr val="000000"/>
                          </a:solidFill>
                          <a:effectLst/>
                          <a:latin typeface="標楷體" panose="03000509000000000000" pitchFamily="65" charset="-120"/>
                          <a:ea typeface="新細明體" panose="02020500000000000000" pitchFamily="18" charset="-120"/>
                        </a:rPr>
                        <a:t> </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0306931"/>
                  </a:ext>
                </a:extLst>
              </a:tr>
              <a:tr h="0">
                <a:tc>
                  <a:txBody>
                    <a:bodyPr/>
                    <a:lstStyle/>
                    <a:p>
                      <a:pPr algn="ctr">
                        <a:lnSpc>
                          <a:spcPts val="2800"/>
                        </a:lnSpc>
                        <a:buNone/>
                      </a:pPr>
                      <a:r>
                        <a:rPr lang="zh-TW" sz="1800" kern="100" spc="-15" dirty="0">
                          <a:solidFill>
                            <a:srgbClr val="000000"/>
                          </a:solidFill>
                          <a:effectLst/>
                          <a:latin typeface="Times New Roman" panose="02020603050405020304" pitchFamily="18" charset="0"/>
                          <a:ea typeface="標楷體" panose="03000509000000000000" pitchFamily="65" charset="-120"/>
                          <a:cs typeface="SimSun" panose="02010600030101010101" pitchFamily="2" charset="-122"/>
                        </a:rPr>
                        <a:t>茶水費</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800"/>
                        </a:lnSpc>
                        <a:buNone/>
                      </a:pPr>
                      <a:r>
                        <a:rPr lang="en-US" sz="2000" kern="100" spc="-3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20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marR="114300" algn="ctr">
                        <a:lnSpc>
                          <a:spcPts val="2800"/>
                        </a:lnSpc>
                        <a:buNone/>
                      </a:pPr>
                      <a:r>
                        <a:rPr lang="en-US" sz="2000" kern="100" spc="-20">
                          <a:solidFill>
                            <a:srgbClr val="000000"/>
                          </a:solidFill>
                          <a:effectLst/>
                          <a:latin typeface="標楷體" panose="03000509000000000000" pitchFamily="65" charset="-120"/>
                          <a:ea typeface="新細明體" panose="02020500000000000000" pitchFamily="18" charset="-120"/>
                          <a:cs typeface="SimSun" panose="02010600030101010101" pitchFamily="2" charset="-122"/>
                        </a:rPr>
                        <a:t>160</a:t>
                      </a:r>
                      <a:r>
                        <a:rPr lang="zh-TW" sz="2000" kern="100" spc="-20">
                          <a:solidFill>
                            <a:srgbClr val="000000"/>
                          </a:solidFill>
                          <a:effectLst/>
                          <a:latin typeface="Times New Roman" panose="02020603050405020304" pitchFamily="18" charset="0"/>
                          <a:ea typeface="標楷體" panose="03000509000000000000" pitchFamily="65" charset="-120"/>
                          <a:cs typeface="SimSun" panose="02010600030101010101" pitchFamily="2" charset="-122"/>
                        </a:rPr>
                        <a:t>人</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marR="114300" algn="ctr">
                        <a:lnSpc>
                          <a:spcPts val="2200"/>
                        </a:lnSpc>
                        <a:buNone/>
                      </a:pP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800"/>
                        </a:lnSpc>
                        <a:buNone/>
                      </a:pPr>
                      <a:r>
                        <a:rPr lang="en-US" sz="2000" kern="100" dirty="0">
                          <a:solidFill>
                            <a:srgbClr val="000000"/>
                          </a:solidFill>
                          <a:effectLst/>
                          <a:latin typeface="標楷體" panose="03000509000000000000" pitchFamily="65" charset="-120"/>
                          <a:ea typeface="新細明體" panose="02020500000000000000" pitchFamily="18" charset="-120"/>
                        </a:rPr>
                        <a:t>3,200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8620" marR="99060" algn="r">
                        <a:lnSpc>
                          <a:spcPts val="2800"/>
                        </a:lnSpc>
                        <a:buNone/>
                      </a:pPr>
                      <a:r>
                        <a:rPr lang="en-US" sz="2000" kern="100">
                          <a:solidFill>
                            <a:srgbClr val="000000"/>
                          </a:solidFill>
                          <a:effectLst/>
                          <a:latin typeface="標楷體" panose="03000509000000000000" pitchFamily="65" charset="-120"/>
                          <a:ea typeface="新細明體" panose="02020500000000000000" pitchFamily="18" charset="-120"/>
                        </a:rPr>
                        <a:t>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85090" algn="r">
                        <a:lnSpc>
                          <a:spcPts val="2800"/>
                        </a:lnSpc>
                        <a:buNone/>
                      </a:pPr>
                      <a:r>
                        <a:rPr lang="en-US" sz="2000" kern="100" dirty="0">
                          <a:solidFill>
                            <a:srgbClr val="000000"/>
                          </a:solidFill>
                          <a:effectLst/>
                          <a:latin typeface="標楷體" panose="03000509000000000000" pitchFamily="65" charset="-120"/>
                          <a:ea typeface="新細明體" panose="02020500000000000000" pitchFamily="18" charset="-120"/>
                        </a:rPr>
                        <a:t>3,200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TW" sz="2000" kern="100" dirty="0">
                          <a:solidFill>
                            <a:srgbClr val="000000"/>
                          </a:solidFill>
                          <a:effectLst/>
                          <a:latin typeface="Times New Roman" panose="02020603050405020304" pitchFamily="18" charset="0"/>
                          <a:ea typeface="標楷體" panose="03000509000000000000" pitchFamily="65" charset="-120"/>
                        </a:rPr>
                        <a:t>共</a:t>
                      </a:r>
                      <a:r>
                        <a:rPr lang="en-US" sz="2000" kern="100" dirty="0">
                          <a:solidFill>
                            <a:srgbClr val="000000"/>
                          </a:solidFill>
                          <a:effectLst/>
                          <a:latin typeface="Times New Roman" panose="02020603050405020304" pitchFamily="18" charset="0"/>
                          <a:ea typeface="標楷體" panose="03000509000000000000" pitchFamily="65" charset="-120"/>
                        </a:rPr>
                        <a:t>8</a:t>
                      </a:r>
                      <a:r>
                        <a:rPr lang="zh-HK" sz="2000" kern="100" dirty="0">
                          <a:solidFill>
                            <a:srgbClr val="000000"/>
                          </a:solidFill>
                          <a:effectLst/>
                          <a:latin typeface="Times New Roman" panose="02020603050405020304" pitchFamily="18" charset="0"/>
                          <a:ea typeface="標楷體" panose="03000509000000000000" pitchFamily="65" charset="-120"/>
                        </a:rPr>
                        <a:t>場次</a:t>
                      </a:r>
                      <a:r>
                        <a:rPr lang="en-US" sz="2000" kern="100" dirty="0">
                          <a:solidFill>
                            <a:srgbClr val="000000"/>
                          </a:solidFill>
                          <a:effectLst/>
                          <a:latin typeface="標楷體" panose="03000509000000000000" pitchFamily="65" charset="-120"/>
                          <a:ea typeface="新細明體" panose="02020500000000000000" pitchFamily="18" charset="-120"/>
                        </a:rPr>
                        <a:t>160</a:t>
                      </a:r>
                      <a:r>
                        <a:rPr lang="zh-HK" sz="2000" kern="100" dirty="0">
                          <a:solidFill>
                            <a:srgbClr val="000000"/>
                          </a:solidFill>
                          <a:effectLst/>
                          <a:latin typeface="Times New Roman" panose="02020603050405020304" pitchFamily="18" charset="0"/>
                          <a:ea typeface="標楷體" panose="03000509000000000000" pitchFamily="65" charset="-120"/>
                        </a:rPr>
                        <a:t>人</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6237006"/>
                  </a:ext>
                </a:extLst>
              </a:tr>
              <a:tr h="0">
                <a:tc gridSpan="4">
                  <a:txBody>
                    <a:bodyPr/>
                    <a:lstStyle/>
                    <a:p>
                      <a:pPr marR="114300" algn="ctr">
                        <a:lnSpc>
                          <a:spcPts val="2800"/>
                        </a:lnSpc>
                        <a:buNone/>
                      </a:pPr>
                      <a:r>
                        <a:rPr lang="zh-HK" sz="2000" kern="100">
                          <a:solidFill>
                            <a:srgbClr val="000000"/>
                          </a:solidFill>
                          <a:effectLst/>
                          <a:latin typeface="Times New Roman" panose="02020603050405020304" pitchFamily="18" charset="0"/>
                          <a:ea typeface="標楷體" panose="03000509000000000000" pitchFamily="65" charset="-120"/>
                        </a:rPr>
                        <a:t>總計</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hMerge="1">
                  <a:txBody>
                    <a:bodyPr/>
                    <a:lstStyle/>
                    <a:p>
                      <a:pPr marR="114300" algn="ctr">
                        <a:lnSpc>
                          <a:spcPts val="2200"/>
                        </a:lnSpc>
                        <a:buNone/>
                      </a:pPr>
                      <a:endParaRPr lang="zh-TW" sz="18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800"/>
                        </a:lnSpc>
                        <a:buNone/>
                      </a:pPr>
                      <a:r>
                        <a:rPr lang="en-US" sz="2000" b="1" kern="100">
                          <a:solidFill>
                            <a:srgbClr val="000000"/>
                          </a:solidFill>
                          <a:effectLst/>
                          <a:latin typeface="標楷體" panose="03000509000000000000" pitchFamily="65" charset="-120"/>
                          <a:ea typeface="新細明體" panose="02020500000000000000" pitchFamily="18" charset="-120"/>
                        </a:rPr>
                        <a:t>34,200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8620" marR="99060" algn="r">
                        <a:lnSpc>
                          <a:spcPts val="2800"/>
                        </a:lnSpc>
                        <a:buNone/>
                      </a:pPr>
                      <a:r>
                        <a:rPr lang="en-US" sz="2000" b="1" kern="100" dirty="0">
                          <a:solidFill>
                            <a:srgbClr val="000000"/>
                          </a:solidFill>
                          <a:effectLst/>
                          <a:latin typeface="標楷體" panose="03000509000000000000" pitchFamily="65" charset="-120"/>
                          <a:ea typeface="新細明體" panose="02020500000000000000" pitchFamily="18" charset="-120"/>
                        </a:rPr>
                        <a:t>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85090" algn="r">
                        <a:lnSpc>
                          <a:spcPts val="2800"/>
                        </a:lnSpc>
                        <a:buNone/>
                      </a:pPr>
                      <a:r>
                        <a:rPr lang="en-US" sz="2000" b="1" kern="100" dirty="0">
                          <a:solidFill>
                            <a:srgbClr val="000000"/>
                          </a:solidFill>
                          <a:effectLst/>
                          <a:latin typeface="標楷體" panose="03000509000000000000" pitchFamily="65" charset="-120"/>
                          <a:ea typeface="新細明體" panose="02020500000000000000" pitchFamily="18" charset="-120"/>
                        </a:rPr>
                        <a:t>34,200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2000" kern="100" dirty="0">
                          <a:solidFill>
                            <a:srgbClr val="000000"/>
                          </a:solidFill>
                          <a:effectLst/>
                          <a:latin typeface="標楷體" panose="03000509000000000000" pitchFamily="65" charset="-120"/>
                          <a:ea typeface="新細明體" panose="02020500000000000000" pitchFamily="18" charset="-120"/>
                        </a:rPr>
                        <a:t> </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1827990"/>
                  </a:ext>
                </a:extLst>
              </a:tr>
            </a:tbl>
          </a:graphicData>
        </a:graphic>
      </p:graphicFrame>
    </p:spTree>
    <p:extLst>
      <p:ext uri="{BB962C8B-B14F-4D97-AF65-F5344CB8AC3E}">
        <p14:creationId xmlns:p14="http://schemas.microsoft.com/office/powerpoint/2010/main" val="16581110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66707-1241-5871-7BFD-BE4946E1592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7735589-68D3-CC0F-33D3-D4100449997C}"/>
              </a:ext>
            </a:extLst>
          </p:cNvPr>
          <p:cNvSpPr>
            <a:spLocks noGrp="1"/>
          </p:cNvSpPr>
          <p:nvPr>
            <p:ph type="title"/>
          </p:nvPr>
        </p:nvSpPr>
        <p:spPr/>
        <p:txBody>
          <a:bodyPr/>
          <a:lstStyle/>
          <a:p>
            <a:r>
              <a:rPr lang="zh-TW" altLang="en-US" sz="2400" dirty="0">
                <a:solidFill>
                  <a:srgbClr val="FFFFFF"/>
                </a:solidFill>
                <a:latin typeface="華康隸書體W7" panose="02010609010101010101" pitchFamily="49" charset="-120"/>
                <a:ea typeface="華康隸書體W7" panose="02010609010101010101" pitchFamily="49" charset="-120"/>
              </a:rPr>
              <a:t>子計畫三：社區家庭志工培力計畫</a:t>
            </a:r>
            <a:r>
              <a:rPr lang="en-US" altLang="zh-TW" sz="2400" dirty="0">
                <a:solidFill>
                  <a:srgbClr val="FFFFFF"/>
                </a:solidFill>
                <a:latin typeface="華康隸書體W7" panose="02010609010101010101" pitchFamily="49" charset="-120"/>
                <a:ea typeface="華康隸書體W7" panose="02010609010101010101" pitchFamily="49" charset="-120"/>
              </a:rPr>
              <a:t>—</a:t>
            </a:r>
            <a:r>
              <a:rPr lang="zh-TW" altLang="en-US" sz="2400" dirty="0">
                <a:solidFill>
                  <a:srgbClr val="FFFFFF"/>
                </a:solidFill>
                <a:latin typeface="華康隸書體W7" panose="02010609010101010101" pitchFamily="49" charset="-120"/>
                <a:ea typeface="華康隸書體W7" panose="02010609010101010101" pitchFamily="49" charset="-120"/>
              </a:rPr>
              <a:t>親子共學與社區服務</a:t>
            </a:r>
            <a:endParaRPr lang="zh-TW" altLang="en-US" sz="1800" dirty="0"/>
          </a:p>
        </p:txBody>
      </p:sp>
      <p:sp>
        <p:nvSpPr>
          <p:cNvPr id="3" name="內容版面配置區 2">
            <a:extLst>
              <a:ext uri="{FF2B5EF4-FFF2-40B4-BE49-F238E27FC236}">
                <a16:creationId xmlns:a16="http://schemas.microsoft.com/office/drawing/2014/main" id="{5590AAE1-4A39-DA93-F18F-3DCA9C541733}"/>
              </a:ext>
            </a:extLst>
          </p:cNvPr>
          <p:cNvSpPr>
            <a:spLocks noGrp="1"/>
          </p:cNvSpPr>
          <p:nvPr>
            <p:ph idx="1"/>
          </p:nvPr>
        </p:nvSpPr>
        <p:spPr>
          <a:xfrm>
            <a:off x="470148" y="723156"/>
            <a:ext cx="8229600" cy="473596"/>
          </a:xfrm>
        </p:spPr>
        <p:txBody>
          <a:bodyPr/>
          <a:lstStyle/>
          <a:p>
            <a:pPr marL="0" indent="0" algn="ctr">
              <a:buNone/>
            </a:pPr>
            <a:r>
              <a:rPr lang="zh-TW" altLang="en-US" sz="2400" b="1" dirty="0">
                <a:solidFill>
                  <a:srgbClr val="FF0000"/>
                </a:solidFill>
                <a:latin typeface="標楷體" pitchFamily="65" charset="-120"/>
                <a:ea typeface="標楷體" pitchFamily="65" charset="-120"/>
              </a:rPr>
              <a:t>目的</a:t>
            </a:r>
          </a:p>
        </p:txBody>
      </p:sp>
      <p:sp>
        <p:nvSpPr>
          <p:cNvPr id="4" name="矩形 3">
            <a:extLst>
              <a:ext uri="{FF2B5EF4-FFF2-40B4-BE49-F238E27FC236}">
                <a16:creationId xmlns:a16="http://schemas.microsoft.com/office/drawing/2014/main" id="{CCBA10E9-2927-6F5D-E934-4F46738CF465}"/>
              </a:ext>
            </a:extLst>
          </p:cNvPr>
          <p:cNvSpPr/>
          <p:nvPr/>
        </p:nvSpPr>
        <p:spPr>
          <a:xfrm>
            <a:off x="0" y="1187128"/>
            <a:ext cx="9145016" cy="2541273"/>
          </a:xfrm>
          <a:prstGeom prst="rect">
            <a:avLst/>
          </a:prstGeom>
        </p:spPr>
        <p:txBody>
          <a:bodyPr wrap="square">
            <a:spAutoFit/>
          </a:bodyPr>
          <a:lstStyle/>
          <a:p>
            <a:pPr marL="723900" marR="0" lvl="0" indent="-279400" algn="just" defTabSz="914400" rtl="0" eaLnBrk="1" fontAlgn="auto" latinLnBrk="0" hangingPunct="1">
              <a:lnSpc>
                <a:spcPts val="3900"/>
              </a:lnSpc>
              <a:spcBef>
                <a:spcPts val="0"/>
              </a:spcBef>
              <a:spcAft>
                <a:spcPts val="0"/>
              </a:spcAft>
              <a:buClrTx/>
              <a:buSzTx/>
              <a:buFontTx/>
              <a:buNone/>
              <a:tabLst>
                <a:tab pos="622300" algn="l"/>
              </a:tabLst>
              <a:defRPr/>
            </a:pP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1</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增進家庭凝聚力</a:t>
            </a:r>
            <a:endPar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endParaRPr>
          </a:p>
          <a:p>
            <a:pPr marL="723900" marR="0" lvl="0" indent="-279400" algn="just" defTabSz="914400" rtl="0" eaLnBrk="1" fontAlgn="auto" latinLnBrk="0" hangingPunct="1">
              <a:lnSpc>
                <a:spcPts val="3900"/>
              </a:lnSpc>
              <a:spcBef>
                <a:spcPts val="0"/>
              </a:spcBef>
              <a:spcAft>
                <a:spcPts val="0"/>
              </a:spcAft>
              <a:buClrTx/>
              <a:buSzTx/>
              <a:buFontTx/>
              <a:buNone/>
              <a:tabLst>
                <a:tab pos="622300" algn="l"/>
              </a:tabLst>
              <a:defRPr/>
            </a:pP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2</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培養家庭志工能力</a:t>
            </a:r>
            <a:endPar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endParaRPr>
          </a:p>
          <a:p>
            <a:pPr marL="723900" marR="0" lvl="0" indent="-279400" algn="just" defTabSz="914400" rtl="0" eaLnBrk="1" fontAlgn="auto" latinLnBrk="0" hangingPunct="1">
              <a:lnSpc>
                <a:spcPts val="3900"/>
              </a:lnSpc>
              <a:spcBef>
                <a:spcPts val="0"/>
              </a:spcBef>
              <a:spcAft>
                <a:spcPts val="0"/>
              </a:spcAft>
              <a:buClrTx/>
              <a:buSzTx/>
              <a:buFontTx/>
              <a:buNone/>
              <a:tabLst>
                <a:tab pos="622300" algn="l"/>
              </a:tabLst>
              <a:defRPr/>
            </a:pP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3</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強化社區自主規劃與執行力</a:t>
            </a:r>
            <a:endPar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endParaRPr>
          </a:p>
          <a:p>
            <a:pPr marL="723900" marR="0" lvl="0" indent="-279400" algn="just" defTabSz="914400" rtl="0" eaLnBrk="1" fontAlgn="auto" latinLnBrk="0" hangingPunct="1">
              <a:lnSpc>
                <a:spcPts val="3900"/>
              </a:lnSpc>
              <a:spcBef>
                <a:spcPts val="0"/>
              </a:spcBef>
              <a:spcAft>
                <a:spcPts val="0"/>
              </a:spcAft>
              <a:buClrTx/>
              <a:buSzTx/>
              <a:buFontTx/>
              <a:buNone/>
              <a:tabLst>
                <a:tab pos="622300" algn="l"/>
              </a:tabLst>
              <a:defRPr/>
            </a:pP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4</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讓父母以身作則</a:t>
            </a:r>
            <a:endParaRPr kumimoji="0" lang="en-US" altLang="zh-TW" sz="2400" b="1" i="0" u="none" strike="noStrike" kern="100" cap="none" spc="0" normalizeH="0" baseline="0" noProof="0" dirty="0">
              <a:ln>
                <a:noFill/>
              </a:ln>
              <a:solidFill>
                <a:srgbClr val="000000"/>
              </a:solidFill>
              <a:effectLst/>
              <a:uLnTx/>
              <a:uFillTx/>
              <a:latin typeface="Times New Roman"/>
              <a:ea typeface="標楷體"/>
              <a:cs typeface="+mn-cs"/>
            </a:endParaRPr>
          </a:p>
          <a:p>
            <a:pPr marL="723900" marR="0" lvl="0" indent="-279400" algn="just" defTabSz="914400" rtl="0" eaLnBrk="1" fontAlgn="auto" latinLnBrk="0" hangingPunct="1">
              <a:lnSpc>
                <a:spcPts val="3900"/>
              </a:lnSpc>
              <a:spcBef>
                <a:spcPts val="0"/>
              </a:spcBef>
              <a:spcAft>
                <a:spcPts val="0"/>
              </a:spcAft>
              <a:buClrTx/>
              <a:buSzTx/>
              <a:buFontTx/>
              <a:buNone/>
              <a:tabLst>
                <a:tab pos="622300" algn="l"/>
              </a:tabLst>
              <a:defRPr/>
            </a:pP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en-US" altLang="zh-TW" sz="2400" b="0" i="0" u="none" strike="noStrike" kern="100" cap="none" spc="0" normalizeH="0" baseline="0" noProof="0" dirty="0">
                <a:ln>
                  <a:noFill/>
                </a:ln>
                <a:solidFill>
                  <a:srgbClr val="000000"/>
                </a:solidFill>
                <a:effectLst/>
                <a:uLnTx/>
                <a:uFillTx/>
                <a:latin typeface="Times New Roman"/>
                <a:ea typeface="標楷體"/>
                <a:cs typeface="+mn-cs"/>
              </a:rPr>
              <a:t>5</a:t>
            </a: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a:t>
            </a:r>
            <a:r>
              <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rPr>
              <a:t>增加親子互動時間</a:t>
            </a:r>
          </a:p>
        </p:txBody>
      </p:sp>
      <p:sp>
        <p:nvSpPr>
          <p:cNvPr id="5" name="內容版面配置區 2">
            <a:extLst>
              <a:ext uri="{FF2B5EF4-FFF2-40B4-BE49-F238E27FC236}">
                <a16:creationId xmlns:a16="http://schemas.microsoft.com/office/drawing/2014/main" id="{0C2A0B0F-80A8-F016-8612-685D1E5B49AD}"/>
              </a:ext>
            </a:extLst>
          </p:cNvPr>
          <p:cNvSpPr txBox="1">
            <a:spLocks/>
          </p:cNvSpPr>
          <p:nvPr/>
        </p:nvSpPr>
        <p:spPr bwMode="auto">
          <a:xfrm>
            <a:off x="457200" y="4398934"/>
            <a:ext cx="8229600" cy="58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6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marR="0" lvl="0" indent="0" algn="ctr" defTabSz="914400" rtl="0" eaLnBrk="0" fontAlgn="base" latinLnBrk="0" hangingPunct="0">
              <a:lnSpc>
                <a:spcPct val="100000"/>
              </a:lnSpc>
              <a:spcBef>
                <a:spcPct val="20000"/>
              </a:spcBef>
              <a:spcAft>
                <a:spcPct val="0"/>
              </a:spcAft>
              <a:buClr>
                <a:srgbClr val="69AAB1"/>
              </a:buClr>
              <a:buSzTx/>
              <a:buFont typeface="Wingdings" pitchFamily="2" charset="2"/>
              <a:buNone/>
              <a:tabLst/>
              <a:defRPr/>
            </a:pPr>
            <a:r>
              <a:rPr kumimoji="0" lang="zh-TW" altLang="en-US" sz="2400" b="1" i="0" u="none" strike="noStrike" kern="0" cap="none" spc="0" normalizeH="0" baseline="0" noProof="0" dirty="0">
                <a:ln>
                  <a:noFill/>
                </a:ln>
                <a:solidFill>
                  <a:srgbClr val="FF0000"/>
                </a:solidFill>
                <a:effectLst/>
                <a:uLnTx/>
                <a:uFillTx/>
                <a:latin typeface="標楷體" pitchFamily="65" charset="-120"/>
                <a:ea typeface="標楷體" pitchFamily="65" charset="-120"/>
                <a:cs typeface="+mn-cs"/>
              </a:rPr>
              <a:t>服務對象</a:t>
            </a:r>
            <a:r>
              <a:rPr kumimoji="0" lang="zh-TW" altLang="zh-TW" sz="2400" b="1" i="0" u="none" strike="noStrike" kern="1200" cap="none" spc="0" normalizeH="0" baseline="0" noProof="0" dirty="0">
                <a:ln>
                  <a:noFill/>
                </a:ln>
                <a:solidFill>
                  <a:srgbClr val="024631"/>
                </a:solidFill>
                <a:effectLst/>
                <a:uLnTx/>
                <a:uFillTx/>
                <a:latin typeface="標楷體" panose="03000509000000000000" pitchFamily="65" charset="-120"/>
                <a:ea typeface="標楷體" panose="03000509000000000000" pitchFamily="65" charset="-120"/>
                <a:cs typeface="+mn-cs"/>
              </a:rPr>
              <a:t>：由</a:t>
            </a:r>
            <a:r>
              <a:rPr kumimoji="0" lang="zh-TW" altLang="en-US" sz="2400" b="1" i="0" u="none" strike="noStrike" kern="1200" cap="none" spc="0" normalizeH="0" baseline="0" noProof="0" dirty="0">
                <a:ln>
                  <a:noFill/>
                </a:ln>
                <a:solidFill>
                  <a:srgbClr val="024631"/>
                </a:solidFill>
                <a:effectLst/>
                <a:uLnTx/>
                <a:uFillTx/>
                <a:latin typeface="標楷體" panose="03000509000000000000" pitchFamily="65" charset="-120"/>
                <a:ea typeface="標楷體" panose="03000509000000000000" pitchFamily="65" charset="-120"/>
                <a:cs typeface="+mn-cs"/>
              </a:rPr>
              <a:t>中崎</a:t>
            </a:r>
            <a:r>
              <a:rPr kumimoji="0" lang="zh-TW" altLang="zh-TW" sz="2400" b="1" i="0" u="none" strike="noStrike" kern="1200" cap="none" spc="0" normalizeH="0" baseline="0" noProof="0" dirty="0">
                <a:ln>
                  <a:noFill/>
                </a:ln>
                <a:solidFill>
                  <a:srgbClr val="024631"/>
                </a:solidFill>
                <a:effectLst/>
                <a:uLnTx/>
                <a:uFillTx/>
                <a:latin typeface="標楷體" panose="03000509000000000000" pitchFamily="65" charset="-120"/>
                <a:ea typeface="標楷體" panose="03000509000000000000" pitchFamily="65" charset="-120"/>
                <a:cs typeface="+mn-cs"/>
              </a:rPr>
              <a:t>社區主責</a:t>
            </a:r>
            <a:endParaRPr kumimoji="0" lang="zh-TW" altLang="zh-TW" sz="2400" b="0" i="0" u="none" strike="noStrike" kern="1200" cap="none" spc="0" normalizeH="0" baseline="0" noProof="0" dirty="0">
              <a:ln>
                <a:noFill/>
              </a:ln>
              <a:solidFill>
                <a:srgbClr val="024631"/>
              </a:solidFill>
              <a:effectLst/>
              <a:uLnTx/>
              <a:uFillTx/>
              <a:latin typeface="標楷體" panose="03000509000000000000" pitchFamily="65" charset="-120"/>
              <a:ea typeface="標楷體" panose="03000509000000000000" pitchFamily="65" charset="-120"/>
              <a:cs typeface="+mn-cs"/>
            </a:endParaRPr>
          </a:p>
          <a:p>
            <a:pPr marL="0" marR="0" lvl="0" indent="0" algn="ctr" defTabSz="914400" rtl="0" eaLnBrk="0" fontAlgn="base" latinLnBrk="0" hangingPunct="0">
              <a:lnSpc>
                <a:spcPct val="100000"/>
              </a:lnSpc>
              <a:spcBef>
                <a:spcPct val="20000"/>
              </a:spcBef>
              <a:spcAft>
                <a:spcPct val="0"/>
              </a:spcAft>
              <a:buClr>
                <a:srgbClr val="69AAB1"/>
              </a:buClr>
              <a:buSzTx/>
              <a:buFont typeface="Wingdings" pitchFamily="2" charset="2"/>
              <a:buNone/>
              <a:tabLst/>
              <a:defRPr/>
            </a:pPr>
            <a:endParaRPr kumimoji="0" lang="zh-TW" altLang="en-US" sz="2800" b="1" i="0" u="none" strike="noStrike" kern="0" cap="none" spc="0" normalizeH="0" baseline="0" noProof="0" dirty="0">
              <a:ln>
                <a:noFill/>
              </a:ln>
              <a:solidFill>
                <a:srgbClr val="FF0000"/>
              </a:solidFill>
              <a:effectLst/>
              <a:uLnTx/>
              <a:uFillTx/>
              <a:latin typeface="標楷體" pitchFamily="65" charset="-120"/>
              <a:ea typeface="標楷體" pitchFamily="65" charset="-120"/>
              <a:cs typeface="+mn-cs"/>
            </a:endParaRPr>
          </a:p>
        </p:txBody>
      </p:sp>
      <p:sp>
        <p:nvSpPr>
          <p:cNvPr id="6" name="矩形 5">
            <a:extLst>
              <a:ext uri="{FF2B5EF4-FFF2-40B4-BE49-F238E27FC236}">
                <a16:creationId xmlns:a16="http://schemas.microsoft.com/office/drawing/2014/main" id="{739AA69E-477A-3C5B-B757-BC59EDB6BCEA}"/>
              </a:ext>
            </a:extLst>
          </p:cNvPr>
          <p:cNvSpPr/>
          <p:nvPr/>
        </p:nvSpPr>
        <p:spPr>
          <a:xfrm>
            <a:off x="31304" y="5093982"/>
            <a:ext cx="8928992" cy="1040862"/>
          </a:xfrm>
          <a:prstGeom prst="rect">
            <a:avLst/>
          </a:prstGeom>
        </p:spPr>
        <p:txBody>
          <a:bodyPr wrap="square">
            <a:spAutoFit/>
          </a:bodyPr>
          <a:lstStyle/>
          <a:p>
            <a:pPr marL="360000" marR="0" lvl="0" indent="0" algn="just" defTabSz="914400" rtl="0" eaLnBrk="1" fontAlgn="auto" latinLnBrk="0" hangingPunct="1">
              <a:lnSpc>
                <a:spcPts val="3900"/>
              </a:lnSpc>
              <a:spcBef>
                <a:spcPts val="0"/>
              </a:spcBef>
              <a:spcAft>
                <a:spcPts val="0"/>
              </a:spcAft>
              <a:buClrTx/>
              <a:buSzTx/>
              <a:buFontTx/>
              <a:buNone/>
              <a:tabLst/>
              <a:defRPr/>
            </a:pPr>
            <a:r>
              <a:rPr kumimoji="0" lang="zh-TW" altLang="en-US"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小旗艦之家庭志工，每社區盤點出願意參與的 </a:t>
            </a: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1–2 </a:t>
            </a:r>
            <a:r>
              <a:rPr kumimoji="0" lang="zh-TW" altLang="en-US"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戶家庭（含青少年子女），預計共約</a:t>
            </a: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5-10 </a:t>
            </a:r>
            <a:r>
              <a:rPr kumimoji="0" lang="zh-TW" altLang="en-US"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戶家庭參與，每戶估計</a:t>
            </a: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3-4</a:t>
            </a:r>
            <a:r>
              <a:rPr kumimoji="0" lang="zh-TW" altLang="en-US"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人。</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p:txBody>
      </p:sp>
    </p:spTree>
    <p:extLst>
      <p:ext uri="{BB962C8B-B14F-4D97-AF65-F5344CB8AC3E}">
        <p14:creationId xmlns:p14="http://schemas.microsoft.com/office/powerpoint/2010/main" val="7880146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5D339-B7BB-D26F-1B84-F480F38AC00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82A15C0-ADF6-E8C7-5F9D-80123EFD4868}"/>
              </a:ext>
            </a:extLst>
          </p:cNvPr>
          <p:cNvSpPr>
            <a:spLocks noGrp="1"/>
          </p:cNvSpPr>
          <p:nvPr>
            <p:ph type="title"/>
          </p:nvPr>
        </p:nvSpPr>
        <p:spPr/>
        <p:txBody>
          <a:bodyPr/>
          <a:lstStyle/>
          <a:p>
            <a:r>
              <a:rPr kumimoji="0" lang="zh-TW" altLang="en-US" sz="2400" b="1" i="0" u="none" strike="noStrike" kern="0" cap="none" spc="0" normalizeH="0" baseline="0" noProof="0" dirty="0">
                <a:ln>
                  <a:noFill/>
                </a:ln>
                <a:solidFill>
                  <a:srgbClr val="FFFFFF"/>
                </a:solidFill>
                <a:effectLst/>
                <a:uLnTx/>
                <a:uFillTx/>
                <a:latin typeface="華康隸書體W7" panose="02010609010101010101" pitchFamily="49" charset="-120"/>
                <a:ea typeface="華康隸書體W7" panose="02010609010101010101" pitchFamily="49" charset="-120"/>
                <a:cs typeface="+mj-cs"/>
              </a:rPr>
              <a:t>子計畫三：社區家庭志工培力計畫</a:t>
            </a:r>
            <a:r>
              <a:rPr kumimoji="0" lang="en-US" altLang="zh-TW" sz="2400" b="1" i="0" u="none" strike="noStrike" kern="0" cap="none" spc="0" normalizeH="0" baseline="0" noProof="0" dirty="0">
                <a:ln>
                  <a:noFill/>
                </a:ln>
                <a:solidFill>
                  <a:srgbClr val="FFFFFF"/>
                </a:solidFill>
                <a:effectLst/>
                <a:uLnTx/>
                <a:uFillTx/>
                <a:latin typeface="華康隸書體W7" panose="02010609010101010101" pitchFamily="49" charset="-120"/>
                <a:ea typeface="華康隸書體W7" panose="02010609010101010101" pitchFamily="49" charset="-120"/>
                <a:cs typeface="+mj-cs"/>
              </a:rPr>
              <a:t>—</a:t>
            </a:r>
            <a:r>
              <a:rPr kumimoji="0" lang="zh-TW" altLang="en-US" sz="2400" b="1" i="0" u="none" strike="noStrike" kern="0" cap="none" spc="0" normalizeH="0" baseline="0" noProof="0" dirty="0">
                <a:ln>
                  <a:noFill/>
                </a:ln>
                <a:solidFill>
                  <a:srgbClr val="FFFFFF"/>
                </a:solidFill>
                <a:effectLst/>
                <a:uLnTx/>
                <a:uFillTx/>
                <a:latin typeface="華康隸書體W7" panose="02010609010101010101" pitchFamily="49" charset="-120"/>
                <a:ea typeface="華康隸書體W7" panose="02010609010101010101" pitchFamily="49" charset="-120"/>
                <a:cs typeface="+mj-cs"/>
              </a:rPr>
              <a:t>親子共學與社區服務</a:t>
            </a:r>
            <a:endParaRPr lang="zh-TW" altLang="en-US" sz="2400" dirty="0"/>
          </a:p>
        </p:txBody>
      </p:sp>
      <p:sp>
        <p:nvSpPr>
          <p:cNvPr id="3" name="內容版面配置區 2">
            <a:extLst>
              <a:ext uri="{FF2B5EF4-FFF2-40B4-BE49-F238E27FC236}">
                <a16:creationId xmlns:a16="http://schemas.microsoft.com/office/drawing/2014/main" id="{27B7D42F-85E0-98EE-3B08-A6C7B32F7EAF}"/>
              </a:ext>
            </a:extLst>
          </p:cNvPr>
          <p:cNvSpPr>
            <a:spLocks noGrp="1"/>
          </p:cNvSpPr>
          <p:nvPr>
            <p:ph idx="1"/>
          </p:nvPr>
        </p:nvSpPr>
        <p:spPr>
          <a:xfrm>
            <a:off x="457200" y="609600"/>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內容</a:t>
            </a:r>
          </a:p>
        </p:txBody>
      </p:sp>
      <p:sp>
        <p:nvSpPr>
          <p:cNvPr id="4" name="矩形 3">
            <a:extLst>
              <a:ext uri="{FF2B5EF4-FFF2-40B4-BE49-F238E27FC236}">
                <a16:creationId xmlns:a16="http://schemas.microsoft.com/office/drawing/2014/main" id="{B71A19A4-8493-D742-EE16-9B2DC3B88AEC}"/>
              </a:ext>
            </a:extLst>
          </p:cNvPr>
          <p:cNvSpPr/>
          <p:nvPr/>
        </p:nvSpPr>
        <p:spPr>
          <a:xfrm>
            <a:off x="0" y="1412776"/>
            <a:ext cx="9145016" cy="4542077"/>
          </a:xfrm>
          <a:prstGeom prst="rect">
            <a:avLst/>
          </a:prstGeom>
        </p:spPr>
        <p:txBody>
          <a:bodyPr wrap="square">
            <a:spAutoFit/>
          </a:bodyPr>
          <a:lstStyle/>
          <a:p>
            <a:pPr marL="552450" marR="0" lvl="0" indent="-432000" algn="just"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(1)</a:t>
            </a:r>
            <a:r>
              <a:rPr kumimoji="0" lang="zh-TW" altLang="en-US" sz="2400" b="1"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家庭親子課程</a:t>
            </a:r>
            <a:r>
              <a:rPr kumimoji="0" lang="zh-TW" altLang="en-US" sz="24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：情緒表達與代間共學、家庭互動實作與問題發現練習。（</a:t>
            </a:r>
            <a:r>
              <a:rPr kumimoji="0" lang="en-US" altLang="zh-TW"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2</a:t>
            </a:r>
            <a:r>
              <a:rPr kumimoji="0" lang="zh-TW" altLang="en-US"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堂課，每次</a:t>
            </a:r>
            <a:r>
              <a:rPr kumimoji="0" lang="en-US" altLang="zh-TW"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2</a:t>
            </a:r>
            <a:r>
              <a:rPr kumimoji="0" lang="zh-TW" altLang="en-US"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小時，共</a:t>
            </a:r>
            <a:r>
              <a:rPr kumimoji="0" lang="en-US" altLang="zh-TW"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4</a:t>
            </a:r>
            <a:r>
              <a:rPr kumimoji="0" lang="zh-TW" altLang="en-US"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小時</a:t>
            </a:r>
            <a:r>
              <a:rPr kumimoji="0" lang="zh-TW" altLang="en-US" sz="24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a:t>
            </a:r>
          </a:p>
          <a:p>
            <a:pPr marL="552450" marR="0" lvl="0" indent="-432000" algn="just"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(2)</a:t>
            </a:r>
            <a:r>
              <a:rPr kumimoji="0" lang="zh-TW" altLang="en-US" sz="2400" b="1"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家庭志工技能課程</a:t>
            </a:r>
            <a:r>
              <a:rPr kumimoji="0" lang="zh-TW" altLang="en-US" sz="24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：簡易服務技巧訓練（協助同儕或社區活動）。（</a:t>
            </a:r>
            <a:r>
              <a:rPr kumimoji="0" lang="en-US" altLang="zh-TW"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2</a:t>
            </a:r>
            <a:r>
              <a:rPr kumimoji="0" lang="zh-TW" altLang="en-US"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堂課，每次</a:t>
            </a:r>
            <a:r>
              <a:rPr kumimoji="0" lang="en-US" altLang="zh-TW"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2</a:t>
            </a:r>
            <a:r>
              <a:rPr kumimoji="0" lang="zh-TW" altLang="en-US"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小時，共</a:t>
            </a:r>
            <a:r>
              <a:rPr kumimoji="0" lang="en-US" altLang="zh-TW"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4</a:t>
            </a:r>
            <a:r>
              <a:rPr kumimoji="0" lang="zh-TW" altLang="en-US"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小時</a:t>
            </a:r>
            <a:r>
              <a:rPr kumimoji="0" lang="zh-TW" altLang="en-US" sz="24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a:t>
            </a:r>
          </a:p>
          <a:p>
            <a:pPr marL="552450" marR="0" lvl="0" indent="-432000" algn="just"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(3)</a:t>
            </a:r>
            <a:r>
              <a:rPr kumimoji="0" lang="zh-TW" altLang="en-US" sz="2400" b="1"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家庭凝聚力工作坊</a:t>
            </a:r>
            <a:r>
              <a:rPr kumimoji="0" lang="zh-TW" altLang="en-US" sz="24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：活動內容含親子互動、團隊合作、問題解決及社區互動，促進家庭間互信及社區凝聚力。（</a:t>
            </a:r>
            <a:r>
              <a:rPr kumimoji="0" lang="en-US" altLang="zh-TW"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1</a:t>
            </a:r>
            <a:r>
              <a:rPr kumimoji="0" lang="zh-TW" altLang="en-US"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堂課，每次</a:t>
            </a:r>
            <a:r>
              <a:rPr kumimoji="0" lang="en-US" altLang="zh-TW"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6</a:t>
            </a:r>
            <a:r>
              <a:rPr kumimoji="0" lang="zh-TW" altLang="en-US"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小時，共</a:t>
            </a:r>
            <a:r>
              <a:rPr kumimoji="0" lang="en-US" altLang="zh-TW"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6</a:t>
            </a:r>
            <a:r>
              <a:rPr kumimoji="0" lang="zh-TW" altLang="en-US"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小時</a:t>
            </a:r>
            <a:r>
              <a:rPr kumimoji="0" lang="zh-TW" altLang="en-US" sz="24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a:t>
            </a:r>
          </a:p>
          <a:p>
            <a:pPr marL="552450" marR="0" lvl="0" indent="-432000" algn="just" defTabSz="914400" rtl="0" eaLnBrk="1" fontAlgn="auto" latinLnBrk="0" hangingPunct="1">
              <a:lnSpc>
                <a:spcPts val="3500"/>
              </a:lnSpc>
              <a:spcBef>
                <a:spcPts val="0"/>
              </a:spcBef>
              <a:spcAft>
                <a:spcPts val="0"/>
              </a:spcAft>
              <a:buClrTx/>
              <a:buSzTx/>
              <a:buFontTx/>
              <a:buNone/>
              <a:tabLst/>
              <a:defRPr/>
            </a:pPr>
            <a:r>
              <a:rPr kumimoji="0" lang="en-US" altLang="zh-TW" sz="24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(4)</a:t>
            </a:r>
            <a:r>
              <a:rPr kumimoji="0" lang="zh-TW" altLang="en-US" sz="2400" b="1"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志工家庭隊組成與服務</a:t>
            </a:r>
            <a:r>
              <a:rPr kumimoji="0" lang="zh-TW" altLang="en-US" sz="24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：定期投入社區服務或協助觀察、輔導同儕需求，形成可持續的家庭服務網絡（</a:t>
            </a:r>
            <a:r>
              <a:rPr kumimoji="0" lang="zh-TW" altLang="en-US" sz="2400" b="0" i="0" u="none" strike="noStrike" kern="1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為了落實家庭民主，服務由家庭志工討論作何種服務及次數</a:t>
            </a:r>
            <a:r>
              <a:rPr kumimoji="0" lang="zh-TW" altLang="en-US" sz="24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a:t>
            </a:r>
          </a:p>
        </p:txBody>
      </p:sp>
    </p:spTree>
    <p:extLst>
      <p:ext uri="{BB962C8B-B14F-4D97-AF65-F5344CB8AC3E}">
        <p14:creationId xmlns:p14="http://schemas.microsoft.com/office/powerpoint/2010/main" val="14172853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22B0E-F9A9-4507-9711-7EB853CEC29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9534E22-A29A-5A38-7297-DD1952EF41E2}"/>
              </a:ext>
            </a:extLst>
          </p:cNvPr>
          <p:cNvSpPr>
            <a:spLocks noGrp="1"/>
          </p:cNvSpPr>
          <p:nvPr>
            <p:ph type="title"/>
          </p:nvPr>
        </p:nvSpPr>
        <p:spPr/>
        <p:txBody>
          <a:bodyPr/>
          <a:lstStyle/>
          <a:p>
            <a:r>
              <a:rPr kumimoji="0" lang="zh-TW" altLang="en-US" sz="2400" b="1" i="0" u="none" strike="noStrike" kern="0" cap="none" spc="0" normalizeH="0" baseline="0" noProof="0" dirty="0">
                <a:ln>
                  <a:noFill/>
                </a:ln>
                <a:solidFill>
                  <a:srgbClr val="FFFFFF"/>
                </a:solidFill>
                <a:effectLst/>
                <a:uLnTx/>
                <a:uFillTx/>
                <a:latin typeface="華康隸書體W7" panose="02010609010101010101" pitchFamily="49" charset="-120"/>
                <a:ea typeface="華康隸書體W7" panose="02010609010101010101" pitchFamily="49" charset="-120"/>
                <a:cs typeface="+mj-cs"/>
              </a:rPr>
              <a:t>子計畫三：社區家庭志工培力計畫</a:t>
            </a:r>
            <a:r>
              <a:rPr kumimoji="0" lang="en-US" altLang="zh-TW" sz="2400" b="1" i="0" u="none" strike="noStrike" kern="0" cap="none" spc="0" normalizeH="0" baseline="0" noProof="0" dirty="0">
                <a:ln>
                  <a:noFill/>
                </a:ln>
                <a:solidFill>
                  <a:srgbClr val="FFFFFF"/>
                </a:solidFill>
                <a:effectLst/>
                <a:uLnTx/>
                <a:uFillTx/>
                <a:latin typeface="華康隸書體W7" panose="02010609010101010101" pitchFamily="49" charset="-120"/>
                <a:ea typeface="華康隸書體W7" panose="02010609010101010101" pitchFamily="49" charset="-120"/>
                <a:cs typeface="+mj-cs"/>
              </a:rPr>
              <a:t>—</a:t>
            </a:r>
            <a:r>
              <a:rPr kumimoji="0" lang="zh-TW" altLang="en-US" sz="2400" b="1" i="0" u="none" strike="noStrike" kern="0" cap="none" spc="0" normalizeH="0" baseline="0" noProof="0" dirty="0">
                <a:ln>
                  <a:noFill/>
                </a:ln>
                <a:solidFill>
                  <a:srgbClr val="FFFFFF"/>
                </a:solidFill>
                <a:effectLst/>
                <a:uLnTx/>
                <a:uFillTx/>
                <a:latin typeface="華康隸書體W7" panose="02010609010101010101" pitchFamily="49" charset="-120"/>
                <a:ea typeface="華康隸書體W7" panose="02010609010101010101" pitchFamily="49" charset="-120"/>
                <a:cs typeface="+mj-cs"/>
              </a:rPr>
              <a:t>親子共學與社區服務</a:t>
            </a:r>
            <a:endParaRPr lang="zh-TW" altLang="en-US" sz="2400" dirty="0"/>
          </a:p>
        </p:txBody>
      </p:sp>
      <p:sp>
        <p:nvSpPr>
          <p:cNvPr id="3" name="內容版面配置區 2">
            <a:extLst>
              <a:ext uri="{FF2B5EF4-FFF2-40B4-BE49-F238E27FC236}">
                <a16:creationId xmlns:a16="http://schemas.microsoft.com/office/drawing/2014/main" id="{78233D3D-FFCA-4552-FCEF-402410DDCBC8}"/>
              </a:ext>
            </a:extLst>
          </p:cNvPr>
          <p:cNvSpPr>
            <a:spLocks noGrp="1"/>
          </p:cNvSpPr>
          <p:nvPr>
            <p:ph idx="1"/>
          </p:nvPr>
        </p:nvSpPr>
        <p:spPr>
          <a:xfrm>
            <a:off x="457200" y="1052736"/>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效益</a:t>
            </a:r>
            <a:endParaRPr lang="en-US" altLang="zh-TW" sz="2800" b="1" dirty="0">
              <a:solidFill>
                <a:srgbClr val="FF0000"/>
              </a:solidFill>
              <a:latin typeface="標楷體" pitchFamily="65" charset="-120"/>
              <a:ea typeface="標楷體" pitchFamily="65" charset="-120"/>
            </a:endParaRPr>
          </a:p>
        </p:txBody>
      </p:sp>
      <p:sp>
        <p:nvSpPr>
          <p:cNvPr id="4" name="矩形 3">
            <a:extLst>
              <a:ext uri="{FF2B5EF4-FFF2-40B4-BE49-F238E27FC236}">
                <a16:creationId xmlns:a16="http://schemas.microsoft.com/office/drawing/2014/main" id="{3B1B74BF-D573-FA6B-5EC3-A1529D3E06BA}"/>
              </a:ext>
            </a:extLst>
          </p:cNvPr>
          <p:cNvSpPr/>
          <p:nvPr/>
        </p:nvSpPr>
        <p:spPr>
          <a:xfrm>
            <a:off x="209854" y="1988840"/>
            <a:ext cx="8724292" cy="4071756"/>
          </a:xfrm>
          <a:prstGeom prst="rect">
            <a:avLst/>
          </a:prstGeom>
        </p:spPr>
        <p:txBody>
          <a:bodyPr wrap="square">
            <a:spAutoFit/>
          </a:bodyPr>
          <a:lstStyle/>
          <a:p>
            <a:pPr marL="717550" marR="0" lvl="0" indent="-1260000" algn="just" defTabSz="914400" rtl="0" eaLnBrk="1" fontAlgn="auto" latinLnBrk="0" hangingPunct="1">
              <a:lnSpc>
                <a:spcPts val="4500"/>
              </a:lnSpc>
              <a:spcBef>
                <a:spcPts val="0"/>
              </a:spcBef>
              <a:spcAft>
                <a:spcPts val="0"/>
              </a:spcAft>
              <a:buClrTx/>
              <a:buSzTx/>
              <a:buFontTx/>
              <a:buNone/>
              <a:tabLst/>
              <a:defRPr/>
            </a:pPr>
            <a:r>
              <a:rPr kumimoji="0" lang="zh-TW"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1</a:t>
            </a:r>
            <a:r>
              <a:rPr kumimoji="0" lang="zh-TW"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親子關係更融洽，增進代間理解與情感連結。</a:t>
            </a:r>
          </a:p>
          <a:p>
            <a:pPr marL="717550" marR="0" lvl="0" indent="-1260000"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2</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）建立家庭志工隊，強化社區互助與社會支持網絡。</a:t>
            </a:r>
          </a:p>
          <a:p>
            <a:pPr marL="717550" marR="0" lvl="0" indent="-1260000"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3</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）參與家庭學習社區服務技能與問題發現能力。</a:t>
            </a:r>
          </a:p>
          <a:p>
            <a:pPr marL="717550" marR="0" lvl="0" indent="-1260000"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4</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）形成長期社區互助模式，培養家庭投入社區行動的習慣。</a:t>
            </a:r>
          </a:p>
          <a:p>
            <a:pPr marL="717550" marR="0" lvl="0" indent="-1260000"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5</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）增加家長之親職力。</a:t>
            </a:r>
          </a:p>
          <a:p>
            <a:pPr marL="717550" marR="0" lvl="0" indent="-1080000" algn="just" defTabSz="914400" rtl="0" eaLnBrk="1" fontAlgn="auto" latinLnBrk="0" hangingPunct="1">
              <a:lnSpc>
                <a:spcPts val="4500"/>
              </a:lnSpc>
              <a:spcBef>
                <a:spcPts val="0"/>
              </a:spcBef>
              <a:spcAft>
                <a:spcPts val="0"/>
              </a:spcAft>
              <a:buClrTx/>
              <a:buSzTx/>
              <a:buFontTx/>
              <a:buNone/>
              <a:tabLst/>
              <a:defRPr/>
            </a:pPr>
            <a:endParaRPr kumimoji="0" lang="zh-TW" altLang="zh-TW" sz="28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p:txBody>
      </p:sp>
    </p:spTree>
    <p:extLst>
      <p:ext uri="{BB962C8B-B14F-4D97-AF65-F5344CB8AC3E}">
        <p14:creationId xmlns:p14="http://schemas.microsoft.com/office/powerpoint/2010/main" val="21269410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BA203-6AAE-AFD2-A584-33FC2DA816C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72D3D60-6705-6710-387A-9B1CB23C66FE}"/>
              </a:ext>
            </a:extLst>
          </p:cNvPr>
          <p:cNvSpPr>
            <a:spLocks noGrp="1"/>
          </p:cNvSpPr>
          <p:nvPr>
            <p:ph type="title"/>
          </p:nvPr>
        </p:nvSpPr>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社區家庭志工培力計畫經費表</a:t>
            </a:r>
            <a:endParaRPr lang="zh-TW" altLang="en-US" sz="3600" dirty="0"/>
          </a:p>
        </p:txBody>
      </p:sp>
      <p:graphicFrame>
        <p:nvGraphicFramePr>
          <p:cNvPr id="7" name="表格 6">
            <a:extLst>
              <a:ext uri="{FF2B5EF4-FFF2-40B4-BE49-F238E27FC236}">
                <a16:creationId xmlns:a16="http://schemas.microsoft.com/office/drawing/2014/main" id="{1B2DA406-CA36-B4EA-36E5-F6FDFB05EF1F}"/>
              </a:ext>
            </a:extLst>
          </p:cNvPr>
          <p:cNvGraphicFramePr>
            <a:graphicFrameLocks noGrp="1"/>
          </p:cNvGraphicFramePr>
          <p:nvPr/>
        </p:nvGraphicFramePr>
        <p:xfrm>
          <a:off x="341784" y="1052736"/>
          <a:ext cx="8460431" cy="5370508"/>
        </p:xfrm>
        <a:graphic>
          <a:graphicData uri="http://schemas.openxmlformats.org/drawingml/2006/table">
            <a:tbl>
              <a:tblPr firstRow="1" firstCol="1" lastRow="1" lastCol="1" bandRow="1" bandCol="1"/>
              <a:tblGrid>
                <a:gridCol w="1678052">
                  <a:extLst>
                    <a:ext uri="{9D8B030D-6E8A-4147-A177-3AD203B41FA5}">
                      <a16:colId xmlns:a16="http://schemas.microsoft.com/office/drawing/2014/main" val="3578943223"/>
                    </a:ext>
                  </a:extLst>
                </a:gridCol>
                <a:gridCol w="866502">
                  <a:extLst>
                    <a:ext uri="{9D8B030D-6E8A-4147-A177-3AD203B41FA5}">
                      <a16:colId xmlns:a16="http://schemas.microsoft.com/office/drawing/2014/main" val="3015582658"/>
                    </a:ext>
                  </a:extLst>
                </a:gridCol>
                <a:gridCol w="839450">
                  <a:extLst>
                    <a:ext uri="{9D8B030D-6E8A-4147-A177-3AD203B41FA5}">
                      <a16:colId xmlns:a16="http://schemas.microsoft.com/office/drawing/2014/main" val="1582908736"/>
                    </a:ext>
                  </a:extLst>
                </a:gridCol>
                <a:gridCol w="1077841">
                  <a:extLst>
                    <a:ext uri="{9D8B030D-6E8A-4147-A177-3AD203B41FA5}">
                      <a16:colId xmlns:a16="http://schemas.microsoft.com/office/drawing/2014/main" val="73208533"/>
                    </a:ext>
                  </a:extLst>
                </a:gridCol>
                <a:gridCol w="719409">
                  <a:extLst>
                    <a:ext uri="{9D8B030D-6E8A-4147-A177-3AD203B41FA5}">
                      <a16:colId xmlns:a16="http://schemas.microsoft.com/office/drawing/2014/main" val="23339771"/>
                    </a:ext>
                  </a:extLst>
                </a:gridCol>
                <a:gridCol w="1317925">
                  <a:extLst>
                    <a:ext uri="{9D8B030D-6E8A-4147-A177-3AD203B41FA5}">
                      <a16:colId xmlns:a16="http://schemas.microsoft.com/office/drawing/2014/main" val="3538299279"/>
                    </a:ext>
                  </a:extLst>
                </a:gridCol>
                <a:gridCol w="1961252">
                  <a:extLst>
                    <a:ext uri="{9D8B030D-6E8A-4147-A177-3AD203B41FA5}">
                      <a16:colId xmlns:a16="http://schemas.microsoft.com/office/drawing/2014/main" val="1988443484"/>
                    </a:ext>
                  </a:extLst>
                </a:gridCol>
              </a:tblGrid>
              <a:tr h="177919">
                <a:tc>
                  <a:txBody>
                    <a:bodyPr/>
                    <a:lstStyle/>
                    <a:p>
                      <a:pPr marL="249555" algn="ctr">
                        <a:lnSpc>
                          <a:spcPts val="2200"/>
                        </a:lnSpc>
                        <a:buNone/>
                      </a:pPr>
                      <a:r>
                        <a:rPr lang="en-US" sz="1600" kern="0" spc="-3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項目</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93980" algn="ctr">
                        <a:lnSpc>
                          <a:spcPts val="2200"/>
                        </a:lnSpc>
                        <a:buNone/>
                      </a:pPr>
                      <a:r>
                        <a:rPr lang="en-US"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單價</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7950" algn="ctr">
                        <a:lnSpc>
                          <a:spcPts val="2200"/>
                        </a:lnSpc>
                        <a:buNone/>
                      </a:pPr>
                      <a:r>
                        <a:rPr lang="en-US"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數量</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4610" algn="ctr">
                        <a:lnSpc>
                          <a:spcPts val="2200"/>
                        </a:lnSpc>
                        <a:buNone/>
                      </a:pP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總金額</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5090" algn="ctr">
                        <a:lnSpc>
                          <a:spcPts val="2200"/>
                        </a:lnSpc>
                        <a:buNone/>
                      </a:pPr>
                      <a:r>
                        <a:rPr lang="en-US"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自籌</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305" algn="ctr">
                        <a:lnSpc>
                          <a:spcPts val="2200"/>
                        </a:lnSpc>
                        <a:buNone/>
                      </a:pPr>
                      <a:r>
                        <a:rPr lang="en-US" sz="1600" kern="0" spc="-2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申請</a:t>
                      </a: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補助</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2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說明</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2972151"/>
                  </a:ext>
                </a:extLst>
              </a:tr>
              <a:tr h="160505">
                <a:tc>
                  <a:txBody>
                    <a:bodyPr/>
                    <a:lstStyle/>
                    <a:p>
                      <a:pPr marL="15240" algn="just">
                        <a:lnSpc>
                          <a:spcPts val="2200"/>
                        </a:lnSpc>
                        <a:buNone/>
                      </a:pPr>
                      <a:r>
                        <a:rPr lang="en-US" sz="1600" kern="0" spc="-5"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a:t>
                      </a:r>
                      <a:r>
                        <a:rPr lang="en-US" sz="1600" kern="0" spc="-2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講師鐘點費</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L="1135380" marR="86995" algn="r">
                        <a:lnSpc>
                          <a:spcPts val="2200"/>
                        </a:lnSpc>
                        <a:buNone/>
                      </a:pPr>
                      <a:r>
                        <a:rPr lang="en-US"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34,000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L="92075" marR="91440" algn="r">
                        <a:lnSpc>
                          <a:spcPts val="2200"/>
                        </a:lnSpc>
                        <a:buNone/>
                      </a:pPr>
                      <a:r>
                        <a:rPr lang="en-US" sz="1600" b="1" kern="0" spc="-9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93040" marR="91440" algn="r">
                        <a:lnSpc>
                          <a:spcPts val="2200"/>
                        </a:lnSpc>
                        <a:buNone/>
                      </a:pPr>
                      <a:r>
                        <a:rPr lang="en-US"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34,000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2200"/>
                        </a:lnSpc>
                        <a:buNone/>
                      </a:pPr>
                      <a:r>
                        <a:rPr lang="en-US" sz="1200" kern="0">
                          <a:solidFill>
                            <a:srgbClr val="000000"/>
                          </a:solidFill>
                          <a:effectLst/>
                          <a:latin typeface="標楷體" panose="03000509000000000000" pitchFamily="65" charset="-120"/>
                          <a:ea typeface="標楷體" panose="03000509000000000000" pitchFamily="65" charset="-120"/>
                        </a:rPr>
                        <a:t> </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257662"/>
                  </a:ext>
                </a:extLst>
              </a:tr>
              <a:tr h="265826">
                <a:tc>
                  <a:txBody>
                    <a:bodyPr/>
                    <a:lstStyle/>
                    <a:p>
                      <a:pPr algn="ctr">
                        <a:lnSpc>
                          <a:spcPts val="2200"/>
                        </a:lnSpc>
                        <a:buNone/>
                      </a:pPr>
                      <a:r>
                        <a:rPr lang="zh-TW" sz="1600"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外聘</a:t>
                      </a:r>
                      <a:r>
                        <a:rPr lang="en-US" sz="1600" kern="0" spc="-2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講師鐘點費</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dirty="0">
                          <a:solidFill>
                            <a:srgbClr val="000000"/>
                          </a:solidFill>
                          <a:effectLst/>
                          <a:latin typeface="標楷體" panose="03000509000000000000" pitchFamily="65" charset="-120"/>
                          <a:ea typeface="標楷體" panose="03000509000000000000" pitchFamily="65" charset="-120"/>
                        </a:rPr>
                        <a:t>2,000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4</a:t>
                      </a:r>
                      <a:r>
                        <a:rPr lang="zh-TW" sz="1600" kern="0">
                          <a:solidFill>
                            <a:srgbClr val="000000"/>
                          </a:solidFill>
                          <a:effectLst/>
                          <a:latin typeface="標楷體" panose="03000509000000000000" pitchFamily="65" charset="-120"/>
                          <a:ea typeface="標楷體" panose="03000509000000000000" pitchFamily="65" charset="-120"/>
                        </a:rPr>
                        <a:t>小時</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8,000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8,000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nSpc>
                          <a:spcPts val="1200"/>
                        </a:lnSpc>
                        <a:spcBef>
                          <a:spcPts val="50"/>
                        </a:spcBef>
                        <a:buNone/>
                      </a:pPr>
                      <a:r>
                        <a:rPr lang="zh-TW" sz="1200" b="1" kern="100" dirty="0">
                          <a:solidFill>
                            <a:srgbClr val="000000"/>
                          </a:solidFill>
                          <a:effectLst/>
                          <a:latin typeface="標楷體" panose="03000509000000000000" pitchFamily="65" charset="-120"/>
                          <a:ea typeface="標楷體" panose="03000509000000000000" pitchFamily="65" charset="-120"/>
                        </a:rPr>
                        <a:t>家庭親子課程</a:t>
                      </a:r>
                      <a:endParaRPr lang="zh-TW" sz="1200" kern="100" dirty="0">
                        <a:solidFill>
                          <a:srgbClr val="000000"/>
                        </a:solidFill>
                        <a:effectLst/>
                        <a:latin typeface="標楷體" panose="03000509000000000000" pitchFamily="65" charset="-120"/>
                        <a:ea typeface="標楷體" panose="03000509000000000000" pitchFamily="65" charset="-120"/>
                      </a:endParaRPr>
                    </a:p>
                    <a:p>
                      <a:pPr marL="50165">
                        <a:lnSpc>
                          <a:spcPts val="1200"/>
                        </a:lnSpc>
                        <a:spcBef>
                          <a:spcPts val="50"/>
                        </a:spcBef>
                        <a:buNone/>
                      </a:pPr>
                      <a:r>
                        <a:rPr lang="en-US" sz="1200" kern="0" dirty="0">
                          <a:solidFill>
                            <a:srgbClr val="000000"/>
                          </a:solidFill>
                          <a:effectLst/>
                          <a:latin typeface="標楷體" panose="03000509000000000000" pitchFamily="65" charset="-120"/>
                          <a:ea typeface="標楷體" panose="03000509000000000000" pitchFamily="65" charset="-120"/>
                        </a:rPr>
                        <a:t>2</a:t>
                      </a:r>
                      <a:r>
                        <a:rPr lang="zh-TW" sz="1200" kern="0" dirty="0">
                          <a:solidFill>
                            <a:srgbClr val="000000"/>
                          </a:solidFill>
                          <a:effectLst/>
                          <a:latin typeface="標楷體" panose="03000509000000000000" pitchFamily="65" charset="-120"/>
                          <a:ea typeface="標楷體" panose="03000509000000000000" pitchFamily="65" charset="-120"/>
                        </a:rPr>
                        <a:t>堂課，每次</a:t>
                      </a:r>
                      <a:r>
                        <a:rPr lang="en-US" sz="1200" kern="0" dirty="0">
                          <a:solidFill>
                            <a:srgbClr val="000000"/>
                          </a:solidFill>
                          <a:effectLst/>
                          <a:latin typeface="標楷體" panose="03000509000000000000" pitchFamily="65" charset="-120"/>
                          <a:ea typeface="標楷體" panose="03000509000000000000" pitchFamily="65" charset="-120"/>
                        </a:rPr>
                        <a:t>2</a:t>
                      </a:r>
                      <a:r>
                        <a:rPr lang="zh-TW" sz="1200" kern="0" dirty="0">
                          <a:solidFill>
                            <a:srgbClr val="000000"/>
                          </a:solidFill>
                          <a:effectLst/>
                          <a:latin typeface="標楷體" panose="03000509000000000000" pitchFamily="65" charset="-120"/>
                          <a:ea typeface="標楷體" panose="03000509000000000000" pitchFamily="65" charset="-120"/>
                        </a:rPr>
                        <a:t>小時，共</a:t>
                      </a:r>
                      <a:r>
                        <a:rPr lang="en-US" sz="1200" kern="0" dirty="0">
                          <a:solidFill>
                            <a:srgbClr val="000000"/>
                          </a:solidFill>
                          <a:effectLst/>
                          <a:latin typeface="標楷體" panose="03000509000000000000" pitchFamily="65" charset="-120"/>
                          <a:ea typeface="標楷體" panose="03000509000000000000" pitchFamily="65" charset="-120"/>
                        </a:rPr>
                        <a:t>4</a:t>
                      </a:r>
                      <a:r>
                        <a:rPr lang="zh-TW" sz="1200" kern="0" dirty="0">
                          <a:solidFill>
                            <a:srgbClr val="000000"/>
                          </a:solidFill>
                          <a:effectLst/>
                          <a:latin typeface="標楷體" panose="03000509000000000000" pitchFamily="65" charset="-120"/>
                          <a:ea typeface="標楷體" panose="03000509000000000000" pitchFamily="65" charset="-120"/>
                        </a:rPr>
                        <a:t>小時，</a:t>
                      </a:r>
                      <a:r>
                        <a:rPr lang="zh-TW" sz="1200" b="1" kern="0" dirty="0">
                          <a:solidFill>
                            <a:srgbClr val="000000"/>
                          </a:solidFill>
                          <a:effectLst/>
                          <a:latin typeface="標楷體" panose="03000509000000000000" pitchFamily="65" charset="-120"/>
                          <a:ea typeface="標楷體" panose="03000509000000000000" pitchFamily="65" charset="-120"/>
                        </a:rPr>
                        <a:t>講師待聘</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3906305"/>
                  </a:ext>
                </a:extLst>
              </a:tr>
              <a:tr h="430411">
                <a:tc>
                  <a:txBody>
                    <a:bodyPr/>
                    <a:lstStyle/>
                    <a:p>
                      <a:pPr algn="ctr">
                        <a:lnSpc>
                          <a:spcPts val="2200"/>
                        </a:lnSpc>
                        <a:buNone/>
                      </a:pPr>
                      <a:r>
                        <a:rPr lang="zh-TW" sz="1600"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外聘</a:t>
                      </a: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講師鐘點費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dirty="0">
                          <a:solidFill>
                            <a:srgbClr val="000000"/>
                          </a:solidFill>
                          <a:effectLst/>
                          <a:latin typeface="標楷體" panose="03000509000000000000" pitchFamily="65" charset="-120"/>
                          <a:ea typeface="標楷體" panose="03000509000000000000" pitchFamily="65" charset="-120"/>
                        </a:rPr>
                        <a:t>2,000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dirty="0">
                          <a:solidFill>
                            <a:srgbClr val="000000"/>
                          </a:solidFill>
                          <a:effectLst/>
                          <a:latin typeface="標楷體" panose="03000509000000000000" pitchFamily="65" charset="-120"/>
                          <a:ea typeface="標楷體" panose="03000509000000000000" pitchFamily="65" charset="-120"/>
                        </a:rPr>
                        <a:t>4</a:t>
                      </a:r>
                      <a:r>
                        <a:rPr lang="zh-TW" sz="1600" kern="0" dirty="0">
                          <a:solidFill>
                            <a:srgbClr val="000000"/>
                          </a:solidFill>
                          <a:effectLst/>
                          <a:latin typeface="標楷體" panose="03000509000000000000" pitchFamily="65" charset="-120"/>
                          <a:ea typeface="標楷體" panose="03000509000000000000" pitchFamily="65" charset="-120"/>
                        </a:rPr>
                        <a:t>小時</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8,000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8,000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nSpc>
                          <a:spcPts val="1200"/>
                        </a:lnSpc>
                        <a:spcBef>
                          <a:spcPts val="50"/>
                        </a:spcBef>
                        <a:buNone/>
                      </a:pPr>
                      <a:r>
                        <a:rPr lang="zh-TW" sz="1200" b="1" kern="100" dirty="0">
                          <a:solidFill>
                            <a:srgbClr val="000000"/>
                          </a:solidFill>
                          <a:effectLst/>
                          <a:latin typeface="標楷體" panose="03000509000000000000" pitchFamily="65" charset="-120"/>
                          <a:ea typeface="標楷體" panose="03000509000000000000" pitchFamily="65" charset="-120"/>
                        </a:rPr>
                        <a:t>家庭志工技能課程</a:t>
                      </a:r>
                      <a:br>
                        <a:rPr lang="en-US" sz="1200" b="1" kern="100" dirty="0">
                          <a:solidFill>
                            <a:srgbClr val="000000"/>
                          </a:solidFill>
                          <a:effectLst/>
                          <a:latin typeface="標楷體" panose="03000509000000000000" pitchFamily="65" charset="-120"/>
                          <a:ea typeface="標楷體" panose="03000509000000000000" pitchFamily="65" charset="-120"/>
                        </a:rPr>
                      </a:br>
                      <a:r>
                        <a:rPr lang="en-US" sz="1200" kern="0" dirty="0">
                          <a:solidFill>
                            <a:srgbClr val="000000"/>
                          </a:solidFill>
                          <a:effectLst/>
                          <a:latin typeface="標楷體" panose="03000509000000000000" pitchFamily="65" charset="-120"/>
                          <a:ea typeface="標楷體" panose="03000509000000000000" pitchFamily="65" charset="-120"/>
                        </a:rPr>
                        <a:t>2</a:t>
                      </a:r>
                      <a:r>
                        <a:rPr lang="zh-TW" sz="1200" kern="0" dirty="0">
                          <a:solidFill>
                            <a:srgbClr val="000000"/>
                          </a:solidFill>
                          <a:effectLst/>
                          <a:latin typeface="標楷體" panose="03000509000000000000" pitchFamily="65" charset="-120"/>
                          <a:ea typeface="標楷體" panose="03000509000000000000" pitchFamily="65" charset="-120"/>
                        </a:rPr>
                        <a:t>堂課，每次</a:t>
                      </a:r>
                      <a:r>
                        <a:rPr lang="en-US" sz="1200" kern="0" dirty="0">
                          <a:solidFill>
                            <a:srgbClr val="000000"/>
                          </a:solidFill>
                          <a:effectLst/>
                          <a:latin typeface="標楷體" panose="03000509000000000000" pitchFamily="65" charset="-120"/>
                          <a:ea typeface="標楷體" panose="03000509000000000000" pitchFamily="65" charset="-120"/>
                        </a:rPr>
                        <a:t>2</a:t>
                      </a:r>
                      <a:r>
                        <a:rPr lang="zh-TW" sz="1200" kern="0" dirty="0">
                          <a:solidFill>
                            <a:srgbClr val="000000"/>
                          </a:solidFill>
                          <a:effectLst/>
                          <a:latin typeface="標楷體" panose="03000509000000000000" pitchFamily="65" charset="-120"/>
                          <a:ea typeface="標楷體" panose="03000509000000000000" pitchFamily="65" charset="-120"/>
                        </a:rPr>
                        <a:t>小時，共</a:t>
                      </a:r>
                      <a:r>
                        <a:rPr lang="en-US" sz="1200" kern="0" dirty="0">
                          <a:solidFill>
                            <a:srgbClr val="000000"/>
                          </a:solidFill>
                          <a:effectLst/>
                          <a:latin typeface="標楷體" panose="03000509000000000000" pitchFamily="65" charset="-120"/>
                          <a:ea typeface="標楷體" panose="03000509000000000000" pitchFamily="65" charset="-120"/>
                        </a:rPr>
                        <a:t>4</a:t>
                      </a:r>
                      <a:r>
                        <a:rPr lang="zh-TW" sz="1200" kern="0" dirty="0">
                          <a:solidFill>
                            <a:srgbClr val="000000"/>
                          </a:solidFill>
                          <a:effectLst/>
                          <a:latin typeface="標楷體" panose="03000509000000000000" pitchFamily="65" charset="-120"/>
                          <a:ea typeface="標楷體" panose="03000509000000000000" pitchFamily="65" charset="-120"/>
                        </a:rPr>
                        <a:t>小時，</a:t>
                      </a:r>
                      <a:r>
                        <a:rPr lang="zh-TW" sz="1200" b="1" kern="0" dirty="0">
                          <a:solidFill>
                            <a:srgbClr val="000000"/>
                          </a:solidFill>
                          <a:effectLst/>
                          <a:latin typeface="標楷體" panose="03000509000000000000" pitchFamily="65" charset="-120"/>
                          <a:ea typeface="標楷體" panose="03000509000000000000" pitchFamily="65" charset="-120"/>
                        </a:rPr>
                        <a:t>講師待聘</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4917251"/>
                  </a:ext>
                </a:extLst>
              </a:tr>
              <a:tr h="425869">
                <a:tc>
                  <a:txBody>
                    <a:bodyPr/>
                    <a:lstStyle/>
                    <a:p>
                      <a:pPr algn="ctr">
                        <a:lnSpc>
                          <a:spcPts val="2200"/>
                        </a:lnSpc>
                        <a:buNone/>
                      </a:pPr>
                      <a:r>
                        <a:rPr lang="zh-TW" sz="1600"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外聘</a:t>
                      </a: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講師鐘點費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dirty="0">
                          <a:solidFill>
                            <a:srgbClr val="000000"/>
                          </a:solidFill>
                          <a:effectLst/>
                          <a:latin typeface="標楷體" panose="03000509000000000000" pitchFamily="65" charset="-120"/>
                          <a:ea typeface="標楷體" panose="03000509000000000000" pitchFamily="65" charset="-120"/>
                        </a:rPr>
                        <a:t>2,000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dirty="0">
                          <a:solidFill>
                            <a:srgbClr val="000000"/>
                          </a:solidFill>
                          <a:effectLst/>
                          <a:latin typeface="標楷體" panose="03000509000000000000" pitchFamily="65" charset="-120"/>
                          <a:ea typeface="標楷體" panose="03000509000000000000" pitchFamily="65" charset="-120"/>
                        </a:rPr>
                        <a:t>6</a:t>
                      </a:r>
                      <a:r>
                        <a:rPr lang="zh-TW" sz="1600" kern="0" dirty="0">
                          <a:solidFill>
                            <a:srgbClr val="000000"/>
                          </a:solidFill>
                          <a:effectLst/>
                          <a:latin typeface="標楷體" panose="03000509000000000000" pitchFamily="65" charset="-120"/>
                          <a:ea typeface="標楷體" panose="03000509000000000000" pitchFamily="65" charset="-120"/>
                        </a:rPr>
                        <a:t>小時</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dirty="0">
                          <a:solidFill>
                            <a:srgbClr val="000000"/>
                          </a:solidFill>
                          <a:effectLst/>
                          <a:latin typeface="標楷體" panose="03000509000000000000" pitchFamily="65" charset="-120"/>
                          <a:ea typeface="標楷體" panose="03000509000000000000" pitchFamily="65" charset="-120"/>
                        </a:rPr>
                        <a:t>12,000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dirty="0">
                          <a:solidFill>
                            <a:srgbClr val="000000"/>
                          </a:solidFill>
                          <a:effectLst/>
                          <a:latin typeface="標楷體" panose="03000509000000000000" pitchFamily="65" charset="-120"/>
                          <a:ea typeface="標楷體" panose="03000509000000000000" pitchFamily="65" charset="-120"/>
                        </a:rPr>
                        <a:t>12,000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nSpc>
                          <a:spcPts val="1200"/>
                        </a:lnSpc>
                        <a:spcBef>
                          <a:spcPts val="50"/>
                        </a:spcBef>
                        <a:buNone/>
                      </a:pPr>
                      <a:r>
                        <a:rPr lang="zh-TW" sz="1200" b="1" kern="100" dirty="0">
                          <a:solidFill>
                            <a:srgbClr val="000000"/>
                          </a:solidFill>
                          <a:effectLst/>
                          <a:latin typeface="標楷體" panose="03000509000000000000" pitchFamily="65" charset="-120"/>
                          <a:ea typeface="標楷體" panose="03000509000000000000" pitchFamily="65" charset="-120"/>
                        </a:rPr>
                        <a:t>家庭凝聚力工作坊</a:t>
                      </a:r>
                      <a:br>
                        <a:rPr lang="en-US" sz="1200" b="1" kern="100" dirty="0">
                          <a:solidFill>
                            <a:srgbClr val="000000"/>
                          </a:solidFill>
                          <a:effectLst/>
                          <a:latin typeface="標楷體" panose="03000509000000000000" pitchFamily="65" charset="-120"/>
                          <a:ea typeface="標楷體" panose="03000509000000000000" pitchFamily="65" charset="-120"/>
                        </a:rPr>
                      </a:br>
                      <a:r>
                        <a:rPr lang="en-US" sz="1200" kern="0" dirty="0">
                          <a:solidFill>
                            <a:srgbClr val="000000"/>
                          </a:solidFill>
                          <a:effectLst/>
                          <a:latin typeface="標楷體" panose="03000509000000000000" pitchFamily="65" charset="-120"/>
                          <a:ea typeface="標楷體" panose="03000509000000000000" pitchFamily="65" charset="-120"/>
                        </a:rPr>
                        <a:t>1</a:t>
                      </a:r>
                      <a:r>
                        <a:rPr lang="zh-TW" sz="1200" kern="0" dirty="0">
                          <a:solidFill>
                            <a:srgbClr val="000000"/>
                          </a:solidFill>
                          <a:effectLst/>
                          <a:latin typeface="標楷體" panose="03000509000000000000" pitchFamily="65" charset="-120"/>
                          <a:ea typeface="標楷體" panose="03000509000000000000" pitchFamily="65" charset="-120"/>
                        </a:rPr>
                        <a:t>堂課，每次</a:t>
                      </a:r>
                      <a:r>
                        <a:rPr lang="en-US" sz="1200" kern="0" dirty="0">
                          <a:solidFill>
                            <a:srgbClr val="000000"/>
                          </a:solidFill>
                          <a:effectLst/>
                          <a:latin typeface="標楷體" panose="03000509000000000000" pitchFamily="65" charset="-120"/>
                          <a:ea typeface="標楷體" panose="03000509000000000000" pitchFamily="65" charset="-120"/>
                        </a:rPr>
                        <a:t>6</a:t>
                      </a:r>
                      <a:r>
                        <a:rPr lang="zh-TW" sz="1200" kern="0" dirty="0">
                          <a:solidFill>
                            <a:srgbClr val="000000"/>
                          </a:solidFill>
                          <a:effectLst/>
                          <a:latin typeface="標楷體" panose="03000509000000000000" pitchFamily="65" charset="-120"/>
                          <a:ea typeface="標楷體" panose="03000509000000000000" pitchFamily="65" charset="-120"/>
                        </a:rPr>
                        <a:t>小時，共</a:t>
                      </a:r>
                      <a:r>
                        <a:rPr lang="en-US" sz="1200" kern="0" dirty="0">
                          <a:solidFill>
                            <a:srgbClr val="000000"/>
                          </a:solidFill>
                          <a:effectLst/>
                          <a:latin typeface="標楷體" panose="03000509000000000000" pitchFamily="65" charset="-120"/>
                          <a:ea typeface="標楷體" panose="03000509000000000000" pitchFamily="65" charset="-120"/>
                        </a:rPr>
                        <a:t>6</a:t>
                      </a:r>
                      <a:r>
                        <a:rPr lang="zh-TW" sz="1200" kern="0" dirty="0">
                          <a:solidFill>
                            <a:srgbClr val="000000"/>
                          </a:solidFill>
                          <a:effectLst/>
                          <a:latin typeface="標楷體" panose="03000509000000000000" pitchFamily="65" charset="-120"/>
                          <a:ea typeface="標楷體" panose="03000509000000000000" pitchFamily="65" charset="-120"/>
                        </a:rPr>
                        <a:t>小時，</a:t>
                      </a:r>
                      <a:r>
                        <a:rPr lang="zh-TW" sz="1200" b="1" kern="0" dirty="0">
                          <a:solidFill>
                            <a:srgbClr val="000000"/>
                          </a:solidFill>
                          <a:effectLst/>
                          <a:latin typeface="標楷體" panose="03000509000000000000" pitchFamily="65" charset="-120"/>
                          <a:ea typeface="標楷體" panose="03000509000000000000" pitchFamily="65" charset="-120"/>
                        </a:rPr>
                        <a:t>講師待聘</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19285503"/>
                  </a:ext>
                </a:extLst>
              </a:tr>
              <a:tr h="425869">
                <a:tc>
                  <a:txBody>
                    <a:bodyPr/>
                    <a:lstStyle/>
                    <a:p>
                      <a:pPr algn="ctr">
                        <a:lnSpc>
                          <a:spcPts val="2200"/>
                        </a:lnSpc>
                        <a:buNone/>
                      </a:pPr>
                      <a:r>
                        <a:rPr lang="zh-TW" sz="1600"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協同講師鐘點費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1,000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6</a:t>
                      </a:r>
                      <a:r>
                        <a:rPr lang="zh-TW" sz="1600" kern="0">
                          <a:solidFill>
                            <a:srgbClr val="000000"/>
                          </a:solidFill>
                          <a:effectLst/>
                          <a:latin typeface="標楷體" panose="03000509000000000000" pitchFamily="65" charset="-120"/>
                          <a:ea typeface="標楷體" panose="03000509000000000000" pitchFamily="65" charset="-120"/>
                        </a:rPr>
                        <a:t>小時</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dirty="0">
                          <a:solidFill>
                            <a:srgbClr val="000000"/>
                          </a:solidFill>
                          <a:effectLst/>
                          <a:latin typeface="標楷體" panose="03000509000000000000" pitchFamily="65" charset="-120"/>
                          <a:ea typeface="標楷體" panose="03000509000000000000" pitchFamily="65" charset="-120"/>
                        </a:rPr>
                        <a:t>6,000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6,000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nSpc>
                          <a:spcPts val="1200"/>
                        </a:lnSpc>
                        <a:spcBef>
                          <a:spcPts val="50"/>
                        </a:spcBef>
                        <a:buNone/>
                      </a:pPr>
                      <a:r>
                        <a:rPr lang="zh-TW" sz="1200" b="1" kern="100" dirty="0">
                          <a:solidFill>
                            <a:srgbClr val="000000"/>
                          </a:solidFill>
                          <a:effectLst/>
                          <a:latin typeface="標楷體" panose="03000509000000000000" pitchFamily="65" charset="-120"/>
                          <a:ea typeface="標楷體" panose="03000509000000000000" pitchFamily="65" charset="-120"/>
                        </a:rPr>
                        <a:t>家庭凝聚力工作坊</a:t>
                      </a:r>
                      <a:br>
                        <a:rPr lang="en-US" sz="1200" b="1" kern="100" dirty="0">
                          <a:solidFill>
                            <a:srgbClr val="000000"/>
                          </a:solidFill>
                          <a:effectLst/>
                          <a:latin typeface="標楷體" panose="03000509000000000000" pitchFamily="65" charset="-120"/>
                          <a:ea typeface="標楷體" panose="03000509000000000000" pitchFamily="65" charset="-120"/>
                        </a:rPr>
                      </a:br>
                      <a:r>
                        <a:rPr lang="en-US" sz="1200" kern="0" dirty="0">
                          <a:solidFill>
                            <a:srgbClr val="000000"/>
                          </a:solidFill>
                          <a:effectLst/>
                          <a:latin typeface="標楷體" panose="03000509000000000000" pitchFamily="65" charset="-120"/>
                          <a:ea typeface="標楷體" panose="03000509000000000000" pitchFamily="65" charset="-120"/>
                        </a:rPr>
                        <a:t>1</a:t>
                      </a:r>
                      <a:r>
                        <a:rPr lang="zh-TW" sz="1200" kern="0" dirty="0">
                          <a:solidFill>
                            <a:srgbClr val="000000"/>
                          </a:solidFill>
                          <a:effectLst/>
                          <a:latin typeface="標楷體" panose="03000509000000000000" pitchFamily="65" charset="-120"/>
                          <a:ea typeface="標楷體" panose="03000509000000000000" pitchFamily="65" charset="-120"/>
                        </a:rPr>
                        <a:t>堂課，每次</a:t>
                      </a:r>
                      <a:r>
                        <a:rPr lang="en-US" sz="1200" kern="0" dirty="0">
                          <a:solidFill>
                            <a:srgbClr val="000000"/>
                          </a:solidFill>
                          <a:effectLst/>
                          <a:latin typeface="標楷體" panose="03000509000000000000" pitchFamily="65" charset="-120"/>
                          <a:ea typeface="標楷體" panose="03000509000000000000" pitchFamily="65" charset="-120"/>
                        </a:rPr>
                        <a:t>6</a:t>
                      </a:r>
                      <a:r>
                        <a:rPr lang="zh-TW" sz="1200" kern="0" dirty="0">
                          <a:solidFill>
                            <a:srgbClr val="000000"/>
                          </a:solidFill>
                          <a:effectLst/>
                          <a:latin typeface="標楷體" panose="03000509000000000000" pitchFamily="65" charset="-120"/>
                          <a:ea typeface="標楷體" panose="03000509000000000000" pitchFamily="65" charset="-120"/>
                        </a:rPr>
                        <a:t>小時，共</a:t>
                      </a:r>
                      <a:r>
                        <a:rPr lang="en-US" sz="1200" kern="0" dirty="0">
                          <a:solidFill>
                            <a:srgbClr val="000000"/>
                          </a:solidFill>
                          <a:effectLst/>
                          <a:latin typeface="標楷體" panose="03000509000000000000" pitchFamily="65" charset="-120"/>
                          <a:ea typeface="標楷體" panose="03000509000000000000" pitchFamily="65" charset="-120"/>
                        </a:rPr>
                        <a:t>6</a:t>
                      </a:r>
                      <a:r>
                        <a:rPr lang="zh-TW" sz="1200" kern="0" dirty="0">
                          <a:solidFill>
                            <a:srgbClr val="000000"/>
                          </a:solidFill>
                          <a:effectLst/>
                          <a:latin typeface="標楷體" panose="03000509000000000000" pitchFamily="65" charset="-120"/>
                          <a:ea typeface="標楷體" panose="03000509000000000000" pitchFamily="65" charset="-120"/>
                        </a:rPr>
                        <a:t>小時，</a:t>
                      </a:r>
                      <a:r>
                        <a:rPr lang="zh-TW" sz="1200" b="1" kern="0" dirty="0">
                          <a:solidFill>
                            <a:srgbClr val="000000"/>
                          </a:solidFill>
                          <a:effectLst/>
                          <a:latin typeface="標楷體" panose="03000509000000000000" pitchFamily="65" charset="-120"/>
                          <a:ea typeface="標楷體" panose="03000509000000000000" pitchFamily="65" charset="-120"/>
                        </a:rPr>
                        <a:t>講師待聘</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9348789"/>
                  </a:ext>
                </a:extLst>
              </a:tr>
              <a:tr h="175647">
                <a:tc>
                  <a:txBody>
                    <a:bodyPr/>
                    <a:lstStyle/>
                    <a:p>
                      <a:pPr marL="15240" algn="just">
                        <a:lnSpc>
                          <a:spcPts val="2200"/>
                        </a:lnSpc>
                        <a:buNone/>
                      </a:pPr>
                      <a:r>
                        <a:rPr lang="en-US" sz="16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a:t>
                      </a:r>
                      <a:r>
                        <a:rPr lang="zh-TW" sz="1600" b="1"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膳費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L="1211580" marR="86995" algn="r">
                        <a:lnSpc>
                          <a:spcPts val="2200"/>
                        </a:lnSpc>
                        <a:buNone/>
                      </a:pPr>
                      <a:r>
                        <a:rPr lang="en-US" sz="1600" b="1" kern="0" dirty="0">
                          <a:solidFill>
                            <a:srgbClr val="000000"/>
                          </a:solidFill>
                          <a:effectLst/>
                          <a:latin typeface="標楷體" panose="03000509000000000000" pitchFamily="65" charset="-120"/>
                          <a:ea typeface="標楷體" panose="03000509000000000000" pitchFamily="65" charset="-120"/>
                        </a:rPr>
                        <a:t>21,800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91440" algn="r">
                        <a:lnSpc>
                          <a:spcPts val="2200"/>
                        </a:lnSpc>
                        <a:buNone/>
                      </a:pPr>
                      <a:r>
                        <a:rPr lang="en-US" sz="1600" b="1" kern="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69240" marR="91440" algn="r">
                        <a:lnSpc>
                          <a:spcPts val="2200"/>
                        </a:lnSpc>
                        <a:buNone/>
                      </a:pPr>
                      <a:r>
                        <a:rPr lang="en-US" sz="1600" b="1" kern="0">
                          <a:solidFill>
                            <a:srgbClr val="000000"/>
                          </a:solidFill>
                          <a:effectLst/>
                          <a:latin typeface="標楷體" panose="03000509000000000000" pitchFamily="65" charset="-120"/>
                          <a:ea typeface="標楷體" panose="03000509000000000000" pitchFamily="65" charset="-120"/>
                        </a:rPr>
                        <a:t>21,800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2065">
                        <a:lnSpc>
                          <a:spcPts val="1200"/>
                        </a:lnSpc>
                        <a:buNone/>
                      </a:pPr>
                      <a:r>
                        <a:rPr lang="en-US" sz="1200" kern="0">
                          <a:solidFill>
                            <a:srgbClr val="000000"/>
                          </a:solidFill>
                          <a:effectLst/>
                          <a:latin typeface="標楷體" panose="03000509000000000000" pitchFamily="65" charset="-120"/>
                          <a:ea typeface="標楷體" panose="03000509000000000000" pitchFamily="65" charset="-120"/>
                        </a:rPr>
                        <a:t> </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9106477"/>
                  </a:ext>
                </a:extLst>
              </a:tr>
              <a:tr h="279748">
                <a:tc>
                  <a:txBody>
                    <a:bodyPr/>
                    <a:lstStyle/>
                    <a:p>
                      <a:pPr algn="ctr">
                        <a:lnSpc>
                          <a:spcPts val="2200"/>
                        </a:lnSpc>
                        <a:buNone/>
                      </a:pPr>
                      <a:r>
                        <a:rPr lang="zh-TW"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便當</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1600" algn="ctr">
                        <a:lnSpc>
                          <a:spcPts val="2200"/>
                        </a:lnSpc>
                        <a:buNone/>
                      </a:pP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spc="-3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74</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7,4</a:t>
                      </a:r>
                      <a:r>
                        <a:rPr lang="en-US" sz="16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61950" marR="91440" algn="ctr">
                        <a:lnSpc>
                          <a:spcPts val="2200"/>
                        </a:lnSpc>
                        <a:buNone/>
                      </a:pPr>
                      <a:r>
                        <a:rPr lang="en-US" sz="1600" kern="0" spc="-9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1800"/>
                        </a:lnSpc>
                        <a:buNone/>
                      </a:pPr>
                      <a:r>
                        <a:rPr lang="en-US" sz="1600"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7,400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795" algn="just">
                        <a:lnSpc>
                          <a:spcPts val="1200"/>
                        </a:lnSpc>
                        <a:buNone/>
                      </a:pPr>
                      <a:r>
                        <a:rPr lang="zh-TW" sz="1200" kern="100" dirty="0">
                          <a:solidFill>
                            <a:srgbClr val="000000"/>
                          </a:solidFill>
                          <a:effectLst/>
                          <a:latin typeface="標楷體" panose="03000509000000000000" pitchFamily="65" charset="-120"/>
                          <a:ea typeface="標楷體" panose="03000509000000000000" pitchFamily="65" charset="-120"/>
                        </a:rPr>
                        <a:t>課程以</a:t>
                      </a:r>
                      <a:r>
                        <a:rPr lang="en-US" sz="1200" kern="100" dirty="0">
                          <a:solidFill>
                            <a:srgbClr val="000000"/>
                          </a:solidFill>
                          <a:effectLst/>
                          <a:latin typeface="標楷體" panose="03000509000000000000" pitchFamily="65" charset="-120"/>
                          <a:ea typeface="標楷體" panose="03000509000000000000" pitchFamily="65" charset="-120"/>
                        </a:rPr>
                        <a:t>2</a:t>
                      </a:r>
                      <a:r>
                        <a:rPr lang="zh-TW" sz="1200" kern="100" dirty="0">
                          <a:solidFill>
                            <a:srgbClr val="000000"/>
                          </a:solidFill>
                          <a:effectLst/>
                          <a:latin typeface="標楷體" panose="03000509000000000000" pitchFamily="65" charset="-120"/>
                          <a:ea typeface="標楷體" panose="03000509000000000000" pitchFamily="65" charset="-120"/>
                        </a:rPr>
                        <a:t>天為安排</a:t>
                      </a:r>
                      <a:br>
                        <a:rPr lang="en-US" sz="1200" kern="100" dirty="0">
                          <a:solidFill>
                            <a:srgbClr val="000000"/>
                          </a:solidFill>
                          <a:effectLst/>
                          <a:latin typeface="標楷體" panose="03000509000000000000" pitchFamily="65" charset="-120"/>
                          <a:ea typeface="標楷體" panose="03000509000000000000" pitchFamily="65" charset="-120"/>
                        </a:rPr>
                      </a:br>
                      <a:r>
                        <a:rPr lang="zh-TW" sz="1200" kern="100" dirty="0">
                          <a:solidFill>
                            <a:srgbClr val="000000"/>
                          </a:solidFill>
                          <a:effectLst/>
                          <a:latin typeface="標楷體" panose="03000509000000000000" pitchFamily="65" charset="-120"/>
                          <a:ea typeface="標楷體" panose="03000509000000000000" pitchFamily="65" charset="-120"/>
                        </a:rPr>
                        <a:t>每次約</a:t>
                      </a:r>
                      <a:r>
                        <a:rPr lang="en-US" sz="1200" kern="100" dirty="0">
                          <a:solidFill>
                            <a:srgbClr val="000000"/>
                          </a:solidFill>
                          <a:effectLst/>
                          <a:latin typeface="標楷體" panose="03000509000000000000" pitchFamily="65" charset="-120"/>
                          <a:ea typeface="標楷體" panose="03000509000000000000" pitchFamily="65" charset="-120"/>
                        </a:rPr>
                        <a:t>35</a:t>
                      </a:r>
                      <a:r>
                        <a:rPr lang="zh-TW" sz="1200" kern="100" dirty="0">
                          <a:solidFill>
                            <a:srgbClr val="000000"/>
                          </a:solidFill>
                          <a:effectLst/>
                          <a:latin typeface="標楷體" panose="03000509000000000000" pitchFamily="65" charset="-120"/>
                          <a:ea typeface="標楷體" panose="03000509000000000000" pitchFamily="65" charset="-120"/>
                        </a:rPr>
                        <a:t>人加講師</a:t>
                      </a:r>
                      <a:r>
                        <a:rPr lang="en-US" sz="1200" kern="100" dirty="0">
                          <a:solidFill>
                            <a:srgbClr val="000000"/>
                          </a:solidFill>
                          <a:effectLst/>
                          <a:latin typeface="標楷體" panose="03000509000000000000" pitchFamily="65" charset="-120"/>
                          <a:ea typeface="標楷體" panose="03000509000000000000" pitchFamily="65" charset="-120"/>
                        </a:rPr>
                        <a:t>2</a:t>
                      </a:r>
                      <a:r>
                        <a:rPr lang="zh-TW" sz="1200" kern="100" dirty="0">
                          <a:solidFill>
                            <a:srgbClr val="000000"/>
                          </a:solidFill>
                          <a:effectLst/>
                          <a:latin typeface="標楷體" panose="03000509000000000000" pitchFamily="65" charset="-120"/>
                          <a:ea typeface="標楷體" panose="03000509000000000000" pitchFamily="65" charset="-120"/>
                        </a:rPr>
                        <a:t>人</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0782134"/>
                  </a:ext>
                </a:extLst>
              </a:tr>
              <a:tr h="428519">
                <a:tc>
                  <a:txBody>
                    <a:bodyPr/>
                    <a:lstStyle/>
                    <a:p>
                      <a:pPr algn="ctr">
                        <a:lnSpc>
                          <a:spcPts val="2200"/>
                        </a:lnSpc>
                        <a:buNone/>
                      </a:pPr>
                      <a:r>
                        <a:rPr lang="zh-TW"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便當</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1600" algn="ctr">
                        <a:lnSpc>
                          <a:spcPts val="2200"/>
                        </a:lnSpc>
                        <a:buNone/>
                      </a:pP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74</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7,4</a:t>
                      </a: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61950" marR="91440" algn="ctr">
                        <a:lnSpc>
                          <a:spcPts val="2200"/>
                        </a:lnSpc>
                        <a:buNone/>
                      </a:pPr>
                      <a:r>
                        <a:rPr lang="en-US" sz="1600" kern="0" spc="-9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1800"/>
                        </a:lnSpc>
                        <a:buNone/>
                      </a:pPr>
                      <a:r>
                        <a:rPr lang="en-US" sz="1600"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7,4</a:t>
                      </a:r>
                      <a:r>
                        <a:rPr lang="en-US" sz="16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795" algn="just">
                        <a:lnSpc>
                          <a:spcPts val="1200"/>
                        </a:lnSpc>
                        <a:buNone/>
                      </a:pPr>
                      <a:r>
                        <a:rPr lang="zh-TW" sz="1200" b="1" kern="100" dirty="0">
                          <a:solidFill>
                            <a:srgbClr val="000000"/>
                          </a:solidFill>
                          <a:effectLst/>
                          <a:latin typeface="標楷體" panose="03000509000000000000" pitchFamily="65" charset="-120"/>
                          <a:ea typeface="標楷體" panose="03000509000000000000" pitchFamily="65" charset="-120"/>
                        </a:rPr>
                        <a:t>家庭凝聚力工作坊</a:t>
                      </a:r>
                      <a:br>
                        <a:rPr lang="en-US" sz="1200" b="1" kern="100" dirty="0">
                          <a:solidFill>
                            <a:srgbClr val="000000"/>
                          </a:solidFill>
                          <a:effectLst/>
                          <a:latin typeface="標楷體" panose="03000509000000000000" pitchFamily="65" charset="-120"/>
                          <a:ea typeface="標楷體" panose="03000509000000000000" pitchFamily="65" charset="-120"/>
                        </a:rPr>
                      </a:br>
                      <a:r>
                        <a:rPr lang="zh-TW" sz="1200" kern="100" dirty="0">
                          <a:solidFill>
                            <a:srgbClr val="000000"/>
                          </a:solidFill>
                          <a:effectLst/>
                          <a:latin typeface="標楷體" panose="03000509000000000000" pitchFamily="65" charset="-120"/>
                          <a:ea typeface="標楷體" panose="03000509000000000000" pitchFamily="65" charset="-120"/>
                        </a:rPr>
                        <a:t>每次約</a:t>
                      </a:r>
                      <a:r>
                        <a:rPr lang="en-US" sz="1200" kern="100" dirty="0">
                          <a:solidFill>
                            <a:srgbClr val="000000"/>
                          </a:solidFill>
                          <a:effectLst/>
                          <a:latin typeface="標楷體" panose="03000509000000000000" pitchFamily="65" charset="-120"/>
                          <a:ea typeface="標楷體" panose="03000509000000000000" pitchFamily="65" charset="-120"/>
                        </a:rPr>
                        <a:t>35</a:t>
                      </a:r>
                      <a:r>
                        <a:rPr lang="zh-TW" sz="1200" kern="100" dirty="0">
                          <a:solidFill>
                            <a:srgbClr val="000000"/>
                          </a:solidFill>
                          <a:effectLst/>
                          <a:latin typeface="標楷體" panose="03000509000000000000" pitchFamily="65" charset="-120"/>
                          <a:ea typeface="標楷體" panose="03000509000000000000" pitchFamily="65" charset="-120"/>
                        </a:rPr>
                        <a:t>人加講師</a:t>
                      </a:r>
                      <a:r>
                        <a:rPr lang="en-US" sz="1200" kern="100" dirty="0">
                          <a:solidFill>
                            <a:srgbClr val="000000"/>
                          </a:solidFill>
                          <a:effectLst/>
                          <a:latin typeface="標楷體" panose="03000509000000000000" pitchFamily="65" charset="-120"/>
                          <a:ea typeface="標楷體" panose="03000509000000000000" pitchFamily="65" charset="-120"/>
                        </a:rPr>
                        <a:t>2</a:t>
                      </a:r>
                      <a:r>
                        <a:rPr lang="zh-TW" sz="1200" kern="100" dirty="0">
                          <a:solidFill>
                            <a:srgbClr val="000000"/>
                          </a:solidFill>
                          <a:effectLst/>
                          <a:latin typeface="標楷體" panose="03000509000000000000" pitchFamily="65" charset="-120"/>
                          <a:ea typeface="標楷體" panose="03000509000000000000" pitchFamily="65" charset="-120"/>
                        </a:rPr>
                        <a:t>人</a:t>
                      </a:r>
                      <a:br>
                        <a:rPr lang="en-US" sz="1200" kern="100" dirty="0">
                          <a:solidFill>
                            <a:srgbClr val="000000"/>
                          </a:solidFill>
                          <a:effectLst/>
                          <a:latin typeface="標楷體" panose="03000509000000000000" pitchFamily="65" charset="-120"/>
                          <a:ea typeface="標楷體" panose="03000509000000000000" pitchFamily="65" charset="-120"/>
                        </a:rPr>
                      </a:br>
                      <a:r>
                        <a:rPr lang="zh-TW" sz="1200" kern="100" dirty="0">
                          <a:solidFill>
                            <a:srgbClr val="000000"/>
                          </a:solidFill>
                          <a:effectLst/>
                          <a:latin typeface="標楷體" panose="03000509000000000000" pitchFamily="65" charset="-120"/>
                          <a:ea typeface="標楷體" panose="03000509000000000000" pitchFamily="65" charset="-120"/>
                        </a:rPr>
                        <a:t>中餐及晚餐</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4186720"/>
                  </a:ext>
                </a:extLst>
              </a:tr>
              <a:tr h="263471">
                <a:tc>
                  <a:txBody>
                    <a:bodyPr/>
                    <a:lstStyle/>
                    <a:p>
                      <a:pPr algn="ctr">
                        <a:lnSpc>
                          <a:spcPts val="2200"/>
                        </a:lnSpc>
                        <a:buNone/>
                      </a:pPr>
                      <a:r>
                        <a:rPr lang="zh-TW"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便當</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1600" algn="ctr">
                        <a:lnSpc>
                          <a:spcPts val="2200"/>
                        </a:lnSpc>
                        <a:buNone/>
                      </a:pP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7,0</a:t>
                      </a:r>
                      <a:r>
                        <a:rPr lang="en-US" sz="16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61950" marR="91440" algn="ctr">
                        <a:lnSpc>
                          <a:spcPts val="2200"/>
                        </a:lnSpc>
                        <a:buNone/>
                      </a:pPr>
                      <a:r>
                        <a:rPr lang="en-US" sz="1600" kern="0" spc="-9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1800"/>
                        </a:lnSpc>
                        <a:buNone/>
                      </a:pPr>
                      <a:r>
                        <a:rPr lang="en-US" sz="1600"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7,0</a:t>
                      </a:r>
                      <a:r>
                        <a:rPr lang="en-US" sz="16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795" algn="just">
                        <a:lnSpc>
                          <a:spcPts val="1200"/>
                        </a:lnSpc>
                        <a:buNone/>
                      </a:pPr>
                      <a:r>
                        <a:rPr lang="zh-TW" sz="1200" kern="100" dirty="0">
                          <a:solidFill>
                            <a:srgbClr val="000000"/>
                          </a:solidFill>
                          <a:effectLst/>
                          <a:latin typeface="標楷體" panose="03000509000000000000" pitchFamily="65" charset="-120"/>
                          <a:ea typeface="標楷體" panose="03000509000000000000" pitchFamily="65" charset="-120"/>
                        </a:rPr>
                        <a:t>家庭志工出勤</a:t>
                      </a:r>
                      <a:br>
                        <a:rPr lang="en-US" sz="1200" kern="100" dirty="0">
                          <a:solidFill>
                            <a:srgbClr val="000000"/>
                          </a:solidFill>
                          <a:effectLst/>
                          <a:latin typeface="標楷體" panose="03000509000000000000" pitchFamily="65" charset="-120"/>
                          <a:ea typeface="標楷體" panose="03000509000000000000" pitchFamily="65" charset="-120"/>
                        </a:rPr>
                      </a:br>
                      <a:r>
                        <a:rPr lang="zh-TW" sz="1200" kern="100" dirty="0">
                          <a:solidFill>
                            <a:srgbClr val="000000"/>
                          </a:solidFill>
                          <a:effectLst/>
                          <a:latin typeface="標楷體" panose="03000509000000000000" pitchFamily="65" charset="-120"/>
                          <a:ea typeface="標楷體" panose="03000509000000000000" pitchFamily="65" charset="-120"/>
                        </a:rPr>
                        <a:t>估計每家庭出勤</a:t>
                      </a:r>
                      <a:r>
                        <a:rPr lang="en-US" sz="1200" kern="100" dirty="0">
                          <a:solidFill>
                            <a:srgbClr val="000000"/>
                          </a:solidFill>
                          <a:effectLst/>
                          <a:latin typeface="標楷體" panose="03000509000000000000" pitchFamily="65" charset="-120"/>
                          <a:ea typeface="標楷體" panose="03000509000000000000" pitchFamily="65" charset="-120"/>
                        </a:rPr>
                        <a:t>2</a:t>
                      </a:r>
                      <a:r>
                        <a:rPr lang="zh-TW" sz="1200" kern="100" dirty="0">
                          <a:solidFill>
                            <a:srgbClr val="000000"/>
                          </a:solidFill>
                          <a:effectLst/>
                          <a:latin typeface="標楷體" panose="03000509000000000000" pitchFamily="65" charset="-120"/>
                          <a:ea typeface="標楷體" panose="03000509000000000000" pitchFamily="65" charset="-120"/>
                        </a:rPr>
                        <a:t>次</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6767811"/>
                  </a:ext>
                </a:extLst>
              </a:tr>
              <a:tr h="397184">
                <a:tc>
                  <a:txBody>
                    <a:bodyPr/>
                    <a:lstStyle/>
                    <a:p>
                      <a:pPr marL="15240" algn="just">
                        <a:lnSpc>
                          <a:spcPts val="1500"/>
                        </a:lnSpc>
                        <a:buNone/>
                      </a:pPr>
                      <a:r>
                        <a:rPr lang="en-US" sz="1600" b="1"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3.</a:t>
                      </a:r>
                      <a:r>
                        <a:rPr lang="zh-TW" sz="16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材料</a:t>
                      </a:r>
                      <a:r>
                        <a:rPr lang="en-US" sz="16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費</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91440" algn="r">
                        <a:lnSpc>
                          <a:spcPts val="1500"/>
                        </a:lnSpc>
                        <a:buNone/>
                      </a:pPr>
                      <a:r>
                        <a:rPr lang="en-US" sz="16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2,200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90170" algn="r">
                        <a:lnSpc>
                          <a:spcPts val="1500"/>
                        </a:lnSpc>
                        <a:buNone/>
                      </a:pPr>
                      <a:r>
                        <a:rPr lang="en-US" sz="1600" b="1" kern="0" spc="-9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460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69240" marR="91440" algn="r">
                        <a:lnSpc>
                          <a:spcPts val="1500"/>
                        </a:lnSpc>
                        <a:buNone/>
                      </a:pPr>
                      <a:r>
                        <a:rPr lang="en-US" sz="16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1,740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200"/>
                        </a:lnSpc>
                        <a:buNone/>
                      </a:pPr>
                      <a:r>
                        <a:rPr lang="zh-TW" sz="1200" kern="0" dirty="0">
                          <a:solidFill>
                            <a:srgbClr val="000000"/>
                          </a:solidFill>
                          <a:effectLst/>
                          <a:latin typeface="標楷體" panose="03000509000000000000" pitchFamily="65" charset="-120"/>
                          <a:ea typeface="標楷體" panose="03000509000000000000" pitchFamily="65" charset="-120"/>
                        </a:rPr>
                        <a:t>課程使用</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1443162"/>
                  </a:ext>
                </a:extLst>
              </a:tr>
              <a:tr h="180568">
                <a:tc>
                  <a:txBody>
                    <a:bodyPr/>
                    <a:lstStyle/>
                    <a:p>
                      <a:pPr algn="ctr">
                        <a:lnSpc>
                          <a:spcPts val="2200"/>
                        </a:lnSpc>
                        <a:buNone/>
                      </a:pPr>
                      <a:r>
                        <a:rPr lang="zh-TW" sz="1600" kern="10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影印紙</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00" algn="ctr">
                        <a:lnSpc>
                          <a:spcPts val="2200"/>
                        </a:lnSpc>
                        <a:buNone/>
                      </a:pPr>
                      <a:r>
                        <a:rPr lang="en-US" sz="1600" kern="10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120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7640" algn="ctr">
                        <a:lnSpc>
                          <a:spcPts val="2200"/>
                        </a:lnSpc>
                        <a:buNone/>
                      </a:pPr>
                      <a:r>
                        <a:rPr lang="en-US" sz="1600" kern="10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r>
                        <a:rPr lang="zh-TW" sz="1600" kern="100" spc="-4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包</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10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600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170" algn="r">
                        <a:lnSpc>
                          <a:spcPts val="2200"/>
                        </a:lnSpc>
                        <a:buNone/>
                      </a:pPr>
                      <a:r>
                        <a:rPr lang="en-US" sz="1600" kern="100" spc="-9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240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kern="10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360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200"/>
                        </a:lnSpc>
                        <a:buNone/>
                      </a:pPr>
                      <a:r>
                        <a:rPr lang="en-US" sz="1200" kern="0" dirty="0">
                          <a:solidFill>
                            <a:srgbClr val="000000"/>
                          </a:solidFill>
                          <a:effectLst/>
                          <a:latin typeface="標楷體" panose="03000509000000000000" pitchFamily="65" charset="-120"/>
                          <a:ea typeface="標楷體" panose="03000509000000000000" pitchFamily="65" charset="-120"/>
                        </a:rPr>
                        <a:t> </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9093993"/>
                  </a:ext>
                </a:extLst>
              </a:tr>
              <a:tr h="180568">
                <a:tc>
                  <a:txBody>
                    <a:bodyPr/>
                    <a:lstStyle/>
                    <a:p>
                      <a:pPr algn="ctr">
                        <a:lnSpc>
                          <a:spcPts val="2200"/>
                        </a:lnSpc>
                        <a:buNone/>
                      </a:pPr>
                      <a:r>
                        <a:rPr lang="zh-TW" sz="1600" kern="10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文具用品</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10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1,600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7640" algn="ctr">
                        <a:lnSpc>
                          <a:spcPts val="2200"/>
                        </a:lnSpc>
                        <a:buNone/>
                      </a:pPr>
                      <a:r>
                        <a:rPr lang="en-US" sz="1600" kern="10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a:t>
                      </a:r>
                      <a:r>
                        <a:rPr lang="zh-TW" sz="1600" kern="10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式</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10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1,600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805" algn="r">
                        <a:lnSpc>
                          <a:spcPts val="2200"/>
                        </a:lnSpc>
                        <a:buNone/>
                      </a:pPr>
                      <a:r>
                        <a:rPr lang="en-US" sz="1600" kern="100" spc="-9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220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1,380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200"/>
                        </a:lnSpc>
                        <a:buNone/>
                      </a:pPr>
                      <a:r>
                        <a:rPr lang="en-US" sz="1200" kern="0" dirty="0">
                          <a:solidFill>
                            <a:srgbClr val="000000"/>
                          </a:solidFill>
                          <a:effectLst/>
                          <a:latin typeface="標楷體" panose="03000509000000000000" pitchFamily="65" charset="-120"/>
                          <a:ea typeface="標楷體" panose="03000509000000000000" pitchFamily="65" charset="-120"/>
                        </a:rPr>
                        <a:t> </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4648810"/>
                  </a:ext>
                </a:extLst>
              </a:tr>
              <a:tr h="161262">
                <a:tc>
                  <a:txBody>
                    <a:bodyPr/>
                    <a:lstStyle/>
                    <a:p>
                      <a:pPr>
                        <a:lnSpc>
                          <a:spcPts val="2200"/>
                        </a:lnSpc>
                        <a:buNone/>
                      </a:pPr>
                      <a:r>
                        <a:rPr lang="en-US" sz="16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4</a:t>
                      </a:r>
                      <a:r>
                        <a:rPr lang="en-US" sz="1600" b="1" kern="0" spc="-1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a:t>
                      </a:r>
                      <a:r>
                        <a:rPr lang="zh-TW"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茶水費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91440" algn="r">
                        <a:lnSpc>
                          <a:spcPts val="2200"/>
                        </a:lnSpc>
                        <a:buNone/>
                      </a:pPr>
                      <a:r>
                        <a:rPr lang="en-US"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2,220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90805" algn="r">
                        <a:lnSpc>
                          <a:spcPts val="2200"/>
                        </a:lnSpc>
                        <a:buNone/>
                      </a:pPr>
                      <a:r>
                        <a:rPr lang="en-US" sz="1600" b="1" kern="0" spc="-9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2,220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200"/>
                        </a:lnSpc>
                        <a:buNone/>
                      </a:pPr>
                      <a:r>
                        <a:rPr lang="en-US" sz="1200" kern="100" dirty="0">
                          <a:solidFill>
                            <a:srgbClr val="000000"/>
                          </a:solidFill>
                          <a:effectLst/>
                          <a:latin typeface="標楷體" panose="03000509000000000000" pitchFamily="65" charset="-120"/>
                          <a:ea typeface="標楷體" panose="03000509000000000000" pitchFamily="65" charset="-120"/>
                        </a:rPr>
                        <a:t> </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39642"/>
                  </a:ext>
                </a:extLst>
              </a:tr>
              <a:tr h="158234">
                <a:tc>
                  <a:txBody>
                    <a:bodyPr/>
                    <a:lstStyle/>
                    <a:p>
                      <a:pPr algn="ctr">
                        <a:lnSpc>
                          <a:spcPts val="2200"/>
                        </a:lnSpc>
                        <a:buNone/>
                      </a:pPr>
                      <a:r>
                        <a:rPr lang="zh-TW" sz="1600" kern="0" spc="-4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茶水費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a:solidFill>
                            <a:srgbClr val="000000"/>
                          </a:solidFill>
                          <a:effectLst/>
                          <a:latin typeface="標楷體" panose="03000509000000000000" pitchFamily="65" charset="-120"/>
                          <a:ea typeface="標楷體" panose="03000509000000000000" pitchFamily="65" charset="-120"/>
                          <a:cs typeface="新細明體" panose="02020500000000000000" pitchFamily="18" charset="-120"/>
                        </a:rPr>
                        <a:t>20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a:solidFill>
                            <a:srgbClr val="000000"/>
                          </a:solidFill>
                          <a:effectLst/>
                          <a:latin typeface="標楷體" panose="03000509000000000000" pitchFamily="65" charset="-120"/>
                          <a:ea typeface="標楷體" panose="03000509000000000000" pitchFamily="65" charset="-120"/>
                          <a:cs typeface="新細明體" panose="02020500000000000000" pitchFamily="18" charset="-120"/>
                        </a:rPr>
                        <a:t>111</a:t>
                      </a:r>
                      <a:r>
                        <a:rPr lang="zh-TW" sz="1600" kern="0">
                          <a:solidFill>
                            <a:srgbClr val="000000"/>
                          </a:solidFill>
                          <a:effectLst/>
                          <a:latin typeface="標楷體" panose="03000509000000000000" pitchFamily="65" charset="-120"/>
                          <a:ea typeface="標楷體" panose="03000509000000000000" pitchFamily="65" charset="-120"/>
                          <a:cs typeface="新細明體" panose="02020500000000000000" pitchFamily="18" charset="-120"/>
                        </a:rPr>
                        <a:t>人次</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cs typeface="新細明體" panose="02020500000000000000" pitchFamily="18" charset="-120"/>
                        </a:rPr>
                        <a:t>2,220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805"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cs typeface="新細明體" panose="02020500000000000000" pitchFamily="18"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2,220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200"/>
                        </a:lnSpc>
                        <a:buNone/>
                      </a:pPr>
                      <a:r>
                        <a:rPr lang="en-US" sz="1200" kern="100" dirty="0">
                          <a:solidFill>
                            <a:srgbClr val="000000"/>
                          </a:solidFill>
                          <a:effectLst/>
                          <a:latin typeface="標楷體" panose="03000509000000000000" pitchFamily="65" charset="-120"/>
                          <a:ea typeface="標楷體" panose="03000509000000000000" pitchFamily="65" charset="-120"/>
                        </a:rPr>
                        <a:t>3</a:t>
                      </a:r>
                      <a:r>
                        <a:rPr lang="zh-TW" sz="1200" kern="100" dirty="0">
                          <a:solidFill>
                            <a:srgbClr val="000000"/>
                          </a:solidFill>
                          <a:effectLst/>
                          <a:latin typeface="標楷體" panose="03000509000000000000" pitchFamily="65" charset="-120"/>
                          <a:ea typeface="標楷體" panose="03000509000000000000" pitchFamily="65" charset="-120"/>
                        </a:rPr>
                        <a:t>天茶水費</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8217839"/>
                  </a:ext>
                </a:extLst>
              </a:tr>
              <a:tr h="180568">
                <a:tc gridSpan="3">
                  <a:txBody>
                    <a:bodyPr/>
                    <a:lstStyle/>
                    <a:p>
                      <a:pPr marL="243840" algn="ctr">
                        <a:lnSpc>
                          <a:spcPts val="2200"/>
                        </a:lnSpc>
                        <a:buNone/>
                      </a:pPr>
                      <a:r>
                        <a:rPr lang="zh-TW" sz="16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總</a:t>
                      </a:r>
                      <a:r>
                        <a:rPr lang="en-US" sz="16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  </a:t>
                      </a:r>
                      <a:r>
                        <a:rPr lang="zh-TW" sz="16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計</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91440" algn="r">
                        <a:lnSpc>
                          <a:spcPts val="2200"/>
                        </a:lnSpc>
                        <a:buNone/>
                      </a:pPr>
                      <a:r>
                        <a:rPr lang="en-US" sz="1600" b="1" kern="100">
                          <a:solidFill>
                            <a:srgbClr val="000000"/>
                          </a:solidFill>
                          <a:effectLst/>
                          <a:latin typeface="標楷體" panose="03000509000000000000" pitchFamily="65" charset="-120"/>
                          <a:ea typeface="標楷體" panose="03000509000000000000" pitchFamily="65" charset="-120"/>
                        </a:rPr>
                        <a:t>60,220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2200"/>
                        </a:lnSpc>
                        <a:buNone/>
                      </a:pPr>
                      <a:r>
                        <a:rPr lang="en-US" sz="1600" b="1" kern="100">
                          <a:solidFill>
                            <a:srgbClr val="000000"/>
                          </a:solidFill>
                          <a:effectLst/>
                          <a:latin typeface="標楷體" panose="03000509000000000000" pitchFamily="65" charset="-120"/>
                          <a:ea typeface="標楷體" panose="03000509000000000000" pitchFamily="65" charset="-120"/>
                        </a:rPr>
                        <a:t>460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59,760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200"/>
                        </a:lnSpc>
                        <a:buNone/>
                      </a:pPr>
                      <a:r>
                        <a:rPr lang="en-US" sz="1200" kern="0" dirty="0">
                          <a:solidFill>
                            <a:srgbClr val="000000"/>
                          </a:solidFill>
                          <a:effectLst/>
                          <a:latin typeface="標楷體" panose="03000509000000000000" pitchFamily="65" charset="-120"/>
                          <a:ea typeface="標楷體" panose="03000509000000000000" pitchFamily="65" charset="-120"/>
                        </a:rPr>
                        <a:t> </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875629"/>
                  </a:ext>
                </a:extLst>
              </a:tr>
            </a:tbl>
          </a:graphicData>
        </a:graphic>
      </p:graphicFrame>
    </p:spTree>
    <p:extLst>
      <p:ext uri="{BB962C8B-B14F-4D97-AF65-F5344CB8AC3E}">
        <p14:creationId xmlns:p14="http://schemas.microsoft.com/office/powerpoint/2010/main" val="35990758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53D64-D172-CC01-59B2-9984772F9F8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C8C6C43-D117-951B-DD43-CE32001C6B49}"/>
              </a:ext>
            </a:extLst>
          </p:cNvPr>
          <p:cNvSpPr>
            <a:spLocks noGrp="1"/>
          </p:cNvSpPr>
          <p:nvPr>
            <p:ph type="title"/>
          </p:nvPr>
        </p:nvSpPr>
        <p:spPr>
          <a:xfrm>
            <a:off x="1542492" y="73993"/>
            <a:ext cx="6419056" cy="563562"/>
          </a:xfrm>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子計畫四：憶起幸福：社區生命故事館</a:t>
            </a:r>
            <a:endParaRPr lang="zh-TW" altLang="en-US" sz="2000" dirty="0"/>
          </a:p>
        </p:txBody>
      </p:sp>
      <p:sp>
        <p:nvSpPr>
          <p:cNvPr id="3" name="內容版面配置區 2">
            <a:extLst>
              <a:ext uri="{FF2B5EF4-FFF2-40B4-BE49-F238E27FC236}">
                <a16:creationId xmlns:a16="http://schemas.microsoft.com/office/drawing/2014/main" id="{DE0C2EF2-2AC4-D739-3CCB-6424C18308E0}"/>
              </a:ext>
            </a:extLst>
          </p:cNvPr>
          <p:cNvSpPr>
            <a:spLocks noGrp="1"/>
          </p:cNvSpPr>
          <p:nvPr>
            <p:ph idx="1"/>
          </p:nvPr>
        </p:nvSpPr>
        <p:spPr>
          <a:xfrm>
            <a:off x="470148" y="947342"/>
            <a:ext cx="8229600" cy="473596"/>
          </a:xfrm>
        </p:spPr>
        <p:txBody>
          <a:bodyPr/>
          <a:lstStyle/>
          <a:p>
            <a:pPr marL="0" indent="0" algn="ctr">
              <a:buNone/>
            </a:pPr>
            <a:r>
              <a:rPr lang="zh-TW" altLang="en-US" sz="2400" b="1" dirty="0">
                <a:solidFill>
                  <a:srgbClr val="FF0000"/>
                </a:solidFill>
                <a:latin typeface="標楷體" pitchFamily="65" charset="-120"/>
                <a:ea typeface="標楷體" pitchFamily="65" charset="-120"/>
              </a:rPr>
              <a:t>目的</a:t>
            </a:r>
          </a:p>
        </p:txBody>
      </p:sp>
      <p:sp>
        <p:nvSpPr>
          <p:cNvPr id="4" name="矩形 3">
            <a:extLst>
              <a:ext uri="{FF2B5EF4-FFF2-40B4-BE49-F238E27FC236}">
                <a16:creationId xmlns:a16="http://schemas.microsoft.com/office/drawing/2014/main" id="{A8542AB7-111C-E7EB-611B-C6E2510554AA}"/>
              </a:ext>
            </a:extLst>
          </p:cNvPr>
          <p:cNvSpPr/>
          <p:nvPr/>
        </p:nvSpPr>
        <p:spPr>
          <a:xfrm>
            <a:off x="174712" y="1456711"/>
            <a:ext cx="8820472" cy="1540999"/>
          </a:xfrm>
          <a:prstGeom prst="rect">
            <a:avLst/>
          </a:prstGeom>
        </p:spPr>
        <p:txBody>
          <a:bodyPr wrap="square">
            <a:spAutoFit/>
          </a:bodyPr>
          <a:lstStyle/>
          <a:p>
            <a:pPr marL="360000" marR="0" lvl="0" indent="0" algn="just" defTabSz="914400" rtl="0" eaLnBrk="1" fontAlgn="auto" latinLnBrk="0" hangingPunct="1">
              <a:lnSpc>
                <a:spcPts val="3900"/>
              </a:lnSpc>
              <a:spcBef>
                <a:spcPts val="0"/>
              </a:spcBef>
              <a:spcAft>
                <a:spcPts val="0"/>
              </a:spcAft>
              <a:buClrTx/>
              <a:buSzTx/>
              <a:buFontTx/>
              <a:buNone/>
              <a:tabLst>
                <a:tab pos="622300" algn="l"/>
              </a:tabLst>
              <a:defRPr/>
            </a:pP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透過藝術創作與跨世代合作，陪伴長輩回顧生命故事，表達內在情感，達到心靈療癒與靈性關懷。同時結合青年志工協助將作品電子化，展現青銀共創的成果。</a:t>
            </a:r>
            <a:endParaRPr kumimoji="0" lang="zh-TW" altLang="en-US" sz="2400" b="1" i="0" u="none" strike="noStrike" kern="100" cap="none" spc="0" normalizeH="0" baseline="0" noProof="0" dirty="0">
              <a:ln>
                <a:noFill/>
              </a:ln>
              <a:solidFill>
                <a:srgbClr val="000000"/>
              </a:solidFill>
              <a:effectLst/>
              <a:uLnTx/>
              <a:uFillTx/>
              <a:latin typeface="Times New Roman"/>
              <a:ea typeface="標楷體"/>
              <a:cs typeface="+mn-cs"/>
            </a:endParaRPr>
          </a:p>
        </p:txBody>
      </p:sp>
      <p:sp>
        <p:nvSpPr>
          <p:cNvPr id="5" name="內容版面配置區 2">
            <a:extLst>
              <a:ext uri="{FF2B5EF4-FFF2-40B4-BE49-F238E27FC236}">
                <a16:creationId xmlns:a16="http://schemas.microsoft.com/office/drawing/2014/main" id="{675D36B4-596D-9CB3-A39B-005103858144}"/>
              </a:ext>
            </a:extLst>
          </p:cNvPr>
          <p:cNvSpPr txBox="1">
            <a:spLocks/>
          </p:cNvSpPr>
          <p:nvPr/>
        </p:nvSpPr>
        <p:spPr bwMode="auto">
          <a:xfrm>
            <a:off x="381000" y="3971709"/>
            <a:ext cx="8229600" cy="58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6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marR="0" lvl="0" indent="0" algn="ctr" defTabSz="914400" rtl="0" eaLnBrk="0" fontAlgn="base" latinLnBrk="0" hangingPunct="0">
              <a:lnSpc>
                <a:spcPct val="100000"/>
              </a:lnSpc>
              <a:spcBef>
                <a:spcPct val="20000"/>
              </a:spcBef>
              <a:spcAft>
                <a:spcPct val="0"/>
              </a:spcAft>
              <a:buClr>
                <a:srgbClr val="69AAB1"/>
              </a:buClr>
              <a:buSzTx/>
              <a:buFont typeface="Wingdings" pitchFamily="2" charset="2"/>
              <a:buNone/>
              <a:tabLst/>
              <a:defRPr/>
            </a:pPr>
            <a:r>
              <a:rPr kumimoji="0" lang="zh-TW" altLang="en-US" sz="2400" b="1" i="0" u="none" strike="noStrike" kern="0" cap="none" spc="0" normalizeH="0" baseline="0" noProof="0" dirty="0">
                <a:ln>
                  <a:noFill/>
                </a:ln>
                <a:solidFill>
                  <a:srgbClr val="FF0000"/>
                </a:solidFill>
                <a:effectLst/>
                <a:uLnTx/>
                <a:uFillTx/>
                <a:latin typeface="標楷體" pitchFamily="65" charset="-120"/>
                <a:ea typeface="標楷體" pitchFamily="65" charset="-120"/>
                <a:cs typeface="+mn-cs"/>
              </a:rPr>
              <a:t>服務對象</a:t>
            </a:r>
            <a:r>
              <a:rPr kumimoji="0" lang="zh-TW" altLang="zh-TW" sz="2400" b="1" i="0" u="none" strike="noStrike" kern="1200" cap="none" spc="0" normalizeH="0" baseline="0" noProof="0" dirty="0">
                <a:ln>
                  <a:noFill/>
                </a:ln>
                <a:solidFill>
                  <a:srgbClr val="024631"/>
                </a:solidFill>
                <a:effectLst/>
                <a:uLnTx/>
                <a:uFillTx/>
                <a:latin typeface="標楷體" panose="03000509000000000000" pitchFamily="65" charset="-120"/>
                <a:ea typeface="標楷體" panose="03000509000000000000" pitchFamily="65" charset="-120"/>
                <a:cs typeface="+mn-cs"/>
              </a:rPr>
              <a:t>：</a:t>
            </a:r>
            <a:r>
              <a:rPr kumimoji="0" lang="zh-TW" altLang="en-US" sz="2400" b="1" i="0" u="none" strike="noStrike" kern="1200" cap="none" spc="0" normalizeH="0" baseline="0" noProof="0" dirty="0">
                <a:ln>
                  <a:noFill/>
                </a:ln>
                <a:solidFill>
                  <a:srgbClr val="024631"/>
                </a:solidFill>
                <a:effectLst/>
                <a:uLnTx/>
                <a:uFillTx/>
                <a:latin typeface="標楷體" panose="03000509000000000000" pitchFamily="65" charset="-120"/>
                <a:ea typeface="標楷體" panose="03000509000000000000" pitchFamily="65" charset="-120"/>
                <a:cs typeface="+mn-cs"/>
              </a:rPr>
              <a:t>由富州社區主責</a:t>
            </a:r>
            <a:endParaRPr kumimoji="0" lang="zh-TW" altLang="en-US" sz="2800" b="1" i="0" u="none" strike="noStrike" kern="0" cap="none" spc="0" normalizeH="0" baseline="0" noProof="0" dirty="0">
              <a:ln>
                <a:noFill/>
              </a:ln>
              <a:solidFill>
                <a:srgbClr val="FF0000"/>
              </a:solidFill>
              <a:effectLst/>
              <a:uLnTx/>
              <a:uFillTx/>
              <a:latin typeface="標楷體" pitchFamily="65" charset="-120"/>
              <a:ea typeface="標楷體" pitchFamily="65" charset="-120"/>
              <a:cs typeface="+mn-cs"/>
            </a:endParaRPr>
          </a:p>
        </p:txBody>
      </p:sp>
      <p:sp>
        <p:nvSpPr>
          <p:cNvPr id="6" name="矩形 5">
            <a:extLst>
              <a:ext uri="{FF2B5EF4-FFF2-40B4-BE49-F238E27FC236}">
                <a16:creationId xmlns:a16="http://schemas.microsoft.com/office/drawing/2014/main" id="{7981DD58-6D54-5862-D68D-D5BEAA7424AF}"/>
              </a:ext>
            </a:extLst>
          </p:cNvPr>
          <p:cNvSpPr/>
          <p:nvPr/>
        </p:nvSpPr>
        <p:spPr>
          <a:xfrm>
            <a:off x="1691680" y="4564045"/>
            <a:ext cx="6120680" cy="540725"/>
          </a:xfrm>
          <a:prstGeom prst="rect">
            <a:avLst/>
          </a:prstGeom>
        </p:spPr>
        <p:txBody>
          <a:bodyPr wrap="square">
            <a:spAutoFit/>
          </a:bodyPr>
          <a:lstStyle/>
          <a:p>
            <a:pPr marL="0" marR="0" lvl="0" indent="0" algn="just" defTabSz="914400" rtl="0" eaLnBrk="1" fontAlgn="auto" latinLnBrk="0" hangingPunct="1">
              <a:lnSpc>
                <a:spcPts val="3900"/>
              </a:lnSpc>
              <a:spcBef>
                <a:spcPts val="0"/>
              </a:spcBef>
              <a:spcAft>
                <a:spcPts val="0"/>
              </a:spcAft>
              <a:buClrTx/>
              <a:buSzTx/>
              <a:buFontTx/>
              <a:buNone/>
              <a:tabLst/>
              <a:defRPr/>
            </a:pPr>
            <a:r>
              <a:rPr kumimoji="0" lang="zh-TW" altLang="en-US"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富州社區、中央社區、中崎社區之社區居民。</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p:txBody>
      </p:sp>
    </p:spTree>
    <p:extLst>
      <p:ext uri="{BB962C8B-B14F-4D97-AF65-F5344CB8AC3E}">
        <p14:creationId xmlns:p14="http://schemas.microsoft.com/office/powerpoint/2010/main" val="8152865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B8DAE-EB86-BFCA-C875-EE8C1933183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60E9F8B-0B35-1086-E744-3EA2B0E7E578}"/>
              </a:ext>
            </a:extLst>
          </p:cNvPr>
          <p:cNvSpPr>
            <a:spLocks noGrp="1"/>
          </p:cNvSpPr>
          <p:nvPr>
            <p:ph type="title"/>
          </p:nvPr>
        </p:nvSpPr>
        <p:spPr>
          <a:xfrm>
            <a:off x="1434480" y="116632"/>
            <a:ext cx="6275040" cy="563562"/>
          </a:xfrm>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子計畫四：憶起幸福：社區生命故事館</a:t>
            </a:r>
            <a:endParaRPr lang="zh-TW" altLang="en-US" dirty="0"/>
          </a:p>
        </p:txBody>
      </p:sp>
      <p:sp>
        <p:nvSpPr>
          <p:cNvPr id="3" name="內容版面配置區 2">
            <a:extLst>
              <a:ext uri="{FF2B5EF4-FFF2-40B4-BE49-F238E27FC236}">
                <a16:creationId xmlns:a16="http://schemas.microsoft.com/office/drawing/2014/main" id="{445E8049-0E03-36CB-DB6D-78514AC914F6}"/>
              </a:ext>
            </a:extLst>
          </p:cNvPr>
          <p:cNvSpPr>
            <a:spLocks noGrp="1"/>
          </p:cNvSpPr>
          <p:nvPr>
            <p:ph idx="1"/>
          </p:nvPr>
        </p:nvSpPr>
        <p:spPr>
          <a:xfrm>
            <a:off x="457200" y="1268760"/>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內容</a:t>
            </a:r>
            <a:r>
              <a:rPr lang="en-US" altLang="zh-TW" sz="2800" b="1" dirty="0">
                <a:solidFill>
                  <a:srgbClr val="FF0000"/>
                </a:solidFill>
                <a:latin typeface="標楷體" pitchFamily="65" charset="-120"/>
                <a:ea typeface="標楷體" pitchFamily="65" charset="-120"/>
              </a:rPr>
              <a:t>-1</a:t>
            </a:r>
            <a:endParaRPr lang="zh-TW" altLang="en-US" sz="2800" b="1" dirty="0">
              <a:solidFill>
                <a:srgbClr val="FF0000"/>
              </a:solidFill>
              <a:latin typeface="標楷體" pitchFamily="65" charset="-120"/>
              <a:ea typeface="標楷體" pitchFamily="65" charset="-120"/>
            </a:endParaRPr>
          </a:p>
        </p:txBody>
      </p:sp>
      <p:sp>
        <p:nvSpPr>
          <p:cNvPr id="4" name="矩形 3">
            <a:extLst>
              <a:ext uri="{FF2B5EF4-FFF2-40B4-BE49-F238E27FC236}">
                <a16:creationId xmlns:a16="http://schemas.microsoft.com/office/drawing/2014/main" id="{AF400B93-77A4-0797-9E6A-A3D77CC91E6C}"/>
              </a:ext>
            </a:extLst>
          </p:cNvPr>
          <p:cNvSpPr/>
          <p:nvPr/>
        </p:nvSpPr>
        <p:spPr>
          <a:xfrm>
            <a:off x="143508" y="2023359"/>
            <a:ext cx="8856984" cy="3106235"/>
          </a:xfrm>
          <a:prstGeom prst="rect">
            <a:avLst/>
          </a:prstGeom>
        </p:spPr>
        <p:txBody>
          <a:bodyPr wrap="square">
            <a:spAutoFit/>
          </a:bodyPr>
          <a:lstStyle/>
          <a:p>
            <a:pPr marL="0" marR="0" lvl="0" indent="-3600000" algn="just" defTabSz="914400" rtl="0" eaLnBrk="1" fontAlgn="auto" latinLnBrk="0" hangingPunct="1">
              <a:lnSpc>
                <a:spcPts val="4000"/>
              </a:lnSpc>
              <a:spcBef>
                <a:spcPts val="0"/>
              </a:spcBef>
              <a:spcAft>
                <a:spcPts val="0"/>
              </a:spcAft>
              <a:buClrTx/>
              <a:buSzTx/>
              <a:buFontTx/>
              <a:buNone/>
              <a:tabLst/>
              <a:defRPr/>
            </a:pP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(1)</a:t>
            </a:r>
            <a:r>
              <a:rPr kumimoji="0" lang="zh-TW"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生命繪本課程</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：引導長輩以圖像與文字表達個人生命歷程。（每社區為</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4</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堂課，每次</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3</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小時，共</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12</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堂課</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36</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小時）</a:t>
            </a:r>
          </a:p>
          <a:p>
            <a:pPr marL="0" marR="0" lvl="0" indent="-3600000" algn="just" defTabSz="914400" rtl="0" eaLnBrk="1" fontAlgn="auto" latinLnBrk="0" hangingPunct="1">
              <a:lnSpc>
                <a:spcPts val="4000"/>
              </a:lnSpc>
              <a:spcBef>
                <a:spcPts val="0"/>
              </a:spcBef>
              <a:spcAft>
                <a:spcPts val="0"/>
              </a:spcAft>
              <a:buClrTx/>
              <a:buSzTx/>
              <a:buFontTx/>
              <a:buNone/>
              <a:tabLst/>
              <a:defRPr/>
            </a:pP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(2)</a:t>
            </a:r>
            <a:r>
              <a:rPr kumimoji="0" lang="zh-TW"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和諧粉彩體驗</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a:t>
            </a:r>
            <a:r>
              <a:rPr kumimoji="0" lang="zh-TW" altLang="zh-TW" sz="2100" b="0"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以色彩創作輕柔療癒、促進情緒安定</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，並達到靈性關懷。（每社區為</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4</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堂課，每次</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3</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小時，共</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12</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堂課</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36</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小時）</a:t>
            </a:r>
          </a:p>
          <a:p>
            <a:pPr marL="0" marR="0" lvl="0" indent="-3600000" algn="just" defTabSz="914400" rtl="0" eaLnBrk="1" fontAlgn="auto" latinLnBrk="0" hangingPunct="1">
              <a:lnSpc>
                <a:spcPts val="4000"/>
              </a:lnSpc>
              <a:spcBef>
                <a:spcPts val="0"/>
              </a:spcBef>
              <a:spcAft>
                <a:spcPts val="0"/>
              </a:spcAft>
              <a:buClrTx/>
              <a:buSzTx/>
              <a:buFontTx/>
              <a:buNone/>
              <a:tabLst/>
              <a:defRPr/>
            </a:pP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(3)</a:t>
            </a:r>
            <a:r>
              <a:rPr kumimoji="0" lang="zh-TW"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青銀共創工作坊</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：青、少年協助掃描 協助長輩產出生命故事敘述。（每社區</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3</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次，每次</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2</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小時，共</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9</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次</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18</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小時）</a:t>
            </a:r>
          </a:p>
        </p:txBody>
      </p:sp>
    </p:spTree>
    <p:extLst>
      <p:ext uri="{BB962C8B-B14F-4D97-AF65-F5344CB8AC3E}">
        <p14:creationId xmlns:p14="http://schemas.microsoft.com/office/powerpoint/2010/main" val="23969708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2CC5D-3F49-BF40-E048-3068B0D58D1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66A86BC-BFDB-6D5A-1523-EE1542CB09C9}"/>
              </a:ext>
            </a:extLst>
          </p:cNvPr>
          <p:cNvSpPr>
            <a:spLocks noGrp="1"/>
          </p:cNvSpPr>
          <p:nvPr>
            <p:ph type="title"/>
          </p:nvPr>
        </p:nvSpPr>
        <p:spPr>
          <a:xfrm>
            <a:off x="1322276" y="69826"/>
            <a:ext cx="6499448" cy="563562"/>
          </a:xfrm>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子計畫四：憶起幸福：社區生命故事館</a:t>
            </a:r>
            <a:endParaRPr lang="zh-TW" altLang="en-US" dirty="0"/>
          </a:p>
        </p:txBody>
      </p:sp>
      <p:sp>
        <p:nvSpPr>
          <p:cNvPr id="3" name="內容版面配置區 2">
            <a:extLst>
              <a:ext uri="{FF2B5EF4-FFF2-40B4-BE49-F238E27FC236}">
                <a16:creationId xmlns:a16="http://schemas.microsoft.com/office/drawing/2014/main" id="{92A5CF80-1717-720C-DE10-DC89AF829416}"/>
              </a:ext>
            </a:extLst>
          </p:cNvPr>
          <p:cNvSpPr>
            <a:spLocks noGrp="1"/>
          </p:cNvSpPr>
          <p:nvPr>
            <p:ph idx="1"/>
          </p:nvPr>
        </p:nvSpPr>
        <p:spPr>
          <a:xfrm>
            <a:off x="457200" y="1113656"/>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內容</a:t>
            </a:r>
            <a:r>
              <a:rPr lang="en-US" altLang="zh-TW" sz="2800" b="1" dirty="0">
                <a:solidFill>
                  <a:srgbClr val="FF0000"/>
                </a:solidFill>
                <a:latin typeface="標楷體" pitchFamily="65" charset="-120"/>
                <a:ea typeface="標楷體" pitchFamily="65" charset="-120"/>
              </a:rPr>
              <a:t>-2</a:t>
            </a:r>
            <a:endParaRPr lang="zh-TW" altLang="en-US" sz="2800" b="1" dirty="0">
              <a:solidFill>
                <a:srgbClr val="FF0000"/>
              </a:solidFill>
              <a:latin typeface="標楷體" pitchFamily="65" charset="-120"/>
              <a:ea typeface="標楷體" pitchFamily="65" charset="-120"/>
            </a:endParaRPr>
          </a:p>
        </p:txBody>
      </p:sp>
      <p:sp>
        <p:nvSpPr>
          <p:cNvPr id="4" name="矩形 3">
            <a:extLst>
              <a:ext uri="{FF2B5EF4-FFF2-40B4-BE49-F238E27FC236}">
                <a16:creationId xmlns:a16="http://schemas.microsoft.com/office/drawing/2014/main" id="{502127E3-ED48-335E-0D8B-BE057B822D0C}"/>
              </a:ext>
            </a:extLst>
          </p:cNvPr>
          <p:cNvSpPr/>
          <p:nvPr/>
        </p:nvSpPr>
        <p:spPr>
          <a:xfrm>
            <a:off x="143508" y="2204864"/>
            <a:ext cx="8856984" cy="3619196"/>
          </a:xfrm>
          <a:prstGeom prst="rect">
            <a:avLst/>
          </a:prstGeom>
        </p:spPr>
        <p:txBody>
          <a:bodyPr wrap="square">
            <a:spAutoFit/>
          </a:bodyPr>
          <a:lstStyle/>
          <a:p>
            <a:pPr marL="0" marR="0" lvl="0" indent="-3600000" algn="just" defTabSz="914400" rtl="0" eaLnBrk="1" fontAlgn="auto" latinLnBrk="0" hangingPunct="1">
              <a:lnSpc>
                <a:spcPts val="4000"/>
              </a:lnSpc>
              <a:spcBef>
                <a:spcPts val="0"/>
              </a:spcBef>
              <a:spcAft>
                <a:spcPts val="0"/>
              </a:spcAft>
              <a:buClrTx/>
              <a:buSzTx/>
              <a:buFontTx/>
              <a:buNone/>
              <a:tabLst/>
              <a:defRPr/>
            </a:pP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(4)</a:t>
            </a:r>
            <a:r>
              <a:rPr kumimoji="0" lang="zh-TW"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製作艾草按摩棒</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：台灣傳統艾草象徵「淨化與安定」的文化意涵，帶領長輩以手作方式揉製艾草按摩棒。在製作過程中</a:t>
            </a:r>
            <a:r>
              <a:rPr kumimoji="0" lang="zh-TW" altLang="zh-TW" sz="2100" b="0"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透過香氣與觸感啟動感官療癒，促進情緒放鬆；同時引導長輩分享與生命韌性、家庭傳承相關的故事</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，讓手作成為靈性關懷的媒介，達到身心安定與文化連結。（每社區為</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1</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堂課，每次</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2</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小時，共</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3</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堂課</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6</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小時）</a:t>
            </a:r>
          </a:p>
          <a:p>
            <a:pPr marL="0" marR="0" lvl="0" indent="-3600000" algn="just" defTabSz="914400" rtl="0" eaLnBrk="1" fontAlgn="auto" latinLnBrk="0" hangingPunct="1">
              <a:lnSpc>
                <a:spcPts val="4000"/>
              </a:lnSpc>
              <a:spcBef>
                <a:spcPts val="0"/>
              </a:spcBef>
              <a:spcAft>
                <a:spcPts val="0"/>
              </a:spcAft>
              <a:buClrTx/>
              <a:buSzTx/>
              <a:buFontTx/>
              <a:buNone/>
              <a:tabLst/>
              <a:defRPr/>
            </a:pP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(5)</a:t>
            </a:r>
            <a:r>
              <a:rPr kumimoji="0" lang="zh-TW"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成果同樂會</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：展示實體與電子版作品，邀請社區居民共同欣賞。（</a:t>
            </a:r>
            <a:r>
              <a:rPr kumimoji="0" lang="zh-TW" altLang="zh-TW" sz="2100" b="0"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共辦理一次</a:t>
            </a:r>
            <a:r>
              <a:rPr kumimoji="0" lang="zh-TW"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a:t>
            </a:r>
            <a:endParaRPr kumimoji="0" lang="zh-TW" altLang="en-US" sz="2100" b="0" i="0" u="none" strike="noStrike" kern="1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endParaRPr>
          </a:p>
        </p:txBody>
      </p:sp>
    </p:spTree>
    <p:extLst>
      <p:ext uri="{BB962C8B-B14F-4D97-AF65-F5344CB8AC3E}">
        <p14:creationId xmlns:p14="http://schemas.microsoft.com/office/powerpoint/2010/main" val="24080237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BB55F-DBF2-F647-C455-C05F88AA140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4AC89CD-07A3-6EB1-5FBD-B2F96DA539B2}"/>
              </a:ext>
            </a:extLst>
          </p:cNvPr>
          <p:cNvSpPr>
            <a:spLocks noGrp="1"/>
          </p:cNvSpPr>
          <p:nvPr>
            <p:ph type="title"/>
          </p:nvPr>
        </p:nvSpPr>
        <p:spPr>
          <a:xfrm>
            <a:off x="1322276" y="152100"/>
            <a:ext cx="6499448" cy="563562"/>
          </a:xfrm>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子計畫四：憶起幸福：社區生命故事館</a:t>
            </a:r>
            <a:endParaRPr lang="zh-TW" altLang="en-US" dirty="0"/>
          </a:p>
        </p:txBody>
      </p:sp>
      <p:sp>
        <p:nvSpPr>
          <p:cNvPr id="3" name="內容版面配置區 2">
            <a:extLst>
              <a:ext uri="{FF2B5EF4-FFF2-40B4-BE49-F238E27FC236}">
                <a16:creationId xmlns:a16="http://schemas.microsoft.com/office/drawing/2014/main" id="{44A36A2E-1833-3712-6476-A73873404C0B}"/>
              </a:ext>
            </a:extLst>
          </p:cNvPr>
          <p:cNvSpPr>
            <a:spLocks noGrp="1"/>
          </p:cNvSpPr>
          <p:nvPr>
            <p:ph idx="1"/>
          </p:nvPr>
        </p:nvSpPr>
        <p:spPr>
          <a:xfrm>
            <a:off x="457200" y="1052736"/>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效益</a:t>
            </a:r>
            <a:endParaRPr lang="en-US" altLang="zh-TW" sz="2800" b="1" dirty="0">
              <a:solidFill>
                <a:srgbClr val="FF0000"/>
              </a:solidFill>
              <a:latin typeface="標楷體" pitchFamily="65" charset="-120"/>
              <a:ea typeface="標楷體" pitchFamily="65" charset="-120"/>
            </a:endParaRPr>
          </a:p>
        </p:txBody>
      </p:sp>
      <p:sp>
        <p:nvSpPr>
          <p:cNvPr id="4" name="矩形 3">
            <a:extLst>
              <a:ext uri="{FF2B5EF4-FFF2-40B4-BE49-F238E27FC236}">
                <a16:creationId xmlns:a16="http://schemas.microsoft.com/office/drawing/2014/main" id="{4DCA0007-B46A-77DD-6838-813F682615E8}"/>
              </a:ext>
            </a:extLst>
          </p:cNvPr>
          <p:cNvSpPr/>
          <p:nvPr/>
        </p:nvSpPr>
        <p:spPr>
          <a:xfrm>
            <a:off x="1238799" y="2258743"/>
            <a:ext cx="6666402" cy="2340513"/>
          </a:xfrm>
          <a:prstGeom prst="rect">
            <a:avLst/>
          </a:prstGeom>
        </p:spPr>
        <p:txBody>
          <a:bodyPr wrap="square">
            <a:spAutoFit/>
          </a:bodyPr>
          <a:lstStyle/>
          <a:p>
            <a:pPr marL="717550" marR="0" lvl="0" indent="-1260000" algn="just" defTabSz="914400" rtl="0" eaLnBrk="1" fontAlgn="auto" latinLnBrk="0" hangingPunct="1">
              <a:lnSpc>
                <a:spcPts val="4500"/>
              </a:lnSpc>
              <a:spcBef>
                <a:spcPts val="0"/>
              </a:spcBef>
              <a:spcAft>
                <a:spcPts val="0"/>
              </a:spcAft>
              <a:buClrTx/>
              <a:buSzTx/>
              <a:buFontTx/>
              <a:buNone/>
              <a:tabLst/>
              <a:defRPr/>
            </a:pPr>
            <a:r>
              <a:rPr kumimoji="0" lang="zh-TW"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1</a:t>
            </a:r>
            <a:r>
              <a:rPr kumimoji="0" lang="zh-TW"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增進長者自我價值感與心靈療癒。</a:t>
            </a:r>
          </a:p>
          <a:p>
            <a:pPr marL="717550" marR="0" lvl="0" indent="-1260000"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2</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）強化青銀互動、傳承生命智慧。</a:t>
            </a:r>
          </a:p>
          <a:p>
            <a:pPr marL="717550" marR="0" lvl="0" indent="-1260000"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3</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）建立社區關懷與文化保存資料庫。</a:t>
            </a:r>
          </a:p>
          <a:p>
            <a:pPr marL="717550" marR="0" lvl="0" indent="-1080000" algn="just" defTabSz="914400" rtl="0" eaLnBrk="1" fontAlgn="auto" latinLnBrk="0" hangingPunct="1">
              <a:lnSpc>
                <a:spcPts val="4500"/>
              </a:lnSpc>
              <a:spcBef>
                <a:spcPts val="0"/>
              </a:spcBef>
              <a:spcAft>
                <a:spcPts val="0"/>
              </a:spcAft>
              <a:buClrTx/>
              <a:buSzTx/>
              <a:buFontTx/>
              <a:buNone/>
              <a:tabLst/>
              <a:defRPr/>
            </a:pPr>
            <a:endParaRPr kumimoji="0" lang="zh-TW" altLang="zh-TW" sz="28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p:txBody>
      </p:sp>
    </p:spTree>
    <p:extLst>
      <p:ext uri="{BB962C8B-B14F-4D97-AF65-F5344CB8AC3E}">
        <p14:creationId xmlns:p14="http://schemas.microsoft.com/office/powerpoint/2010/main" val="33615864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8063B-E92C-DDD0-B15A-6DC85B586C4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C1A61E1-83ED-8B61-1639-61167F0A8002}"/>
              </a:ext>
            </a:extLst>
          </p:cNvPr>
          <p:cNvSpPr>
            <a:spLocks noGrp="1"/>
          </p:cNvSpPr>
          <p:nvPr>
            <p:ph type="title"/>
          </p:nvPr>
        </p:nvSpPr>
        <p:spPr>
          <a:xfrm>
            <a:off x="381000" y="144586"/>
            <a:ext cx="8382000" cy="430634"/>
          </a:xfrm>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憶起幸福：社區生命故事館經費表</a:t>
            </a:r>
            <a:endParaRPr lang="zh-TW" altLang="en-US" sz="3600" dirty="0"/>
          </a:p>
        </p:txBody>
      </p:sp>
      <p:graphicFrame>
        <p:nvGraphicFramePr>
          <p:cNvPr id="7" name="表格 6">
            <a:extLst>
              <a:ext uri="{FF2B5EF4-FFF2-40B4-BE49-F238E27FC236}">
                <a16:creationId xmlns:a16="http://schemas.microsoft.com/office/drawing/2014/main" id="{64F3A4E7-FDAB-BAEE-9598-A6A967FA82CC}"/>
              </a:ext>
            </a:extLst>
          </p:cNvPr>
          <p:cNvGraphicFramePr>
            <a:graphicFrameLocks noGrp="1"/>
          </p:cNvGraphicFramePr>
          <p:nvPr/>
        </p:nvGraphicFramePr>
        <p:xfrm>
          <a:off x="224643" y="836712"/>
          <a:ext cx="8694713" cy="5896174"/>
        </p:xfrm>
        <a:graphic>
          <a:graphicData uri="http://schemas.openxmlformats.org/drawingml/2006/table">
            <a:tbl>
              <a:tblPr firstRow="1" firstCol="1" lastRow="1" lastCol="1" bandRow="1" bandCol="1"/>
              <a:tblGrid>
                <a:gridCol w="1611053">
                  <a:extLst>
                    <a:ext uri="{9D8B030D-6E8A-4147-A177-3AD203B41FA5}">
                      <a16:colId xmlns:a16="http://schemas.microsoft.com/office/drawing/2014/main" val="3578943223"/>
                    </a:ext>
                  </a:extLst>
                </a:gridCol>
                <a:gridCol w="1003964">
                  <a:extLst>
                    <a:ext uri="{9D8B030D-6E8A-4147-A177-3AD203B41FA5}">
                      <a16:colId xmlns:a16="http://schemas.microsoft.com/office/drawing/2014/main" val="3015582658"/>
                    </a:ext>
                  </a:extLst>
                </a:gridCol>
                <a:gridCol w="862696">
                  <a:extLst>
                    <a:ext uri="{9D8B030D-6E8A-4147-A177-3AD203B41FA5}">
                      <a16:colId xmlns:a16="http://schemas.microsoft.com/office/drawing/2014/main" val="1582908736"/>
                    </a:ext>
                  </a:extLst>
                </a:gridCol>
                <a:gridCol w="1107688">
                  <a:extLst>
                    <a:ext uri="{9D8B030D-6E8A-4147-A177-3AD203B41FA5}">
                      <a16:colId xmlns:a16="http://schemas.microsoft.com/office/drawing/2014/main" val="73208533"/>
                    </a:ext>
                  </a:extLst>
                </a:gridCol>
                <a:gridCol w="739330">
                  <a:extLst>
                    <a:ext uri="{9D8B030D-6E8A-4147-A177-3AD203B41FA5}">
                      <a16:colId xmlns:a16="http://schemas.microsoft.com/office/drawing/2014/main" val="23339771"/>
                    </a:ext>
                  </a:extLst>
                </a:gridCol>
                <a:gridCol w="1354420">
                  <a:extLst>
                    <a:ext uri="{9D8B030D-6E8A-4147-A177-3AD203B41FA5}">
                      <a16:colId xmlns:a16="http://schemas.microsoft.com/office/drawing/2014/main" val="3538299279"/>
                    </a:ext>
                  </a:extLst>
                </a:gridCol>
                <a:gridCol w="2015562">
                  <a:extLst>
                    <a:ext uri="{9D8B030D-6E8A-4147-A177-3AD203B41FA5}">
                      <a16:colId xmlns:a16="http://schemas.microsoft.com/office/drawing/2014/main" val="1988443484"/>
                    </a:ext>
                  </a:extLst>
                </a:gridCol>
              </a:tblGrid>
              <a:tr h="177919">
                <a:tc>
                  <a:txBody>
                    <a:bodyPr/>
                    <a:lstStyle/>
                    <a:p>
                      <a:pPr marL="249555" algn="ctr">
                        <a:lnSpc>
                          <a:spcPts val="2200"/>
                        </a:lnSpc>
                        <a:buNone/>
                      </a:pPr>
                      <a:r>
                        <a:rPr lang="en-US" sz="1600" kern="0" spc="-3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項目</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93980" algn="ctr">
                        <a:lnSpc>
                          <a:spcPts val="2200"/>
                        </a:lnSpc>
                        <a:buNone/>
                      </a:pPr>
                      <a:r>
                        <a:rPr lang="en-US"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單價</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7950" algn="ctr">
                        <a:lnSpc>
                          <a:spcPts val="2200"/>
                        </a:lnSpc>
                        <a:buNone/>
                      </a:pPr>
                      <a:r>
                        <a:rPr lang="en-US"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數量</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4610" algn="ctr">
                        <a:lnSpc>
                          <a:spcPts val="2200"/>
                        </a:lnSpc>
                        <a:buNone/>
                      </a:pP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總金額</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5090" algn="ctr">
                        <a:lnSpc>
                          <a:spcPts val="2200"/>
                        </a:lnSpc>
                        <a:buNone/>
                      </a:pPr>
                      <a:r>
                        <a:rPr lang="en-US"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自籌</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305" algn="ctr">
                        <a:lnSpc>
                          <a:spcPts val="2200"/>
                        </a:lnSpc>
                        <a:buNone/>
                      </a:pPr>
                      <a:r>
                        <a:rPr lang="en-US" sz="1600" kern="0" spc="-2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申請</a:t>
                      </a: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補助</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3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說明</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2972151"/>
                  </a:ext>
                </a:extLst>
              </a:tr>
              <a:tr h="160505">
                <a:tc>
                  <a:txBody>
                    <a:bodyPr/>
                    <a:lstStyle/>
                    <a:p>
                      <a:pPr marL="15240" algn="just">
                        <a:lnSpc>
                          <a:spcPts val="2200"/>
                        </a:lnSpc>
                        <a:buNone/>
                      </a:pPr>
                      <a:r>
                        <a:rPr lang="en-US" sz="1600" kern="0" spc="-5"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a:t>
                      </a:r>
                      <a:r>
                        <a:rPr lang="en-US" sz="1600" kern="0" spc="-2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講師鐘點費</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L="1135380" marR="86995" algn="r">
                        <a:lnSpc>
                          <a:spcPts val="2200"/>
                        </a:lnSpc>
                        <a:buNone/>
                      </a:pPr>
                      <a:r>
                        <a:rPr lang="en-US"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75,000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L="92075" marR="91440" algn="r">
                        <a:lnSpc>
                          <a:spcPts val="2200"/>
                        </a:lnSpc>
                        <a:buNone/>
                      </a:pPr>
                      <a:r>
                        <a:rPr lang="en-US" sz="1600" b="1" kern="0" spc="-9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93040" marR="91440" algn="r">
                        <a:lnSpc>
                          <a:spcPts val="2200"/>
                        </a:lnSpc>
                        <a:buNone/>
                      </a:pPr>
                      <a:r>
                        <a:rPr lang="en-US"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75,000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2200"/>
                        </a:lnSpc>
                        <a:buNone/>
                      </a:pPr>
                      <a:r>
                        <a:rPr lang="en-US" sz="1300" kern="0">
                          <a:solidFill>
                            <a:srgbClr val="000000"/>
                          </a:solidFill>
                          <a:effectLst/>
                          <a:latin typeface="標楷體" panose="03000509000000000000" pitchFamily="65" charset="-120"/>
                          <a:ea typeface="標楷體" panose="03000509000000000000" pitchFamily="65" charset="-120"/>
                        </a:rPr>
                        <a:t> </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257662"/>
                  </a:ext>
                </a:extLst>
              </a:tr>
              <a:tr h="265826">
                <a:tc>
                  <a:txBody>
                    <a:bodyPr/>
                    <a:lstStyle/>
                    <a:p>
                      <a:pPr algn="ctr">
                        <a:lnSpc>
                          <a:spcPts val="2200"/>
                        </a:lnSpc>
                        <a:buNone/>
                      </a:pPr>
                      <a:r>
                        <a:rPr lang="zh-TW" sz="1600"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外聘</a:t>
                      </a:r>
                      <a:r>
                        <a:rPr lang="en-US" sz="1600" kern="0" spc="-2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講師鐘點費</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1,000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36</a:t>
                      </a:r>
                      <a:r>
                        <a:rPr lang="zh-TW" sz="1600" kern="0">
                          <a:solidFill>
                            <a:srgbClr val="000000"/>
                          </a:solidFill>
                          <a:effectLst/>
                          <a:latin typeface="標楷體" panose="03000509000000000000" pitchFamily="65" charset="-120"/>
                          <a:ea typeface="標楷體" panose="03000509000000000000" pitchFamily="65" charset="-120"/>
                        </a:rPr>
                        <a:t>小時</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36,000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36,000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nSpc>
                          <a:spcPts val="1400"/>
                        </a:lnSpc>
                        <a:spcBef>
                          <a:spcPts val="50"/>
                        </a:spcBef>
                        <a:buNone/>
                      </a:pPr>
                      <a:r>
                        <a:rPr lang="zh-TW" sz="1300" b="1" kern="100" dirty="0">
                          <a:solidFill>
                            <a:srgbClr val="000000"/>
                          </a:solidFill>
                          <a:effectLst/>
                          <a:latin typeface="標楷體" panose="03000509000000000000" pitchFamily="65" charset="-120"/>
                          <a:ea typeface="標楷體" panose="03000509000000000000" pitchFamily="65" charset="-120"/>
                        </a:rPr>
                        <a:t>生命繪本課程</a:t>
                      </a:r>
                      <a:endParaRPr lang="zh-TW" sz="1200" kern="100" dirty="0">
                        <a:solidFill>
                          <a:srgbClr val="000000"/>
                        </a:solidFill>
                        <a:effectLst/>
                        <a:latin typeface="標楷體" panose="03000509000000000000" pitchFamily="65" charset="-120"/>
                        <a:ea typeface="標楷體" panose="03000509000000000000" pitchFamily="65" charset="-120"/>
                      </a:endParaRPr>
                    </a:p>
                    <a:p>
                      <a:pPr marL="50165">
                        <a:lnSpc>
                          <a:spcPts val="1400"/>
                        </a:lnSpc>
                        <a:spcBef>
                          <a:spcPts val="50"/>
                        </a:spcBef>
                        <a:buNone/>
                      </a:pPr>
                      <a:r>
                        <a:rPr lang="zh-TW" sz="1300" kern="0" dirty="0">
                          <a:solidFill>
                            <a:srgbClr val="000000"/>
                          </a:solidFill>
                          <a:effectLst/>
                          <a:latin typeface="標楷體" panose="03000509000000000000" pitchFamily="65" charset="-120"/>
                          <a:ea typeface="標楷體" panose="03000509000000000000" pitchFamily="65" charset="-120"/>
                        </a:rPr>
                        <a:t>共</a:t>
                      </a:r>
                      <a:r>
                        <a:rPr lang="en-US" sz="1300" kern="0" dirty="0">
                          <a:solidFill>
                            <a:srgbClr val="000000"/>
                          </a:solidFill>
                          <a:effectLst/>
                          <a:latin typeface="標楷體" panose="03000509000000000000" pitchFamily="65" charset="-120"/>
                          <a:ea typeface="標楷體" panose="03000509000000000000" pitchFamily="65" charset="-120"/>
                        </a:rPr>
                        <a:t>12</a:t>
                      </a:r>
                      <a:r>
                        <a:rPr lang="zh-TW" sz="1300" kern="0" dirty="0">
                          <a:solidFill>
                            <a:srgbClr val="000000"/>
                          </a:solidFill>
                          <a:effectLst/>
                          <a:latin typeface="標楷體" panose="03000509000000000000" pitchFamily="65" charset="-120"/>
                          <a:ea typeface="標楷體" panose="03000509000000000000" pitchFamily="65" charset="-120"/>
                        </a:rPr>
                        <a:t>堂課</a:t>
                      </a:r>
                      <a:r>
                        <a:rPr lang="en-US" sz="1300" kern="0" dirty="0">
                          <a:solidFill>
                            <a:srgbClr val="000000"/>
                          </a:solidFill>
                          <a:effectLst/>
                          <a:latin typeface="標楷體" panose="03000509000000000000" pitchFamily="65" charset="-120"/>
                          <a:ea typeface="標楷體" panose="03000509000000000000" pitchFamily="65" charset="-120"/>
                        </a:rPr>
                        <a:t>36</a:t>
                      </a:r>
                      <a:r>
                        <a:rPr lang="zh-TW" sz="1300" kern="0" dirty="0">
                          <a:solidFill>
                            <a:srgbClr val="000000"/>
                          </a:solidFill>
                          <a:effectLst/>
                          <a:latin typeface="標楷體" panose="03000509000000000000" pitchFamily="65" charset="-120"/>
                          <a:ea typeface="標楷體" panose="03000509000000000000" pitchFamily="65" charset="-120"/>
                        </a:rPr>
                        <a:t>小時，</a:t>
                      </a:r>
                      <a:r>
                        <a:rPr lang="zh-TW" sz="1300" b="1" kern="0" dirty="0">
                          <a:solidFill>
                            <a:srgbClr val="000000"/>
                          </a:solidFill>
                          <a:effectLst/>
                          <a:latin typeface="標楷體" panose="03000509000000000000" pitchFamily="65" charset="-120"/>
                          <a:ea typeface="標楷體" panose="03000509000000000000" pitchFamily="65" charset="-120"/>
                        </a:rPr>
                        <a:t>講師待聘</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3906305"/>
                  </a:ext>
                </a:extLst>
              </a:tr>
              <a:tr h="430411">
                <a:tc>
                  <a:txBody>
                    <a:bodyPr/>
                    <a:lstStyle/>
                    <a:p>
                      <a:pPr algn="ctr">
                        <a:lnSpc>
                          <a:spcPts val="2200"/>
                        </a:lnSpc>
                        <a:buNone/>
                      </a:pPr>
                      <a:r>
                        <a:rPr lang="zh-TW" sz="1600"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外聘</a:t>
                      </a: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講師鐘點費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1,000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dirty="0">
                          <a:solidFill>
                            <a:srgbClr val="000000"/>
                          </a:solidFill>
                          <a:effectLst/>
                          <a:latin typeface="標楷體" panose="03000509000000000000" pitchFamily="65" charset="-120"/>
                          <a:ea typeface="標楷體" panose="03000509000000000000" pitchFamily="65" charset="-120"/>
                        </a:rPr>
                        <a:t>36</a:t>
                      </a:r>
                      <a:r>
                        <a:rPr lang="zh-TW" sz="1600" kern="0" dirty="0">
                          <a:solidFill>
                            <a:srgbClr val="000000"/>
                          </a:solidFill>
                          <a:effectLst/>
                          <a:latin typeface="標楷體" panose="03000509000000000000" pitchFamily="65" charset="-120"/>
                          <a:ea typeface="標楷體" panose="03000509000000000000" pitchFamily="65" charset="-120"/>
                        </a:rPr>
                        <a:t>小時</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36,000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36,000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nSpc>
                          <a:spcPts val="1400"/>
                        </a:lnSpc>
                        <a:spcBef>
                          <a:spcPts val="50"/>
                        </a:spcBef>
                        <a:buNone/>
                      </a:pPr>
                      <a:r>
                        <a:rPr lang="zh-TW" sz="1300" b="1" kern="100" dirty="0">
                          <a:solidFill>
                            <a:srgbClr val="000000"/>
                          </a:solidFill>
                          <a:effectLst/>
                          <a:latin typeface="標楷體" panose="03000509000000000000" pitchFamily="65" charset="-120"/>
                          <a:ea typeface="標楷體" panose="03000509000000000000" pitchFamily="65" charset="-120"/>
                        </a:rPr>
                        <a:t>和諧粉彩體驗</a:t>
                      </a:r>
                      <a:br>
                        <a:rPr lang="en-US" sz="1300" b="1" kern="100" dirty="0">
                          <a:solidFill>
                            <a:srgbClr val="000000"/>
                          </a:solidFill>
                          <a:effectLst/>
                          <a:latin typeface="標楷體" panose="03000509000000000000" pitchFamily="65" charset="-120"/>
                          <a:ea typeface="標楷體" panose="03000509000000000000" pitchFamily="65" charset="-120"/>
                        </a:rPr>
                      </a:br>
                      <a:r>
                        <a:rPr lang="zh-TW" sz="1300" kern="0" dirty="0">
                          <a:solidFill>
                            <a:srgbClr val="000000"/>
                          </a:solidFill>
                          <a:effectLst/>
                          <a:latin typeface="標楷體" panose="03000509000000000000" pitchFamily="65" charset="-120"/>
                          <a:ea typeface="標楷體" panose="03000509000000000000" pitchFamily="65" charset="-120"/>
                        </a:rPr>
                        <a:t>共</a:t>
                      </a:r>
                      <a:r>
                        <a:rPr lang="en-US" sz="1300" kern="0" dirty="0">
                          <a:solidFill>
                            <a:srgbClr val="000000"/>
                          </a:solidFill>
                          <a:effectLst/>
                          <a:latin typeface="標楷體" panose="03000509000000000000" pitchFamily="65" charset="-120"/>
                          <a:ea typeface="標楷體" panose="03000509000000000000" pitchFamily="65" charset="-120"/>
                        </a:rPr>
                        <a:t>12</a:t>
                      </a:r>
                      <a:r>
                        <a:rPr lang="zh-TW" sz="1300" kern="0" dirty="0">
                          <a:solidFill>
                            <a:srgbClr val="000000"/>
                          </a:solidFill>
                          <a:effectLst/>
                          <a:latin typeface="標楷體" panose="03000509000000000000" pitchFamily="65" charset="-120"/>
                          <a:ea typeface="標楷體" panose="03000509000000000000" pitchFamily="65" charset="-120"/>
                        </a:rPr>
                        <a:t>堂課</a:t>
                      </a:r>
                      <a:r>
                        <a:rPr lang="en-US" sz="1300" kern="0" dirty="0">
                          <a:solidFill>
                            <a:srgbClr val="000000"/>
                          </a:solidFill>
                          <a:effectLst/>
                          <a:latin typeface="標楷體" panose="03000509000000000000" pitchFamily="65" charset="-120"/>
                          <a:ea typeface="標楷體" panose="03000509000000000000" pitchFamily="65" charset="-120"/>
                        </a:rPr>
                        <a:t>36</a:t>
                      </a:r>
                      <a:r>
                        <a:rPr lang="zh-TW" sz="1300" kern="0" dirty="0">
                          <a:solidFill>
                            <a:srgbClr val="000000"/>
                          </a:solidFill>
                          <a:effectLst/>
                          <a:latin typeface="標楷體" panose="03000509000000000000" pitchFamily="65" charset="-120"/>
                          <a:ea typeface="標楷體" panose="03000509000000000000" pitchFamily="65" charset="-120"/>
                        </a:rPr>
                        <a:t>小時，</a:t>
                      </a:r>
                      <a:r>
                        <a:rPr lang="zh-TW" sz="1300" b="1" kern="0" dirty="0">
                          <a:solidFill>
                            <a:srgbClr val="000000"/>
                          </a:solidFill>
                          <a:effectLst/>
                          <a:latin typeface="標楷體" panose="03000509000000000000" pitchFamily="65" charset="-120"/>
                          <a:ea typeface="標楷體" panose="03000509000000000000" pitchFamily="65" charset="-120"/>
                        </a:rPr>
                        <a:t>講師待聘</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4917251"/>
                  </a:ext>
                </a:extLst>
              </a:tr>
              <a:tr h="425869">
                <a:tc>
                  <a:txBody>
                    <a:bodyPr/>
                    <a:lstStyle/>
                    <a:p>
                      <a:pPr>
                        <a:lnSpc>
                          <a:spcPts val="2200"/>
                        </a:lnSpc>
                        <a:buNone/>
                      </a:pPr>
                      <a:r>
                        <a:rPr lang="zh-TW" sz="1600"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內聘</a:t>
                      </a:r>
                      <a:r>
                        <a:rPr lang="en-US" sz="1600" kern="0" spc="-2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講師鐘點費</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dirty="0">
                          <a:solidFill>
                            <a:srgbClr val="000000"/>
                          </a:solidFill>
                          <a:effectLst/>
                          <a:latin typeface="標楷體" panose="03000509000000000000" pitchFamily="65" charset="-120"/>
                          <a:ea typeface="標楷體" panose="03000509000000000000" pitchFamily="65" charset="-120"/>
                        </a:rPr>
                        <a:t>500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6</a:t>
                      </a:r>
                      <a:r>
                        <a:rPr lang="zh-TW" sz="1600" kern="0">
                          <a:solidFill>
                            <a:srgbClr val="000000"/>
                          </a:solidFill>
                          <a:effectLst/>
                          <a:latin typeface="標楷體" panose="03000509000000000000" pitchFamily="65" charset="-120"/>
                          <a:ea typeface="標楷體" panose="03000509000000000000" pitchFamily="65" charset="-120"/>
                        </a:rPr>
                        <a:t>小時</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3,000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3,000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nSpc>
                          <a:spcPts val="1400"/>
                        </a:lnSpc>
                        <a:spcBef>
                          <a:spcPts val="50"/>
                        </a:spcBef>
                        <a:buNone/>
                      </a:pPr>
                      <a:r>
                        <a:rPr lang="zh-TW" sz="1300" b="1" kern="100">
                          <a:solidFill>
                            <a:srgbClr val="000000"/>
                          </a:solidFill>
                          <a:effectLst/>
                          <a:latin typeface="標楷體" panose="03000509000000000000" pitchFamily="65" charset="-120"/>
                          <a:ea typeface="標楷體" panose="03000509000000000000" pitchFamily="65" charset="-120"/>
                        </a:rPr>
                        <a:t>製作艾草按摩棒</a:t>
                      </a:r>
                      <a:br>
                        <a:rPr lang="en-US" sz="1300" b="1" kern="100">
                          <a:solidFill>
                            <a:srgbClr val="000000"/>
                          </a:solidFill>
                          <a:effectLst/>
                          <a:latin typeface="標楷體" panose="03000509000000000000" pitchFamily="65" charset="-120"/>
                          <a:ea typeface="標楷體" panose="03000509000000000000" pitchFamily="65" charset="-120"/>
                        </a:rPr>
                      </a:br>
                      <a:r>
                        <a:rPr lang="zh-TW" sz="1300" kern="0">
                          <a:solidFill>
                            <a:srgbClr val="000000"/>
                          </a:solidFill>
                          <a:effectLst/>
                          <a:latin typeface="標楷體" panose="03000509000000000000" pitchFamily="65" charset="-120"/>
                          <a:ea typeface="標楷體" panose="03000509000000000000" pitchFamily="65" charset="-120"/>
                        </a:rPr>
                        <a:t>共</a:t>
                      </a:r>
                      <a:r>
                        <a:rPr lang="en-US" sz="1300" kern="0">
                          <a:solidFill>
                            <a:srgbClr val="000000"/>
                          </a:solidFill>
                          <a:effectLst/>
                          <a:latin typeface="標楷體" panose="03000509000000000000" pitchFamily="65" charset="-120"/>
                          <a:ea typeface="標楷體" panose="03000509000000000000" pitchFamily="65" charset="-120"/>
                        </a:rPr>
                        <a:t>3</a:t>
                      </a:r>
                      <a:r>
                        <a:rPr lang="zh-TW" sz="1300" kern="0">
                          <a:solidFill>
                            <a:srgbClr val="000000"/>
                          </a:solidFill>
                          <a:effectLst/>
                          <a:latin typeface="標楷體" panose="03000509000000000000" pitchFamily="65" charset="-120"/>
                          <a:ea typeface="標楷體" panose="03000509000000000000" pitchFamily="65" charset="-120"/>
                        </a:rPr>
                        <a:t>堂課</a:t>
                      </a:r>
                      <a:r>
                        <a:rPr lang="en-US" sz="1300" kern="0">
                          <a:solidFill>
                            <a:srgbClr val="000000"/>
                          </a:solidFill>
                          <a:effectLst/>
                          <a:latin typeface="標楷體" panose="03000509000000000000" pitchFamily="65" charset="-120"/>
                          <a:ea typeface="標楷體" panose="03000509000000000000" pitchFamily="65" charset="-120"/>
                        </a:rPr>
                        <a:t>6</a:t>
                      </a:r>
                      <a:r>
                        <a:rPr lang="zh-TW" sz="1300" kern="0">
                          <a:solidFill>
                            <a:srgbClr val="000000"/>
                          </a:solidFill>
                          <a:effectLst/>
                          <a:latin typeface="標楷體" panose="03000509000000000000" pitchFamily="65" charset="-120"/>
                          <a:ea typeface="標楷體" panose="03000509000000000000" pitchFamily="65" charset="-120"/>
                        </a:rPr>
                        <a:t>小時，</a:t>
                      </a:r>
                      <a:r>
                        <a:rPr lang="zh-TW" sz="1300" b="1" kern="0">
                          <a:solidFill>
                            <a:srgbClr val="000000"/>
                          </a:solidFill>
                          <a:effectLst/>
                          <a:latin typeface="標楷體" panose="03000509000000000000" pitchFamily="65" charset="-120"/>
                          <a:ea typeface="標楷體" panose="03000509000000000000" pitchFamily="65" charset="-120"/>
                        </a:rPr>
                        <a:t>講師待聘</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19285503"/>
                  </a:ext>
                </a:extLst>
              </a:tr>
              <a:tr h="425869">
                <a:tc>
                  <a:txBody>
                    <a:bodyPr/>
                    <a:lstStyle/>
                    <a:p>
                      <a:pPr marL="15240" algn="just">
                        <a:lnSpc>
                          <a:spcPts val="2200"/>
                        </a:lnSpc>
                        <a:buNone/>
                      </a:pPr>
                      <a:r>
                        <a:rPr lang="en-US" sz="1600" b="1"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a:t>
                      </a:r>
                      <a:r>
                        <a:rPr lang="zh-TW" sz="1600" b="1"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膳費</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L="1211580" marR="86995" algn="r">
                        <a:lnSpc>
                          <a:spcPts val="2200"/>
                        </a:lnSpc>
                        <a:buNone/>
                      </a:pPr>
                      <a:r>
                        <a:rPr lang="en-US" sz="1600" b="1" kern="0" dirty="0">
                          <a:solidFill>
                            <a:srgbClr val="000000"/>
                          </a:solidFill>
                          <a:effectLst/>
                          <a:latin typeface="標楷體" panose="03000509000000000000" pitchFamily="65" charset="-120"/>
                          <a:ea typeface="標楷體" panose="03000509000000000000" pitchFamily="65" charset="-120"/>
                        </a:rPr>
                        <a:t>7,500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b="1" kern="0" dirty="0">
                          <a:solidFill>
                            <a:srgbClr val="000000"/>
                          </a:solidFill>
                          <a:effectLst/>
                          <a:latin typeface="標楷體" panose="03000509000000000000" pitchFamily="65" charset="-120"/>
                          <a:ea typeface="標楷體" panose="03000509000000000000" pitchFamily="65" charset="-120"/>
                        </a:rPr>
                        <a:t>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69240" marR="91440" algn="r">
                        <a:lnSpc>
                          <a:spcPts val="2200"/>
                        </a:lnSpc>
                        <a:buNone/>
                      </a:pPr>
                      <a:r>
                        <a:rPr lang="en-US" sz="1600" b="1" kern="0">
                          <a:solidFill>
                            <a:srgbClr val="000000"/>
                          </a:solidFill>
                          <a:effectLst/>
                          <a:latin typeface="標楷體" panose="03000509000000000000" pitchFamily="65" charset="-120"/>
                          <a:ea typeface="標楷體" panose="03000509000000000000" pitchFamily="65" charset="-120"/>
                        </a:rPr>
                        <a:t>7,500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2065">
                        <a:lnSpc>
                          <a:spcPts val="1400"/>
                        </a:lnSpc>
                        <a:buNone/>
                      </a:pPr>
                      <a:r>
                        <a:rPr lang="en-US" sz="1300" kern="0">
                          <a:solidFill>
                            <a:srgbClr val="000000"/>
                          </a:solidFill>
                          <a:effectLst/>
                          <a:latin typeface="標楷體" panose="03000509000000000000" pitchFamily="65" charset="-120"/>
                          <a:ea typeface="標楷體" panose="03000509000000000000" pitchFamily="65" charset="-120"/>
                        </a:rPr>
                        <a:t> </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9348789"/>
                  </a:ext>
                </a:extLst>
              </a:tr>
              <a:tr h="175647">
                <a:tc>
                  <a:txBody>
                    <a:bodyPr/>
                    <a:lstStyle/>
                    <a:p>
                      <a:pPr algn="ctr">
                        <a:lnSpc>
                          <a:spcPts val="2200"/>
                        </a:lnSpc>
                        <a:buNone/>
                      </a:pPr>
                      <a:r>
                        <a:rPr lang="zh-TW"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便當</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1600" algn="ctr">
                        <a:lnSpc>
                          <a:spcPts val="2200"/>
                        </a:lnSpc>
                        <a:buNone/>
                      </a:pPr>
                      <a:r>
                        <a:rPr lang="en-US" sz="16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75</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tcPr>
                </a:tc>
                <a:tc>
                  <a:txBody>
                    <a:bodyPr/>
                    <a:lstStyle/>
                    <a:p>
                      <a:pPr marR="91440" algn="r">
                        <a:lnSpc>
                          <a:spcPts val="2200"/>
                        </a:lnSpc>
                        <a:buNone/>
                      </a:pPr>
                      <a:r>
                        <a:rPr lang="en-US" sz="1600"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7,5</a:t>
                      </a: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tc>
                <a:tc>
                  <a:txBody>
                    <a:bodyPr/>
                    <a:lstStyle/>
                    <a:p>
                      <a:pPr marL="361950" marR="91440" algn="ctr">
                        <a:lnSpc>
                          <a:spcPts val="2200"/>
                        </a:lnSpc>
                        <a:buNone/>
                      </a:pPr>
                      <a:r>
                        <a:rPr lang="en-US" sz="1600" kern="0" spc="-9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1800"/>
                        </a:lnSpc>
                        <a:buNone/>
                      </a:pPr>
                      <a:r>
                        <a:rPr lang="en-US" sz="1600"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7,500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795" algn="just">
                        <a:lnSpc>
                          <a:spcPts val="1400"/>
                        </a:lnSpc>
                        <a:buNone/>
                      </a:pPr>
                      <a:r>
                        <a:rPr lang="zh-TW" sz="1200" kern="100">
                          <a:solidFill>
                            <a:srgbClr val="000000"/>
                          </a:solidFill>
                          <a:effectLst/>
                          <a:latin typeface="標楷體" panose="03000509000000000000" pitchFamily="65" charset="-120"/>
                          <a:ea typeface="標楷體" panose="03000509000000000000" pitchFamily="65" charset="-120"/>
                        </a:rPr>
                        <a:t>成果同樂會，預計</a:t>
                      </a:r>
                      <a:r>
                        <a:rPr lang="en-US" sz="1200" kern="100">
                          <a:solidFill>
                            <a:srgbClr val="000000"/>
                          </a:solidFill>
                          <a:effectLst/>
                          <a:latin typeface="標楷體" panose="03000509000000000000" pitchFamily="65" charset="-120"/>
                          <a:ea typeface="標楷體" panose="03000509000000000000" pitchFamily="65" charset="-120"/>
                        </a:rPr>
                        <a:t>75</a:t>
                      </a:r>
                      <a:r>
                        <a:rPr lang="zh-TW" sz="1200" kern="100">
                          <a:solidFill>
                            <a:srgbClr val="000000"/>
                          </a:solidFill>
                          <a:effectLst/>
                          <a:latin typeface="標楷體" panose="03000509000000000000" pitchFamily="65" charset="-120"/>
                          <a:ea typeface="標楷體" panose="03000509000000000000" pitchFamily="65" charset="-120"/>
                        </a:rPr>
                        <a:t>人</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9106477"/>
                  </a:ext>
                </a:extLst>
              </a:tr>
              <a:tr h="0">
                <a:tc>
                  <a:txBody>
                    <a:bodyPr/>
                    <a:lstStyle/>
                    <a:p>
                      <a:pPr marL="15240" algn="just">
                        <a:lnSpc>
                          <a:spcPts val="2200"/>
                        </a:lnSpc>
                        <a:buNone/>
                      </a:pPr>
                      <a:r>
                        <a:rPr lang="en-US" sz="16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3.</a:t>
                      </a:r>
                      <a:r>
                        <a:rPr lang="zh-TW"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材料</a:t>
                      </a:r>
                      <a:r>
                        <a:rPr lang="en-US"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91440" algn="r">
                        <a:lnSpc>
                          <a:spcPts val="2200"/>
                        </a:lnSpc>
                        <a:buNone/>
                      </a:pPr>
                      <a:r>
                        <a:rPr lang="en-US"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38,000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170" algn="r">
                        <a:lnSpc>
                          <a:spcPts val="2200"/>
                        </a:lnSpc>
                        <a:buNone/>
                      </a:pPr>
                      <a:r>
                        <a:rPr lang="en-US" sz="1600" b="1" kern="0" spc="-9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69240" marR="91440" algn="r">
                        <a:lnSpc>
                          <a:spcPts val="2200"/>
                        </a:lnSpc>
                        <a:buNone/>
                      </a:pPr>
                      <a:r>
                        <a:rPr lang="en-US" sz="16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38,000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400"/>
                        </a:lnSpc>
                        <a:buNone/>
                      </a:pPr>
                      <a:r>
                        <a:rPr lang="zh-TW" sz="1300" kern="0">
                          <a:solidFill>
                            <a:srgbClr val="000000"/>
                          </a:solidFill>
                          <a:effectLst/>
                          <a:latin typeface="標楷體" panose="03000509000000000000" pitchFamily="65" charset="-120"/>
                          <a:ea typeface="標楷體" panose="03000509000000000000" pitchFamily="65" charset="-120"/>
                        </a:rPr>
                        <a:t>課程使用</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0782134"/>
                  </a:ext>
                </a:extLst>
              </a:tr>
              <a:tr h="428519">
                <a:tc>
                  <a:txBody>
                    <a:bodyPr/>
                    <a:lstStyle/>
                    <a:p>
                      <a:pPr algn="ctr">
                        <a:lnSpc>
                          <a:spcPts val="2200"/>
                        </a:lnSpc>
                        <a:buNone/>
                      </a:pPr>
                      <a:r>
                        <a:rPr lang="zh-TW" sz="1600" kern="100">
                          <a:solidFill>
                            <a:srgbClr val="000000"/>
                          </a:solidFill>
                          <a:effectLst/>
                          <a:latin typeface="標楷體" panose="03000509000000000000" pitchFamily="65" charset="-120"/>
                          <a:ea typeface="標楷體" panose="03000509000000000000" pitchFamily="65" charset="-120"/>
                        </a:rPr>
                        <a:t>生命繪本材料</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5,000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7640" algn="ct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3</a:t>
                      </a:r>
                      <a:r>
                        <a:rPr lang="zh-TW" sz="1600" kern="100" dirty="0">
                          <a:solidFill>
                            <a:srgbClr val="000000"/>
                          </a:solidFill>
                          <a:effectLst/>
                          <a:latin typeface="標楷體" panose="03000509000000000000" pitchFamily="65" charset="-120"/>
                          <a:ea typeface="標楷體" panose="03000509000000000000" pitchFamily="65" charset="-120"/>
                        </a:rPr>
                        <a:t>社區</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15,000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17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15,000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400"/>
                        </a:lnSpc>
                        <a:buNone/>
                      </a:pPr>
                      <a:r>
                        <a:rPr lang="en-US" sz="1300" kern="0" dirty="0">
                          <a:solidFill>
                            <a:srgbClr val="000000"/>
                          </a:solidFill>
                          <a:effectLst/>
                          <a:latin typeface="標楷體" panose="03000509000000000000" pitchFamily="65" charset="-120"/>
                          <a:ea typeface="標楷體" panose="03000509000000000000" pitchFamily="65" charset="-120"/>
                        </a:rPr>
                        <a:t>3</a:t>
                      </a:r>
                      <a:r>
                        <a:rPr lang="zh-TW" sz="1300" kern="0" dirty="0">
                          <a:solidFill>
                            <a:srgbClr val="000000"/>
                          </a:solidFill>
                          <a:effectLst/>
                          <a:latin typeface="標楷體" panose="03000509000000000000" pitchFamily="65" charset="-120"/>
                          <a:ea typeface="標楷體" panose="03000509000000000000" pitchFamily="65" charset="-120"/>
                        </a:rPr>
                        <a:t>社區</a:t>
                      </a:r>
                      <a:endParaRPr lang="zh-TW" sz="1200" kern="100" dirty="0">
                        <a:solidFill>
                          <a:srgbClr val="000000"/>
                        </a:solidFill>
                        <a:effectLst/>
                        <a:latin typeface="標楷體" panose="03000509000000000000" pitchFamily="65" charset="-120"/>
                        <a:ea typeface="標楷體" panose="03000509000000000000" pitchFamily="65" charset="-120"/>
                      </a:endParaRPr>
                    </a:p>
                    <a:p>
                      <a:pPr>
                        <a:lnSpc>
                          <a:spcPts val="1400"/>
                        </a:lnSpc>
                        <a:buNone/>
                      </a:pPr>
                      <a:r>
                        <a:rPr lang="zh-TW" sz="1300" kern="0" dirty="0">
                          <a:solidFill>
                            <a:srgbClr val="000000"/>
                          </a:solidFill>
                          <a:effectLst/>
                          <a:latin typeface="標楷體" panose="03000509000000000000" pitchFamily="65" charset="-120"/>
                          <a:ea typeface="標楷體" panose="03000509000000000000" pitchFamily="65" charset="-120"/>
                        </a:rPr>
                        <a:t>製本紙材、封面、裝訂、彩色筆、筆形橡皮擦、一般橡皮擦、紙膠帶、色鉛筆、細字簽字筆</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4186720"/>
                  </a:ext>
                </a:extLst>
              </a:tr>
              <a:tr h="263471">
                <a:tc>
                  <a:txBody>
                    <a:bodyPr/>
                    <a:lstStyle/>
                    <a:p>
                      <a:pPr algn="ctr">
                        <a:lnSpc>
                          <a:spcPts val="2200"/>
                        </a:lnSpc>
                        <a:buNone/>
                      </a:pPr>
                      <a:r>
                        <a:rPr lang="zh-TW" sz="1600" kern="100">
                          <a:solidFill>
                            <a:srgbClr val="000000"/>
                          </a:solidFill>
                          <a:effectLst/>
                          <a:latin typeface="標楷體" panose="03000509000000000000" pitchFamily="65" charset="-120"/>
                          <a:ea typeface="標楷體" panose="03000509000000000000" pitchFamily="65" charset="-120"/>
                        </a:rPr>
                        <a:t>和諧粉彩材料</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5,000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7640" algn="ct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3</a:t>
                      </a:r>
                      <a:r>
                        <a:rPr lang="zh-TW" sz="1600" kern="100" dirty="0">
                          <a:solidFill>
                            <a:srgbClr val="000000"/>
                          </a:solidFill>
                          <a:effectLst/>
                          <a:latin typeface="標楷體" panose="03000509000000000000" pitchFamily="65" charset="-120"/>
                          <a:ea typeface="標楷體" panose="03000509000000000000" pitchFamily="65" charset="-120"/>
                        </a:rPr>
                        <a:t>社區</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15,000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805"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15,000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400"/>
                        </a:lnSpc>
                        <a:buNone/>
                      </a:pPr>
                      <a:r>
                        <a:rPr lang="en-US" sz="1300" kern="0" dirty="0">
                          <a:solidFill>
                            <a:srgbClr val="000000"/>
                          </a:solidFill>
                          <a:effectLst/>
                          <a:latin typeface="標楷體" panose="03000509000000000000" pitchFamily="65" charset="-120"/>
                          <a:ea typeface="標楷體" panose="03000509000000000000" pitchFamily="65" charset="-120"/>
                        </a:rPr>
                        <a:t>3</a:t>
                      </a:r>
                      <a:r>
                        <a:rPr lang="zh-TW" sz="1300" kern="0" dirty="0">
                          <a:solidFill>
                            <a:srgbClr val="000000"/>
                          </a:solidFill>
                          <a:effectLst/>
                          <a:latin typeface="標楷體" panose="03000509000000000000" pitchFamily="65" charset="-120"/>
                          <a:ea typeface="標楷體" panose="03000509000000000000" pitchFamily="65" charset="-120"/>
                        </a:rPr>
                        <a:t>社區</a:t>
                      </a:r>
                      <a:r>
                        <a:rPr lang="en-US" altLang="zh-TW" sz="1200" kern="100" dirty="0">
                          <a:solidFill>
                            <a:srgbClr val="000000"/>
                          </a:solidFill>
                          <a:effectLst/>
                          <a:latin typeface="標楷體" panose="03000509000000000000" pitchFamily="65" charset="-120"/>
                          <a:ea typeface="標楷體" panose="03000509000000000000" pitchFamily="65" charset="-120"/>
                        </a:rPr>
                        <a:t>  </a:t>
                      </a:r>
                      <a:r>
                        <a:rPr lang="zh-TW" sz="1300" kern="0" dirty="0">
                          <a:solidFill>
                            <a:srgbClr val="000000"/>
                          </a:solidFill>
                          <a:effectLst/>
                          <a:latin typeface="標楷體" panose="03000509000000000000" pitchFamily="65" charset="-120"/>
                          <a:ea typeface="標楷體" panose="03000509000000000000" pitchFamily="65" charset="-120"/>
                        </a:rPr>
                        <a:t>粉彩、畫紙、上固定液、粉彩專用紙</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6767811"/>
                  </a:ext>
                </a:extLst>
              </a:tr>
              <a:tr h="397184">
                <a:tc>
                  <a:txBody>
                    <a:bodyPr/>
                    <a:lstStyle/>
                    <a:p>
                      <a:pPr algn="ctr">
                        <a:lnSpc>
                          <a:spcPts val="2200"/>
                        </a:lnSpc>
                        <a:buNone/>
                      </a:pPr>
                      <a:r>
                        <a:rPr lang="zh-TW" sz="1600" kern="10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艾草按摩棒</a:t>
                      </a:r>
                      <a:r>
                        <a:rPr lang="zh-TW" sz="1600" kern="100">
                          <a:solidFill>
                            <a:srgbClr val="000000"/>
                          </a:solidFill>
                          <a:effectLst/>
                          <a:latin typeface="標楷體" panose="03000509000000000000" pitchFamily="65" charset="-120"/>
                          <a:ea typeface="標楷體" panose="03000509000000000000" pitchFamily="65" charset="-120"/>
                        </a:rPr>
                        <a:t>材料</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100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7640"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80</a:t>
                      </a:r>
                      <a:r>
                        <a:rPr lang="zh-TW" sz="1600" kern="100">
                          <a:solidFill>
                            <a:srgbClr val="000000"/>
                          </a:solidFill>
                          <a:effectLst/>
                          <a:latin typeface="標楷體" panose="03000509000000000000" pitchFamily="65" charset="-120"/>
                          <a:ea typeface="標楷體" panose="03000509000000000000" pitchFamily="65" charset="-120"/>
                        </a:rPr>
                        <a:t>人</a:t>
                      </a:r>
                    </a:p>
                  </a:txBody>
                  <a:tcPr marL="0" marR="0" marT="0" marB="0" anchor="ct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a:txBody>
                    <a:bodyPr/>
                    <a:lstStyle/>
                    <a:p>
                      <a:pPr marR="91440" algn="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8,000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T w="12700" cap="flat" cmpd="sng" algn="ctr">
                      <a:solidFill>
                        <a:srgbClr val="000000"/>
                      </a:solidFill>
                      <a:prstDash val="solid"/>
                      <a:round/>
                      <a:headEnd type="none" w="med" len="med"/>
                      <a:tailEnd type="none" w="med" len="med"/>
                    </a:lnT>
                  </a:tcPr>
                </a:tc>
                <a:tc>
                  <a:txBody>
                    <a:bodyPr/>
                    <a:lstStyle/>
                    <a:p>
                      <a:pPr marR="90805"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8,000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400"/>
                        </a:lnSpc>
                        <a:buNone/>
                      </a:pPr>
                      <a:r>
                        <a:rPr lang="en-US" sz="1300" kern="0" dirty="0">
                          <a:solidFill>
                            <a:srgbClr val="000000"/>
                          </a:solidFill>
                          <a:effectLst/>
                          <a:latin typeface="標楷體" panose="03000509000000000000" pitchFamily="65" charset="-120"/>
                          <a:ea typeface="標楷體" panose="03000509000000000000" pitchFamily="65" charset="-120"/>
                        </a:rPr>
                        <a:t>3</a:t>
                      </a:r>
                      <a:r>
                        <a:rPr lang="zh-TW" sz="1300" kern="0" dirty="0">
                          <a:solidFill>
                            <a:srgbClr val="000000"/>
                          </a:solidFill>
                          <a:effectLst/>
                          <a:latin typeface="標楷體" panose="03000509000000000000" pitchFamily="65" charset="-120"/>
                          <a:ea typeface="標楷體" panose="03000509000000000000" pitchFamily="65" charset="-120"/>
                        </a:rPr>
                        <a:t>社區</a:t>
                      </a:r>
                      <a:endParaRPr lang="zh-TW" sz="1200" kern="100" dirty="0">
                        <a:solidFill>
                          <a:srgbClr val="000000"/>
                        </a:solidFill>
                        <a:effectLst/>
                        <a:latin typeface="標楷體" panose="03000509000000000000" pitchFamily="65" charset="-120"/>
                        <a:ea typeface="標楷體" panose="03000509000000000000" pitchFamily="65" charset="-120"/>
                      </a:endParaRPr>
                    </a:p>
                    <a:p>
                      <a:pPr>
                        <a:lnSpc>
                          <a:spcPts val="1400"/>
                        </a:lnSpc>
                        <a:buNone/>
                      </a:pPr>
                      <a:r>
                        <a:rPr lang="zh-TW" sz="1300" kern="0" dirty="0">
                          <a:solidFill>
                            <a:srgbClr val="000000"/>
                          </a:solidFill>
                          <a:effectLst/>
                          <a:latin typeface="標楷體" panose="03000509000000000000" pitchFamily="65" charset="-120"/>
                          <a:ea typeface="標楷體" panose="03000509000000000000" pitchFamily="65" charset="-120"/>
                        </a:rPr>
                        <a:t>艾草、布料、棉繩、填充物</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1443162"/>
                  </a:ext>
                </a:extLst>
              </a:tr>
              <a:tr h="180568">
                <a:tc>
                  <a:txBody>
                    <a:bodyPr/>
                    <a:lstStyle/>
                    <a:p>
                      <a:pPr>
                        <a:lnSpc>
                          <a:spcPts val="2200"/>
                        </a:lnSpc>
                        <a:buNone/>
                      </a:pPr>
                      <a:r>
                        <a:rPr lang="en-US" sz="1600" b="1" kern="10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4.</a:t>
                      </a:r>
                      <a:r>
                        <a:rPr lang="zh-TW" sz="1600" b="1" kern="10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布置費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91440" algn="r">
                        <a:lnSpc>
                          <a:spcPts val="2200"/>
                        </a:lnSpc>
                        <a:buNone/>
                      </a:pPr>
                      <a:r>
                        <a:rPr lang="en-US" sz="1600" b="1" kern="100" dirty="0">
                          <a:solidFill>
                            <a:srgbClr val="000000"/>
                          </a:solidFill>
                          <a:effectLst/>
                          <a:latin typeface="標楷體" panose="03000509000000000000" pitchFamily="65" charset="-120"/>
                          <a:ea typeface="標楷體" panose="03000509000000000000" pitchFamily="65" charset="-120"/>
                        </a:rPr>
                        <a:t>4,000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805" algn="r">
                        <a:lnSpc>
                          <a:spcPts val="2200"/>
                        </a:lnSpc>
                        <a:buNone/>
                      </a:pPr>
                      <a:r>
                        <a:rPr lang="en-US" sz="1600" b="1" kern="10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b="1" kern="100">
                          <a:solidFill>
                            <a:srgbClr val="000000"/>
                          </a:solidFill>
                          <a:effectLst/>
                          <a:latin typeface="標楷體" panose="03000509000000000000" pitchFamily="65" charset="-120"/>
                          <a:ea typeface="標楷體" panose="03000509000000000000" pitchFamily="65" charset="-120"/>
                        </a:rPr>
                        <a:t>4,000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400"/>
                        </a:lnSpc>
                        <a:buNone/>
                      </a:pPr>
                      <a:r>
                        <a:rPr lang="en-US" sz="1300" kern="0">
                          <a:solidFill>
                            <a:srgbClr val="000000"/>
                          </a:solidFill>
                          <a:effectLst/>
                          <a:latin typeface="標楷體" panose="03000509000000000000" pitchFamily="65" charset="-120"/>
                          <a:ea typeface="標楷體" panose="03000509000000000000" pitchFamily="65" charset="-120"/>
                        </a:rPr>
                        <a:t> </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9093993"/>
                  </a:ext>
                </a:extLst>
              </a:tr>
              <a:tr h="180568">
                <a:tc>
                  <a:txBody>
                    <a:bodyPr/>
                    <a:lstStyle/>
                    <a:p>
                      <a:pPr>
                        <a:lnSpc>
                          <a:spcPts val="2200"/>
                        </a:lnSpc>
                        <a:buNone/>
                      </a:pPr>
                      <a:r>
                        <a:rPr lang="zh-TW" sz="1600" kern="10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布置費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4,000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7640"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1</a:t>
                      </a:r>
                      <a:r>
                        <a:rPr lang="zh-TW" sz="1600" kern="100">
                          <a:solidFill>
                            <a:srgbClr val="000000"/>
                          </a:solidFill>
                          <a:effectLst/>
                          <a:latin typeface="標楷體" panose="03000509000000000000" pitchFamily="65" charset="-120"/>
                          <a:ea typeface="標楷體" panose="03000509000000000000" pitchFamily="65" charset="-120"/>
                        </a:rPr>
                        <a:t>場</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4,000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805"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4,000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400"/>
                        </a:lnSpc>
                        <a:buNone/>
                      </a:pPr>
                      <a:r>
                        <a:rPr lang="zh-TW" sz="1300" kern="0" dirty="0">
                          <a:solidFill>
                            <a:srgbClr val="000000"/>
                          </a:solidFill>
                          <a:effectLst/>
                          <a:latin typeface="標楷體" panose="03000509000000000000" pitchFamily="65" charset="-120"/>
                          <a:ea typeface="標楷體" panose="03000509000000000000" pitchFamily="65" charset="-120"/>
                        </a:rPr>
                        <a:t>成果同樂會布置用</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4648810"/>
                  </a:ext>
                </a:extLst>
              </a:tr>
              <a:tr h="161262">
                <a:tc>
                  <a:txBody>
                    <a:bodyPr/>
                    <a:lstStyle/>
                    <a:p>
                      <a:pPr>
                        <a:lnSpc>
                          <a:spcPts val="2200"/>
                        </a:lnSpc>
                        <a:buNone/>
                      </a:pPr>
                      <a:r>
                        <a:rPr lang="en-US" sz="1600" b="1" kern="100">
                          <a:solidFill>
                            <a:srgbClr val="000000"/>
                          </a:solidFill>
                          <a:effectLst/>
                          <a:latin typeface="標楷體" panose="03000509000000000000" pitchFamily="65" charset="-120"/>
                          <a:ea typeface="標楷體" panose="03000509000000000000" pitchFamily="65" charset="-120"/>
                        </a:rPr>
                        <a:t>5.</a:t>
                      </a:r>
                      <a:r>
                        <a:rPr lang="zh-TW" sz="1600" b="1" kern="100">
                          <a:solidFill>
                            <a:srgbClr val="000000"/>
                          </a:solidFill>
                          <a:effectLst/>
                          <a:latin typeface="標楷體" panose="03000509000000000000" pitchFamily="65" charset="-120"/>
                          <a:ea typeface="標楷體" panose="03000509000000000000" pitchFamily="65" charset="-120"/>
                        </a:rPr>
                        <a:t>茶水費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91440" algn="r">
                        <a:lnSpc>
                          <a:spcPts val="2200"/>
                        </a:lnSpc>
                        <a:buNone/>
                      </a:pPr>
                      <a:r>
                        <a:rPr lang="en-US" sz="1600" b="1" kern="100">
                          <a:solidFill>
                            <a:srgbClr val="000000"/>
                          </a:solidFill>
                          <a:effectLst/>
                          <a:latin typeface="標楷體" panose="03000509000000000000" pitchFamily="65" charset="-120"/>
                          <a:ea typeface="標楷體" panose="03000509000000000000" pitchFamily="65" charset="-120"/>
                        </a:rPr>
                        <a:t>1,500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90805" algn="r">
                        <a:lnSpc>
                          <a:spcPts val="2200"/>
                        </a:lnSpc>
                        <a:buNone/>
                      </a:pPr>
                      <a:r>
                        <a:rPr lang="en-US" sz="1600" b="1" kern="100" dirty="0">
                          <a:solidFill>
                            <a:srgbClr val="000000"/>
                          </a:solidFill>
                          <a:effectLst/>
                          <a:latin typeface="標楷體" panose="03000509000000000000" pitchFamily="65" charset="-120"/>
                          <a:ea typeface="標楷體" panose="03000509000000000000" pitchFamily="65" charset="-120"/>
                        </a:rPr>
                        <a:t>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b="1" kern="100">
                          <a:solidFill>
                            <a:srgbClr val="000000"/>
                          </a:solidFill>
                          <a:effectLst/>
                          <a:latin typeface="標楷體" panose="03000509000000000000" pitchFamily="65" charset="-120"/>
                          <a:ea typeface="標楷體" panose="03000509000000000000" pitchFamily="65" charset="-120"/>
                        </a:rPr>
                        <a:t>1,500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400"/>
                        </a:lnSpc>
                        <a:buNone/>
                      </a:pPr>
                      <a:r>
                        <a:rPr lang="en-US" sz="1300" kern="0">
                          <a:solidFill>
                            <a:srgbClr val="000000"/>
                          </a:solidFill>
                          <a:effectLst/>
                          <a:latin typeface="標楷體" panose="03000509000000000000" pitchFamily="65" charset="-120"/>
                          <a:ea typeface="標楷體" panose="03000509000000000000" pitchFamily="65" charset="-120"/>
                        </a:rPr>
                        <a:t> </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39642"/>
                  </a:ext>
                </a:extLst>
              </a:tr>
              <a:tr h="158234">
                <a:tc>
                  <a:txBody>
                    <a:bodyPr/>
                    <a:lstStyle/>
                    <a:p>
                      <a:pPr algn="ctr">
                        <a:lnSpc>
                          <a:spcPts val="2200"/>
                        </a:lnSpc>
                        <a:buNone/>
                      </a:pPr>
                      <a:r>
                        <a:rPr lang="zh-TW" sz="1600" kern="10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茶水費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20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7640"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75</a:t>
                      </a:r>
                      <a:r>
                        <a:rPr lang="zh-TW" sz="1600" kern="100">
                          <a:solidFill>
                            <a:srgbClr val="000000"/>
                          </a:solidFill>
                          <a:effectLst/>
                          <a:latin typeface="標楷體" panose="03000509000000000000" pitchFamily="65" charset="-120"/>
                          <a:ea typeface="標楷體" panose="03000509000000000000" pitchFamily="65" charset="-120"/>
                        </a:rPr>
                        <a:t>人</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1,500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805" algn="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1,500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400"/>
                        </a:lnSpc>
                        <a:buNone/>
                      </a:pPr>
                      <a:r>
                        <a:rPr lang="zh-TW" sz="1300" kern="0" dirty="0">
                          <a:solidFill>
                            <a:srgbClr val="000000"/>
                          </a:solidFill>
                          <a:effectLst/>
                          <a:latin typeface="標楷體" panose="03000509000000000000" pitchFamily="65" charset="-120"/>
                          <a:ea typeface="標楷體" panose="03000509000000000000" pitchFamily="65" charset="-120"/>
                        </a:rPr>
                        <a:t>成果同樂會，預計</a:t>
                      </a:r>
                      <a:r>
                        <a:rPr lang="en-US" sz="1300" kern="0" dirty="0">
                          <a:solidFill>
                            <a:srgbClr val="000000"/>
                          </a:solidFill>
                          <a:effectLst/>
                          <a:latin typeface="標楷體" panose="03000509000000000000" pitchFamily="65" charset="-120"/>
                          <a:ea typeface="標楷體" panose="03000509000000000000" pitchFamily="65" charset="-120"/>
                        </a:rPr>
                        <a:t>75</a:t>
                      </a:r>
                      <a:r>
                        <a:rPr lang="zh-TW" sz="1300" kern="0" dirty="0">
                          <a:solidFill>
                            <a:srgbClr val="000000"/>
                          </a:solidFill>
                          <a:effectLst/>
                          <a:latin typeface="標楷體" panose="03000509000000000000" pitchFamily="65" charset="-120"/>
                          <a:ea typeface="標楷體" panose="03000509000000000000" pitchFamily="65" charset="-120"/>
                        </a:rPr>
                        <a:t>人</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8217839"/>
                  </a:ext>
                </a:extLst>
              </a:tr>
              <a:tr h="180568">
                <a:tc gridSpan="3">
                  <a:txBody>
                    <a:bodyPr/>
                    <a:lstStyle/>
                    <a:p>
                      <a:pPr marL="243840" algn="ctr">
                        <a:lnSpc>
                          <a:spcPts val="2200"/>
                        </a:lnSpc>
                        <a:buNone/>
                      </a:pPr>
                      <a:r>
                        <a:rPr lang="zh-TW" sz="16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總</a:t>
                      </a:r>
                      <a:r>
                        <a:rPr lang="en-US" sz="16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  </a:t>
                      </a:r>
                      <a:r>
                        <a:rPr lang="zh-TW" sz="16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計</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91440" algn="r">
                        <a:lnSpc>
                          <a:spcPts val="2200"/>
                        </a:lnSpc>
                        <a:buNone/>
                      </a:pPr>
                      <a:r>
                        <a:rPr lang="en-US"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126,000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2200"/>
                        </a:lnSpc>
                        <a:buNone/>
                      </a:pPr>
                      <a:r>
                        <a:rPr lang="en-US" sz="1600" b="1" kern="100" dirty="0">
                          <a:solidFill>
                            <a:srgbClr val="000000"/>
                          </a:solidFill>
                          <a:effectLst/>
                          <a:latin typeface="標楷體" panose="03000509000000000000" pitchFamily="65" charset="-120"/>
                          <a:ea typeface="標楷體" panose="03000509000000000000" pitchFamily="65" charset="-120"/>
                        </a:rPr>
                        <a:t>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126,000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400"/>
                        </a:lnSpc>
                        <a:buNone/>
                      </a:pPr>
                      <a:r>
                        <a:rPr lang="en-US" sz="1300" kern="0" dirty="0">
                          <a:solidFill>
                            <a:srgbClr val="000000"/>
                          </a:solidFill>
                          <a:effectLst/>
                          <a:latin typeface="標楷體" panose="03000509000000000000" pitchFamily="65" charset="-120"/>
                          <a:ea typeface="標楷體" panose="03000509000000000000" pitchFamily="65" charset="-120"/>
                        </a:rPr>
                        <a:t> </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875629"/>
                  </a:ext>
                </a:extLst>
              </a:tr>
            </a:tbl>
          </a:graphicData>
        </a:graphic>
      </p:graphicFrame>
    </p:spTree>
    <p:extLst>
      <p:ext uri="{BB962C8B-B14F-4D97-AF65-F5344CB8AC3E}">
        <p14:creationId xmlns:p14="http://schemas.microsoft.com/office/powerpoint/2010/main" val="27396277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7C88F-08C1-8E78-81E7-516D34481A76}"/>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05C73964-58C3-EB7A-0B6E-8DE723E69135}"/>
              </a:ext>
            </a:extLst>
          </p:cNvPr>
          <p:cNvSpPr>
            <a:spLocks noGrp="1"/>
          </p:cNvSpPr>
          <p:nvPr>
            <p:ph idx="1"/>
          </p:nvPr>
        </p:nvSpPr>
        <p:spPr>
          <a:xfrm>
            <a:off x="470148" y="947342"/>
            <a:ext cx="8229600" cy="473596"/>
          </a:xfrm>
        </p:spPr>
        <p:txBody>
          <a:bodyPr/>
          <a:lstStyle/>
          <a:p>
            <a:pPr marL="0" indent="0" algn="ctr">
              <a:buNone/>
            </a:pPr>
            <a:r>
              <a:rPr lang="zh-TW" altLang="en-US" sz="2400" b="1" dirty="0">
                <a:solidFill>
                  <a:srgbClr val="FF0000"/>
                </a:solidFill>
                <a:latin typeface="標楷體" pitchFamily="65" charset="-120"/>
                <a:ea typeface="標楷體" pitchFamily="65" charset="-120"/>
              </a:rPr>
              <a:t>目的</a:t>
            </a:r>
          </a:p>
        </p:txBody>
      </p:sp>
      <p:sp>
        <p:nvSpPr>
          <p:cNvPr id="4" name="矩形 3">
            <a:extLst>
              <a:ext uri="{FF2B5EF4-FFF2-40B4-BE49-F238E27FC236}">
                <a16:creationId xmlns:a16="http://schemas.microsoft.com/office/drawing/2014/main" id="{44EFB31C-1AEF-EF26-804B-6C94B9EE9910}"/>
              </a:ext>
            </a:extLst>
          </p:cNvPr>
          <p:cNvSpPr/>
          <p:nvPr/>
        </p:nvSpPr>
        <p:spPr>
          <a:xfrm>
            <a:off x="85564" y="1420938"/>
            <a:ext cx="8820472" cy="3281860"/>
          </a:xfrm>
          <a:prstGeom prst="rect">
            <a:avLst/>
          </a:prstGeom>
        </p:spPr>
        <p:txBody>
          <a:bodyPr wrap="square">
            <a:spAutoFit/>
          </a:bodyPr>
          <a:lstStyle/>
          <a:p>
            <a:pPr marL="360000" marR="0" lvl="0" indent="0" algn="just" defTabSz="914400" rtl="0" eaLnBrk="1" fontAlgn="auto" latinLnBrk="0" hangingPunct="1">
              <a:lnSpc>
                <a:spcPts val="3600"/>
              </a:lnSpc>
              <a:spcBef>
                <a:spcPts val="0"/>
              </a:spcBef>
              <a:spcAft>
                <a:spcPts val="0"/>
              </a:spcAft>
              <a:buClrTx/>
              <a:buSzTx/>
              <a:buFontTx/>
              <a:buNone/>
              <a:tabLst>
                <a:tab pos="622300" algn="l"/>
              </a:tabLst>
              <a:defRPr/>
            </a:pP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小旗艦社區屬於偏鄉地區，缺少水電師傅，居民在生活中常面臨水電維修與家電使用問題，尤其是中低收入及低收入家庭因缺乏資源與技術協助，居住環境存在能源浪費與用電安全隱憂。因應社區中弱勢家庭居家安全及能源使用不當問題，結合小旗艦水電志工隊，推動節能家電汰換與用電安全輔導。</a:t>
            </a:r>
            <a:r>
              <a:rPr kumimoji="0" lang="zh-TW" altLang="en-US" sz="2400" b="0" i="0" u="none" strike="noStrike" kern="100" cap="none" spc="0" normalizeH="0" baseline="0" noProof="0" dirty="0">
                <a:ln>
                  <a:noFill/>
                </a:ln>
                <a:solidFill>
                  <a:srgbClr val="FF0000"/>
                </a:solidFill>
                <a:effectLst/>
                <a:uLnTx/>
                <a:uFillTx/>
                <a:latin typeface="Times New Roman"/>
                <a:ea typeface="標楷體"/>
                <a:cs typeface="+mn-cs"/>
              </a:rPr>
              <a:t>藉由實際檢修與教育宣導，提升住戶居家安全意識，減少火災與用電事故，並落實節能減碳行動。</a:t>
            </a:r>
            <a:endParaRPr kumimoji="0" lang="zh-TW" altLang="en-US" sz="2400" b="1" i="0" u="none" strike="noStrike" kern="100" cap="none" spc="0" normalizeH="0" baseline="0" noProof="0" dirty="0">
              <a:ln>
                <a:noFill/>
              </a:ln>
              <a:solidFill>
                <a:srgbClr val="FF0000"/>
              </a:solidFill>
              <a:effectLst/>
              <a:uLnTx/>
              <a:uFillTx/>
              <a:latin typeface="Times New Roman"/>
              <a:ea typeface="標楷體"/>
              <a:cs typeface="+mn-cs"/>
            </a:endParaRPr>
          </a:p>
        </p:txBody>
      </p:sp>
      <p:sp>
        <p:nvSpPr>
          <p:cNvPr id="5" name="內容版面配置區 2">
            <a:extLst>
              <a:ext uri="{FF2B5EF4-FFF2-40B4-BE49-F238E27FC236}">
                <a16:creationId xmlns:a16="http://schemas.microsoft.com/office/drawing/2014/main" id="{616BC7EF-40D1-6FC6-88A7-976BAEAEC5E4}"/>
              </a:ext>
            </a:extLst>
          </p:cNvPr>
          <p:cNvSpPr txBox="1">
            <a:spLocks/>
          </p:cNvSpPr>
          <p:nvPr/>
        </p:nvSpPr>
        <p:spPr bwMode="auto">
          <a:xfrm>
            <a:off x="381000" y="5053143"/>
            <a:ext cx="8229600" cy="58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6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marR="0" lvl="0" indent="0" algn="ctr" defTabSz="914400" rtl="0" eaLnBrk="0" fontAlgn="base" latinLnBrk="0" hangingPunct="0">
              <a:lnSpc>
                <a:spcPct val="100000"/>
              </a:lnSpc>
              <a:spcBef>
                <a:spcPct val="20000"/>
              </a:spcBef>
              <a:spcAft>
                <a:spcPct val="0"/>
              </a:spcAft>
              <a:buClr>
                <a:srgbClr val="69AAB1"/>
              </a:buClr>
              <a:buSzTx/>
              <a:buFont typeface="Wingdings" pitchFamily="2" charset="2"/>
              <a:buNone/>
              <a:tabLst/>
              <a:defRPr/>
            </a:pPr>
            <a:r>
              <a:rPr kumimoji="0" lang="zh-TW" altLang="en-US" sz="2400" b="1" i="0" u="none" strike="noStrike" kern="0" cap="none" spc="0" normalizeH="0" baseline="0" noProof="0" dirty="0">
                <a:ln>
                  <a:noFill/>
                </a:ln>
                <a:solidFill>
                  <a:srgbClr val="FF0000"/>
                </a:solidFill>
                <a:effectLst/>
                <a:uLnTx/>
                <a:uFillTx/>
                <a:latin typeface="標楷體" pitchFamily="65" charset="-120"/>
                <a:ea typeface="標楷體" pitchFamily="65" charset="-120"/>
                <a:cs typeface="+mn-cs"/>
              </a:rPr>
              <a:t>服務對象</a:t>
            </a:r>
            <a:r>
              <a:rPr kumimoji="0" lang="zh-TW" altLang="zh-TW" sz="2400" b="1" i="0" u="none" strike="noStrike" kern="1200" cap="none" spc="0" normalizeH="0" baseline="0" noProof="0" dirty="0">
                <a:ln>
                  <a:noFill/>
                </a:ln>
                <a:solidFill>
                  <a:srgbClr val="024631"/>
                </a:solidFill>
                <a:effectLst/>
                <a:uLnTx/>
                <a:uFillTx/>
                <a:latin typeface="標楷體" panose="03000509000000000000" pitchFamily="65" charset="-120"/>
                <a:ea typeface="標楷體" panose="03000509000000000000" pitchFamily="65" charset="-120"/>
                <a:cs typeface="+mn-cs"/>
              </a:rPr>
              <a:t>：</a:t>
            </a:r>
            <a:r>
              <a:rPr kumimoji="0" lang="zh-TW" altLang="en-US" sz="2400" b="1" i="0" u="none" strike="noStrike" kern="1200" cap="none" spc="0" normalizeH="0" baseline="0" noProof="0" dirty="0">
                <a:ln>
                  <a:noFill/>
                </a:ln>
                <a:solidFill>
                  <a:srgbClr val="024631"/>
                </a:solidFill>
                <a:effectLst/>
                <a:uLnTx/>
                <a:uFillTx/>
                <a:latin typeface="標楷體" panose="03000509000000000000" pitchFamily="65" charset="-120"/>
                <a:ea typeface="標楷體" panose="03000509000000000000" pitchFamily="65" charset="-120"/>
                <a:cs typeface="+mn-cs"/>
              </a:rPr>
              <a:t>由山崇社區主責</a:t>
            </a:r>
            <a:endParaRPr kumimoji="0" lang="zh-TW" altLang="en-US" sz="2800" b="1" i="0" u="none" strike="noStrike" kern="0" cap="none" spc="0" normalizeH="0" baseline="0" noProof="0" dirty="0">
              <a:ln>
                <a:noFill/>
              </a:ln>
              <a:solidFill>
                <a:srgbClr val="FF0000"/>
              </a:solidFill>
              <a:effectLst/>
              <a:uLnTx/>
              <a:uFillTx/>
              <a:latin typeface="標楷體" pitchFamily="65" charset="-120"/>
              <a:ea typeface="標楷體" pitchFamily="65" charset="-120"/>
              <a:cs typeface="+mn-cs"/>
            </a:endParaRPr>
          </a:p>
        </p:txBody>
      </p:sp>
      <p:sp>
        <p:nvSpPr>
          <p:cNvPr id="6" name="矩形 5">
            <a:extLst>
              <a:ext uri="{FF2B5EF4-FFF2-40B4-BE49-F238E27FC236}">
                <a16:creationId xmlns:a16="http://schemas.microsoft.com/office/drawing/2014/main" id="{3023D089-C0FB-7E2F-AE76-51067CE53D5C}"/>
              </a:ext>
            </a:extLst>
          </p:cNvPr>
          <p:cNvSpPr/>
          <p:nvPr/>
        </p:nvSpPr>
        <p:spPr>
          <a:xfrm>
            <a:off x="1099896" y="5640295"/>
            <a:ext cx="6791808" cy="540725"/>
          </a:xfrm>
          <a:prstGeom prst="rect">
            <a:avLst/>
          </a:prstGeom>
        </p:spPr>
        <p:txBody>
          <a:bodyPr wrap="square">
            <a:spAutoFit/>
          </a:bodyPr>
          <a:lstStyle/>
          <a:p>
            <a:pPr marL="0" marR="0" lvl="0" indent="0" algn="just" defTabSz="914400" rtl="0" eaLnBrk="1" fontAlgn="auto" latinLnBrk="0" hangingPunct="1">
              <a:lnSpc>
                <a:spcPts val="3900"/>
              </a:lnSpc>
              <a:spcBef>
                <a:spcPts val="0"/>
              </a:spcBef>
              <a:spcAft>
                <a:spcPts val="0"/>
              </a:spcAft>
              <a:buClrTx/>
              <a:buSzTx/>
              <a:buFontTx/>
              <a:buNone/>
              <a:tabLst/>
              <a:defRPr/>
            </a:pPr>
            <a:r>
              <a:rPr kumimoji="0" lang="zh-TW" altLang="en-US"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小旗艦社區之弱勢居民、獨居長者、行動不便者。</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p:txBody>
      </p:sp>
      <p:sp>
        <p:nvSpPr>
          <p:cNvPr id="8" name="標題 1">
            <a:extLst>
              <a:ext uri="{FF2B5EF4-FFF2-40B4-BE49-F238E27FC236}">
                <a16:creationId xmlns:a16="http://schemas.microsoft.com/office/drawing/2014/main" id="{0B03AEA4-C9CC-9B90-4BD1-A99CDDE57044}"/>
              </a:ext>
            </a:extLst>
          </p:cNvPr>
          <p:cNvSpPr>
            <a:spLocks noGrp="1"/>
          </p:cNvSpPr>
          <p:nvPr>
            <p:ph type="title"/>
          </p:nvPr>
        </p:nvSpPr>
        <p:spPr>
          <a:xfrm>
            <a:off x="1589348" y="124836"/>
            <a:ext cx="5991200" cy="563562"/>
          </a:xfrm>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子計畫五：弱勢家庭節能輔導方案</a:t>
            </a:r>
            <a:endParaRPr lang="zh-TW" altLang="en-US" dirty="0"/>
          </a:p>
        </p:txBody>
      </p:sp>
    </p:spTree>
    <p:extLst>
      <p:ext uri="{BB962C8B-B14F-4D97-AF65-F5344CB8AC3E}">
        <p14:creationId xmlns:p14="http://schemas.microsoft.com/office/powerpoint/2010/main" val="35800562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C03B7-9C5B-137D-E4E4-4CF9FD859D5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2F43C87-C35D-771F-3A4A-22A102C94920}"/>
              </a:ext>
            </a:extLst>
          </p:cNvPr>
          <p:cNvSpPr>
            <a:spLocks noGrp="1"/>
          </p:cNvSpPr>
          <p:nvPr>
            <p:ph type="title"/>
          </p:nvPr>
        </p:nvSpPr>
        <p:spPr>
          <a:xfrm>
            <a:off x="1576400" y="85513"/>
            <a:ext cx="5991200" cy="563562"/>
          </a:xfrm>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子計畫五：弱勢家庭節能輔導方案</a:t>
            </a:r>
            <a:endParaRPr lang="zh-TW" altLang="en-US" dirty="0"/>
          </a:p>
        </p:txBody>
      </p:sp>
      <p:sp>
        <p:nvSpPr>
          <p:cNvPr id="3" name="內容版面配置區 2">
            <a:extLst>
              <a:ext uri="{FF2B5EF4-FFF2-40B4-BE49-F238E27FC236}">
                <a16:creationId xmlns:a16="http://schemas.microsoft.com/office/drawing/2014/main" id="{339B4BD4-8180-7226-96D4-3D5C820A4448}"/>
              </a:ext>
            </a:extLst>
          </p:cNvPr>
          <p:cNvSpPr>
            <a:spLocks noGrp="1"/>
          </p:cNvSpPr>
          <p:nvPr>
            <p:ph idx="1"/>
          </p:nvPr>
        </p:nvSpPr>
        <p:spPr>
          <a:xfrm>
            <a:off x="457200" y="729327"/>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內容</a:t>
            </a:r>
          </a:p>
        </p:txBody>
      </p:sp>
      <p:sp>
        <p:nvSpPr>
          <p:cNvPr id="4" name="矩形 3">
            <a:extLst>
              <a:ext uri="{FF2B5EF4-FFF2-40B4-BE49-F238E27FC236}">
                <a16:creationId xmlns:a16="http://schemas.microsoft.com/office/drawing/2014/main" id="{49F5CB13-2D44-1685-085F-211408288F11}"/>
              </a:ext>
            </a:extLst>
          </p:cNvPr>
          <p:cNvSpPr/>
          <p:nvPr/>
        </p:nvSpPr>
        <p:spPr>
          <a:xfrm>
            <a:off x="143508" y="1332627"/>
            <a:ext cx="8856984" cy="5158079"/>
          </a:xfrm>
          <a:prstGeom prst="rect">
            <a:avLst/>
          </a:prstGeom>
        </p:spPr>
        <p:txBody>
          <a:bodyPr wrap="square">
            <a:spAutoFit/>
          </a:bodyPr>
          <a:lstStyle/>
          <a:p>
            <a:pPr marL="0" marR="0" lvl="0" indent="-3600000" algn="just" defTabSz="914400" rtl="0" eaLnBrk="1" fontAlgn="auto" latinLnBrk="0" hangingPunct="1">
              <a:lnSpc>
                <a:spcPts val="4000"/>
              </a:lnSpc>
              <a:spcBef>
                <a:spcPts val="0"/>
              </a:spcBef>
              <a:spcAft>
                <a:spcPts val="0"/>
              </a:spcAft>
              <a:buClrTx/>
              <a:buSzTx/>
              <a:buFontTx/>
              <a:buNone/>
              <a:tabLst/>
              <a:defRPr/>
            </a:pP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(1) </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居家安全檢測與改善（預計協助</a:t>
            </a: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20</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戶）</a:t>
            </a:r>
          </a:p>
          <a:p>
            <a:pPr marL="3598863" marR="0" lvl="0" indent="-3154363" algn="just" defTabSz="914400" rtl="0" eaLnBrk="1" fontAlgn="auto" latinLnBrk="0" hangingPunct="1">
              <a:lnSpc>
                <a:spcPts val="4000"/>
              </a:lnSpc>
              <a:spcBef>
                <a:spcPts val="0"/>
              </a:spcBef>
              <a:spcAft>
                <a:spcPts val="0"/>
              </a:spcAft>
              <a:buClrTx/>
              <a:buSzTx/>
              <a:buFontTx/>
              <a:buNone/>
              <a:tabLst/>
              <a:defRPr/>
            </a:pPr>
            <a:r>
              <a:rPr kumimoji="0" lang="zh-TW" altLang="en-US" sz="2100" b="0" i="0" u="none" strike="noStrike" kern="1200" cap="none" spc="0" normalizeH="0" baseline="0" noProof="0" dirty="0">
                <a:ln>
                  <a:noFill/>
                </a:ln>
                <a:solidFill>
                  <a:srgbClr val="111111"/>
                </a:solidFill>
                <a:effectLst/>
                <a:uLnTx/>
                <a:uFillTx/>
                <a:latin typeface="Lucida Grande"/>
                <a:ea typeface="+mn-ea"/>
                <a:cs typeface="+mn-cs"/>
              </a:rPr>
              <a:t>①</a:t>
            </a:r>
            <a:r>
              <a:rPr kumimoji="0" lang="zh-TW" altLang="en-US" sz="2400" b="0" i="0" u="none" strike="noStrike" kern="1200" cap="none" spc="0" normalizeH="0" baseline="0" noProof="0" dirty="0">
                <a:ln>
                  <a:noFill/>
                </a:ln>
                <a:solidFill>
                  <a:srgbClr val="111111"/>
                </a:solidFill>
                <a:effectLst/>
                <a:uLnTx/>
                <a:uFillTx/>
                <a:latin typeface="Lucida Grande"/>
                <a:ea typeface="+mn-ea"/>
                <a:cs typeface="+mn-cs"/>
              </a:rPr>
              <a:t> </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由小旗艦水電志工隊協助檢查電線老化、插座安全、照明設備。</a:t>
            </a:r>
          </a:p>
          <a:p>
            <a:pPr marL="3598863" marR="0" lvl="0" indent="-3154363" algn="just" defTabSz="914400" rtl="0" eaLnBrk="1" fontAlgn="auto" latinLnBrk="0" hangingPunct="1">
              <a:lnSpc>
                <a:spcPts val="4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111111"/>
                </a:solidFill>
                <a:effectLst/>
                <a:uLnTx/>
                <a:uFillTx/>
                <a:latin typeface="Lucida Grande"/>
                <a:ea typeface="+mn-ea"/>
                <a:cs typeface="+mn-cs"/>
              </a:rPr>
              <a:t>②</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提供簡易改善與維修（如更換燈具、插座、延長線、</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LED</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燈等）。</a:t>
            </a:r>
          </a:p>
          <a:p>
            <a:pPr marL="0" marR="0" lvl="0" indent="-3600000" algn="just" defTabSz="914400" rtl="0" eaLnBrk="1" fontAlgn="auto" latinLnBrk="0" hangingPunct="1">
              <a:lnSpc>
                <a:spcPts val="4000"/>
              </a:lnSpc>
              <a:spcBef>
                <a:spcPts val="0"/>
              </a:spcBef>
              <a:spcAft>
                <a:spcPts val="0"/>
              </a:spcAft>
              <a:buClrTx/>
              <a:buSzTx/>
              <a:buFontTx/>
              <a:buNone/>
              <a:tabLst/>
              <a:defRPr/>
            </a:pP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(2) </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節能家電汰換輔導（預計協助</a:t>
            </a: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20</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戶）</a:t>
            </a:r>
          </a:p>
          <a:p>
            <a:pPr marL="3598863" marR="0" lvl="0" indent="-3154363" algn="just" defTabSz="914400" rtl="0" eaLnBrk="1" fontAlgn="auto" latinLnBrk="0" hangingPunct="1">
              <a:lnSpc>
                <a:spcPts val="4000"/>
              </a:lnSpc>
              <a:spcBef>
                <a:spcPts val="0"/>
              </a:spcBef>
              <a:spcAft>
                <a:spcPts val="0"/>
              </a:spcAft>
              <a:buClrTx/>
              <a:buSzTx/>
              <a:buFontTx/>
              <a:buNone/>
              <a:tabLst/>
              <a:defRPr/>
            </a:pPr>
            <a:r>
              <a:rPr kumimoji="0" lang="zh-TW" altLang="en-US" sz="2100" b="0" i="0" u="none" strike="noStrike" kern="1200" cap="none" spc="0" normalizeH="0" baseline="0" noProof="0" dirty="0">
                <a:ln>
                  <a:noFill/>
                </a:ln>
                <a:solidFill>
                  <a:srgbClr val="111111"/>
                </a:solidFill>
                <a:effectLst/>
                <a:uLnTx/>
                <a:uFillTx/>
                <a:latin typeface="Lucida Grande"/>
                <a:ea typeface="+mn-ea"/>
                <a:cs typeface="+mn-cs"/>
              </a:rPr>
              <a:t>①</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協助弱勢家庭汰換高耗能家電（如</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LED</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燈等）。</a:t>
            </a:r>
          </a:p>
          <a:p>
            <a:pPr marL="3598863" marR="0" lvl="0" indent="-3154363" algn="just" defTabSz="914400" rtl="0" eaLnBrk="1" fontAlgn="auto" latinLnBrk="0" hangingPunct="1">
              <a:lnSpc>
                <a:spcPts val="4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srgbClr val="111111"/>
                </a:solidFill>
                <a:effectLst/>
                <a:uLnTx/>
                <a:uFillTx/>
                <a:latin typeface="Lucida Grande"/>
                <a:ea typeface="+mn-ea"/>
                <a:cs typeface="+mn-cs"/>
              </a:rPr>
              <a:t>②</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提供節能標章產品選購建議與補助資源資訊。</a:t>
            </a:r>
            <a:endPar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endParaRPr>
          </a:p>
          <a:p>
            <a:pPr marL="0" marR="0" lvl="0" indent="-3600000" algn="just" defTabSz="914400" rtl="0" eaLnBrk="1" fontAlgn="auto" latinLnBrk="0" hangingPunct="1">
              <a:lnSpc>
                <a:spcPts val="4000"/>
              </a:lnSpc>
              <a:spcBef>
                <a:spcPts val="0"/>
              </a:spcBef>
              <a:spcAft>
                <a:spcPts val="0"/>
              </a:spcAft>
              <a:buClrTx/>
              <a:buSzTx/>
              <a:buFontTx/>
              <a:buNone/>
              <a:tabLst/>
              <a:defRPr/>
            </a:pP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(3)</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節能帳單診斷（預計協助</a:t>
            </a: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20</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戶）</a:t>
            </a:r>
          </a:p>
          <a:p>
            <a:pPr marL="3598863" marR="0" lvl="0" indent="-3154363" algn="just" defTabSz="914400" rtl="0" eaLnBrk="1" fontAlgn="auto" latinLnBrk="0" hangingPunct="1">
              <a:lnSpc>
                <a:spcPts val="4000"/>
              </a:lnSpc>
              <a:spcBef>
                <a:spcPts val="0"/>
              </a:spcBef>
              <a:spcAft>
                <a:spcPts val="0"/>
              </a:spcAft>
              <a:buClrTx/>
              <a:buSzTx/>
              <a:buFontTx/>
              <a:buNone/>
              <a:tabLst/>
              <a:defRPr/>
            </a:pP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輔導家庭閱讀電費帳單、分析用電習慣。</a:t>
            </a:r>
          </a:p>
          <a:p>
            <a:pPr marL="0" marR="0" lvl="0" indent="-3600000" algn="just" defTabSz="914400" rtl="0" eaLnBrk="1" fontAlgn="auto" latinLnBrk="0" hangingPunct="1">
              <a:lnSpc>
                <a:spcPts val="4000"/>
              </a:lnSpc>
              <a:spcBef>
                <a:spcPts val="0"/>
              </a:spcBef>
              <a:spcAft>
                <a:spcPts val="0"/>
              </a:spcAft>
              <a:buClrTx/>
              <a:buSzTx/>
              <a:buFontTx/>
              <a:buNone/>
              <a:tabLst/>
              <a:defRPr/>
            </a:pP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(4)</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節能宣導（每社區一堂課，每次</a:t>
            </a: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2</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小時，共</a:t>
            </a: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10</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小時）</a:t>
            </a:r>
          </a:p>
          <a:p>
            <a:pPr marL="3598863" marR="0" lvl="0" indent="-3154363" algn="just" defTabSz="914400" rtl="0" eaLnBrk="1" fontAlgn="auto" latinLnBrk="0" hangingPunct="1">
              <a:lnSpc>
                <a:spcPts val="4000"/>
              </a:lnSpc>
              <a:spcBef>
                <a:spcPts val="0"/>
              </a:spcBef>
              <a:spcAft>
                <a:spcPts val="0"/>
              </a:spcAft>
              <a:buClrTx/>
              <a:buSzTx/>
              <a:buFontTx/>
              <a:buNone/>
              <a:tabLst/>
              <a:defRPr/>
            </a:pP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舉辦講座或社區宣導日，教育民眾預防火災與節能觀念</a:t>
            </a:r>
          </a:p>
        </p:txBody>
      </p:sp>
    </p:spTree>
    <p:extLst>
      <p:ext uri="{BB962C8B-B14F-4D97-AF65-F5344CB8AC3E}">
        <p14:creationId xmlns:p14="http://schemas.microsoft.com/office/powerpoint/2010/main" val="38875534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4D10A-E850-23DF-97CE-D813440543D3}"/>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E0125AF-54C4-22A2-0878-63D0A573C4E1}"/>
              </a:ext>
            </a:extLst>
          </p:cNvPr>
          <p:cNvSpPr>
            <a:spLocks noGrp="1"/>
          </p:cNvSpPr>
          <p:nvPr>
            <p:ph idx="1"/>
          </p:nvPr>
        </p:nvSpPr>
        <p:spPr>
          <a:xfrm>
            <a:off x="457200" y="1052736"/>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效益</a:t>
            </a:r>
            <a:endParaRPr lang="en-US" altLang="zh-TW" sz="2800" b="1" dirty="0">
              <a:solidFill>
                <a:srgbClr val="FF0000"/>
              </a:solidFill>
              <a:latin typeface="標楷體" pitchFamily="65" charset="-120"/>
              <a:ea typeface="標楷體" pitchFamily="65" charset="-120"/>
            </a:endParaRPr>
          </a:p>
        </p:txBody>
      </p:sp>
      <p:sp>
        <p:nvSpPr>
          <p:cNvPr id="4" name="矩形 3">
            <a:extLst>
              <a:ext uri="{FF2B5EF4-FFF2-40B4-BE49-F238E27FC236}">
                <a16:creationId xmlns:a16="http://schemas.microsoft.com/office/drawing/2014/main" id="{F65570D6-FF9B-5703-3282-9F43B28FBB5F}"/>
              </a:ext>
            </a:extLst>
          </p:cNvPr>
          <p:cNvSpPr/>
          <p:nvPr/>
        </p:nvSpPr>
        <p:spPr>
          <a:xfrm>
            <a:off x="1238799" y="2546579"/>
            <a:ext cx="6666402" cy="1764842"/>
          </a:xfrm>
          <a:prstGeom prst="rect">
            <a:avLst/>
          </a:prstGeom>
        </p:spPr>
        <p:txBody>
          <a:bodyPr wrap="square">
            <a:spAutoFit/>
          </a:bodyPr>
          <a:lstStyle/>
          <a:p>
            <a:pPr marL="717550" marR="0" lvl="0" indent="-1260000"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1</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）改善弱勢家庭居家安全與用電風險。</a:t>
            </a:r>
          </a:p>
          <a:p>
            <a:pPr marL="717550" marR="0" lvl="0" indent="-1260000"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2</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）提升社區節能意識與永續行動力。</a:t>
            </a:r>
          </a:p>
          <a:p>
            <a:pPr marL="717550" marR="0" lvl="0" indent="-1260000"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3</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）增加水電志工實務能力與服務精神。</a:t>
            </a:r>
          </a:p>
        </p:txBody>
      </p:sp>
      <p:sp>
        <p:nvSpPr>
          <p:cNvPr id="6" name="標題 1">
            <a:extLst>
              <a:ext uri="{FF2B5EF4-FFF2-40B4-BE49-F238E27FC236}">
                <a16:creationId xmlns:a16="http://schemas.microsoft.com/office/drawing/2014/main" id="{151A82C1-3927-BC78-7A6C-58ECC3F264EE}"/>
              </a:ext>
            </a:extLst>
          </p:cNvPr>
          <p:cNvSpPr>
            <a:spLocks noGrp="1"/>
          </p:cNvSpPr>
          <p:nvPr>
            <p:ph type="title"/>
          </p:nvPr>
        </p:nvSpPr>
        <p:spPr>
          <a:xfrm>
            <a:off x="1576400" y="146045"/>
            <a:ext cx="5991200" cy="563562"/>
          </a:xfrm>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子計畫五：弱勢家庭節能輔導方案</a:t>
            </a:r>
            <a:endParaRPr lang="zh-TW" altLang="en-US" dirty="0"/>
          </a:p>
        </p:txBody>
      </p:sp>
    </p:spTree>
    <p:extLst>
      <p:ext uri="{BB962C8B-B14F-4D97-AF65-F5344CB8AC3E}">
        <p14:creationId xmlns:p14="http://schemas.microsoft.com/office/powerpoint/2010/main" val="38451545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77DB8-17CB-4CC5-52D8-6B886A3BFD2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4628077-68B0-7E08-7C4C-E205CAC23568}"/>
              </a:ext>
            </a:extLst>
          </p:cNvPr>
          <p:cNvSpPr>
            <a:spLocks noGrp="1"/>
          </p:cNvSpPr>
          <p:nvPr>
            <p:ph type="title"/>
          </p:nvPr>
        </p:nvSpPr>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弱勢家庭節能輔導方案經費表</a:t>
            </a:r>
            <a:endParaRPr lang="zh-TW" altLang="en-US" sz="3600" dirty="0"/>
          </a:p>
        </p:txBody>
      </p:sp>
      <p:graphicFrame>
        <p:nvGraphicFramePr>
          <p:cNvPr id="7" name="表格 6">
            <a:extLst>
              <a:ext uri="{FF2B5EF4-FFF2-40B4-BE49-F238E27FC236}">
                <a16:creationId xmlns:a16="http://schemas.microsoft.com/office/drawing/2014/main" id="{49D29D9B-AC97-CAD7-C097-384BC8326548}"/>
              </a:ext>
            </a:extLst>
          </p:cNvPr>
          <p:cNvGraphicFramePr>
            <a:graphicFrameLocks noGrp="1"/>
          </p:cNvGraphicFramePr>
          <p:nvPr/>
        </p:nvGraphicFramePr>
        <p:xfrm>
          <a:off x="224643" y="1124744"/>
          <a:ext cx="8694713" cy="5011453"/>
        </p:xfrm>
        <a:graphic>
          <a:graphicData uri="http://schemas.openxmlformats.org/drawingml/2006/table">
            <a:tbl>
              <a:tblPr firstRow="1" firstCol="1" lastRow="1" lastCol="1" bandRow="1" bandCol="1"/>
              <a:tblGrid>
                <a:gridCol w="1724520">
                  <a:extLst>
                    <a:ext uri="{9D8B030D-6E8A-4147-A177-3AD203B41FA5}">
                      <a16:colId xmlns:a16="http://schemas.microsoft.com/office/drawing/2014/main" val="3578943223"/>
                    </a:ext>
                  </a:extLst>
                </a:gridCol>
                <a:gridCol w="890497">
                  <a:extLst>
                    <a:ext uri="{9D8B030D-6E8A-4147-A177-3AD203B41FA5}">
                      <a16:colId xmlns:a16="http://schemas.microsoft.com/office/drawing/2014/main" val="3015582658"/>
                    </a:ext>
                  </a:extLst>
                </a:gridCol>
                <a:gridCol w="862696">
                  <a:extLst>
                    <a:ext uri="{9D8B030D-6E8A-4147-A177-3AD203B41FA5}">
                      <a16:colId xmlns:a16="http://schemas.microsoft.com/office/drawing/2014/main" val="1582908736"/>
                    </a:ext>
                  </a:extLst>
                </a:gridCol>
                <a:gridCol w="1107688">
                  <a:extLst>
                    <a:ext uri="{9D8B030D-6E8A-4147-A177-3AD203B41FA5}">
                      <a16:colId xmlns:a16="http://schemas.microsoft.com/office/drawing/2014/main" val="73208533"/>
                    </a:ext>
                  </a:extLst>
                </a:gridCol>
                <a:gridCol w="739330">
                  <a:extLst>
                    <a:ext uri="{9D8B030D-6E8A-4147-A177-3AD203B41FA5}">
                      <a16:colId xmlns:a16="http://schemas.microsoft.com/office/drawing/2014/main" val="23339771"/>
                    </a:ext>
                  </a:extLst>
                </a:gridCol>
                <a:gridCol w="1354420">
                  <a:extLst>
                    <a:ext uri="{9D8B030D-6E8A-4147-A177-3AD203B41FA5}">
                      <a16:colId xmlns:a16="http://schemas.microsoft.com/office/drawing/2014/main" val="3538299279"/>
                    </a:ext>
                  </a:extLst>
                </a:gridCol>
                <a:gridCol w="2015562">
                  <a:extLst>
                    <a:ext uri="{9D8B030D-6E8A-4147-A177-3AD203B41FA5}">
                      <a16:colId xmlns:a16="http://schemas.microsoft.com/office/drawing/2014/main" val="1988443484"/>
                    </a:ext>
                  </a:extLst>
                </a:gridCol>
              </a:tblGrid>
              <a:tr h="177919">
                <a:tc>
                  <a:txBody>
                    <a:bodyPr/>
                    <a:lstStyle/>
                    <a:p>
                      <a:pPr marL="249555" algn="ctr">
                        <a:lnSpc>
                          <a:spcPts val="2200"/>
                        </a:lnSpc>
                        <a:buNone/>
                      </a:pPr>
                      <a:r>
                        <a:rPr lang="en-US" sz="1600" kern="0" spc="-3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項目</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93980" algn="ctr">
                        <a:lnSpc>
                          <a:spcPts val="2200"/>
                        </a:lnSpc>
                        <a:buNone/>
                      </a:pPr>
                      <a:r>
                        <a:rPr lang="en-US"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單價</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7950" algn="ctr">
                        <a:lnSpc>
                          <a:spcPts val="2200"/>
                        </a:lnSpc>
                        <a:buNone/>
                      </a:pPr>
                      <a:r>
                        <a:rPr lang="en-US"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數量</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4610" algn="ctr">
                        <a:lnSpc>
                          <a:spcPts val="2200"/>
                        </a:lnSpc>
                        <a:buNone/>
                      </a:pP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總金額</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5090" algn="ctr">
                        <a:lnSpc>
                          <a:spcPts val="2200"/>
                        </a:lnSpc>
                        <a:buNone/>
                      </a:pPr>
                      <a:r>
                        <a:rPr lang="en-US" sz="16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自籌</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305" algn="ctr">
                        <a:lnSpc>
                          <a:spcPts val="2200"/>
                        </a:lnSpc>
                        <a:buNone/>
                      </a:pPr>
                      <a:r>
                        <a:rPr lang="en-US" sz="1600" kern="0" spc="-2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申請</a:t>
                      </a:r>
                      <a:r>
                        <a:rPr lang="en-US" sz="16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補助</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3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說明</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2972151"/>
                  </a:ext>
                </a:extLst>
              </a:tr>
              <a:tr h="160505">
                <a:tc>
                  <a:txBody>
                    <a:bodyPr/>
                    <a:lstStyle/>
                    <a:p>
                      <a:pPr marL="15240" algn="just">
                        <a:lnSpc>
                          <a:spcPts val="2200"/>
                        </a:lnSpc>
                        <a:buNone/>
                      </a:pPr>
                      <a:r>
                        <a:rPr lang="en-US" sz="1600" b="1" kern="0" spc="-5"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a:t>
                      </a:r>
                      <a:r>
                        <a:rPr lang="en-US" sz="1600" b="1" kern="0" spc="-2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講師鐘點費</a:t>
                      </a:r>
                      <a:endParaRPr lang="zh-TW" sz="1600" b="1"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L="1135380" marR="86995" algn="r">
                        <a:lnSpc>
                          <a:spcPts val="2200"/>
                        </a:lnSpc>
                        <a:buNone/>
                      </a:pPr>
                      <a:r>
                        <a:rPr lang="en-US"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20,000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L="92075" marR="91440" algn="r">
                        <a:lnSpc>
                          <a:spcPts val="2200"/>
                        </a:lnSpc>
                        <a:buNone/>
                      </a:pPr>
                      <a:r>
                        <a:rPr lang="en-US" sz="1600" b="1" kern="0" spc="-9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93040" marR="91440" algn="r">
                        <a:lnSpc>
                          <a:spcPts val="2200"/>
                        </a:lnSpc>
                        <a:buNone/>
                      </a:pPr>
                      <a:r>
                        <a:rPr lang="en-US"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20,000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2200"/>
                        </a:lnSpc>
                        <a:buNone/>
                      </a:pPr>
                      <a:r>
                        <a:rPr lang="en-US" sz="1300" kern="0">
                          <a:solidFill>
                            <a:srgbClr val="000000"/>
                          </a:solidFill>
                          <a:effectLst/>
                          <a:latin typeface="標楷體" panose="03000509000000000000" pitchFamily="65" charset="-120"/>
                          <a:ea typeface="標楷體" panose="03000509000000000000" pitchFamily="65" charset="-120"/>
                        </a:rPr>
                        <a:t> </a:t>
                      </a:r>
                      <a:endParaRPr lang="zh-TW" sz="1200" kern="10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257662"/>
                  </a:ext>
                </a:extLst>
              </a:tr>
              <a:tr h="265826">
                <a:tc>
                  <a:txBody>
                    <a:bodyPr/>
                    <a:lstStyle/>
                    <a:p>
                      <a:pPr algn="ctr">
                        <a:lnSpc>
                          <a:spcPts val="2200"/>
                        </a:lnSpc>
                        <a:buNone/>
                      </a:pPr>
                      <a:r>
                        <a:rPr lang="zh-TW" sz="1600"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外聘</a:t>
                      </a:r>
                      <a:r>
                        <a:rPr lang="en-US" sz="1600" kern="0" spc="-2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講師鐘點費</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2,000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10</a:t>
                      </a:r>
                      <a:r>
                        <a:rPr lang="zh-TW" sz="1600" kern="0">
                          <a:solidFill>
                            <a:srgbClr val="000000"/>
                          </a:solidFill>
                          <a:effectLst/>
                          <a:latin typeface="標楷體" panose="03000509000000000000" pitchFamily="65" charset="-120"/>
                          <a:ea typeface="標楷體" panose="03000509000000000000" pitchFamily="65" charset="-120"/>
                        </a:rPr>
                        <a:t>小時</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20,000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0">
                          <a:solidFill>
                            <a:srgbClr val="000000"/>
                          </a:solidFill>
                          <a:effectLst/>
                          <a:latin typeface="標楷體" panose="03000509000000000000" pitchFamily="65" charset="-120"/>
                          <a:ea typeface="標楷體" panose="03000509000000000000" pitchFamily="65" charset="-120"/>
                        </a:rPr>
                        <a:t>20,000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nSpc>
                          <a:spcPts val="1800"/>
                        </a:lnSpc>
                        <a:spcBef>
                          <a:spcPts val="50"/>
                        </a:spcBef>
                        <a:buNone/>
                      </a:pPr>
                      <a:r>
                        <a:rPr lang="zh-TW" sz="1600" b="1" kern="100" dirty="0">
                          <a:solidFill>
                            <a:srgbClr val="000000"/>
                          </a:solidFill>
                          <a:effectLst/>
                          <a:latin typeface="標楷體" panose="03000509000000000000" pitchFamily="65" charset="-120"/>
                          <a:ea typeface="標楷體" panose="03000509000000000000" pitchFamily="65" charset="-120"/>
                        </a:rPr>
                        <a:t>節能宣導</a:t>
                      </a:r>
                      <a:endParaRPr lang="zh-TW" sz="1600" kern="100" dirty="0">
                        <a:solidFill>
                          <a:srgbClr val="000000"/>
                        </a:solidFill>
                        <a:effectLst/>
                        <a:latin typeface="標楷體" panose="03000509000000000000" pitchFamily="65" charset="-120"/>
                        <a:ea typeface="標楷體" panose="03000509000000000000" pitchFamily="65" charset="-120"/>
                      </a:endParaRPr>
                    </a:p>
                    <a:p>
                      <a:pPr marL="50165">
                        <a:lnSpc>
                          <a:spcPts val="1800"/>
                        </a:lnSpc>
                        <a:spcBef>
                          <a:spcPts val="50"/>
                        </a:spcBef>
                        <a:buNone/>
                      </a:pPr>
                      <a:r>
                        <a:rPr lang="zh-TW" sz="1600" kern="0" dirty="0">
                          <a:solidFill>
                            <a:srgbClr val="000000"/>
                          </a:solidFill>
                          <a:effectLst/>
                          <a:latin typeface="標楷體" panose="03000509000000000000" pitchFamily="65" charset="-120"/>
                          <a:ea typeface="標楷體" panose="03000509000000000000" pitchFamily="65" charset="-120"/>
                        </a:rPr>
                        <a:t>每次</a:t>
                      </a:r>
                      <a:r>
                        <a:rPr lang="en-US" sz="1600" kern="0" dirty="0">
                          <a:solidFill>
                            <a:srgbClr val="000000"/>
                          </a:solidFill>
                          <a:effectLst/>
                          <a:latin typeface="標楷體" panose="03000509000000000000" pitchFamily="65" charset="-120"/>
                          <a:ea typeface="標楷體" panose="03000509000000000000" pitchFamily="65" charset="-120"/>
                        </a:rPr>
                        <a:t>2</a:t>
                      </a:r>
                      <a:r>
                        <a:rPr lang="zh-TW" sz="1600" kern="0" dirty="0">
                          <a:solidFill>
                            <a:srgbClr val="000000"/>
                          </a:solidFill>
                          <a:effectLst/>
                          <a:latin typeface="標楷體" panose="03000509000000000000" pitchFamily="65" charset="-120"/>
                          <a:ea typeface="標楷體" panose="03000509000000000000" pitchFamily="65" charset="-120"/>
                        </a:rPr>
                        <a:t>小時，共</a:t>
                      </a:r>
                      <a:r>
                        <a:rPr lang="en-US" sz="1600" kern="0" dirty="0">
                          <a:solidFill>
                            <a:srgbClr val="000000"/>
                          </a:solidFill>
                          <a:effectLst/>
                          <a:latin typeface="標楷體" panose="03000509000000000000" pitchFamily="65" charset="-120"/>
                          <a:ea typeface="標楷體" panose="03000509000000000000" pitchFamily="65" charset="-120"/>
                        </a:rPr>
                        <a:t>10</a:t>
                      </a:r>
                      <a:r>
                        <a:rPr lang="zh-TW" sz="1600" kern="0" dirty="0">
                          <a:solidFill>
                            <a:srgbClr val="000000"/>
                          </a:solidFill>
                          <a:effectLst/>
                          <a:latin typeface="標楷體" panose="03000509000000000000" pitchFamily="65" charset="-120"/>
                          <a:ea typeface="標楷體" panose="03000509000000000000" pitchFamily="65" charset="-120"/>
                        </a:rPr>
                        <a:t>小時，</a:t>
                      </a:r>
                      <a:r>
                        <a:rPr lang="zh-TW" sz="1600" b="1" kern="0" dirty="0">
                          <a:solidFill>
                            <a:srgbClr val="000000"/>
                          </a:solidFill>
                          <a:effectLst/>
                          <a:latin typeface="標楷體" panose="03000509000000000000" pitchFamily="65" charset="-120"/>
                          <a:ea typeface="標楷體" panose="03000509000000000000" pitchFamily="65" charset="-120"/>
                        </a:rPr>
                        <a:t>講師待聘</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3906305"/>
                  </a:ext>
                </a:extLst>
              </a:tr>
              <a:tr h="430411">
                <a:tc>
                  <a:txBody>
                    <a:bodyPr/>
                    <a:lstStyle/>
                    <a:p>
                      <a:pPr marL="15240" algn="just">
                        <a:lnSpc>
                          <a:spcPts val="2200"/>
                        </a:lnSpc>
                        <a:buNone/>
                      </a:pPr>
                      <a:r>
                        <a:rPr lang="en-US" sz="1600" b="1"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a:t>
                      </a:r>
                      <a:r>
                        <a:rPr lang="zh-TW" sz="16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材料</a:t>
                      </a:r>
                      <a:r>
                        <a:rPr lang="en-US" sz="16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費</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91440" algn="r">
                        <a:lnSpc>
                          <a:spcPts val="2200"/>
                        </a:lnSpc>
                        <a:buNone/>
                      </a:pPr>
                      <a:r>
                        <a:rPr lang="en-US" sz="16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66,000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170" algn="r">
                        <a:lnSpc>
                          <a:spcPts val="2200"/>
                        </a:lnSpc>
                        <a:buNone/>
                      </a:pPr>
                      <a:r>
                        <a:rPr lang="en-US" sz="1600" b="1" kern="0" spc="-9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0 </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69240" marR="91440" algn="r">
                        <a:lnSpc>
                          <a:spcPts val="2200"/>
                        </a:lnSpc>
                        <a:buNone/>
                      </a:pPr>
                      <a:r>
                        <a:rPr lang="en-US"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66,000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2200"/>
                        </a:lnSpc>
                        <a:buNone/>
                      </a:pPr>
                      <a:r>
                        <a:rPr lang="zh-TW" sz="1600" kern="0" dirty="0">
                          <a:solidFill>
                            <a:srgbClr val="000000"/>
                          </a:solidFill>
                          <a:effectLst/>
                          <a:latin typeface="標楷體" panose="03000509000000000000" pitchFamily="65" charset="-120"/>
                          <a:ea typeface="標楷體" panose="03000509000000000000" pitchFamily="65" charset="-120"/>
                        </a:rPr>
                        <a:t>課程使用</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4917251"/>
                  </a:ext>
                </a:extLst>
              </a:tr>
              <a:tr h="425869">
                <a:tc>
                  <a:txBody>
                    <a:bodyPr/>
                    <a:lstStyle/>
                    <a:p>
                      <a:pPr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LED</a:t>
                      </a:r>
                      <a:r>
                        <a:rPr lang="zh-TW" sz="1600" kern="100">
                          <a:solidFill>
                            <a:srgbClr val="000000"/>
                          </a:solidFill>
                          <a:effectLst/>
                          <a:latin typeface="標楷體" panose="03000509000000000000" pitchFamily="65" charset="-120"/>
                          <a:ea typeface="標楷體" panose="03000509000000000000" pitchFamily="65" charset="-120"/>
                        </a:rPr>
                        <a:t>燈、插座、延長線等簡易改善材料</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300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7640"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20</a:t>
                      </a:r>
                      <a:r>
                        <a:rPr lang="zh-TW" sz="1600" kern="100">
                          <a:solidFill>
                            <a:srgbClr val="000000"/>
                          </a:solidFill>
                          <a:effectLst/>
                          <a:latin typeface="標楷體" panose="03000509000000000000" pitchFamily="65" charset="-120"/>
                          <a:ea typeface="標楷體" panose="03000509000000000000" pitchFamily="65" charset="-120"/>
                        </a:rPr>
                        <a:t>戶</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6,000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17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6,000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600" kern="0" dirty="0">
                          <a:solidFill>
                            <a:srgbClr val="000000"/>
                          </a:solidFill>
                          <a:effectLst/>
                          <a:latin typeface="標楷體" panose="03000509000000000000" pitchFamily="65" charset="-120"/>
                          <a:ea typeface="標楷體" panose="03000509000000000000" pitchFamily="65" charset="-120"/>
                        </a:rPr>
                        <a:t> </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19285503"/>
                  </a:ext>
                </a:extLst>
              </a:tr>
              <a:tr h="425869">
                <a:tc>
                  <a:txBody>
                    <a:bodyPr/>
                    <a:lstStyle/>
                    <a:p>
                      <a:pPr algn="ctr">
                        <a:lnSpc>
                          <a:spcPts val="2200"/>
                        </a:lnSpc>
                        <a:buNone/>
                      </a:pPr>
                      <a:r>
                        <a:rPr lang="zh-TW" sz="1600" kern="100">
                          <a:solidFill>
                            <a:srgbClr val="000000"/>
                          </a:solidFill>
                          <a:effectLst/>
                          <a:latin typeface="標楷體" panose="03000509000000000000" pitchFamily="65" charset="-120"/>
                          <a:ea typeface="標楷體" panose="03000509000000000000" pitchFamily="65" charset="-120"/>
                        </a:rPr>
                        <a:t>節能家電汰換</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60,000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7640" algn="ct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1</a:t>
                      </a:r>
                      <a:r>
                        <a:rPr lang="zh-TW" sz="1600" kern="100" dirty="0">
                          <a:solidFill>
                            <a:srgbClr val="000000"/>
                          </a:solidFill>
                          <a:effectLst/>
                          <a:latin typeface="標楷體" panose="03000509000000000000" pitchFamily="65" charset="-120"/>
                          <a:ea typeface="標楷體" panose="03000509000000000000" pitchFamily="65" charset="-120"/>
                        </a:rPr>
                        <a:t>式</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60,000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805"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59,001</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600" kern="0" dirty="0">
                          <a:solidFill>
                            <a:srgbClr val="000000"/>
                          </a:solidFill>
                          <a:effectLst/>
                          <a:latin typeface="標楷體" panose="03000509000000000000" pitchFamily="65" charset="-120"/>
                          <a:ea typeface="標楷體" panose="03000509000000000000" pitchFamily="65" charset="-120"/>
                        </a:rPr>
                        <a:t> 5</a:t>
                      </a:r>
                      <a:r>
                        <a:rPr lang="zh-TW" sz="1600" kern="0" dirty="0">
                          <a:solidFill>
                            <a:srgbClr val="000000"/>
                          </a:solidFill>
                          <a:effectLst/>
                          <a:latin typeface="標楷體" panose="03000509000000000000" pitchFamily="65" charset="-120"/>
                          <a:ea typeface="標楷體" panose="03000509000000000000" pitchFamily="65" charset="-120"/>
                        </a:rPr>
                        <a:t>社區</a:t>
                      </a:r>
                      <a:br>
                        <a:rPr lang="en-US" sz="1600" kern="0" dirty="0">
                          <a:solidFill>
                            <a:srgbClr val="000000"/>
                          </a:solidFill>
                          <a:effectLst/>
                          <a:latin typeface="標楷體" panose="03000509000000000000" pitchFamily="65" charset="-120"/>
                          <a:ea typeface="標楷體" panose="03000509000000000000" pitchFamily="65" charset="-120"/>
                        </a:rPr>
                      </a:br>
                      <a:r>
                        <a:rPr lang="zh-TW" sz="1600" kern="0" dirty="0">
                          <a:solidFill>
                            <a:srgbClr val="000000"/>
                          </a:solidFill>
                          <a:effectLst/>
                          <a:latin typeface="標楷體" panose="03000509000000000000" pitchFamily="65" charset="-120"/>
                          <a:ea typeface="標楷體" panose="03000509000000000000" pitchFamily="65" charset="-120"/>
                        </a:rPr>
                        <a:t>節能家電材料或節能電器</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9348789"/>
                  </a:ext>
                </a:extLst>
              </a:tr>
              <a:tr h="175647">
                <a:tc>
                  <a:txBody>
                    <a:bodyPr/>
                    <a:lstStyle/>
                    <a:p>
                      <a:pPr>
                        <a:lnSpc>
                          <a:spcPts val="2200"/>
                        </a:lnSpc>
                        <a:buNone/>
                      </a:pPr>
                      <a:r>
                        <a:rPr lang="en-US" sz="1600" b="1" kern="100">
                          <a:solidFill>
                            <a:srgbClr val="000000"/>
                          </a:solidFill>
                          <a:effectLst/>
                          <a:latin typeface="標楷體" panose="03000509000000000000" pitchFamily="65" charset="-120"/>
                          <a:ea typeface="標楷體" panose="03000509000000000000" pitchFamily="65" charset="-120"/>
                        </a:rPr>
                        <a:t>3.</a:t>
                      </a:r>
                      <a:r>
                        <a:rPr lang="zh-TW" sz="1600" b="1" kern="100">
                          <a:solidFill>
                            <a:srgbClr val="000000"/>
                          </a:solidFill>
                          <a:effectLst/>
                          <a:latin typeface="標楷體" panose="03000509000000000000" pitchFamily="65" charset="-120"/>
                          <a:ea typeface="標楷體" panose="03000509000000000000" pitchFamily="65" charset="-120"/>
                        </a:rPr>
                        <a:t>宣導費</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91440" algn="r">
                        <a:lnSpc>
                          <a:spcPts val="2200"/>
                        </a:lnSpc>
                        <a:buNone/>
                      </a:pPr>
                      <a:r>
                        <a:rPr lang="en-US" sz="1600" b="1" kern="100" dirty="0">
                          <a:solidFill>
                            <a:srgbClr val="000000"/>
                          </a:solidFill>
                          <a:effectLst/>
                          <a:latin typeface="標楷體" panose="03000509000000000000" pitchFamily="65" charset="-120"/>
                          <a:ea typeface="標楷體" panose="03000509000000000000" pitchFamily="65" charset="-120"/>
                        </a:rPr>
                        <a:t>17,500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90805" algn="r">
                        <a:lnSpc>
                          <a:spcPts val="2200"/>
                        </a:lnSpc>
                        <a:buNone/>
                      </a:pPr>
                      <a:r>
                        <a:rPr lang="en-US" sz="1600" b="1" kern="10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b="1" kern="100">
                          <a:solidFill>
                            <a:srgbClr val="000000"/>
                          </a:solidFill>
                          <a:effectLst/>
                          <a:latin typeface="標楷體" panose="03000509000000000000" pitchFamily="65" charset="-120"/>
                          <a:ea typeface="標楷體" panose="03000509000000000000" pitchFamily="65" charset="-120"/>
                        </a:rPr>
                        <a:t>17,500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600" kern="0" dirty="0">
                          <a:solidFill>
                            <a:srgbClr val="000000"/>
                          </a:solidFill>
                          <a:effectLst/>
                          <a:latin typeface="標楷體" panose="03000509000000000000" pitchFamily="65" charset="-120"/>
                          <a:ea typeface="標楷體" panose="03000509000000000000" pitchFamily="65" charset="-120"/>
                        </a:rPr>
                        <a:t> </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9106477"/>
                  </a:ext>
                </a:extLst>
              </a:tr>
              <a:tr h="0">
                <a:tc>
                  <a:txBody>
                    <a:bodyPr/>
                    <a:lstStyle/>
                    <a:p>
                      <a:pPr algn="ctr">
                        <a:lnSpc>
                          <a:spcPts val="2200"/>
                        </a:lnSpc>
                        <a:buNone/>
                      </a:pPr>
                      <a:r>
                        <a:rPr lang="zh-TW" sz="1600" kern="100">
                          <a:solidFill>
                            <a:srgbClr val="000000"/>
                          </a:solidFill>
                          <a:effectLst/>
                          <a:latin typeface="標楷體" panose="03000509000000000000" pitchFamily="65" charset="-120"/>
                          <a:ea typeface="標楷體" panose="03000509000000000000" pitchFamily="65" charset="-120"/>
                        </a:rPr>
                        <a:t>宣導貼紙</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20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7640">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250</a:t>
                      </a:r>
                      <a:r>
                        <a:rPr lang="zh-TW" sz="1600" kern="100" dirty="0">
                          <a:solidFill>
                            <a:srgbClr val="000000"/>
                          </a:solidFill>
                          <a:effectLst/>
                          <a:latin typeface="標楷體" panose="03000509000000000000" pitchFamily="65" charset="-120"/>
                          <a:ea typeface="標楷體" panose="03000509000000000000" pitchFamily="65" charset="-120"/>
                        </a:rPr>
                        <a:t>份</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5,000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805"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5,000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zh-TW" sz="1600" kern="0" dirty="0">
                          <a:solidFill>
                            <a:srgbClr val="000000"/>
                          </a:solidFill>
                          <a:effectLst/>
                          <a:latin typeface="標楷體" panose="03000509000000000000" pitchFamily="65" charset="-120"/>
                          <a:ea typeface="標楷體" panose="03000509000000000000" pitchFamily="65" charset="-120"/>
                        </a:rPr>
                        <a:t>每社區</a:t>
                      </a:r>
                      <a:r>
                        <a:rPr lang="en-US" sz="1600" kern="0" dirty="0">
                          <a:solidFill>
                            <a:srgbClr val="000000"/>
                          </a:solidFill>
                          <a:effectLst/>
                          <a:latin typeface="標楷體" panose="03000509000000000000" pitchFamily="65" charset="-120"/>
                          <a:ea typeface="標楷體" panose="03000509000000000000" pitchFamily="65" charset="-120"/>
                        </a:rPr>
                        <a:t>50</a:t>
                      </a:r>
                      <a:r>
                        <a:rPr lang="zh-TW" sz="1600" kern="0" dirty="0">
                          <a:solidFill>
                            <a:srgbClr val="000000"/>
                          </a:solidFill>
                          <a:effectLst/>
                          <a:latin typeface="標楷體" panose="03000509000000000000" pitchFamily="65" charset="-120"/>
                          <a:ea typeface="標楷體" panose="03000509000000000000" pitchFamily="65" charset="-120"/>
                        </a:rPr>
                        <a:t>份</a:t>
                      </a:r>
                      <a:r>
                        <a:rPr lang="en-US" sz="1600" kern="0" dirty="0">
                          <a:solidFill>
                            <a:srgbClr val="000000"/>
                          </a:solidFill>
                          <a:effectLst/>
                          <a:latin typeface="標楷體" panose="03000509000000000000" pitchFamily="65" charset="-120"/>
                          <a:ea typeface="標楷體" panose="03000509000000000000" pitchFamily="65" charset="-120"/>
                        </a:rPr>
                        <a:t>*5</a:t>
                      </a:r>
                      <a:r>
                        <a:rPr lang="zh-TW" sz="1600" kern="0" dirty="0">
                          <a:solidFill>
                            <a:srgbClr val="000000"/>
                          </a:solidFill>
                          <a:effectLst/>
                          <a:latin typeface="標楷體" panose="03000509000000000000" pitchFamily="65" charset="-120"/>
                          <a:ea typeface="標楷體" panose="03000509000000000000" pitchFamily="65" charset="-120"/>
                        </a:rPr>
                        <a:t>社區</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0782134"/>
                  </a:ext>
                </a:extLst>
              </a:tr>
              <a:tr h="428519">
                <a:tc>
                  <a:txBody>
                    <a:bodyPr/>
                    <a:lstStyle/>
                    <a:p>
                      <a:pPr algn="ctr">
                        <a:lnSpc>
                          <a:spcPts val="2200"/>
                        </a:lnSpc>
                        <a:buNone/>
                      </a:pPr>
                      <a:r>
                        <a:rPr lang="zh-TW" sz="1600" kern="100">
                          <a:solidFill>
                            <a:srgbClr val="000000"/>
                          </a:solidFill>
                          <a:effectLst/>
                          <a:latin typeface="標楷體" panose="03000509000000000000" pitchFamily="65" charset="-120"/>
                          <a:ea typeface="標楷體" panose="03000509000000000000" pitchFamily="65" charset="-120"/>
                        </a:rPr>
                        <a:t>宣導品</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50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7640" algn="ct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250</a:t>
                      </a:r>
                      <a:r>
                        <a:rPr lang="zh-TW" sz="1600" kern="100" dirty="0">
                          <a:solidFill>
                            <a:srgbClr val="000000"/>
                          </a:solidFill>
                          <a:effectLst/>
                          <a:latin typeface="標楷體" panose="03000509000000000000" pitchFamily="65" charset="-120"/>
                          <a:ea typeface="標楷體" panose="03000509000000000000" pitchFamily="65" charset="-120"/>
                        </a:rPr>
                        <a:t>份</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12,500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805" algn="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12,500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zh-TW" sz="1600" kern="0" dirty="0">
                          <a:solidFill>
                            <a:srgbClr val="000000"/>
                          </a:solidFill>
                          <a:effectLst/>
                          <a:latin typeface="標楷體" panose="03000509000000000000" pitchFamily="65" charset="-120"/>
                          <a:ea typeface="標楷體" panose="03000509000000000000" pitchFamily="65" charset="-120"/>
                        </a:rPr>
                        <a:t>每社區</a:t>
                      </a:r>
                      <a:r>
                        <a:rPr lang="en-US" sz="1600" kern="0" dirty="0">
                          <a:solidFill>
                            <a:srgbClr val="000000"/>
                          </a:solidFill>
                          <a:effectLst/>
                          <a:latin typeface="標楷體" panose="03000509000000000000" pitchFamily="65" charset="-120"/>
                          <a:ea typeface="標楷體" panose="03000509000000000000" pitchFamily="65" charset="-120"/>
                        </a:rPr>
                        <a:t>50</a:t>
                      </a:r>
                      <a:r>
                        <a:rPr lang="zh-TW" sz="1600" kern="0" dirty="0">
                          <a:solidFill>
                            <a:srgbClr val="000000"/>
                          </a:solidFill>
                          <a:effectLst/>
                          <a:latin typeface="標楷體" panose="03000509000000000000" pitchFamily="65" charset="-120"/>
                          <a:ea typeface="標楷體" panose="03000509000000000000" pitchFamily="65" charset="-120"/>
                        </a:rPr>
                        <a:t>份</a:t>
                      </a:r>
                      <a:r>
                        <a:rPr lang="en-US" sz="1600" kern="0" dirty="0">
                          <a:solidFill>
                            <a:srgbClr val="000000"/>
                          </a:solidFill>
                          <a:effectLst/>
                          <a:latin typeface="標楷體" panose="03000509000000000000" pitchFamily="65" charset="-120"/>
                          <a:ea typeface="標楷體" panose="03000509000000000000" pitchFamily="65" charset="-120"/>
                        </a:rPr>
                        <a:t>*5</a:t>
                      </a:r>
                      <a:r>
                        <a:rPr lang="zh-TW" sz="1600" kern="0" dirty="0">
                          <a:solidFill>
                            <a:srgbClr val="000000"/>
                          </a:solidFill>
                          <a:effectLst/>
                          <a:latin typeface="標楷體" panose="03000509000000000000" pitchFamily="65" charset="-120"/>
                          <a:ea typeface="標楷體" panose="03000509000000000000" pitchFamily="65" charset="-120"/>
                        </a:rPr>
                        <a:t>社區</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4186720"/>
                  </a:ext>
                </a:extLst>
              </a:tr>
              <a:tr h="263471">
                <a:tc>
                  <a:txBody>
                    <a:bodyPr/>
                    <a:lstStyle/>
                    <a:p>
                      <a:pPr>
                        <a:lnSpc>
                          <a:spcPts val="2200"/>
                        </a:lnSpc>
                        <a:buNone/>
                      </a:pPr>
                      <a:r>
                        <a:rPr lang="en-US" sz="1600" b="1" kern="100">
                          <a:solidFill>
                            <a:srgbClr val="000000"/>
                          </a:solidFill>
                          <a:effectLst/>
                          <a:latin typeface="標楷體" panose="03000509000000000000" pitchFamily="65" charset="-120"/>
                          <a:ea typeface="標楷體" panose="03000509000000000000" pitchFamily="65" charset="-120"/>
                        </a:rPr>
                        <a:t>4.</a:t>
                      </a:r>
                      <a:r>
                        <a:rPr lang="zh-TW" sz="1600" b="1" kern="100">
                          <a:solidFill>
                            <a:srgbClr val="000000"/>
                          </a:solidFill>
                          <a:effectLst/>
                          <a:latin typeface="標楷體" panose="03000509000000000000" pitchFamily="65" charset="-120"/>
                          <a:ea typeface="標楷體" panose="03000509000000000000" pitchFamily="65" charset="-120"/>
                        </a:rPr>
                        <a:t>雜支</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91440" algn="r">
                        <a:lnSpc>
                          <a:spcPts val="2200"/>
                        </a:lnSpc>
                        <a:buNone/>
                      </a:pPr>
                      <a:r>
                        <a:rPr lang="en-US" sz="1600" b="1" kern="100" dirty="0">
                          <a:solidFill>
                            <a:srgbClr val="000000"/>
                          </a:solidFill>
                          <a:effectLst/>
                          <a:latin typeface="標楷體" panose="03000509000000000000" pitchFamily="65" charset="-120"/>
                          <a:ea typeface="標楷體" panose="03000509000000000000" pitchFamily="65" charset="-120"/>
                        </a:rPr>
                        <a:t>670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0805" algn="r">
                        <a:lnSpc>
                          <a:spcPts val="2200"/>
                        </a:lnSpc>
                        <a:buNone/>
                      </a:pPr>
                      <a:r>
                        <a:rPr lang="en-US" sz="1600" b="1" kern="10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b="1" kern="100" dirty="0">
                          <a:solidFill>
                            <a:srgbClr val="000000"/>
                          </a:solidFill>
                          <a:effectLst/>
                          <a:latin typeface="標楷體" panose="03000509000000000000" pitchFamily="65" charset="-120"/>
                          <a:ea typeface="標楷體" panose="03000509000000000000" pitchFamily="65" charset="-120"/>
                        </a:rPr>
                        <a:t>670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600" kern="0" dirty="0">
                          <a:solidFill>
                            <a:srgbClr val="000000"/>
                          </a:solidFill>
                          <a:effectLst/>
                          <a:latin typeface="標楷體" panose="03000509000000000000" pitchFamily="65" charset="-120"/>
                          <a:ea typeface="標楷體" panose="03000509000000000000" pitchFamily="65" charset="-120"/>
                        </a:rPr>
                        <a:t> </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6767811"/>
                  </a:ext>
                </a:extLst>
              </a:tr>
              <a:tr h="397184">
                <a:tc>
                  <a:txBody>
                    <a:bodyPr/>
                    <a:lstStyle/>
                    <a:p>
                      <a:pPr algn="ctr">
                        <a:lnSpc>
                          <a:spcPts val="2200"/>
                        </a:lnSpc>
                        <a:buNone/>
                      </a:pPr>
                      <a:r>
                        <a:rPr lang="zh-TW" sz="1600" kern="100">
                          <a:solidFill>
                            <a:srgbClr val="000000"/>
                          </a:solidFill>
                          <a:effectLst/>
                          <a:latin typeface="標楷體" panose="03000509000000000000" pitchFamily="65" charset="-120"/>
                          <a:ea typeface="標楷體" panose="03000509000000000000" pitchFamily="65" charset="-120"/>
                        </a:rPr>
                        <a:t>雜支</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670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67640" algn="ct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1</a:t>
                      </a:r>
                      <a:r>
                        <a:rPr lang="zh-TW" sz="1600" kern="100">
                          <a:solidFill>
                            <a:srgbClr val="000000"/>
                          </a:solidFill>
                          <a:effectLst/>
                          <a:latin typeface="標楷體" panose="03000509000000000000" pitchFamily="65" charset="-120"/>
                          <a:ea typeface="標楷體" panose="03000509000000000000" pitchFamily="65" charset="-120"/>
                        </a:rPr>
                        <a:t>式</a:t>
                      </a:r>
                    </a:p>
                  </a:txBody>
                  <a:tcPr marL="0" marR="0" marT="0" marB="0" anchor="ctr">
                    <a:lnL w="12700" cap="flat" cmpd="sng" algn="ctr">
                      <a:solidFill>
                        <a:srgbClr val="000000"/>
                      </a:solidFill>
                      <a:prstDash val="solid"/>
                      <a:round/>
                      <a:headEnd type="none" w="med" len="med"/>
                      <a:tailEnd type="none" w="med" len="med"/>
                    </a:lnL>
                  </a:tcPr>
                </a:tc>
                <a:tc>
                  <a:txBody>
                    <a:bodyPr/>
                    <a:lstStyle/>
                    <a:p>
                      <a:pPr marR="91440" algn="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670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tc>
                <a:tc>
                  <a:txBody>
                    <a:bodyPr/>
                    <a:lstStyle/>
                    <a:p>
                      <a:pPr marR="90805" algn="r">
                        <a:lnSpc>
                          <a:spcPts val="2200"/>
                        </a:lnSpc>
                        <a:buNone/>
                      </a:pPr>
                      <a:r>
                        <a:rPr lang="en-US" sz="1600" kern="100">
                          <a:solidFill>
                            <a:srgbClr val="000000"/>
                          </a:solidFill>
                          <a:effectLst/>
                          <a:latin typeface="標楷體" panose="03000509000000000000" pitchFamily="65" charset="-120"/>
                          <a:ea typeface="標楷體" panose="03000509000000000000" pitchFamily="65" charset="-120"/>
                        </a:rPr>
                        <a:t>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kern="100" dirty="0">
                          <a:solidFill>
                            <a:srgbClr val="000000"/>
                          </a:solidFill>
                          <a:effectLst/>
                          <a:latin typeface="標楷體" panose="03000509000000000000" pitchFamily="65" charset="-120"/>
                          <a:ea typeface="標楷體" panose="03000509000000000000" pitchFamily="65" charset="-120"/>
                        </a:rPr>
                        <a:t>670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600" kern="0" dirty="0">
                          <a:solidFill>
                            <a:srgbClr val="000000"/>
                          </a:solidFill>
                          <a:effectLst/>
                          <a:latin typeface="標楷體" panose="03000509000000000000" pitchFamily="65" charset="-120"/>
                          <a:ea typeface="標楷體" panose="03000509000000000000" pitchFamily="65" charset="-120"/>
                        </a:rPr>
                        <a:t> </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1443162"/>
                  </a:ext>
                </a:extLst>
              </a:tr>
              <a:tr h="180568">
                <a:tc gridSpan="3">
                  <a:txBody>
                    <a:bodyPr/>
                    <a:lstStyle/>
                    <a:p>
                      <a:pPr marL="243840" algn="ctr">
                        <a:lnSpc>
                          <a:spcPts val="2200"/>
                        </a:lnSpc>
                        <a:buNone/>
                      </a:pPr>
                      <a:r>
                        <a:rPr lang="zh-TW" sz="16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總</a:t>
                      </a:r>
                      <a:r>
                        <a:rPr lang="en-US" sz="16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  </a:t>
                      </a:r>
                      <a:r>
                        <a:rPr lang="zh-TW" sz="16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計</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2200"/>
                        </a:lnSpc>
                        <a:buNone/>
                      </a:pPr>
                      <a:r>
                        <a:rPr lang="en-US" sz="1600" b="1"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104,170</a:t>
                      </a:r>
                      <a:endParaRPr lang="zh-TW" sz="16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tc>
                  <a:txBody>
                    <a:bodyPr/>
                    <a:lstStyle/>
                    <a:p>
                      <a:pPr algn="r">
                        <a:lnSpc>
                          <a:spcPts val="2200"/>
                        </a:lnSpc>
                        <a:buNone/>
                      </a:pPr>
                      <a:r>
                        <a:rPr lang="en-US" sz="1600" b="1" kern="100" dirty="0">
                          <a:solidFill>
                            <a:srgbClr val="000000"/>
                          </a:solidFill>
                          <a:effectLst/>
                          <a:latin typeface="標楷體" panose="03000509000000000000" pitchFamily="65" charset="-120"/>
                          <a:ea typeface="標楷體" panose="03000509000000000000" pitchFamily="65" charset="-120"/>
                        </a:rPr>
                        <a:t>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1145" marR="91440" algn="r">
                        <a:lnSpc>
                          <a:spcPts val="2200"/>
                        </a:lnSpc>
                        <a:buNone/>
                      </a:pPr>
                      <a:r>
                        <a:rPr lang="en-US" sz="16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104,170</a:t>
                      </a:r>
                      <a:endParaRPr lang="zh-TW" sz="16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300" kern="0" dirty="0">
                          <a:solidFill>
                            <a:srgbClr val="000000"/>
                          </a:solidFill>
                          <a:effectLst/>
                          <a:latin typeface="標楷體" panose="03000509000000000000" pitchFamily="65" charset="-120"/>
                          <a:ea typeface="標楷體" panose="03000509000000000000" pitchFamily="65" charset="-120"/>
                        </a:rPr>
                        <a:t> </a:t>
                      </a:r>
                      <a:endParaRPr lang="zh-TW" sz="12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9093993"/>
                  </a:ext>
                </a:extLst>
              </a:tr>
            </a:tbl>
          </a:graphicData>
        </a:graphic>
      </p:graphicFrame>
    </p:spTree>
    <p:extLst>
      <p:ext uri="{BB962C8B-B14F-4D97-AF65-F5344CB8AC3E}">
        <p14:creationId xmlns:p14="http://schemas.microsoft.com/office/powerpoint/2010/main" val="32258416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5E321-0300-F57C-A6B6-426FBDB70F0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7582116-064F-E792-233D-4437699A1EF9}"/>
              </a:ext>
            </a:extLst>
          </p:cNvPr>
          <p:cNvSpPr>
            <a:spLocks noGrp="1"/>
          </p:cNvSpPr>
          <p:nvPr>
            <p:ph type="title"/>
          </p:nvPr>
        </p:nvSpPr>
        <p:spPr>
          <a:xfrm>
            <a:off x="2406588" y="124836"/>
            <a:ext cx="4330824" cy="563562"/>
          </a:xfrm>
        </p:spPr>
        <p:txBody>
          <a:bodyPr/>
          <a:lstStyle/>
          <a:p>
            <a:r>
              <a:rPr lang="zh-TW" altLang="en-US" sz="3200" dirty="0">
                <a:solidFill>
                  <a:srgbClr val="FFFFFF"/>
                </a:solidFill>
                <a:latin typeface="華康隸書體W7" panose="02010609010101010101" pitchFamily="49" charset="-120"/>
                <a:ea typeface="華康隸書體W7" panose="02010609010101010101" pitchFamily="49" charset="-120"/>
              </a:rPr>
              <a:t>子計畫六：提案培力 </a:t>
            </a:r>
            <a:endParaRPr lang="zh-TW" altLang="en-US" sz="2400" dirty="0"/>
          </a:p>
        </p:txBody>
      </p:sp>
      <p:sp>
        <p:nvSpPr>
          <p:cNvPr id="3" name="內容版面配置區 2">
            <a:extLst>
              <a:ext uri="{FF2B5EF4-FFF2-40B4-BE49-F238E27FC236}">
                <a16:creationId xmlns:a16="http://schemas.microsoft.com/office/drawing/2014/main" id="{15C41BD6-0B50-8167-90CF-6380D855FE92}"/>
              </a:ext>
            </a:extLst>
          </p:cNvPr>
          <p:cNvSpPr>
            <a:spLocks noGrp="1"/>
          </p:cNvSpPr>
          <p:nvPr>
            <p:ph idx="1"/>
          </p:nvPr>
        </p:nvSpPr>
        <p:spPr>
          <a:xfrm>
            <a:off x="4154202" y="979264"/>
            <a:ext cx="861492" cy="473596"/>
          </a:xfrm>
        </p:spPr>
        <p:txBody>
          <a:bodyPr/>
          <a:lstStyle/>
          <a:p>
            <a:pPr marL="0" indent="0" algn="ctr">
              <a:buNone/>
            </a:pPr>
            <a:r>
              <a:rPr lang="zh-TW" altLang="en-US" sz="2400" b="1" dirty="0">
                <a:solidFill>
                  <a:srgbClr val="FF0000"/>
                </a:solidFill>
                <a:latin typeface="標楷體" pitchFamily="65" charset="-120"/>
                <a:ea typeface="標楷體" pitchFamily="65" charset="-120"/>
              </a:rPr>
              <a:t>目的</a:t>
            </a:r>
          </a:p>
        </p:txBody>
      </p:sp>
      <p:sp>
        <p:nvSpPr>
          <p:cNvPr id="4" name="矩形 3">
            <a:extLst>
              <a:ext uri="{FF2B5EF4-FFF2-40B4-BE49-F238E27FC236}">
                <a16:creationId xmlns:a16="http://schemas.microsoft.com/office/drawing/2014/main" id="{CBAA44FE-8EAC-B15B-4E08-CD95DAA8E095}"/>
              </a:ext>
            </a:extLst>
          </p:cNvPr>
          <p:cNvSpPr/>
          <p:nvPr/>
        </p:nvSpPr>
        <p:spPr>
          <a:xfrm>
            <a:off x="693440" y="1556792"/>
            <a:ext cx="7783016" cy="1435201"/>
          </a:xfrm>
          <a:prstGeom prst="rect">
            <a:avLst/>
          </a:prstGeom>
        </p:spPr>
        <p:txBody>
          <a:bodyPr wrap="square">
            <a:spAutoFit/>
          </a:bodyPr>
          <a:lstStyle/>
          <a:p>
            <a:pPr marL="360000" marR="0" lvl="0" indent="0" algn="just" defTabSz="914400" rtl="0" eaLnBrk="1" fontAlgn="auto" latinLnBrk="0" hangingPunct="1">
              <a:lnSpc>
                <a:spcPts val="3600"/>
              </a:lnSpc>
              <a:spcBef>
                <a:spcPts val="0"/>
              </a:spcBef>
              <a:spcAft>
                <a:spcPts val="0"/>
              </a:spcAft>
              <a:buClrTx/>
              <a:buSzTx/>
              <a:buFontTx/>
              <a:buNone/>
              <a:tabLst>
                <a:tab pos="622300" algn="l"/>
              </a:tabLst>
              <a:defRPr/>
            </a:pP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在申請計畫過程中，計畫內容可能有不足或是能再加強之處，因此需請專家進行計畫審視，並提供專業，以提升計畫通過的可能性。</a:t>
            </a:r>
            <a:endParaRPr kumimoji="0" lang="zh-TW" altLang="en-US" sz="2400" b="1" i="0" u="none" strike="noStrike" kern="100" cap="none" spc="0" normalizeH="0" baseline="0" noProof="0" dirty="0">
              <a:ln>
                <a:noFill/>
              </a:ln>
              <a:solidFill>
                <a:srgbClr val="FF0000"/>
              </a:solidFill>
              <a:effectLst/>
              <a:uLnTx/>
              <a:uFillTx/>
              <a:latin typeface="Times New Roman"/>
              <a:ea typeface="標楷體"/>
              <a:cs typeface="+mn-cs"/>
            </a:endParaRPr>
          </a:p>
        </p:txBody>
      </p:sp>
      <p:sp>
        <p:nvSpPr>
          <p:cNvPr id="5" name="內容版面配置區 2">
            <a:extLst>
              <a:ext uri="{FF2B5EF4-FFF2-40B4-BE49-F238E27FC236}">
                <a16:creationId xmlns:a16="http://schemas.microsoft.com/office/drawing/2014/main" id="{26E5D412-2B28-58EA-AA76-0DA3DFF22A46}"/>
              </a:ext>
            </a:extLst>
          </p:cNvPr>
          <p:cNvSpPr txBox="1">
            <a:spLocks/>
          </p:cNvSpPr>
          <p:nvPr/>
        </p:nvSpPr>
        <p:spPr bwMode="auto">
          <a:xfrm>
            <a:off x="3849551" y="3858120"/>
            <a:ext cx="1444898" cy="58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6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marR="0" lvl="0" indent="0" algn="ctr" defTabSz="914400" rtl="0" eaLnBrk="0" fontAlgn="base" latinLnBrk="0" hangingPunct="0">
              <a:lnSpc>
                <a:spcPct val="100000"/>
              </a:lnSpc>
              <a:spcBef>
                <a:spcPct val="20000"/>
              </a:spcBef>
              <a:spcAft>
                <a:spcPct val="0"/>
              </a:spcAft>
              <a:buClr>
                <a:srgbClr val="69AAB1"/>
              </a:buClr>
              <a:buSzTx/>
              <a:buFont typeface="Wingdings" pitchFamily="2" charset="2"/>
              <a:buNone/>
              <a:tabLst/>
              <a:defRPr/>
            </a:pPr>
            <a:r>
              <a:rPr kumimoji="0" lang="zh-TW" altLang="en-US" sz="2400" b="1" i="0" u="none" strike="noStrike" kern="0" cap="none" spc="0" normalizeH="0" baseline="0" noProof="0" dirty="0">
                <a:ln>
                  <a:noFill/>
                </a:ln>
                <a:solidFill>
                  <a:srgbClr val="FF0000"/>
                </a:solidFill>
                <a:effectLst/>
                <a:uLnTx/>
                <a:uFillTx/>
                <a:latin typeface="標楷體" pitchFamily="65" charset="-120"/>
                <a:ea typeface="標楷體" pitchFamily="65" charset="-120"/>
                <a:cs typeface="+mn-cs"/>
              </a:rPr>
              <a:t>服務對象</a:t>
            </a:r>
            <a:endParaRPr kumimoji="0" lang="zh-TW" altLang="en-US" sz="2800" b="1" i="0" u="none" strike="noStrike" kern="0" cap="none" spc="0" normalizeH="0" baseline="0" noProof="0" dirty="0">
              <a:ln>
                <a:noFill/>
              </a:ln>
              <a:solidFill>
                <a:srgbClr val="FF0000"/>
              </a:solidFill>
              <a:effectLst/>
              <a:uLnTx/>
              <a:uFillTx/>
              <a:latin typeface="標楷體" pitchFamily="65" charset="-120"/>
              <a:ea typeface="標楷體" pitchFamily="65" charset="-120"/>
              <a:cs typeface="+mn-cs"/>
            </a:endParaRPr>
          </a:p>
        </p:txBody>
      </p:sp>
      <p:sp>
        <p:nvSpPr>
          <p:cNvPr id="6" name="矩形 5">
            <a:extLst>
              <a:ext uri="{FF2B5EF4-FFF2-40B4-BE49-F238E27FC236}">
                <a16:creationId xmlns:a16="http://schemas.microsoft.com/office/drawing/2014/main" id="{3BC32DC0-943F-E7E9-178E-E697B08B4ABD}"/>
              </a:ext>
            </a:extLst>
          </p:cNvPr>
          <p:cNvSpPr/>
          <p:nvPr/>
        </p:nvSpPr>
        <p:spPr>
          <a:xfrm>
            <a:off x="1804290" y="4653136"/>
            <a:ext cx="5561316" cy="540725"/>
          </a:xfrm>
          <a:prstGeom prst="rect">
            <a:avLst/>
          </a:prstGeom>
        </p:spPr>
        <p:txBody>
          <a:bodyPr wrap="square">
            <a:spAutoFit/>
          </a:bodyPr>
          <a:lstStyle/>
          <a:p>
            <a:pPr marL="0" marR="0" lvl="0" indent="0" algn="just" defTabSz="914400" rtl="0" eaLnBrk="1" fontAlgn="auto" latinLnBrk="0" hangingPunct="1">
              <a:lnSpc>
                <a:spcPts val="3900"/>
              </a:lnSpc>
              <a:spcBef>
                <a:spcPts val="0"/>
              </a:spcBef>
              <a:spcAft>
                <a:spcPts val="0"/>
              </a:spcAft>
              <a:buClrTx/>
              <a:buSzTx/>
              <a:buFontTx/>
              <a:buNone/>
              <a:tabLst/>
              <a:defRPr/>
            </a:pPr>
            <a:r>
              <a:rPr kumimoji="0" lang="zh-TW" altLang="en-US"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小旗艦</a:t>
            </a: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5</a:t>
            </a:r>
            <a:r>
              <a:rPr kumimoji="0" lang="zh-TW" altLang="en-US"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社區欲於申請</a:t>
            </a: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116</a:t>
            </a:r>
            <a:r>
              <a:rPr kumimoji="0" lang="zh-TW" altLang="en-US"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年計畫之社區。</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p:txBody>
      </p:sp>
    </p:spTree>
    <p:extLst>
      <p:ext uri="{BB962C8B-B14F-4D97-AF65-F5344CB8AC3E}">
        <p14:creationId xmlns:p14="http://schemas.microsoft.com/office/powerpoint/2010/main" val="32287243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708BB-A652-0A43-0E4B-7CD0B8A4F5BD}"/>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E2D21FF0-EDDA-7174-A089-43368ECB7D5A}"/>
              </a:ext>
            </a:extLst>
          </p:cNvPr>
          <p:cNvSpPr>
            <a:spLocks noGrp="1"/>
          </p:cNvSpPr>
          <p:nvPr>
            <p:ph idx="1"/>
          </p:nvPr>
        </p:nvSpPr>
        <p:spPr>
          <a:xfrm>
            <a:off x="457200" y="729327"/>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內容</a:t>
            </a:r>
          </a:p>
        </p:txBody>
      </p:sp>
      <p:sp>
        <p:nvSpPr>
          <p:cNvPr id="4" name="矩形 3">
            <a:extLst>
              <a:ext uri="{FF2B5EF4-FFF2-40B4-BE49-F238E27FC236}">
                <a16:creationId xmlns:a16="http://schemas.microsoft.com/office/drawing/2014/main" id="{20113C43-AEE8-629F-FBBB-333D7C237464}"/>
              </a:ext>
            </a:extLst>
          </p:cNvPr>
          <p:cNvSpPr/>
          <p:nvPr/>
        </p:nvSpPr>
        <p:spPr>
          <a:xfrm>
            <a:off x="143508" y="1332627"/>
            <a:ext cx="8856984" cy="5158079"/>
          </a:xfrm>
          <a:prstGeom prst="rect">
            <a:avLst/>
          </a:prstGeom>
        </p:spPr>
        <p:txBody>
          <a:bodyPr wrap="square">
            <a:spAutoFit/>
          </a:bodyPr>
          <a:lstStyle/>
          <a:p>
            <a:pPr marL="901700" marR="0" lvl="0" indent="-457200" algn="just" defTabSz="914400" rtl="0" eaLnBrk="1" fontAlgn="auto" latinLnBrk="0" hangingPunct="1">
              <a:lnSpc>
                <a:spcPts val="4000"/>
              </a:lnSpc>
              <a:spcBef>
                <a:spcPts val="0"/>
              </a:spcBef>
              <a:spcAft>
                <a:spcPts val="0"/>
              </a:spcAft>
              <a:buClrTx/>
              <a:buSzTx/>
              <a:buFontTx/>
              <a:buNone/>
              <a:tabLst/>
              <a:defRPr/>
            </a:pPr>
            <a:r>
              <a:rPr kumimoji="0" lang="zh-TW" altLang="en-US" sz="21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①</a:t>
            </a:r>
            <a:r>
              <a:rPr kumimoji="0" lang="zh-TW" altLang="en-US" sz="24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 </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請欲申請計畫的社區先將計畫草案撰寫完成，再請專家以團督或個督方式輔導社區，給予計畫專業的建議。</a:t>
            </a:r>
          </a:p>
          <a:p>
            <a:pPr marL="3598863" marR="0" lvl="0" indent="-3154363" algn="just" defTabSz="914400" rtl="0" eaLnBrk="1" fontAlgn="auto" latinLnBrk="0" hangingPunct="1">
              <a:lnSpc>
                <a:spcPts val="4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②</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以下為小旗艦社區欲申請的計畫</a:t>
            </a:r>
          </a:p>
          <a:p>
            <a:pPr marL="3598863" marR="0" lvl="0" indent="-2608263" algn="just" defTabSz="914400" rtl="0" eaLnBrk="1" fontAlgn="auto" latinLnBrk="0" hangingPunct="1">
              <a:lnSpc>
                <a:spcPts val="4000"/>
              </a:lnSpc>
              <a:spcBef>
                <a:spcPts val="0"/>
              </a:spcBef>
              <a:spcAft>
                <a:spcPts val="0"/>
              </a:spcAft>
              <a:buClrTx/>
              <a:buSzTx/>
              <a:buFontTx/>
              <a:buNone/>
              <a:tabLst/>
              <a:defRPr/>
            </a:pP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A.</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富邦公益大使計畫</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：富州社區（提案時間：</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4~5</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月底）</a:t>
            </a:r>
          </a:p>
          <a:p>
            <a:pPr marL="1257300" marR="0" lvl="0" indent="-266700" algn="just" defTabSz="914400" rtl="0" eaLnBrk="1" fontAlgn="auto" latinLnBrk="0" hangingPunct="1">
              <a:lnSpc>
                <a:spcPts val="4000"/>
              </a:lnSpc>
              <a:spcBef>
                <a:spcPts val="0"/>
              </a:spcBef>
              <a:spcAft>
                <a:spcPts val="0"/>
              </a:spcAft>
              <a:buClrTx/>
              <a:buSzTx/>
              <a:buFontTx/>
              <a:buNone/>
              <a:tabLst/>
              <a:defRPr/>
            </a:pP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B.</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幸福發芽</a:t>
            </a: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微型扶植補助專案</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：中央社區、社寮社區、中崎社區（提案時間：</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8/19~9/6</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a:t>
            </a:r>
          </a:p>
          <a:p>
            <a:pPr marL="3598863" marR="0" lvl="0" indent="-2608263" algn="just" defTabSz="914400" rtl="0" eaLnBrk="1" fontAlgn="auto" latinLnBrk="0" hangingPunct="1">
              <a:lnSpc>
                <a:spcPts val="4000"/>
              </a:lnSpc>
              <a:spcBef>
                <a:spcPts val="0"/>
              </a:spcBef>
              <a:spcAft>
                <a:spcPts val="0"/>
              </a:spcAft>
              <a:buClrTx/>
              <a:buSzTx/>
              <a:buFontTx/>
              <a:buNone/>
              <a:tabLst/>
              <a:defRPr/>
            </a:pPr>
            <a:r>
              <a:rPr kumimoji="0" lang="en-US" altLang="zh-TW"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C.</a:t>
            </a:r>
            <a:r>
              <a:rPr kumimoji="0" lang="zh-TW" altLang="en-US" sz="2100" b="1"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聯合勸募年度方案</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：富州社區（提案時間：</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9/1~9/30</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a:t>
            </a:r>
          </a:p>
          <a:p>
            <a:pPr marL="3598863" marR="0" lvl="0" indent="-2786063" algn="just" defTabSz="914400" rtl="0" eaLnBrk="1" fontAlgn="auto" latinLnBrk="0" hangingPunct="1">
              <a:lnSpc>
                <a:spcPts val="4000"/>
              </a:lnSpc>
              <a:spcBef>
                <a:spcPts val="0"/>
              </a:spcBef>
              <a:spcAft>
                <a:spcPts val="0"/>
              </a:spcAft>
              <a:buClrTx/>
              <a:buSzTx/>
              <a:buFontTx/>
              <a:buNone/>
              <a:tabLst/>
              <a:defRPr/>
            </a:pP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以上預計共</a:t>
            </a:r>
            <a:r>
              <a:rPr kumimoji="0" lang="en-US" altLang="zh-TW"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3</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次團督。</a:t>
            </a:r>
          </a:p>
          <a:p>
            <a:pPr marL="3598863" marR="0" lvl="0" indent="-3154363" algn="just" defTabSz="914400" rtl="0" eaLnBrk="1" fontAlgn="auto" latinLnBrk="0" hangingPunct="1">
              <a:lnSpc>
                <a:spcPts val="4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③</a:t>
            </a:r>
            <a:r>
              <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評估方式：團督或個督紀錄。</a:t>
            </a:r>
          </a:p>
          <a:p>
            <a:pPr marL="3598863" marR="0" lvl="0" indent="-3154363" algn="just" defTabSz="914400" rtl="0" eaLnBrk="1" fontAlgn="auto" latinLnBrk="0" hangingPunct="1">
              <a:lnSpc>
                <a:spcPts val="4000"/>
              </a:lnSpc>
              <a:spcBef>
                <a:spcPts val="0"/>
              </a:spcBef>
              <a:spcAft>
                <a:spcPts val="0"/>
              </a:spcAft>
              <a:buClrTx/>
              <a:buSzTx/>
              <a:buFontTx/>
              <a:buNone/>
              <a:tabLst/>
              <a:defRPr/>
            </a:pPr>
            <a:endParaRPr kumimoji="0" lang="zh-TW" altLang="en-US" sz="21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endParaRPr>
          </a:p>
        </p:txBody>
      </p:sp>
      <p:sp>
        <p:nvSpPr>
          <p:cNvPr id="6" name="標題 1">
            <a:extLst>
              <a:ext uri="{FF2B5EF4-FFF2-40B4-BE49-F238E27FC236}">
                <a16:creationId xmlns:a16="http://schemas.microsoft.com/office/drawing/2014/main" id="{09E954D1-5382-48EA-E74C-C0D8EA759F36}"/>
              </a:ext>
            </a:extLst>
          </p:cNvPr>
          <p:cNvSpPr>
            <a:spLocks noGrp="1"/>
          </p:cNvSpPr>
          <p:nvPr>
            <p:ph type="title"/>
          </p:nvPr>
        </p:nvSpPr>
        <p:spPr>
          <a:xfrm>
            <a:off x="2406588" y="124836"/>
            <a:ext cx="4330824" cy="563562"/>
          </a:xfrm>
        </p:spPr>
        <p:txBody>
          <a:bodyPr/>
          <a:lstStyle/>
          <a:p>
            <a:r>
              <a:rPr lang="zh-TW" altLang="en-US" sz="3200" dirty="0">
                <a:solidFill>
                  <a:srgbClr val="FFFFFF"/>
                </a:solidFill>
                <a:latin typeface="華康隸書體W7" panose="02010609010101010101" pitchFamily="49" charset="-120"/>
                <a:ea typeface="華康隸書體W7" panose="02010609010101010101" pitchFamily="49" charset="-120"/>
              </a:rPr>
              <a:t>子計畫六：提案培力 </a:t>
            </a:r>
            <a:endParaRPr lang="zh-TW" altLang="en-US" sz="2400" dirty="0"/>
          </a:p>
        </p:txBody>
      </p:sp>
    </p:spTree>
    <p:extLst>
      <p:ext uri="{BB962C8B-B14F-4D97-AF65-F5344CB8AC3E}">
        <p14:creationId xmlns:p14="http://schemas.microsoft.com/office/powerpoint/2010/main" val="6678375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37981-61E9-81E4-60B5-C5BCDCD6BF4C}"/>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BAA03FA-1D7B-2848-F7A2-E05479E7770B}"/>
              </a:ext>
            </a:extLst>
          </p:cNvPr>
          <p:cNvSpPr>
            <a:spLocks noGrp="1"/>
          </p:cNvSpPr>
          <p:nvPr>
            <p:ph idx="1"/>
          </p:nvPr>
        </p:nvSpPr>
        <p:spPr>
          <a:xfrm>
            <a:off x="457200" y="1412776"/>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效益</a:t>
            </a:r>
            <a:endParaRPr lang="en-US" altLang="zh-TW" sz="2800" b="1" dirty="0">
              <a:solidFill>
                <a:srgbClr val="FF0000"/>
              </a:solidFill>
              <a:latin typeface="標楷體" pitchFamily="65" charset="-120"/>
              <a:ea typeface="標楷體" pitchFamily="65" charset="-120"/>
            </a:endParaRPr>
          </a:p>
        </p:txBody>
      </p:sp>
      <p:sp>
        <p:nvSpPr>
          <p:cNvPr id="4" name="矩形 3">
            <a:extLst>
              <a:ext uri="{FF2B5EF4-FFF2-40B4-BE49-F238E27FC236}">
                <a16:creationId xmlns:a16="http://schemas.microsoft.com/office/drawing/2014/main" id="{0D88D0FB-EBA3-919E-39BB-1E4E34105FC0}"/>
              </a:ext>
            </a:extLst>
          </p:cNvPr>
          <p:cNvSpPr/>
          <p:nvPr/>
        </p:nvSpPr>
        <p:spPr>
          <a:xfrm>
            <a:off x="1238799" y="2132856"/>
            <a:ext cx="6666402" cy="2341923"/>
          </a:xfrm>
          <a:prstGeom prst="rect">
            <a:avLst/>
          </a:prstGeom>
        </p:spPr>
        <p:txBody>
          <a:bodyPr wrap="square">
            <a:spAutoFit/>
          </a:bodyPr>
          <a:lstStyle/>
          <a:p>
            <a:pPr marL="985838" marR="0" lvl="0" indent="-1527175"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1</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）提升社區撰寫計畫的專業能力與獨立性。</a:t>
            </a:r>
          </a:p>
          <a:p>
            <a:pPr marL="985838" marR="0" lvl="0" indent="-1527175"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2</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）提高計畫申請通過率，促進資源進入社區。</a:t>
            </a:r>
          </a:p>
        </p:txBody>
      </p:sp>
      <p:sp>
        <p:nvSpPr>
          <p:cNvPr id="6" name="標題 1">
            <a:extLst>
              <a:ext uri="{FF2B5EF4-FFF2-40B4-BE49-F238E27FC236}">
                <a16:creationId xmlns:a16="http://schemas.microsoft.com/office/drawing/2014/main" id="{31EEE59C-A467-3378-B3AE-9BFF58D9B19B}"/>
              </a:ext>
            </a:extLst>
          </p:cNvPr>
          <p:cNvSpPr>
            <a:spLocks noGrp="1"/>
          </p:cNvSpPr>
          <p:nvPr>
            <p:ph type="title"/>
          </p:nvPr>
        </p:nvSpPr>
        <p:spPr>
          <a:xfrm>
            <a:off x="2406588" y="124836"/>
            <a:ext cx="4330824" cy="563562"/>
          </a:xfrm>
        </p:spPr>
        <p:txBody>
          <a:bodyPr/>
          <a:lstStyle/>
          <a:p>
            <a:r>
              <a:rPr lang="zh-TW" altLang="en-US" sz="3200" dirty="0">
                <a:solidFill>
                  <a:srgbClr val="FFFFFF"/>
                </a:solidFill>
                <a:latin typeface="華康隸書體W7" panose="02010609010101010101" pitchFamily="49" charset="-120"/>
                <a:ea typeface="華康隸書體W7" panose="02010609010101010101" pitchFamily="49" charset="-120"/>
              </a:rPr>
              <a:t>子計畫六：提案培力 </a:t>
            </a:r>
            <a:endParaRPr lang="zh-TW" altLang="en-US" sz="2400" dirty="0"/>
          </a:p>
        </p:txBody>
      </p:sp>
    </p:spTree>
    <p:extLst>
      <p:ext uri="{BB962C8B-B14F-4D97-AF65-F5344CB8AC3E}">
        <p14:creationId xmlns:p14="http://schemas.microsoft.com/office/powerpoint/2010/main" val="22780754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B4C27-037F-2790-8FF3-70728FD434F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F241F6A-E3F2-D6AB-60ED-25F30EA94821}"/>
              </a:ext>
            </a:extLst>
          </p:cNvPr>
          <p:cNvSpPr>
            <a:spLocks noGrp="1"/>
          </p:cNvSpPr>
          <p:nvPr>
            <p:ph type="title"/>
          </p:nvPr>
        </p:nvSpPr>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提案培力經費表</a:t>
            </a:r>
            <a:endParaRPr lang="zh-TW" altLang="en-US" sz="3600" dirty="0"/>
          </a:p>
        </p:txBody>
      </p:sp>
      <p:graphicFrame>
        <p:nvGraphicFramePr>
          <p:cNvPr id="8" name="表格 7">
            <a:extLst>
              <a:ext uri="{FF2B5EF4-FFF2-40B4-BE49-F238E27FC236}">
                <a16:creationId xmlns:a16="http://schemas.microsoft.com/office/drawing/2014/main" id="{2E90FEEB-0778-669F-1BE0-5470B93F7583}"/>
              </a:ext>
            </a:extLst>
          </p:cNvPr>
          <p:cNvGraphicFramePr>
            <a:graphicFrameLocks noGrp="1"/>
          </p:cNvGraphicFramePr>
          <p:nvPr/>
        </p:nvGraphicFramePr>
        <p:xfrm>
          <a:off x="381000" y="1437354"/>
          <a:ext cx="8381999" cy="3983292"/>
        </p:xfrm>
        <a:graphic>
          <a:graphicData uri="http://schemas.openxmlformats.org/drawingml/2006/table">
            <a:tbl>
              <a:tblPr firstRow="1" firstCol="1" bandRow="1"/>
              <a:tblGrid>
                <a:gridCol w="1644017">
                  <a:extLst>
                    <a:ext uri="{9D8B030D-6E8A-4147-A177-3AD203B41FA5}">
                      <a16:colId xmlns:a16="http://schemas.microsoft.com/office/drawing/2014/main" val="3087563472"/>
                    </a:ext>
                  </a:extLst>
                </a:gridCol>
                <a:gridCol w="839134">
                  <a:extLst>
                    <a:ext uri="{9D8B030D-6E8A-4147-A177-3AD203B41FA5}">
                      <a16:colId xmlns:a16="http://schemas.microsoft.com/office/drawing/2014/main" val="1951391288"/>
                    </a:ext>
                  </a:extLst>
                </a:gridCol>
                <a:gridCol w="1074995">
                  <a:extLst>
                    <a:ext uri="{9D8B030D-6E8A-4147-A177-3AD203B41FA5}">
                      <a16:colId xmlns:a16="http://schemas.microsoft.com/office/drawing/2014/main" val="2374905961"/>
                    </a:ext>
                  </a:extLst>
                </a:gridCol>
                <a:gridCol w="1077330">
                  <a:extLst>
                    <a:ext uri="{9D8B030D-6E8A-4147-A177-3AD203B41FA5}">
                      <a16:colId xmlns:a16="http://schemas.microsoft.com/office/drawing/2014/main" val="1048261519"/>
                    </a:ext>
                  </a:extLst>
                </a:gridCol>
                <a:gridCol w="1077330">
                  <a:extLst>
                    <a:ext uri="{9D8B030D-6E8A-4147-A177-3AD203B41FA5}">
                      <a16:colId xmlns:a16="http://schemas.microsoft.com/office/drawing/2014/main" val="1979967240"/>
                    </a:ext>
                  </a:extLst>
                </a:gridCol>
                <a:gridCol w="1096012">
                  <a:extLst>
                    <a:ext uri="{9D8B030D-6E8A-4147-A177-3AD203B41FA5}">
                      <a16:colId xmlns:a16="http://schemas.microsoft.com/office/drawing/2014/main" val="3179212585"/>
                    </a:ext>
                  </a:extLst>
                </a:gridCol>
                <a:gridCol w="1573181">
                  <a:extLst>
                    <a:ext uri="{9D8B030D-6E8A-4147-A177-3AD203B41FA5}">
                      <a16:colId xmlns:a16="http://schemas.microsoft.com/office/drawing/2014/main" val="80056087"/>
                    </a:ext>
                  </a:extLst>
                </a:gridCol>
              </a:tblGrid>
              <a:tr h="342507">
                <a:tc>
                  <a:txBody>
                    <a:bodyPr/>
                    <a:lstStyle/>
                    <a:p>
                      <a:pPr algn="ctr">
                        <a:lnSpc>
                          <a:spcPts val="2200"/>
                        </a:lnSpc>
                        <a:buNone/>
                      </a:pPr>
                      <a:r>
                        <a:rPr lang="zh-HK" sz="1800" kern="100" dirty="0">
                          <a:solidFill>
                            <a:srgbClr val="000000"/>
                          </a:solidFill>
                          <a:effectLst/>
                          <a:latin typeface="標楷體" panose="03000509000000000000" pitchFamily="65" charset="-120"/>
                          <a:ea typeface="標楷體" panose="03000509000000000000" pitchFamily="65" charset="-120"/>
                        </a:rPr>
                        <a:t>項目</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1800" kern="100">
                          <a:solidFill>
                            <a:srgbClr val="000000"/>
                          </a:solidFill>
                          <a:effectLst/>
                          <a:latin typeface="標楷體" panose="03000509000000000000" pitchFamily="65" charset="-120"/>
                          <a:ea typeface="標楷體" panose="03000509000000000000" pitchFamily="65" charset="-120"/>
                        </a:rPr>
                        <a:t>單價</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1800" kern="100">
                          <a:solidFill>
                            <a:srgbClr val="000000"/>
                          </a:solidFill>
                          <a:effectLst/>
                          <a:latin typeface="標楷體" panose="03000509000000000000" pitchFamily="65" charset="-120"/>
                          <a:ea typeface="標楷體" panose="03000509000000000000" pitchFamily="65" charset="-120"/>
                        </a:rPr>
                        <a:t>數量</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1800" kern="100">
                          <a:solidFill>
                            <a:srgbClr val="000000"/>
                          </a:solidFill>
                          <a:effectLst/>
                          <a:latin typeface="標楷體" panose="03000509000000000000" pitchFamily="65" charset="-120"/>
                          <a:ea typeface="標楷體" panose="03000509000000000000" pitchFamily="65" charset="-120"/>
                        </a:rPr>
                        <a:t>總金額</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1800" kern="100">
                          <a:solidFill>
                            <a:srgbClr val="000000"/>
                          </a:solidFill>
                          <a:effectLst/>
                          <a:latin typeface="標楷體" panose="03000509000000000000" pitchFamily="65" charset="-120"/>
                          <a:ea typeface="標楷體" panose="03000509000000000000" pitchFamily="65" charset="-120"/>
                        </a:rPr>
                        <a:t>自籌</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1800" kern="100">
                          <a:solidFill>
                            <a:srgbClr val="000000"/>
                          </a:solidFill>
                          <a:effectLst/>
                          <a:latin typeface="標楷體" panose="03000509000000000000" pitchFamily="65" charset="-120"/>
                          <a:ea typeface="標楷體" panose="03000509000000000000" pitchFamily="65" charset="-120"/>
                        </a:rPr>
                        <a:t>申請補助</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1800" kern="100">
                          <a:solidFill>
                            <a:srgbClr val="000000"/>
                          </a:solidFill>
                          <a:effectLst/>
                          <a:latin typeface="標楷體" panose="03000509000000000000" pitchFamily="65" charset="-120"/>
                          <a:ea typeface="標楷體" panose="03000509000000000000" pitchFamily="65" charset="-120"/>
                        </a:rPr>
                        <a:t>說明</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911613"/>
                  </a:ext>
                </a:extLst>
              </a:tr>
              <a:tr h="342507">
                <a:tc>
                  <a:txBody>
                    <a:bodyPr/>
                    <a:lstStyle/>
                    <a:p>
                      <a:pP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1.</a:t>
                      </a:r>
                      <a:r>
                        <a:rPr lang="zh-TW" sz="1800" kern="100">
                          <a:solidFill>
                            <a:srgbClr val="000000"/>
                          </a:solidFill>
                          <a:effectLst/>
                          <a:latin typeface="標楷體" panose="03000509000000000000" pitchFamily="65" charset="-120"/>
                          <a:ea typeface="標楷體" panose="03000509000000000000" pitchFamily="65" charset="-120"/>
                        </a:rPr>
                        <a:t>專家出席費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114300" algn="r">
                        <a:lnSpc>
                          <a:spcPts val="2200"/>
                        </a:lnSpc>
                        <a:buNone/>
                      </a:pPr>
                      <a:r>
                        <a:rPr lang="en-US" sz="1800" b="1" kern="100">
                          <a:solidFill>
                            <a:srgbClr val="000000"/>
                          </a:solidFill>
                          <a:effectLst/>
                          <a:latin typeface="標楷體" panose="03000509000000000000" pitchFamily="65" charset="-120"/>
                          <a:ea typeface="標楷體" panose="03000509000000000000" pitchFamily="65" charset="-120"/>
                        </a:rPr>
                        <a:t>7,500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114300" algn="r">
                        <a:lnSpc>
                          <a:spcPts val="2200"/>
                        </a:lnSpc>
                        <a:buNone/>
                      </a:pPr>
                      <a:r>
                        <a:rPr lang="en-US" sz="1800" b="1" kern="100">
                          <a:solidFill>
                            <a:srgbClr val="000000"/>
                          </a:solidFill>
                          <a:effectLst/>
                          <a:latin typeface="標楷體" panose="03000509000000000000" pitchFamily="65" charset="-120"/>
                          <a:ea typeface="標楷體" panose="03000509000000000000" pitchFamily="65" charset="-120"/>
                        </a:rPr>
                        <a:t>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b="1" kern="100">
                          <a:solidFill>
                            <a:srgbClr val="000000"/>
                          </a:solidFill>
                          <a:effectLst/>
                          <a:latin typeface="標楷體" panose="03000509000000000000" pitchFamily="65" charset="-120"/>
                          <a:ea typeface="標楷體" panose="03000509000000000000" pitchFamily="65" charset="-120"/>
                        </a:rPr>
                        <a:t>7,500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 </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893683"/>
                  </a:ext>
                </a:extLst>
              </a:tr>
              <a:tr h="342507">
                <a:tc>
                  <a:txBody>
                    <a:bodyPr/>
                    <a:lstStyle/>
                    <a:p>
                      <a:pPr algn="ctr">
                        <a:lnSpc>
                          <a:spcPts val="2200"/>
                        </a:lnSpc>
                        <a:buNone/>
                      </a:pPr>
                      <a:r>
                        <a:rPr lang="zh-TW" sz="1800" kern="100">
                          <a:solidFill>
                            <a:srgbClr val="000000"/>
                          </a:solidFill>
                          <a:effectLst/>
                          <a:latin typeface="標楷體" panose="03000509000000000000" pitchFamily="65" charset="-120"/>
                          <a:ea typeface="標楷體" panose="03000509000000000000" pitchFamily="65" charset="-120"/>
                        </a:rPr>
                        <a:t>專家出席費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2,500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3</a:t>
                      </a:r>
                      <a:r>
                        <a:rPr lang="zh-TW" sz="1800" kern="100">
                          <a:solidFill>
                            <a:srgbClr val="000000"/>
                          </a:solidFill>
                          <a:effectLst/>
                          <a:latin typeface="標楷體" panose="03000509000000000000" pitchFamily="65" charset="-120"/>
                          <a:ea typeface="標楷體" panose="03000509000000000000" pitchFamily="65" charset="-120"/>
                        </a:rPr>
                        <a:t>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7,500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7,500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 </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1615954"/>
                  </a:ext>
                </a:extLst>
              </a:tr>
              <a:tr h="342507">
                <a:tc>
                  <a:txBody>
                    <a:bodyPr/>
                    <a:lstStyle/>
                    <a:p>
                      <a:pPr>
                        <a:lnSpc>
                          <a:spcPts val="2200"/>
                        </a:lnSpc>
                        <a:buNone/>
                      </a:pPr>
                      <a:r>
                        <a:rPr lang="en-US" sz="1800" kern="100" dirty="0">
                          <a:solidFill>
                            <a:srgbClr val="000000"/>
                          </a:solidFill>
                          <a:effectLst/>
                          <a:latin typeface="標楷體" panose="03000509000000000000" pitchFamily="65" charset="-120"/>
                          <a:ea typeface="標楷體" panose="03000509000000000000" pitchFamily="65" charset="-120"/>
                        </a:rPr>
                        <a:t>2.</a:t>
                      </a:r>
                      <a:r>
                        <a:rPr lang="zh-TW" sz="1800" kern="100" dirty="0">
                          <a:solidFill>
                            <a:srgbClr val="000000"/>
                          </a:solidFill>
                          <a:effectLst/>
                          <a:latin typeface="標楷體" panose="03000509000000000000" pitchFamily="65" charset="-120"/>
                          <a:ea typeface="標楷體" panose="03000509000000000000" pitchFamily="65" charset="-120"/>
                        </a:rPr>
                        <a:t>專家車馬費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114300" algn="r">
                        <a:lnSpc>
                          <a:spcPts val="2200"/>
                        </a:lnSpc>
                        <a:buNone/>
                      </a:pPr>
                      <a:r>
                        <a:rPr lang="en-US" sz="1800" b="1" kern="100">
                          <a:solidFill>
                            <a:srgbClr val="000000"/>
                          </a:solidFill>
                          <a:effectLst/>
                          <a:latin typeface="標楷體" panose="03000509000000000000" pitchFamily="65" charset="-120"/>
                          <a:ea typeface="標楷體" panose="03000509000000000000" pitchFamily="65" charset="-120"/>
                        </a:rPr>
                        <a:t>1,026</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114300" algn="r">
                        <a:lnSpc>
                          <a:spcPts val="2200"/>
                        </a:lnSpc>
                        <a:buNone/>
                      </a:pPr>
                      <a:r>
                        <a:rPr lang="en-US" sz="1800" b="1" kern="100">
                          <a:solidFill>
                            <a:srgbClr val="000000"/>
                          </a:solidFill>
                          <a:effectLst/>
                          <a:latin typeface="標楷體" panose="03000509000000000000" pitchFamily="65" charset="-120"/>
                          <a:ea typeface="標楷體" panose="03000509000000000000" pitchFamily="65" charset="-120"/>
                        </a:rPr>
                        <a:t>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b="1" kern="100">
                          <a:solidFill>
                            <a:srgbClr val="000000"/>
                          </a:solidFill>
                          <a:effectLst/>
                          <a:latin typeface="標楷體" panose="03000509000000000000" pitchFamily="65" charset="-120"/>
                          <a:ea typeface="標楷體" panose="03000509000000000000" pitchFamily="65" charset="-120"/>
                        </a:rPr>
                        <a:t>1,026</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 </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2279855"/>
                  </a:ext>
                </a:extLst>
              </a:tr>
              <a:tr h="1585743">
                <a:tc>
                  <a:txBody>
                    <a:bodyPr/>
                    <a:lstStyle/>
                    <a:p>
                      <a:pPr algn="ctr">
                        <a:lnSpc>
                          <a:spcPts val="2200"/>
                        </a:lnSpc>
                        <a:buNone/>
                      </a:pPr>
                      <a:r>
                        <a:rPr lang="zh-TW" sz="1800" kern="100">
                          <a:solidFill>
                            <a:srgbClr val="000000"/>
                          </a:solidFill>
                          <a:effectLst/>
                          <a:latin typeface="標楷體" panose="03000509000000000000" pitchFamily="65" charset="-120"/>
                          <a:ea typeface="標楷體" panose="03000509000000000000" pitchFamily="65" charset="-120"/>
                        </a:rPr>
                        <a:t>專家車馬費</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ct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171</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ct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6</a:t>
                      </a:r>
                      <a:r>
                        <a:rPr lang="zh-TW" sz="1800" kern="100">
                          <a:solidFill>
                            <a:srgbClr val="000000"/>
                          </a:solidFill>
                          <a:effectLst/>
                          <a:latin typeface="標楷體" panose="03000509000000000000" pitchFamily="65" charset="-120"/>
                          <a:ea typeface="標楷體" panose="03000509000000000000" pitchFamily="65" charset="-120"/>
                        </a:rPr>
                        <a:t>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ctr">
                        <a:lnSpc>
                          <a:spcPts val="2200"/>
                        </a:lnSpc>
                        <a:buNone/>
                      </a:pPr>
                      <a:r>
                        <a:rPr lang="en-US" sz="1800" kern="100" dirty="0">
                          <a:solidFill>
                            <a:srgbClr val="000000"/>
                          </a:solidFill>
                          <a:effectLst/>
                          <a:latin typeface="標楷體" panose="03000509000000000000" pitchFamily="65" charset="-120"/>
                          <a:ea typeface="標楷體" panose="03000509000000000000" pitchFamily="65" charset="-120"/>
                        </a:rPr>
                        <a:t>1,026</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dirty="0">
                          <a:solidFill>
                            <a:srgbClr val="000000"/>
                          </a:solidFill>
                          <a:effectLst/>
                          <a:latin typeface="標楷體" panose="03000509000000000000" pitchFamily="65" charset="-120"/>
                          <a:ea typeface="標楷體" panose="03000509000000000000" pitchFamily="65" charset="-120"/>
                        </a:rPr>
                        <a:t>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ct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1,026</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1600"/>
                        </a:lnSpc>
                        <a:buNone/>
                      </a:pPr>
                      <a:r>
                        <a:rPr lang="zh-TW" sz="1800" kern="100">
                          <a:solidFill>
                            <a:srgbClr val="000000"/>
                          </a:solidFill>
                          <a:effectLst/>
                          <a:latin typeface="標楷體" panose="03000509000000000000" pitchFamily="65" charset="-120"/>
                          <a:ea typeface="標楷體" panose="03000509000000000000" pitchFamily="65" charset="-120"/>
                        </a:rPr>
                        <a:t>自行開車從台中至竹山富州或中央社區約</a:t>
                      </a:r>
                      <a:r>
                        <a:rPr lang="en-US" sz="1800" kern="100">
                          <a:solidFill>
                            <a:srgbClr val="000000"/>
                          </a:solidFill>
                          <a:effectLst/>
                          <a:latin typeface="標楷體" panose="03000509000000000000" pitchFamily="65" charset="-120"/>
                          <a:ea typeface="標楷體" panose="03000509000000000000" pitchFamily="65" charset="-120"/>
                        </a:rPr>
                        <a:t>57</a:t>
                      </a:r>
                      <a:r>
                        <a:rPr lang="zh-TW" sz="1800" kern="100">
                          <a:solidFill>
                            <a:srgbClr val="000000"/>
                          </a:solidFill>
                          <a:effectLst/>
                          <a:latin typeface="標楷體" panose="03000509000000000000" pitchFamily="65" charset="-120"/>
                          <a:ea typeface="標楷體" panose="03000509000000000000" pitchFamily="65" charset="-120"/>
                        </a:rPr>
                        <a:t>公里，每公里</a:t>
                      </a:r>
                      <a:r>
                        <a:rPr lang="en-US" sz="1800" kern="100">
                          <a:solidFill>
                            <a:srgbClr val="000000"/>
                          </a:solidFill>
                          <a:effectLst/>
                          <a:latin typeface="標楷體" panose="03000509000000000000" pitchFamily="65" charset="-120"/>
                          <a:ea typeface="標楷體" panose="03000509000000000000" pitchFamily="65" charset="-120"/>
                        </a:rPr>
                        <a:t>3</a:t>
                      </a:r>
                      <a:r>
                        <a:rPr lang="zh-TW" sz="1800" kern="100">
                          <a:solidFill>
                            <a:srgbClr val="000000"/>
                          </a:solidFill>
                          <a:effectLst/>
                          <a:latin typeface="標楷體" panose="03000509000000000000" pitchFamily="65" charset="-120"/>
                          <a:ea typeface="標楷體" panose="03000509000000000000" pitchFamily="65" charset="-120"/>
                        </a:rPr>
                        <a:t>元，每趟</a:t>
                      </a:r>
                      <a:r>
                        <a:rPr lang="en-US" sz="1800" kern="100">
                          <a:solidFill>
                            <a:srgbClr val="000000"/>
                          </a:solidFill>
                          <a:effectLst/>
                          <a:latin typeface="標楷體" panose="03000509000000000000" pitchFamily="65" charset="-120"/>
                          <a:ea typeface="標楷體" panose="03000509000000000000" pitchFamily="65" charset="-120"/>
                        </a:rPr>
                        <a:t>171</a:t>
                      </a:r>
                      <a:r>
                        <a:rPr lang="zh-TW" sz="1800" kern="100">
                          <a:solidFill>
                            <a:srgbClr val="000000"/>
                          </a:solidFill>
                          <a:effectLst/>
                          <a:latin typeface="標楷體" panose="03000509000000000000" pitchFamily="65" charset="-120"/>
                          <a:ea typeface="標楷體" panose="03000509000000000000" pitchFamily="65" charset="-120"/>
                        </a:rPr>
                        <a:t>元</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244941"/>
                  </a:ext>
                </a:extLst>
              </a:tr>
              <a:tr h="342507">
                <a:tc>
                  <a:txBody>
                    <a:bodyPr/>
                    <a:lstStyle/>
                    <a:p>
                      <a:pP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3.</a:t>
                      </a:r>
                      <a:r>
                        <a:rPr lang="zh-TW" sz="1800" kern="100">
                          <a:solidFill>
                            <a:srgbClr val="000000"/>
                          </a:solidFill>
                          <a:effectLst/>
                          <a:latin typeface="標楷體" panose="03000509000000000000" pitchFamily="65" charset="-120"/>
                          <a:ea typeface="標楷體" panose="03000509000000000000" pitchFamily="65" charset="-120"/>
                        </a:rPr>
                        <a:t>雜支</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114300" algn="r">
                        <a:lnSpc>
                          <a:spcPts val="2200"/>
                        </a:lnSpc>
                        <a:buNone/>
                      </a:pPr>
                      <a:r>
                        <a:rPr lang="en-US" sz="1800" b="1" kern="100">
                          <a:solidFill>
                            <a:srgbClr val="000000"/>
                          </a:solidFill>
                          <a:effectLst/>
                          <a:latin typeface="標楷體" panose="03000509000000000000" pitchFamily="65" charset="-120"/>
                          <a:ea typeface="標楷體" panose="03000509000000000000" pitchFamily="65" charset="-120"/>
                        </a:rPr>
                        <a:t>1,000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114300" algn="r">
                        <a:lnSpc>
                          <a:spcPts val="2200"/>
                        </a:lnSpc>
                        <a:buNone/>
                      </a:pPr>
                      <a:r>
                        <a:rPr lang="en-US" sz="1800" b="1" kern="100" dirty="0">
                          <a:solidFill>
                            <a:srgbClr val="000000"/>
                          </a:solidFill>
                          <a:effectLst/>
                          <a:latin typeface="標楷體" panose="03000509000000000000" pitchFamily="65" charset="-120"/>
                          <a:ea typeface="標楷體" panose="03000509000000000000" pitchFamily="65" charset="-120"/>
                        </a:rPr>
                        <a:t>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b="1" kern="100">
                          <a:solidFill>
                            <a:srgbClr val="000000"/>
                          </a:solidFill>
                          <a:effectLst/>
                          <a:latin typeface="標楷體" panose="03000509000000000000" pitchFamily="65" charset="-120"/>
                          <a:ea typeface="標楷體" panose="03000509000000000000" pitchFamily="65" charset="-120"/>
                        </a:rPr>
                        <a:t>1,000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 </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9245905"/>
                  </a:ext>
                </a:extLst>
              </a:tr>
              <a:tr h="342507">
                <a:tc>
                  <a:txBody>
                    <a:bodyPr/>
                    <a:lstStyle/>
                    <a:p>
                      <a:pPr algn="ctr">
                        <a:lnSpc>
                          <a:spcPts val="2200"/>
                        </a:lnSpc>
                        <a:buNone/>
                      </a:pPr>
                      <a:r>
                        <a:rPr lang="zh-TW" sz="1800" kern="100">
                          <a:solidFill>
                            <a:srgbClr val="000000"/>
                          </a:solidFill>
                          <a:effectLst/>
                          <a:latin typeface="標楷體" panose="03000509000000000000" pitchFamily="65" charset="-120"/>
                          <a:ea typeface="標楷體" panose="03000509000000000000" pitchFamily="65" charset="-120"/>
                        </a:rPr>
                        <a:t>雜支</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1000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1</a:t>
                      </a:r>
                      <a:r>
                        <a:rPr lang="zh-TW" sz="1800" kern="100">
                          <a:solidFill>
                            <a:srgbClr val="000000"/>
                          </a:solidFill>
                          <a:effectLst/>
                          <a:latin typeface="標楷體" panose="03000509000000000000" pitchFamily="65" charset="-120"/>
                          <a:ea typeface="標楷體" panose="03000509000000000000" pitchFamily="65" charset="-120"/>
                        </a:rPr>
                        <a:t>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1,000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kern="100" dirty="0">
                          <a:solidFill>
                            <a:srgbClr val="000000"/>
                          </a:solidFill>
                          <a:effectLst/>
                          <a:latin typeface="標楷體" panose="03000509000000000000" pitchFamily="65" charset="-120"/>
                          <a:ea typeface="標楷體" panose="03000509000000000000" pitchFamily="65" charset="-120"/>
                        </a:rPr>
                        <a:t>1,000</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800" kern="100">
                          <a:solidFill>
                            <a:srgbClr val="000000"/>
                          </a:solidFill>
                          <a:effectLst/>
                          <a:latin typeface="標楷體" panose="03000509000000000000" pitchFamily="65" charset="-120"/>
                          <a:ea typeface="標楷體" panose="03000509000000000000" pitchFamily="65" charset="-120"/>
                        </a:rPr>
                        <a:t> </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1192828"/>
                  </a:ext>
                </a:extLst>
              </a:tr>
              <a:tr h="342507">
                <a:tc gridSpan="3">
                  <a:txBody>
                    <a:bodyPr/>
                    <a:lstStyle/>
                    <a:p>
                      <a:pPr algn="ctr">
                        <a:lnSpc>
                          <a:spcPts val="2200"/>
                        </a:lnSpc>
                        <a:buNone/>
                      </a:pPr>
                      <a:r>
                        <a:rPr lang="zh-HK" sz="1800" kern="100">
                          <a:solidFill>
                            <a:srgbClr val="000000"/>
                          </a:solidFill>
                          <a:effectLst/>
                          <a:latin typeface="標楷體" panose="03000509000000000000" pitchFamily="65" charset="-120"/>
                          <a:ea typeface="標楷體" panose="03000509000000000000" pitchFamily="65" charset="-120"/>
                        </a:rPr>
                        <a:t>總計</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114300" algn="r">
                        <a:lnSpc>
                          <a:spcPts val="2200"/>
                        </a:lnSpc>
                        <a:buNone/>
                      </a:pPr>
                      <a:r>
                        <a:rPr lang="en-US" sz="1800" b="1" kern="100">
                          <a:solidFill>
                            <a:srgbClr val="000000"/>
                          </a:solidFill>
                          <a:effectLst/>
                          <a:latin typeface="標楷體" panose="03000509000000000000" pitchFamily="65" charset="-120"/>
                          <a:ea typeface="標楷體" panose="03000509000000000000" pitchFamily="65" charset="-120"/>
                        </a:rPr>
                        <a:t>9,526</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b="1" kern="100">
                          <a:solidFill>
                            <a:srgbClr val="000000"/>
                          </a:solidFill>
                          <a:effectLst/>
                          <a:latin typeface="標楷體" panose="03000509000000000000" pitchFamily="65" charset="-120"/>
                          <a:ea typeface="標楷體" panose="03000509000000000000" pitchFamily="65" charset="-120"/>
                        </a:rPr>
                        <a:t>0</a:t>
                      </a:r>
                      <a:endParaRPr lang="zh-TW" sz="1800" kern="10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1800" b="1" kern="100" dirty="0">
                          <a:solidFill>
                            <a:srgbClr val="000000"/>
                          </a:solidFill>
                          <a:effectLst/>
                          <a:latin typeface="標楷體" panose="03000509000000000000" pitchFamily="65" charset="-120"/>
                          <a:ea typeface="標楷體" panose="03000509000000000000" pitchFamily="65" charset="-120"/>
                        </a:rPr>
                        <a:t>9,526</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1800" kern="100" dirty="0">
                          <a:solidFill>
                            <a:srgbClr val="000000"/>
                          </a:solidFill>
                          <a:effectLst/>
                          <a:latin typeface="標楷體" panose="03000509000000000000" pitchFamily="65" charset="-120"/>
                          <a:ea typeface="標楷體" panose="03000509000000000000" pitchFamily="65" charset="-120"/>
                        </a:rPr>
                        <a:t> </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8537993"/>
                  </a:ext>
                </a:extLst>
              </a:tr>
            </a:tbl>
          </a:graphicData>
        </a:graphic>
      </p:graphicFrame>
    </p:spTree>
    <p:extLst>
      <p:ext uri="{BB962C8B-B14F-4D97-AF65-F5344CB8AC3E}">
        <p14:creationId xmlns:p14="http://schemas.microsoft.com/office/powerpoint/2010/main" val="13696740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03FFA-E49E-5EB8-C792-45F6D875F16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19D433C-4C19-D869-E6CD-450105A0609B}"/>
              </a:ext>
            </a:extLst>
          </p:cNvPr>
          <p:cNvSpPr>
            <a:spLocks noGrp="1"/>
          </p:cNvSpPr>
          <p:nvPr>
            <p:ph type="title"/>
          </p:nvPr>
        </p:nvSpPr>
        <p:spPr>
          <a:xfrm>
            <a:off x="827584" y="124836"/>
            <a:ext cx="7416824" cy="563562"/>
          </a:xfrm>
        </p:spPr>
        <p:txBody>
          <a:bodyPr/>
          <a:lstStyle/>
          <a:p>
            <a:r>
              <a:rPr lang="zh-TW" altLang="en-US" sz="2400" dirty="0">
                <a:solidFill>
                  <a:srgbClr val="FFFFFF"/>
                </a:solidFill>
                <a:latin typeface="華康隸書體W7" panose="02010609010101010101" pitchFamily="49" charset="-120"/>
                <a:ea typeface="華康隸書體W7" panose="02010609010101010101" pitchFamily="49" charset="-120"/>
              </a:rPr>
              <a:t>子計畫七：勇敢發聲，綻放自己－婦女演講成長計畫</a:t>
            </a:r>
            <a:endParaRPr lang="zh-TW" altLang="en-US" sz="1800" dirty="0"/>
          </a:p>
        </p:txBody>
      </p:sp>
      <p:sp>
        <p:nvSpPr>
          <p:cNvPr id="3" name="內容版面配置區 2">
            <a:extLst>
              <a:ext uri="{FF2B5EF4-FFF2-40B4-BE49-F238E27FC236}">
                <a16:creationId xmlns:a16="http://schemas.microsoft.com/office/drawing/2014/main" id="{03B99751-A499-4F16-AAE3-FFD9FEBB4DFA}"/>
              </a:ext>
            </a:extLst>
          </p:cNvPr>
          <p:cNvSpPr>
            <a:spLocks noGrp="1"/>
          </p:cNvSpPr>
          <p:nvPr>
            <p:ph idx="1"/>
          </p:nvPr>
        </p:nvSpPr>
        <p:spPr>
          <a:xfrm>
            <a:off x="4154202" y="979264"/>
            <a:ext cx="861492" cy="473596"/>
          </a:xfrm>
        </p:spPr>
        <p:txBody>
          <a:bodyPr/>
          <a:lstStyle/>
          <a:p>
            <a:pPr marL="0" indent="0" algn="ctr">
              <a:buNone/>
            </a:pPr>
            <a:r>
              <a:rPr lang="zh-TW" altLang="en-US" sz="2400" b="1" dirty="0">
                <a:solidFill>
                  <a:srgbClr val="FF0000"/>
                </a:solidFill>
                <a:latin typeface="標楷體" pitchFamily="65" charset="-120"/>
                <a:ea typeface="標楷體" pitchFamily="65" charset="-120"/>
              </a:rPr>
              <a:t>目的</a:t>
            </a:r>
          </a:p>
        </p:txBody>
      </p:sp>
      <p:sp>
        <p:nvSpPr>
          <p:cNvPr id="4" name="矩形 3">
            <a:extLst>
              <a:ext uri="{FF2B5EF4-FFF2-40B4-BE49-F238E27FC236}">
                <a16:creationId xmlns:a16="http://schemas.microsoft.com/office/drawing/2014/main" id="{51F4E69E-354E-A4A9-4D2E-6A8E60A1CAC5}"/>
              </a:ext>
            </a:extLst>
          </p:cNvPr>
          <p:cNvSpPr/>
          <p:nvPr/>
        </p:nvSpPr>
        <p:spPr>
          <a:xfrm>
            <a:off x="693440" y="1556792"/>
            <a:ext cx="7783016" cy="1435201"/>
          </a:xfrm>
          <a:prstGeom prst="rect">
            <a:avLst/>
          </a:prstGeom>
        </p:spPr>
        <p:txBody>
          <a:bodyPr wrap="square">
            <a:spAutoFit/>
          </a:bodyPr>
          <a:lstStyle/>
          <a:p>
            <a:pPr marL="360000" marR="0" lvl="0" indent="0" algn="just" defTabSz="914400" rtl="0" eaLnBrk="1" fontAlgn="auto" latinLnBrk="0" hangingPunct="1">
              <a:lnSpc>
                <a:spcPts val="3600"/>
              </a:lnSpc>
              <a:spcBef>
                <a:spcPts val="0"/>
              </a:spcBef>
              <a:spcAft>
                <a:spcPts val="0"/>
              </a:spcAft>
              <a:buClrTx/>
              <a:buSzTx/>
              <a:buFontTx/>
              <a:buNone/>
              <a:tabLst>
                <a:tab pos="622300" algn="l"/>
              </a:tabLst>
              <a:defRPr/>
            </a:pPr>
            <a:r>
              <a:rPr kumimoji="0" lang="zh-TW" altLang="en-US" sz="2400" b="0" i="0" u="none" strike="noStrike" kern="100" cap="none" spc="0" normalizeH="0" baseline="0" noProof="0" dirty="0">
                <a:ln>
                  <a:noFill/>
                </a:ln>
                <a:solidFill>
                  <a:srgbClr val="000000"/>
                </a:solidFill>
                <a:effectLst/>
                <a:uLnTx/>
                <a:uFillTx/>
                <a:latin typeface="Times New Roman"/>
                <a:ea typeface="標楷體"/>
                <a:cs typeface="+mn-cs"/>
              </a:rPr>
              <a:t>提升社區婦女在公開場合表達自我能力與自信心，降低上台畏縮感，鼓勵勇於表達想法，為日後社區導覽、手作販售或活動發言做準備。</a:t>
            </a:r>
            <a:endParaRPr kumimoji="0" lang="zh-TW" altLang="en-US" sz="2400" b="1" i="0" u="none" strike="noStrike" kern="100" cap="none" spc="0" normalizeH="0" baseline="0" noProof="0" dirty="0">
              <a:ln>
                <a:noFill/>
              </a:ln>
              <a:solidFill>
                <a:srgbClr val="FF0000"/>
              </a:solidFill>
              <a:effectLst/>
              <a:uLnTx/>
              <a:uFillTx/>
              <a:latin typeface="Times New Roman"/>
              <a:ea typeface="標楷體"/>
              <a:cs typeface="+mn-cs"/>
            </a:endParaRPr>
          </a:p>
        </p:txBody>
      </p:sp>
      <p:sp>
        <p:nvSpPr>
          <p:cNvPr id="5" name="內容版面配置區 2">
            <a:extLst>
              <a:ext uri="{FF2B5EF4-FFF2-40B4-BE49-F238E27FC236}">
                <a16:creationId xmlns:a16="http://schemas.microsoft.com/office/drawing/2014/main" id="{ABC6FDB3-366B-0F23-2AB8-362EAEE0A749}"/>
              </a:ext>
            </a:extLst>
          </p:cNvPr>
          <p:cNvSpPr txBox="1">
            <a:spLocks/>
          </p:cNvSpPr>
          <p:nvPr/>
        </p:nvSpPr>
        <p:spPr bwMode="auto">
          <a:xfrm>
            <a:off x="2374571" y="3837532"/>
            <a:ext cx="4394857"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6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marR="0" lvl="0" indent="0" algn="ctr" defTabSz="914400" rtl="0" eaLnBrk="0" fontAlgn="base" latinLnBrk="0" hangingPunct="0">
              <a:lnSpc>
                <a:spcPct val="100000"/>
              </a:lnSpc>
              <a:spcBef>
                <a:spcPct val="20000"/>
              </a:spcBef>
              <a:spcAft>
                <a:spcPct val="0"/>
              </a:spcAft>
              <a:buClr>
                <a:srgbClr val="69AAB1"/>
              </a:buClr>
              <a:buSzTx/>
              <a:buFont typeface="Wingdings" pitchFamily="2" charset="2"/>
              <a:buNone/>
              <a:tabLst/>
              <a:defRPr/>
            </a:pPr>
            <a:r>
              <a:rPr kumimoji="0" lang="zh-TW" altLang="en-US" sz="2400" b="1" i="0" u="none" strike="noStrike" kern="0" cap="none" spc="0" normalizeH="0" baseline="0" noProof="0" dirty="0">
                <a:ln>
                  <a:noFill/>
                </a:ln>
                <a:solidFill>
                  <a:srgbClr val="FF0000"/>
                </a:solidFill>
                <a:effectLst/>
                <a:uLnTx/>
                <a:uFillTx/>
                <a:latin typeface="標楷體" pitchFamily="65" charset="-120"/>
                <a:ea typeface="標楷體" pitchFamily="65" charset="-120"/>
                <a:cs typeface="+mn-cs"/>
              </a:rPr>
              <a:t>服務對象</a:t>
            </a:r>
            <a:r>
              <a:rPr kumimoji="0" lang="zh-TW" altLang="zh-TW" sz="2400" b="1" i="0" u="none" strike="noStrike" kern="1200" cap="none" spc="0" normalizeH="0" baseline="0" noProof="0" dirty="0">
                <a:ln>
                  <a:noFill/>
                </a:ln>
                <a:solidFill>
                  <a:srgbClr val="024631"/>
                </a:solidFill>
                <a:effectLst/>
                <a:uLnTx/>
                <a:uFillTx/>
                <a:latin typeface="標楷體" panose="03000509000000000000" pitchFamily="65" charset="-120"/>
                <a:ea typeface="標楷體" panose="03000509000000000000" pitchFamily="65" charset="-120"/>
                <a:cs typeface="+mn-cs"/>
              </a:rPr>
              <a:t>：</a:t>
            </a:r>
            <a:r>
              <a:rPr kumimoji="0" lang="zh-TW" altLang="en-US" sz="2400" b="1" i="0" u="none" strike="noStrike" kern="1200" cap="none" spc="0" normalizeH="0" baseline="0" noProof="0" dirty="0">
                <a:ln>
                  <a:noFill/>
                </a:ln>
                <a:solidFill>
                  <a:srgbClr val="024631"/>
                </a:solidFill>
                <a:effectLst/>
                <a:uLnTx/>
                <a:uFillTx/>
                <a:latin typeface="標楷體" panose="03000509000000000000" pitchFamily="65" charset="-120"/>
                <a:ea typeface="標楷體" panose="03000509000000000000" pitchFamily="65" charset="-120"/>
                <a:cs typeface="+mn-cs"/>
              </a:rPr>
              <a:t>由社寮社區主責</a:t>
            </a:r>
            <a:endParaRPr kumimoji="0" lang="zh-TW" altLang="en-US" sz="2800" b="1" i="0" u="none" strike="noStrike" kern="0" cap="none" spc="0" normalizeH="0" baseline="0" noProof="0" dirty="0">
              <a:ln>
                <a:noFill/>
              </a:ln>
              <a:solidFill>
                <a:srgbClr val="FF0000"/>
              </a:solidFill>
              <a:effectLst/>
              <a:uLnTx/>
              <a:uFillTx/>
              <a:latin typeface="標楷體" pitchFamily="65" charset="-120"/>
              <a:ea typeface="標楷體" pitchFamily="65" charset="-120"/>
              <a:cs typeface="+mn-cs"/>
            </a:endParaRPr>
          </a:p>
        </p:txBody>
      </p:sp>
      <p:sp>
        <p:nvSpPr>
          <p:cNvPr id="6" name="矩形 5">
            <a:extLst>
              <a:ext uri="{FF2B5EF4-FFF2-40B4-BE49-F238E27FC236}">
                <a16:creationId xmlns:a16="http://schemas.microsoft.com/office/drawing/2014/main" id="{8D0FA2E7-7579-DDB9-07AE-9BA7CC667941}"/>
              </a:ext>
            </a:extLst>
          </p:cNvPr>
          <p:cNvSpPr/>
          <p:nvPr/>
        </p:nvSpPr>
        <p:spPr>
          <a:xfrm>
            <a:off x="1699032" y="4658663"/>
            <a:ext cx="5745934" cy="540725"/>
          </a:xfrm>
          <a:prstGeom prst="rect">
            <a:avLst/>
          </a:prstGeom>
        </p:spPr>
        <p:txBody>
          <a:bodyPr wrap="square">
            <a:spAutoFit/>
          </a:bodyPr>
          <a:lstStyle/>
          <a:p>
            <a:pPr marL="0" marR="0" lvl="0" indent="0" algn="just" defTabSz="914400" rtl="0" eaLnBrk="1" fontAlgn="auto" latinLnBrk="0" hangingPunct="1">
              <a:lnSpc>
                <a:spcPts val="3900"/>
              </a:lnSpc>
              <a:spcBef>
                <a:spcPts val="0"/>
              </a:spcBef>
              <a:spcAft>
                <a:spcPts val="0"/>
              </a:spcAft>
              <a:buClrTx/>
              <a:buSzTx/>
              <a:buFontTx/>
              <a:buNone/>
              <a:tabLst/>
              <a:defRPr/>
            </a:pPr>
            <a:r>
              <a:rPr kumimoji="0" lang="zh-TW" altLang="en-US"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小旗艦社區有意願參加之婦女，預計</a:t>
            </a:r>
            <a:r>
              <a:rPr kumimoji="0" lang="en-US" altLang="zh-TW"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20</a:t>
            </a:r>
            <a:r>
              <a:rPr kumimoji="0" lang="zh-TW" altLang="en-US" sz="24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名。</a:t>
            </a:r>
            <a:endParaRPr kumimoji="0" lang="zh-TW" altLang="zh-TW" sz="2000" b="0" i="0" u="none" strike="noStrike" kern="100" cap="none" spc="0" normalizeH="0" baseline="0" noProof="0" dirty="0">
              <a:ln>
                <a:noFill/>
              </a:ln>
              <a:solidFill>
                <a:srgbClr val="024631"/>
              </a:solidFill>
              <a:effectLst/>
              <a:uLnTx/>
              <a:uFillTx/>
              <a:latin typeface="Times New Roman" panose="02020603050405020304" pitchFamily="18" charset="0"/>
              <a:ea typeface="新細明體" panose="02020500000000000000" pitchFamily="18" charset="-120"/>
              <a:cs typeface="+mn-cs"/>
            </a:endParaRPr>
          </a:p>
        </p:txBody>
      </p:sp>
    </p:spTree>
    <p:extLst>
      <p:ext uri="{BB962C8B-B14F-4D97-AF65-F5344CB8AC3E}">
        <p14:creationId xmlns:p14="http://schemas.microsoft.com/office/powerpoint/2010/main" val="421659698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EFA6D-97CB-392F-333F-14255FE1BEA5}"/>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FA5C43F8-C094-801B-58EE-45F0A4213FDD}"/>
              </a:ext>
            </a:extLst>
          </p:cNvPr>
          <p:cNvSpPr>
            <a:spLocks noGrp="1"/>
          </p:cNvSpPr>
          <p:nvPr>
            <p:ph idx="1"/>
          </p:nvPr>
        </p:nvSpPr>
        <p:spPr>
          <a:xfrm>
            <a:off x="457200" y="1032303"/>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內容</a:t>
            </a:r>
          </a:p>
        </p:txBody>
      </p:sp>
      <p:sp>
        <p:nvSpPr>
          <p:cNvPr id="4" name="矩形 3">
            <a:extLst>
              <a:ext uri="{FF2B5EF4-FFF2-40B4-BE49-F238E27FC236}">
                <a16:creationId xmlns:a16="http://schemas.microsoft.com/office/drawing/2014/main" id="{551044FF-E83D-51B7-0714-876379A01FBD}"/>
              </a:ext>
            </a:extLst>
          </p:cNvPr>
          <p:cNvSpPr/>
          <p:nvPr/>
        </p:nvSpPr>
        <p:spPr>
          <a:xfrm>
            <a:off x="143508" y="1700808"/>
            <a:ext cx="8856984" cy="4132157"/>
          </a:xfrm>
          <a:prstGeom prst="rect">
            <a:avLst/>
          </a:prstGeom>
        </p:spPr>
        <p:txBody>
          <a:bodyPr wrap="square">
            <a:spAutoFit/>
          </a:bodyPr>
          <a:lstStyle/>
          <a:p>
            <a:pPr marL="901700" marR="0" lvl="0" indent="-457200" algn="just" defTabSz="914400" rtl="0" eaLnBrk="1" fontAlgn="auto" latinLnBrk="0" hangingPunct="1">
              <a:lnSpc>
                <a:spcPts val="4000"/>
              </a:lnSpc>
              <a:spcBef>
                <a:spcPts val="0"/>
              </a:spcBef>
              <a:spcAft>
                <a:spcPts val="0"/>
              </a:spcAft>
              <a:buClrTx/>
              <a:buSzTx/>
              <a:buFontTx/>
              <a:buNone/>
              <a:tabLst/>
              <a:defRPr/>
            </a:pPr>
            <a:r>
              <a:rPr kumimoji="0" lang="en-US" altLang="zh-TW" sz="21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(1)</a:t>
            </a:r>
            <a:r>
              <a:rPr kumimoji="0" lang="zh-TW" altLang="en-US" sz="21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演講成長課程：共</a:t>
            </a:r>
            <a:r>
              <a:rPr kumimoji="0" lang="en-US" altLang="zh-TW" sz="21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3</a:t>
            </a:r>
            <a:r>
              <a:rPr kumimoji="0" lang="zh-TW" altLang="en-US" sz="21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次，每次</a:t>
            </a:r>
            <a:r>
              <a:rPr kumimoji="0" lang="en-US" altLang="zh-TW" sz="21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2</a:t>
            </a:r>
            <a:r>
              <a:rPr kumimoji="0" lang="zh-TW" altLang="en-US" sz="21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小時</a:t>
            </a:r>
          </a:p>
          <a:p>
            <a:pPr marL="901700" marR="0" lvl="0" indent="0" algn="just" defTabSz="914400" rtl="0" eaLnBrk="1" fontAlgn="auto" latinLnBrk="0" hangingPunct="1">
              <a:lnSpc>
                <a:spcPts val="4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①第一次課程：演講心理建設與自我認識。</a:t>
            </a:r>
          </a:p>
          <a:p>
            <a:pPr marL="901700" marR="0" lvl="0" indent="0" algn="just" defTabSz="914400" rtl="0" eaLnBrk="1" fontAlgn="auto" latinLnBrk="0" hangingPunct="1">
              <a:lnSpc>
                <a:spcPts val="4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②第二次課程：語言與肢體表達。</a:t>
            </a:r>
          </a:p>
          <a:p>
            <a:pPr marL="901700" marR="0" lvl="0" indent="0" algn="just" defTabSz="914400" rtl="0" eaLnBrk="1" fontAlgn="auto" latinLnBrk="0" hangingPunct="1">
              <a:lnSpc>
                <a:spcPts val="4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③</a:t>
            </a:r>
            <a:r>
              <a:rPr kumimoji="0" lang="zh-TW" altLang="en-US" sz="20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第三次課程：演講結構與即興表達</a:t>
            </a:r>
            <a:r>
              <a:rPr kumimoji="0" lang="zh-TW" altLang="en-US" sz="21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a:t>
            </a:r>
          </a:p>
          <a:p>
            <a:pPr marL="901700" marR="0" lvl="0" indent="-457200" algn="just" defTabSz="914400" rtl="0" eaLnBrk="1" fontAlgn="auto" latinLnBrk="0" hangingPunct="1">
              <a:lnSpc>
                <a:spcPts val="4000"/>
              </a:lnSpc>
              <a:spcBef>
                <a:spcPts val="0"/>
              </a:spcBef>
              <a:spcAft>
                <a:spcPts val="0"/>
              </a:spcAft>
              <a:buClrTx/>
              <a:buSzTx/>
              <a:buFontTx/>
              <a:buNone/>
              <a:tabLst/>
              <a:defRPr/>
            </a:pPr>
            <a:r>
              <a:rPr kumimoji="0" lang="en-US" altLang="zh-TW" sz="21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(2)</a:t>
            </a:r>
            <a:r>
              <a:rPr kumimoji="0" lang="zh-TW" altLang="en-US" sz="21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演練活動：</a:t>
            </a:r>
          </a:p>
          <a:p>
            <a:pPr marL="901700" marR="0" lvl="0" indent="0" algn="just" defTabSz="914400" rtl="0" eaLnBrk="1" fontAlgn="auto" latinLnBrk="0" hangingPunct="1">
              <a:lnSpc>
                <a:spcPts val="4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①不安排老師，由同儕互相觀摩與支持</a:t>
            </a:r>
          </a:p>
          <a:p>
            <a:pPr marL="901700" marR="0" lvl="0" indent="0" algn="just" defTabSz="914400" rtl="0" eaLnBrk="1" fontAlgn="auto" latinLnBrk="0" hangingPunct="1">
              <a:lnSpc>
                <a:spcPts val="4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②每位婦女輪流上台發表</a:t>
            </a:r>
            <a:r>
              <a:rPr kumimoji="0" lang="en-US" altLang="zh-TW" sz="20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2-3</a:t>
            </a:r>
            <a:r>
              <a:rPr kumimoji="0" lang="zh-TW" altLang="en-US" sz="20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分鐘演講</a:t>
            </a:r>
          </a:p>
          <a:p>
            <a:pPr marL="901700" marR="0" lvl="0" indent="0" algn="just" defTabSz="914400" rtl="0" eaLnBrk="1" fontAlgn="auto" latinLnBrk="0" hangingPunct="1">
              <a:lnSpc>
                <a:spcPts val="4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③</a:t>
            </a:r>
            <a:r>
              <a:rPr kumimoji="0" lang="zh-TW" altLang="en-US" sz="2000" b="0" i="0" u="none" strike="noStrike" kern="1200" cap="none" spc="0" normalizeH="0" baseline="0" noProof="0" dirty="0">
                <a:ln>
                  <a:noFill/>
                </a:ln>
                <a:solidFill>
                  <a:srgbClr val="111111"/>
                </a:solidFill>
                <a:effectLst/>
                <a:uLnTx/>
                <a:uFillTx/>
                <a:latin typeface="標楷體" panose="03000509000000000000" pitchFamily="65" charset="-120"/>
                <a:ea typeface="標楷體" panose="03000509000000000000" pitchFamily="65" charset="-120"/>
                <a:cs typeface="+mn-cs"/>
              </a:rPr>
              <a:t>練習使用上課學到的技巧並互相鼓勵。</a:t>
            </a:r>
          </a:p>
        </p:txBody>
      </p:sp>
      <p:sp>
        <p:nvSpPr>
          <p:cNvPr id="5" name="標題 1">
            <a:extLst>
              <a:ext uri="{FF2B5EF4-FFF2-40B4-BE49-F238E27FC236}">
                <a16:creationId xmlns:a16="http://schemas.microsoft.com/office/drawing/2014/main" id="{61D1238A-0B1E-9CFA-B13A-AB568F6B4F8F}"/>
              </a:ext>
            </a:extLst>
          </p:cNvPr>
          <p:cNvSpPr>
            <a:spLocks noGrp="1"/>
          </p:cNvSpPr>
          <p:nvPr>
            <p:ph type="title"/>
          </p:nvPr>
        </p:nvSpPr>
        <p:spPr>
          <a:xfrm>
            <a:off x="827584" y="124836"/>
            <a:ext cx="7416824" cy="563562"/>
          </a:xfrm>
        </p:spPr>
        <p:txBody>
          <a:bodyPr/>
          <a:lstStyle/>
          <a:p>
            <a:r>
              <a:rPr lang="zh-TW" altLang="en-US" sz="2400" dirty="0">
                <a:solidFill>
                  <a:srgbClr val="FFFFFF"/>
                </a:solidFill>
                <a:latin typeface="華康隸書體W7" panose="02010609010101010101" pitchFamily="49" charset="-120"/>
                <a:ea typeface="華康隸書體W7" panose="02010609010101010101" pitchFamily="49" charset="-120"/>
              </a:rPr>
              <a:t>子計畫七：勇敢發聲，綻放自己－婦女演講成長計畫</a:t>
            </a:r>
            <a:endParaRPr lang="zh-TW" altLang="en-US" sz="1800" dirty="0"/>
          </a:p>
        </p:txBody>
      </p:sp>
    </p:spTree>
    <p:extLst>
      <p:ext uri="{BB962C8B-B14F-4D97-AF65-F5344CB8AC3E}">
        <p14:creationId xmlns:p14="http://schemas.microsoft.com/office/powerpoint/2010/main" val="33939954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126F1-B490-EFBE-2C68-841F35371FDB}"/>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F68C388B-1D2F-30E8-8DC9-768B4A3111FA}"/>
              </a:ext>
            </a:extLst>
          </p:cNvPr>
          <p:cNvSpPr>
            <a:spLocks noGrp="1"/>
          </p:cNvSpPr>
          <p:nvPr>
            <p:ph idx="1"/>
          </p:nvPr>
        </p:nvSpPr>
        <p:spPr>
          <a:xfrm>
            <a:off x="457200" y="1412776"/>
            <a:ext cx="8229600" cy="587152"/>
          </a:xfrm>
        </p:spPr>
        <p:txBody>
          <a:bodyPr/>
          <a:lstStyle/>
          <a:p>
            <a:pPr marL="0" indent="0" algn="ctr">
              <a:buNone/>
            </a:pPr>
            <a:r>
              <a:rPr lang="zh-TW" altLang="en-US" sz="2800" b="1" dirty="0">
                <a:solidFill>
                  <a:srgbClr val="FF0000"/>
                </a:solidFill>
                <a:latin typeface="標楷體" pitchFamily="65" charset="-120"/>
                <a:ea typeface="標楷體" pitchFamily="65" charset="-120"/>
              </a:rPr>
              <a:t>效益</a:t>
            </a:r>
            <a:endParaRPr lang="en-US" altLang="zh-TW" sz="2800" b="1" dirty="0">
              <a:solidFill>
                <a:srgbClr val="FF0000"/>
              </a:solidFill>
              <a:latin typeface="標楷體" pitchFamily="65" charset="-120"/>
              <a:ea typeface="標楷體" pitchFamily="65" charset="-120"/>
            </a:endParaRPr>
          </a:p>
        </p:txBody>
      </p:sp>
      <p:sp>
        <p:nvSpPr>
          <p:cNvPr id="4" name="矩形 3">
            <a:extLst>
              <a:ext uri="{FF2B5EF4-FFF2-40B4-BE49-F238E27FC236}">
                <a16:creationId xmlns:a16="http://schemas.microsoft.com/office/drawing/2014/main" id="{3FD3CCF4-26E1-5C42-AC4F-84CAB94D1A1F}"/>
              </a:ext>
            </a:extLst>
          </p:cNvPr>
          <p:cNvSpPr/>
          <p:nvPr/>
        </p:nvSpPr>
        <p:spPr>
          <a:xfrm>
            <a:off x="1238798" y="2132856"/>
            <a:ext cx="7005609" cy="3496085"/>
          </a:xfrm>
          <a:prstGeom prst="rect">
            <a:avLst/>
          </a:prstGeom>
        </p:spPr>
        <p:txBody>
          <a:bodyPr wrap="square">
            <a:spAutoFit/>
          </a:bodyPr>
          <a:lstStyle/>
          <a:p>
            <a:pPr marL="985838" marR="0" lvl="0" indent="-1527175"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1</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）社區婦女上台發言的自信心提升。</a:t>
            </a:r>
          </a:p>
          <a:p>
            <a:pPr marL="985838" marR="0" lvl="0" indent="-1527175"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2</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）語言表達與肢體表達能力增強。</a:t>
            </a:r>
          </a:p>
          <a:p>
            <a:pPr marL="985838" marR="0" lvl="0" indent="-1527175"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3</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）為社區導覽、手作展示或其他活動培養初步發言人才。</a:t>
            </a:r>
          </a:p>
          <a:p>
            <a:pPr marL="985838" marR="0" lvl="0" indent="-1527175" algn="just" defTabSz="914400" rtl="0" eaLnBrk="1" fontAlgn="auto" latinLnBrk="0" hangingPunct="1">
              <a:lnSpc>
                <a:spcPts val="4500"/>
              </a:lnSpc>
              <a:spcBef>
                <a:spcPts val="0"/>
              </a:spcBef>
              <a:spcAft>
                <a:spcPts val="0"/>
              </a:spcAft>
              <a:buClrTx/>
              <a:buSzTx/>
              <a:buFontTx/>
              <a:buNone/>
              <a:tabLst/>
              <a:defRPr/>
            </a:pP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r>
              <a:rPr kumimoji="0" lang="en-US" altLang="zh-TW"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4</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）強化婦女間互助支持網絡，</a:t>
            </a:r>
            <a:r>
              <a:rPr kumimoji="0" lang="zh-TW" altLang="en-US" sz="2800" b="0" i="0" u="none" strike="noStrike" kern="100" cap="none" spc="0" normalizeH="0" baseline="0" noProof="0">
                <a:ln>
                  <a:noFill/>
                </a:ln>
                <a:solidFill>
                  <a:srgbClr val="000000"/>
                </a:solidFill>
                <a:effectLst/>
                <a:uLnTx/>
                <a:uFillTx/>
                <a:latin typeface="Times New Roman" panose="02020603050405020304" pitchFamily="18" charset="0"/>
                <a:ea typeface="標楷體" panose="03000509000000000000" pitchFamily="65" charset="-120"/>
                <a:cs typeface="+mn-cs"/>
              </a:rPr>
              <a:t>提升社區凝聚力</a:t>
            </a:r>
            <a:r>
              <a:rPr kumimoji="0" lang="zh-TW" altLang="en-US" sz="2800" b="0" i="0" u="none" strike="noStrike" kern="100" cap="none" spc="0" normalizeH="0" baseline="0" noProof="0" dirty="0">
                <a:ln>
                  <a:noFill/>
                </a:ln>
                <a:solidFill>
                  <a:srgbClr val="000000"/>
                </a:solidFill>
                <a:effectLst/>
                <a:uLnTx/>
                <a:uFillTx/>
                <a:latin typeface="Times New Roman" panose="02020603050405020304" pitchFamily="18" charset="0"/>
                <a:ea typeface="標楷體" panose="03000509000000000000" pitchFamily="65" charset="-120"/>
                <a:cs typeface="+mn-cs"/>
              </a:rPr>
              <a:t>。</a:t>
            </a:r>
          </a:p>
        </p:txBody>
      </p:sp>
      <p:sp>
        <p:nvSpPr>
          <p:cNvPr id="5" name="標題 1">
            <a:extLst>
              <a:ext uri="{FF2B5EF4-FFF2-40B4-BE49-F238E27FC236}">
                <a16:creationId xmlns:a16="http://schemas.microsoft.com/office/drawing/2014/main" id="{B3063DCF-5CDE-A5F2-2899-76992E8AEE4C}"/>
              </a:ext>
            </a:extLst>
          </p:cNvPr>
          <p:cNvSpPr>
            <a:spLocks noGrp="1"/>
          </p:cNvSpPr>
          <p:nvPr>
            <p:ph type="title"/>
          </p:nvPr>
        </p:nvSpPr>
        <p:spPr>
          <a:xfrm>
            <a:off x="827584" y="124836"/>
            <a:ext cx="7416824" cy="563562"/>
          </a:xfrm>
        </p:spPr>
        <p:txBody>
          <a:bodyPr/>
          <a:lstStyle/>
          <a:p>
            <a:r>
              <a:rPr lang="zh-TW" altLang="en-US" sz="2400" dirty="0">
                <a:solidFill>
                  <a:srgbClr val="FFFFFF"/>
                </a:solidFill>
                <a:latin typeface="華康隸書體W7" panose="02010609010101010101" pitchFamily="49" charset="-120"/>
                <a:ea typeface="華康隸書體W7" panose="02010609010101010101" pitchFamily="49" charset="-120"/>
              </a:rPr>
              <a:t>子計畫七：勇敢發聲，綻放自己－婦女演講成長計畫</a:t>
            </a:r>
            <a:endParaRPr lang="zh-TW" altLang="en-US" sz="1800" dirty="0"/>
          </a:p>
        </p:txBody>
      </p:sp>
    </p:spTree>
    <p:extLst>
      <p:ext uri="{BB962C8B-B14F-4D97-AF65-F5344CB8AC3E}">
        <p14:creationId xmlns:p14="http://schemas.microsoft.com/office/powerpoint/2010/main" val="2360442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A2CBE-1A13-CF73-B8C1-C45FFABF503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7BB381B-538B-E8AB-4DB8-387A4CBA69FE}"/>
              </a:ext>
            </a:extLst>
          </p:cNvPr>
          <p:cNvSpPr>
            <a:spLocks noGrp="1"/>
          </p:cNvSpPr>
          <p:nvPr>
            <p:ph type="title"/>
          </p:nvPr>
        </p:nvSpPr>
        <p:spPr/>
        <p:txBody>
          <a:bodyPr/>
          <a:lstStyle/>
          <a:p>
            <a:r>
              <a:rPr lang="zh-TW" altLang="en-US" dirty="0">
                <a:solidFill>
                  <a:srgbClr val="FFFFFF"/>
                </a:solidFill>
                <a:latin typeface="華康隸書體W7" panose="02010609010101010101" pitchFamily="49" charset="-120"/>
                <a:ea typeface="華康隸書體W7" panose="02010609010101010101" pitchFamily="49" charset="-120"/>
              </a:rPr>
              <a:t>婦女演講成長計畫經費表</a:t>
            </a:r>
            <a:endParaRPr lang="zh-TW" altLang="en-US" sz="3600" dirty="0"/>
          </a:p>
        </p:txBody>
      </p:sp>
      <p:graphicFrame>
        <p:nvGraphicFramePr>
          <p:cNvPr id="3" name="表格 2">
            <a:extLst>
              <a:ext uri="{FF2B5EF4-FFF2-40B4-BE49-F238E27FC236}">
                <a16:creationId xmlns:a16="http://schemas.microsoft.com/office/drawing/2014/main" id="{C3C0AAC9-BCC7-94EF-6B06-C16FA21F8DA9}"/>
              </a:ext>
            </a:extLst>
          </p:cNvPr>
          <p:cNvGraphicFramePr>
            <a:graphicFrameLocks noGrp="1"/>
          </p:cNvGraphicFramePr>
          <p:nvPr/>
        </p:nvGraphicFramePr>
        <p:xfrm>
          <a:off x="179513" y="1916832"/>
          <a:ext cx="8755710" cy="3168352"/>
        </p:xfrm>
        <a:graphic>
          <a:graphicData uri="http://schemas.openxmlformats.org/drawingml/2006/table">
            <a:tbl>
              <a:tblPr firstRow="1" firstCol="1" bandRow="1"/>
              <a:tblGrid>
                <a:gridCol w="1584175">
                  <a:extLst>
                    <a:ext uri="{9D8B030D-6E8A-4147-A177-3AD203B41FA5}">
                      <a16:colId xmlns:a16="http://schemas.microsoft.com/office/drawing/2014/main" val="115662046"/>
                    </a:ext>
                  </a:extLst>
                </a:gridCol>
                <a:gridCol w="1008112">
                  <a:extLst>
                    <a:ext uri="{9D8B030D-6E8A-4147-A177-3AD203B41FA5}">
                      <a16:colId xmlns:a16="http://schemas.microsoft.com/office/drawing/2014/main" val="2300184462"/>
                    </a:ext>
                  </a:extLst>
                </a:gridCol>
                <a:gridCol w="1124499">
                  <a:extLst>
                    <a:ext uri="{9D8B030D-6E8A-4147-A177-3AD203B41FA5}">
                      <a16:colId xmlns:a16="http://schemas.microsoft.com/office/drawing/2014/main" val="3377788746"/>
                    </a:ext>
                  </a:extLst>
                </a:gridCol>
                <a:gridCol w="1125362">
                  <a:extLst>
                    <a:ext uri="{9D8B030D-6E8A-4147-A177-3AD203B41FA5}">
                      <a16:colId xmlns:a16="http://schemas.microsoft.com/office/drawing/2014/main" val="1374551655"/>
                    </a:ext>
                  </a:extLst>
                </a:gridCol>
                <a:gridCol w="1125362">
                  <a:extLst>
                    <a:ext uri="{9D8B030D-6E8A-4147-A177-3AD203B41FA5}">
                      <a16:colId xmlns:a16="http://schemas.microsoft.com/office/drawing/2014/main" val="2434757255"/>
                    </a:ext>
                  </a:extLst>
                </a:gridCol>
                <a:gridCol w="1017265">
                  <a:extLst>
                    <a:ext uri="{9D8B030D-6E8A-4147-A177-3AD203B41FA5}">
                      <a16:colId xmlns:a16="http://schemas.microsoft.com/office/drawing/2014/main" val="2797048476"/>
                    </a:ext>
                  </a:extLst>
                </a:gridCol>
                <a:gridCol w="1770935">
                  <a:extLst>
                    <a:ext uri="{9D8B030D-6E8A-4147-A177-3AD203B41FA5}">
                      <a16:colId xmlns:a16="http://schemas.microsoft.com/office/drawing/2014/main" val="903958901"/>
                    </a:ext>
                  </a:extLst>
                </a:gridCol>
              </a:tblGrid>
              <a:tr h="720080">
                <a:tc>
                  <a:txBody>
                    <a:bodyPr/>
                    <a:lstStyle/>
                    <a:p>
                      <a:pPr algn="ctr">
                        <a:lnSpc>
                          <a:spcPts val="2200"/>
                        </a:lnSpc>
                        <a:buNone/>
                      </a:pPr>
                      <a:r>
                        <a:rPr lang="zh-HK" sz="2000" kern="100" dirty="0">
                          <a:solidFill>
                            <a:srgbClr val="000000"/>
                          </a:solidFill>
                          <a:effectLst/>
                          <a:latin typeface="Times New Roman" panose="02020603050405020304" pitchFamily="18" charset="0"/>
                          <a:ea typeface="標楷體" panose="03000509000000000000" pitchFamily="65" charset="-120"/>
                        </a:rPr>
                        <a:t>項目</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2000" kern="100">
                          <a:solidFill>
                            <a:srgbClr val="000000"/>
                          </a:solidFill>
                          <a:effectLst/>
                          <a:latin typeface="Times New Roman" panose="02020603050405020304" pitchFamily="18" charset="0"/>
                          <a:ea typeface="標楷體" panose="03000509000000000000" pitchFamily="65" charset="-120"/>
                        </a:rPr>
                        <a:t>單價</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2000" kern="100" dirty="0">
                          <a:solidFill>
                            <a:srgbClr val="000000"/>
                          </a:solidFill>
                          <a:effectLst/>
                          <a:latin typeface="Times New Roman" panose="02020603050405020304" pitchFamily="18" charset="0"/>
                          <a:ea typeface="標楷體" panose="03000509000000000000" pitchFamily="65" charset="-120"/>
                        </a:rPr>
                        <a:t>數量</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2000" kern="100">
                          <a:solidFill>
                            <a:srgbClr val="000000"/>
                          </a:solidFill>
                          <a:effectLst/>
                          <a:latin typeface="Times New Roman" panose="02020603050405020304" pitchFamily="18" charset="0"/>
                          <a:ea typeface="標楷體" panose="03000509000000000000" pitchFamily="65" charset="-120"/>
                        </a:rPr>
                        <a:t>總金額</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2000" kern="100">
                          <a:solidFill>
                            <a:srgbClr val="000000"/>
                          </a:solidFill>
                          <a:effectLst/>
                          <a:latin typeface="Times New Roman" panose="02020603050405020304" pitchFamily="18" charset="0"/>
                          <a:ea typeface="標楷體" panose="03000509000000000000" pitchFamily="65" charset="-120"/>
                        </a:rPr>
                        <a:t>自籌</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2000" kern="100">
                          <a:solidFill>
                            <a:srgbClr val="000000"/>
                          </a:solidFill>
                          <a:effectLst/>
                          <a:latin typeface="Times New Roman" panose="02020603050405020304" pitchFamily="18" charset="0"/>
                          <a:ea typeface="標楷體" panose="03000509000000000000" pitchFamily="65" charset="-120"/>
                        </a:rPr>
                        <a:t>申請補助</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HK" sz="2000" kern="100">
                          <a:solidFill>
                            <a:srgbClr val="000000"/>
                          </a:solidFill>
                          <a:effectLst/>
                          <a:latin typeface="Times New Roman" panose="02020603050405020304" pitchFamily="18" charset="0"/>
                          <a:ea typeface="標楷體" panose="03000509000000000000" pitchFamily="65" charset="-120"/>
                        </a:rPr>
                        <a:t>說明</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9183143"/>
                  </a:ext>
                </a:extLst>
              </a:tr>
              <a:tr h="720080">
                <a:tc>
                  <a:txBody>
                    <a:bodyPr/>
                    <a:lstStyle/>
                    <a:p>
                      <a:pPr>
                        <a:lnSpc>
                          <a:spcPts val="2200"/>
                        </a:lnSpc>
                        <a:buNone/>
                      </a:pPr>
                      <a:r>
                        <a:rPr lang="en-US" sz="2000" kern="100">
                          <a:solidFill>
                            <a:srgbClr val="000000"/>
                          </a:solidFill>
                          <a:effectLst/>
                          <a:latin typeface="標楷體" panose="03000509000000000000" pitchFamily="65" charset="-120"/>
                          <a:ea typeface="新細明體" panose="02020500000000000000" pitchFamily="18" charset="-120"/>
                        </a:rPr>
                        <a:t>1.</a:t>
                      </a:r>
                      <a:r>
                        <a:rPr lang="en-US" sz="2000" kern="100">
                          <a:solidFill>
                            <a:srgbClr val="000000"/>
                          </a:solidFill>
                          <a:effectLst/>
                          <a:latin typeface="Times New Roman" panose="02020603050405020304" pitchFamily="18" charset="0"/>
                          <a:ea typeface="新細明體" panose="02020500000000000000" pitchFamily="18" charset="-120"/>
                        </a:rPr>
                        <a:t> </a:t>
                      </a:r>
                      <a:r>
                        <a:rPr lang="zh-TW" sz="2000" kern="100">
                          <a:solidFill>
                            <a:srgbClr val="000000"/>
                          </a:solidFill>
                          <a:effectLst/>
                          <a:latin typeface="Times New Roman" panose="02020603050405020304" pitchFamily="18" charset="0"/>
                          <a:ea typeface="標楷體" panose="03000509000000000000" pitchFamily="65" charset="-120"/>
                        </a:rPr>
                        <a:t>講師鐘點費</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114300" algn="r">
                        <a:lnSpc>
                          <a:spcPts val="2200"/>
                        </a:lnSpc>
                        <a:buNone/>
                      </a:pPr>
                      <a:r>
                        <a:rPr lang="en-US" sz="2000" b="1" kern="100" dirty="0">
                          <a:solidFill>
                            <a:srgbClr val="000000"/>
                          </a:solidFill>
                          <a:effectLst/>
                          <a:latin typeface="標楷體" panose="03000509000000000000" pitchFamily="65" charset="-120"/>
                          <a:ea typeface="新細明體" panose="02020500000000000000" pitchFamily="18" charset="-120"/>
                        </a:rPr>
                        <a:t>12,000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a:txBody>
                    <a:bodyPr/>
                    <a:lstStyle/>
                    <a:p>
                      <a:pPr marR="114300" algn="r">
                        <a:lnSpc>
                          <a:spcPts val="2200"/>
                        </a:lnSpc>
                        <a:buNone/>
                      </a:pPr>
                      <a:r>
                        <a:rPr lang="en-US" sz="2000" b="1" kern="100">
                          <a:solidFill>
                            <a:srgbClr val="000000"/>
                          </a:solidFill>
                          <a:effectLst/>
                          <a:latin typeface="標楷體" panose="03000509000000000000" pitchFamily="65" charset="-120"/>
                          <a:ea typeface="新細明體" panose="02020500000000000000" pitchFamily="18" charset="-120"/>
                        </a:rPr>
                        <a:t>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b="1" kern="100">
                          <a:solidFill>
                            <a:srgbClr val="000000"/>
                          </a:solidFill>
                          <a:effectLst/>
                          <a:latin typeface="標楷體" panose="03000509000000000000" pitchFamily="65" charset="-120"/>
                          <a:ea typeface="新細明體" panose="02020500000000000000" pitchFamily="18" charset="-120"/>
                        </a:rPr>
                        <a:t>12,000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2000" kern="100">
                          <a:solidFill>
                            <a:srgbClr val="000000"/>
                          </a:solidFill>
                          <a:effectLst/>
                          <a:latin typeface="標楷體" panose="03000509000000000000" pitchFamily="65" charset="-120"/>
                          <a:ea typeface="新細明體" panose="02020500000000000000" pitchFamily="18" charset="-120"/>
                        </a:rPr>
                        <a:t> </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9562464"/>
                  </a:ext>
                </a:extLst>
              </a:tr>
              <a:tr h="648072">
                <a:tc>
                  <a:txBody>
                    <a:bodyPr/>
                    <a:lstStyle/>
                    <a:p>
                      <a:pPr algn="ctr">
                        <a:lnSpc>
                          <a:spcPts val="2200"/>
                        </a:lnSpc>
                        <a:buNone/>
                      </a:pPr>
                      <a:r>
                        <a:rPr lang="zh-TW" sz="2000" kern="100" dirty="0">
                          <a:solidFill>
                            <a:srgbClr val="000000"/>
                          </a:solidFill>
                          <a:effectLst/>
                          <a:latin typeface="Times New Roman" panose="02020603050405020304" pitchFamily="18" charset="0"/>
                          <a:ea typeface="標楷體" panose="03000509000000000000" pitchFamily="65" charset="-120"/>
                        </a:rPr>
                        <a:t>外聘講師鐘點費</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kern="100">
                          <a:solidFill>
                            <a:srgbClr val="000000"/>
                          </a:solidFill>
                          <a:effectLst/>
                          <a:latin typeface="標楷體" panose="03000509000000000000" pitchFamily="65" charset="-120"/>
                          <a:ea typeface="新細明體" panose="02020500000000000000" pitchFamily="18" charset="-120"/>
                        </a:rPr>
                        <a:t>2,000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kern="100" dirty="0">
                          <a:solidFill>
                            <a:srgbClr val="000000"/>
                          </a:solidFill>
                          <a:effectLst/>
                          <a:latin typeface="標楷體" panose="03000509000000000000" pitchFamily="65" charset="-120"/>
                          <a:ea typeface="新細明體" panose="02020500000000000000" pitchFamily="18" charset="-120"/>
                        </a:rPr>
                        <a:t>6</a:t>
                      </a:r>
                      <a:r>
                        <a:rPr lang="zh-TW" sz="2000" kern="100" dirty="0">
                          <a:solidFill>
                            <a:srgbClr val="000000"/>
                          </a:solidFill>
                          <a:effectLst/>
                          <a:latin typeface="Times New Roman" panose="02020603050405020304" pitchFamily="18" charset="0"/>
                          <a:ea typeface="標楷體" panose="03000509000000000000" pitchFamily="65" charset="-120"/>
                        </a:rPr>
                        <a:t>小時</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kern="100" dirty="0">
                          <a:solidFill>
                            <a:srgbClr val="000000"/>
                          </a:solidFill>
                          <a:effectLst/>
                          <a:latin typeface="標楷體" panose="03000509000000000000" pitchFamily="65" charset="-120"/>
                          <a:ea typeface="新細明體" panose="02020500000000000000" pitchFamily="18" charset="-120"/>
                        </a:rPr>
                        <a:t>12,000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kern="100" dirty="0">
                          <a:solidFill>
                            <a:srgbClr val="000000"/>
                          </a:solidFill>
                          <a:effectLst/>
                          <a:latin typeface="標楷體" panose="03000509000000000000" pitchFamily="65" charset="-120"/>
                          <a:ea typeface="新細明體" panose="02020500000000000000" pitchFamily="18" charset="-120"/>
                        </a:rPr>
                        <a:t>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kern="100">
                          <a:solidFill>
                            <a:srgbClr val="000000"/>
                          </a:solidFill>
                          <a:effectLst/>
                          <a:latin typeface="標楷體" panose="03000509000000000000" pitchFamily="65" charset="-120"/>
                          <a:ea typeface="新細明體" panose="02020500000000000000" pitchFamily="18" charset="-120"/>
                        </a:rPr>
                        <a:t>12,000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zh-TW" sz="2000" kern="100">
                          <a:solidFill>
                            <a:srgbClr val="000000"/>
                          </a:solidFill>
                          <a:effectLst/>
                          <a:latin typeface="Times New Roman" panose="02020603050405020304" pitchFamily="18" charset="0"/>
                          <a:ea typeface="標楷體" panose="03000509000000000000" pitchFamily="65" charset="-120"/>
                        </a:rPr>
                        <a:t>共</a:t>
                      </a:r>
                      <a:r>
                        <a:rPr lang="en-US" sz="2000" kern="100">
                          <a:solidFill>
                            <a:srgbClr val="000000"/>
                          </a:solidFill>
                          <a:effectLst/>
                          <a:latin typeface="Times New Roman" panose="02020603050405020304" pitchFamily="18" charset="0"/>
                          <a:ea typeface="標楷體" panose="03000509000000000000" pitchFamily="65" charset="-120"/>
                        </a:rPr>
                        <a:t>3</a:t>
                      </a:r>
                      <a:r>
                        <a:rPr lang="zh-TW" sz="2000" kern="100">
                          <a:solidFill>
                            <a:srgbClr val="000000"/>
                          </a:solidFill>
                          <a:effectLst/>
                          <a:latin typeface="Times New Roman" panose="02020603050405020304" pitchFamily="18" charset="0"/>
                          <a:ea typeface="標楷體" panose="03000509000000000000" pitchFamily="65" charset="-120"/>
                        </a:rPr>
                        <a:t>堂課</a:t>
                      </a:r>
                      <a:r>
                        <a:rPr lang="en-US" sz="2000" kern="100">
                          <a:solidFill>
                            <a:srgbClr val="000000"/>
                          </a:solidFill>
                          <a:effectLst/>
                          <a:latin typeface="Times New Roman" panose="02020603050405020304" pitchFamily="18" charset="0"/>
                          <a:ea typeface="標楷體" panose="03000509000000000000" pitchFamily="65" charset="-120"/>
                        </a:rPr>
                        <a:t>6</a:t>
                      </a:r>
                      <a:r>
                        <a:rPr lang="zh-TW" sz="2000" kern="100">
                          <a:solidFill>
                            <a:srgbClr val="000000"/>
                          </a:solidFill>
                          <a:effectLst/>
                          <a:latin typeface="Times New Roman" panose="02020603050405020304" pitchFamily="18" charset="0"/>
                          <a:ea typeface="標楷體" panose="03000509000000000000" pitchFamily="65" charset="-120"/>
                        </a:rPr>
                        <a:t>小時，講師待聘</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4338205"/>
                  </a:ext>
                </a:extLst>
              </a:tr>
              <a:tr h="360040">
                <a:tc>
                  <a:txBody>
                    <a:bodyPr/>
                    <a:lstStyle/>
                    <a:p>
                      <a:pPr>
                        <a:lnSpc>
                          <a:spcPts val="2200"/>
                        </a:lnSpc>
                        <a:buNone/>
                      </a:pPr>
                      <a:r>
                        <a:rPr lang="en-US" sz="2000" kern="100">
                          <a:solidFill>
                            <a:srgbClr val="000000"/>
                          </a:solidFill>
                          <a:effectLst/>
                          <a:latin typeface="標楷體" panose="03000509000000000000" pitchFamily="65" charset="-120"/>
                          <a:ea typeface="新細明體" panose="02020500000000000000" pitchFamily="18" charset="-120"/>
                        </a:rPr>
                        <a:t>2.</a:t>
                      </a:r>
                      <a:r>
                        <a:rPr lang="zh-TW" sz="2000" kern="100">
                          <a:solidFill>
                            <a:srgbClr val="000000"/>
                          </a:solidFill>
                          <a:effectLst/>
                          <a:latin typeface="Times New Roman" panose="02020603050405020304" pitchFamily="18" charset="0"/>
                          <a:ea typeface="標楷體" panose="03000509000000000000" pitchFamily="65" charset="-120"/>
                        </a:rPr>
                        <a:t>茶水費</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114300" algn="r">
                        <a:lnSpc>
                          <a:spcPts val="2200"/>
                        </a:lnSpc>
                        <a:buNone/>
                      </a:pPr>
                      <a:r>
                        <a:rPr lang="en-US" sz="2000" b="1" kern="100">
                          <a:solidFill>
                            <a:srgbClr val="000000"/>
                          </a:solidFill>
                          <a:effectLst/>
                          <a:latin typeface="標楷體" panose="03000509000000000000" pitchFamily="65" charset="-120"/>
                          <a:ea typeface="新細明體" panose="02020500000000000000" pitchFamily="18" charset="-120"/>
                        </a:rPr>
                        <a:t>1,600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a:txBody>
                    <a:bodyPr/>
                    <a:lstStyle/>
                    <a:p>
                      <a:pPr marR="114300" algn="r">
                        <a:lnSpc>
                          <a:spcPts val="2200"/>
                        </a:lnSpc>
                        <a:buNone/>
                      </a:pPr>
                      <a:r>
                        <a:rPr lang="en-US" sz="2000" b="1" kern="100">
                          <a:solidFill>
                            <a:srgbClr val="000000"/>
                          </a:solidFill>
                          <a:effectLst/>
                          <a:latin typeface="標楷體" panose="03000509000000000000" pitchFamily="65" charset="-120"/>
                          <a:ea typeface="新細明體" panose="02020500000000000000" pitchFamily="18" charset="-120"/>
                        </a:rPr>
                        <a:t>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b="1" kern="100" dirty="0">
                          <a:solidFill>
                            <a:srgbClr val="000000"/>
                          </a:solidFill>
                          <a:effectLst/>
                          <a:latin typeface="標楷體" panose="03000509000000000000" pitchFamily="65" charset="-120"/>
                          <a:ea typeface="新細明體" panose="02020500000000000000" pitchFamily="18" charset="-120"/>
                        </a:rPr>
                        <a:t>1,600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2000" kern="100">
                          <a:solidFill>
                            <a:srgbClr val="000000"/>
                          </a:solidFill>
                          <a:effectLst/>
                          <a:latin typeface="標楷體" panose="03000509000000000000" pitchFamily="65" charset="-120"/>
                          <a:ea typeface="新細明體" panose="02020500000000000000" pitchFamily="18" charset="-120"/>
                        </a:rPr>
                        <a:t> </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3686248"/>
                  </a:ext>
                </a:extLst>
              </a:tr>
              <a:tr h="360040">
                <a:tc>
                  <a:txBody>
                    <a:bodyPr/>
                    <a:lstStyle/>
                    <a:p>
                      <a:pPr algn="ctr">
                        <a:lnSpc>
                          <a:spcPts val="2200"/>
                        </a:lnSpc>
                        <a:buNone/>
                      </a:pPr>
                      <a:r>
                        <a:rPr lang="zh-TW" sz="2000" kern="100">
                          <a:solidFill>
                            <a:srgbClr val="000000"/>
                          </a:solidFill>
                          <a:effectLst/>
                          <a:latin typeface="Times New Roman" panose="02020603050405020304" pitchFamily="18" charset="0"/>
                          <a:ea typeface="標楷體" panose="03000509000000000000" pitchFamily="65" charset="-120"/>
                        </a:rPr>
                        <a:t>茶水</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kern="100" dirty="0">
                          <a:solidFill>
                            <a:srgbClr val="000000"/>
                          </a:solidFill>
                          <a:effectLst/>
                          <a:latin typeface="標楷體" panose="03000509000000000000" pitchFamily="65" charset="-120"/>
                          <a:ea typeface="新細明體" panose="02020500000000000000" pitchFamily="18" charset="-120"/>
                        </a:rPr>
                        <a:t>20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kern="100" dirty="0">
                          <a:solidFill>
                            <a:srgbClr val="000000"/>
                          </a:solidFill>
                          <a:effectLst/>
                          <a:latin typeface="標楷體" panose="03000509000000000000" pitchFamily="65" charset="-120"/>
                          <a:ea typeface="新細明體" panose="02020500000000000000" pitchFamily="18" charset="-120"/>
                        </a:rPr>
                        <a:t>80</a:t>
                      </a:r>
                      <a:r>
                        <a:rPr lang="zh-TW" sz="2000" kern="100" dirty="0">
                          <a:solidFill>
                            <a:srgbClr val="000000"/>
                          </a:solidFill>
                          <a:effectLst/>
                          <a:latin typeface="Times New Roman" panose="02020603050405020304" pitchFamily="18" charset="0"/>
                          <a:ea typeface="標楷體" panose="03000509000000000000" pitchFamily="65" charset="-120"/>
                        </a:rPr>
                        <a:t>人次</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kern="100" dirty="0">
                          <a:solidFill>
                            <a:srgbClr val="000000"/>
                          </a:solidFill>
                          <a:effectLst/>
                          <a:latin typeface="標楷體" panose="03000509000000000000" pitchFamily="65" charset="-120"/>
                          <a:ea typeface="新細明體" panose="02020500000000000000" pitchFamily="18" charset="-120"/>
                        </a:rPr>
                        <a:t>1,600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kern="100">
                          <a:solidFill>
                            <a:srgbClr val="000000"/>
                          </a:solidFill>
                          <a:effectLst/>
                          <a:latin typeface="標楷體" panose="03000509000000000000" pitchFamily="65" charset="-120"/>
                          <a:ea typeface="新細明體" panose="02020500000000000000" pitchFamily="18" charset="-120"/>
                        </a:rPr>
                        <a:t>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kern="100" dirty="0">
                          <a:solidFill>
                            <a:srgbClr val="000000"/>
                          </a:solidFill>
                          <a:effectLst/>
                          <a:latin typeface="標楷體" panose="03000509000000000000" pitchFamily="65" charset="-120"/>
                          <a:ea typeface="新細明體" panose="02020500000000000000" pitchFamily="18" charset="-120"/>
                        </a:rPr>
                        <a:t>1,600</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2000" kern="100">
                          <a:solidFill>
                            <a:srgbClr val="000000"/>
                          </a:solidFill>
                          <a:effectLst/>
                          <a:latin typeface="標楷體" panose="03000509000000000000" pitchFamily="65" charset="-120"/>
                          <a:ea typeface="新細明體" panose="02020500000000000000" pitchFamily="18" charset="-120"/>
                        </a:rPr>
                        <a:t> </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1275598"/>
                  </a:ext>
                </a:extLst>
              </a:tr>
              <a:tr h="360040">
                <a:tc gridSpan="3">
                  <a:txBody>
                    <a:bodyPr/>
                    <a:lstStyle/>
                    <a:p>
                      <a:pPr algn="ctr">
                        <a:lnSpc>
                          <a:spcPts val="2200"/>
                        </a:lnSpc>
                        <a:buNone/>
                      </a:pPr>
                      <a:r>
                        <a:rPr lang="zh-HK" sz="2000" kern="100">
                          <a:solidFill>
                            <a:srgbClr val="000000"/>
                          </a:solidFill>
                          <a:effectLst/>
                          <a:latin typeface="Times New Roman" panose="02020603050405020304" pitchFamily="18" charset="0"/>
                          <a:ea typeface="標楷體" panose="03000509000000000000" pitchFamily="65" charset="-120"/>
                        </a:rPr>
                        <a:t>總計</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114300" algn="r">
                        <a:lnSpc>
                          <a:spcPts val="2200"/>
                        </a:lnSpc>
                        <a:buNone/>
                      </a:pPr>
                      <a:r>
                        <a:rPr lang="en-US" sz="2000" b="1" kern="100">
                          <a:solidFill>
                            <a:srgbClr val="000000"/>
                          </a:solidFill>
                          <a:effectLst/>
                          <a:latin typeface="標楷體" panose="03000509000000000000" pitchFamily="65" charset="-120"/>
                          <a:ea typeface="新細明體" panose="02020500000000000000" pitchFamily="18" charset="-120"/>
                        </a:rPr>
                        <a:t>13,600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b="1" kern="100">
                          <a:solidFill>
                            <a:srgbClr val="000000"/>
                          </a:solidFill>
                          <a:effectLst/>
                          <a:latin typeface="標楷體" panose="03000509000000000000" pitchFamily="65" charset="-120"/>
                          <a:ea typeface="新細明體" panose="02020500000000000000" pitchFamily="18" charset="-120"/>
                        </a:rPr>
                        <a:t>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114300" algn="r">
                        <a:lnSpc>
                          <a:spcPts val="2200"/>
                        </a:lnSpc>
                        <a:buNone/>
                      </a:pPr>
                      <a:r>
                        <a:rPr lang="en-US" sz="2000" b="1" kern="100">
                          <a:solidFill>
                            <a:srgbClr val="000000"/>
                          </a:solidFill>
                          <a:effectLst/>
                          <a:latin typeface="標楷體" panose="03000509000000000000" pitchFamily="65" charset="-120"/>
                          <a:ea typeface="新細明體" panose="02020500000000000000" pitchFamily="18" charset="-120"/>
                        </a:rPr>
                        <a:t>13,600</a:t>
                      </a:r>
                      <a:endParaRPr lang="zh-TW" sz="2000" kern="10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200"/>
                        </a:lnSpc>
                        <a:buNone/>
                      </a:pPr>
                      <a:r>
                        <a:rPr lang="en-US" sz="2000" kern="100" dirty="0">
                          <a:solidFill>
                            <a:srgbClr val="000000"/>
                          </a:solidFill>
                          <a:effectLst/>
                          <a:latin typeface="標楷體" panose="03000509000000000000" pitchFamily="65" charset="-120"/>
                          <a:ea typeface="新細明體" panose="02020500000000000000" pitchFamily="18" charset="-120"/>
                        </a:rPr>
                        <a:t> </a:t>
                      </a:r>
                      <a:endParaRPr lang="zh-TW" sz="2000" kern="100" dirty="0">
                        <a:solidFill>
                          <a:srgbClr val="000000"/>
                        </a:solidFill>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3240963"/>
                  </a:ext>
                </a:extLst>
              </a:tr>
            </a:tbl>
          </a:graphicData>
        </a:graphic>
      </p:graphicFrame>
    </p:spTree>
    <p:extLst>
      <p:ext uri="{BB962C8B-B14F-4D97-AF65-F5344CB8AC3E}">
        <p14:creationId xmlns:p14="http://schemas.microsoft.com/office/powerpoint/2010/main" val="32796174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C299D-AF97-83C3-ED1D-E64E75B189D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70BD1D9-BD36-267E-2486-AEA0304A641E}"/>
              </a:ext>
            </a:extLst>
          </p:cNvPr>
          <p:cNvSpPr>
            <a:spLocks noGrp="1"/>
          </p:cNvSpPr>
          <p:nvPr>
            <p:ph type="title"/>
          </p:nvPr>
        </p:nvSpPr>
        <p:spPr/>
        <p:txBody>
          <a:bodyPr/>
          <a:lstStyle/>
          <a:p>
            <a:pPr>
              <a:tabLst>
                <a:tab pos="4216400" algn="l"/>
                <a:tab pos="4305300" algn="l"/>
              </a:tabLst>
            </a:pPr>
            <a:r>
              <a:rPr kumimoji="0" lang="zh-TW" altLang="en-US" sz="2400" b="1" i="0" u="none" strike="noStrike" kern="0" cap="none" spc="0" normalizeH="0" baseline="0" noProof="0" dirty="0">
                <a:ln>
                  <a:noFill/>
                </a:ln>
                <a:solidFill>
                  <a:srgbClr val="FFFFFF"/>
                </a:solidFill>
                <a:effectLst/>
                <a:uLnTx/>
                <a:uFillTx/>
                <a:latin typeface="華康POP1體W5(P)" panose="02010600010101010101" pitchFamily="2" charset="-120"/>
                <a:ea typeface="華康POP1體W5(P)" panose="02010600010101010101" pitchFamily="2" charset="-120"/>
                <a:cs typeface="+mj-cs"/>
              </a:rPr>
              <a:t>專業服務費：聘請林珈瑩社工員協助計畫推動</a:t>
            </a:r>
            <a:endParaRPr lang="zh-TW" altLang="en-US" sz="3200" dirty="0"/>
          </a:p>
        </p:txBody>
      </p:sp>
      <p:graphicFrame>
        <p:nvGraphicFramePr>
          <p:cNvPr id="3" name="表格 2">
            <a:extLst>
              <a:ext uri="{FF2B5EF4-FFF2-40B4-BE49-F238E27FC236}">
                <a16:creationId xmlns:a16="http://schemas.microsoft.com/office/drawing/2014/main" id="{5B21C525-6E73-90DC-E9D3-E4A4258AD866}"/>
              </a:ext>
            </a:extLst>
          </p:cNvPr>
          <p:cNvGraphicFramePr>
            <a:graphicFrameLocks noGrp="1"/>
          </p:cNvGraphicFramePr>
          <p:nvPr/>
        </p:nvGraphicFramePr>
        <p:xfrm>
          <a:off x="164975" y="1763649"/>
          <a:ext cx="8814050" cy="3181096"/>
        </p:xfrm>
        <a:graphic>
          <a:graphicData uri="http://schemas.openxmlformats.org/drawingml/2006/table">
            <a:tbl>
              <a:tblPr firstRow="1" firstCol="1" lastRow="1" lastCol="1" bandRow="1" bandCol="1"/>
              <a:tblGrid>
                <a:gridCol w="1814737">
                  <a:extLst>
                    <a:ext uri="{9D8B030D-6E8A-4147-A177-3AD203B41FA5}">
                      <a16:colId xmlns:a16="http://schemas.microsoft.com/office/drawing/2014/main" val="82174164"/>
                    </a:ext>
                  </a:extLst>
                </a:gridCol>
                <a:gridCol w="847876">
                  <a:extLst>
                    <a:ext uri="{9D8B030D-6E8A-4147-A177-3AD203B41FA5}">
                      <a16:colId xmlns:a16="http://schemas.microsoft.com/office/drawing/2014/main" val="2124145453"/>
                    </a:ext>
                  </a:extLst>
                </a:gridCol>
                <a:gridCol w="932496">
                  <a:extLst>
                    <a:ext uri="{9D8B030D-6E8A-4147-A177-3AD203B41FA5}">
                      <a16:colId xmlns:a16="http://schemas.microsoft.com/office/drawing/2014/main" val="3932312485"/>
                    </a:ext>
                  </a:extLst>
                </a:gridCol>
                <a:gridCol w="1198669">
                  <a:extLst>
                    <a:ext uri="{9D8B030D-6E8A-4147-A177-3AD203B41FA5}">
                      <a16:colId xmlns:a16="http://schemas.microsoft.com/office/drawing/2014/main" val="742311371"/>
                    </a:ext>
                  </a:extLst>
                </a:gridCol>
                <a:gridCol w="799410">
                  <a:extLst>
                    <a:ext uri="{9D8B030D-6E8A-4147-A177-3AD203B41FA5}">
                      <a16:colId xmlns:a16="http://schemas.microsoft.com/office/drawing/2014/main" val="2107245112"/>
                    </a:ext>
                  </a:extLst>
                </a:gridCol>
                <a:gridCol w="1463947">
                  <a:extLst>
                    <a:ext uri="{9D8B030D-6E8A-4147-A177-3AD203B41FA5}">
                      <a16:colId xmlns:a16="http://schemas.microsoft.com/office/drawing/2014/main" val="3350462174"/>
                    </a:ext>
                  </a:extLst>
                </a:gridCol>
                <a:gridCol w="1756915">
                  <a:extLst>
                    <a:ext uri="{9D8B030D-6E8A-4147-A177-3AD203B41FA5}">
                      <a16:colId xmlns:a16="http://schemas.microsoft.com/office/drawing/2014/main" val="3423173066"/>
                    </a:ext>
                  </a:extLst>
                </a:gridCol>
              </a:tblGrid>
              <a:tr h="0">
                <a:tc>
                  <a:txBody>
                    <a:bodyPr/>
                    <a:lstStyle/>
                    <a:p>
                      <a:pPr marL="249555" algn="ctr">
                        <a:lnSpc>
                          <a:spcPts val="3000"/>
                        </a:lnSpc>
                      </a:pPr>
                      <a:r>
                        <a:rPr lang="en-US" sz="2000" kern="0" spc="-30" dirty="0" err="1">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項目</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93980" algn="ctr">
                        <a:lnSpc>
                          <a:spcPts val="3000"/>
                        </a:lnSpc>
                      </a:pPr>
                      <a:r>
                        <a:rPr lang="en-US" sz="20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單價</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7950" algn="ctr">
                        <a:lnSpc>
                          <a:spcPts val="3000"/>
                        </a:lnSpc>
                      </a:pPr>
                      <a:r>
                        <a:rPr lang="en-US" sz="20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數量</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4610" algn="ctr">
                        <a:lnSpc>
                          <a:spcPts val="3000"/>
                        </a:lnSpc>
                      </a:pPr>
                      <a:r>
                        <a:rPr lang="en-US" sz="20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總金額</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5090" algn="ctr">
                        <a:lnSpc>
                          <a:spcPts val="3000"/>
                        </a:lnSpc>
                      </a:pPr>
                      <a:r>
                        <a:rPr lang="en-US" sz="20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自籌</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7305" algn="ctr">
                        <a:lnSpc>
                          <a:spcPts val="3000"/>
                        </a:lnSpc>
                      </a:pPr>
                      <a:r>
                        <a:rPr lang="en-US" sz="2000" kern="0" spc="-2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申請</a:t>
                      </a:r>
                      <a:r>
                        <a:rPr lang="en-US" sz="2000" kern="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補助</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en-US" sz="2000" kern="0" spc="-3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說明</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7472002"/>
                  </a:ext>
                </a:extLst>
              </a:tr>
              <a:tr h="272415">
                <a:tc>
                  <a:txBody>
                    <a:bodyPr/>
                    <a:lstStyle/>
                    <a:p>
                      <a:pPr marL="15240" algn="just">
                        <a:lnSpc>
                          <a:spcPts val="3000"/>
                        </a:lnSpc>
                      </a:pPr>
                      <a:r>
                        <a:rPr lang="en-US" sz="2000"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a:t>
                      </a:r>
                      <a:r>
                        <a:rPr lang="zh-TW" sz="2000" kern="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薪資</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L="1134110" marR="91440" algn="r">
                        <a:lnSpc>
                          <a:spcPts val="3000"/>
                        </a:lnSpc>
                      </a:pP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478,776</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91440" algn="r">
                        <a:lnSpc>
                          <a:spcPts val="3000"/>
                        </a:lnSpc>
                      </a:pPr>
                      <a:r>
                        <a:rPr lang="en-US" sz="2000" b="1" kern="0" spc="-9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478,776</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en-US" sz="2000" kern="0">
                          <a:solidFill>
                            <a:srgbClr val="000000"/>
                          </a:solidFill>
                          <a:effectLst/>
                          <a:latin typeface="標楷體" panose="03000509000000000000" pitchFamily="65" charset="-120"/>
                          <a:ea typeface="標楷體" panose="03000509000000000000" pitchFamily="65" charset="-120"/>
                        </a:rPr>
                        <a:t> </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58682177"/>
                  </a:ext>
                </a:extLst>
              </a:tr>
              <a:tr h="266700">
                <a:tc>
                  <a:txBody>
                    <a:bodyPr/>
                    <a:lstStyle/>
                    <a:p>
                      <a:pPr algn="ctr">
                        <a:lnSpc>
                          <a:spcPts val="3000"/>
                        </a:lnSpc>
                      </a:pPr>
                      <a:r>
                        <a:rPr lang="zh-TW" sz="2000" kern="0" spc="-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薪資</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en-US" sz="2000" kern="0" dirty="0">
                          <a:solidFill>
                            <a:srgbClr val="000000"/>
                          </a:solidFill>
                          <a:effectLst/>
                          <a:latin typeface="標楷體" panose="03000509000000000000" pitchFamily="65" charset="-120"/>
                          <a:ea typeface="標楷體" panose="03000509000000000000" pitchFamily="65" charset="-120"/>
                        </a:rPr>
                        <a:t>3</a:t>
                      </a:r>
                      <a:r>
                        <a:rPr lang="en-US" altLang="zh-TW" sz="2000" kern="0" dirty="0">
                          <a:solidFill>
                            <a:srgbClr val="000000"/>
                          </a:solidFill>
                          <a:effectLst/>
                          <a:latin typeface="標楷體" panose="03000509000000000000" pitchFamily="65" charset="-120"/>
                          <a:ea typeface="標楷體" panose="03000509000000000000" pitchFamily="65" charset="-120"/>
                        </a:rPr>
                        <a:t>9</a:t>
                      </a:r>
                      <a:r>
                        <a:rPr lang="en-US" sz="2000" kern="0" dirty="0">
                          <a:solidFill>
                            <a:srgbClr val="000000"/>
                          </a:solidFill>
                          <a:effectLst/>
                          <a:latin typeface="標楷體" panose="03000509000000000000" pitchFamily="65" charset="-120"/>
                          <a:ea typeface="標楷體" panose="03000509000000000000" pitchFamily="65" charset="-120"/>
                        </a:rPr>
                        <a:t>,898</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en-US" sz="2000" kern="0" dirty="0">
                          <a:solidFill>
                            <a:srgbClr val="000000"/>
                          </a:solidFill>
                          <a:effectLst/>
                          <a:latin typeface="標楷體" panose="03000509000000000000" pitchFamily="65" charset="-120"/>
                          <a:ea typeface="標楷體" panose="03000509000000000000" pitchFamily="65" charset="-120"/>
                        </a:rPr>
                        <a:t>12</a:t>
                      </a:r>
                      <a:r>
                        <a:rPr lang="zh-TW" sz="2000" kern="0" dirty="0">
                          <a:solidFill>
                            <a:srgbClr val="000000"/>
                          </a:solidFill>
                          <a:effectLst/>
                          <a:latin typeface="標楷體" panose="03000509000000000000" pitchFamily="65" charset="-120"/>
                          <a:ea typeface="標楷體" panose="03000509000000000000" pitchFamily="65" charset="-120"/>
                        </a:rPr>
                        <a:t>月</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kern="0" dirty="0">
                          <a:solidFill>
                            <a:srgbClr val="000000"/>
                          </a:solidFill>
                          <a:effectLst/>
                          <a:latin typeface="標楷體" panose="03000509000000000000" pitchFamily="65" charset="-120"/>
                          <a:ea typeface="標楷體" panose="03000509000000000000" pitchFamily="65" charset="-120"/>
                        </a:rPr>
                        <a:t>4</a:t>
                      </a:r>
                      <a:r>
                        <a:rPr lang="en-US" altLang="zh-TW" sz="2000" kern="0" dirty="0">
                          <a:solidFill>
                            <a:srgbClr val="000000"/>
                          </a:solidFill>
                          <a:effectLst/>
                          <a:latin typeface="標楷體" panose="03000509000000000000" pitchFamily="65" charset="-120"/>
                          <a:ea typeface="標楷體" panose="03000509000000000000" pitchFamily="65" charset="-120"/>
                        </a:rPr>
                        <a:t>78</a:t>
                      </a:r>
                      <a:r>
                        <a:rPr lang="en-US" sz="2000" kern="0" dirty="0">
                          <a:solidFill>
                            <a:srgbClr val="000000"/>
                          </a:solidFill>
                          <a:effectLst/>
                          <a:latin typeface="標楷體" panose="03000509000000000000" pitchFamily="65" charset="-120"/>
                          <a:ea typeface="標楷體" panose="03000509000000000000" pitchFamily="65" charset="-120"/>
                        </a:rPr>
                        <a:t>,776</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kern="0" dirty="0">
                          <a:solidFill>
                            <a:srgbClr val="000000"/>
                          </a:solidFill>
                          <a:effectLst/>
                          <a:latin typeface="標楷體" panose="03000509000000000000" pitchFamily="65" charset="-120"/>
                          <a:ea typeface="標楷體" panose="03000509000000000000" pitchFamily="65" charset="-120"/>
                        </a:rPr>
                        <a:t>0</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kern="0" dirty="0">
                          <a:solidFill>
                            <a:srgbClr val="000000"/>
                          </a:solidFill>
                          <a:effectLst/>
                          <a:latin typeface="標楷體" panose="03000509000000000000" pitchFamily="65" charset="-120"/>
                          <a:ea typeface="標楷體" panose="03000509000000000000" pitchFamily="65" charset="-120"/>
                        </a:rPr>
                        <a:t>4</a:t>
                      </a:r>
                      <a:r>
                        <a:rPr lang="en-US" altLang="zh-TW" sz="2000" kern="0" dirty="0">
                          <a:solidFill>
                            <a:srgbClr val="000000"/>
                          </a:solidFill>
                          <a:effectLst/>
                          <a:latin typeface="標楷體" panose="03000509000000000000" pitchFamily="65" charset="-120"/>
                          <a:ea typeface="標楷體" panose="03000509000000000000" pitchFamily="65" charset="-120"/>
                        </a:rPr>
                        <a:t>78</a:t>
                      </a:r>
                      <a:r>
                        <a:rPr lang="en-US" sz="2000" kern="0" dirty="0">
                          <a:solidFill>
                            <a:srgbClr val="000000"/>
                          </a:solidFill>
                          <a:effectLst/>
                          <a:latin typeface="標楷體" panose="03000509000000000000" pitchFamily="65" charset="-120"/>
                          <a:ea typeface="標楷體" panose="03000509000000000000" pitchFamily="65" charset="-120"/>
                        </a:rPr>
                        <a:t>,776</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0165" algn="ctr">
                        <a:lnSpc>
                          <a:spcPts val="3000"/>
                        </a:lnSpc>
                        <a:spcBef>
                          <a:spcPts val="50"/>
                        </a:spcBef>
                      </a:pPr>
                      <a:r>
                        <a:rPr lang="zh-TW" sz="2000" kern="0">
                          <a:solidFill>
                            <a:srgbClr val="000000"/>
                          </a:solidFill>
                          <a:effectLst/>
                          <a:latin typeface="標楷體" panose="03000509000000000000" pitchFamily="65" charset="-120"/>
                          <a:ea typeface="標楷體" panose="03000509000000000000" pitchFamily="65" charset="-120"/>
                        </a:rPr>
                        <a:t>社工員</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0378972"/>
                  </a:ext>
                </a:extLst>
              </a:tr>
              <a:tr h="360680">
                <a:tc>
                  <a:txBody>
                    <a:bodyPr/>
                    <a:lstStyle/>
                    <a:p>
                      <a:pPr marL="15240" algn="ctr">
                        <a:lnSpc>
                          <a:spcPts val="3000"/>
                        </a:lnSpc>
                      </a:pPr>
                      <a:r>
                        <a:rPr lang="en-US" sz="2000"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a:t>
                      </a:r>
                      <a:r>
                        <a:rPr lang="zh-TW" sz="2000"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勞健保及勞退</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91440" algn="r">
                        <a:lnSpc>
                          <a:spcPts val="3000"/>
                        </a:lnSpc>
                      </a:pP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94,</a:t>
                      </a:r>
                      <a:r>
                        <a:rPr lang="en-US" altLang="zh-TW"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26</a:t>
                      </a: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91440" algn="r">
                        <a:lnSpc>
                          <a:spcPts val="3000"/>
                        </a:lnSpc>
                      </a:pPr>
                      <a:r>
                        <a:rPr lang="en-US" sz="2000" b="1" kern="0" spc="-9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94,</a:t>
                      </a:r>
                      <a:r>
                        <a:rPr lang="en-US" altLang="zh-TW"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26</a:t>
                      </a: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ts val="3000"/>
                        </a:lnSpc>
                      </a:pPr>
                      <a:r>
                        <a:rPr lang="zh-TW" sz="1800" kern="0" dirty="0">
                          <a:solidFill>
                            <a:srgbClr val="000000"/>
                          </a:solidFill>
                          <a:effectLst/>
                          <a:latin typeface="標楷體" panose="03000509000000000000" pitchFamily="65" charset="-120"/>
                          <a:ea typeface="標楷體" panose="03000509000000000000" pitchFamily="65" charset="-120"/>
                        </a:rPr>
                        <a:t>勞保</a:t>
                      </a:r>
                      <a:r>
                        <a:rPr lang="en-US" sz="1800" kern="0" dirty="0">
                          <a:solidFill>
                            <a:srgbClr val="000000"/>
                          </a:solidFill>
                          <a:effectLst/>
                          <a:latin typeface="標楷體" panose="03000509000000000000" pitchFamily="65" charset="-120"/>
                          <a:ea typeface="標楷體" panose="03000509000000000000" pitchFamily="65" charset="-120"/>
                        </a:rPr>
                        <a:t>3,5</a:t>
                      </a:r>
                      <a:r>
                        <a:rPr lang="en-US" altLang="zh-TW" sz="1800" kern="0" dirty="0">
                          <a:solidFill>
                            <a:srgbClr val="000000"/>
                          </a:solidFill>
                          <a:effectLst/>
                          <a:latin typeface="標楷體" panose="03000509000000000000" pitchFamily="65" charset="-120"/>
                          <a:ea typeface="標楷體" panose="03000509000000000000" pitchFamily="65" charset="-120"/>
                        </a:rPr>
                        <a:t>0</a:t>
                      </a:r>
                      <a:r>
                        <a:rPr lang="en-US" sz="1800" kern="0" dirty="0">
                          <a:solidFill>
                            <a:srgbClr val="000000"/>
                          </a:solidFill>
                          <a:effectLst/>
                          <a:latin typeface="標楷體" panose="03000509000000000000" pitchFamily="65" charset="-120"/>
                          <a:ea typeface="標楷體" panose="03000509000000000000" pitchFamily="65" charset="-120"/>
                        </a:rPr>
                        <a:t>9</a:t>
                      </a:r>
                      <a:r>
                        <a:rPr lang="zh-TW" sz="1800" kern="0" dirty="0">
                          <a:solidFill>
                            <a:srgbClr val="000000"/>
                          </a:solidFill>
                          <a:effectLst/>
                          <a:latin typeface="標楷體" panose="03000509000000000000" pitchFamily="65" charset="-120"/>
                          <a:ea typeface="標楷體" panose="03000509000000000000" pitchFamily="65" charset="-120"/>
                        </a:rPr>
                        <a:t>元</a:t>
                      </a:r>
                      <a:r>
                        <a:rPr lang="en-US" sz="1800" kern="0" dirty="0">
                          <a:solidFill>
                            <a:srgbClr val="000000"/>
                          </a:solidFill>
                          <a:effectLst/>
                          <a:latin typeface="標楷體" panose="03000509000000000000" pitchFamily="65" charset="-120"/>
                          <a:ea typeface="標楷體" panose="03000509000000000000" pitchFamily="65" charset="-120"/>
                        </a:rPr>
                        <a:t>/</a:t>
                      </a:r>
                      <a:r>
                        <a:rPr lang="zh-TW" sz="1800" kern="0" dirty="0">
                          <a:solidFill>
                            <a:srgbClr val="000000"/>
                          </a:solidFill>
                          <a:effectLst/>
                          <a:latin typeface="標楷體" panose="03000509000000000000" pitchFamily="65" charset="-120"/>
                          <a:ea typeface="標楷體" panose="03000509000000000000" pitchFamily="65" charset="-120"/>
                        </a:rPr>
                        <a:t>月</a:t>
                      </a:r>
                      <a:endParaRPr lang="zh-TW" sz="1800" kern="100" dirty="0">
                        <a:solidFill>
                          <a:srgbClr val="000000"/>
                        </a:solidFill>
                        <a:effectLst/>
                        <a:latin typeface="標楷體" panose="03000509000000000000" pitchFamily="65" charset="-120"/>
                        <a:ea typeface="標楷體" panose="03000509000000000000" pitchFamily="65" charset="-120"/>
                      </a:endParaRPr>
                    </a:p>
                    <a:p>
                      <a:pPr algn="ctr">
                        <a:lnSpc>
                          <a:spcPts val="3000"/>
                        </a:lnSpc>
                      </a:pPr>
                      <a:r>
                        <a:rPr lang="zh-TW" sz="1800" kern="0" dirty="0">
                          <a:solidFill>
                            <a:srgbClr val="000000"/>
                          </a:solidFill>
                          <a:effectLst/>
                          <a:latin typeface="標楷體" panose="03000509000000000000" pitchFamily="65" charset="-120"/>
                          <a:ea typeface="標楷體" panose="03000509000000000000" pitchFamily="65" charset="-120"/>
                        </a:rPr>
                        <a:t>勞退</a:t>
                      </a:r>
                      <a:r>
                        <a:rPr lang="en-US" sz="1800" kern="0" dirty="0">
                          <a:solidFill>
                            <a:srgbClr val="000000"/>
                          </a:solidFill>
                          <a:effectLst/>
                          <a:latin typeface="標楷體" panose="03000509000000000000" pitchFamily="65" charset="-120"/>
                          <a:ea typeface="標楷體" panose="03000509000000000000" pitchFamily="65" charset="-120"/>
                        </a:rPr>
                        <a:t>2,406</a:t>
                      </a:r>
                      <a:r>
                        <a:rPr lang="zh-TW" sz="1800" kern="0" dirty="0">
                          <a:solidFill>
                            <a:srgbClr val="000000"/>
                          </a:solidFill>
                          <a:effectLst/>
                          <a:latin typeface="標楷體" panose="03000509000000000000" pitchFamily="65" charset="-120"/>
                          <a:ea typeface="標楷體" panose="03000509000000000000" pitchFamily="65" charset="-120"/>
                        </a:rPr>
                        <a:t>元</a:t>
                      </a:r>
                      <a:r>
                        <a:rPr lang="en-US" sz="1800" kern="0" dirty="0">
                          <a:solidFill>
                            <a:srgbClr val="000000"/>
                          </a:solidFill>
                          <a:effectLst/>
                          <a:latin typeface="標楷體" panose="03000509000000000000" pitchFamily="65" charset="-120"/>
                          <a:ea typeface="標楷體" panose="03000509000000000000" pitchFamily="65" charset="-120"/>
                        </a:rPr>
                        <a:t>/</a:t>
                      </a:r>
                      <a:r>
                        <a:rPr lang="zh-TW" sz="1800" kern="0" dirty="0">
                          <a:solidFill>
                            <a:srgbClr val="000000"/>
                          </a:solidFill>
                          <a:effectLst/>
                          <a:latin typeface="標楷體" panose="03000509000000000000" pitchFamily="65" charset="-120"/>
                          <a:ea typeface="標楷體" panose="03000509000000000000" pitchFamily="65" charset="-120"/>
                        </a:rPr>
                        <a:t>月</a:t>
                      </a:r>
                      <a:endParaRPr lang="zh-TW" sz="1800" kern="100" dirty="0">
                        <a:solidFill>
                          <a:srgbClr val="000000"/>
                        </a:solidFill>
                        <a:effectLst/>
                        <a:latin typeface="標楷體" panose="03000509000000000000" pitchFamily="65" charset="-120"/>
                        <a:ea typeface="標楷體" panose="03000509000000000000" pitchFamily="65" charset="-120"/>
                      </a:endParaRPr>
                    </a:p>
                    <a:p>
                      <a:pPr algn="ctr">
                        <a:lnSpc>
                          <a:spcPts val="3000"/>
                        </a:lnSpc>
                      </a:pPr>
                      <a:r>
                        <a:rPr lang="zh-TW" sz="1800" kern="0" dirty="0">
                          <a:solidFill>
                            <a:srgbClr val="000000"/>
                          </a:solidFill>
                          <a:effectLst/>
                          <a:latin typeface="標楷體" panose="03000509000000000000" pitchFamily="65" charset="-120"/>
                          <a:ea typeface="標楷體" panose="03000509000000000000" pitchFamily="65" charset="-120"/>
                        </a:rPr>
                        <a:t>健保</a:t>
                      </a:r>
                      <a:r>
                        <a:rPr lang="en-US" sz="1800" kern="0" dirty="0">
                          <a:solidFill>
                            <a:srgbClr val="000000"/>
                          </a:solidFill>
                          <a:effectLst/>
                          <a:latin typeface="標楷體" panose="03000509000000000000" pitchFamily="65" charset="-120"/>
                          <a:ea typeface="標楷體" panose="03000509000000000000" pitchFamily="65" charset="-120"/>
                        </a:rPr>
                        <a:t>1,940</a:t>
                      </a:r>
                      <a:r>
                        <a:rPr lang="zh-TW" sz="1800" kern="0" dirty="0">
                          <a:solidFill>
                            <a:srgbClr val="000000"/>
                          </a:solidFill>
                          <a:effectLst/>
                          <a:latin typeface="標楷體" panose="03000509000000000000" pitchFamily="65" charset="-120"/>
                          <a:ea typeface="標楷體" panose="03000509000000000000" pitchFamily="65" charset="-120"/>
                        </a:rPr>
                        <a:t>元</a:t>
                      </a:r>
                      <a:r>
                        <a:rPr lang="en-US" sz="1800" kern="0" dirty="0">
                          <a:solidFill>
                            <a:srgbClr val="000000"/>
                          </a:solidFill>
                          <a:effectLst/>
                          <a:latin typeface="標楷體" panose="03000509000000000000" pitchFamily="65" charset="-120"/>
                          <a:ea typeface="標楷體" panose="03000509000000000000" pitchFamily="65" charset="-120"/>
                        </a:rPr>
                        <a:t>/</a:t>
                      </a:r>
                      <a:r>
                        <a:rPr lang="zh-TW" sz="1800" kern="0" dirty="0">
                          <a:solidFill>
                            <a:srgbClr val="000000"/>
                          </a:solidFill>
                          <a:effectLst/>
                          <a:latin typeface="標楷體" panose="03000509000000000000" pitchFamily="65" charset="-120"/>
                          <a:ea typeface="標楷體" panose="03000509000000000000" pitchFamily="65" charset="-120"/>
                        </a:rPr>
                        <a:t>月</a:t>
                      </a:r>
                      <a:endParaRPr lang="zh-TW" sz="18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9721015"/>
                  </a:ext>
                </a:extLst>
              </a:tr>
              <a:tr h="524510">
                <a:tc>
                  <a:txBody>
                    <a:bodyPr/>
                    <a:lstStyle/>
                    <a:p>
                      <a:pPr algn="ctr">
                        <a:lnSpc>
                          <a:spcPts val="3000"/>
                        </a:lnSpc>
                      </a:pPr>
                      <a:r>
                        <a:rPr lang="zh-TW" sz="2000" kern="10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勞健保及勞退</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3000"/>
                        </a:lnSpc>
                      </a:pPr>
                      <a:r>
                        <a:rPr lang="en-US" sz="2000" kern="100" spc="-3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7,8</a:t>
                      </a:r>
                      <a:r>
                        <a:rPr lang="en-US" altLang="zh-TW" sz="2000" kern="100" spc="-3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r>
                        <a:rPr lang="en-US" sz="2000" kern="100" spc="-3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3000"/>
                        </a:lnSpc>
                      </a:pPr>
                      <a:r>
                        <a:rPr lang="en-US" sz="20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12</a:t>
                      </a:r>
                      <a:r>
                        <a:rPr lang="zh-TW" sz="20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月</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94,</a:t>
                      </a:r>
                      <a:r>
                        <a:rPr lang="en-US" altLang="zh-TW" sz="20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26</a:t>
                      </a:r>
                      <a:r>
                        <a:rPr lang="en-US" sz="20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kern="100" spc="-9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kern="10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94,</a:t>
                      </a:r>
                      <a:r>
                        <a:rPr lang="en-US" altLang="zh-TW" sz="2000" kern="10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26</a:t>
                      </a:r>
                      <a:r>
                        <a:rPr lang="en-US" sz="2000" kern="10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1765273755"/>
                  </a:ext>
                </a:extLst>
              </a:tr>
              <a:tr h="261620">
                <a:tc>
                  <a:txBody>
                    <a:bodyPr/>
                    <a:lstStyle/>
                    <a:p>
                      <a:pPr marL="15240" algn="just">
                        <a:lnSpc>
                          <a:spcPts val="3000"/>
                        </a:lnSpc>
                      </a:pPr>
                      <a:r>
                        <a:rPr lang="en-US" sz="2000"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3.</a:t>
                      </a:r>
                      <a:r>
                        <a:rPr lang="zh-TW" sz="2000" kern="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年終</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marR="91440" algn="r">
                        <a:lnSpc>
                          <a:spcPts val="3000"/>
                        </a:lnSpc>
                      </a:pP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r>
                        <a:rPr lang="en-US" altLang="zh-TW"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9</a:t>
                      </a: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a:t>
                      </a:r>
                      <a:r>
                        <a:rPr lang="en-US" altLang="zh-TW"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8</a:t>
                      </a: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47</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91440" algn="r">
                        <a:lnSpc>
                          <a:spcPts val="3000"/>
                        </a:lnSpc>
                      </a:pPr>
                      <a:r>
                        <a:rPr lang="en-US" sz="2000" b="1" kern="0" spc="-9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a:t>
                      </a:r>
                      <a:r>
                        <a:rPr lang="en-US" altLang="zh-TW"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9</a:t>
                      </a: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a:t>
                      </a:r>
                      <a:r>
                        <a:rPr lang="en-US" altLang="zh-TW"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8</a:t>
                      </a: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47</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en-US" sz="2000" kern="0" dirty="0">
                          <a:solidFill>
                            <a:srgbClr val="000000"/>
                          </a:solidFill>
                          <a:effectLst/>
                          <a:latin typeface="標楷體" panose="03000509000000000000" pitchFamily="65" charset="-120"/>
                          <a:ea typeface="標楷體" panose="03000509000000000000" pitchFamily="65" charset="-120"/>
                        </a:rPr>
                        <a:t> </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5191386"/>
                  </a:ext>
                </a:extLst>
              </a:tr>
              <a:tr h="274955">
                <a:tc>
                  <a:txBody>
                    <a:bodyPr/>
                    <a:lstStyle/>
                    <a:p>
                      <a:pPr algn="ctr">
                        <a:lnSpc>
                          <a:spcPts val="3000"/>
                        </a:lnSpc>
                      </a:pPr>
                      <a:r>
                        <a:rPr lang="zh-TW" sz="2000" kern="100" spc="-1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年終</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en-US" sz="2000" kern="0" dirty="0">
                          <a:solidFill>
                            <a:srgbClr val="000000"/>
                          </a:solidFill>
                          <a:effectLst/>
                          <a:latin typeface="標楷體" panose="03000509000000000000" pitchFamily="65" charset="-120"/>
                          <a:ea typeface="標楷體" panose="03000509000000000000" pitchFamily="65" charset="-120"/>
                        </a:rPr>
                        <a:t>3</a:t>
                      </a:r>
                      <a:r>
                        <a:rPr lang="en-US" altLang="zh-TW" sz="2000" kern="0" dirty="0">
                          <a:solidFill>
                            <a:srgbClr val="000000"/>
                          </a:solidFill>
                          <a:effectLst/>
                          <a:latin typeface="標楷體" panose="03000509000000000000" pitchFamily="65" charset="-120"/>
                          <a:ea typeface="標楷體" panose="03000509000000000000" pitchFamily="65" charset="-120"/>
                        </a:rPr>
                        <a:t>9</a:t>
                      </a:r>
                      <a:r>
                        <a:rPr lang="en-US" sz="2000" kern="0" dirty="0">
                          <a:solidFill>
                            <a:srgbClr val="000000"/>
                          </a:solidFill>
                          <a:effectLst/>
                          <a:latin typeface="標楷體" panose="03000509000000000000" pitchFamily="65" charset="-120"/>
                          <a:ea typeface="標楷體" panose="03000509000000000000" pitchFamily="65" charset="-120"/>
                        </a:rPr>
                        <a:t>,898</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en-US" sz="2000" kern="10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1.5</a:t>
                      </a:r>
                      <a:r>
                        <a:rPr lang="zh-TW" sz="2000" kern="100" spc="-2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月</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58,</a:t>
                      </a:r>
                      <a:r>
                        <a:rPr lang="en-US" altLang="zh-TW" sz="20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8</a:t>
                      </a:r>
                      <a:r>
                        <a:rPr lang="en-US" sz="2000" kern="100" spc="-2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47</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kern="100" spc="-9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kern="10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58,</a:t>
                      </a:r>
                      <a:r>
                        <a:rPr lang="en-US" altLang="zh-TW" sz="2000" kern="10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8</a:t>
                      </a:r>
                      <a:r>
                        <a:rPr lang="en-US" sz="2000" kern="10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47</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3000"/>
                        </a:lnSpc>
                      </a:pPr>
                      <a:r>
                        <a:rPr lang="en-US" sz="2000" kern="0" dirty="0">
                          <a:solidFill>
                            <a:srgbClr val="000000"/>
                          </a:solidFill>
                          <a:effectLst/>
                          <a:latin typeface="標楷體" panose="03000509000000000000" pitchFamily="65" charset="-120"/>
                          <a:ea typeface="標楷體" panose="03000509000000000000" pitchFamily="65" charset="-120"/>
                        </a:rPr>
                        <a:t> </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1465748"/>
                  </a:ext>
                </a:extLst>
              </a:tr>
              <a:tr h="269240">
                <a:tc gridSpan="3">
                  <a:txBody>
                    <a:bodyPr/>
                    <a:lstStyle/>
                    <a:p>
                      <a:pPr marL="243840" algn="ctr">
                        <a:lnSpc>
                          <a:spcPts val="3000"/>
                        </a:lnSpc>
                      </a:pPr>
                      <a:r>
                        <a:rPr lang="zh-TW" sz="20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總</a:t>
                      </a:r>
                      <a:r>
                        <a:rPr lang="en-US" sz="20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  </a:t>
                      </a:r>
                      <a:r>
                        <a:rPr lang="zh-TW" sz="2000" b="1" kern="0" spc="-5">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計</a:t>
                      </a:r>
                      <a:endParaRPr lang="zh-TW" sz="2000" kern="10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marR="91440" algn="r">
                        <a:lnSpc>
                          <a:spcPts val="3000"/>
                        </a:lnSpc>
                      </a:pPr>
                      <a:r>
                        <a:rPr lang="en-US" altLang="zh-TW"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632</a:t>
                      </a: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,8</a:t>
                      </a:r>
                      <a:r>
                        <a:rPr lang="en-US" altLang="zh-TW"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8</a:t>
                      </a: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3</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sz="2000" kern="100" spc="-90"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0</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R="91440" algn="r">
                        <a:lnSpc>
                          <a:spcPts val="3000"/>
                        </a:lnSpc>
                      </a:pPr>
                      <a:r>
                        <a:rPr lang="en-US" altLang="zh-TW"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632</a:t>
                      </a: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,8</a:t>
                      </a:r>
                      <a:r>
                        <a:rPr lang="en-US" altLang="zh-TW"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8</a:t>
                      </a:r>
                      <a:r>
                        <a:rPr lang="en-US" sz="2000" b="1" kern="0" spc="-15" dirty="0">
                          <a:solidFill>
                            <a:srgbClr val="000000"/>
                          </a:solidFill>
                          <a:effectLst/>
                          <a:latin typeface="標楷體" panose="03000509000000000000" pitchFamily="65" charset="-120"/>
                          <a:ea typeface="標楷體" panose="03000509000000000000" pitchFamily="65" charset="-120"/>
                          <a:cs typeface="SimSun" panose="02010600030101010101" pitchFamily="2" charset="-122"/>
                        </a:rPr>
                        <a:t>3</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pPr>
                      <a:r>
                        <a:rPr lang="en-US" sz="2000" kern="0" dirty="0">
                          <a:solidFill>
                            <a:srgbClr val="000000"/>
                          </a:solidFill>
                          <a:effectLst/>
                          <a:latin typeface="標楷體" panose="03000509000000000000" pitchFamily="65" charset="-120"/>
                          <a:ea typeface="標楷體" panose="03000509000000000000" pitchFamily="65" charset="-120"/>
                        </a:rPr>
                        <a:t> </a:t>
                      </a:r>
                      <a:endParaRPr lang="zh-TW" sz="2000" kern="100" dirty="0">
                        <a:solidFill>
                          <a:srgbClr val="000000"/>
                        </a:solidFill>
                        <a:effectLst/>
                        <a:latin typeface="標楷體" panose="03000509000000000000" pitchFamily="65" charset="-120"/>
                        <a:ea typeface="標楷體" panose="03000509000000000000" pitchFamily="65" charset="-12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1813815"/>
                  </a:ext>
                </a:extLst>
              </a:tr>
            </a:tbl>
          </a:graphicData>
        </a:graphic>
      </p:graphicFrame>
    </p:spTree>
    <p:extLst>
      <p:ext uri="{BB962C8B-B14F-4D97-AF65-F5344CB8AC3E}">
        <p14:creationId xmlns:p14="http://schemas.microsoft.com/office/powerpoint/2010/main" val="28251957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四、總經費預算表</a:t>
            </a:r>
          </a:p>
        </p:txBody>
      </p:sp>
      <p:graphicFrame>
        <p:nvGraphicFramePr>
          <p:cNvPr id="5" name="表格 4">
            <a:extLst>
              <a:ext uri="{FF2B5EF4-FFF2-40B4-BE49-F238E27FC236}">
                <a16:creationId xmlns:a16="http://schemas.microsoft.com/office/drawing/2014/main" id="{33FBDA0F-76BF-1D50-5B63-0D022D4FD110}"/>
              </a:ext>
            </a:extLst>
          </p:cNvPr>
          <p:cNvGraphicFramePr>
            <a:graphicFrameLocks noGrp="1"/>
          </p:cNvGraphicFramePr>
          <p:nvPr/>
        </p:nvGraphicFramePr>
        <p:xfrm>
          <a:off x="487034" y="654396"/>
          <a:ext cx="8178806" cy="5549207"/>
        </p:xfrm>
        <a:graphic>
          <a:graphicData uri="http://schemas.openxmlformats.org/drawingml/2006/table">
            <a:tbl>
              <a:tblPr firstRow="1" firstCol="1" bandRow="1" bandCol="1"/>
              <a:tblGrid>
                <a:gridCol w="1711943">
                  <a:extLst>
                    <a:ext uri="{9D8B030D-6E8A-4147-A177-3AD203B41FA5}">
                      <a16:colId xmlns:a16="http://schemas.microsoft.com/office/drawing/2014/main" val="1441580254"/>
                    </a:ext>
                  </a:extLst>
                </a:gridCol>
                <a:gridCol w="727575">
                  <a:extLst>
                    <a:ext uri="{9D8B030D-6E8A-4147-A177-3AD203B41FA5}">
                      <a16:colId xmlns:a16="http://schemas.microsoft.com/office/drawing/2014/main" val="2406179859"/>
                    </a:ext>
                  </a:extLst>
                </a:gridCol>
                <a:gridCol w="808893">
                  <a:extLst>
                    <a:ext uri="{9D8B030D-6E8A-4147-A177-3AD203B41FA5}">
                      <a16:colId xmlns:a16="http://schemas.microsoft.com/office/drawing/2014/main" val="303243689"/>
                    </a:ext>
                  </a:extLst>
                </a:gridCol>
                <a:gridCol w="1129882">
                  <a:extLst>
                    <a:ext uri="{9D8B030D-6E8A-4147-A177-3AD203B41FA5}">
                      <a16:colId xmlns:a16="http://schemas.microsoft.com/office/drawing/2014/main" val="1861979059"/>
                    </a:ext>
                  </a:extLst>
                </a:gridCol>
                <a:gridCol w="1129882">
                  <a:extLst>
                    <a:ext uri="{9D8B030D-6E8A-4147-A177-3AD203B41FA5}">
                      <a16:colId xmlns:a16="http://schemas.microsoft.com/office/drawing/2014/main" val="3522107927"/>
                    </a:ext>
                  </a:extLst>
                </a:gridCol>
                <a:gridCol w="1129882">
                  <a:extLst>
                    <a:ext uri="{9D8B030D-6E8A-4147-A177-3AD203B41FA5}">
                      <a16:colId xmlns:a16="http://schemas.microsoft.com/office/drawing/2014/main" val="3074041752"/>
                    </a:ext>
                  </a:extLst>
                </a:gridCol>
                <a:gridCol w="1540749">
                  <a:extLst>
                    <a:ext uri="{9D8B030D-6E8A-4147-A177-3AD203B41FA5}">
                      <a16:colId xmlns:a16="http://schemas.microsoft.com/office/drawing/2014/main" val="1795165646"/>
                    </a:ext>
                  </a:extLst>
                </a:gridCol>
              </a:tblGrid>
              <a:tr h="308586">
                <a:tc>
                  <a:txBody>
                    <a:bodyPr/>
                    <a:lstStyle/>
                    <a:p>
                      <a:pPr algn="ctr">
                        <a:lnSpc>
                          <a:spcPts val="1800"/>
                        </a:lnSpc>
                      </a:pPr>
                      <a:r>
                        <a:rPr lang="zh-TW" sz="1600" kern="100" dirty="0">
                          <a:solidFill>
                            <a:srgbClr val="000000"/>
                          </a:solidFill>
                          <a:effectLst/>
                          <a:latin typeface="Times New Roman" panose="02020603050405020304" pitchFamily="18" charset="0"/>
                          <a:ea typeface="標楷體" panose="03000509000000000000" pitchFamily="65" charset="-120"/>
                        </a:rPr>
                        <a:t>項目</a:t>
                      </a:r>
                      <a:endParaRPr lang="zh-TW" sz="1600" kern="100" dirty="0">
                        <a:solidFill>
                          <a:srgbClr val="000000"/>
                        </a:solidFill>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pPr>
                      <a:r>
                        <a:rPr lang="zh-TW" sz="1600" kern="100">
                          <a:solidFill>
                            <a:srgbClr val="000000"/>
                          </a:solidFill>
                          <a:effectLst/>
                          <a:latin typeface="Times New Roman" panose="02020603050405020304" pitchFamily="18" charset="0"/>
                          <a:ea typeface="標楷體" panose="03000509000000000000" pitchFamily="65" charset="-120"/>
                        </a:rPr>
                        <a:t>單價</a:t>
                      </a:r>
                      <a:endParaRPr lang="zh-TW" sz="1600" kern="100">
                        <a:solidFill>
                          <a:srgbClr val="000000"/>
                        </a:solidFill>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pPr>
                      <a:r>
                        <a:rPr lang="zh-TW" sz="1600" kern="100">
                          <a:solidFill>
                            <a:srgbClr val="000000"/>
                          </a:solidFill>
                          <a:effectLst/>
                          <a:latin typeface="Times New Roman" panose="02020603050405020304" pitchFamily="18" charset="0"/>
                          <a:ea typeface="標楷體" panose="03000509000000000000" pitchFamily="65" charset="-120"/>
                        </a:rPr>
                        <a:t>數量</a:t>
                      </a:r>
                      <a:endParaRPr lang="zh-TW" sz="1600" kern="100">
                        <a:solidFill>
                          <a:srgbClr val="000000"/>
                        </a:solidFill>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pPr>
                      <a:r>
                        <a:rPr lang="zh-TW" sz="1600" kern="100">
                          <a:solidFill>
                            <a:srgbClr val="000000"/>
                          </a:solidFill>
                          <a:effectLst/>
                          <a:latin typeface="Times New Roman" panose="02020603050405020304" pitchFamily="18" charset="0"/>
                          <a:ea typeface="標楷體" panose="03000509000000000000" pitchFamily="65" charset="-120"/>
                        </a:rPr>
                        <a:t>總金額</a:t>
                      </a:r>
                      <a:endParaRPr lang="zh-TW" sz="1600" kern="100">
                        <a:solidFill>
                          <a:srgbClr val="000000"/>
                        </a:solidFill>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pPr>
                      <a:r>
                        <a:rPr lang="zh-TW" sz="1600" kern="100">
                          <a:solidFill>
                            <a:srgbClr val="000000"/>
                          </a:solidFill>
                          <a:effectLst/>
                          <a:latin typeface="Times New Roman" panose="02020603050405020304" pitchFamily="18" charset="0"/>
                          <a:ea typeface="標楷體" panose="03000509000000000000" pitchFamily="65" charset="-120"/>
                        </a:rPr>
                        <a:t>社區自籌</a:t>
                      </a:r>
                      <a:endParaRPr lang="zh-TW" sz="1600" kern="100">
                        <a:solidFill>
                          <a:srgbClr val="000000"/>
                        </a:solidFill>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pPr>
                      <a:r>
                        <a:rPr lang="zh-TW" sz="1600" kern="100">
                          <a:solidFill>
                            <a:srgbClr val="000000"/>
                          </a:solidFill>
                          <a:effectLst/>
                          <a:latin typeface="Times New Roman" panose="02020603050405020304" pitchFamily="18" charset="0"/>
                          <a:ea typeface="標楷體" panose="03000509000000000000" pitchFamily="65" charset="-120"/>
                        </a:rPr>
                        <a:t>申請補助</a:t>
                      </a:r>
                      <a:endParaRPr lang="zh-TW" sz="1600" kern="100">
                        <a:solidFill>
                          <a:srgbClr val="000000"/>
                        </a:solidFill>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pPr>
                      <a:r>
                        <a:rPr lang="zh-TW" sz="1600" kern="100" dirty="0">
                          <a:solidFill>
                            <a:srgbClr val="000000"/>
                          </a:solidFill>
                          <a:effectLst/>
                          <a:latin typeface="Times New Roman" panose="02020603050405020304" pitchFamily="18" charset="0"/>
                          <a:ea typeface="標楷體" panose="03000509000000000000" pitchFamily="65" charset="-120"/>
                        </a:rPr>
                        <a:t>說明</a:t>
                      </a:r>
                      <a:endParaRPr lang="zh-TW" sz="1600" kern="100" dirty="0">
                        <a:solidFill>
                          <a:srgbClr val="000000"/>
                        </a:solidFill>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719395"/>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外聘講師鐘點費</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2,000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30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60,000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60,000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1894800"/>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外聘講師鐘點費</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72</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72,000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72,000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7134002"/>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協同講師費</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6</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6,000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6,000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9662383"/>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內聘講師鐘點費</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500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6</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3,000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3,000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0346619"/>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專家出席費</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2,500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3</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7,500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7,500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1853133"/>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專家車馬費</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171</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6</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1,026</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1,026</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9347997"/>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佈置費</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9,000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9,000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9,000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dirty="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dirty="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9123679"/>
                  </a:ext>
                </a:extLst>
              </a:tr>
              <a:tr h="463217">
                <a:tc>
                  <a:txBody>
                    <a:bodyPr/>
                    <a:lstStyle/>
                    <a:p>
                      <a:pPr>
                        <a:lnSpc>
                          <a:spcPts val="1800"/>
                        </a:lnSpc>
                        <a:buNone/>
                      </a:pPr>
                      <a:r>
                        <a:rPr lang="zh-TW" sz="1800" kern="100" dirty="0">
                          <a:solidFill>
                            <a:srgbClr val="000000"/>
                          </a:solidFill>
                          <a:effectLst/>
                          <a:latin typeface="Times New Roman" panose="02020603050405020304" pitchFamily="18" charset="0"/>
                          <a:ea typeface="標楷體" panose="03000509000000000000" pitchFamily="65" charset="-120"/>
                        </a:rPr>
                        <a:t>茶水費</a:t>
                      </a:r>
                      <a:endParaRPr lang="zh-TW" sz="1800" kern="100" dirty="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10,020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10,020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10,020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068406"/>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雜支</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1,670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1,670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1,670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802548"/>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膳食費</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293</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29,300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29,300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3273694"/>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材料費</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136,100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136,100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660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135,440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16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8990230"/>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宣導費</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32,500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32,500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32,500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3683363"/>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薪資</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39,898</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12</a:t>
                      </a:r>
                      <a:r>
                        <a:rPr lang="zh-TW" sz="1800" kern="100">
                          <a:solidFill>
                            <a:srgbClr val="000000"/>
                          </a:solidFill>
                          <a:effectLst/>
                          <a:latin typeface="Times New Roman" panose="02020603050405020304" pitchFamily="18" charset="0"/>
                          <a:ea typeface="標楷體" panose="03000509000000000000" pitchFamily="65" charset="-120"/>
                        </a:rPr>
                        <a:t>月</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478,776</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478,776</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3582537"/>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勞健保及勞退</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7,855</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12</a:t>
                      </a:r>
                      <a:r>
                        <a:rPr lang="zh-TW" sz="1800" kern="100">
                          <a:solidFill>
                            <a:srgbClr val="000000"/>
                          </a:solidFill>
                          <a:effectLst/>
                          <a:latin typeface="Times New Roman" panose="02020603050405020304" pitchFamily="18" charset="0"/>
                          <a:ea typeface="標楷體" panose="03000509000000000000" pitchFamily="65" charset="-120"/>
                        </a:rPr>
                        <a:t>月</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94,260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94,260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1657707"/>
                  </a:ext>
                </a:extLst>
              </a:tr>
              <a:tr h="308586">
                <a:tc>
                  <a:txBody>
                    <a:bodyPr/>
                    <a:lstStyle/>
                    <a:p>
                      <a:pPr>
                        <a:lnSpc>
                          <a:spcPts val="1800"/>
                        </a:lnSpc>
                        <a:buNone/>
                      </a:pPr>
                      <a:r>
                        <a:rPr lang="zh-TW" sz="1800" kern="100">
                          <a:solidFill>
                            <a:srgbClr val="000000"/>
                          </a:solidFill>
                          <a:effectLst/>
                          <a:latin typeface="Times New Roman" panose="02020603050405020304" pitchFamily="18" charset="0"/>
                          <a:ea typeface="標楷體" panose="03000509000000000000" pitchFamily="65" charset="-120"/>
                        </a:rPr>
                        <a:t>年終</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39,898</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1.5</a:t>
                      </a:r>
                      <a:r>
                        <a:rPr lang="zh-TW" sz="1800" kern="100">
                          <a:solidFill>
                            <a:srgbClr val="000000"/>
                          </a:solidFill>
                          <a:effectLst/>
                          <a:latin typeface="Times New Roman" panose="02020603050405020304" pitchFamily="18" charset="0"/>
                          <a:ea typeface="標楷體" panose="03000509000000000000" pitchFamily="65" charset="-120"/>
                        </a:rPr>
                        <a:t>月</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59,847</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0</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59,847</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8230791"/>
                  </a:ext>
                </a:extLst>
              </a:tr>
              <a:tr h="308586">
                <a:tc gridSpan="3">
                  <a:txBody>
                    <a:bodyPr/>
                    <a:lstStyle/>
                    <a:p>
                      <a:pPr algn="ctr">
                        <a:lnSpc>
                          <a:spcPts val="1800"/>
                        </a:lnSpc>
                        <a:buNone/>
                      </a:pPr>
                      <a:r>
                        <a:rPr lang="zh-TW" sz="1800" kern="100" dirty="0">
                          <a:solidFill>
                            <a:srgbClr val="000000"/>
                          </a:solidFill>
                          <a:effectLst/>
                          <a:latin typeface="Times New Roman" panose="02020603050405020304" pitchFamily="18" charset="0"/>
                          <a:ea typeface="標楷體" panose="03000509000000000000" pitchFamily="65" charset="-120"/>
                        </a:rPr>
                        <a:t>總 計</a:t>
                      </a:r>
                      <a:endParaRPr lang="zh-TW" sz="1800" kern="100" dirty="0">
                        <a:solidFill>
                          <a:srgbClr val="000000"/>
                        </a:solidFill>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1,000,999</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dirty="0">
                          <a:solidFill>
                            <a:srgbClr val="000000"/>
                          </a:solidFill>
                          <a:effectLst/>
                          <a:latin typeface="標楷體" panose="03000509000000000000" pitchFamily="65" charset="-120"/>
                          <a:ea typeface="新細明體" panose="02020500000000000000" pitchFamily="18" charset="-120"/>
                        </a:rPr>
                        <a:t>660</a:t>
                      </a:r>
                      <a:endParaRPr lang="zh-TW" sz="1800" kern="100" dirty="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ts val="1800"/>
                        </a:lnSpc>
                        <a:buNone/>
                      </a:pPr>
                      <a:r>
                        <a:rPr lang="en-US" sz="1800" kern="100">
                          <a:solidFill>
                            <a:srgbClr val="000000"/>
                          </a:solidFill>
                          <a:effectLst/>
                          <a:latin typeface="標楷體" panose="03000509000000000000" pitchFamily="65" charset="-120"/>
                          <a:ea typeface="新細明體" panose="02020500000000000000" pitchFamily="18" charset="-120"/>
                        </a:rPr>
                        <a:t>1,000,339</a:t>
                      </a:r>
                      <a:endParaRPr lang="zh-TW" sz="1800" kern="100">
                        <a:effectLst/>
                        <a:latin typeface="Times New Roman" panose="02020603050405020304" pitchFamily="18" charset="0"/>
                        <a:ea typeface="新細明體" panose="02020500000000000000" pitchFamily="18" charset="-12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1800"/>
                        </a:lnSpc>
                        <a:buNone/>
                      </a:pPr>
                      <a:r>
                        <a:rPr lang="en-US" sz="1800" kern="0" dirty="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 </a:t>
                      </a:r>
                      <a:endParaRPr lang="zh-TW" sz="1800" kern="100" dirty="0">
                        <a:effectLst/>
                        <a:latin typeface="Times New Roman" panose="02020603050405020304" pitchFamily="18" charset="0"/>
                        <a:ea typeface="新細明體" panose="02020500000000000000" pitchFamily="18" charset="-120"/>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4370053"/>
                  </a:ext>
                </a:extLst>
              </a:tr>
            </a:tbl>
          </a:graphicData>
        </a:graphic>
      </p:graphicFrame>
    </p:spTree>
    <p:extLst>
      <p:ext uri="{BB962C8B-B14F-4D97-AF65-F5344CB8AC3E}">
        <p14:creationId xmlns:p14="http://schemas.microsoft.com/office/powerpoint/2010/main" val="37927536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五、聘請師資、工作團隊與分工</a:t>
            </a:r>
          </a:p>
        </p:txBody>
      </p:sp>
      <p:graphicFrame>
        <p:nvGraphicFramePr>
          <p:cNvPr id="4" name="表格 3">
            <a:extLst>
              <a:ext uri="{FF2B5EF4-FFF2-40B4-BE49-F238E27FC236}">
                <a16:creationId xmlns:a16="http://schemas.microsoft.com/office/drawing/2014/main" id="{F426C2FC-3C8B-A48A-BC66-62BEB669A16E}"/>
              </a:ext>
            </a:extLst>
          </p:cNvPr>
          <p:cNvGraphicFramePr>
            <a:graphicFrameLocks noGrp="1"/>
          </p:cNvGraphicFramePr>
          <p:nvPr/>
        </p:nvGraphicFramePr>
        <p:xfrm>
          <a:off x="179512" y="1268760"/>
          <a:ext cx="8784976" cy="5164290"/>
        </p:xfrm>
        <a:graphic>
          <a:graphicData uri="http://schemas.openxmlformats.org/drawingml/2006/table">
            <a:tbl>
              <a:tblPr firstRow="1" firstCol="1" bandRow="1" bandCol="1"/>
              <a:tblGrid>
                <a:gridCol w="1398634">
                  <a:extLst>
                    <a:ext uri="{9D8B030D-6E8A-4147-A177-3AD203B41FA5}">
                      <a16:colId xmlns:a16="http://schemas.microsoft.com/office/drawing/2014/main" val="2217037624"/>
                    </a:ext>
                  </a:extLst>
                </a:gridCol>
                <a:gridCol w="2273774">
                  <a:extLst>
                    <a:ext uri="{9D8B030D-6E8A-4147-A177-3AD203B41FA5}">
                      <a16:colId xmlns:a16="http://schemas.microsoft.com/office/drawing/2014/main" val="1057908353"/>
                    </a:ext>
                  </a:extLst>
                </a:gridCol>
                <a:gridCol w="3672408">
                  <a:extLst>
                    <a:ext uri="{9D8B030D-6E8A-4147-A177-3AD203B41FA5}">
                      <a16:colId xmlns:a16="http://schemas.microsoft.com/office/drawing/2014/main" val="2347861719"/>
                    </a:ext>
                  </a:extLst>
                </a:gridCol>
                <a:gridCol w="1440160">
                  <a:extLst>
                    <a:ext uri="{9D8B030D-6E8A-4147-A177-3AD203B41FA5}">
                      <a16:colId xmlns:a16="http://schemas.microsoft.com/office/drawing/2014/main" val="2041950555"/>
                    </a:ext>
                  </a:extLst>
                </a:gridCol>
              </a:tblGrid>
              <a:tr h="447546">
                <a:tc>
                  <a:txBody>
                    <a:bodyPr/>
                    <a:lstStyle/>
                    <a:p>
                      <a:pPr algn="ctr">
                        <a:lnSpc>
                          <a:spcPts val="2000"/>
                        </a:lnSpc>
                      </a:pPr>
                      <a:r>
                        <a:rPr lang="zh-TW" sz="1500" b="1" kern="100" dirty="0">
                          <a:solidFill>
                            <a:srgbClr val="000000"/>
                          </a:solidFill>
                          <a:effectLst/>
                          <a:latin typeface="Times New Roman" panose="02020603050405020304" pitchFamily="18" charset="0"/>
                          <a:ea typeface="標楷體" panose="03000509000000000000" pitchFamily="65" charset="-120"/>
                        </a:rPr>
                        <a:t>服務項目</a:t>
                      </a:r>
                      <a:endParaRPr lang="zh-TW" sz="1500" b="1"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r>
                        <a:rPr lang="zh-TW" sz="1500" b="1" kern="100" dirty="0">
                          <a:solidFill>
                            <a:srgbClr val="000000"/>
                          </a:solidFill>
                          <a:effectLst/>
                          <a:latin typeface="Times New Roman" panose="02020603050405020304" pitchFamily="18" charset="0"/>
                          <a:ea typeface="標楷體" panose="03000509000000000000" pitchFamily="65" charset="-120"/>
                        </a:rPr>
                        <a:t>負責人員（職稱）</a:t>
                      </a:r>
                      <a:endParaRPr lang="zh-TW" sz="1500" b="1"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r>
                        <a:rPr lang="zh-TW" sz="1500" b="1" kern="100" dirty="0">
                          <a:solidFill>
                            <a:srgbClr val="000000"/>
                          </a:solidFill>
                          <a:effectLst/>
                          <a:latin typeface="Times New Roman" panose="02020603050405020304" pitchFamily="18" charset="0"/>
                          <a:ea typeface="標楷體" panose="03000509000000000000" pitchFamily="65" charset="-120"/>
                        </a:rPr>
                        <a:t>工作職掌內容</a:t>
                      </a:r>
                      <a:endParaRPr lang="zh-TW" sz="1500" b="1"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r>
                        <a:rPr lang="zh-TW" sz="1500" b="1" kern="100" dirty="0">
                          <a:solidFill>
                            <a:srgbClr val="000000"/>
                          </a:solidFill>
                          <a:effectLst/>
                          <a:latin typeface="Times New Roman" panose="02020603050405020304" pitchFamily="18" charset="0"/>
                          <a:ea typeface="標楷體" panose="03000509000000000000" pitchFamily="65" charset="-120"/>
                        </a:rPr>
                        <a:t>學歷、證照及相關實務經驗</a:t>
                      </a:r>
                      <a:endParaRPr lang="zh-TW" sz="1500" b="1"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3210611"/>
                  </a:ext>
                </a:extLst>
              </a:tr>
              <a:tr h="504056">
                <a:tc rowSpan="2">
                  <a:txBody>
                    <a:bodyPr/>
                    <a:lstStyle/>
                    <a:p>
                      <a:pPr algn="ctr">
                        <a:lnSpc>
                          <a:spcPts val="2100"/>
                        </a:lnSpc>
                      </a:pPr>
                      <a:r>
                        <a:rPr lang="zh-TW" sz="1500" kern="100" dirty="0">
                          <a:solidFill>
                            <a:srgbClr val="000000"/>
                          </a:solidFill>
                          <a:effectLst/>
                          <a:latin typeface="Times New Roman" panose="02020603050405020304" pitchFamily="18" charset="0"/>
                          <a:ea typeface="標楷體" panose="03000509000000000000" pitchFamily="65" charset="-120"/>
                        </a:rPr>
                        <a:t>工作圈會議</a:t>
                      </a:r>
                      <a:endParaRPr lang="zh-TW" sz="1500"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100"/>
                        </a:lnSpc>
                      </a:pPr>
                      <a:r>
                        <a:rPr lang="zh-TW" sz="1500" kern="100" dirty="0">
                          <a:solidFill>
                            <a:srgbClr val="000000"/>
                          </a:solidFill>
                          <a:effectLst/>
                          <a:latin typeface="Times New Roman" panose="02020603050405020304" pitchFamily="18" charset="0"/>
                          <a:ea typeface="標楷體" panose="03000509000000000000" pitchFamily="65" charset="-120"/>
                        </a:rPr>
                        <a:t>南投縣政府社會及勞動</a:t>
                      </a:r>
                      <a:r>
                        <a:rPr lang="zh-TW" altLang="en-US" sz="1500" kern="100" dirty="0">
                          <a:solidFill>
                            <a:srgbClr val="000000"/>
                          </a:solidFill>
                          <a:effectLst/>
                          <a:latin typeface="Times New Roman" panose="02020603050405020304" pitchFamily="18" charset="0"/>
                          <a:ea typeface="標楷體" panose="03000509000000000000" pitchFamily="65" charset="-120"/>
                        </a:rPr>
                        <a:t>局</a:t>
                      </a:r>
                      <a:endParaRPr lang="en-US" altLang="zh-TW" sz="1500" kern="100" dirty="0">
                        <a:solidFill>
                          <a:srgbClr val="000000"/>
                        </a:solidFill>
                        <a:effectLst/>
                        <a:latin typeface="Times New Roman" panose="02020603050405020304" pitchFamily="18" charset="0"/>
                        <a:ea typeface="標楷體" panose="03000509000000000000" pitchFamily="65"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2100"/>
                        </a:lnSpc>
                      </a:pPr>
                      <a:r>
                        <a:rPr lang="zh-TW" sz="1500" kern="100">
                          <a:solidFill>
                            <a:srgbClr val="000000"/>
                          </a:solidFill>
                          <a:effectLst/>
                          <a:latin typeface="Times New Roman" panose="02020603050405020304" pitchFamily="18" charset="0"/>
                          <a:ea typeface="標楷體" panose="03000509000000000000" pitchFamily="65" charset="-120"/>
                        </a:rPr>
                        <a:t>輔導與協助社區落實計畫目的，提供必要之經費補助、輔導諮詢及方案督導。</a:t>
                      </a:r>
                      <a:endParaRPr lang="zh-TW" sz="1500" kern="10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2100"/>
                        </a:lnSpc>
                      </a:pPr>
                      <a:r>
                        <a:rPr lang="en-US" sz="1500" kern="100">
                          <a:solidFill>
                            <a:srgbClr val="000000"/>
                          </a:solidFill>
                          <a:effectLst/>
                          <a:latin typeface="標楷體" panose="03000509000000000000" pitchFamily="65" charset="-120"/>
                          <a:ea typeface="新細明體" panose="02020500000000000000" pitchFamily="18" charset="-120"/>
                        </a:rPr>
                        <a:t> </a:t>
                      </a:r>
                      <a:endParaRPr lang="zh-TW" sz="1500" kern="100">
                        <a:effectLst/>
                        <a:latin typeface="Times New Roman" panose="02020603050405020304" pitchFamily="18" charset="0"/>
                        <a:ea typeface="新細明體" panose="02020500000000000000" pitchFamily="18" charset="-120"/>
                      </a:endParaRPr>
                    </a:p>
                  </a:txBody>
                  <a:tcPr marL="66197" marR="6619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4011754"/>
                  </a:ext>
                </a:extLst>
              </a:tr>
              <a:tr h="1368152">
                <a:tc vMerge="1">
                  <a:txBody>
                    <a:bodyPr/>
                    <a:lstStyle/>
                    <a:p>
                      <a:endParaRPr lang="zh-TW" altLang="en-US"/>
                    </a:p>
                  </a:txBody>
                  <a:tcPr/>
                </a:tc>
                <a:tc>
                  <a:txBody>
                    <a:bodyPr/>
                    <a:lstStyle/>
                    <a:p>
                      <a:pPr algn="ctr">
                        <a:lnSpc>
                          <a:spcPts val="2100"/>
                        </a:lnSpc>
                      </a:pPr>
                      <a:r>
                        <a:rPr lang="zh-TW" sz="1500" kern="100" dirty="0">
                          <a:solidFill>
                            <a:srgbClr val="000000"/>
                          </a:solidFill>
                          <a:effectLst/>
                          <a:latin typeface="Times New Roman" panose="02020603050405020304" pitchFamily="18" charset="0"/>
                          <a:ea typeface="標楷體" panose="03000509000000000000" pitchFamily="65" charset="-120"/>
                        </a:rPr>
                        <a:t>竹山鎮公所</a:t>
                      </a:r>
                      <a:endParaRPr lang="zh-TW" sz="1500"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2100"/>
                        </a:lnSpc>
                      </a:pPr>
                      <a:r>
                        <a:rPr lang="zh-TW" sz="1500" kern="100" dirty="0">
                          <a:solidFill>
                            <a:srgbClr val="000000"/>
                          </a:solidFill>
                          <a:effectLst/>
                          <a:latin typeface="Times New Roman" panose="02020603050405020304" pitchFamily="18" charset="0"/>
                          <a:ea typeface="標楷體" panose="03000509000000000000" pitchFamily="65" charset="-120"/>
                        </a:rPr>
                        <a:t>召開「福利社區化小旗艦計畫工作圈會議」，協助小旗艦社區資源整合及掌控計畫執行進度，輔導社區向政府相關部會或民間企業爭取經費與資源，期使社區朝向自主運作及永續發展的目標。</a:t>
                      </a:r>
                      <a:endParaRPr lang="zh-TW" sz="1500"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ts val="2100"/>
                        </a:lnSpc>
                      </a:pPr>
                      <a:r>
                        <a:rPr lang="en-US" sz="1500" kern="100" dirty="0">
                          <a:solidFill>
                            <a:srgbClr val="000000"/>
                          </a:solidFill>
                          <a:effectLst/>
                          <a:latin typeface="標楷體" panose="03000509000000000000" pitchFamily="65" charset="-120"/>
                          <a:ea typeface="新細明體" panose="02020500000000000000" pitchFamily="18" charset="-120"/>
                        </a:rPr>
                        <a:t> </a:t>
                      </a:r>
                      <a:endParaRPr lang="zh-TW" sz="1500"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7086108"/>
                  </a:ext>
                </a:extLst>
              </a:tr>
              <a:tr h="424091">
                <a:tc>
                  <a:txBody>
                    <a:bodyPr/>
                    <a:lstStyle/>
                    <a:p>
                      <a:pPr algn="ctr">
                        <a:lnSpc>
                          <a:spcPts val="2100"/>
                        </a:lnSpc>
                      </a:pPr>
                      <a:r>
                        <a:rPr lang="zh-TW" sz="1500" kern="100">
                          <a:solidFill>
                            <a:srgbClr val="000000"/>
                          </a:solidFill>
                          <a:effectLst/>
                          <a:latin typeface="Times New Roman" panose="02020603050405020304" pitchFamily="18" charset="0"/>
                          <a:ea typeface="標楷體" panose="03000509000000000000" pitchFamily="65" charset="-120"/>
                        </a:rPr>
                        <a:t>計畫總負責人</a:t>
                      </a:r>
                      <a:endParaRPr lang="zh-TW" sz="1500" kern="10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100"/>
                        </a:lnSpc>
                      </a:pPr>
                      <a:r>
                        <a:rPr lang="zh-TW" sz="1500" kern="100">
                          <a:solidFill>
                            <a:srgbClr val="000000"/>
                          </a:solidFill>
                          <a:effectLst/>
                          <a:latin typeface="Times New Roman" panose="02020603050405020304" pitchFamily="18" charset="0"/>
                          <a:ea typeface="標楷體" panose="03000509000000000000" pitchFamily="65" charset="-120"/>
                        </a:rPr>
                        <a:t>陳朝焚理事長</a:t>
                      </a:r>
                      <a:endParaRPr lang="zh-TW" sz="1500" kern="10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ts val="2100"/>
                        </a:lnSpc>
                      </a:pPr>
                      <a:r>
                        <a:rPr lang="zh-TW" sz="1500" kern="100" dirty="0">
                          <a:solidFill>
                            <a:srgbClr val="000000"/>
                          </a:solidFill>
                          <a:effectLst/>
                          <a:latin typeface="Times New Roman" panose="02020603050405020304" pitchFamily="18" charset="0"/>
                          <a:ea typeface="標楷體" panose="03000509000000000000" pitchFamily="65" charset="-120"/>
                        </a:rPr>
                        <a:t>計畫總負責人</a:t>
                      </a:r>
                      <a:endParaRPr lang="zh-TW" sz="1500"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100"/>
                        </a:lnSpc>
                      </a:pPr>
                      <a:r>
                        <a:rPr lang="zh-TW" sz="1500" kern="100" dirty="0">
                          <a:solidFill>
                            <a:srgbClr val="000000"/>
                          </a:solidFill>
                          <a:effectLst/>
                          <a:latin typeface="Times New Roman" panose="02020603050405020304" pitchFamily="18" charset="0"/>
                          <a:ea typeface="標楷體" panose="03000509000000000000" pitchFamily="65" charset="-120"/>
                        </a:rPr>
                        <a:t>社區經營</a:t>
                      </a:r>
                      <a:endParaRPr lang="en-US" altLang="zh-TW" sz="1500" kern="100" dirty="0">
                        <a:solidFill>
                          <a:srgbClr val="000000"/>
                        </a:solidFill>
                        <a:effectLst/>
                        <a:latin typeface="Times New Roman" panose="02020603050405020304" pitchFamily="18" charset="0"/>
                        <a:ea typeface="標楷體" panose="03000509000000000000" pitchFamily="65" charset="-120"/>
                      </a:endParaRPr>
                    </a:p>
                    <a:p>
                      <a:pPr algn="ctr">
                        <a:lnSpc>
                          <a:spcPts val="2100"/>
                        </a:lnSpc>
                      </a:pPr>
                      <a:r>
                        <a:rPr lang="zh-TW" sz="1500" kern="100" dirty="0">
                          <a:solidFill>
                            <a:srgbClr val="000000"/>
                          </a:solidFill>
                          <a:effectLst/>
                          <a:latin typeface="Times New Roman" panose="02020603050405020304" pitchFamily="18" charset="0"/>
                          <a:ea typeface="標楷體" panose="03000509000000000000" pitchFamily="65" charset="-120"/>
                        </a:rPr>
                        <a:t>農村再生</a:t>
                      </a:r>
                      <a:endParaRPr lang="zh-TW" sz="1500"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0839880"/>
                  </a:ext>
                </a:extLst>
              </a:tr>
              <a:tr h="1086061">
                <a:tc>
                  <a:txBody>
                    <a:bodyPr/>
                    <a:lstStyle/>
                    <a:p>
                      <a:pPr algn="ctr">
                        <a:buNone/>
                      </a:pPr>
                      <a:r>
                        <a:rPr lang="zh-TW" sz="1600" kern="100">
                          <a:solidFill>
                            <a:srgbClr val="000000"/>
                          </a:solidFill>
                          <a:effectLst/>
                          <a:latin typeface="Times New Roman" panose="02020603050405020304" pitchFamily="18" charset="0"/>
                          <a:ea typeface="標楷體" panose="03000509000000000000" pitchFamily="65" charset="-120"/>
                        </a:rPr>
                        <a:t>新移共融計畫</a:t>
                      </a:r>
                      <a:endParaRPr lang="zh-TW" sz="1600" kern="10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ts val="2100"/>
                        </a:lnSpc>
                      </a:pPr>
                      <a:r>
                        <a:rPr lang="zh-TW" altLang="en-US" sz="1500" kern="100" dirty="0">
                          <a:solidFill>
                            <a:srgbClr val="000000"/>
                          </a:solidFill>
                          <a:effectLst/>
                          <a:latin typeface="Times New Roman" panose="02020603050405020304" pitchFamily="18" charset="0"/>
                          <a:ea typeface="標楷體" panose="03000509000000000000" pitchFamily="65" charset="-120"/>
                        </a:rPr>
                        <a:t>陳朝焚理事長</a:t>
                      </a:r>
                      <a:endParaRPr lang="zh-TW" altLang="en-US" sz="1500" kern="100" dirty="0">
                        <a:effectLst/>
                        <a:latin typeface="Times New Roman" panose="02020603050405020304" pitchFamily="18" charset="0"/>
                        <a:ea typeface="新細明體" panose="02020500000000000000" pitchFamily="18" charset="-120"/>
                      </a:endParaRPr>
                    </a:p>
                    <a:p>
                      <a:pPr algn="ctr">
                        <a:lnSpc>
                          <a:spcPts val="2100"/>
                        </a:lnSpc>
                      </a:pPr>
                      <a:r>
                        <a:rPr lang="zh-TW" altLang="en-US" sz="1500" kern="100" dirty="0">
                          <a:solidFill>
                            <a:srgbClr val="000000"/>
                          </a:solidFill>
                          <a:effectLst/>
                          <a:latin typeface="Times New Roman" panose="02020603050405020304" pitchFamily="18" charset="0"/>
                          <a:ea typeface="標楷體" panose="03000509000000000000" pitchFamily="65" charset="-120"/>
                        </a:rPr>
                        <a:t>曾金水理事長</a:t>
                      </a:r>
                      <a:endParaRPr lang="zh-TW" altLang="en-US" sz="1500" kern="100" dirty="0">
                        <a:effectLst/>
                        <a:latin typeface="Times New Roman" panose="02020603050405020304" pitchFamily="18" charset="0"/>
                        <a:ea typeface="新細明體" panose="02020500000000000000" pitchFamily="18" charset="-120"/>
                      </a:endParaRPr>
                    </a:p>
                    <a:p>
                      <a:pPr algn="ctr">
                        <a:lnSpc>
                          <a:spcPts val="2100"/>
                        </a:lnSpc>
                      </a:pPr>
                      <a:r>
                        <a:rPr lang="zh-TW" altLang="en-US" sz="1500" kern="100" dirty="0">
                          <a:solidFill>
                            <a:srgbClr val="000000"/>
                          </a:solidFill>
                          <a:effectLst/>
                          <a:latin typeface="Times New Roman" panose="02020603050405020304" pitchFamily="18" charset="0"/>
                          <a:ea typeface="標楷體" panose="03000509000000000000" pitchFamily="65" charset="-120"/>
                        </a:rPr>
                        <a:t>莊竣發理事長</a:t>
                      </a:r>
                      <a:endParaRPr lang="en-US" altLang="zh-TW" sz="1500" kern="100" dirty="0">
                        <a:solidFill>
                          <a:srgbClr val="000000"/>
                        </a:solidFill>
                        <a:effectLst/>
                        <a:latin typeface="Times New Roman" panose="02020603050405020304" pitchFamily="18" charset="0"/>
                        <a:ea typeface="標楷體" panose="03000509000000000000" pitchFamily="65" charset="-120"/>
                      </a:endParaRPr>
                    </a:p>
                    <a:p>
                      <a:pPr algn="ctr">
                        <a:lnSpc>
                          <a:spcPts val="2100"/>
                        </a:lnSpc>
                      </a:pPr>
                      <a:r>
                        <a:rPr lang="zh-TW" altLang="en-US" sz="1500" kern="100" dirty="0">
                          <a:solidFill>
                            <a:srgbClr val="000000"/>
                          </a:solidFill>
                          <a:effectLst/>
                          <a:latin typeface="Times New Roman" panose="02020603050405020304" pitchFamily="18" charset="0"/>
                          <a:ea typeface="標楷體" panose="03000509000000000000" pitchFamily="65" charset="-120"/>
                        </a:rPr>
                        <a:t>吳心如理事長</a:t>
                      </a:r>
                      <a:endParaRPr lang="zh-TW" altLang="en-US" sz="1500" kern="100" dirty="0">
                        <a:effectLst/>
                        <a:latin typeface="Times New Roman" panose="02020603050405020304" pitchFamily="18" charset="0"/>
                        <a:ea typeface="新細明體" panose="02020500000000000000" pitchFamily="18" charset="-120"/>
                      </a:endParaRPr>
                    </a:p>
                    <a:p>
                      <a:pPr algn="ctr">
                        <a:lnSpc>
                          <a:spcPts val="2100"/>
                        </a:lnSpc>
                      </a:pPr>
                      <a:r>
                        <a:rPr lang="zh-TW" altLang="en-US" sz="1500" kern="100" dirty="0">
                          <a:solidFill>
                            <a:srgbClr val="000000"/>
                          </a:solidFill>
                          <a:effectLst/>
                          <a:latin typeface="Times New Roman" panose="02020603050405020304" pitchFamily="18" charset="0"/>
                          <a:ea typeface="標楷體" panose="03000509000000000000" pitchFamily="65" charset="-120"/>
                        </a:rPr>
                        <a:t>陳聰昭理事長</a:t>
                      </a:r>
                      <a:endParaRPr lang="zh-TW" altLang="en-US" sz="1500"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1800"/>
                        </a:lnSpc>
                        <a:buNone/>
                      </a:pPr>
                      <a:r>
                        <a:rPr lang="zh-TW" sz="1600" kern="100" dirty="0">
                          <a:solidFill>
                            <a:srgbClr val="000000"/>
                          </a:solidFill>
                          <a:effectLst/>
                          <a:latin typeface="Times New Roman" panose="02020603050405020304" pitchFamily="18" charset="0"/>
                          <a:ea typeface="標楷體" panose="03000509000000000000" pitchFamily="65" charset="-120"/>
                        </a:rPr>
                        <a:t>由中央社區負責，各社區一起辦理</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a:lnSpc>
                          <a:spcPts val="2100"/>
                        </a:lnSpc>
                      </a:pPr>
                      <a:r>
                        <a:rPr lang="zh-TW" sz="1500" kern="100" dirty="0">
                          <a:solidFill>
                            <a:srgbClr val="000000"/>
                          </a:solidFill>
                          <a:effectLst/>
                          <a:latin typeface="Times New Roman" panose="02020603050405020304" pitchFamily="18" charset="0"/>
                          <a:ea typeface="標楷體" panose="03000509000000000000" pitchFamily="65" charset="-120"/>
                        </a:rPr>
                        <a:t>富州社區</a:t>
                      </a:r>
                      <a:endParaRPr lang="zh-TW" sz="1500" kern="100" dirty="0">
                        <a:effectLst/>
                        <a:latin typeface="Times New Roman" panose="02020603050405020304" pitchFamily="18" charset="0"/>
                        <a:ea typeface="新細明體" panose="02020500000000000000" pitchFamily="18" charset="-120"/>
                      </a:endParaRPr>
                    </a:p>
                    <a:p>
                      <a:pPr algn="ctr">
                        <a:lnSpc>
                          <a:spcPts val="2100"/>
                        </a:lnSpc>
                      </a:pPr>
                      <a:r>
                        <a:rPr lang="zh-TW" sz="1500" kern="100" dirty="0">
                          <a:solidFill>
                            <a:srgbClr val="000000"/>
                          </a:solidFill>
                          <a:effectLst/>
                          <a:latin typeface="Times New Roman" panose="02020603050405020304" pitchFamily="18" charset="0"/>
                          <a:ea typeface="標楷體" panose="03000509000000000000" pitchFamily="65" charset="-120"/>
                        </a:rPr>
                        <a:t>中央社區</a:t>
                      </a:r>
                      <a:endParaRPr lang="zh-TW" sz="1500" kern="100" dirty="0">
                        <a:effectLst/>
                        <a:latin typeface="Times New Roman" panose="02020603050405020304" pitchFamily="18" charset="0"/>
                        <a:ea typeface="新細明體" panose="02020500000000000000" pitchFamily="18" charset="-120"/>
                      </a:endParaRPr>
                    </a:p>
                    <a:p>
                      <a:pPr algn="ctr">
                        <a:lnSpc>
                          <a:spcPts val="2100"/>
                        </a:lnSpc>
                      </a:pPr>
                      <a:r>
                        <a:rPr lang="zh-TW" sz="1500" kern="100" dirty="0">
                          <a:solidFill>
                            <a:srgbClr val="000000"/>
                          </a:solidFill>
                          <a:effectLst/>
                          <a:latin typeface="Times New Roman" panose="02020603050405020304" pitchFamily="18" charset="0"/>
                          <a:ea typeface="標楷體" panose="03000509000000000000" pitchFamily="65" charset="-120"/>
                        </a:rPr>
                        <a:t>社寮社區</a:t>
                      </a:r>
                      <a:endParaRPr lang="zh-TW" sz="1500" kern="100" dirty="0">
                        <a:effectLst/>
                        <a:latin typeface="Times New Roman" panose="02020603050405020304" pitchFamily="18" charset="0"/>
                        <a:ea typeface="新細明體" panose="02020500000000000000" pitchFamily="18" charset="-120"/>
                      </a:endParaRPr>
                    </a:p>
                    <a:p>
                      <a:pPr algn="ctr">
                        <a:lnSpc>
                          <a:spcPts val="2100"/>
                        </a:lnSpc>
                      </a:pPr>
                      <a:r>
                        <a:rPr lang="zh-TW" sz="1500" kern="100" dirty="0">
                          <a:solidFill>
                            <a:srgbClr val="000000"/>
                          </a:solidFill>
                          <a:effectLst/>
                          <a:latin typeface="Times New Roman" panose="02020603050405020304" pitchFamily="18" charset="0"/>
                          <a:ea typeface="標楷體" panose="03000509000000000000" pitchFamily="65" charset="-120"/>
                        </a:rPr>
                        <a:t>山崇社區</a:t>
                      </a:r>
                      <a:endParaRPr lang="zh-TW" sz="1500" kern="100" dirty="0">
                        <a:effectLst/>
                        <a:latin typeface="Times New Roman" panose="02020603050405020304" pitchFamily="18" charset="0"/>
                        <a:ea typeface="新細明體" panose="02020500000000000000" pitchFamily="18" charset="-120"/>
                      </a:endParaRPr>
                    </a:p>
                    <a:p>
                      <a:pPr algn="ctr">
                        <a:lnSpc>
                          <a:spcPts val="2100"/>
                        </a:lnSpc>
                      </a:pPr>
                      <a:r>
                        <a:rPr lang="zh-TW" sz="1500" kern="100" dirty="0">
                          <a:solidFill>
                            <a:srgbClr val="000000"/>
                          </a:solidFill>
                          <a:effectLst/>
                          <a:latin typeface="Times New Roman" panose="02020603050405020304" pitchFamily="18" charset="0"/>
                          <a:ea typeface="標楷體" panose="03000509000000000000" pitchFamily="65" charset="-120"/>
                        </a:rPr>
                        <a:t>中崎社區</a:t>
                      </a:r>
                      <a:endParaRPr lang="zh-TW" sz="1500"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3464142"/>
                  </a:ext>
                </a:extLst>
              </a:tr>
              <a:tr h="1195918">
                <a:tc>
                  <a:txBody>
                    <a:bodyPr/>
                    <a:lstStyle/>
                    <a:p>
                      <a:pPr algn="ctr">
                        <a:buNone/>
                      </a:pPr>
                      <a:r>
                        <a:rPr lang="zh-TW" sz="1600" kern="100" dirty="0">
                          <a:solidFill>
                            <a:srgbClr val="000000"/>
                          </a:solidFill>
                          <a:effectLst/>
                          <a:latin typeface="Times New Roman" panose="02020603050405020304" pitchFamily="18" charset="0"/>
                          <a:ea typeface="標楷體" panose="03000509000000000000" pitchFamily="65" charset="-120"/>
                        </a:rPr>
                        <a:t>社區家庭志工培力計畫—親子共學與社區服務</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dirty="0"/>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1800"/>
                        </a:lnSpc>
                        <a:buNone/>
                      </a:pPr>
                      <a:r>
                        <a:rPr lang="zh-TW" sz="1600" kern="100" dirty="0">
                          <a:solidFill>
                            <a:srgbClr val="000000"/>
                          </a:solidFill>
                          <a:effectLst/>
                          <a:latin typeface="Times New Roman" panose="02020603050405020304" pitchFamily="18" charset="0"/>
                          <a:ea typeface="標楷體" panose="03000509000000000000" pitchFamily="65" charset="-120"/>
                        </a:rPr>
                        <a:t>由中崎社區負責，各社區一起辦理</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algn="ctr">
                        <a:lnSpc>
                          <a:spcPts val="2100"/>
                        </a:lnSpc>
                      </a:pPr>
                      <a:endParaRPr lang="zh-TW" sz="1500" kern="100" dirty="0">
                        <a:effectLst/>
                        <a:latin typeface="Times New Roman" panose="02020603050405020304" pitchFamily="18" charset="0"/>
                        <a:ea typeface="新細明體" panose="02020500000000000000" pitchFamily="18" charset="-120"/>
                      </a:endParaRPr>
                    </a:p>
                  </a:txBody>
                  <a:tcPr marL="66197" marR="6619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4205226"/>
                  </a:ext>
                </a:extLst>
              </a:tr>
            </a:tbl>
          </a:graphicData>
        </a:graphic>
      </p:graphicFrame>
    </p:spTree>
    <p:extLst>
      <p:ext uri="{BB962C8B-B14F-4D97-AF65-F5344CB8AC3E}">
        <p14:creationId xmlns:p14="http://schemas.microsoft.com/office/powerpoint/2010/main" val="38272034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五、聘請師資、工作團隊與分工</a:t>
            </a:r>
          </a:p>
        </p:txBody>
      </p:sp>
      <p:graphicFrame>
        <p:nvGraphicFramePr>
          <p:cNvPr id="4" name="表格 3">
            <a:extLst>
              <a:ext uri="{FF2B5EF4-FFF2-40B4-BE49-F238E27FC236}">
                <a16:creationId xmlns:a16="http://schemas.microsoft.com/office/drawing/2014/main" id="{EE8772CF-301E-D6D8-A520-D4B0386D5BD3}"/>
              </a:ext>
            </a:extLst>
          </p:cNvPr>
          <p:cNvGraphicFramePr>
            <a:graphicFrameLocks noGrp="1"/>
          </p:cNvGraphicFramePr>
          <p:nvPr/>
        </p:nvGraphicFramePr>
        <p:xfrm>
          <a:off x="107504" y="1052736"/>
          <a:ext cx="8852791" cy="5348220"/>
        </p:xfrm>
        <a:graphic>
          <a:graphicData uri="http://schemas.openxmlformats.org/drawingml/2006/table">
            <a:tbl>
              <a:tblPr firstRow="1" firstCol="1" bandRow="1" bandCol="1"/>
              <a:tblGrid>
                <a:gridCol w="2808312">
                  <a:extLst>
                    <a:ext uri="{9D8B030D-6E8A-4147-A177-3AD203B41FA5}">
                      <a16:colId xmlns:a16="http://schemas.microsoft.com/office/drawing/2014/main" val="4140394831"/>
                    </a:ext>
                  </a:extLst>
                </a:gridCol>
                <a:gridCol w="1814705">
                  <a:extLst>
                    <a:ext uri="{9D8B030D-6E8A-4147-A177-3AD203B41FA5}">
                      <a16:colId xmlns:a16="http://schemas.microsoft.com/office/drawing/2014/main" val="2162834709"/>
                    </a:ext>
                  </a:extLst>
                </a:gridCol>
                <a:gridCol w="3225855">
                  <a:extLst>
                    <a:ext uri="{9D8B030D-6E8A-4147-A177-3AD203B41FA5}">
                      <a16:colId xmlns:a16="http://schemas.microsoft.com/office/drawing/2014/main" val="2457999855"/>
                    </a:ext>
                  </a:extLst>
                </a:gridCol>
                <a:gridCol w="1003919">
                  <a:extLst>
                    <a:ext uri="{9D8B030D-6E8A-4147-A177-3AD203B41FA5}">
                      <a16:colId xmlns:a16="http://schemas.microsoft.com/office/drawing/2014/main" val="1333490542"/>
                    </a:ext>
                  </a:extLst>
                </a:gridCol>
              </a:tblGrid>
              <a:tr h="324036">
                <a:tc>
                  <a:txBody>
                    <a:bodyPr/>
                    <a:lstStyle/>
                    <a:p>
                      <a:pPr algn="ctr">
                        <a:lnSpc>
                          <a:spcPts val="2000"/>
                        </a:lnSpc>
                      </a:pPr>
                      <a:r>
                        <a:rPr lang="zh-TW" sz="1800" b="1" kern="100" dirty="0">
                          <a:solidFill>
                            <a:srgbClr val="000000"/>
                          </a:solidFill>
                          <a:effectLst/>
                          <a:latin typeface="Times New Roman" panose="02020603050405020304" pitchFamily="18" charset="0"/>
                          <a:ea typeface="標楷體" panose="03000509000000000000" pitchFamily="65" charset="-120"/>
                        </a:rPr>
                        <a:t>服務項目</a:t>
                      </a:r>
                      <a:endParaRPr lang="zh-TW" sz="1800" b="1" kern="100" dirty="0">
                        <a:effectLst/>
                        <a:latin typeface="Times New Roman" panose="02020603050405020304" pitchFamily="18" charset="0"/>
                        <a:ea typeface="新細明體" panose="02020500000000000000" pitchFamily="18" charset="-120"/>
                      </a:endParaRPr>
                    </a:p>
                  </a:txBody>
                  <a:tcPr marL="30359" marR="303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r>
                        <a:rPr lang="zh-TW" sz="1800" b="1" kern="100" dirty="0">
                          <a:solidFill>
                            <a:srgbClr val="000000"/>
                          </a:solidFill>
                          <a:effectLst/>
                          <a:latin typeface="Times New Roman" panose="02020603050405020304" pitchFamily="18" charset="0"/>
                          <a:ea typeface="標楷體" panose="03000509000000000000" pitchFamily="65" charset="-120"/>
                        </a:rPr>
                        <a:t>負責人員（職稱）</a:t>
                      </a:r>
                      <a:endParaRPr lang="zh-TW" sz="1800" b="1" kern="100" dirty="0">
                        <a:effectLst/>
                        <a:latin typeface="Times New Roman" panose="02020603050405020304" pitchFamily="18" charset="0"/>
                        <a:ea typeface="新細明體" panose="02020500000000000000" pitchFamily="18" charset="-120"/>
                      </a:endParaRPr>
                    </a:p>
                  </a:txBody>
                  <a:tcPr marL="30359" marR="303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r>
                        <a:rPr lang="zh-TW" sz="1800" b="1" kern="100" dirty="0">
                          <a:solidFill>
                            <a:srgbClr val="000000"/>
                          </a:solidFill>
                          <a:effectLst/>
                          <a:latin typeface="Times New Roman" panose="02020603050405020304" pitchFamily="18" charset="0"/>
                          <a:ea typeface="標楷體" panose="03000509000000000000" pitchFamily="65" charset="-120"/>
                        </a:rPr>
                        <a:t>工作職掌內容</a:t>
                      </a:r>
                      <a:endParaRPr lang="zh-TW" sz="1800" b="1" kern="100" dirty="0">
                        <a:effectLst/>
                        <a:latin typeface="Times New Roman" panose="02020603050405020304" pitchFamily="18" charset="0"/>
                        <a:ea typeface="新細明體" panose="02020500000000000000" pitchFamily="18" charset="-120"/>
                      </a:endParaRPr>
                    </a:p>
                  </a:txBody>
                  <a:tcPr marL="30359" marR="303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endParaRPr lang="zh-TW" sz="1800" b="1" kern="100" dirty="0">
                        <a:effectLst/>
                        <a:latin typeface="Times New Roman" panose="02020603050405020304" pitchFamily="18" charset="0"/>
                        <a:ea typeface="新細明體" panose="02020500000000000000" pitchFamily="18" charset="-120"/>
                      </a:endParaRPr>
                    </a:p>
                  </a:txBody>
                  <a:tcPr marL="30359" marR="303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9523553"/>
                  </a:ext>
                </a:extLst>
              </a:tr>
              <a:tr h="540060">
                <a:tc>
                  <a:txBody>
                    <a:bodyPr/>
                    <a:lstStyle/>
                    <a:p>
                      <a:pPr algn="ctr">
                        <a:buNone/>
                      </a:pPr>
                      <a:r>
                        <a:rPr lang="zh-TW" sz="1600" kern="100" dirty="0">
                          <a:solidFill>
                            <a:srgbClr val="000000"/>
                          </a:solidFill>
                          <a:effectLst/>
                          <a:latin typeface="Times New Roman" panose="02020603050405020304" pitchFamily="18" charset="0"/>
                          <a:ea typeface="標楷體" panose="03000509000000000000" pitchFamily="65" charset="-120"/>
                        </a:rPr>
                        <a:t>培力共識營及工作圈會議</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7">
                  <a:txBody>
                    <a:bodyPr/>
                    <a:lstStyle/>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陳朝焚理事長</a:t>
                      </a:r>
                      <a:endParaRPr lang="zh-TW" sz="1600" kern="100" dirty="0">
                        <a:effectLst/>
                        <a:latin typeface="Times New Roman" panose="02020603050405020304" pitchFamily="18" charset="0"/>
                        <a:ea typeface="新細明體" panose="02020500000000000000" pitchFamily="18" charset="-120"/>
                      </a:endParaRPr>
                    </a:p>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曾金水理事長</a:t>
                      </a:r>
                      <a:endParaRPr lang="zh-TW" sz="1600" kern="100" dirty="0">
                        <a:effectLst/>
                        <a:latin typeface="Times New Roman" panose="02020603050405020304" pitchFamily="18" charset="0"/>
                        <a:ea typeface="新細明體" panose="02020500000000000000" pitchFamily="18" charset="-120"/>
                      </a:endParaRPr>
                    </a:p>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莊竣發理事長</a:t>
                      </a:r>
                      <a:endParaRPr lang="en-US" altLang="zh-TW" sz="1600" kern="100" dirty="0">
                        <a:solidFill>
                          <a:srgbClr val="000000"/>
                        </a:solidFill>
                        <a:effectLst/>
                        <a:latin typeface="Times New Roman" panose="02020603050405020304" pitchFamily="18" charset="0"/>
                        <a:ea typeface="標楷體" panose="03000509000000000000" pitchFamily="65" charset="-120"/>
                      </a:endParaRPr>
                    </a:p>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吳心如理事長</a:t>
                      </a:r>
                      <a:endParaRPr lang="zh-TW" sz="1600" kern="100" dirty="0">
                        <a:effectLst/>
                        <a:latin typeface="Times New Roman" panose="02020603050405020304" pitchFamily="18" charset="0"/>
                        <a:ea typeface="新細明體" panose="02020500000000000000" pitchFamily="18" charset="-120"/>
                      </a:endParaRPr>
                    </a:p>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陳聰昭理事長</a:t>
                      </a:r>
                      <a:endParaRPr lang="zh-TW" sz="1600" kern="100" dirty="0">
                        <a:effectLst/>
                        <a:latin typeface="Times New Roman" panose="02020603050405020304" pitchFamily="18" charset="0"/>
                        <a:ea typeface="新細明體" panose="02020500000000000000" pitchFamily="18" charset="-120"/>
                      </a:endParaRPr>
                    </a:p>
                  </a:txBody>
                  <a:tcPr marL="30359" marR="303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1800"/>
                        </a:lnSpc>
                        <a:buNone/>
                      </a:pPr>
                      <a:r>
                        <a:rPr lang="zh-TW" sz="1600" kern="100" dirty="0">
                          <a:solidFill>
                            <a:srgbClr val="000000"/>
                          </a:solidFill>
                          <a:effectLst/>
                          <a:latin typeface="Times New Roman" panose="02020603050405020304" pitchFamily="18" charset="0"/>
                          <a:ea typeface="標楷體" panose="03000509000000000000" pitchFamily="65" charset="-120"/>
                        </a:rPr>
                        <a:t>在各社區輪流辦理，並由各理事長負責及主持</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7">
                  <a:txBody>
                    <a:bodyPr/>
                    <a:lstStyle/>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富州社區</a:t>
                      </a:r>
                      <a:endParaRPr lang="zh-TW" sz="1600" kern="100" dirty="0">
                        <a:effectLst/>
                        <a:latin typeface="Times New Roman" panose="02020603050405020304" pitchFamily="18" charset="0"/>
                        <a:ea typeface="新細明體" panose="02020500000000000000" pitchFamily="18" charset="-120"/>
                      </a:endParaRPr>
                    </a:p>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中央社區</a:t>
                      </a:r>
                      <a:endParaRPr lang="zh-TW" sz="1600" kern="100" dirty="0">
                        <a:effectLst/>
                        <a:latin typeface="Times New Roman" panose="02020603050405020304" pitchFamily="18" charset="0"/>
                        <a:ea typeface="新細明體" panose="02020500000000000000" pitchFamily="18" charset="-120"/>
                      </a:endParaRPr>
                    </a:p>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社寮社區</a:t>
                      </a:r>
                      <a:endParaRPr lang="zh-TW" sz="1600" kern="100" dirty="0">
                        <a:effectLst/>
                        <a:latin typeface="Times New Roman" panose="02020603050405020304" pitchFamily="18" charset="0"/>
                        <a:ea typeface="新細明體" panose="02020500000000000000" pitchFamily="18" charset="-120"/>
                      </a:endParaRPr>
                    </a:p>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山崇社區</a:t>
                      </a:r>
                      <a:endParaRPr lang="zh-TW" sz="1600" kern="100" dirty="0">
                        <a:effectLst/>
                        <a:latin typeface="Times New Roman" panose="02020603050405020304" pitchFamily="18" charset="0"/>
                        <a:ea typeface="新細明體" panose="02020500000000000000" pitchFamily="18" charset="-120"/>
                      </a:endParaRPr>
                    </a:p>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中崎社區</a:t>
                      </a:r>
                      <a:endParaRPr lang="zh-TW" sz="1600" kern="100" dirty="0">
                        <a:effectLst/>
                        <a:latin typeface="Times New Roman" panose="02020603050405020304" pitchFamily="18" charset="0"/>
                        <a:ea typeface="新細明體" panose="02020500000000000000" pitchFamily="18" charset="-120"/>
                      </a:endParaRPr>
                    </a:p>
                  </a:txBody>
                  <a:tcPr marL="30359" marR="303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9430746"/>
                  </a:ext>
                </a:extLst>
              </a:tr>
              <a:tr h="576064">
                <a:tc>
                  <a:txBody>
                    <a:bodyPr/>
                    <a:lstStyle/>
                    <a:p>
                      <a:pPr algn="ctr">
                        <a:buNone/>
                      </a:pPr>
                      <a:r>
                        <a:rPr lang="zh-TW" sz="1600" kern="100" dirty="0">
                          <a:solidFill>
                            <a:srgbClr val="000000"/>
                          </a:solidFill>
                          <a:effectLst/>
                          <a:latin typeface="Times New Roman" panose="02020603050405020304" pitchFamily="18" charset="0"/>
                          <a:ea typeface="標楷體" panose="03000509000000000000" pitchFamily="65" charset="-120"/>
                        </a:rPr>
                        <a:t>新移共融計畫</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just">
                        <a:lnSpc>
                          <a:spcPts val="1800"/>
                        </a:lnSpc>
                        <a:buNone/>
                      </a:pPr>
                      <a:r>
                        <a:rPr lang="zh-TW" sz="1600" kern="100" dirty="0">
                          <a:solidFill>
                            <a:srgbClr val="000000"/>
                          </a:solidFill>
                          <a:effectLst/>
                          <a:latin typeface="Times New Roman" panose="02020603050405020304" pitchFamily="18" charset="0"/>
                          <a:ea typeface="標楷體" panose="03000509000000000000" pitchFamily="65" charset="-120"/>
                        </a:rPr>
                        <a:t>由中央社區負責，各社區一起辦理</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3253546153"/>
                  </a:ext>
                </a:extLst>
              </a:tr>
              <a:tr h="720080">
                <a:tc>
                  <a:txBody>
                    <a:bodyPr/>
                    <a:lstStyle/>
                    <a:p>
                      <a:pPr algn="ctr">
                        <a:buNone/>
                      </a:pPr>
                      <a:r>
                        <a:rPr lang="zh-TW" sz="1600" kern="100" dirty="0">
                          <a:solidFill>
                            <a:srgbClr val="000000"/>
                          </a:solidFill>
                          <a:effectLst/>
                          <a:latin typeface="Times New Roman" panose="02020603050405020304" pitchFamily="18" charset="0"/>
                          <a:ea typeface="標楷體" panose="03000509000000000000" pitchFamily="65" charset="-120"/>
                        </a:rPr>
                        <a:t>社區家庭志工培力計畫—親子共學與社區服務</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just">
                        <a:lnSpc>
                          <a:spcPts val="1800"/>
                        </a:lnSpc>
                        <a:buNone/>
                      </a:pPr>
                      <a:r>
                        <a:rPr lang="zh-TW" sz="1600" kern="100" dirty="0">
                          <a:solidFill>
                            <a:srgbClr val="000000"/>
                          </a:solidFill>
                          <a:effectLst/>
                          <a:latin typeface="Times New Roman" panose="02020603050405020304" pitchFamily="18" charset="0"/>
                          <a:ea typeface="標楷體" panose="03000509000000000000" pitchFamily="65" charset="-120"/>
                        </a:rPr>
                        <a:t>由中崎社區負責，各社區一起辦理</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1453045233"/>
                  </a:ext>
                </a:extLst>
              </a:tr>
              <a:tr h="576064">
                <a:tc>
                  <a:txBody>
                    <a:bodyPr/>
                    <a:lstStyle/>
                    <a:p>
                      <a:pPr algn="ctr">
                        <a:buNone/>
                      </a:pPr>
                      <a:r>
                        <a:rPr lang="zh-TW" sz="1600" kern="100" dirty="0">
                          <a:solidFill>
                            <a:srgbClr val="000000"/>
                          </a:solidFill>
                          <a:effectLst/>
                          <a:latin typeface="Times New Roman" panose="02020603050405020304" pitchFamily="18" charset="0"/>
                          <a:ea typeface="標楷體" panose="03000509000000000000" pitchFamily="65" charset="-120"/>
                        </a:rPr>
                        <a:t>憶起幸福：社區生命故事館</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just">
                        <a:lnSpc>
                          <a:spcPts val="1800"/>
                        </a:lnSpc>
                        <a:buNone/>
                      </a:pPr>
                      <a:r>
                        <a:rPr lang="zh-TW" sz="1600" kern="100" dirty="0">
                          <a:solidFill>
                            <a:srgbClr val="000000"/>
                          </a:solidFill>
                          <a:effectLst/>
                          <a:latin typeface="Times New Roman" panose="02020603050405020304" pitchFamily="18" charset="0"/>
                          <a:ea typeface="標楷體" panose="03000509000000000000" pitchFamily="65" charset="-120"/>
                        </a:rPr>
                        <a:t>由富州社區負責，依社區需求辦理</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3090844784"/>
                  </a:ext>
                </a:extLst>
              </a:tr>
              <a:tr h="576064">
                <a:tc>
                  <a:txBody>
                    <a:bodyPr/>
                    <a:lstStyle/>
                    <a:p>
                      <a:pPr algn="ctr">
                        <a:buNone/>
                      </a:pPr>
                      <a:r>
                        <a:rPr lang="zh-TW" sz="1600" kern="100" dirty="0">
                          <a:solidFill>
                            <a:srgbClr val="000000"/>
                          </a:solidFill>
                          <a:effectLst/>
                          <a:latin typeface="Times New Roman" panose="02020603050405020304" pitchFamily="18" charset="0"/>
                          <a:ea typeface="標楷體" panose="03000509000000000000" pitchFamily="65" charset="-120"/>
                        </a:rPr>
                        <a:t>弱勢家庭節能輔導方案</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just">
                        <a:lnSpc>
                          <a:spcPts val="1800"/>
                        </a:lnSpc>
                        <a:buNone/>
                      </a:pPr>
                      <a:r>
                        <a:rPr lang="zh-TW" sz="1600" kern="100" dirty="0">
                          <a:solidFill>
                            <a:srgbClr val="000000"/>
                          </a:solidFill>
                          <a:effectLst/>
                          <a:latin typeface="Times New Roman" panose="02020603050405020304" pitchFamily="18" charset="0"/>
                          <a:ea typeface="標楷體" panose="03000509000000000000" pitchFamily="65" charset="-120"/>
                        </a:rPr>
                        <a:t>由山崇社區負責，各社區一起辦理</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2484374933"/>
                  </a:ext>
                </a:extLst>
              </a:tr>
              <a:tr h="576064">
                <a:tc>
                  <a:txBody>
                    <a:bodyPr/>
                    <a:lstStyle/>
                    <a:p>
                      <a:pPr algn="ctr">
                        <a:buNone/>
                      </a:pPr>
                      <a:r>
                        <a:rPr lang="zh-TW" sz="1600" kern="100" dirty="0">
                          <a:solidFill>
                            <a:srgbClr val="000000"/>
                          </a:solidFill>
                          <a:effectLst/>
                          <a:latin typeface="Times New Roman" panose="02020603050405020304" pitchFamily="18" charset="0"/>
                          <a:ea typeface="標楷體" panose="03000509000000000000" pitchFamily="65" charset="-120"/>
                        </a:rPr>
                        <a:t>提案培力</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just">
                        <a:lnSpc>
                          <a:spcPts val="1800"/>
                        </a:lnSpc>
                        <a:buNone/>
                      </a:pPr>
                      <a:r>
                        <a:rPr lang="zh-TW" sz="1600" kern="100" dirty="0">
                          <a:solidFill>
                            <a:srgbClr val="000000"/>
                          </a:solidFill>
                          <a:effectLst/>
                          <a:latin typeface="Times New Roman" panose="02020603050405020304" pitchFamily="18" charset="0"/>
                          <a:ea typeface="標楷體" panose="03000509000000000000" pitchFamily="65" charset="-120"/>
                        </a:rPr>
                        <a:t>各社區一起辦理</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1113566649"/>
                  </a:ext>
                </a:extLst>
              </a:tr>
              <a:tr h="324036">
                <a:tc>
                  <a:txBody>
                    <a:bodyPr/>
                    <a:lstStyle/>
                    <a:p>
                      <a:pPr algn="ctr">
                        <a:buNone/>
                      </a:pPr>
                      <a:r>
                        <a:rPr lang="zh-TW" sz="1600" kern="100" dirty="0">
                          <a:solidFill>
                            <a:srgbClr val="000000"/>
                          </a:solidFill>
                          <a:effectLst/>
                          <a:latin typeface="Times New Roman" panose="02020603050405020304" pitchFamily="18" charset="0"/>
                          <a:ea typeface="標楷體" panose="03000509000000000000" pitchFamily="65" charset="-120"/>
                        </a:rPr>
                        <a:t>勇敢發聲，綻放自己－婦女演講成長計畫</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algn="ctr">
                        <a:lnSpc>
                          <a:spcPts val="2000"/>
                        </a:lnSpc>
                      </a:pPr>
                      <a:endParaRPr lang="zh-TW" sz="1500" kern="100" dirty="0">
                        <a:effectLst/>
                        <a:latin typeface="Times New Roman" panose="02020603050405020304" pitchFamily="18" charset="0"/>
                        <a:ea typeface="新細明體" panose="02020500000000000000" pitchFamily="18" charset="-120"/>
                      </a:endParaRPr>
                    </a:p>
                  </a:txBody>
                  <a:tcPr marL="30359" marR="303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1800"/>
                        </a:lnSpc>
                        <a:buNone/>
                      </a:pPr>
                      <a:r>
                        <a:rPr lang="zh-TW" sz="1600" kern="100" dirty="0">
                          <a:solidFill>
                            <a:srgbClr val="000000"/>
                          </a:solidFill>
                          <a:effectLst/>
                          <a:latin typeface="Times New Roman" panose="02020603050405020304" pitchFamily="18" charset="0"/>
                          <a:ea typeface="標楷體" panose="03000509000000000000" pitchFamily="65" charset="-120"/>
                        </a:rPr>
                        <a:t>由社寮社區負責，各社區一起辦理</a:t>
                      </a:r>
                      <a:endParaRPr lang="zh-TW" sz="1600" kern="100" dirty="0">
                        <a:effectLst/>
                        <a:latin typeface="Times New Roman" panose="02020603050405020304" pitchFamily="18" charset="0"/>
                        <a:ea typeface="新細明體" panose="02020500000000000000" pitchFamily="18" charset="-12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algn="ctr">
                        <a:lnSpc>
                          <a:spcPts val="2000"/>
                        </a:lnSpc>
                      </a:pPr>
                      <a:endParaRPr lang="zh-TW" sz="1500" kern="100" dirty="0">
                        <a:effectLst/>
                        <a:latin typeface="Times New Roman" panose="02020603050405020304" pitchFamily="18" charset="0"/>
                        <a:ea typeface="新細明體" panose="02020500000000000000" pitchFamily="18" charset="-120"/>
                      </a:endParaRPr>
                    </a:p>
                  </a:txBody>
                  <a:tcPr marL="30359" marR="303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8233893"/>
                  </a:ext>
                </a:extLst>
              </a:tr>
              <a:tr h="324036">
                <a:tc>
                  <a:txBody>
                    <a:bodyPr/>
                    <a:lstStyle/>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財務管理核銷</a:t>
                      </a:r>
                      <a:endParaRPr lang="zh-TW" sz="1600" kern="100" dirty="0">
                        <a:effectLst/>
                        <a:latin typeface="Times New Roman" panose="02020603050405020304" pitchFamily="18" charset="0"/>
                        <a:ea typeface="新細明體" panose="02020500000000000000" pitchFamily="18" charset="-120"/>
                      </a:endParaRPr>
                    </a:p>
                  </a:txBody>
                  <a:tcPr marL="30359" marR="303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賴采羚、陳芃蓁</a:t>
                      </a:r>
                      <a:endParaRPr lang="zh-TW" sz="1600" kern="100" dirty="0">
                        <a:effectLst/>
                        <a:latin typeface="Times New Roman" panose="02020603050405020304" pitchFamily="18" charset="0"/>
                        <a:ea typeface="新細明體" panose="02020500000000000000" pitchFamily="18" charset="-120"/>
                      </a:endParaRPr>
                    </a:p>
                  </a:txBody>
                  <a:tcPr marL="30359" marR="303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協助財務業務的管理</a:t>
                      </a:r>
                      <a:endParaRPr lang="zh-TW" sz="1600" kern="100" dirty="0">
                        <a:effectLst/>
                        <a:latin typeface="Times New Roman" panose="02020603050405020304" pitchFamily="18" charset="0"/>
                        <a:ea typeface="新細明體" panose="02020500000000000000" pitchFamily="18" charset="-120"/>
                      </a:endParaRPr>
                    </a:p>
                  </a:txBody>
                  <a:tcPr marL="30359" marR="303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r>
                        <a:rPr lang="en-US" sz="1600" kern="100" dirty="0">
                          <a:solidFill>
                            <a:srgbClr val="000000"/>
                          </a:solidFill>
                          <a:effectLst/>
                          <a:latin typeface="標楷體" panose="03000509000000000000" pitchFamily="65" charset="-120"/>
                          <a:ea typeface="新細明體" panose="02020500000000000000" pitchFamily="18" charset="-120"/>
                        </a:rPr>
                        <a:t> </a:t>
                      </a:r>
                      <a:endParaRPr lang="zh-TW" sz="1600" kern="100" dirty="0">
                        <a:effectLst/>
                        <a:latin typeface="Times New Roman" panose="02020603050405020304" pitchFamily="18" charset="0"/>
                        <a:ea typeface="新細明體" panose="02020500000000000000" pitchFamily="18" charset="-120"/>
                      </a:endParaRPr>
                    </a:p>
                  </a:txBody>
                  <a:tcPr marL="30359" marR="303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7805729"/>
                  </a:ext>
                </a:extLst>
              </a:tr>
              <a:tr h="648072">
                <a:tc>
                  <a:txBody>
                    <a:bodyPr/>
                    <a:lstStyle/>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計畫統整、執行、進度管控</a:t>
                      </a:r>
                      <a:endParaRPr lang="zh-TW" sz="1600" kern="100" dirty="0">
                        <a:effectLst/>
                        <a:latin typeface="Times New Roman" panose="02020603050405020304" pitchFamily="18" charset="0"/>
                        <a:ea typeface="新細明體" panose="02020500000000000000" pitchFamily="18" charset="-120"/>
                      </a:endParaRPr>
                    </a:p>
                  </a:txBody>
                  <a:tcPr marL="30359" marR="303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楊麗娜執行長</a:t>
                      </a:r>
                      <a:endParaRPr lang="zh-TW" sz="1600" kern="100" dirty="0">
                        <a:effectLst/>
                        <a:latin typeface="Times New Roman" panose="02020603050405020304" pitchFamily="18" charset="0"/>
                        <a:ea typeface="新細明體" panose="02020500000000000000" pitchFamily="18" charset="-120"/>
                      </a:endParaRPr>
                    </a:p>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林珈瑩社工員</a:t>
                      </a:r>
                      <a:endParaRPr lang="zh-TW" sz="1600" kern="100" dirty="0">
                        <a:effectLst/>
                        <a:latin typeface="Times New Roman" panose="02020603050405020304" pitchFamily="18" charset="0"/>
                        <a:ea typeface="新細明體" panose="02020500000000000000" pitchFamily="18" charset="-120"/>
                      </a:endParaRPr>
                    </a:p>
                  </a:txBody>
                  <a:tcPr marL="30359" marR="303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計畫統整、執行、進度管控</a:t>
                      </a:r>
                      <a:endParaRPr lang="zh-TW" sz="1600" kern="100" dirty="0">
                        <a:effectLst/>
                        <a:latin typeface="Times New Roman" panose="02020603050405020304" pitchFamily="18" charset="0"/>
                        <a:ea typeface="新細明體" panose="02020500000000000000" pitchFamily="18" charset="-120"/>
                      </a:endParaRPr>
                    </a:p>
                  </a:txBody>
                  <a:tcPr marL="30359" marR="303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社區經營</a:t>
                      </a:r>
                      <a:endParaRPr lang="en-US" altLang="zh-TW" sz="1600" kern="100" dirty="0">
                        <a:solidFill>
                          <a:srgbClr val="000000"/>
                        </a:solidFill>
                        <a:effectLst/>
                        <a:latin typeface="Times New Roman" panose="02020603050405020304" pitchFamily="18" charset="0"/>
                        <a:ea typeface="標楷體" panose="03000509000000000000" pitchFamily="65" charset="-120"/>
                      </a:endParaRPr>
                    </a:p>
                    <a:p>
                      <a:pPr algn="ctr">
                        <a:lnSpc>
                          <a:spcPts val="2000"/>
                        </a:lnSpc>
                      </a:pPr>
                      <a:r>
                        <a:rPr lang="zh-TW" sz="1600" kern="100" dirty="0">
                          <a:solidFill>
                            <a:srgbClr val="000000"/>
                          </a:solidFill>
                          <a:effectLst/>
                          <a:latin typeface="Times New Roman" panose="02020603050405020304" pitchFamily="18" charset="0"/>
                          <a:ea typeface="標楷體" panose="03000509000000000000" pitchFamily="65" charset="-120"/>
                        </a:rPr>
                        <a:t>農村再生</a:t>
                      </a:r>
                      <a:endParaRPr lang="zh-TW" sz="1600" kern="100" dirty="0">
                        <a:effectLst/>
                        <a:latin typeface="Times New Roman" panose="02020603050405020304" pitchFamily="18" charset="0"/>
                        <a:ea typeface="新細明體" panose="02020500000000000000" pitchFamily="18" charset="-120"/>
                      </a:endParaRPr>
                    </a:p>
                  </a:txBody>
                  <a:tcPr marL="30359" marR="303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2506518"/>
                  </a:ext>
                </a:extLst>
              </a:tr>
            </a:tbl>
          </a:graphicData>
        </a:graphic>
      </p:graphicFrame>
    </p:spTree>
    <p:extLst>
      <p:ext uri="{BB962C8B-B14F-4D97-AF65-F5344CB8AC3E}">
        <p14:creationId xmlns:p14="http://schemas.microsoft.com/office/powerpoint/2010/main" val="2375968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0" name="Picture 3" descr="D:\桌面 文件 最愛\桌面\水保局\富州設計\1-封面.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txBox="1">
            <a:spLocks noChangeArrowheads="1"/>
          </p:cNvSpPr>
          <p:nvPr/>
        </p:nvSpPr>
        <p:spPr>
          <a:xfrm>
            <a:off x="899592" y="1340768"/>
            <a:ext cx="7489825" cy="1341438"/>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2pPr>
            <a:lvl3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3pPr>
            <a:lvl4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4pPr>
            <a:lvl5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5pPr>
            <a:lvl6pPr marL="457200" algn="ctr" rtl="0" fontAlgn="base">
              <a:spcBef>
                <a:spcPct val="0"/>
              </a:spcBef>
              <a:spcAft>
                <a:spcPct val="0"/>
              </a:spcAft>
              <a:defRPr kumimoji="1" sz="4400">
                <a:solidFill>
                  <a:schemeClr val="tx2"/>
                </a:solidFill>
                <a:latin typeface="Arial" pitchFamily="34" charset="0"/>
                <a:ea typeface="新細明體" pitchFamily="18" charset="-120"/>
              </a:defRPr>
            </a:lvl6pPr>
            <a:lvl7pPr marL="914400" algn="ctr" rtl="0" fontAlgn="base">
              <a:spcBef>
                <a:spcPct val="0"/>
              </a:spcBef>
              <a:spcAft>
                <a:spcPct val="0"/>
              </a:spcAft>
              <a:defRPr kumimoji="1" sz="4400">
                <a:solidFill>
                  <a:schemeClr val="tx2"/>
                </a:solidFill>
                <a:latin typeface="Arial" pitchFamily="34" charset="0"/>
                <a:ea typeface="新細明體" pitchFamily="18" charset="-120"/>
              </a:defRPr>
            </a:lvl7pPr>
            <a:lvl8pPr marL="1371600" algn="ctr" rtl="0" fontAlgn="base">
              <a:spcBef>
                <a:spcPct val="0"/>
              </a:spcBef>
              <a:spcAft>
                <a:spcPct val="0"/>
              </a:spcAft>
              <a:defRPr kumimoji="1" sz="4400">
                <a:solidFill>
                  <a:schemeClr val="tx2"/>
                </a:solidFill>
                <a:latin typeface="Arial" pitchFamily="34" charset="0"/>
                <a:ea typeface="新細明體" pitchFamily="18" charset="-120"/>
              </a:defRPr>
            </a:lvl8pPr>
            <a:lvl9pPr marL="1828800" algn="ctr" rtl="0" fontAlgn="base">
              <a:spcBef>
                <a:spcPct val="0"/>
              </a:spcBef>
              <a:spcAft>
                <a:spcPct val="0"/>
              </a:spcAft>
              <a:defRPr kumimoji="1" sz="4400">
                <a:solidFill>
                  <a:schemeClr val="tx2"/>
                </a:solidFill>
                <a:latin typeface="Arial" pitchFamily="34" charset="0"/>
                <a:ea typeface="新細明體" pitchFamily="18" charset="-120"/>
              </a:defRPr>
            </a:lvl9pPr>
          </a:lstStyle>
          <a:p>
            <a:pPr eaLnBrk="1" hangingPunct="1">
              <a:lnSpc>
                <a:spcPct val="130000"/>
              </a:lnSpc>
              <a:defRPr/>
            </a:pPr>
            <a:r>
              <a:rPr kumimoji="0" lang="zh-TW" altLang="en-US" sz="4000" b="1" kern="0" dirty="0">
                <a:solidFill>
                  <a:srgbClr val="000000"/>
                </a:solidFill>
                <a:latin typeface="標楷體" pitchFamily="65" charset="-120"/>
                <a:ea typeface="標楷體" pitchFamily="65" charset="-120"/>
              </a:rPr>
              <a:t>簡 報 完 畢  敬 請 指 導</a:t>
            </a:r>
            <a:endParaRPr lang="zh-TW" altLang="en-US" sz="4000" b="1" kern="0" dirty="0">
              <a:solidFill>
                <a:srgbClr val="000000"/>
              </a:solidFill>
              <a:latin typeface="標楷體" pitchFamily="65" charset="-120"/>
              <a:ea typeface="標楷體" pitchFamily="65" charset="-120"/>
            </a:endParaRPr>
          </a:p>
        </p:txBody>
      </p:sp>
      <p:sp>
        <p:nvSpPr>
          <p:cNvPr id="165894" name="投影片編號版面配置區 2"/>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Arial" pitchFamily="34" charset="0"/>
                <a:ea typeface="新細明體" pitchFamily="18" charset="-120"/>
              </a:defRPr>
            </a:lvl1pPr>
            <a:lvl2pPr marL="742950" indent="-285750" eaLnBrk="0" hangingPunct="0">
              <a:spcBef>
                <a:spcPct val="20000"/>
              </a:spcBef>
              <a:buChar char="–"/>
              <a:defRPr kumimoji="1" sz="2800">
                <a:solidFill>
                  <a:schemeClr val="tx1"/>
                </a:solidFill>
                <a:latin typeface="Arial" pitchFamily="34" charset="0"/>
                <a:ea typeface="新細明體" pitchFamily="18" charset="-120"/>
              </a:defRPr>
            </a:lvl2pPr>
            <a:lvl3pPr marL="1143000" indent="-228600" eaLnBrk="0" hangingPunct="0">
              <a:spcBef>
                <a:spcPct val="20000"/>
              </a:spcBef>
              <a:buChar char="•"/>
              <a:defRPr kumimoji="1" sz="2400">
                <a:solidFill>
                  <a:schemeClr val="tx1"/>
                </a:solidFill>
                <a:latin typeface="Arial" pitchFamily="34" charset="0"/>
                <a:ea typeface="新細明體" pitchFamily="18" charset="-120"/>
              </a:defRPr>
            </a:lvl3pPr>
            <a:lvl4pPr marL="1600200" indent="-228600" eaLnBrk="0" hangingPunct="0">
              <a:spcBef>
                <a:spcPct val="20000"/>
              </a:spcBef>
              <a:buChar char="–"/>
              <a:defRPr kumimoji="1" sz="2000">
                <a:solidFill>
                  <a:schemeClr val="tx1"/>
                </a:solidFill>
                <a:latin typeface="Arial" pitchFamily="34" charset="0"/>
                <a:ea typeface="新細明體" pitchFamily="18" charset="-120"/>
              </a:defRPr>
            </a:lvl4pPr>
            <a:lvl5pPr marL="2057400" indent="-228600" eaLnBrk="0" hangingPunct="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eaLnBrk="1" fontAlgn="base" hangingPunct="1">
              <a:spcBef>
                <a:spcPct val="0"/>
              </a:spcBef>
              <a:spcAft>
                <a:spcPct val="0"/>
              </a:spcAft>
              <a:buFontTx/>
              <a:buNone/>
            </a:pPr>
            <a:fld id="{5678DBB8-8427-4ACA-84F2-7FB58FD81FE4}" type="slidenum">
              <a:rPr kumimoji="0" lang="en-US" altLang="zh-TW" sz="1400" smtClean="0">
                <a:solidFill>
                  <a:srgbClr val="000000"/>
                </a:solidFill>
              </a:rPr>
              <a:pPr eaLnBrk="1" fontAlgn="base" hangingPunct="1">
                <a:spcBef>
                  <a:spcPct val="0"/>
                </a:spcBef>
                <a:spcAft>
                  <a:spcPct val="0"/>
                </a:spcAft>
                <a:buFontTx/>
                <a:buNone/>
              </a:pPr>
              <a:t>92</a:t>
            </a:fld>
            <a:endParaRPr kumimoji="0" lang="en-US" altLang="zh-TW" sz="1400">
              <a:solidFill>
                <a:srgbClr val="000000"/>
              </a:solidFill>
            </a:endParaRPr>
          </a:p>
        </p:txBody>
      </p:sp>
    </p:spTree>
    <p:extLst>
      <p:ext uri="{BB962C8B-B14F-4D97-AF65-F5344CB8AC3E}">
        <p14:creationId xmlns:p14="http://schemas.microsoft.com/office/powerpoint/2010/main" val="1371408351"/>
      </p:ext>
    </p:extLst>
  </p:cSld>
  <p:clrMapOvr>
    <a:masterClrMapping/>
  </p:clrMapOvr>
</p:sld>
</file>

<file path=ppt/theme/theme1.xml><?xml version="1.0" encoding="utf-8"?>
<a:theme xmlns:a="http://schemas.openxmlformats.org/drawingml/2006/main" name="12_預設簡報設計">
  <a:themeElements>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fontScheme name="預設簡報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altLang="en-US" sz="1200" b="0" i="0" u="none" strike="noStrike" cap="none" normalizeH="0" baseline="0" smtClean="0">
            <a:ln>
              <a:noFill/>
            </a:ln>
            <a:solidFill>
              <a:schemeClr val="tx1"/>
            </a:solidFill>
            <a:effectLst/>
            <a:latin typeface="Arial"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altLang="en-US" sz="1200" b="0" i="0" u="none" strike="noStrike" cap="none" normalizeH="0" baseline="0" smtClean="0">
            <a:ln>
              <a:noFill/>
            </a:ln>
            <a:solidFill>
              <a:schemeClr val="tx1"/>
            </a:solidFill>
            <a:effectLst/>
            <a:latin typeface="Arial" charset="0"/>
            <a:ea typeface="新細明體" pitchFamily="18" charset="-120"/>
          </a:defRPr>
        </a:defPPr>
      </a:lstStyle>
    </a:ln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060TGp_figure_green_v3">
  <a:themeElements>
    <a:clrScheme name="Default Design 1">
      <a:dk1>
        <a:srgbClr val="024631"/>
      </a:dk1>
      <a:lt1>
        <a:srgbClr val="FFFFFF"/>
      </a:lt1>
      <a:dk2>
        <a:srgbClr val="33A97F"/>
      </a:dk2>
      <a:lt2>
        <a:srgbClr val="DDDDDD"/>
      </a:lt2>
      <a:accent1>
        <a:srgbClr val="C8E0B0"/>
      </a:accent1>
      <a:accent2>
        <a:srgbClr val="99CC00"/>
      </a:accent2>
      <a:accent3>
        <a:srgbClr val="FFFFFF"/>
      </a:accent3>
      <a:accent4>
        <a:srgbClr val="013A28"/>
      </a:accent4>
      <a:accent5>
        <a:srgbClr val="E0EDD4"/>
      </a:accent5>
      <a:accent6>
        <a:srgbClr val="8AB900"/>
      </a:accent6>
      <a:hlink>
        <a:srgbClr val="69AAB1"/>
      </a:hlink>
      <a:folHlink>
        <a:srgbClr val="386B21"/>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24631"/>
        </a:dk1>
        <a:lt1>
          <a:srgbClr val="FFFFFF"/>
        </a:lt1>
        <a:dk2>
          <a:srgbClr val="33A97F"/>
        </a:dk2>
        <a:lt2>
          <a:srgbClr val="DDDDDD"/>
        </a:lt2>
        <a:accent1>
          <a:srgbClr val="C8E0B0"/>
        </a:accent1>
        <a:accent2>
          <a:srgbClr val="99CC00"/>
        </a:accent2>
        <a:accent3>
          <a:srgbClr val="FFFFFF"/>
        </a:accent3>
        <a:accent4>
          <a:srgbClr val="013A28"/>
        </a:accent4>
        <a:accent5>
          <a:srgbClr val="E0EDD4"/>
        </a:accent5>
        <a:accent6>
          <a:srgbClr val="8AB900"/>
        </a:accent6>
        <a:hlink>
          <a:srgbClr val="69AAB1"/>
        </a:hlink>
        <a:folHlink>
          <a:srgbClr val="386B21"/>
        </a:folHlink>
      </a:clrScheme>
      <a:clrMap bg1="lt1" tx1="dk1" bg2="lt2" tx2="dk2" accent1="accent1" accent2="accent2" accent3="accent3" accent4="accent4" accent5="accent5" accent6="accent6" hlink="hlink" folHlink="folHlink"/>
    </a:extraClrScheme>
    <a:extraClrScheme>
      <a:clrScheme name="Default Design 2">
        <a:dk1>
          <a:srgbClr val="660033"/>
        </a:dk1>
        <a:lt1>
          <a:srgbClr val="FFFFFF"/>
        </a:lt1>
        <a:dk2>
          <a:srgbClr val="CCCC00"/>
        </a:dk2>
        <a:lt2>
          <a:srgbClr val="DDDDDD"/>
        </a:lt2>
        <a:accent1>
          <a:srgbClr val="B7B35F"/>
        </a:accent1>
        <a:accent2>
          <a:srgbClr val="D77F2F"/>
        </a:accent2>
        <a:accent3>
          <a:srgbClr val="FFFFFF"/>
        </a:accent3>
        <a:accent4>
          <a:srgbClr val="56002A"/>
        </a:accent4>
        <a:accent5>
          <a:srgbClr val="D8D6B6"/>
        </a:accent5>
        <a:accent6>
          <a:srgbClr val="C3722A"/>
        </a:accent6>
        <a:hlink>
          <a:srgbClr val="AEC258"/>
        </a:hlink>
        <a:folHlink>
          <a:srgbClr val="3672AE"/>
        </a:folHlink>
      </a:clrScheme>
      <a:clrMap bg1="lt1" tx1="dk1" bg2="lt2" tx2="dk2" accent1="accent1" accent2="accent2" accent3="accent3" accent4="accent4" accent5="accent5" accent6="accent6" hlink="hlink" folHlink="folHlink"/>
    </a:extraClrScheme>
    <a:extraClrScheme>
      <a:clrScheme name="Default Design 3">
        <a:dk1>
          <a:srgbClr val="000066"/>
        </a:dk1>
        <a:lt1>
          <a:srgbClr val="FFFFFF"/>
        </a:lt1>
        <a:dk2>
          <a:srgbClr val="2937B7"/>
        </a:dk2>
        <a:lt2>
          <a:srgbClr val="DDDDDD"/>
        </a:lt2>
        <a:accent1>
          <a:srgbClr val="96DAF2"/>
        </a:accent1>
        <a:accent2>
          <a:srgbClr val="50A8E4"/>
        </a:accent2>
        <a:accent3>
          <a:srgbClr val="FFFFFF"/>
        </a:accent3>
        <a:accent4>
          <a:srgbClr val="000056"/>
        </a:accent4>
        <a:accent5>
          <a:srgbClr val="C9EAF7"/>
        </a:accent5>
        <a:accent6>
          <a:srgbClr val="4898CF"/>
        </a:accent6>
        <a:hlink>
          <a:srgbClr val="6847D3"/>
        </a:hlink>
        <a:folHlink>
          <a:srgbClr val="00999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8_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7472</TotalTime>
  <Words>11997</Words>
  <Application>Microsoft Office PowerPoint</Application>
  <PresentationFormat>如螢幕大小 (4:3)</PresentationFormat>
  <Paragraphs>1732</Paragraphs>
  <Slides>92</Slides>
  <Notes>60</Notes>
  <HiddenSlides>0</HiddenSlides>
  <MMClips>0</MMClips>
  <ScaleCrop>false</ScaleCrop>
  <HeadingPairs>
    <vt:vector size="8" baseType="variant">
      <vt:variant>
        <vt:lpstr>使用字型</vt:lpstr>
      </vt:variant>
      <vt:variant>
        <vt:i4>14</vt:i4>
      </vt:variant>
      <vt:variant>
        <vt:lpstr>佈景主題</vt:lpstr>
      </vt:variant>
      <vt:variant>
        <vt:i4>3</vt:i4>
      </vt:variant>
      <vt:variant>
        <vt:lpstr>內嵌 OLE 伺服程式</vt:lpstr>
      </vt:variant>
      <vt:variant>
        <vt:i4>1</vt:i4>
      </vt:variant>
      <vt:variant>
        <vt:lpstr>投影片標題</vt:lpstr>
      </vt:variant>
      <vt:variant>
        <vt:i4>92</vt:i4>
      </vt:variant>
    </vt:vector>
  </HeadingPairs>
  <TitlesOfParts>
    <vt:vector size="110" baseType="lpstr">
      <vt:lpstr>Lucida Grande</vt:lpstr>
      <vt:lpstr>Microsoft JhengHei UI</vt:lpstr>
      <vt:lpstr>華康POP1體W5(P)</vt:lpstr>
      <vt:lpstr>華康隸書體W7</vt:lpstr>
      <vt:lpstr>華康隸書體W7(P)</vt:lpstr>
      <vt:lpstr>Microsoft JhengHei</vt:lpstr>
      <vt:lpstr>PMingLiU</vt:lpstr>
      <vt:lpstr>PMingLiU</vt:lpstr>
      <vt:lpstr>標楷體</vt:lpstr>
      <vt:lpstr>Arial</vt:lpstr>
      <vt:lpstr>Calibri</vt:lpstr>
      <vt:lpstr>Times New Roman</vt:lpstr>
      <vt:lpstr>Verdana</vt:lpstr>
      <vt:lpstr>Wingdings</vt:lpstr>
      <vt:lpstr>12_預設簡報設計</vt:lpstr>
      <vt:lpstr>060TGp_figure_green_v3</vt:lpstr>
      <vt:lpstr>8_預設簡報設計</vt:lpstr>
      <vt:lpstr>Image</vt:lpstr>
      <vt:lpstr>PowerPoint 簡報</vt:lpstr>
      <vt:lpstr>PowerPoint 簡報</vt:lpstr>
      <vt:lpstr>、辦理單位 </vt:lpstr>
      <vt:lpstr>三、竹山鎮與旗艦社區簡介 </vt:lpstr>
      <vt:lpstr>1.竹山鎮人口各年齡層調查統計表</vt:lpstr>
      <vt:lpstr>2.旗艦社區人口各年齡層分析</vt:lpstr>
      <vt:lpstr>3.旗艦社區弱勢人口分析</vt:lpstr>
      <vt:lpstr>4.旗艦社區新住民人口分析</vt:lpstr>
      <vt:lpstr>四、計畫六年推動目標及步驟</vt:lpstr>
      <vt:lpstr>四、計畫六年推動目標及步驟</vt:lpstr>
      <vt:lpstr>四、計畫六年推動目標及步驟</vt:lpstr>
      <vt:lpstr>四、計畫六年推動目標及步驟</vt:lpstr>
      <vt:lpstr>四、計畫六年推動目標及步驟</vt:lpstr>
      <vt:lpstr>四、計畫六年推動目標及步驟</vt:lpstr>
      <vt:lpstr>小旗艦計畫執行成果</vt:lpstr>
      <vt:lpstr>五、方案內容</vt:lpstr>
      <vt:lpstr>五、方案內容</vt:lpstr>
      <vt:lpstr>小旗艦計畫執行成果</vt:lpstr>
      <vt:lpstr>五、方案內容</vt:lpstr>
      <vt:lpstr>小旗艦計畫執行成果</vt:lpstr>
      <vt:lpstr>五、方案內容</vt:lpstr>
      <vt:lpstr>四、方案內容</vt:lpstr>
      <vt:lpstr>四、方案內容</vt:lpstr>
      <vt:lpstr>小旗艦計畫執行成果</vt:lpstr>
      <vt:lpstr>五、方案內容</vt:lpstr>
      <vt:lpstr>方案四：社區共生-簡易水電維修培訓</vt:lpstr>
      <vt:lpstr>小旗艦計畫執行成果</vt:lpstr>
      <vt:lpstr>五、方案內容</vt:lpstr>
      <vt:lpstr>PowerPoint 簡報</vt:lpstr>
      <vt:lpstr>小旗艦計畫執行成果</vt:lpstr>
      <vt:lpstr>五、方案內容</vt:lpstr>
      <vt:lpstr>五、方案內容</vt:lpstr>
      <vt:lpstr>PowerPoint 簡報</vt:lpstr>
      <vt:lpstr>五、方案內容</vt:lpstr>
      <vt:lpstr>五、方案內容</vt:lpstr>
      <vt:lpstr>小旗艦計畫執行成果</vt:lpstr>
      <vt:lpstr>五、方案內容</vt:lpstr>
      <vt:lpstr>小旗艦計畫執行成果</vt:lpstr>
      <vt:lpstr>六、社區資源盤點</vt:lpstr>
      <vt:lpstr>113年小旗艦計畫執行成果</vt:lpstr>
      <vt:lpstr>113年小旗艦計畫執行成果</vt:lpstr>
      <vt:lpstr>113年小旗艦計畫執行成果</vt:lpstr>
      <vt:lpstr>方案一：福利社區化工作圈會議</vt:lpstr>
      <vt:lpstr>方案一：福利社區化工作圈會議</vt:lpstr>
      <vt:lpstr>方案二：獨老不孤老-獨老聯合服務計畫</vt:lpstr>
      <vt:lpstr>方案二：獨老不孤老-獨老聯合服務計畫</vt:lpstr>
      <vt:lpstr>方案二：獨老不孤老-獨老聯合服務計畫</vt:lpstr>
      <vt:lpstr>方案三：小社區大未來-兒少小小自治團體方案</vt:lpstr>
      <vt:lpstr>方案三：小社區大未來-兒少小小自治團體方案</vt:lpstr>
      <vt:lpstr>方案三：小社區大未來-兒少小小自治團體方案</vt:lpstr>
      <vt:lpstr>方案四：立竿見影-提案培力</vt:lpstr>
      <vt:lpstr>方案四：立竿見影-提案培力</vt:lpstr>
      <vt:lpstr>方案五：社區築夢 歡樂童行-親子團體動力體驗</vt:lpstr>
      <vt:lpstr>方案五：社區築夢 歡樂童行-親子團體動力體驗</vt:lpstr>
      <vt:lpstr>方案六：水電維修志工隊-時間銀行計畫</vt:lpstr>
      <vt:lpstr>方案六：水電維修志工隊-時間銀行計畫</vt:lpstr>
      <vt:lpstr>方案七：社區友愛＊轉動無礙--小旗艦社區報</vt:lpstr>
      <vt:lpstr>方案七：社區友愛＊轉動無礙--小旗艦社區報</vt:lpstr>
      <vt:lpstr>PowerPoint 簡報</vt:lpstr>
      <vt:lpstr>子計畫一：福利社區化工作圈會議</vt:lpstr>
      <vt:lpstr>子計畫一：福利社區化工作圈會議</vt:lpstr>
      <vt:lpstr>福利社區化工作圈會議經費表</vt:lpstr>
      <vt:lpstr>子計畫二：新移共融計畫</vt:lpstr>
      <vt:lpstr>子計畫二：新移共融計畫</vt:lpstr>
      <vt:lpstr>子計畫二：新移共融計畫</vt:lpstr>
      <vt:lpstr>新移共融計畫經費表</vt:lpstr>
      <vt:lpstr>子計畫三：社區家庭志工培力計畫—親子共學與社區服務</vt:lpstr>
      <vt:lpstr>子計畫三：社區家庭志工培力計畫—親子共學與社區服務</vt:lpstr>
      <vt:lpstr>子計畫三：社區家庭志工培力計畫—親子共學與社區服務</vt:lpstr>
      <vt:lpstr>社區家庭志工培力計畫經費表</vt:lpstr>
      <vt:lpstr>子計畫四：憶起幸福：社區生命故事館</vt:lpstr>
      <vt:lpstr>子計畫四：憶起幸福：社區生命故事館</vt:lpstr>
      <vt:lpstr>子計畫四：憶起幸福：社區生命故事館</vt:lpstr>
      <vt:lpstr>子計畫四：憶起幸福：社區生命故事館</vt:lpstr>
      <vt:lpstr>憶起幸福：社區生命故事館經費表</vt:lpstr>
      <vt:lpstr>子計畫五：弱勢家庭節能輔導方案</vt:lpstr>
      <vt:lpstr>子計畫五：弱勢家庭節能輔導方案</vt:lpstr>
      <vt:lpstr>子計畫五：弱勢家庭節能輔導方案</vt:lpstr>
      <vt:lpstr>弱勢家庭節能輔導方案經費表</vt:lpstr>
      <vt:lpstr>子計畫六：提案培力 </vt:lpstr>
      <vt:lpstr>子計畫六：提案培力 </vt:lpstr>
      <vt:lpstr>子計畫六：提案培力 </vt:lpstr>
      <vt:lpstr>提案培力經費表</vt:lpstr>
      <vt:lpstr>子計畫七：勇敢發聲，綻放自己－婦女演講成長計畫</vt:lpstr>
      <vt:lpstr>子計畫七：勇敢發聲，綻放自己－婦女演講成長計畫</vt:lpstr>
      <vt:lpstr>子計畫七：勇敢發聲，綻放自己－婦女演講成長計畫</vt:lpstr>
      <vt:lpstr>婦女演講成長計畫經費表</vt:lpstr>
      <vt:lpstr>專業服務費：聘請林珈瑩社工員協助計畫推動</vt:lpstr>
      <vt:lpstr>四、總經費預算表</vt:lpstr>
      <vt:lpstr>五、聘請師資、工作團隊與分工</vt:lpstr>
      <vt:lpstr>五、聘請師資、工作團隊與分工</vt:lpstr>
      <vt:lpstr>PowerPoint 簡報</vt:lpstr>
    </vt:vector>
  </TitlesOfParts>
  <Company>xp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富州</dc:creator>
  <cp:lastModifiedBy>Jun-zou Chen</cp:lastModifiedBy>
  <cp:revision>381</cp:revision>
  <dcterms:created xsi:type="dcterms:W3CDTF">2014-12-26T02:26:31Z</dcterms:created>
  <dcterms:modified xsi:type="dcterms:W3CDTF">2026-05-26T13:55:50Z</dcterms:modified>
</cp:coreProperties>
</file>