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6" r:id="rId1"/>
  </p:sldMasterIdLst>
  <p:notesMasterIdLst>
    <p:notesMasterId r:id="rId63"/>
  </p:notesMasterIdLst>
  <p:sldIdLst>
    <p:sldId id="256" r:id="rId2"/>
    <p:sldId id="257" r:id="rId3"/>
    <p:sldId id="344" r:id="rId4"/>
    <p:sldId id="346" r:id="rId5"/>
    <p:sldId id="347" r:id="rId6"/>
    <p:sldId id="353" r:id="rId7"/>
    <p:sldId id="348" r:id="rId8"/>
    <p:sldId id="349" r:id="rId9"/>
    <p:sldId id="395" r:id="rId10"/>
    <p:sldId id="396" r:id="rId11"/>
    <p:sldId id="326" r:id="rId12"/>
    <p:sldId id="350" r:id="rId13"/>
    <p:sldId id="354" r:id="rId14"/>
    <p:sldId id="447" r:id="rId15"/>
    <p:sldId id="446" r:id="rId16"/>
    <p:sldId id="442" r:id="rId17"/>
    <p:sldId id="443" r:id="rId18"/>
    <p:sldId id="268" r:id="rId19"/>
    <p:sldId id="266" r:id="rId20"/>
    <p:sldId id="313" r:id="rId21"/>
    <p:sldId id="444" r:id="rId22"/>
    <p:sldId id="445" r:id="rId23"/>
    <p:sldId id="267" r:id="rId24"/>
    <p:sldId id="357" r:id="rId25"/>
    <p:sldId id="361" r:id="rId26"/>
    <p:sldId id="398" r:id="rId27"/>
    <p:sldId id="399" r:id="rId28"/>
    <p:sldId id="362" r:id="rId29"/>
    <p:sldId id="400" r:id="rId30"/>
    <p:sldId id="363" r:id="rId31"/>
    <p:sldId id="401" r:id="rId32"/>
    <p:sldId id="430" r:id="rId33"/>
    <p:sldId id="402" r:id="rId34"/>
    <p:sldId id="431" r:id="rId35"/>
    <p:sldId id="432" r:id="rId36"/>
    <p:sldId id="433" r:id="rId37"/>
    <p:sldId id="434" r:id="rId38"/>
    <p:sldId id="365" r:id="rId39"/>
    <p:sldId id="370" r:id="rId40"/>
    <p:sldId id="369" r:id="rId41"/>
    <p:sldId id="393" r:id="rId42"/>
    <p:sldId id="403" r:id="rId43"/>
    <p:sldId id="404" r:id="rId44"/>
    <p:sldId id="419" r:id="rId45"/>
    <p:sldId id="405" r:id="rId46"/>
    <p:sldId id="406" r:id="rId47"/>
    <p:sldId id="428" r:id="rId48"/>
    <p:sldId id="429" r:id="rId49"/>
    <p:sldId id="407" r:id="rId50"/>
    <p:sldId id="372" r:id="rId51"/>
    <p:sldId id="408" r:id="rId52"/>
    <p:sldId id="409" r:id="rId53"/>
    <p:sldId id="373" r:id="rId54"/>
    <p:sldId id="375" r:id="rId55"/>
    <p:sldId id="435" r:id="rId56"/>
    <p:sldId id="438" r:id="rId57"/>
    <p:sldId id="439" r:id="rId58"/>
    <p:sldId id="440" r:id="rId59"/>
    <p:sldId id="441" r:id="rId60"/>
    <p:sldId id="448" r:id="rId61"/>
    <p:sldId id="299" r:id="rId62"/>
  </p:sldIdLst>
  <p:sldSz cx="9144000" cy="6858000" type="screen4x3"/>
  <p:notesSz cx="6797675" cy="9926638"/>
  <p:defaultTextStyle>
    <a:defPPr>
      <a:defRPr lang="zh-TW"/>
    </a:defPPr>
    <a:lvl1pPr algn="l" rtl="0" fontAlgn="base">
      <a:spcBef>
        <a:spcPct val="0"/>
      </a:spcBef>
      <a:spcAft>
        <a:spcPct val="0"/>
      </a:spcAft>
      <a:defRPr kumimoji="1" sz="2400" kern="1200">
        <a:solidFill>
          <a:schemeClr val="tx1"/>
        </a:solidFill>
        <a:latin typeface="Tahoma" panose="020B0604030504040204" pitchFamily="34" charset="0"/>
        <a:ea typeface="標楷體" panose="03000509000000000000" pitchFamily="65" charset="-120"/>
        <a:cs typeface="+mn-cs"/>
      </a:defRPr>
    </a:lvl1pPr>
    <a:lvl2pPr marL="457200" algn="l" rtl="0" fontAlgn="base">
      <a:spcBef>
        <a:spcPct val="0"/>
      </a:spcBef>
      <a:spcAft>
        <a:spcPct val="0"/>
      </a:spcAft>
      <a:defRPr kumimoji="1" sz="2400" kern="1200">
        <a:solidFill>
          <a:schemeClr val="tx1"/>
        </a:solidFill>
        <a:latin typeface="Tahoma" panose="020B0604030504040204" pitchFamily="34" charset="0"/>
        <a:ea typeface="標楷體" panose="03000509000000000000" pitchFamily="65" charset="-120"/>
        <a:cs typeface="+mn-cs"/>
      </a:defRPr>
    </a:lvl2pPr>
    <a:lvl3pPr marL="914400" algn="l" rtl="0" fontAlgn="base">
      <a:spcBef>
        <a:spcPct val="0"/>
      </a:spcBef>
      <a:spcAft>
        <a:spcPct val="0"/>
      </a:spcAft>
      <a:defRPr kumimoji="1" sz="2400" kern="1200">
        <a:solidFill>
          <a:schemeClr val="tx1"/>
        </a:solidFill>
        <a:latin typeface="Tahoma" panose="020B0604030504040204" pitchFamily="34" charset="0"/>
        <a:ea typeface="標楷體" panose="03000509000000000000" pitchFamily="65" charset="-120"/>
        <a:cs typeface="+mn-cs"/>
      </a:defRPr>
    </a:lvl3pPr>
    <a:lvl4pPr marL="1371600" algn="l" rtl="0" fontAlgn="base">
      <a:spcBef>
        <a:spcPct val="0"/>
      </a:spcBef>
      <a:spcAft>
        <a:spcPct val="0"/>
      </a:spcAft>
      <a:defRPr kumimoji="1" sz="2400" kern="1200">
        <a:solidFill>
          <a:schemeClr val="tx1"/>
        </a:solidFill>
        <a:latin typeface="Tahoma" panose="020B0604030504040204" pitchFamily="34" charset="0"/>
        <a:ea typeface="標楷體" panose="03000509000000000000" pitchFamily="65" charset="-120"/>
        <a:cs typeface="+mn-cs"/>
      </a:defRPr>
    </a:lvl4pPr>
    <a:lvl5pPr marL="1828800" algn="l" rtl="0" fontAlgn="base">
      <a:spcBef>
        <a:spcPct val="0"/>
      </a:spcBef>
      <a:spcAft>
        <a:spcPct val="0"/>
      </a:spcAft>
      <a:defRPr kumimoji="1" sz="2400" kern="1200">
        <a:solidFill>
          <a:schemeClr val="tx1"/>
        </a:solidFill>
        <a:latin typeface="Tahoma" panose="020B0604030504040204" pitchFamily="34" charset="0"/>
        <a:ea typeface="標楷體" panose="03000509000000000000" pitchFamily="65" charset="-120"/>
        <a:cs typeface="+mn-cs"/>
      </a:defRPr>
    </a:lvl5pPr>
    <a:lvl6pPr marL="2286000" algn="l" defTabSz="914400" rtl="0" eaLnBrk="1" latinLnBrk="0" hangingPunct="1">
      <a:defRPr kumimoji="1" sz="2400" kern="1200">
        <a:solidFill>
          <a:schemeClr val="tx1"/>
        </a:solidFill>
        <a:latin typeface="Tahoma" panose="020B0604030504040204" pitchFamily="34" charset="0"/>
        <a:ea typeface="標楷體" panose="03000509000000000000" pitchFamily="65" charset="-120"/>
        <a:cs typeface="+mn-cs"/>
      </a:defRPr>
    </a:lvl6pPr>
    <a:lvl7pPr marL="2743200" algn="l" defTabSz="914400" rtl="0" eaLnBrk="1" latinLnBrk="0" hangingPunct="1">
      <a:defRPr kumimoji="1" sz="2400" kern="1200">
        <a:solidFill>
          <a:schemeClr val="tx1"/>
        </a:solidFill>
        <a:latin typeface="Tahoma" panose="020B0604030504040204" pitchFamily="34" charset="0"/>
        <a:ea typeface="標楷體" panose="03000509000000000000" pitchFamily="65" charset="-120"/>
        <a:cs typeface="+mn-cs"/>
      </a:defRPr>
    </a:lvl7pPr>
    <a:lvl8pPr marL="3200400" algn="l" defTabSz="914400" rtl="0" eaLnBrk="1" latinLnBrk="0" hangingPunct="1">
      <a:defRPr kumimoji="1" sz="2400" kern="1200">
        <a:solidFill>
          <a:schemeClr val="tx1"/>
        </a:solidFill>
        <a:latin typeface="Tahoma" panose="020B0604030504040204" pitchFamily="34" charset="0"/>
        <a:ea typeface="標楷體" panose="03000509000000000000" pitchFamily="65" charset="-120"/>
        <a:cs typeface="+mn-cs"/>
      </a:defRPr>
    </a:lvl8pPr>
    <a:lvl9pPr marL="3657600" algn="l" defTabSz="914400" rtl="0" eaLnBrk="1" latinLnBrk="0" hangingPunct="1">
      <a:defRPr kumimoji="1" sz="2400" kern="1200">
        <a:solidFill>
          <a:schemeClr val="tx1"/>
        </a:solidFill>
        <a:latin typeface="Tahoma" panose="020B0604030504040204" pitchFamily="34" charset="0"/>
        <a:ea typeface="標楷體" panose="03000509000000000000" pitchFamily="65" charset="-120"/>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FF"/>
    <a:srgbClr val="3333CC"/>
    <a:srgbClr val="CC00CC"/>
    <a:srgbClr val="00CC66"/>
    <a:srgbClr val="669900"/>
    <a:srgbClr val="000000"/>
    <a:srgbClr val="CCECFF"/>
    <a:srgbClr val="CC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A29EB2-B5AA-4A04-B9AC-388FCB854210}" v="6" dt="2026-04-29T00:43:07.9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34587" autoAdjust="0"/>
    <p:restoredTop sz="86325" autoAdjust="0"/>
  </p:normalViewPr>
  <p:slideViewPr>
    <p:cSldViewPr>
      <p:cViewPr varScale="1">
        <p:scale>
          <a:sx n="71" d="100"/>
          <a:sy n="71" d="100"/>
        </p:scale>
        <p:origin x="463" y="45"/>
      </p:cViewPr>
      <p:guideLst>
        <p:guide orient="horz" pos="2160"/>
        <p:guide pos="2880"/>
      </p:guideLst>
    </p:cSldViewPr>
  </p:slideViewPr>
  <p:outlineViewPr>
    <p:cViewPr>
      <p:scale>
        <a:sx n="33" d="100"/>
        <a:sy n="33" d="100"/>
      </p:scale>
      <p:origin x="0" y="18342"/>
    </p:cViewPr>
  </p:outlineViewPr>
  <p:notesTextViewPr>
    <p:cViewPr>
      <p:scale>
        <a:sx n="100" d="100"/>
        <a:sy n="100" d="100"/>
      </p:scale>
      <p:origin x="0" y="0"/>
    </p:cViewPr>
  </p:notesTextViewPr>
  <p:sorterViewPr>
    <p:cViewPr>
      <p:scale>
        <a:sx n="66" d="100"/>
        <a:sy n="66" d="100"/>
      </p:scale>
      <p:origin x="0" y="138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68"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96E107AE-7797-EFE1-9AAA-E9ED7D6ACD1D}"/>
              </a:ext>
            </a:extLst>
          </p:cNvPr>
          <p:cNvSpPr>
            <a:spLocks noGrp="1" noChangeArrowheads="1"/>
          </p:cNvSpPr>
          <p:nvPr>
            <p:ph type="hdr" sz="quarter"/>
          </p:nvPr>
        </p:nvSpPr>
        <p:spPr bwMode="auto">
          <a:xfrm>
            <a:off x="0"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ea typeface="新細明體" charset="-120"/>
              </a:defRPr>
            </a:lvl1pPr>
          </a:lstStyle>
          <a:p>
            <a:pPr>
              <a:defRPr/>
            </a:pPr>
            <a:endParaRPr lang="en-US" altLang="zh-TW"/>
          </a:p>
        </p:txBody>
      </p:sp>
      <p:sp>
        <p:nvSpPr>
          <p:cNvPr id="86019" name="Rectangle 3">
            <a:extLst>
              <a:ext uri="{FF2B5EF4-FFF2-40B4-BE49-F238E27FC236}">
                <a16:creationId xmlns:a16="http://schemas.microsoft.com/office/drawing/2014/main" id="{69EA4686-8277-5398-BA73-404C0A5C7D01}"/>
              </a:ext>
            </a:extLst>
          </p:cNvPr>
          <p:cNvSpPr>
            <a:spLocks noGrp="1" noChangeArrowheads="1"/>
          </p:cNvSpPr>
          <p:nvPr>
            <p:ph type="dt" idx="1"/>
          </p:nvPr>
        </p:nvSpPr>
        <p:spPr bwMode="auto">
          <a:xfrm>
            <a:off x="3849688"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ea typeface="新細明體" charset="-120"/>
              </a:defRPr>
            </a:lvl1pPr>
          </a:lstStyle>
          <a:p>
            <a:pPr>
              <a:defRPr/>
            </a:pPr>
            <a:endParaRPr lang="en-US" altLang="zh-TW"/>
          </a:p>
        </p:txBody>
      </p:sp>
      <p:sp>
        <p:nvSpPr>
          <p:cNvPr id="58372" name="Rectangle 4">
            <a:extLst>
              <a:ext uri="{FF2B5EF4-FFF2-40B4-BE49-F238E27FC236}">
                <a16:creationId xmlns:a16="http://schemas.microsoft.com/office/drawing/2014/main" id="{747C51F1-077B-D5F6-5159-E3E6ABEE3247}"/>
              </a:ext>
            </a:extLst>
          </p:cNvPr>
          <p:cNvSpPr>
            <a:spLocks noGrp="1" noRot="1" noChangeAspect="1" noChangeArrowheads="1" noTextEdit="1"/>
          </p:cNvSpPr>
          <p:nvPr>
            <p:ph type="sldImg" idx="2"/>
          </p:nvPr>
        </p:nvSpPr>
        <p:spPr bwMode="auto">
          <a:xfrm>
            <a:off x="915988" y="744538"/>
            <a:ext cx="4965700" cy="3722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21" name="Rectangle 5">
            <a:extLst>
              <a:ext uri="{FF2B5EF4-FFF2-40B4-BE49-F238E27FC236}">
                <a16:creationId xmlns:a16="http://schemas.microsoft.com/office/drawing/2014/main" id="{B2DDBC3E-11D2-EBF1-FE73-CD50DB589986}"/>
              </a:ext>
            </a:extLst>
          </p:cNvPr>
          <p:cNvSpPr>
            <a:spLocks noGrp="1" noChangeArrowheads="1"/>
          </p:cNvSpPr>
          <p:nvPr>
            <p:ph type="body" sz="quarter" idx="3"/>
          </p:nvPr>
        </p:nvSpPr>
        <p:spPr bwMode="auto">
          <a:xfrm>
            <a:off x="679450" y="4714875"/>
            <a:ext cx="5438775" cy="44672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TW" altLang="en-US" noProof="0"/>
              <a:t>按一下以編輯母片</a:t>
            </a:r>
          </a:p>
          <a:p>
            <a:pPr lvl="1"/>
            <a:r>
              <a:rPr lang="zh-TW" altLang="en-US" noProof="0"/>
              <a:t>第二層</a:t>
            </a:r>
          </a:p>
          <a:p>
            <a:pPr lvl="2"/>
            <a:r>
              <a:rPr lang="zh-TW" altLang="en-US" noProof="0"/>
              <a:t>第三層</a:t>
            </a:r>
          </a:p>
          <a:p>
            <a:pPr lvl="3"/>
            <a:r>
              <a:rPr lang="zh-TW" altLang="en-US" noProof="0"/>
              <a:t>第四層</a:t>
            </a:r>
          </a:p>
          <a:p>
            <a:pPr lvl="4"/>
            <a:r>
              <a:rPr lang="zh-TW" altLang="en-US" noProof="0"/>
              <a:t>第五層</a:t>
            </a:r>
          </a:p>
        </p:txBody>
      </p:sp>
      <p:sp>
        <p:nvSpPr>
          <p:cNvPr id="86022" name="Rectangle 6">
            <a:extLst>
              <a:ext uri="{FF2B5EF4-FFF2-40B4-BE49-F238E27FC236}">
                <a16:creationId xmlns:a16="http://schemas.microsoft.com/office/drawing/2014/main" id="{5E50346C-DB9C-D501-8935-640E1F8FE7CB}"/>
              </a:ext>
            </a:extLst>
          </p:cNvPr>
          <p:cNvSpPr>
            <a:spLocks noGrp="1" noChangeArrowheads="1"/>
          </p:cNvSpPr>
          <p:nvPr>
            <p:ph type="ftr" sz="quarter" idx="4"/>
          </p:nvPr>
        </p:nvSpPr>
        <p:spPr bwMode="auto">
          <a:xfrm>
            <a:off x="0" y="9428163"/>
            <a:ext cx="2946400" cy="4968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ea typeface="新細明體" charset="-120"/>
              </a:defRPr>
            </a:lvl1pPr>
          </a:lstStyle>
          <a:p>
            <a:pPr>
              <a:defRPr/>
            </a:pPr>
            <a:endParaRPr lang="en-US" altLang="zh-TW"/>
          </a:p>
        </p:txBody>
      </p:sp>
      <p:sp>
        <p:nvSpPr>
          <p:cNvPr id="86023" name="Rectangle 7">
            <a:extLst>
              <a:ext uri="{FF2B5EF4-FFF2-40B4-BE49-F238E27FC236}">
                <a16:creationId xmlns:a16="http://schemas.microsoft.com/office/drawing/2014/main" id="{C5499722-7FA9-B7A4-46B3-4E75686E23CD}"/>
              </a:ext>
            </a:extLst>
          </p:cNvPr>
          <p:cNvSpPr>
            <a:spLocks noGrp="1" noChangeArrowheads="1"/>
          </p:cNvSpPr>
          <p:nvPr>
            <p:ph type="sldNum" sz="quarter" idx="5"/>
          </p:nvPr>
        </p:nvSpPr>
        <p:spPr bwMode="auto">
          <a:xfrm>
            <a:off x="3849688" y="9428163"/>
            <a:ext cx="2946400" cy="4968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panose="020B0604020202020204" pitchFamily="34" charset="0"/>
                <a:ea typeface="新細明體" panose="02020500000000000000" pitchFamily="18" charset="-120"/>
              </a:defRPr>
            </a:lvl1pPr>
          </a:lstStyle>
          <a:p>
            <a:fld id="{B2298BAC-DC71-4C2A-A58A-2D2CEC68B6EA}" type="slidenum">
              <a:rPr lang="en-US" altLang="zh-TW"/>
              <a:pPr/>
              <a:t>‹#›</a:t>
            </a:fld>
            <a:endParaRPr lang="en-US" altLang="zh-TW"/>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新細明體" charset="-120"/>
        <a:cs typeface="+mn-cs"/>
      </a:defRPr>
    </a:lvl1pPr>
    <a:lvl2pPr marL="457200" algn="l" rtl="0" eaLnBrk="0" fontAlgn="base" hangingPunct="0">
      <a:spcBef>
        <a:spcPct val="30000"/>
      </a:spcBef>
      <a:spcAft>
        <a:spcPct val="0"/>
      </a:spcAft>
      <a:defRPr kumimoji="1" sz="1200" kern="1200">
        <a:solidFill>
          <a:schemeClr val="tx1"/>
        </a:solidFill>
        <a:latin typeface="Arial" charset="0"/>
        <a:ea typeface="新細明體" charset="-120"/>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新細明體" charset="-120"/>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新細明體" charset="-120"/>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新細明體" charset="-12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EAA26695-CFFD-6CE1-6095-6A78A672185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ahoma" panose="020B0604030504040204" pitchFamily="34" charset="0"/>
                <a:ea typeface="標楷體" panose="03000509000000000000" pitchFamily="65" charset="-120"/>
              </a:defRPr>
            </a:lvl1pPr>
            <a:lvl2pPr marL="742950" indent="-285750" eaLnBrk="0" hangingPunct="0">
              <a:defRPr kumimoji="1" sz="2400">
                <a:solidFill>
                  <a:schemeClr val="tx1"/>
                </a:solidFill>
                <a:latin typeface="Tahoma" panose="020B0604030504040204" pitchFamily="34" charset="0"/>
                <a:ea typeface="標楷體" panose="03000509000000000000" pitchFamily="65" charset="-120"/>
              </a:defRPr>
            </a:lvl2pPr>
            <a:lvl3pPr marL="1143000" indent="-228600" eaLnBrk="0" hangingPunct="0">
              <a:defRPr kumimoji="1" sz="2400">
                <a:solidFill>
                  <a:schemeClr val="tx1"/>
                </a:solidFill>
                <a:latin typeface="Tahoma" panose="020B0604030504040204" pitchFamily="34" charset="0"/>
                <a:ea typeface="標楷體" panose="03000509000000000000" pitchFamily="65" charset="-120"/>
              </a:defRPr>
            </a:lvl3pPr>
            <a:lvl4pPr marL="1600200" indent="-228600" eaLnBrk="0" hangingPunct="0">
              <a:defRPr kumimoji="1" sz="2400">
                <a:solidFill>
                  <a:schemeClr val="tx1"/>
                </a:solidFill>
                <a:latin typeface="Tahoma" panose="020B0604030504040204" pitchFamily="34" charset="0"/>
                <a:ea typeface="標楷體" panose="03000509000000000000" pitchFamily="65" charset="-120"/>
              </a:defRPr>
            </a:lvl4pPr>
            <a:lvl5pPr marL="2057400" indent="-228600" eaLnBrk="0" hangingPunct="0">
              <a:defRPr kumimoji="1" sz="24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9pPr>
          </a:lstStyle>
          <a:p>
            <a:pPr eaLnBrk="1" hangingPunct="1"/>
            <a:fld id="{91F79A1B-C4BD-47EF-A5A0-FB2F17C6AA37}" type="slidenum">
              <a:rPr lang="en-US" altLang="zh-TW" sz="1200">
                <a:latin typeface="Arial" panose="020B0604020202020204" pitchFamily="34" charset="0"/>
                <a:ea typeface="新細明體" panose="02020500000000000000" pitchFamily="18" charset="-120"/>
              </a:rPr>
              <a:pPr eaLnBrk="1" hangingPunct="1"/>
              <a:t>1</a:t>
            </a:fld>
            <a:endParaRPr lang="en-US" altLang="zh-TW" sz="1200">
              <a:latin typeface="Arial" panose="020B0604020202020204" pitchFamily="34" charset="0"/>
              <a:ea typeface="新細明體" panose="02020500000000000000" pitchFamily="18" charset="-120"/>
            </a:endParaRPr>
          </a:p>
        </p:txBody>
      </p:sp>
      <p:sp>
        <p:nvSpPr>
          <p:cNvPr id="59395" name="Rectangle 2">
            <a:extLst>
              <a:ext uri="{FF2B5EF4-FFF2-40B4-BE49-F238E27FC236}">
                <a16:creationId xmlns:a16="http://schemas.microsoft.com/office/drawing/2014/main" id="{FA7B7A3A-D0D7-796F-1422-30F2238D20B4}"/>
              </a:ext>
            </a:extLst>
          </p:cNvPr>
          <p:cNvSpPr>
            <a:spLocks noGrp="1" noRot="1" noChangeAspect="1" noChangeArrowheads="1" noTextEdit="1"/>
          </p:cNvSpPr>
          <p:nvPr>
            <p:ph type="sldImg"/>
          </p:nvPr>
        </p:nvSpPr>
        <p:spPr>
          <a:xfrm>
            <a:off x="917575" y="744538"/>
            <a:ext cx="4962525" cy="3722687"/>
          </a:xfrm>
          <a:ln/>
        </p:spPr>
      </p:sp>
      <p:sp>
        <p:nvSpPr>
          <p:cNvPr id="59396" name="Rectangle 3">
            <a:extLst>
              <a:ext uri="{FF2B5EF4-FFF2-40B4-BE49-F238E27FC236}">
                <a16:creationId xmlns:a16="http://schemas.microsoft.com/office/drawing/2014/main" id="{A22879A9-9808-6528-0A0D-CD72CC20837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en-US" dirty="0">
              <a:latin typeface="Arial" panose="020B0604020202020204" pitchFamily="34" charset="0"/>
              <a:ea typeface="新細明體" panose="02020500000000000000" pitchFamily="18" charset="-12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1921498F-7EE4-174C-80ED-B7DA5148399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ahoma" panose="020B0604030504040204" pitchFamily="34" charset="0"/>
                <a:ea typeface="標楷體" panose="03000509000000000000" pitchFamily="65" charset="-120"/>
              </a:defRPr>
            </a:lvl1pPr>
            <a:lvl2pPr marL="742950" indent="-285750" eaLnBrk="0" hangingPunct="0">
              <a:defRPr kumimoji="1" sz="2400">
                <a:solidFill>
                  <a:schemeClr val="tx1"/>
                </a:solidFill>
                <a:latin typeface="Tahoma" panose="020B0604030504040204" pitchFamily="34" charset="0"/>
                <a:ea typeface="標楷體" panose="03000509000000000000" pitchFamily="65" charset="-120"/>
              </a:defRPr>
            </a:lvl2pPr>
            <a:lvl3pPr marL="1143000" indent="-228600" eaLnBrk="0" hangingPunct="0">
              <a:defRPr kumimoji="1" sz="2400">
                <a:solidFill>
                  <a:schemeClr val="tx1"/>
                </a:solidFill>
                <a:latin typeface="Tahoma" panose="020B0604030504040204" pitchFamily="34" charset="0"/>
                <a:ea typeface="標楷體" panose="03000509000000000000" pitchFamily="65" charset="-120"/>
              </a:defRPr>
            </a:lvl3pPr>
            <a:lvl4pPr marL="1600200" indent="-228600" eaLnBrk="0" hangingPunct="0">
              <a:defRPr kumimoji="1" sz="2400">
                <a:solidFill>
                  <a:schemeClr val="tx1"/>
                </a:solidFill>
                <a:latin typeface="Tahoma" panose="020B0604030504040204" pitchFamily="34" charset="0"/>
                <a:ea typeface="標楷體" panose="03000509000000000000" pitchFamily="65" charset="-120"/>
              </a:defRPr>
            </a:lvl4pPr>
            <a:lvl5pPr marL="2057400" indent="-228600" eaLnBrk="0" hangingPunct="0">
              <a:defRPr kumimoji="1" sz="24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9pPr>
          </a:lstStyle>
          <a:p>
            <a:pPr eaLnBrk="1" hangingPunct="1"/>
            <a:fld id="{3D0123E9-DB34-4DF4-8D93-43DDF2BF8F60}" type="slidenum">
              <a:rPr lang="en-US" altLang="zh-TW" sz="1200">
                <a:latin typeface="Arial" panose="020B0604020202020204" pitchFamily="34" charset="0"/>
                <a:ea typeface="新細明體" panose="02020500000000000000" pitchFamily="18" charset="-120"/>
              </a:rPr>
              <a:pPr eaLnBrk="1" hangingPunct="1"/>
              <a:t>2</a:t>
            </a:fld>
            <a:endParaRPr lang="en-US" altLang="zh-TW" sz="1200">
              <a:latin typeface="Arial" panose="020B0604020202020204" pitchFamily="34" charset="0"/>
              <a:ea typeface="新細明體" panose="02020500000000000000" pitchFamily="18" charset="-120"/>
            </a:endParaRPr>
          </a:p>
        </p:txBody>
      </p:sp>
      <p:sp>
        <p:nvSpPr>
          <p:cNvPr id="60419" name="Rectangle 2">
            <a:extLst>
              <a:ext uri="{FF2B5EF4-FFF2-40B4-BE49-F238E27FC236}">
                <a16:creationId xmlns:a16="http://schemas.microsoft.com/office/drawing/2014/main" id="{D1A8DDD0-36C2-E960-B6F6-E8772D4DCC29}"/>
              </a:ext>
            </a:extLst>
          </p:cNvPr>
          <p:cNvSpPr>
            <a:spLocks noGrp="1" noRot="1" noChangeAspect="1" noChangeArrowheads="1" noTextEdit="1"/>
          </p:cNvSpPr>
          <p:nvPr>
            <p:ph type="sldImg"/>
          </p:nvPr>
        </p:nvSpPr>
        <p:spPr>
          <a:xfrm>
            <a:off x="917575" y="744538"/>
            <a:ext cx="4962525" cy="3722687"/>
          </a:xfrm>
          <a:ln/>
        </p:spPr>
      </p:sp>
      <p:sp>
        <p:nvSpPr>
          <p:cNvPr id="60420" name="Rectangle 3">
            <a:extLst>
              <a:ext uri="{FF2B5EF4-FFF2-40B4-BE49-F238E27FC236}">
                <a16:creationId xmlns:a16="http://schemas.microsoft.com/office/drawing/2014/main" id="{7AFE400E-FA67-E9ED-1F1E-FC2DDABD9E3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endParaRPr lang="zh-TW" altLang="zh-TW">
              <a:solidFill>
                <a:schemeClr val="folHlink"/>
              </a:solidFill>
              <a:latin typeface="Times New Roman" panose="02020603050405020304" pitchFamily="18" charset="0"/>
              <a:ea typeface="新細明體" panose="02020500000000000000" pitchFamily="18" charset="-12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08941BCC-0EE5-DA1C-5EFD-2320C6835DF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ahoma" panose="020B0604030504040204" pitchFamily="34" charset="0"/>
                <a:ea typeface="標楷體" panose="03000509000000000000" pitchFamily="65" charset="-120"/>
              </a:defRPr>
            </a:lvl1pPr>
            <a:lvl2pPr marL="742950" indent="-285750" eaLnBrk="0" hangingPunct="0">
              <a:defRPr kumimoji="1" sz="2400">
                <a:solidFill>
                  <a:schemeClr val="tx1"/>
                </a:solidFill>
                <a:latin typeface="Tahoma" panose="020B0604030504040204" pitchFamily="34" charset="0"/>
                <a:ea typeface="標楷體" panose="03000509000000000000" pitchFamily="65" charset="-120"/>
              </a:defRPr>
            </a:lvl2pPr>
            <a:lvl3pPr marL="1143000" indent="-228600" eaLnBrk="0" hangingPunct="0">
              <a:defRPr kumimoji="1" sz="2400">
                <a:solidFill>
                  <a:schemeClr val="tx1"/>
                </a:solidFill>
                <a:latin typeface="Tahoma" panose="020B0604030504040204" pitchFamily="34" charset="0"/>
                <a:ea typeface="標楷體" panose="03000509000000000000" pitchFamily="65" charset="-120"/>
              </a:defRPr>
            </a:lvl3pPr>
            <a:lvl4pPr marL="1600200" indent="-228600" eaLnBrk="0" hangingPunct="0">
              <a:defRPr kumimoji="1" sz="2400">
                <a:solidFill>
                  <a:schemeClr val="tx1"/>
                </a:solidFill>
                <a:latin typeface="Tahoma" panose="020B0604030504040204" pitchFamily="34" charset="0"/>
                <a:ea typeface="標楷體" panose="03000509000000000000" pitchFamily="65" charset="-120"/>
              </a:defRPr>
            </a:lvl4pPr>
            <a:lvl5pPr marL="2057400" indent="-228600" eaLnBrk="0" hangingPunct="0">
              <a:defRPr kumimoji="1" sz="24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9pPr>
          </a:lstStyle>
          <a:p>
            <a:pPr eaLnBrk="1" hangingPunct="1"/>
            <a:fld id="{0A193BAD-879C-4FA0-B635-74ABD4D68D7D}" type="slidenum">
              <a:rPr lang="en-US" altLang="zh-TW" sz="1200">
                <a:latin typeface="Arial" panose="020B0604020202020204" pitchFamily="34" charset="0"/>
                <a:ea typeface="新細明體" panose="02020500000000000000" pitchFamily="18" charset="-120"/>
              </a:rPr>
              <a:pPr eaLnBrk="1" hangingPunct="1"/>
              <a:t>11</a:t>
            </a:fld>
            <a:endParaRPr lang="en-US" altLang="zh-TW" sz="1200">
              <a:latin typeface="Arial" panose="020B0604020202020204" pitchFamily="34" charset="0"/>
              <a:ea typeface="新細明體" panose="02020500000000000000" pitchFamily="18" charset="-120"/>
            </a:endParaRPr>
          </a:p>
        </p:txBody>
      </p:sp>
      <p:sp>
        <p:nvSpPr>
          <p:cNvPr id="61443" name="Rectangle 2">
            <a:extLst>
              <a:ext uri="{FF2B5EF4-FFF2-40B4-BE49-F238E27FC236}">
                <a16:creationId xmlns:a16="http://schemas.microsoft.com/office/drawing/2014/main" id="{5AB4E3C1-DA7D-13C9-A35D-DC0573D7A33D}"/>
              </a:ext>
            </a:extLst>
          </p:cNvPr>
          <p:cNvSpPr>
            <a:spLocks noGrp="1" noRot="1" noChangeAspect="1" noChangeArrowheads="1" noTextEdit="1"/>
          </p:cNvSpPr>
          <p:nvPr>
            <p:ph type="sldImg"/>
          </p:nvPr>
        </p:nvSpPr>
        <p:spPr>
          <a:xfrm>
            <a:off x="917575" y="744538"/>
            <a:ext cx="4962525" cy="3722687"/>
          </a:xfrm>
          <a:ln/>
        </p:spPr>
      </p:sp>
      <p:sp>
        <p:nvSpPr>
          <p:cNvPr id="61444" name="Rectangle 3">
            <a:extLst>
              <a:ext uri="{FF2B5EF4-FFF2-40B4-BE49-F238E27FC236}">
                <a16:creationId xmlns:a16="http://schemas.microsoft.com/office/drawing/2014/main" id="{149CB9D6-B0FD-3EA9-3A9A-1613C9DB695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en-US">
              <a:latin typeface="Arial" panose="020B0604020202020204" pitchFamily="34" charset="0"/>
              <a:ea typeface="新細明體" panose="02020500000000000000" pitchFamily="18" charset="-12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C78DA2A2-4266-F1EF-F25A-F31E04C1C7E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ahoma" panose="020B0604030504040204" pitchFamily="34" charset="0"/>
                <a:ea typeface="標楷體" panose="03000509000000000000" pitchFamily="65" charset="-120"/>
              </a:defRPr>
            </a:lvl1pPr>
            <a:lvl2pPr marL="742950" indent="-285750" eaLnBrk="0" hangingPunct="0">
              <a:defRPr kumimoji="1" sz="2400">
                <a:solidFill>
                  <a:schemeClr val="tx1"/>
                </a:solidFill>
                <a:latin typeface="Tahoma" panose="020B0604030504040204" pitchFamily="34" charset="0"/>
                <a:ea typeface="標楷體" panose="03000509000000000000" pitchFamily="65" charset="-120"/>
              </a:defRPr>
            </a:lvl2pPr>
            <a:lvl3pPr marL="1143000" indent="-228600" eaLnBrk="0" hangingPunct="0">
              <a:defRPr kumimoji="1" sz="2400">
                <a:solidFill>
                  <a:schemeClr val="tx1"/>
                </a:solidFill>
                <a:latin typeface="Tahoma" panose="020B0604030504040204" pitchFamily="34" charset="0"/>
                <a:ea typeface="標楷體" panose="03000509000000000000" pitchFamily="65" charset="-120"/>
              </a:defRPr>
            </a:lvl3pPr>
            <a:lvl4pPr marL="1600200" indent="-228600" eaLnBrk="0" hangingPunct="0">
              <a:defRPr kumimoji="1" sz="2400">
                <a:solidFill>
                  <a:schemeClr val="tx1"/>
                </a:solidFill>
                <a:latin typeface="Tahoma" panose="020B0604030504040204" pitchFamily="34" charset="0"/>
                <a:ea typeface="標楷體" panose="03000509000000000000" pitchFamily="65" charset="-120"/>
              </a:defRPr>
            </a:lvl4pPr>
            <a:lvl5pPr marL="2057400" indent="-228600" eaLnBrk="0" hangingPunct="0">
              <a:defRPr kumimoji="1" sz="24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9pPr>
          </a:lstStyle>
          <a:p>
            <a:pPr eaLnBrk="1" hangingPunct="1"/>
            <a:fld id="{C728195A-C924-43E5-8627-0462833D8D3A}" type="slidenum">
              <a:rPr lang="en-US" altLang="zh-TW" sz="1200">
                <a:latin typeface="Arial" panose="020B0604020202020204" pitchFamily="34" charset="0"/>
                <a:ea typeface="新細明體" panose="02020500000000000000" pitchFamily="18" charset="-120"/>
              </a:rPr>
              <a:pPr eaLnBrk="1" hangingPunct="1"/>
              <a:t>12</a:t>
            </a:fld>
            <a:endParaRPr lang="en-US" altLang="zh-TW" sz="1200">
              <a:latin typeface="Arial" panose="020B0604020202020204" pitchFamily="34" charset="0"/>
              <a:ea typeface="新細明體" panose="02020500000000000000" pitchFamily="18" charset="-120"/>
            </a:endParaRPr>
          </a:p>
        </p:txBody>
      </p:sp>
      <p:sp>
        <p:nvSpPr>
          <p:cNvPr id="62467" name="Rectangle 2">
            <a:extLst>
              <a:ext uri="{FF2B5EF4-FFF2-40B4-BE49-F238E27FC236}">
                <a16:creationId xmlns:a16="http://schemas.microsoft.com/office/drawing/2014/main" id="{8E7B0E76-4642-573D-AFDF-78BDF1758E93}"/>
              </a:ext>
            </a:extLst>
          </p:cNvPr>
          <p:cNvSpPr>
            <a:spLocks noGrp="1" noRot="1" noChangeAspect="1" noChangeArrowheads="1" noTextEdit="1"/>
          </p:cNvSpPr>
          <p:nvPr>
            <p:ph type="sldImg"/>
          </p:nvPr>
        </p:nvSpPr>
        <p:spPr>
          <a:xfrm>
            <a:off x="917575" y="744538"/>
            <a:ext cx="4962525" cy="3722687"/>
          </a:xfrm>
          <a:ln/>
        </p:spPr>
      </p:sp>
      <p:sp>
        <p:nvSpPr>
          <p:cNvPr id="62468" name="Rectangle 3">
            <a:extLst>
              <a:ext uri="{FF2B5EF4-FFF2-40B4-BE49-F238E27FC236}">
                <a16:creationId xmlns:a16="http://schemas.microsoft.com/office/drawing/2014/main" id="{1C25656C-B477-AF80-D2DC-B5C63215254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en-US">
              <a:latin typeface="Arial" panose="020B0604020202020204" pitchFamily="34" charset="0"/>
              <a:ea typeface="新細明體" panose="02020500000000000000" pitchFamily="18" charset="-12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917575" y="744538"/>
            <a:ext cx="4962525" cy="3722687"/>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B2298BAC-DC71-4C2A-A58A-2D2CEC68B6EA}" type="slidenum">
              <a:rPr lang="en-US" altLang="zh-TW" smtClean="0"/>
              <a:pPr/>
              <a:t>13</a:t>
            </a:fld>
            <a:endParaRPr lang="en-US" altLang="zh-TW"/>
          </a:p>
        </p:txBody>
      </p:sp>
    </p:spTree>
    <p:extLst>
      <p:ext uri="{BB962C8B-B14F-4D97-AF65-F5344CB8AC3E}">
        <p14:creationId xmlns:p14="http://schemas.microsoft.com/office/powerpoint/2010/main" val="39655399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917575" y="744538"/>
            <a:ext cx="4962525" cy="3722687"/>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B2298BAC-DC71-4C2A-A58A-2D2CEC68B6EA}" type="slidenum">
              <a:rPr lang="en-US" altLang="zh-TW" smtClean="0"/>
              <a:pPr/>
              <a:t>20</a:t>
            </a:fld>
            <a:endParaRPr lang="en-US" altLang="zh-TW"/>
          </a:p>
        </p:txBody>
      </p:sp>
    </p:spTree>
    <p:extLst>
      <p:ext uri="{BB962C8B-B14F-4D97-AF65-F5344CB8AC3E}">
        <p14:creationId xmlns:p14="http://schemas.microsoft.com/office/powerpoint/2010/main" val="40109808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917575" y="744538"/>
            <a:ext cx="4962525" cy="3722687"/>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B2298BAC-DC71-4C2A-A58A-2D2CEC68B6EA}" type="slidenum">
              <a:rPr lang="en-US" altLang="zh-TW" smtClean="0"/>
              <a:pPr/>
              <a:t>24</a:t>
            </a:fld>
            <a:endParaRPr lang="en-US" altLang="zh-TW"/>
          </a:p>
        </p:txBody>
      </p:sp>
    </p:spTree>
    <p:extLst>
      <p:ext uri="{BB962C8B-B14F-4D97-AF65-F5344CB8AC3E}">
        <p14:creationId xmlns:p14="http://schemas.microsoft.com/office/powerpoint/2010/main" val="17249325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8A5527E9-C8CC-6E7E-C1E0-957094529409}"/>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6537F8BC-1E6D-17A1-4184-3E905EFF6A8F}"/>
                </a:ext>
              </a:extLst>
            </p:cNvPr>
            <p:cNvGrpSpPr>
              <a:grpSpLocks/>
            </p:cNvGrpSpPr>
            <p:nvPr/>
          </p:nvGrpSpPr>
          <p:grpSpPr bwMode="auto">
            <a:xfrm>
              <a:off x="185" y="1604"/>
              <a:ext cx="449" cy="299"/>
              <a:chOff x="720" y="336"/>
              <a:chExt cx="624" cy="432"/>
            </a:xfrm>
          </p:grpSpPr>
          <p:sp>
            <p:nvSpPr>
              <p:cNvPr id="10" name="Rectangle 4">
                <a:extLst>
                  <a:ext uri="{FF2B5EF4-FFF2-40B4-BE49-F238E27FC236}">
                    <a16:creationId xmlns:a16="http://schemas.microsoft.com/office/drawing/2014/main" id="{E153CC49-003F-7C93-28FC-A9CCEBF02BD4}"/>
                  </a:ext>
                </a:extLst>
              </p:cNvPr>
              <p:cNvSpPr>
                <a:spLocks noChangeArrowheads="1"/>
              </p:cNvSpPr>
              <p:nvPr/>
            </p:nvSpPr>
            <p:spPr bwMode="auto">
              <a:xfrm>
                <a:off x="720" y="336"/>
                <a:ext cx="384" cy="432"/>
              </a:xfrm>
              <a:prstGeom prst="rect">
                <a:avLst/>
              </a:prstGeom>
              <a:solidFill>
                <a:schemeClr val="folHlink"/>
              </a:solidFill>
              <a:ln w="9525">
                <a:noFill/>
                <a:miter lim="800000"/>
                <a:headEnd/>
                <a:tailEnd/>
              </a:ln>
              <a:effectLst/>
            </p:spPr>
            <p:txBody>
              <a:bodyPr wrap="none" anchor="ctr"/>
              <a:lstStyle/>
              <a:p>
                <a:pPr>
                  <a:defRPr/>
                </a:pPr>
                <a:endParaRPr lang="zh-TW" altLang="en-US"/>
              </a:p>
            </p:txBody>
          </p:sp>
          <p:sp>
            <p:nvSpPr>
              <p:cNvPr id="11" name="Rectangle 5">
                <a:extLst>
                  <a:ext uri="{FF2B5EF4-FFF2-40B4-BE49-F238E27FC236}">
                    <a16:creationId xmlns:a16="http://schemas.microsoft.com/office/drawing/2014/main" id="{445780B5-9679-ABD2-3501-C617A8351B1B}"/>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defRPr/>
                </a:pPr>
                <a:endParaRPr lang="zh-TW" altLang="en-US"/>
              </a:p>
            </p:txBody>
          </p:sp>
        </p:grpSp>
        <p:grpSp>
          <p:nvGrpSpPr>
            <p:cNvPr id="4" name="Group 6">
              <a:extLst>
                <a:ext uri="{FF2B5EF4-FFF2-40B4-BE49-F238E27FC236}">
                  <a16:creationId xmlns:a16="http://schemas.microsoft.com/office/drawing/2014/main" id="{FF927699-2785-F3F5-6C79-54CBE5D03C83}"/>
                </a:ext>
              </a:extLst>
            </p:cNvPr>
            <p:cNvGrpSpPr>
              <a:grpSpLocks/>
            </p:cNvGrpSpPr>
            <p:nvPr/>
          </p:nvGrpSpPr>
          <p:grpSpPr bwMode="auto">
            <a:xfrm>
              <a:off x="263" y="1870"/>
              <a:ext cx="466" cy="299"/>
              <a:chOff x="912" y="2640"/>
              <a:chExt cx="672" cy="432"/>
            </a:xfrm>
          </p:grpSpPr>
          <p:sp>
            <p:nvSpPr>
              <p:cNvPr id="8" name="Rectangle 7">
                <a:extLst>
                  <a:ext uri="{FF2B5EF4-FFF2-40B4-BE49-F238E27FC236}">
                    <a16:creationId xmlns:a16="http://schemas.microsoft.com/office/drawing/2014/main" id="{5618F32B-2451-E9E9-1700-11671FFF9158}"/>
                  </a:ext>
                </a:extLst>
              </p:cNvPr>
              <p:cNvSpPr>
                <a:spLocks noChangeArrowheads="1"/>
              </p:cNvSpPr>
              <p:nvPr/>
            </p:nvSpPr>
            <p:spPr bwMode="auto">
              <a:xfrm>
                <a:off x="912" y="2640"/>
                <a:ext cx="384" cy="432"/>
              </a:xfrm>
              <a:prstGeom prst="rect">
                <a:avLst/>
              </a:prstGeom>
              <a:solidFill>
                <a:schemeClr val="accent2"/>
              </a:solidFill>
              <a:ln w="9525">
                <a:noFill/>
                <a:miter lim="800000"/>
                <a:headEnd/>
                <a:tailEnd/>
              </a:ln>
              <a:effectLst/>
            </p:spPr>
            <p:txBody>
              <a:bodyPr wrap="none" anchor="ctr"/>
              <a:lstStyle/>
              <a:p>
                <a:pPr>
                  <a:defRPr/>
                </a:pPr>
                <a:endParaRPr lang="zh-TW" altLang="en-US"/>
              </a:p>
            </p:txBody>
          </p:sp>
          <p:sp>
            <p:nvSpPr>
              <p:cNvPr id="9" name="Rectangle 8">
                <a:extLst>
                  <a:ext uri="{FF2B5EF4-FFF2-40B4-BE49-F238E27FC236}">
                    <a16:creationId xmlns:a16="http://schemas.microsoft.com/office/drawing/2014/main" id="{0EF5337D-B1F9-0C0C-F3B8-7DD32E9D52F5}"/>
                  </a:ext>
                </a:extLst>
              </p:cNvPr>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defRPr/>
                </a:pPr>
                <a:endParaRPr lang="zh-TW" altLang="en-US"/>
              </a:p>
            </p:txBody>
          </p:sp>
        </p:grpSp>
        <p:sp>
          <p:nvSpPr>
            <p:cNvPr id="5" name="Rectangle 9">
              <a:extLst>
                <a:ext uri="{FF2B5EF4-FFF2-40B4-BE49-F238E27FC236}">
                  <a16:creationId xmlns:a16="http://schemas.microsoft.com/office/drawing/2014/main" id="{88C8BE60-3D9A-D5AA-B572-90AE4FDCD70F}"/>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defRPr/>
              </a:pPr>
              <a:endParaRPr lang="zh-TW" altLang="en-US"/>
            </a:p>
          </p:txBody>
        </p:sp>
        <p:sp>
          <p:nvSpPr>
            <p:cNvPr id="6" name="Rectangle 10">
              <a:extLst>
                <a:ext uri="{FF2B5EF4-FFF2-40B4-BE49-F238E27FC236}">
                  <a16:creationId xmlns:a16="http://schemas.microsoft.com/office/drawing/2014/main" id="{BFD3E203-A1E5-3D3D-7D48-C596A5D11C07}"/>
                </a:ext>
              </a:extLst>
            </p:cNvPr>
            <p:cNvSpPr>
              <a:spLocks noChangeArrowheads="1"/>
            </p:cNvSpPr>
            <p:nvPr/>
          </p:nvSpPr>
          <p:spPr bwMode="auto">
            <a:xfrm>
              <a:off x="400" y="1536"/>
              <a:ext cx="20" cy="663"/>
            </a:xfrm>
            <a:prstGeom prst="rect">
              <a:avLst/>
            </a:prstGeom>
            <a:solidFill>
              <a:schemeClr val="bg2"/>
            </a:solidFill>
            <a:ln w="9525">
              <a:noFill/>
              <a:miter lim="800000"/>
              <a:headEnd/>
              <a:tailEnd/>
            </a:ln>
            <a:effectLst/>
          </p:spPr>
          <p:txBody>
            <a:bodyPr wrap="none" anchor="ctr"/>
            <a:lstStyle/>
            <a:p>
              <a:pPr>
                <a:defRPr/>
              </a:pPr>
              <a:endParaRPr lang="zh-TW" altLang="en-US"/>
            </a:p>
          </p:txBody>
        </p:sp>
        <p:sp>
          <p:nvSpPr>
            <p:cNvPr id="7" name="Rectangle 11">
              <a:extLst>
                <a:ext uri="{FF2B5EF4-FFF2-40B4-BE49-F238E27FC236}">
                  <a16:creationId xmlns:a16="http://schemas.microsoft.com/office/drawing/2014/main" id="{E6DACF26-97B4-4C16-EEE6-996421E44298}"/>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defRPr/>
              </a:pPr>
              <a:endParaRPr lang="zh-TW" altLang="en-US"/>
            </a:p>
          </p:txBody>
        </p:sp>
      </p:grpSp>
      <p:sp>
        <p:nvSpPr>
          <p:cNvPr id="22540" name="Rectangle 12"/>
          <p:cNvSpPr>
            <a:spLocks noGrp="1" noChangeArrowheads="1"/>
          </p:cNvSpPr>
          <p:nvPr>
            <p:ph type="ctrTitle"/>
          </p:nvPr>
        </p:nvSpPr>
        <p:spPr>
          <a:xfrm>
            <a:off x="990600" y="1676400"/>
            <a:ext cx="7772400" cy="1462088"/>
          </a:xfrm>
        </p:spPr>
        <p:txBody>
          <a:bodyPr/>
          <a:lstStyle>
            <a:lvl1pPr>
              <a:defRPr/>
            </a:lvl1pPr>
          </a:lstStyle>
          <a:p>
            <a:r>
              <a:rPr lang="zh-TW" altLang="en-US"/>
              <a:t>按一下以編輯母片標題樣式</a:t>
            </a:r>
          </a:p>
        </p:txBody>
      </p:sp>
      <p:sp>
        <p:nvSpPr>
          <p:cNvPr id="22541"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zh-TW" altLang="en-US"/>
              <a:t>按一下以編輯母片副標題樣式</a:t>
            </a:r>
          </a:p>
        </p:txBody>
      </p:sp>
      <p:sp>
        <p:nvSpPr>
          <p:cNvPr id="12" name="Rectangle 14">
            <a:extLst>
              <a:ext uri="{FF2B5EF4-FFF2-40B4-BE49-F238E27FC236}">
                <a16:creationId xmlns:a16="http://schemas.microsoft.com/office/drawing/2014/main" id="{B2064B05-DB7C-3198-4DFB-3C7A3BBE46EC}"/>
              </a:ext>
            </a:extLst>
          </p:cNvPr>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ltLang="zh-TW"/>
          </a:p>
        </p:txBody>
      </p:sp>
      <p:sp>
        <p:nvSpPr>
          <p:cNvPr id="13" name="Rectangle 15">
            <a:extLst>
              <a:ext uri="{FF2B5EF4-FFF2-40B4-BE49-F238E27FC236}">
                <a16:creationId xmlns:a16="http://schemas.microsoft.com/office/drawing/2014/main" id="{C2238D12-5B36-4E3B-BBA3-81F520D8303A}"/>
              </a:ext>
            </a:extLst>
          </p:cNvPr>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ltLang="zh-TW"/>
          </a:p>
        </p:txBody>
      </p:sp>
      <p:sp>
        <p:nvSpPr>
          <p:cNvPr id="14" name="Rectangle 16">
            <a:extLst>
              <a:ext uri="{FF2B5EF4-FFF2-40B4-BE49-F238E27FC236}">
                <a16:creationId xmlns:a16="http://schemas.microsoft.com/office/drawing/2014/main" id="{E6157BC3-C9B3-B17B-A4EC-AC102ACEBA22}"/>
              </a:ext>
            </a:extLst>
          </p:cNvPr>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fld id="{38ED7D7A-1B84-4E2E-9095-1941458C5C49}" type="slidenum">
              <a:rPr lang="en-US" altLang="zh-TW"/>
              <a:pPr/>
              <a:t>‹#›</a:t>
            </a:fld>
            <a:endParaRPr lang="en-US" altLang="zh-TW"/>
          </a:p>
        </p:txBody>
      </p:sp>
    </p:spTree>
    <p:extLst>
      <p:ext uri="{BB962C8B-B14F-4D97-AF65-F5344CB8AC3E}">
        <p14:creationId xmlns:p14="http://schemas.microsoft.com/office/powerpoint/2010/main" val="20234632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Rectangle 11">
            <a:extLst>
              <a:ext uri="{FF2B5EF4-FFF2-40B4-BE49-F238E27FC236}">
                <a16:creationId xmlns:a16="http://schemas.microsoft.com/office/drawing/2014/main" id="{C578F162-370A-131E-7344-262428E2FCEE}"/>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12">
            <a:extLst>
              <a:ext uri="{FF2B5EF4-FFF2-40B4-BE49-F238E27FC236}">
                <a16:creationId xmlns:a16="http://schemas.microsoft.com/office/drawing/2014/main" id="{178D626F-E8D3-575C-B586-16D0D3F22CCF}"/>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13">
            <a:extLst>
              <a:ext uri="{FF2B5EF4-FFF2-40B4-BE49-F238E27FC236}">
                <a16:creationId xmlns:a16="http://schemas.microsoft.com/office/drawing/2014/main" id="{FB681D52-5304-4277-CB42-3ED6AFBBA628}"/>
              </a:ext>
            </a:extLst>
          </p:cNvPr>
          <p:cNvSpPr>
            <a:spLocks noGrp="1" noChangeArrowheads="1"/>
          </p:cNvSpPr>
          <p:nvPr>
            <p:ph type="sldNum" sz="quarter" idx="12"/>
          </p:nvPr>
        </p:nvSpPr>
        <p:spPr>
          <a:ln/>
        </p:spPr>
        <p:txBody>
          <a:bodyPr/>
          <a:lstStyle>
            <a:lvl1pPr>
              <a:defRPr/>
            </a:lvl1pPr>
          </a:lstStyle>
          <a:p>
            <a:fld id="{0EB64762-54F4-4118-8F26-EE8BCEE8F582}" type="slidenum">
              <a:rPr lang="en-US" altLang="zh-TW"/>
              <a:pPr/>
              <a:t>‹#›</a:t>
            </a:fld>
            <a:endParaRPr lang="en-US" altLang="zh-TW"/>
          </a:p>
        </p:txBody>
      </p:sp>
    </p:spTree>
    <p:extLst>
      <p:ext uri="{BB962C8B-B14F-4D97-AF65-F5344CB8AC3E}">
        <p14:creationId xmlns:p14="http://schemas.microsoft.com/office/powerpoint/2010/main" val="27078263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a:t>按一下以編輯母片文字樣式</a:t>
            </a:r>
          </a:p>
        </p:txBody>
      </p:sp>
      <p:sp>
        <p:nvSpPr>
          <p:cNvPr id="4" name="Rectangle 11">
            <a:extLst>
              <a:ext uri="{FF2B5EF4-FFF2-40B4-BE49-F238E27FC236}">
                <a16:creationId xmlns:a16="http://schemas.microsoft.com/office/drawing/2014/main" id="{FD388062-2089-3191-8E0F-BDF135CCF98D}"/>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12">
            <a:extLst>
              <a:ext uri="{FF2B5EF4-FFF2-40B4-BE49-F238E27FC236}">
                <a16:creationId xmlns:a16="http://schemas.microsoft.com/office/drawing/2014/main" id="{B04149C8-DA69-D3B9-6222-B2182233D91D}"/>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13">
            <a:extLst>
              <a:ext uri="{FF2B5EF4-FFF2-40B4-BE49-F238E27FC236}">
                <a16:creationId xmlns:a16="http://schemas.microsoft.com/office/drawing/2014/main" id="{C78F3576-90B9-F39E-D4D1-011181DB57B5}"/>
              </a:ext>
            </a:extLst>
          </p:cNvPr>
          <p:cNvSpPr>
            <a:spLocks noGrp="1" noChangeArrowheads="1"/>
          </p:cNvSpPr>
          <p:nvPr>
            <p:ph type="sldNum" sz="quarter" idx="12"/>
          </p:nvPr>
        </p:nvSpPr>
        <p:spPr>
          <a:ln/>
        </p:spPr>
        <p:txBody>
          <a:bodyPr/>
          <a:lstStyle>
            <a:lvl1pPr>
              <a:defRPr/>
            </a:lvl1pPr>
          </a:lstStyle>
          <a:p>
            <a:fld id="{72F2797B-3508-416E-A236-66FB191BF171}" type="slidenum">
              <a:rPr lang="en-US" altLang="zh-TW"/>
              <a:pPr/>
              <a:t>‹#›</a:t>
            </a:fld>
            <a:endParaRPr lang="en-US" altLang="zh-TW"/>
          </a:p>
        </p:txBody>
      </p:sp>
    </p:spTree>
    <p:extLst>
      <p:ext uri="{BB962C8B-B14F-4D97-AF65-F5344CB8AC3E}">
        <p14:creationId xmlns:p14="http://schemas.microsoft.com/office/powerpoint/2010/main" val="11601076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Rectangle 11">
            <a:extLst>
              <a:ext uri="{FF2B5EF4-FFF2-40B4-BE49-F238E27FC236}">
                <a16:creationId xmlns:a16="http://schemas.microsoft.com/office/drawing/2014/main" id="{95F8CC6C-6975-CB42-1A91-9FE21B6EA6C1}"/>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12">
            <a:extLst>
              <a:ext uri="{FF2B5EF4-FFF2-40B4-BE49-F238E27FC236}">
                <a16:creationId xmlns:a16="http://schemas.microsoft.com/office/drawing/2014/main" id="{D84B260B-849E-84DF-7175-C5D8CD9C714B}"/>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7" name="Rectangle 13">
            <a:extLst>
              <a:ext uri="{FF2B5EF4-FFF2-40B4-BE49-F238E27FC236}">
                <a16:creationId xmlns:a16="http://schemas.microsoft.com/office/drawing/2014/main" id="{0A4764DF-203C-CD9E-3781-F05C985F62D3}"/>
              </a:ext>
            </a:extLst>
          </p:cNvPr>
          <p:cNvSpPr>
            <a:spLocks noGrp="1" noChangeArrowheads="1"/>
          </p:cNvSpPr>
          <p:nvPr>
            <p:ph type="sldNum" sz="quarter" idx="12"/>
          </p:nvPr>
        </p:nvSpPr>
        <p:spPr>
          <a:ln/>
        </p:spPr>
        <p:txBody>
          <a:bodyPr/>
          <a:lstStyle>
            <a:lvl1pPr>
              <a:defRPr/>
            </a:lvl1pPr>
          </a:lstStyle>
          <a:p>
            <a:fld id="{AB5889A5-A61F-49B6-AD01-AFDDAD1121CF}" type="slidenum">
              <a:rPr lang="en-US" altLang="zh-TW"/>
              <a:pPr/>
              <a:t>‹#›</a:t>
            </a:fld>
            <a:endParaRPr lang="en-US" altLang="zh-TW"/>
          </a:p>
        </p:txBody>
      </p:sp>
    </p:spTree>
    <p:extLst>
      <p:ext uri="{BB962C8B-B14F-4D97-AF65-F5344CB8AC3E}">
        <p14:creationId xmlns:p14="http://schemas.microsoft.com/office/powerpoint/2010/main" val="1383744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Rectangle 11">
            <a:extLst>
              <a:ext uri="{FF2B5EF4-FFF2-40B4-BE49-F238E27FC236}">
                <a16:creationId xmlns:a16="http://schemas.microsoft.com/office/drawing/2014/main" id="{C6ADD5CD-4FC9-A65E-E024-51FB24393548}"/>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8" name="Rectangle 12">
            <a:extLst>
              <a:ext uri="{FF2B5EF4-FFF2-40B4-BE49-F238E27FC236}">
                <a16:creationId xmlns:a16="http://schemas.microsoft.com/office/drawing/2014/main" id="{A556BEAC-E8CA-6496-4618-4460904E8D7F}"/>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9" name="Rectangle 13">
            <a:extLst>
              <a:ext uri="{FF2B5EF4-FFF2-40B4-BE49-F238E27FC236}">
                <a16:creationId xmlns:a16="http://schemas.microsoft.com/office/drawing/2014/main" id="{928DD486-C3F4-EF4D-C906-F20BEE86828F}"/>
              </a:ext>
            </a:extLst>
          </p:cNvPr>
          <p:cNvSpPr>
            <a:spLocks noGrp="1" noChangeArrowheads="1"/>
          </p:cNvSpPr>
          <p:nvPr>
            <p:ph type="sldNum" sz="quarter" idx="12"/>
          </p:nvPr>
        </p:nvSpPr>
        <p:spPr>
          <a:ln/>
        </p:spPr>
        <p:txBody>
          <a:bodyPr/>
          <a:lstStyle>
            <a:lvl1pPr>
              <a:defRPr/>
            </a:lvl1pPr>
          </a:lstStyle>
          <a:p>
            <a:fld id="{D8D90A0B-8965-47C9-A9CF-4B14FD298EFC}" type="slidenum">
              <a:rPr lang="en-US" altLang="zh-TW"/>
              <a:pPr/>
              <a:t>‹#›</a:t>
            </a:fld>
            <a:endParaRPr lang="en-US" altLang="zh-TW"/>
          </a:p>
        </p:txBody>
      </p:sp>
    </p:spTree>
    <p:extLst>
      <p:ext uri="{BB962C8B-B14F-4D97-AF65-F5344CB8AC3E}">
        <p14:creationId xmlns:p14="http://schemas.microsoft.com/office/powerpoint/2010/main" val="31223048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Rectangle 11">
            <a:extLst>
              <a:ext uri="{FF2B5EF4-FFF2-40B4-BE49-F238E27FC236}">
                <a16:creationId xmlns:a16="http://schemas.microsoft.com/office/drawing/2014/main" id="{E63AA47B-C9D3-CB68-EEC9-EA900F3C44F4}"/>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4" name="Rectangle 12">
            <a:extLst>
              <a:ext uri="{FF2B5EF4-FFF2-40B4-BE49-F238E27FC236}">
                <a16:creationId xmlns:a16="http://schemas.microsoft.com/office/drawing/2014/main" id="{3591575B-D579-7523-E621-55297F11B88E}"/>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5" name="Rectangle 13">
            <a:extLst>
              <a:ext uri="{FF2B5EF4-FFF2-40B4-BE49-F238E27FC236}">
                <a16:creationId xmlns:a16="http://schemas.microsoft.com/office/drawing/2014/main" id="{DCD19200-9393-C939-1104-C341211A5F3C}"/>
              </a:ext>
            </a:extLst>
          </p:cNvPr>
          <p:cNvSpPr>
            <a:spLocks noGrp="1" noChangeArrowheads="1"/>
          </p:cNvSpPr>
          <p:nvPr>
            <p:ph type="sldNum" sz="quarter" idx="12"/>
          </p:nvPr>
        </p:nvSpPr>
        <p:spPr>
          <a:ln/>
        </p:spPr>
        <p:txBody>
          <a:bodyPr/>
          <a:lstStyle>
            <a:lvl1pPr>
              <a:defRPr/>
            </a:lvl1pPr>
          </a:lstStyle>
          <a:p>
            <a:fld id="{35241A3D-819B-4520-BCBF-8CD2578E7543}" type="slidenum">
              <a:rPr lang="en-US" altLang="zh-TW"/>
              <a:pPr/>
              <a:t>‹#›</a:t>
            </a:fld>
            <a:endParaRPr lang="en-US" altLang="zh-TW"/>
          </a:p>
        </p:txBody>
      </p:sp>
    </p:spTree>
    <p:extLst>
      <p:ext uri="{BB962C8B-B14F-4D97-AF65-F5344CB8AC3E}">
        <p14:creationId xmlns:p14="http://schemas.microsoft.com/office/powerpoint/2010/main" val="1757163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344761AA-B3D8-B6CE-0CC5-7AA3E55F58B5}"/>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3" name="Rectangle 12">
            <a:extLst>
              <a:ext uri="{FF2B5EF4-FFF2-40B4-BE49-F238E27FC236}">
                <a16:creationId xmlns:a16="http://schemas.microsoft.com/office/drawing/2014/main" id="{BBA7F585-9BA1-985F-FFB3-675192390571}"/>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4" name="Rectangle 13">
            <a:extLst>
              <a:ext uri="{FF2B5EF4-FFF2-40B4-BE49-F238E27FC236}">
                <a16:creationId xmlns:a16="http://schemas.microsoft.com/office/drawing/2014/main" id="{DAB38B65-338A-02F4-F2F5-80DFD799A9C1}"/>
              </a:ext>
            </a:extLst>
          </p:cNvPr>
          <p:cNvSpPr>
            <a:spLocks noGrp="1" noChangeArrowheads="1"/>
          </p:cNvSpPr>
          <p:nvPr>
            <p:ph type="sldNum" sz="quarter" idx="12"/>
          </p:nvPr>
        </p:nvSpPr>
        <p:spPr>
          <a:ln/>
        </p:spPr>
        <p:txBody>
          <a:bodyPr/>
          <a:lstStyle>
            <a:lvl1pPr>
              <a:defRPr/>
            </a:lvl1pPr>
          </a:lstStyle>
          <a:p>
            <a:fld id="{4822B2B3-3184-4C90-99A0-90ADD90E409B}" type="slidenum">
              <a:rPr lang="en-US" altLang="zh-TW"/>
              <a:pPr/>
              <a:t>‹#›</a:t>
            </a:fld>
            <a:endParaRPr lang="en-US" altLang="zh-TW"/>
          </a:p>
        </p:txBody>
      </p:sp>
    </p:spTree>
    <p:extLst>
      <p:ext uri="{BB962C8B-B14F-4D97-AF65-F5344CB8AC3E}">
        <p14:creationId xmlns:p14="http://schemas.microsoft.com/office/powerpoint/2010/main" val="40645038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Rectangle 11">
            <a:extLst>
              <a:ext uri="{FF2B5EF4-FFF2-40B4-BE49-F238E27FC236}">
                <a16:creationId xmlns:a16="http://schemas.microsoft.com/office/drawing/2014/main" id="{3AC06E81-715A-73AB-1EF5-09A5481BA476}"/>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12">
            <a:extLst>
              <a:ext uri="{FF2B5EF4-FFF2-40B4-BE49-F238E27FC236}">
                <a16:creationId xmlns:a16="http://schemas.microsoft.com/office/drawing/2014/main" id="{3B8C5294-335A-9857-EB84-AC201DB4C700}"/>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7" name="Rectangle 13">
            <a:extLst>
              <a:ext uri="{FF2B5EF4-FFF2-40B4-BE49-F238E27FC236}">
                <a16:creationId xmlns:a16="http://schemas.microsoft.com/office/drawing/2014/main" id="{5F0C440F-8B44-1373-E2B2-BA197FAD34D2}"/>
              </a:ext>
            </a:extLst>
          </p:cNvPr>
          <p:cNvSpPr>
            <a:spLocks noGrp="1" noChangeArrowheads="1"/>
          </p:cNvSpPr>
          <p:nvPr>
            <p:ph type="sldNum" sz="quarter" idx="12"/>
          </p:nvPr>
        </p:nvSpPr>
        <p:spPr>
          <a:ln/>
        </p:spPr>
        <p:txBody>
          <a:bodyPr/>
          <a:lstStyle>
            <a:lvl1pPr>
              <a:defRPr/>
            </a:lvl1pPr>
          </a:lstStyle>
          <a:p>
            <a:fld id="{EDF59463-5696-43AB-A199-F5A62E6FCA3E}" type="slidenum">
              <a:rPr lang="en-US" altLang="zh-TW"/>
              <a:pPr/>
              <a:t>‹#›</a:t>
            </a:fld>
            <a:endParaRPr lang="en-US" altLang="zh-TW"/>
          </a:p>
        </p:txBody>
      </p:sp>
    </p:spTree>
    <p:extLst>
      <p:ext uri="{BB962C8B-B14F-4D97-AF65-F5344CB8AC3E}">
        <p14:creationId xmlns:p14="http://schemas.microsoft.com/office/powerpoint/2010/main" val="31586345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Rectangle 11">
            <a:extLst>
              <a:ext uri="{FF2B5EF4-FFF2-40B4-BE49-F238E27FC236}">
                <a16:creationId xmlns:a16="http://schemas.microsoft.com/office/drawing/2014/main" id="{01F8829B-7FC0-E9C0-3021-5007213C93B8}"/>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12">
            <a:extLst>
              <a:ext uri="{FF2B5EF4-FFF2-40B4-BE49-F238E27FC236}">
                <a16:creationId xmlns:a16="http://schemas.microsoft.com/office/drawing/2014/main" id="{F16372B4-E6A6-88AC-FAB7-82D6FB547900}"/>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7" name="Rectangle 13">
            <a:extLst>
              <a:ext uri="{FF2B5EF4-FFF2-40B4-BE49-F238E27FC236}">
                <a16:creationId xmlns:a16="http://schemas.microsoft.com/office/drawing/2014/main" id="{A5E0D801-9A98-A6A4-8718-439AAB9A485D}"/>
              </a:ext>
            </a:extLst>
          </p:cNvPr>
          <p:cNvSpPr>
            <a:spLocks noGrp="1" noChangeArrowheads="1"/>
          </p:cNvSpPr>
          <p:nvPr>
            <p:ph type="sldNum" sz="quarter" idx="12"/>
          </p:nvPr>
        </p:nvSpPr>
        <p:spPr>
          <a:ln/>
        </p:spPr>
        <p:txBody>
          <a:bodyPr/>
          <a:lstStyle>
            <a:lvl1pPr>
              <a:defRPr/>
            </a:lvl1pPr>
          </a:lstStyle>
          <a:p>
            <a:fld id="{11044955-D856-4957-802A-3A8C66219F96}" type="slidenum">
              <a:rPr lang="en-US" altLang="zh-TW"/>
              <a:pPr/>
              <a:t>‹#›</a:t>
            </a:fld>
            <a:endParaRPr lang="en-US" altLang="zh-TW"/>
          </a:p>
        </p:txBody>
      </p:sp>
    </p:spTree>
    <p:extLst>
      <p:ext uri="{BB962C8B-B14F-4D97-AF65-F5344CB8AC3E}">
        <p14:creationId xmlns:p14="http://schemas.microsoft.com/office/powerpoint/2010/main" val="38215493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Rectangle 11">
            <a:extLst>
              <a:ext uri="{FF2B5EF4-FFF2-40B4-BE49-F238E27FC236}">
                <a16:creationId xmlns:a16="http://schemas.microsoft.com/office/drawing/2014/main" id="{18711845-B81F-BAF7-033D-126FCD9D7047}"/>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12">
            <a:extLst>
              <a:ext uri="{FF2B5EF4-FFF2-40B4-BE49-F238E27FC236}">
                <a16:creationId xmlns:a16="http://schemas.microsoft.com/office/drawing/2014/main" id="{2314661B-68B5-BB55-AB9F-39415A097BC8}"/>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13">
            <a:extLst>
              <a:ext uri="{FF2B5EF4-FFF2-40B4-BE49-F238E27FC236}">
                <a16:creationId xmlns:a16="http://schemas.microsoft.com/office/drawing/2014/main" id="{809A501A-AC0E-A3E6-EC0E-BF03CD992FBD}"/>
              </a:ext>
            </a:extLst>
          </p:cNvPr>
          <p:cNvSpPr>
            <a:spLocks noGrp="1" noChangeArrowheads="1"/>
          </p:cNvSpPr>
          <p:nvPr>
            <p:ph type="sldNum" sz="quarter" idx="12"/>
          </p:nvPr>
        </p:nvSpPr>
        <p:spPr>
          <a:ln/>
        </p:spPr>
        <p:txBody>
          <a:bodyPr/>
          <a:lstStyle>
            <a:lvl1pPr>
              <a:defRPr/>
            </a:lvl1pPr>
          </a:lstStyle>
          <a:p>
            <a:fld id="{F6DFCC9D-04F0-46D4-8F91-563458F94CB5}" type="slidenum">
              <a:rPr lang="en-US" altLang="zh-TW"/>
              <a:pPr/>
              <a:t>‹#›</a:t>
            </a:fld>
            <a:endParaRPr lang="en-US" altLang="zh-TW"/>
          </a:p>
        </p:txBody>
      </p:sp>
    </p:spTree>
    <p:extLst>
      <p:ext uri="{BB962C8B-B14F-4D97-AF65-F5344CB8AC3E}">
        <p14:creationId xmlns:p14="http://schemas.microsoft.com/office/powerpoint/2010/main" val="3210147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7004050" y="214313"/>
            <a:ext cx="1951038" cy="5918200"/>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1150938" y="214313"/>
            <a:ext cx="5700712" cy="5918200"/>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Rectangle 11">
            <a:extLst>
              <a:ext uri="{FF2B5EF4-FFF2-40B4-BE49-F238E27FC236}">
                <a16:creationId xmlns:a16="http://schemas.microsoft.com/office/drawing/2014/main" id="{83CA9AAC-BBA8-35D7-9D07-3C241A9654CE}"/>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12">
            <a:extLst>
              <a:ext uri="{FF2B5EF4-FFF2-40B4-BE49-F238E27FC236}">
                <a16:creationId xmlns:a16="http://schemas.microsoft.com/office/drawing/2014/main" id="{144D0372-16E4-FA46-C732-BF8528CE508E}"/>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13">
            <a:extLst>
              <a:ext uri="{FF2B5EF4-FFF2-40B4-BE49-F238E27FC236}">
                <a16:creationId xmlns:a16="http://schemas.microsoft.com/office/drawing/2014/main" id="{1209E64C-849D-E384-88C3-CCFC59C29A75}"/>
              </a:ext>
            </a:extLst>
          </p:cNvPr>
          <p:cNvSpPr>
            <a:spLocks noGrp="1" noChangeArrowheads="1"/>
          </p:cNvSpPr>
          <p:nvPr>
            <p:ph type="sldNum" sz="quarter" idx="12"/>
          </p:nvPr>
        </p:nvSpPr>
        <p:spPr>
          <a:ln/>
        </p:spPr>
        <p:txBody>
          <a:bodyPr/>
          <a:lstStyle>
            <a:lvl1pPr>
              <a:defRPr/>
            </a:lvl1pPr>
          </a:lstStyle>
          <a:p>
            <a:fld id="{6F87BE71-1A94-4E00-875E-821558CEA0B6}" type="slidenum">
              <a:rPr lang="en-US" altLang="zh-TW"/>
              <a:pPr/>
              <a:t>‹#›</a:t>
            </a:fld>
            <a:endParaRPr lang="en-US" altLang="zh-TW"/>
          </a:p>
        </p:txBody>
      </p:sp>
    </p:spTree>
    <p:extLst>
      <p:ext uri="{BB962C8B-B14F-4D97-AF65-F5344CB8AC3E}">
        <p14:creationId xmlns:p14="http://schemas.microsoft.com/office/powerpoint/2010/main" val="24753414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reserve="1">
  <p:cSld name="標題，文字及美工圖案">
    <p:spTree>
      <p:nvGrpSpPr>
        <p:cNvPr id="1" name=""/>
        <p:cNvGrpSpPr/>
        <p:nvPr/>
      </p:nvGrpSpPr>
      <p:grpSpPr>
        <a:xfrm>
          <a:off x="0" y="0"/>
          <a:ext cx="0" cy="0"/>
          <a:chOff x="0" y="0"/>
          <a:chExt cx="0" cy="0"/>
        </a:xfrm>
      </p:grpSpPr>
      <p:sp>
        <p:nvSpPr>
          <p:cNvPr id="2" name="標題 1"/>
          <p:cNvSpPr>
            <a:spLocks noGrp="1"/>
          </p:cNvSpPr>
          <p:nvPr>
            <p:ph type="title"/>
          </p:nvPr>
        </p:nvSpPr>
        <p:spPr>
          <a:xfrm>
            <a:off x="1150938" y="214313"/>
            <a:ext cx="7793037" cy="1462087"/>
          </a:xfrm>
        </p:spPr>
        <p:txBody>
          <a:bodyPr/>
          <a:lstStyle/>
          <a:p>
            <a:r>
              <a:rPr lang="zh-TW" altLang="en-US"/>
              <a:t>按一下以編輯母片標題樣式</a:t>
            </a:r>
          </a:p>
        </p:txBody>
      </p:sp>
      <p:sp>
        <p:nvSpPr>
          <p:cNvPr id="3" name="文字版面配置區 2"/>
          <p:cNvSpPr>
            <a:spLocks noGrp="1"/>
          </p:cNvSpPr>
          <p:nvPr>
            <p:ph type="body" sz="half" idx="1"/>
          </p:nvPr>
        </p:nvSpPr>
        <p:spPr>
          <a:xfrm>
            <a:off x="1182688" y="2017713"/>
            <a:ext cx="3810000" cy="411480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美工圖案版面配置區 3"/>
          <p:cNvSpPr>
            <a:spLocks noGrp="1"/>
          </p:cNvSpPr>
          <p:nvPr>
            <p:ph type="clipArt" sz="half" idx="2"/>
          </p:nvPr>
        </p:nvSpPr>
        <p:spPr>
          <a:xfrm>
            <a:off x="5145088" y="2017713"/>
            <a:ext cx="3810000" cy="4114800"/>
          </a:xfrm>
        </p:spPr>
        <p:txBody>
          <a:bodyPr/>
          <a:lstStyle/>
          <a:p>
            <a:pPr lvl="0"/>
            <a:endParaRPr lang="zh-TW" altLang="en-US" noProof="0"/>
          </a:p>
        </p:txBody>
      </p:sp>
      <p:sp>
        <p:nvSpPr>
          <p:cNvPr id="5" name="Rectangle 11">
            <a:extLst>
              <a:ext uri="{FF2B5EF4-FFF2-40B4-BE49-F238E27FC236}">
                <a16:creationId xmlns:a16="http://schemas.microsoft.com/office/drawing/2014/main" id="{B162B06D-A979-CFF1-6237-FA471F790AA1}"/>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12">
            <a:extLst>
              <a:ext uri="{FF2B5EF4-FFF2-40B4-BE49-F238E27FC236}">
                <a16:creationId xmlns:a16="http://schemas.microsoft.com/office/drawing/2014/main" id="{2A18ECD5-AC3E-AB22-5EDE-711727767C58}"/>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7" name="Rectangle 13">
            <a:extLst>
              <a:ext uri="{FF2B5EF4-FFF2-40B4-BE49-F238E27FC236}">
                <a16:creationId xmlns:a16="http://schemas.microsoft.com/office/drawing/2014/main" id="{A12B1817-C347-FEE1-D551-741C1375E0B9}"/>
              </a:ext>
            </a:extLst>
          </p:cNvPr>
          <p:cNvSpPr>
            <a:spLocks noGrp="1" noChangeArrowheads="1"/>
          </p:cNvSpPr>
          <p:nvPr>
            <p:ph type="sldNum" sz="quarter" idx="12"/>
          </p:nvPr>
        </p:nvSpPr>
        <p:spPr>
          <a:ln/>
        </p:spPr>
        <p:txBody>
          <a:bodyPr/>
          <a:lstStyle>
            <a:lvl1pPr>
              <a:defRPr/>
            </a:lvl1pPr>
          </a:lstStyle>
          <a:p>
            <a:fld id="{A0125648-4A88-46F4-B3BA-C7ECA8C1B129}" type="slidenum">
              <a:rPr lang="en-US" altLang="zh-TW"/>
              <a:pPr/>
              <a:t>‹#›</a:t>
            </a:fld>
            <a:endParaRPr lang="en-US" altLang="zh-TW"/>
          </a:p>
        </p:txBody>
      </p:sp>
    </p:spTree>
    <p:extLst>
      <p:ext uri="{BB962C8B-B14F-4D97-AF65-F5344CB8AC3E}">
        <p14:creationId xmlns:p14="http://schemas.microsoft.com/office/powerpoint/2010/main" val="10749017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標題，文字及物件">
    <p:spTree>
      <p:nvGrpSpPr>
        <p:cNvPr id="1" name=""/>
        <p:cNvGrpSpPr/>
        <p:nvPr/>
      </p:nvGrpSpPr>
      <p:grpSpPr>
        <a:xfrm>
          <a:off x="0" y="0"/>
          <a:ext cx="0" cy="0"/>
          <a:chOff x="0" y="0"/>
          <a:chExt cx="0" cy="0"/>
        </a:xfrm>
      </p:grpSpPr>
      <p:sp>
        <p:nvSpPr>
          <p:cNvPr id="2" name="標題 1"/>
          <p:cNvSpPr>
            <a:spLocks noGrp="1"/>
          </p:cNvSpPr>
          <p:nvPr>
            <p:ph type="title"/>
          </p:nvPr>
        </p:nvSpPr>
        <p:spPr>
          <a:xfrm>
            <a:off x="1150938" y="214313"/>
            <a:ext cx="7793037" cy="1462087"/>
          </a:xfrm>
        </p:spPr>
        <p:txBody>
          <a:bodyPr/>
          <a:lstStyle/>
          <a:p>
            <a:r>
              <a:rPr lang="zh-TW" altLang="en-US"/>
              <a:t>按一下以編輯母片標題樣式</a:t>
            </a:r>
          </a:p>
        </p:txBody>
      </p:sp>
      <p:sp>
        <p:nvSpPr>
          <p:cNvPr id="3" name="文字版面配置區 2"/>
          <p:cNvSpPr>
            <a:spLocks noGrp="1"/>
          </p:cNvSpPr>
          <p:nvPr>
            <p:ph type="body" sz="half" idx="1"/>
          </p:nvPr>
        </p:nvSpPr>
        <p:spPr>
          <a:xfrm>
            <a:off x="1182688" y="2017713"/>
            <a:ext cx="3810000" cy="411480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5145088" y="2017713"/>
            <a:ext cx="3810000" cy="411480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Rectangle 11">
            <a:extLst>
              <a:ext uri="{FF2B5EF4-FFF2-40B4-BE49-F238E27FC236}">
                <a16:creationId xmlns:a16="http://schemas.microsoft.com/office/drawing/2014/main" id="{5F54641D-4C83-7589-F8B8-09C0EF915D08}"/>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12">
            <a:extLst>
              <a:ext uri="{FF2B5EF4-FFF2-40B4-BE49-F238E27FC236}">
                <a16:creationId xmlns:a16="http://schemas.microsoft.com/office/drawing/2014/main" id="{DAF1F472-9726-D51B-19B9-8D058E56741D}"/>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7" name="Rectangle 13">
            <a:extLst>
              <a:ext uri="{FF2B5EF4-FFF2-40B4-BE49-F238E27FC236}">
                <a16:creationId xmlns:a16="http://schemas.microsoft.com/office/drawing/2014/main" id="{87D992F0-F3B7-0A4E-4197-64C52715C5B2}"/>
              </a:ext>
            </a:extLst>
          </p:cNvPr>
          <p:cNvSpPr>
            <a:spLocks noGrp="1" noChangeArrowheads="1"/>
          </p:cNvSpPr>
          <p:nvPr>
            <p:ph type="sldNum" sz="quarter" idx="12"/>
          </p:nvPr>
        </p:nvSpPr>
        <p:spPr>
          <a:ln/>
        </p:spPr>
        <p:txBody>
          <a:bodyPr/>
          <a:lstStyle>
            <a:lvl1pPr>
              <a:defRPr/>
            </a:lvl1pPr>
          </a:lstStyle>
          <a:p>
            <a:fld id="{60E9E615-C23E-4004-B53E-7745869A011A}" type="slidenum">
              <a:rPr lang="en-US" altLang="zh-TW"/>
              <a:pPr/>
              <a:t>‹#›</a:t>
            </a:fld>
            <a:endParaRPr lang="en-US" altLang="zh-TW"/>
          </a:p>
        </p:txBody>
      </p:sp>
    </p:spTree>
    <p:extLst>
      <p:ext uri="{BB962C8B-B14F-4D97-AF65-F5344CB8AC3E}">
        <p14:creationId xmlns:p14="http://schemas.microsoft.com/office/powerpoint/2010/main" val="1202673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8CAAF981-D190-0C41-981B-6722EA82DF8F}"/>
              </a:ext>
            </a:extLst>
          </p:cNvPr>
          <p:cNvSpPr>
            <a:spLocks noChangeArrowheads="1"/>
          </p:cNvSpPr>
          <p:nvPr/>
        </p:nvSpPr>
        <p:spPr bwMode="ltGray">
          <a:xfrm>
            <a:off x="417513" y="1098550"/>
            <a:ext cx="438150" cy="474663"/>
          </a:xfrm>
          <a:prstGeom prst="rect">
            <a:avLst/>
          </a:prstGeom>
          <a:solidFill>
            <a:schemeClr val="accent2"/>
          </a:solidFill>
          <a:ln w="9525">
            <a:noFill/>
            <a:miter lim="800000"/>
            <a:headEnd/>
            <a:tailEnd/>
          </a:ln>
          <a:effectLst/>
        </p:spPr>
        <p:txBody>
          <a:bodyPr wrap="none" anchor="ctr"/>
          <a:lstStyle/>
          <a:p>
            <a:pPr algn="ctr">
              <a:defRPr/>
            </a:pPr>
            <a:endParaRPr lang="zh-TW" altLang="zh-TW">
              <a:ea typeface="新細明體" charset="-120"/>
            </a:endParaRPr>
          </a:p>
        </p:txBody>
      </p:sp>
      <p:sp>
        <p:nvSpPr>
          <p:cNvPr id="21507" name="Rectangle 3">
            <a:extLst>
              <a:ext uri="{FF2B5EF4-FFF2-40B4-BE49-F238E27FC236}">
                <a16:creationId xmlns:a16="http://schemas.microsoft.com/office/drawing/2014/main" id="{1EC51FA7-0E90-B984-26D6-2E97E9CE6421}"/>
              </a:ext>
            </a:extLst>
          </p:cNvPr>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a:defRPr/>
            </a:pPr>
            <a:endParaRPr lang="zh-TW" altLang="zh-TW">
              <a:ea typeface="新細明體" charset="-120"/>
            </a:endParaRPr>
          </a:p>
        </p:txBody>
      </p:sp>
      <p:sp>
        <p:nvSpPr>
          <p:cNvPr id="21508" name="Rectangle 4">
            <a:extLst>
              <a:ext uri="{FF2B5EF4-FFF2-40B4-BE49-F238E27FC236}">
                <a16:creationId xmlns:a16="http://schemas.microsoft.com/office/drawing/2014/main" id="{4752E1F7-E489-6A66-7E3A-EC7E4839C31E}"/>
              </a:ext>
            </a:extLst>
          </p:cNvPr>
          <p:cNvSpPr>
            <a:spLocks noChangeArrowheads="1"/>
          </p:cNvSpPr>
          <p:nvPr/>
        </p:nvSpPr>
        <p:spPr bwMode="ltGray">
          <a:xfrm>
            <a:off x="541338" y="1520825"/>
            <a:ext cx="422275" cy="474663"/>
          </a:xfrm>
          <a:prstGeom prst="rect">
            <a:avLst/>
          </a:prstGeom>
          <a:solidFill>
            <a:schemeClr val="folHlink"/>
          </a:solidFill>
          <a:ln w="9525">
            <a:noFill/>
            <a:miter lim="800000"/>
            <a:headEnd/>
            <a:tailEnd/>
          </a:ln>
          <a:effectLst/>
        </p:spPr>
        <p:txBody>
          <a:bodyPr wrap="none" anchor="ctr"/>
          <a:lstStyle/>
          <a:p>
            <a:pPr algn="ctr">
              <a:defRPr/>
            </a:pPr>
            <a:endParaRPr lang="zh-TW" altLang="zh-TW">
              <a:ea typeface="新細明體" charset="-120"/>
            </a:endParaRPr>
          </a:p>
        </p:txBody>
      </p:sp>
      <p:sp>
        <p:nvSpPr>
          <p:cNvPr id="21509" name="Rectangle 5">
            <a:extLst>
              <a:ext uri="{FF2B5EF4-FFF2-40B4-BE49-F238E27FC236}">
                <a16:creationId xmlns:a16="http://schemas.microsoft.com/office/drawing/2014/main" id="{18E38D0C-5563-3A03-0BCE-A50BE6D64F70}"/>
              </a:ext>
            </a:extLst>
          </p:cNvPr>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a:defRPr/>
            </a:pPr>
            <a:endParaRPr lang="zh-TW" altLang="zh-TW">
              <a:ea typeface="新細明體" charset="-120"/>
            </a:endParaRPr>
          </a:p>
        </p:txBody>
      </p:sp>
      <p:sp>
        <p:nvSpPr>
          <p:cNvPr id="21510" name="Rectangle 6">
            <a:extLst>
              <a:ext uri="{FF2B5EF4-FFF2-40B4-BE49-F238E27FC236}">
                <a16:creationId xmlns:a16="http://schemas.microsoft.com/office/drawing/2014/main" id="{D94D3049-E2C2-B36F-7FBF-D42ABB69E8B6}"/>
              </a:ext>
            </a:extLst>
          </p:cNvPr>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a:defRPr/>
            </a:pPr>
            <a:endParaRPr lang="zh-TW" altLang="zh-TW">
              <a:ea typeface="新細明體" charset="-120"/>
            </a:endParaRPr>
          </a:p>
        </p:txBody>
      </p:sp>
      <p:sp>
        <p:nvSpPr>
          <p:cNvPr id="21511" name="Rectangle 7">
            <a:extLst>
              <a:ext uri="{FF2B5EF4-FFF2-40B4-BE49-F238E27FC236}">
                <a16:creationId xmlns:a16="http://schemas.microsoft.com/office/drawing/2014/main" id="{952B7C47-F263-9BFA-3687-67081CD6E31B}"/>
              </a:ext>
            </a:extLst>
          </p:cNvPr>
          <p:cNvSpPr>
            <a:spLocks noChangeArrowheads="1"/>
          </p:cNvSpPr>
          <p:nvPr/>
        </p:nvSpPr>
        <p:spPr bwMode="gray">
          <a:xfrm>
            <a:off x="762000" y="990600"/>
            <a:ext cx="31750" cy="1052513"/>
          </a:xfrm>
          <a:prstGeom prst="rect">
            <a:avLst/>
          </a:prstGeom>
          <a:solidFill>
            <a:schemeClr val="bg2"/>
          </a:solidFill>
          <a:ln w="9525">
            <a:noFill/>
            <a:miter lim="800000"/>
            <a:headEnd/>
            <a:tailEnd/>
          </a:ln>
          <a:effectLst/>
        </p:spPr>
        <p:txBody>
          <a:bodyPr wrap="none" anchor="ctr"/>
          <a:lstStyle/>
          <a:p>
            <a:pPr algn="ctr">
              <a:defRPr/>
            </a:pPr>
            <a:endParaRPr lang="zh-TW" altLang="zh-TW">
              <a:ea typeface="新細明體" charset="-120"/>
            </a:endParaRPr>
          </a:p>
        </p:txBody>
      </p:sp>
      <p:sp>
        <p:nvSpPr>
          <p:cNvPr id="21512" name="Rectangle 8">
            <a:extLst>
              <a:ext uri="{FF2B5EF4-FFF2-40B4-BE49-F238E27FC236}">
                <a16:creationId xmlns:a16="http://schemas.microsoft.com/office/drawing/2014/main" id="{255F8D6F-0771-8537-F388-0133D6BB7747}"/>
              </a:ext>
            </a:extLst>
          </p:cNvPr>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a:defRPr/>
            </a:pPr>
            <a:endParaRPr lang="zh-TW" altLang="zh-TW">
              <a:ea typeface="新細明體" charset="-120"/>
            </a:endParaRPr>
          </a:p>
        </p:txBody>
      </p:sp>
      <p:sp>
        <p:nvSpPr>
          <p:cNvPr id="2057" name="Rectangle 9">
            <a:extLst>
              <a:ext uri="{FF2B5EF4-FFF2-40B4-BE49-F238E27FC236}">
                <a16:creationId xmlns:a16="http://schemas.microsoft.com/office/drawing/2014/main" id="{633500E8-A057-72A1-2AD9-F169D59A539D}"/>
              </a:ext>
            </a:extLst>
          </p:cNvPr>
          <p:cNvSpPr>
            <a:spLocks noGrp="1" noChangeArrowheads="1"/>
          </p:cNvSpPr>
          <p:nvPr>
            <p:ph type="title"/>
          </p:nvPr>
        </p:nvSpPr>
        <p:spPr bwMode="auto">
          <a:xfrm>
            <a:off x="1150938" y="214313"/>
            <a:ext cx="7793037" cy="1462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TW" altLang="en-US"/>
              <a:t>按一下以編輯母片標題樣式</a:t>
            </a:r>
          </a:p>
        </p:txBody>
      </p:sp>
      <p:sp>
        <p:nvSpPr>
          <p:cNvPr id="2058" name="Rectangle 10">
            <a:extLst>
              <a:ext uri="{FF2B5EF4-FFF2-40B4-BE49-F238E27FC236}">
                <a16:creationId xmlns:a16="http://schemas.microsoft.com/office/drawing/2014/main" id="{82CDD93D-C0DC-E9F0-4BDA-555833D3B3DD}"/>
              </a:ext>
            </a:extLst>
          </p:cNvPr>
          <p:cNvSpPr>
            <a:spLocks noGrp="1" noChangeArrowheads="1"/>
          </p:cNvSpPr>
          <p:nvPr>
            <p:ph type="body" idx="1"/>
          </p:nvPr>
        </p:nvSpPr>
        <p:spPr bwMode="auto">
          <a:xfrm>
            <a:off x="1182688" y="2017713"/>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a:t>按一下以編輯母片</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21515" name="Rectangle 11">
            <a:extLst>
              <a:ext uri="{FF2B5EF4-FFF2-40B4-BE49-F238E27FC236}">
                <a16:creationId xmlns:a16="http://schemas.microsoft.com/office/drawing/2014/main" id="{D45F09C8-0B16-A70C-5C71-49C5771246A1}"/>
              </a:ext>
            </a:extLst>
          </p:cNvPr>
          <p:cNvSpPr>
            <a:spLocks noGrp="1" noChangeArrowheads="1"/>
          </p:cNvSpPr>
          <p:nvPr>
            <p:ph type="dt" sz="half" idx="2"/>
          </p:nvPr>
        </p:nvSpPr>
        <p:spPr bwMode="auto">
          <a:xfrm>
            <a:off x="1162050" y="6243638"/>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kumimoji="0" sz="1400">
                <a:ea typeface="+mn-ea"/>
              </a:defRPr>
            </a:lvl1pPr>
          </a:lstStyle>
          <a:p>
            <a:pPr>
              <a:defRPr/>
            </a:pPr>
            <a:endParaRPr lang="en-US" altLang="zh-TW"/>
          </a:p>
        </p:txBody>
      </p:sp>
      <p:sp>
        <p:nvSpPr>
          <p:cNvPr id="21516" name="Rectangle 12">
            <a:extLst>
              <a:ext uri="{FF2B5EF4-FFF2-40B4-BE49-F238E27FC236}">
                <a16:creationId xmlns:a16="http://schemas.microsoft.com/office/drawing/2014/main" id="{00AC85AE-F9D0-2E81-A42E-5D8A680D51D4}"/>
              </a:ext>
            </a:extLst>
          </p:cNvPr>
          <p:cNvSpPr>
            <a:spLocks noGrp="1" noChangeArrowheads="1"/>
          </p:cNvSpPr>
          <p:nvPr>
            <p:ph type="ftr" sz="quarter" idx="3"/>
          </p:nvPr>
        </p:nvSpPr>
        <p:spPr bwMode="auto">
          <a:xfrm>
            <a:off x="3657600" y="6243638"/>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kumimoji="0" sz="1400">
                <a:ea typeface="+mn-ea"/>
              </a:defRPr>
            </a:lvl1pPr>
          </a:lstStyle>
          <a:p>
            <a:pPr>
              <a:defRPr/>
            </a:pPr>
            <a:endParaRPr lang="en-US" altLang="zh-TW"/>
          </a:p>
        </p:txBody>
      </p:sp>
      <p:sp>
        <p:nvSpPr>
          <p:cNvPr id="21517" name="Rectangle 13">
            <a:extLst>
              <a:ext uri="{FF2B5EF4-FFF2-40B4-BE49-F238E27FC236}">
                <a16:creationId xmlns:a16="http://schemas.microsoft.com/office/drawing/2014/main" id="{18470F98-6347-D1FE-EA59-4F32C097246B}"/>
              </a:ext>
            </a:extLst>
          </p:cNvPr>
          <p:cNvSpPr>
            <a:spLocks noGrp="1" noChangeArrowheads="1"/>
          </p:cNvSpPr>
          <p:nvPr>
            <p:ph type="sldNum" sz="quarter" idx="4"/>
          </p:nvPr>
        </p:nvSpPr>
        <p:spPr bwMode="auto">
          <a:xfrm>
            <a:off x="7042150" y="6243638"/>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kumimoji="0" sz="1400">
                <a:ea typeface="新細明體" panose="02020500000000000000" pitchFamily="18" charset="-120"/>
              </a:defRPr>
            </a:lvl1pPr>
          </a:lstStyle>
          <a:p>
            <a:fld id="{EE8925F4-848F-4485-80A4-85F8B40416FF}" type="slidenum">
              <a:rPr lang="en-US" altLang="zh-TW"/>
              <a:pPr/>
              <a:t>‹#›</a:t>
            </a:fld>
            <a:endParaRPr lang="en-US" altLang="zh-TW"/>
          </a:p>
        </p:txBody>
      </p:sp>
    </p:spTree>
  </p:cSld>
  <p:clrMap bg1="lt1" tx1="dk1" bg2="lt2" tx2="dk2" accent1="accent1" accent2="accent2" accent3="accent3" accent4="accent4" accent5="accent5" accent6="accent6" hlink="hlink" folHlink="folHlink"/>
  <p:sldLayoutIdLst>
    <p:sldLayoutId id="2147483719" r:id="rId1"/>
    <p:sldLayoutId id="2147483718" r:id="rId2"/>
    <p:sldLayoutId id="2147483717" r:id="rId3"/>
    <p:sldLayoutId id="2147483716" r:id="rId4"/>
    <p:sldLayoutId id="2147483715" r:id="rId5"/>
    <p:sldLayoutId id="2147483714" r:id="rId6"/>
    <p:sldLayoutId id="2147483713" r:id="rId7"/>
    <p:sldLayoutId id="2147483712" r:id="rId8"/>
    <p:sldLayoutId id="2147483711" r:id="rId9"/>
    <p:sldLayoutId id="2147483710" r:id="rId10"/>
    <p:sldLayoutId id="2147483709" r:id="rId11"/>
    <p:sldLayoutId id="2147483708" r:id="rId12"/>
    <p:sldLayoutId id="2147483707" r:id="rId13"/>
  </p:sldLayoutIdLst>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itchFamily="34" charset="0"/>
          <a:ea typeface="新細明體" charset="-120"/>
        </a:defRPr>
      </a:lvl2pPr>
      <a:lvl3pPr algn="l" rtl="0" eaLnBrk="0" fontAlgn="base" hangingPunct="0">
        <a:spcBef>
          <a:spcPct val="0"/>
        </a:spcBef>
        <a:spcAft>
          <a:spcPct val="0"/>
        </a:spcAft>
        <a:defRPr kumimoji="1" sz="4400">
          <a:solidFill>
            <a:schemeClr val="tx2"/>
          </a:solidFill>
          <a:latin typeface="Tahoma" pitchFamily="34" charset="0"/>
          <a:ea typeface="新細明體" charset="-120"/>
        </a:defRPr>
      </a:lvl3pPr>
      <a:lvl4pPr algn="l" rtl="0" eaLnBrk="0" fontAlgn="base" hangingPunct="0">
        <a:spcBef>
          <a:spcPct val="0"/>
        </a:spcBef>
        <a:spcAft>
          <a:spcPct val="0"/>
        </a:spcAft>
        <a:defRPr kumimoji="1" sz="4400">
          <a:solidFill>
            <a:schemeClr val="tx2"/>
          </a:solidFill>
          <a:latin typeface="Tahoma" pitchFamily="34" charset="0"/>
          <a:ea typeface="新細明體" charset="-120"/>
        </a:defRPr>
      </a:lvl4pPr>
      <a:lvl5pPr algn="l" rtl="0" eaLnBrk="0" fontAlgn="base" hangingPunct="0">
        <a:spcBef>
          <a:spcPct val="0"/>
        </a:spcBef>
        <a:spcAft>
          <a:spcPct val="0"/>
        </a:spcAft>
        <a:defRPr kumimoji="1" sz="4400">
          <a:solidFill>
            <a:schemeClr val="tx2"/>
          </a:solidFill>
          <a:latin typeface="Tahoma" pitchFamily="34" charset="0"/>
          <a:ea typeface="新細明體" charset="-120"/>
        </a:defRPr>
      </a:lvl5pPr>
      <a:lvl6pPr marL="457200" algn="l" rtl="0" fontAlgn="base">
        <a:spcBef>
          <a:spcPct val="0"/>
        </a:spcBef>
        <a:spcAft>
          <a:spcPct val="0"/>
        </a:spcAft>
        <a:defRPr kumimoji="1" sz="4400">
          <a:solidFill>
            <a:schemeClr val="tx2"/>
          </a:solidFill>
          <a:latin typeface="Tahoma" pitchFamily="34" charset="0"/>
          <a:ea typeface="新細明體" charset="-120"/>
        </a:defRPr>
      </a:lvl6pPr>
      <a:lvl7pPr marL="914400" algn="l" rtl="0" fontAlgn="base">
        <a:spcBef>
          <a:spcPct val="0"/>
        </a:spcBef>
        <a:spcAft>
          <a:spcPct val="0"/>
        </a:spcAft>
        <a:defRPr kumimoji="1" sz="4400">
          <a:solidFill>
            <a:schemeClr val="tx2"/>
          </a:solidFill>
          <a:latin typeface="Tahoma" pitchFamily="34" charset="0"/>
          <a:ea typeface="新細明體" charset="-120"/>
        </a:defRPr>
      </a:lvl7pPr>
      <a:lvl8pPr marL="1371600" algn="l" rtl="0" fontAlgn="base">
        <a:spcBef>
          <a:spcPct val="0"/>
        </a:spcBef>
        <a:spcAft>
          <a:spcPct val="0"/>
        </a:spcAft>
        <a:defRPr kumimoji="1" sz="4400">
          <a:solidFill>
            <a:schemeClr val="tx2"/>
          </a:solidFill>
          <a:latin typeface="Tahoma" pitchFamily="34" charset="0"/>
          <a:ea typeface="新細明體" charset="-120"/>
        </a:defRPr>
      </a:lvl8pPr>
      <a:lvl9pPr marL="1828800" algn="l" rtl="0" fontAlgn="base">
        <a:spcBef>
          <a:spcPct val="0"/>
        </a:spcBef>
        <a:spcAft>
          <a:spcPct val="0"/>
        </a:spcAft>
        <a:defRPr kumimoji="1" sz="4400">
          <a:solidFill>
            <a:schemeClr val="tx2"/>
          </a:solidFill>
          <a:latin typeface="Tahoma" pitchFamily="34" charset="0"/>
          <a:ea typeface="新細明體" charset="-12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4894B62D-C291-51CF-E1C9-C389FA127A3F}"/>
              </a:ext>
            </a:extLst>
          </p:cNvPr>
          <p:cNvSpPr>
            <a:spLocks noGrp="1" noChangeArrowheads="1"/>
          </p:cNvSpPr>
          <p:nvPr>
            <p:ph type="ctrTitle"/>
          </p:nvPr>
        </p:nvSpPr>
        <p:spPr>
          <a:xfrm>
            <a:off x="990600" y="692150"/>
            <a:ext cx="7200900" cy="2376488"/>
          </a:xfrm>
        </p:spPr>
        <p:txBody>
          <a:bodyPr/>
          <a:lstStyle/>
          <a:p>
            <a:pPr algn="ctr" eaLnBrk="1" hangingPunct="1"/>
            <a:r>
              <a:rPr lang="zh-TW" altLang="en-US" sz="6000" dirty="0">
                <a:latin typeface="微軟正黑體" panose="020B0604030504040204" pitchFamily="34" charset="-120"/>
                <a:ea typeface="微軟正黑體" panose="020B0604030504040204" pitchFamily="34" charset="-120"/>
              </a:rPr>
              <a:t>性別平等</a:t>
            </a:r>
            <a:r>
              <a:rPr lang="en-US" altLang="zh-TW" sz="6000" dirty="0">
                <a:latin typeface="微軟正黑體" panose="020B0604030504040204" pitchFamily="34" charset="-120"/>
                <a:ea typeface="微軟正黑體" panose="020B0604030504040204" pitchFamily="34" charset="-120"/>
              </a:rPr>
              <a:t>-</a:t>
            </a:r>
            <a:r>
              <a:rPr lang="zh-TW" altLang="en-US" sz="6000" dirty="0">
                <a:latin typeface="微軟正黑體" panose="020B0604030504040204" pitchFamily="34" charset="-120"/>
                <a:ea typeface="微軟正黑體" panose="020B0604030504040204" pitchFamily="34" charset="-120"/>
              </a:rPr>
              <a:t>紮根社區</a:t>
            </a:r>
          </a:p>
        </p:txBody>
      </p:sp>
      <p:sp>
        <p:nvSpPr>
          <p:cNvPr id="4099" name="Rectangle 3">
            <a:extLst>
              <a:ext uri="{FF2B5EF4-FFF2-40B4-BE49-F238E27FC236}">
                <a16:creationId xmlns:a16="http://schemas.microsoft.com/office/drawing/2014/main" id="{BF96ABB0-FC34-CE9D-AE71-5C3A46E0F0D1}"/>
              </a:ext>
            </a:extLst>
          </p:cNvPr>
          <p:cNvSpPr>
            <a:spLocks noGrp="1" noChangeArrowheads="1"/>
          </p:cNvSpPr>
          <p:nvPr>
            <p:ph type="subTitle" idx="1"/>
          </p:nvPr>
        </p:nvSpPr>
        <p:spPr>
          <a:xfrm>
            <a:off x="1042988" y="4581525"/>
            <a:ext cx="7200900" cy="1368425"/>
          </a:xfrm>
        </p:spPr>
        <p:txBody>
          <a:bodyPr/>
          <a:lstStyle/>
          <a:p>
            <a:pPr eaLnBrk="1" hangingPunct="1"/>
            <a:r>
              <a:rPr lang="zh-TW" altLang="en-US" sz="1800" dirty="0">
                <a:solidFill>
                  <a:srgbClr val="002060"/>
                </a:solidFill>
                <a:latin typeface="微軟正黑體" panose="020B0604030504040204" pitchFamily="34" charset="-120"/>
                <a:ea typeface="微軟正黑體" panose="020B0604030504040204" pitchFamily="34" charset="-120"/>
              </a:rPr>
              <a:t>許坋妃</a:t>
            </a:r>
            <a:endParaRPr lang="en-US" altLang="zh-TW" sz="1800" dirty="0">
              <a:solidFill>
                <a:srgbClr val="002060"/>
              </a:solidFill>
              <a:latin typeface="微軟正黑體" panose="020B0604030504040204" pitchFamily="34" charset="-120"/>
              <a:ea typeface="微軟正黑體" panose="020B0604030504040204" pitchFamily="34" charset="-120"/>
            </a:endParaRPr>
          </a:p>
          <a:p>
            <a:pPr eaLnBrk="1" hangingPunct="1"/>
            <a:r>
              <a:rPr lang="zh-TW" altLang="en-US" sz="1800" dirty="0">
                <a:solidFill>
                  <a:srgbClr val="002060"/>
                </a:solidFill>
                <a:latin typeface="微軟正黑體" panose="020B0604030504040204" pitchFamily="34" charset="-120"/>
                <a:ea typeface="微軟正黑體" panose="020B0604030504040204" pitchFamily="34" charset="-120"/>
              </a:rPr>
              <a:t>樹德科大社工系 兼任助理教授</a:t>
            </a:r>
            <a:endParaRPr lang="en-US" altLang="zh-TW" sz="1800" dirty="0">
              <a:solidFill>
                <a:srgbClr val="002060"/>
              </a:solidFill>
              <a:latin typeface="微軟正黑體" panose="020B0604030504040204" pitchFamily="34" charset="-120"/>
              <a:ea typeface="微軟正黑體" panose="020B0604030504040204" pitchFamily="34" charset="-120"/>
            </a:endParaRPr>
          </a:p>
          <a:p>
            <a:pPr eaLnBrk="1" hangingPunct="1"/>
            <a:r>
              <a:rPr lang="zh-TW" altLang="en-US" sz="1800" dirty="0">
                <a:solidFill>
                  <a:srgbClr val="002060"/>
                </a:solidFill>
                <a:latin typeface="微軟正黑體" panose="020B0604030504040204" pitchFamily="34" charset="-120"/>
                <a:ea typeface="微軟正黑體" panose="020B0604030504040204" pitchFamily="34" charset="-120"/>
              </a:rPr>
              <a:t>兒少婦與家庭專科社工師</a:t>
            </a:r>
            <a:endParaRPr lang="en-US" altLang="zh-TW" sz="1800" dirty="0">
              <a:solidFill>
                <a:srgbClr val="002060"/>
              </a:solidFill>
              <a:latin typeface="微軟正黑體" panose="020B0604030504040204" pitchFamily="34" charset="-120"/>
              <a:ea typeface="微軟正黑體" panose="020B0604030504040204" pitchFamily="34" charset="-120"/>
            </a:endParaRPr>
          </a:p>
          <a:p>
            <a:pPr eaLnBrk="1" hangingPunct="1"/>
            <a:r>
              <a:rPr lang="zh-TW" altLang="en-US" sz="1800" dirty="0">
                <a:solidFill>
                  <a:srgbClr val="002060"/>
                </a:solidFill>
                <a:latin typeface="微軟正黑體" panose="020B0604030504040204" pitchFamily="34" charset="-120"/>
                <a:ea typeface="微軟正黑體" panose="020B0604030504040204" pitchFamily="34" charset="-120"/>
              </a:rPr>
              <a:t>台灣社工專協  社會工作師全國聯合會  監事</a:t>
            </a:r>
          </a:p>
          <a:p>
            <a:pPr eaLnBrk="1" hangingPunct="1"/>
            <a:r>
              <a:rPr lang="en-US" altLang="zh-TW" sz="1800" dirty="0">
                <a:solidFill>
                  <a:srgbClr val="002060"/>
                </a:solidFill>
                <a:ea typeface="標楷體" panose="03000509000000000000" pitchFamily="65" charset="-120"/>
              </a:rPr>
              <a:t>115.05</a:t>
            </a:r>
            <a:endParaRPr lang="zh-TW" altLang="en-US" sz="1800" dirty="0">
              <a:solidFill>
                <a:srgbClr val="002060"/>
              </a:solidFill>
              <a:ea typeface="標楷體" panose="03000509000000000000" pitchFamily="65" charset="-12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4C6AF566-DBB0-54B9-382E-0782459FA597}"/>
              </a:ext>
            </a:extLst>
          </p:cNvPr>
          <p:cNvSpPr>
            <a:spLocks noGrp="1" noChangeArrowheads="1"/>
          </p:cNvSpPr>
          <p:nvPr>
            <p:ph type="title"/>
          </p:nvPr>
        </p:nvSpPr>
        <p:spPr/>
        <p:txBody>
          <a:bodyPr/>
          <a:lstStyle/>
          <a:p>
            <a:pPr eaLnBrk="1" hangingPunct="1"/>
            <a:r>
              <a:rPr lang="zh-TW" altLang="en-US" dirty="0">
                <a:solidFill>
                  <a:srgbClr val="C00000"/>
                </a:solidFill>
                <a:latin typeface="微軟正黑體" panose="020B0604030504040204" pitchFamily="34" charset="-120"/>
                <a:ea typeface="微軟正黑體" panose="020B0604030504040204" pitchFamily="34" charset="-120"/>
              </a:rPr>
              <a:t>課程大綱</a:t>
            </a:r>
          </a:p>
        </p:txBody>
      </p:sp>
      <p:sp>
        <p:nvSpPr>
          <p:cNvPr id="5123" name="Rectangle 3">
            <a:extLst>
              <a:ext uri="{FF2B5EF4-FFF2-40B4-BE49-F238E27FC236}">
                <a16:creationId xmlns:a16="http://schemas.microsoft.com/office/drawing/2014/main" id="{857B5D9F-983A-D396-7D13-A2A7D34FB21E}"/>
              </a:ext>
            </a:extLst>
          </p:cNvPr>
          <p:cNvSpPr>
            <a:spLocks noGrp="1" noChangeArrowheads="1"/>
          </p:cNvSpPr>
          <p:nvPr>
            <p:ph idx="1"/>
          </p:nvPr>
        </p:nvSpPr>
        <p:spPr>
          <a:xfrm>
            <a:off x="1182688" y="2017713"/>
            <a:ext cx="7853808" cy="4114800"/>
          </a:xfrm>
        </p:spPr>
        <p:txBody>
          <a:bodyPr/>
          <a:lstStyle/>
          <a:p>
            <a:pPr eaLnBrk="1" hangingPunct="1"/>
            <a:r>
              <a:rPr lang="zh-TW" altLang="en-US" sz="3600" dirty="0">
                <a:solidFill>
                  <a:srgbClr val="002060"/>
                </a:solidFill>
                <a:latin typeface="微軟正黑體" panose="020B0604030504040204" pitchFamily="34" charset="-120"/>
                <a:ea typeface="微軟正黑體" panose="020B0604030504040204" pitchFamily="34" charset="-120"/>
              </a:rPr>
              <a:t>前言－社區為什麼需要性平概念</a:t>
            </a:r>
          </a:p>
          <a:p>
            <a:pPr eaLnBrk="1" hangingPunct="1"/>
            <a:r>
              <a:rPr lang="zh-TW" altLang="en-US" sz="3600" dirty="0">
                <a:solidFill>
                  <a:srgbClr val="002060"/>
                </a:solidFill>
                <a:latin typeface="微軟正黑體" panose="020B0604030504040204" pitchFamily="34" charset="-120"/>
                <a:ea typeface="微軟正黑體" panose="020B0604030504040204" pitchFamily="34" charset="-120"/>
              </a:rPr>
              <a:t>源起－聯合國潮流</a:t>
            </a:r>
          </a:p>
          <a:p>
            <a:pPr eaLnBrk="1" hangingPunct="1"/>
            <a:r>
              <a:rPr lang="zh-TW" altLang="en-US" sz="3600" dirty="0">
                <a:solidFill>
                  <a:srgbClr val="002060"/>
                </a:solidFill>
                <a:latin typeface="微軟正黑體" panose="020B0604030504040204" pitchFamily="34" charset="-120"/>
                <a:ea typeface="微軟正黑體" panose="020B0604030504040204" pitchFamily="34" charset="-120"/>
              </a:rPr>
              <a:t>內涵－性別主流化定義、工具、作法</a:t>
            </a:r>
          </a:p>
          <a:p>
            <a:pPr eaLnBrk="1" hangingPunct="1"/>
            <a:r>
              <a:rPr lang="zh-TW" altLang="en-US" sz="3600" dirty="0">
                <a:solidFill>
                  <a:srgbClr val="002060"/>
                </a:solidFill>
                <a:latin typeface="微軟正黑體" panose="020B0604030504040204" pitchFamily="34" charset="-120"/>
                <a:ea typeface="微軟正黑體" panose="020B0604030504040204" pitchFamily="34" charset="-120"/>
              </a:rPr>
              <a:t>實踐－社區如何推動性別平等</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5">
            <a:extLst>
              <a:ext uri="{FF2B5EF4-FFF2-40B4-BE49-F238E27FC236}">
                <a16:creationId xmlns:a16="http://schemas.microsoft.com/office/drawing/2014/main" id="{265E9F4C-59D3-EDA8-C098-95DC86310D17}"/>
              </a:ext>
            </a:extLst>
          </p:cNvPr>
          <p:cNvSpPr>
            <a:spLocks noGrp="1" noChangeArrowheads="1"/>
          </p:cNvSpPr>
          <p:nvPr>
            <p:ph type="title"/>
          </p:nvPr>
        </p:nvSpPr>
        <p:spPr>
          <a:noFill/>
        </p:spPr>
        <p:txBody>
          <a:bodyPr/>
          <a:lstStyle/>
          <a:p>
            <a:pPr eaLnBrk="1" hangingPunct="1"/>
            <a:r>
              <a:rPr lang="zh-TW" altLang="en-US" dirty="0">
                <a:ea typeface="標楷體" panose="03000509000000000000" pitchFamily="65" charset="-120"/>
              </a:rPr>
              <a:t>社區的日常治理</a:t>
            </a:r>
          </a:p>
        </p:txBody>
      </p:sp>
      <p:sp>
        <p:nvSpPr>
          <p:cNvPr id="6146" name="Rectangle 2">
            <a:extLst>
              <a:ext uri="{FF2B5EF4-FFF2-40B4-BE49-F238E27FC236}">
                <a16:creationId xmlns:a16="http://schemas.microsoft.com/office/drawing/2014/main" id="{19C4095A-A063-0EA0-3A9B-3FF8911BE8AF}"/>
              </a:ext>
            </a:extLst>
          </p:cNvPr>
          <p:cNvSpPr>
            <a:spLocks noGrp="1" noChangeArrowheads="1"/>
          </p:cNvSpPr>
          <p:nvPr>
            <p:ph idx="1"/>
          </p:nvPr>
        </p:nvSpPr>
        <p:spPr>
          <a:xfrm>
            <a:off x="1692275" y="4868863"/>
            <a:ext cx="6767513" cy="1152525"/>
          </a:xfrm>
        </p:spPr>
        <p:txBody>
          <a:bodyPr/>
          <a:lstStyle/>
          <a:p>
            <a:pPr eaLnBrk="1" hangingPunct="1">
              <a:spcBef>
                <a:spcPct val="0"/>
              </a:spcBef>
              <a:buClrTx/>
              <a:buSzTx/>
              <a:buFontTx/>
              <a:buNone/>
            </a:pPr>
            <a:r>
              <a:rPr lang="zh-TW" altLang="en-US" sz="4400" b="1" dirty="0">
                <a:solidFill>
                  <a:srgbClr val="669900"/>
                </a:solidFill>
                <a:latin typeface="Times New Roman" panose="02020603050405020304" pitchFamily="18" charset="0"/>
                <a:ea typeface="標楷體" panose="03000509000000000000" pitchFamily="65" charset="-120"/>
              </a:rPr>
              <a:t>    社區修水電</a:t>
            </a:r>
            <a:r>
              <a:rPr lang="en-US" altLang="zh-TW" sz="4400" b="1" dirty="0">
                <a:solidFill>
                  <a:srgbClr val="669900"/>
                </a:solidFill>
                <a:latin typeface="Times New Roman" panose="02020603050405020304" pitchFamily="18" charset="0"/>
                <a:ea typeface="標楷體" panose="03000509000000000000" pitchFamily="65" charset="-120"/>
              </a:rPr>
              <a:t>-</a:t>
            </a:r>
            <a:r>
              <a:rPr lang="zh-TW" altLang="en-US" sz="4400" b="1" dirty="0">
                <a:solidFill>
                  <a:srgbClr val="669900"/>
                </a:solidFill>
                <a:latin typeface="Times New Roman" panose="02020603050405020304" pitchFamily="18" charset="0"/>
                <a:ea typeface="標楷體" panose="03000509000000000000" pitchFamily="65" charset="-120"/>
              </a:rPr>
              <a:t>男人</a:t>
            </a:r>
            <a:r>
              <a:rPr lang="en-US" altLang="zh-TW" sz="4400" b="1" dirty="0">
                <a:solidFill>
                  <a:srgbClr val="669900"/>
                </a:solidFill>
                <a:latin typeface="Times New Roman" panose="02020603050405020304" pitchFamily="18" charset="0"/>
                <a:ea typeface="標楷體" panose="03000509000000000000" pitchFamily="65" charset="-120"/>
              </a:rPr>
              <a:t>…</a:t>
            </a:r>
            <a:endParaRPr lang="zh-TW" altLang="en-US" sz="4400" b="1" dirty="0">
              <a:solidFill>
                <a:srgbClr val="669900"/>
              </a:solidFill>
              <a:latin typeface="Times New Roman" panose="02020603050405020304" pitchFamily="18" charset="0"/>
              <a:ea typeface="標楷體" panose="03000509000000000000" pitchFamily="65" charset="-120"/>
            </a:endParaRPr>
          </a:p>
        </p:txBody>
      </p:sp>
      <p:sp>
        <p:nvSpPr>
          <p:cNvPr id="6" name="矩形 5">
            <a:extLst>
              <a:ext uri="{FF2B5EF4-FFF2-40B4-BE49-F238E27FC236}">
                <a16:creationId xmlns:a16="http://schemas.microsoft.com/office/drawing/2014/main" id="{8FF1318F-8004-9CF7-9B29-9DA0AA3B4602}"/>
              </a:ext>
            </a:extLst>
          </p:cNvPr>
          <p:cNvSpPr/>
          <p:nvPr/>
        </p:nvSpPr>
        <p:spPr>
          <a:xfrm>
            <a:off x="2051720" y="2276872"/>
            <a:ext cx="5032147" cy="2308324"/>
          </a:xfrm>
          <a:prstGeom prst="rect">
            <a:avLst/>
          </a:prstGeom>
          <a:noFill/>
        </p:spPr>
        <p:txBody>
          <a:bodyPr>
            <a:spAutoFit/>
            <a:scene3d>
              <a:camera prst="orthographicFront"/>
              <a:lightRig rig="glow" dir="tl">
                <a:rot lat="0" lon="0" rev="5400000"/>
              </a:lightRig>
            </a:scene3d>
            <a:sp3d contourW="12700">
              <a:bevelT w="25400" h="25400"/>
              <a:contourClr>
                <a:schemeClr val="accent6">
                  <a:shade val="73000"/>
                </a:schemeClr>
              </a:contourClr>
            </a:sp3d>
          </a:bodyPr>
          <a:lstStyle/>
          <a:p>
            <a:pPr algn="ctr">
              <a:defRPr/>
            </a:pPr>
            <a:r>
              <a:rPr lang="zh-TW" altLang="en-US" sz="72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廚房煮食</a:t>
            </a:r>
            <a:r>
              <a:rPr lang="en-US" altLang="zh-TW" sz="72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a:t>
            </a:r>
            <a:r>
              <a:rPr lang="zh-TW" altLang="en-US" sz="72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婦女</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標題 1">
            <a:extLst>
              <a:ext uri="{FF2B5EF4-FFF2-40B4-BE49-F238E27FC236}">
                <a16:creationId xmlns:a16="http://schemas.microsoft.com/office/drawing/2014/main" id="{915193CA-01E1-D90A-82E0-B0B639144AAD}"/>
              </a:ext>
            </a:extLst>
          </p:cNvPr>
          <p:cNvSpPr>
            <a:spLocks noGrp="1"/>
          </p:cNvSpPr>
          <p:nvPr>
            <p:ph type="title" idx="4294967295"/>
          </p:nvPr>
        </p:nvSpPr>
        <p:spPr>
          <a:xfrm>
            <a:off x="1350963" y="692150"/>
            <a:ext cx="7793037" cy="984250"/>
          </a:xfrm>
        </p:spPr>
        <p:txBody>
          <a:bodyPr anchor="ctr"/>
          <a:lstStyle/>
          <a:p>
            <a:pPr eaLnBrk="1" hangingPunct="1"/>
            <a:r>
              <a:rPr lang="zh-TW" altLang="en-US" dirty="0">
                <a:ea typeface="標楷體" panose="03000509000000000000" pitchFamily="65" charset="-120"/>
              </a:rPr>
              <a:t>我們對男女期待</a:t>
            </a:r>
            <a:r>
              <a:rPr lang="en-US" altLang="zh-TW" dirty="0">
                <a:ea typeface="標楷體" panose="03000509000000000000" pitchFamily="65" charset="-120"/>
              </a:rPr>
              <a:t>-</a:t>
            </a:r>
            <a:r>
              <a:rPr lang="zh-TW" altLang="en-US" dirty="0">
                <a:ea typeface="標楷體" panose="03000509000000000000" pitchFamily="65" charset="-120"/>
              </a:rPr>
              <a:t>個性、行為</a:t>
            </a:r>
            <a:r>
              <a:rPr lang="zh-TW" altLang="en-US" dirty="0"/>
              <a:t> </a:t>
            </a:r>
          </a:p>
        </p:txBody>
      </p:sp>
      <p:sp>
        <p:nvSpPr>
          <p:cNvPr id="6" name="矩形 5">
            <a:extLst>
              <a:ext uri="{FF2B5EF4-FFF2-40B4-BE49-F238E27FC236}">
                <a16:creationId xmlns:a16="http://schemas.microsoft.com/office/drawing/2014/main" id="{503EE22E-0BD0-6B85-42D6-BB86E633399A}"/>
              </a:ext>
            </a:extLst>
          </p:cNvPr>
          <p:cNvSpPr/>
          <p:nvPr/>
        </p:nvSpPr>
        <p:spPr>
          <a:xfrm>
            <a:off x="962441" y="2348880"/>
            <a:ext cx="3576621" cy="1107996"/>
          </a:xfrm>
          <a:prstGeom prst="rect">
            <a:avLst/>
          </a:prstGeom>
          <a:noFill/>
        </p:spPr>
        <p:txBody>
          <a:bodyPr wrap="none">
            <a:spAutoFit/>
          </a:bodyPr>
          <a:lstStyle/>
          <a:p>
            <a:pPr algn="ctr">
              <a:defRPr/>
            </a:pPr>
            <a:r>
              <a:rPr lang="zh-TW" altLang="en-US" sz="6600" b="1" dirty="0">
                <a:ln w="17780" cmpd="sng">
                  <a:solidFill>
                    <a:srgbClr val="FFFFFF"/>
                  </a:solidFill>
                  <a:prstDash val="solid"/>
                  <a:miter lim="800000"/>
                </a:ln>
                <a:solidFill>
                  <a:srgbClr val="3333CC"/>
                </a:solidFill>
                <a:effectLst>
                  <a:outerShdw blurRad="50800" algn="tl" rotWithShape="0">
                    <a:srgbClr val="000000"/>
                  </a:outerShdw>
                </a:effectLst>
                <a:latin typeface="標楷體" pitchFamily="65" charset="-120"/>
              </a:rPr>
              <a:t>男性是</a:t>
            </a:r>
            <a:r>
              <a:rPr lang="en-US" altLang="zh-TW" sz="6600" b="1" dirty="0">
                <a:ln w="17780" cmpd="sng">
                  <a:solidFill>
                    <a:srgbClr val="FFFFFF"/>
                  </a:solidFill>
                  <a:prstDash val="solid"/>
                  <a:miter lim="800000"/>
                </a:ln>
                <a:solidFill>
                  <a:srgbClr val="3333CC"/>
                </a:solidFill>
                <a:effectLst>
                  <a:outerShdw blurRad="50800" algn="tl" rotWithShape="0">
                    <a:srgbClr val="000000"/>
                  </a:outerShdw>
                </a:effectLst>
                <a:latin typeface="標楷體" pitchFamily="65" charset="-120"/>
              </a:rPr>
              <a:t>…</a:t>
            </a:r>
            <a:endParaRPr lang="zh-TW" altLang="en-US" sz="6600" b="1" dirty="0">
              <a:ln w="17780" cmpd="sng">
                <a:solidFill>
                  <a:srgbClr val="FFFFFF"/>
                </a:solidFill>
                <a:prstDash val="solid"/>
                <a:miter lim="800000"/>
              </a:ln>
              <a:solidFill>
                <a:srgbClr val="3333CC"/>
              </a:solidFill>
              <a:effectLst>
                <a:outerShdw blurRad="50800" algn="tl" rotWithShape="0">
                  <a:srgbClr val="000000"/>
                </a:outerShdw>
              </a:effectLst>
            </a:endParaRPr>
          </a:p>
        </p:txBody>
      </p:sp>
      <p:sp>
        <p:nvSpPr>
          <p:cNvPr id="7" name="矩形 6">
            <a:extLst>
              <a:ext uri="{FF2B5EF4-FFF2-40B4-BE49-F238E27FC236}">
                <a16:creationId xmlns:a16="http://schemas.microsoft.com/office/drawing/2014/main" id="{78B08E9B-A616-1623-CE2C-A1FA886D98EB}"/>
              </a:ext>
            </a:extLst>
          </p:cNvPr>
          <p:cNvSpPr/>
          <p:nvPr/>
        </p:nvSpPr>
        <p:spPr>
          <a:xfrm>
            <a:off x="2461619" y="4221088"/>
            <a:ext cx="3600666" cy="1107996"/>
          </a:xfrm>
          <a:prstGeom prst="rect">
            <a:avLst/>
          </a:prstGeom>
          <a:noFill/>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defRPr/>
            </a:pPr>
            <a:r>
              <a:rPr lang="zh-TW" altLang="en-US" sz="6600" b="1" spc="50" dirty="0">
                <a:ln w="11430"/>
                <a:solidFill>
                  <a:srgbClr val="CC00CC"/>
                </a:solidFill>
                <a:effectLst>
                  <a:outerShdw blurRad="76200" dist="50800" dir="5400000" algn="tl" rotWithShape="0">
                    <a:srgbClr val="000000">
                      <a:alpha val="65000"/>
                    </a:srgbClr>
                  </a:outerShdw>
                </a:effectLst>
              </a:rPr>
              <a:t>女性是</a:t>
            </a:r>
            <a:r>
              <a:rPr lang="en-US" altLang="zh-TW" sz="6600" b="1" spc="50" dirty="0">
                <a:ln w="11430"/>
                <a:solidFill>
                  <a:srgbClr val="CC00CC"/>
                </a:solidFill>
                <a:effectLst>
                  <a:outerShdw blurRad="76200" dist="50800" dir="5400000" algn="tl" rotWithShape="0">
                    <a:srgbClr val="000000">
                      <a:alpha val="65000"/>
                    </a:srgbClr>
                  </a:outerShdw>
                </a:effectLst>
              </a:rPr>
              <a:t>…</a:t>
            </a:r>
            <a:endParaRPr lang="zh-TW" altLang="en-US" sz="6600" b="1" spc="50" dirty="0">
              <a:ln w="11430"/>
              <a:solidFill>
                <a:srgbClr val="CC00CC"/>
              </a:solidFill>
              <a:effectLst>
                <a:outerShdw blurRad="76200" dist="50800" dir="5400000" algn="tl" rotWithShape="0">
                  <a:srgbClr val="000000">
                    <a:alpha val="65000"/>
                  </a:srgbClr>
                </a:outerShdw>
              </a:effectLst>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a:extLst>
              <a:ext uri="{FF2B5EF4-FFF2-40B4-BE49-F238E27FC236}">
                <a16:creationId xmlns:a16="http://schemas.microsoft.com/office/drawing/2014/main" id="{8CA0A651-70EB-29EA-E489-CDFB8DB533BD}"/>
              </a:ext>
            </a:extLst>
          </p:cNvPr>
          <p:cNvSpPr txBox="1">
            <a:spLocks noChangeArrowheads="1"/>
          </p:cNvSpPr>
          <p:nvPr/>
        </p:nvSpPr>
        <p:spPr bwMode="auto">
          <a:xfrm>
            <a:off x="1752600" y="171450"/>
            <a:ext cx="1447800" cy="277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標楷體" panose="03000509000000000000" pitchFamily="65" charset="-120"/>
              </a:defRPr>
            </a:lvl1pPr>
            <a:lvl2pPr marL="742950" indent="-285750" eaLnBrk="0" hangingPunct="0">
              <a:defRPr kumimoji="1" sz="2400">
                <a:solidFill>
                  <a:schemeClr val="tx1"/>
                </a:solidFill>
                <a:latin typeface="Tahoma" panose="020B0604030504040204" pitchFamily="34" charset="0"/>
                <a:ea typeface="標楷體" panose="03000509000000000000" pitchFamily="65" charset="-120"/>
              </a:defRPr>
            </a:lvl2pPr>
            <a:lvl3pPr marL="1143000" indent="-228600" eaLnBrk="0" hangingPunct="0">
              <a:defRPr kumimoji="1" sz="2400">
                <a:solidFill>
                  <a:schemeClr val="tx1"/>
                </a:solidFill>
                <a:latin typeface="Tahoma" panose="020B0604030504040204" pitchFamily="34" charset="0"/>
                <a:ea typeface="標楷體" panose="03000509000000000000" pitchFamily="65" charset="-120"/>
              </a:defRPr>
            </a:lvl3pPr>
            <a:lvl4pPr marL="1600200" indent="-228600" eaLnBrk="0" hangingPunct="0">
              <a:defRPr kumimoji="1" sz="2400">
                <a:solidFill>
                  <a:schemeClr val="tx1"/>
                </a:solidFill>
                <a:latin typeface="Tahoma" panose="020B0604030504040204" pitchFamily="34" charset="0"/>
                <a:ea typeface="標楷體" panose="03000509000000000000" pitchFamily="65" charset="-120"/>
              </a:defRPr>
            </a:lvl4pPr>
            <a:lvl5pPr marL="2057400" indent="-228600" eaLnBrk="0" hangingPunct="0">
              <a:defRPr kumimoji="1" sz="24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9pPr>
          </a:lstStyle>
          <a:p>
            <a:pPr eaLnBrk="1" hangingPunct="1">
              <a:spcBef>
                <a:spcPct val="50000"/>
              </a:spcBef>
            </a:pPr>
            <a:endParaRPr lang="en-US" altLang="zh-TW" sz="4400">
              <a:latin typeface="Times New Roman" panose="02020603050405020304" pitchFamily="18" charset="0"/>
              <a:ea typeface="新細明體" panose="02020500000000000000" pitchFamily="18" charset="-120"/>
            </a:endParaRPr>
          </a:p>
          <a:p>
            <a:pPr eaLnBrk="1" hangingPunct="1">
              <a:spcBef>
                <a:spcPct val="50000"/>
              </a:spcBef>
            </a:pPr>
            <a:endParaRPr lang="en-US" altLang="zh-TW" sz="4400">
              <a:latin typeface="Times New Roman" panose="02020603050405020304" pitchFamily="18" charset="0"/>
              <a:ea typeface="新細明體" panose="02020500000000000000" pitchFamily="18" charset="-120"/>
            </a:endParaRPr>
          </a:p>
          <a:p>
            <a:pPr eaLnBrk="1" hangingPunct="1">
              <a:spcBef>
                <a:spcPct val="50000"/>
              </a:spcBef>
            </a:pPr>
            <a:endParaRPr lang="en-US" altLang="zh-TW" sz="4400">
              <a:latin typeface="Times New Roman" panose="02020603050405020304" pitchFamily="18" charset="0"/>
              <a:ea typeface="新細明體" panose="02020500000000000000" pitchFamily="18" charset="-120"/>
            </a:endParaRPr>
          </a:p>
        </p:txBody>
      </p:sp>
      <p:sp>
        <p:nvSpPr>
          <p:cNvPr id="9219" name="Text Box 3">
            <a:extLst>
              <a:ext uri="{FF2B5EF4-FFF2-40B4-BE49-F238E27FC236}">
                <a16:creationId xmlns:a16="http://schemas.microsoft.com/office/drawing/2014/main" id="{E9CDE924-EF42-FE64-4485-31D8FB5D706E}"/>
              </a:ext>
            </a:extLst>
          </p:cNvPr>
          <p:cNvSpPr txBox="1">
            <a:spLocks noChangeArrowheads="1"/>
          </p:cNvSpPr>
          <p:nvPr/>
        </p:nvSpPr>
        <p:spPr bwMode="auto">
          <a:xfrm>
            <a:off x="533400" y="1447800"/>
            <a:ext cx="99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標楷體" panose="03000509000000000000" pitchFamily="65" charset="-120"/>
              </a:defRPr>
            </a:lvl1pPr>
            <a:lvl2pPr marL="742950" indent="-285750" eaLnBrk="0" hangingPunct="0">
              <a:defRPr kumimoji="1" sz="2400">
                <a:solidFill>
                  <a:schemeClr val="tx1"/>
                </a:solidFill>
                <a:latin typeface="Tahoma" panose="020B0604030504040204" pitchFamily="34" charset="0"/>
                <a:ea typeface="標楷體" panose="03000509000000000000" pitchFamily="65" charset="-120"/>
              </a:defRPr>
            </a:lvl2pPr>
            <a:lvl3pPr marL="1143000" indent="-228600" eaLnBrk="0" hangingPunct="0">
              <a:defRPr kumimoji="1" sz="2400">
                <a:solidFill>
                  <a:schemeClr val="tx1"/>
                </a:solidFill>
                <a:latin typeface="Tahoma" panose="020B0604030504040204" pitchFamily="34" charset="0"/>
                <a:ea typeface="標楷體" panose="03000509000000000000" pitchFamily="65" charset="-120"/>
              </a:defRPr>
            </a:lvl3pPr>
            <a:lvl4pPr marL="1600200" indent="-228600" eaLnBrk="0" hangingPunct="0">
              <a:defRPr kumimoji="1" sz="2400">
                <a:solidFill>
                  <a:schemeClr val="tx1"/>
                </a:solidFill>
                <a:latin typeface="Tahoma" panose="020B0604030504040204" pitchFamily="34" charset="0"/>
                <a:ea typeface="標楷體" panose="03000509000000000000" pitchFamily="65" charset="-120"/>
              </a:defRPr>
            </a:lvl4pPr>
            <a:lvl5pPr marL="2057400" indent="-228600" eaLnBrk="0" hangingPunct="0">
              <a:defRPr kumimoji="1" sz="24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9pPr>
          </a:lstStyle>
          <a:p>
            <a:pPr eaLnBrk="1" hangingPunct="1">
              <a:spcBef>
                <a:spcPct val="50000"/>
              </a:spcBef>
            </a:pPr>
            <a:endParaRPr lang="zh-TW" altLang="zh-TW">
              <a:latin typeface="Times New Roman" panose="02020603050405020304" pitchFamily="18" charset="0"/>
              <a:ea typeface="新細明體" panose="02020500000000000000" pitchFamily="18" charset="-120"/>
            </a:endParaRPr>
          </a:p>
        </p:txBody>
      </p:sp>
      <p:sp>
        <p:nvSpPr>
          <p:cNvPr id="18438" name="Text Box 6">
            <a:extLst>
              <a:ext uri="{FF2B5EF4-FFF2-40B4-BE49-F238E27FC236}">
                <a16:creationId xmlns:a16="http://schemas.microsoft.com/office/drawing/2014/main" id="{D122889A-E920-59D5-408F-E612C3AC4A8D}"/>
              </a:ext>
            </a:extLst>
          </p:cNvPr>
          <p:cNvSpPr txBox="1">
            <a:spLocks noChangeArrowheads="1"/>
          </p:cNvSpPr>
          <p:nvPr/>
        </p:nvSpPr>
        <p:spPr bwMode="auto">
          <a:xfrm>
            <a:off x="3276600" y="2286000"/>
            <a:ext cx="533400" cy="1373188"/>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標楷體" panose="03000509000000000000" pitchFamily="65" charset="-120"/>
              </a:defRPr>
            </a:lvl1pPr>
            <a:lvl2pPr marL="742950" indent="-285750" eaLnBrk="0" hangingPunct="0">
              <a:defRPr kumimoji="1" sz="2400">
                <a:solidFill>
                  <a:schemeClr val="tx1"/>
                </a:solidFill>
                <a:latin typeface="Tahoma" panose="020B0604030504040204" pitchFamily="34" charset="0"/>
                <a:ea typeface="標楷體" panose="03000509000000000000" pitchFamily="65" charset="-120"/>
              </a:defRPr>
            </a:lvl2pPr>
            <a:lvl3pPr marL="1143000" indent="-228600" eaLnBrk="0" hangingPunct="0">
              <a:defRPr kumimoji="1" sz="2400">
                <a:solidFill>
                  <a:schemeClr val="tx1"/>
                </a:solidFill>
                <a:latin typeface="Tahoma" panose="020B0604030504040204" pitchFamily="34" charset="0"/>
                <a:ea typeface="標楷體" panose="03000509000000000000" pitchFamily="65" charset="-120"/>
              </a:defRPr>
            </a:lvl3pPr>
            <a:lvl4pPr marL="1600200" indent="-228600" eaLnBrk="0" hangingPunct="0">
              <a:defRPr kumimoji="1" sz="2400">
                <a:solidFill>
                  <a:schemeClr val="tx1"/>
                </a:solidFill>
                <a:latin typeface="Tahoma" panose="020B0604030504040204" pitchFamily="34" charset="0"/>
                <a:ea typeface="標楷體" panose="03000509000000000000" pitchFamily="65" charset="-120"/>
              </a:defRPr>
            </a:lvl4pPr>
            <a:lvl5pPr marL="2057400" indent="-228600" eaLnBrk="0" hangingPunct="0">
              <a:defRPr kumimoji="1" sz="24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9pPr>
          </a:lstStyle>
          <a:p>
            <a:pPr eaLnBrk="1" hangingPunct="1">
              <a:spcBef>
                <a:spcPct val="50000"/>
              </a:spcBef>
            </a:pPr>
            <a:r>
              <a:rPr lang="zh-TW" altLang="en-US" sz="2800">
                <a:latin typeface="Times New Roman" panose="02020603050405020304" pitchFamily="18" charset="0"/>
              </a:rPr>
              <a:t>溫柔的</a:t>
            </a:r>
          </a:p>
        </p:txBody>
      </p:sp>
      <p:sp>
        <p:nvSpPr>
          <p:cNvPr id="18439" name="Text Box 7">
            <a:extLst>
              <a:ext uri="{FF2B5EF4-FFF2-40B4-BE49-F238E27FC236}">
                <a16:creationId xmlns:a16="http://schemas.microsoft.com/office/drawing/2014/main" id="{A72AF7A3-BC4B-975F-878E-2EC71053DF04}"/>
              </a:ext>
            </a:extLst>
          </p:cNvPr>
          <p:cNvSpPr txBox="1">
            <a:spLocks noChangeArrowheads="1"/>
          </p:cNvSpPr>
          <p:nvPr/>
        </p:nvSpPr>
        <p:spPr bwMode="auto">
          <a:xfrm>
            <a:off x="2452688" y="2286000"/>
            <a:ext cx="611187" cy="198120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kumimoji="1" sz="2400">
                <a:solidFill>
                  <a:schemeClr val="tx1"/>
                </a:solidFill>
                <a:latin typeface="Tahoma" panose="020B0604030504040204" pitchFamily="34" charset="0"/>
                <a:ea typeface="標楷體" panose="03000509000000000000" pitchFamily="65" charset="-120"/>
              </a:defRPr>
            </a:lvl1pPr>
            <a:lvl2pPr marL="742950" indent="-285750" eaLnBrk="0" hangingPunct="0">
              <a:defRPr kumimoji="1" sz="2400">
                <a:solidFill>
                  <a:schemeClr val="tx1"/>
                </a:solidFill>
                <a:latin typeface="Tahoma" panose="020B0604030504040204" pitchFamily="34" charset="0"/>
                <a:ea typeface="標楷體" panose="03000509000000000000" pitchFamily="65" charset="-120"/>
              </a:defRPr>
            </a:lvl2pPr>
            <a:lvl3pPr marL="1143000" indent="-228600" eaLnBrk="0" hangingPunct="0">
              <a:defRPr kumimoji="1" sz="2400">
                <a:solidFill>
                  <a:schemeClr val="tx1"/>
                </a:solidFill>
                <a:latin typeface="Tahoma" panose="020B0604030504040204" pitchFamily="34" charset="0"/>
                <a:ea typeface="標楷體" panose="03000509000000000000" pitchFamily="65" charset="-120"/>
              </a:defRPr>
            </a:lvl3pPr>
            <a:lvl4pPr marL="1600200" indent="-228600" eaLnBrk="0" hangingPunct="0">
              <a:defRPr kumimoji="1" sz="2400">
                <a:solidFill>
                  <a:schemeClr val="tx1"/>
                </a:solidFill>
                <a:latin typeface="Tahoma" panose="020B0604030504040204" pitchFamily="34" charset="0"/>
                <a:ea typeface="標楷體" panose="03000509000000000000" pitchFamily="65" charset="-120"/>
              </a:defRPr>
            </a:lvl4pPr>
            <a:lvl5pPr marL="2057400" indent="-228600" eaLnBrk="0" hangingPunct="0">
              <a:defRPr kumimoji="1" sz="24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9pPr>
          </a:lstStyle>
          <a:p>
            <a:pPr eaLnBrk="1" hangingPunct="1">
              <a:spcBef>
                <a:spcPct val="50000"/>
              </a:spcBef>
            </a:pPr>
            <a:r>
              <a:rPr lang="zh-TW" altLang="en-US" sz="2800">
                <a:latin typeface="Times New Roman" panose="02020603050405020304" pitchFamily="18" charset="0"/>
              </a:rPr>
              <a:t>輕聲細語的</a:t>
            </a:r>
          </a:p>
        </p:txBody>
      </p:sp>
      <p:sp>
        <p:nvSpPr>
          <p:cNvPr id="18440" name="Text Box 8">
            <a:extLst>
              <a:ext uri="{FF2B5EF4-FFF2-40B4-BE49-F238E27FC236}">
                <a16:creationId xmlns:a16="http://schemas.microsoft.com/office/drawing/2014/main" id="{D535F4FD-931B-A924-1109-B2209A138127}"/>
              </a:ext>
            </a:extLst>
          </p:cNvPr>
          <p:cNvSpPr txBox="1">
            <a:spLocks noChangeArrowheads="1"/>
          </p:cNvSpPr>
          <p:nvPr/>
        </p:nvSpPr>
        <p:spPr bwMode="auto">
          <a:xfrm>
            <a:off x="5872163" y="2133600"/>
            <a:ext cx="620712" cy="1219200"/>
          </a:xfrm>
          <a:prstGeom prst="rect">
            <a:avLst/>
          </a:prstGeom>
          <a:solidFill>
            <a:srgbClr val="CC99FF"/>
          </a:solidFill>
          <a:ln w="9525">
            <a:solidFill>
              <a:schemeClr val="accent1"/>
            </a:solidFill>
            <a:miter lim="800000"/>
            <a:headEnd/>
            <a:tailEnd/>
          </a:ln>
        </p:spPr>
        <p:txBody>
          <a:bodyPr vert="eaVert">
            <a:spAutoFit/>
          </a:bodyPr>
          <a:lstStyle>
            <a:lvl1pPr eaLnBrk="0" hangingPunct="0">
              <a:defRPr kumimoji="1" sz="2400">
                <a:solidFill>
                  <a:schemeClr val="tx1"/>
                </a:solidFill>
                <a:latin typeface="Tahoma" panose="020B0604030504040204" pitchFamily="34" charset="0"/>
                <a:ea typeface="標楷體" panose="03000509000000000000" pitchFamily="65" charset="-120"/>
              </a:defRPr>
            </a:lvl1pPr>
            <a:lvl2pPr marL="742950" indent="-285750" eaLnBrk="0" hangingPunct="0">
              <a:defRPr kumimoji="1" sz="2400">
                <a:solidFill>
                  <a:schemeClr val="tx1"/>
                </a:solidFill>
                <a:latin typeface="Tahoma" panose="020B0604030504040204" pitchFamily="34" charset="0"/>
                <a:ea typeface="標楷體" panose="03000509000000000000" pitchFamily="65" charset="-120"/>
              </a:defRPr>
            </a:lvl2pPr>
            <a:lvl3pPr marL="1143000" indent="-228600" eaLnBrk="0" hangingPunct="0">
              <a:defRPr kumimoji="1" sz="2400">
                <a:solidFill>
                  <a:schemeClr val="tx1"/>
                </a:solidFill>
                <a:latin typeface="Tahoma" panose="020B0604030504040204" pitchFamily="34" charset="0"/>
                <a:ea typeface="標楷體" panose="03000509000000000000" pitchFamily="65" charset="-120"/>
              </a:defRPr>
            </a:lvl3pPr>
            <a:lvl4pPr marL="1600200" indent="-228600" eaLnBrk="0" hangingPunct="0">
              <a:defRPr kumimoji="1" sz="2400">
                <a:solidFill>
                  <a:schemeClr val="tx1"/>
                </a:solidFill>
                <a:latin typeface="Tahoma" panose="020B0604030504040204" pitchFamily="34" charset="0"/>
                <a:ea typeface="標楷體" panose="03000509000000000000" pitchFamily="65" charset="-120"/>
              </a:defRPr>
            </a:lvl4pPr>
            <a:lvl5pPr marL="2057400" indent="-228600" eaLnBrk="0" hangingPunct="0">
              <a:defRPr kumimoji="1" sz="24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9pPr>
          </a:lstStyle>
          <a:p>
            <a:pPr eaLnBrk="1" hangingPunct="1">
              <a:spcBef>
                <a:spcPct val="50000"/>
              </a:spcBef>
            </a:pPr>
            <a:r>
              <a:rPr lang="zh-TW" altLang="en-US" sz="2800">
                <a:latin typeface="Times New Roman" panose="02020603050405020304" pitchFamily="18" charset="0"/>
              </a:rPr>
              <a:t>勇敢的</a:t>
            </a:r>
          </a:p>
        </p:txBody>
      </p:sp>
      <p:sp>
        <p:nvSpPr>
          <p:cNvPr id="18441" name="Text Box 9">
            <a:extLst>
              <a:ext uri="{FF2B5EF4-FFF2-40B4-BE49-F238E27FC236}">
                <a16:creationId xmlns:a16="http://schemas.microsoft.com/office/drawing/2014/main" id="{000DE9B4-0448-B812-A8F7-B11427BDA3BB}"/>
              </a:ext>
            </a:extLst>
          </p:cNvPr>
          <p:cNvSpPr txBox="1">
            <a:spLocks noChangeArrowheads="1"/>
          </p:cNvSpPr>
          <p:nvPr/>
        </p:nvSpPr>
        <p:spPr bwMode="auto">
          <a:xfrm>
            <a:off x="7710488" y="2133600"/>
            <a:ext cx="611187" cy="1295400"/>
          </a:xfrm>
          <a:prstGeom prst="rect">
            <a:avLst/>
          </a:prstGeom>
          <a:solidFill>
            <a:srgbClr val="CC99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kumimoji="1" sz="2400">
                <a:solidFill>
                  <a:schemeClr val="tx1"/>
                </a:solidFill>
                <a:latin typeface="Tahoma" panose="020B0604030504040204" pitchFamily="34" charset="0"/>
                <a:ea typeface="標楷體" panose="03000509000000000000" pitchFamily="65" charset="-120"/>
              </a:defRPr>
            </a:lvl1pPr>
            <a:lvl2pPr marL="742950" indent="-285750" eaLnBrk="0" hangingPunct="0">
              <a:defRPr kumimoji="1" sz="2400">
                <a:solidFill>
                  <a:schemeClr val="tx1"/>
                </a:solidFill>
                <a:latin typeface="Tahoma" panose="020B0604030504040204" pitchFamily="34" charset="0"/>
                <a:ea typeface="標楷體" panose="03000509000000000000" pitchFamily="65" charset="-120"/>
              </a:defRPr>
            </a:lvl2pPr>
            <a:lvl3pPr marL="1143000" indent="-228600" eaLnBrk="0" hangingPunct="0">
              <a:defRPr kumimoji="1" sz="2400">
                <a:solidFill>
                  <a:schemeClr val="tx1"/>
                </a:solidFill>
                <a:latin typeface="Tahoma" panose="020B0604030504040204" pitchFamily="34" charset="0"/>
                <a:ea typeface="標楷體" panose="03000509000000000000" pitchFamily="65" charset="-120"/>
              </a:defRPr>
            </a:lvl3pPr>
            <a:lvl4pPr marL="1600200" indent="-228600" eaLnBrk="0" hangingPunct="0">
              <a:defRPr kumimoji="1" sz="2400">
                <a:solidFill>
                  <a:schemeClr val="tx1"/>
                </a:solidFill>
                <a:latin typeface="Tahoma" panose="020B0604030504040204" pitchFamily="34" charset="0"/>
                <a:ea typeface="標楷體" panose="03000509000000000000" pitchFamily="65" charset="-120"/>
              </a:defRPr>
            </a:lvl4pPr>
            <a:lvl5pPr marL="2057400" indent="-228600" eaLnBrk="0" hangingPunct="0">
              <a:defRPr kumimoji="1" sz="24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9pPr>
          </a:lstStyle>
          <a:p>
            <a:pPr eaLnBrk="1" hangingPunct="1">
              <a:spcBef>
                <a:spcPct val="50000"/>
              </a:spcBef>
            </a:pPr>
            <a:r>
              <a:rPr lang="zh-TW" altLang="en-US" sz="2800">
                <a:latin typeface="Times New Roman" panose="02020603050405020304" pitchFamily="18" charset="0"/>
              </a:rPr>
              <a:t>獨立的</a:t>
            </a:r>
          </a:p>
        </p:txBody>
      </p:sp>
      <p:sp>
        <p:nvSpPr>
          <p:cNvPr id="18442" name="Text Box 10">
            <a:extLst>
              <a:ext uri="{FF2B5EF4-FFF2-40B4-BE49-F238E27FC236}">
                <a16:creationId xmlns:a16="http://schemas.microsoft.com/office/drawing/2014/main" id="{39C3DC6B-662D-6C99-5DD2-A516818AFA46}"/>
              </a:ext>
            </a:extLst>
          </p:cNvPr>
          <p:cNvSpPr txBox="1">
            <a:spLocks noChangeArrowheads="1"/>
          </p:cNvSpPr>
          <p:nvPr/>
        </p:nvSpPr>
        <p:spPr bwMode="auto">
          <a:xfrm>
            <a:off x="990600" y="2286000"/>
            <a:ext cx="609600" cy="1373188"/>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標楷體" panose="03000509000000000000" pitchFamily="65" charset="-120"/>
              </a:defRPr>
            </a:lvl1pPr>
            <a:lvl2pPr marL="742950" indent="-285750" eaLnBrk="0" hangingPunct="0">
              <a:defRPr kumimoji="1" sz="2400">
                <a:solidFill>
                  <a:schemeClr val="tx1"/>
                </a:solidFill>
                <a:latin typeface="Tahoma" panose="020B0604030504040204" pitchFamily="34" charset="0"/>
                <a:ea typeface="標楷體" panose="03000509000000000000" pitchFamily="65" charset="-120"/>
              </a:defRPr>
            </a:lvl2pPr>
            <a:lvl3pPr marL="1143000" indent="-228600" eaLnBrk="0" hangingPunct="0">
              <a:defRPr kumimoji="1" sz="2400">
                <a:solidFill>
                  <a:schemeClr val="tx1"/>
                </a:solidFill>
                <a:latin typeface="Tahoma" panose="020B0604030504040204" pitchFamily="34" charset="0"/>
                <a:ea typeface="標楷體" panose="03000509000000000000" pitchFamily="65" charset="-120"/>
              </a:defRPr>
            </a:lvl3pPr>
            <a:lvl4pPr marL="1600200" indent="-228600" eaLnBrk="0" hangingPunct="0">
              <a:defRPr kumimoji="1" sz="2400">
                <a:solidFill>
                  <a:schemeClr val="tx1"/>
                </a:solidFill>
                <a:latin typeface="Tahoma" panose="020B0604030504040204" pitchFamily="34" charset="0"/>
                <a:ea typeface="標楷體" panose="03000509000000000000" pitchFamily="65" charset="-120"/>
              </a:defRPr>
            </a:lvl4pPr>
            <a:lvl5pPr marL="2057400" indent="-228600" eaLnBrk="0" hangingPunct="0">
              <a:defRPr kumimoji="1" sz="24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9pPr>
          </a:lstStyle>
          <a:p>
            <a:pPr eaLnBrk="1" hangingPunct="1">
              <a:spcBef>
                <a:spcPct val="50000"/>
              </a:spcBef>
            </a:pPr>
            <a:r>
              <a:rPr lang="zh-TW" altLang="en-US" sz="2800">
                <a:latin typeface="Times New Roman" panose="02020603050405020304" pitchFamily="18" charset="0"/>
              </a:rPr>
              <a:t>體貼的</a:t>
            </a:r>
          </a:p>
        </p:txBody>
      </p:sp>
      <p:sp>
        <p:nvSpPr>
          <p:cNvPr id="18443" name="Text Box 11">
            <a:extLst>
              <a:ext uri="{FF2B5EF4-FFF2-40B4-BE49-F238E27FC236}">
                <a16:creationId xmlns:a16="http://schemas.microsoft.com/office/drawing/2014/main" id="{359D5E29-344E-8010-DFBB-E9E51A99DE8F}"/>
              </a:ext>
            </a:extLst>
          </p:cNvPr>
          <p:cNvSpPr txBox="1">
            <a:spLocks noChangeArrowheads="1"/>
          </p:cNvSpPr>
          <p:nvPr/>
        </p:nvSpPr>
        <p:spPr bwMode="auto">
          <a:xfrm>
            <a:off x="1690688" y="2286000"/>
            <a:ext cx="611187" cy="1430338"/>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kumimoji="1" sz="2400">
                <a:solidFill>
                  <a:schemeClr val="tx1"/>
                </a:solidFill>
                <a:latin typeface="Tahoma" panose="020B0604030504040204" pitchFamily="34" charset="0"/>
                <a:ea typeface="標楷體" panose="03000509000000000000" pitchFamily="65" charset="-120"/>
              </a:defRPr>
            </a:lvl1pPr>
            <a:lvl2pPr marL="742950" indent="-285750" eaLnBrk="0" hangingPunct="0">
              <a:defRPr kumimoji="1" sz="2400">
                <a:solidFill>
                  <a:schemeClr val="tx1"/>
                </a:solidFill>
                <a:latin typeface="Tahoma" panose="020B0604030504040204" pitchFamily="34" charset="0"/>
                <a:ea typeface="標楷體" panose="03000509000000000000" pitchFamily="65" charset="-120"/>
              </a:defRPr>
            </a:lvl2pPr>
            <a:lvl3pPr marL="1143000" indent="-228600" eaLnBrk="0" hangingPunct="0">
              <a:defRPr kumimoji="1" sz="2400">
                <a:solidFill>
                  <a:schemeClr val="tx1"/>
                </a:solidFill>
                <a:latin typeface="Tahoma" panose="020B0604030504040204" pitchFamily="34" charset="0"/>
                <a:ea typeface="標楷體" panose="03000509000000000000" pitchFamily="65" charset="-120"/>
              </a:defRPr>
            </a:lvl3pPr>
            <a:lvl4pPr marL="1600200" indent="-228600" eaLnBrk="0" hangingPunct="0">
              <a:defRPr kumimoji="1" sz="2400">
                <a:solidFill>
                  <a:schemeClr val="tx1"/>
                </a:solidFill>
                <a:latin typeface="Tahoma" panose="020B0604030504040204" pitchFamily="34" charset="0"/>
                <a:ea typeface="標楷體" panose="03000509000000000000" pitchFamily="65" charset="-120"/>
              </a:defRPr>
            </a:lvl4pPr>
            <a:lvl5pPr marL="2057400" indent="-228600" eaLnBrk="0" hangingPunct="0">
              <a:defRPr kumimoji="1" sz="24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9pPr>
          </a:lstStyle>
          <a:p>
            <a:pPr eaLnBrk="1" hangingPunct="1">
              <a:spcBef>
                <a:spcPct val="50000"/>
              </a:spcBef>
            </a:pPr>
            <a:r>
              <a:rPr lang="zh-TW" altLang="en-US" sz="2800">
                <a:latin typeface="Times New Roman" panose="02020603050405020304" pitchFamily="18" charset="0"/>
              </a:rPr>
              <a:t>細心的</a:t>
            </a:r>
          </a:p>
        </p:txBody>
      </p:sp>
      <p:sp>
        <p:nvSpPr>
          <p:cNvPr id="18444" name="Text Box 12">
            <a:extLst>
              <a:ext uri="{FF2B5EF4-FFF2-40B4-BE49-F238E27FC236}">
                <a16:creationId xmlns:a16="http://schemas.microsoft.com/office/drawing/2014/main" id="{5B735A0F-474C-7C9B-9CB0-664802AE8A1D}"/>
              </a:ext>
            </a:extLst>
          </p:cNvPr>
          <p:cNvSpPr txBox="1">
            <a:spLocks noChangeArrowheads="1"/>
          </p:cNvSpPr>
          <p:nvPr/>
        </p:nvSpPr>
        <p:spPr bwMode="auto">
          <a:xfrm>
            <a:off x="6796088" y="2133600"/>
            <a:ext cx="611187" cy="1219200"/>
          </a:xfrm>
          <a:prstGeom prst="rect">
            <a:avLst/>
          </a:prstGeom>
          <a:solidFill>
            <a:srgbClr val="CC99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kumimoji="1" sz="2400">
                <a:solidFill>
                  <a:schemeClr val="tx1"/>
                </a:solidFill>
                <a:latin typeface="Tahoma" panose="020B0604030504040204" pitchFamily="34" charset="0"/>
                <a:ea typeface="標楷體" panose="03000509000000000000" pitchFamily="65" charset="-120"/>
              </a:defRPr>
            </a:lvl1pPr>
            <a:lvl2pPr marL="742950" indent="-285750" eaLnBrk="0" hangingPunct="0">
              <a:defRPr kumimoji="1" sz="2400">
                <a:solidFill>
                  <a:schemeClr val="tx1"/>
                </a:solidFill>
                <a:latin typeface="Tahoma" panose="020B0604030504040204" pitchFamily="34" charset="0"/>
                <a:ea typeface="標楷體" panose="03000509000000000000" pitchFamily="65" charset="-120"/>
              </a:defRPr>
            </a:lvl2pPr>
            <a:lvl3pPr marL="1143000" indent="-228600" eaLnBrk="0" hangingPunct="0">
              <a:defRPr kumimoji="1" sz="2400">
                <a:solidFill>
                  <a:schemeClr val="tx1"/>
                </a:solidFill>
                <a:latin typeface="Tahoma" panose="020B0604030504040204" pitchFamily="34" charset="0"/>
                <a:ea typeface="標楷體" panose="03000509000000000000" pitchFamily="65" charset="-120"/>
              </a:defRPr>
            </a:lvl3pPr>
            <a:lvl4pPr marL="1600200" indent="-228600" eaLnBrk="0" hangingPunct="0">
              <a:defRPr kumimoji="1" sz="2400">
                <a:solidFill>
                  <a:schemeClr val="tx1"/>
                </a:solidFill>
                <a:latin typeface="Tahoma" panose="020B0604030504040204" pitchFamily="34" charset="0"/>
                <a:ea typeface="標楷體" panose="03000509000000000000" pitchFamily="65" charset="-120"/>
              </a:defRPr>
            </a:lvl4pPr>
            <a:lvl5pPr marL="2057400" indent="-228600" eaLnBrk="0" hangingPunct="0">
              <a:defRPr kumimoji="1" sz="24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9pPr>
          </a:lstStyle>
          <a:p>
            <a:pPr eaLnBrk="1" hangingPunct="1">
              <a:spcBef>
                <a:spcPct val="50000"/>
              </a:spcBef>
            </a:pPr>
            <a:r>
              <a:rPr lang="zh-TW" altLang="en-US" sz="2800">
                <a:latin typeface="Times New Roman" panose="02020603050405020304" pitchFamily="18" charset="0"/>
              </a:rPr>
              <a:t>強壯的</a:t>
            </a:r>
          </a:p>
        </p:txBody>
      </p:sp>
      <p:pic>
        <p:nvPicPr>
          <p:cNvPr id="9227" name="Picture 13" descr="Tmp59">
            <a:extLst>
              <a:ext uri="{FF2B5EF4-FFF2-40B4-BE49-F238E27FC236}">
                <a16:creationId xmlns:a16="http://schemas.microsoft.com/office/drawing/2014/main" id="{67992975-CBE4-5692-E15E-D0DF28E66F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59563" y="4508500"/>
            <a:ext cx="2054225" cy="2170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9228" name="Picture 14" descr="maruko3">
            <a:hlinkClick r:id="rId3" action="ppaction://hlinksldjump"/>
            <a:extLst>
              <a:ext uri="{FF2B5EF4-FFF2-40B4-BE49-F238E27FC236}">
                <a16:creationId xmlns:a16="http://schemas.microsoft.com/office/drawing/2014/main" id="{D79EC563-24C0-18D5-8FF5-6381D2C120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8888" y="4437063"/>
            <a:ext cx="1773237" cy="21526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18447" name="AutoShape 15">
            <a:extLst>
              <a:ext uri="{FF2B5EF4-FFF2-40B4-BE49-F238E27FC236}">
                <a16:creationId xmlns:a16="http://schemas.microsoft.com/office/drawing/2014/main" id="{714A76CF-6782-A488-6229-4D4383A4B665}"/>
              </a:ext>
            </a:extLst>
          </p:cNvPr>
          <p:cNvSpPr>
            <a:spLocks noChangeArrowheads="1"/>
          </p:cNvSpPr>
          <p:nvPr/>
        </p:nvSpPr>
        <p:spPr bwMode="auto">
          <a:xfrm>
            <a:off x="2857500" y="4286250"/>
            <a:ext cx="1946275" cy="1296988"/>
          </a:xfrm>
          <a:prstGeom prst="wedgeEllipseCallout">
            <a:avLst>
              <a:gd name="adj1" fmla="val -47880"/>
              <a:gd name="adj2" fmla="val 52449"/>
            </a:avLst>
          </a:prstGeom>
          <a:solidFill>
            <a:schemeClr val="accent1"/>
          </a:solidFill>
          <a:ln w="9525">
            <a:solidFill>
              <a:schemeClr val="tx1"/>
            </a:solidFill>
            <a:miter lim="800000"/>
            <a:headEnd/>
            <a:tailEnd/>
          </a:ln>
        </p:spPr>
        <p:txBody>
          <a:bodyPr/>
          <a:lstStyle>
            <a:lvl1pPr eaLnBrk="0" hangingPunct="0">
              <a:defRPr kumimoji="1" sz="2400">
                <a:solidFill>
                  <a:schemeClr val="tx1"/>
                </a:solidFill>
                <a:latin typeface="Tahoma" panose="020B0604030504040204" pitchFamily="34" charset="0"/>
                <a:ea typeface="標楷體" panose="03000509000000000000" pitchFamily="65" charset="-120"/>
              </a:defRPr>
            </a:lvl1pPr>
            <a:lvl2pPr marL="742950" indent="-285750" eaLnBrk="0" hangingPunct="0">
              <a:defRPr kumimoji="1" sz="2400">
                <a:solidFill>
                  <a:schemeClr val="tx1"/>
                </a:solidFill>
                <a:latin typeface="Tahoma" panose="020B0604030504040204" pitchFamily="34" charset="0"/>
                <a:ea typeface="標楷體" panose="03000509000000000000" pitchFamily="65" charset="-120"/>
              </a:defRPr>
            </a:lvl2pPr>
            <a:lvl3pPr marL="1143000" indent="-228600" eaLnBrk="0" hangingPunct="0">
              <a:defRPr kumimoji="1" sz="2400">
                <a:solidFill>
                  <a:schemeClr val="tx1"/>
                </a:solidFill>
                <a:latin typeface="Tahoma" panose="020B0604030504040204" pitchFamily="34" charset="0"/>
                <a:ea typeface="標楷體" panose="03000509000000000000" pitchFamily="65" charset="-120"/>
              </a:defRPr>
            </a:lvl3pPr>
            <a:lvl4pPr marL="1600200" indent="-228600" eaLnBrk="0" hangingPunct="0">
              <a:defRPr kumimoji="1" sz="2400">
                <a:solidFill>
                  <a:schemeClr val="tx1"/>
                </a:solidFill>
                <a:latin typeface="Tahoma" panose="020B0604030504040204" pitchFamily="34" charset="0"/>
                <a:ea typeface="標楷體" panose="03000509000000000000" pitchFamily="65" charset="-120"/>
              </a:defRPr>
            </a:lvl4pPr>
            <a:lvl5pPr marL="2057400" indent="-228600" eaLnBrk="0" hangingPunct="0">
              <a:defRPr kumimoji="1" sz="24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9pPr>
          </a:lstStyle>
          <a:p>
            <a:pPr algn="ctr" eaLnBrk="1" hangingPunct="1"/>
            <a:r>
              <a:rPr lang="zh-TW" altLang="en-US" sz="1800" b="1">
                <a:solidFill>
                  <a:srgbClr val="003300"/>
                </a:solidFill>
                <a:latin typeface="Arial Narrow" panose="020B0606020202030204" pitchFamily="34" charset="0"/>
              </a:rPr>
              <a:t>大家都說女生要溫柔體貼</a:t>
            </a:r>
          </a:p>
        </p:txBody>
      </p:sp>
      <p:sp>
        <p:nvSpPr>
          <p:cNvPr id="18448" name="AutoShape 16">
            <a:extLst>
              <a:ext uri="{FF2B5EF4-FFF2-40B4-BE49-F238E27FC236}">
                <a16:creationId xmlns:a16="http://schemas.microsoft.com/office/drawing/2014/main" id="{FEE25734-55E4-9762-81EF-2F0F73AD487D}"/>
              </a:ext>
            </a:extLst>
          </p:cNvPr>
          <p:cNvSpPr>
            <a:spLocks noChangeArrowheads="1"/>
          </p:cNvSpPr>
          <p:nvPr/>
        </p:nvSpPr>
        <p:spPr bwMode="auto">
          <a:xfrm>
            <a:off x="4859338" y="3789363"/>
            <a:ext cx="1944687" cy="1368425"/>
          </a:xfrm>
          <a:prstGeom prst="wedgeEllipseCallout">
            <a:avLst>
              <a:gd name="adj1" fmla="val 38000"/>
              <a:gd name="adj2" fmla="val 57310"/>
            </a:avLst>
          </a:prstGeom>
          <a:solidFill>
            <a:schemeClr val="accent1"/>
          </a:solidFill>
          <a:ln w="9525">
            <a:solidFill>
              <a:schemeClr val="tx1"/>
            </a:solidFill>
            <a:miter lim="800000"/>
            <a:headEnd/>
            <a:tailEnd/>
          </a:ln>
        </p:spPr>
        <p:txBody>
          <a:bodyPr/>
          <a:lstStyle>
            <a:lvl1pPr eaLnBrk="0" hangingPunct="0">
              <a:defRPr kumimoji="1" sz="2400">
                <a:solidFill>
                  <a:schemeClr val="tx1"/>
                </a:solidFill>
                <a:latin typeface="Tahoma" panose="020B0604030504040204" pitchFamily="34" charset="0"/>
                <a:ea typeface="標楷體" panose="03000509000000000000" pitchFamily="65" charset="-120"/>
              </a:defRPr>
            </a:lvl1pPr>
            <a:lvl2pPr marL="742950" indent="-285750" eaLnBrk="0" hangingPunct="0">
              <a:defRPr kumimoji="1" sz="2400">
                <a:solidFill>
                  <a:schemeClr val="tx1"/>
                </a:solidFill>
                <a:latin typeface="Tahoma" panose="020B0604030504040204" pitchFamily="34" charset="0"/>
                <a:ea typeface="標楷體" panose="03000509000000000000" pitchFamily="65" charset="-120"/>
              </a:defRPr>
            </a:lvl2pPr>
            <a:lvl3pPr marL="1143000" indent="-228600" eaLnBrk="0" hangingPunct="0">
              <a:defRPr kumimoji="1" sz="2400">
                <a:solidFill>
                  <a:schemeClr val="tx1"/>
                </a:solidFill>
                <a:latin typeface="Tahoma" panose="020B0604030504040204" pitchFamily="34" charset="0"/>
                <a:ea typeface="標楷體" panose="03000509000000000000" pitchFamily="65" charset="-120"/>
              </a:defRPr>
            </a:lvl3pPr>
            <a:lvl4pPr marL="1600200" indent="-228600" eaLnBrk="0" hangingPunct="0">
              <a:defRPr kumimoji="1" sz="2400">
                <a:solidFill>
                  <a:schemeClr val="tx1"/>
                </a:solidFill>
                <a:latin typeface="Tahoma" panose="020B0604030504040204" pitchFamily="34" charset="0"/>
                <a:ea typeface="標楷體" panose="03000509000000000000" pitchFamily="65" charset="-120"/>
              </a:defRPr>
            </a:lvl4pPr>
            <a:lvl5pPr marL="2057400" indent="-228600" eaLnBrk="0" hangingPunct="0">
              <a:defRPr kumimoji="1" sz="24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9pPr>
          </a:lstStyle>
          <a:p>
            <a:pPr algn="ctr" eaLnBrk="1" hangingPunct="1"/>
            <a:r>
              <a:rPr lang="zh-TW" altLang="en-US" sz="1800" b="1">
                <a:solidFill>
                  <a:srgbClr val="003300"/>
                </a:solidFill>
                <a:latin typeface="Arial Narrow" panose="020B0606020202030204" pitchFamily="34" charset="0"/>
              </a:rPr>
              <a:t>大家都說男生要獨立堅強</a:t>
            </a:r>
            <a:endParaRPr lang="zh-TW" altLang="en-US" sz="1800">
              <a:solidFill>
                <a:srgbClr val="003300"/>
              </a:solidFill>
              <a:latin typeface="Arial Narrow" panose="020B0606020202030204" pitchFamily="34" charset="0"/>
            </a:endParaRPr>
          </a:p>
        </p:txBody>
      </p:sp>
      <p:sp>
        <p:nvSpPr>
          <p:cNvPr id="19" name="矩形 18">
            <a:extLst>
              <a:ext uri="{FF2B5EF4-FFF2-40B4-BE49-F238E27FC236}">
                <a16:creationId xmlns:a16="http://schemas.microsoft.com/office/drawing/2014/main" id="{86494D9F-1E3A-5721-2E2F-2F44AA0D931E}"/>
              </a:ext>
            </a:extLst>
          </p:cNvPr>
          <p:cNvSpPr/>
          <p:nvPr/>
        </p:nvSpPr>
        <p:spPr>
          <a:xfrm>
            <a:off x="1973975" y="620688"/>
            <a:ext cx="1032655" cy="1107996"/>
          </a:xfrm>
          <a:prstGeom prst="rect">
            <a:avLst/>
          </a:prstGeom>
          <a:noFill/>
        </p:spPr>
        <p:txBody>
          <a:bodyPr wrap="none">
            <a:spAutoFit/>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algn="ctr">
              <a:defRPr/>
            </a:pPr>
            <a:r>
              <a:rPr lang="zh-TW" altLang="en-US" sz="6600" b="1" cap="all" dirty="0">
                <a:ln/>
                <a:solidFill>
                  <a:srgbClr val="CC00CC"/>
                </a:solidFill>
                <a:effectLst>
                  <a:outerShdw blurRad="19685" dist="12700" dir="5400000" algn="tl" rotWithShape="0">
                    <a:schemeClr val="accent1">
                      <a:satMod val="130000"/>
                      <a:alpha val="60000"/>
                    </a:schemeClr>
                  </a:outerShdw>
                  <a:reflection blurRad="10000" stA="55000" endPos="48000" dist="500" dir="5400000" sy="-100000" algn="bl" rotWithShape="0"/>
                </a:effectLst>
              </a:rPr>
              <a:t>女</a:t>
            </a:r>
          </a:p>
        </p:txBody>
      </p:sp>
      <p:sp>
        <p:nvSpPr>
          <p:cNvPr id="20" name="矩形 19">
            <a:extLst>
              <a:ext uri="{FF2B5EF4-FFF2-40B4-BE49-F238E27FC236}">
                <a16:creationId xmlns:a16="http://schemas.microsoft.com/office/drawing/2014/main" id="{D8E21C03-4BE2-00B2-06AC-A94C1D3973C2}"/>
              </a:ext>
            </a:extLst>
          </p:cNvPr>
          <p:cNvSpPr/>
          <p:nvPr/>
        </p:nvSpPr>
        <p:spPr>
          <a:xfrm>
            <a:off x="6372200" y="620688"/>
            <a:ext cx="1032655" cy="1107996"/>
          </a:xfrm>
          <a:prstGeom prst="rect">
            <a:avLst/>
          </a:prstGeom>
          <a:noFill/>
        </p:spPr>
        <p:txBody>
          <a:bodyPr wrap="none">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defRPr/>
            </a:pPr>
            <a:r>
              <a:rPr lang="zh-TW" altLang="en-US" sz="6600" b="1" dirty="0">
                <a:ln w="11430"/>
                <a:solidFill>
                  <a:srgbClr val="3333CC"/>
                </a:solidFill>
                <a:effectLst>
                  <a:outerShdw blurRad="50800" dist="39000" dir="5460000" algn="tl">
                    <a:srgbClr val="000000">
                      <a:alpha val="38000"/>
                    </a:srgbClr>
                  </a:outerShdw>
                </a:effectLst>
              </a:rPr>
              <a:t>男</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18442"/>
                                        </p:tgtEl>
                                        <p:attrNameLst>
                                          <p:attrName>style.visibility</p:attrName>
                                        </p:attrNameLst>
                                      </p:cBhvr>
                                      <p:to>
                                        <p:strVal val="visible"/>
                                      </p:to>
                                    </p:set>
                                    <p:animEffect transition="in" filter="blinds(horizontal)">
                                      <p:cBhvr>
                                        <p:cTn id="7" dur="500"/>
                                        <p:tgtEl>
                                          <p:spTgt spid="18442"/>
                                        </p:tgtEl>
                                      </p:cBhvr>
                                    </p:animEffect>
                                  </p:childTnLst>
                                </p:cTn>
                              </p:par>
                            </p:childTnLst>
                          </p:cTn>
                        </p:par>
                        <p:par>
                          <p:cTn id="8" fill="hold" nodeType="afterGroup">
                            <p:stCondLst>
                              <p:cond delay="500"/>
                            </p:stCondLst>
                            <p:childTnLst>
                              <p:par>
                                <p:cTn id="9" presetID="3" presetClass="entr" presetSubtype="10" fill="hold" nodeType="afterEffect">
                                  <p:stCondLst>
                                    <p:cond delay="0"/>
                                  </p:stCondLst>
                                  <p:childTnLst>
                                    <p:set>
                                      <p:cBhvr>
                                        <p:cTn id="10" dur="1" fill="hold">
                                          <p:stCondLst>
                                            <p:cond delay="0"/>
                                          </p:stCondLst>
                                        </p:cTn>
                                        <p:tgtEl>
                                          <p:spTgt spid="18443"/>
                                        </p:tgtEl>
                                        <p:attrNameLst>
                                          <p:attrName>style.visibility</p:attrName>
                                        </p:attrNameLst>
                                      </p:cBhvr>
                                      <p:to>
                                        <p:strVal val="visible"/>
                                      </p:to>
                                    </p:set>
                                    <p:animEffect transition="in" filter="blinds(horizontal)">
                                      <p:cBhvr>
                                        <p:cTn id="11" dur="500"/>
                                        <p:tgtEl>
                                          <p:spTgt spid="18443"/>
                                        </p:tgtEl>
                                      </p:cBhvr>
                                    </p:animEffect>
                                  </p:childTnLst>
                                </p:cTn>
                              </p:par>
                            </p:childTnLst>
                          </p:cTn>
                        </p:par>
                        <p:par>
                          <p:cTn id="12" fill="hold" nodeType="afterGroup">
                            <p:stCondLst>
                              <p:cond delay="1000"/>
                            </p:stCondLst>
                            <p:childTnLst>
                              <p:par>
                                <p:cTn id="13" presetID="3" presetClass="entr" presetSubtype="10" fill="hold" nodeType="afterEffect">
                                  <p:stCondLst>
                                    <p:cond delay="0"/>
                                  </p:stCondLst>
                                  <p:childTnLst>
                                    <p:set>
                                      <p:cBhvr>
                                        <p:cTn id="14" dur="1" fill="hold">
                                          <p:stCondLst>
                                            <p:cond delay="0"/>
                                          </p:stCondLst>
                                        </p:cTn>
                                        <p:tgtEl>
                                          <p:spTgt spid="18439"/>
                                        </p:tgtEl>
                                        <p:attrNameLst>
                                          <p:attrName>style.visibility</p:attrName>
                                        </p:attrNameLst>
                                      </p:cBhvr>
                                      <p:to>
                                        <p:strVal val="visible"/>
                                      </p:to>
                                    </p:set>
                                    <p:animEffect transition="in" filter="blinds(horizontal)">
                                      <p:cBhvr>
                                        <p:cTn id="15" dur="500"/>
                                        <p:tgtEl>
                                          <p:spTgt spid="18439"/>
                                        </p:tgtEl>
                                      </p:cBhvr>
                                    </p:animEffect>
                                  </p:childTnLst>
                                </p:cTn>
                              </p:par>
                            </p:childTnLst>
                          </p:cTn>
                        </p:par>
                        <p:par>
                          <p:cTn id="16" fill="hold" nodeType="afterGroup">
                            <p:stCondLst>
                              <p:cond delay="1500"/>
                            </p:stCondLst>
                            <p:childTnLst>
                              <p:par>
                                <p:cTn id="17" presetID="3" presetClass="entr" presetSubtype="10" fill="hold" nodeType="afterEffect">
                                  <p:stCondLst>
                                    <p:cond delay="0"/>
                                  </p:stCondLst>
                                  <p:childTnLst>
                                    <p:set>
                                      <p:cBhvr>
                                        <p:cTn id="18" dur="1" fill="hold">
                                          <p:stCondLst>
                                            <p:cond delay="0"/>
                                          </p:stCondLst>
                                        </p:cTn>
                                        <p:tgtEl>
                                          <p:spTgt spid="18438"/>
                                        </p:tgtEl>
                                        <p:attrNameLst>
                                          <p:attrName>style.visibility</p:attrName>
                                        </p:attrNameLst>
                                      </p:cBhvr>
                                      <p:to>
                                        <p:strVal val="visible"/>
                                      </p:to>
                                    </p:set>
                                    <p:animEffect transition="in" filter="blinds(horizontal)">
                                      <p:cBhvr>
                                        <p:cTn id="19" dur="500"/>
                                        <p:tgtEl>
                                          <p:spTgt spid="18438"/>
                                        </p:tgtEl>
                                      </p:cBhvr>
                                    </p:animEffect>
                                  </p:childTnLst>
                                </p:cTn>
                              </p:par>
                            </p:childTnLst>
                          </p:cTn>
                        </p:par>
                        <p:par>
                          <p:cTn id="20" fill="hold" nodeType="afterGroup">
                            <p:stCondLst>
                              <p:cond delay="2000"/>
                            </p:stCondLst>
                            <p:childTnLst>
                              <p:par>
                                <p:cTn id="21" presetID="3" presetClass="entr" presetSubtype="10" fill="hold" nodeType="afterEffect">
                                  <p:stCondLst>
                                    <p:cond delay="0"/>
                                  </p:stCondLst>
                                  <p:childTnLst>
                                    <p:set>
                                      <p:cBhvr>
                                        <p:cTn id="22" dur="1" fill="hold">
                                          <p:stCondLst>
                                            <p:cond delay="0"/>
                                          </p:stCondLst>
                                        </p:cTn>
                                        <p:tgtEl>
                                          <p:spTgt spid="18440"/>
                                        </p:tgtEl>
                                        <p:attrNameLst>
                                          <p:attrName>style.visibility</p:attrName>
                                        </p:attrNameLst>
                                      </p:cBhvr>
                                      <p:to>
                                        <p:strVal val="visible"/>
                                      </p:to>
                                    </p:set>
                                    <p:animEffect transition="in" filter="blinds(horizontal)">
                                      <p:cBhvr>
                                        <p:cTn id="23" dur="500"/>
                                        <p:tgtEl>
                                          <p:spTgt spid="18440"/>
                                        </p:tgtEl>
                                      </p:cBhvr>
                                    </p:animEffect>
                                  </p:childTnLst>
                                </p:cTn>
                              </p:par>
                            </p:childTnLst>
                          </p:cTn>
                        </p:par>
                        <p:par>
                          <p:cTn id="24" fill="hold" nodeType="afterGroup">
                            <p:stCondLst>
                              <p:cond delay="2500"/>
                            </p:stCondLst>
                            <p:childTnLst>
                              <p:par>
                                <p:cTn id="25" presetID="3" presetClass="entr" presetSubtype="10" fill="hold" nodeType="afterEffect">
                                  <p:stCondLst>
                                    <p:cond delay="0"/>
                                  </p:stCondLst>
                                  <p:childTnLst>
                                    <p:set>
                                      <p:cBhvr>
                                        <p:cTn id="26" dur="1" fill="hold">
                                          <p:stCondLst>
                                            <p:cond delay="0"/>
                                          </p:stCondLst>
                                        </p:cTn>
                                        <p:tgtEl>
                                          <p:spTgt spid="18444"/>
                                        </p:tgtEl>
                                        <p:attrNameLst>
                                          <p:attrName>style.visibility</p:attrName>
                                        </p:attrNameLst>
                                      </p:cBhvr>
                                      <p:to>
                                        <p:strVal val="visible"/>
                                      </p:to>
                                    </p:set>
                                    <p:animEffect transition="in" filter="blinds(horizontal)">
                                      <p:cBhvr>
                                        <p:cTn id="27" dur="500"/>
                                        <p:tgtEl>
                                          <p:spTgt spid="18444"/>
                                        </p:tgtEl>
                                      </p:cBhvr>
                                    </p:animEffect>
                                  </p:childTnLst>
                                </p:cTn>
                              </p:par>
                            </p:childTnLst>
                          </p:cTn>
                        </p:par>
                        <p:par>
                          <p:cTn id="28" fill="hold" nodeType="afterGroup">
                            <p:stCondLst>
                              <p:cond delay="3000"/>
                            </p:stCondLst>
                            <p:childTnLst>
                              <p:par>
                                <p:cTn id="29" presetID="3" presetClass="entr" presetSubtype="10" fill="hold" nodeType="afterEffect">
                                  <p:stCondLst>
                                    <p:cond delay="0"/>
                                  </p:stCondLst>
                                  <p:childTnLst>
                                    <p:set>
                                      <p:cBhvr>
                                        <p:cTn id="30" dur="1" fill="hold">
                                          <p:stCondLst>
                                            <p:cond delay="0"/>
                                          </p:stCondLst>
                                        </p:cTn>
                                        <p:tgtEl>
                                          <p:spTgt spid="18441"/>
                                        </p:tgtEl>
                                        <p:attrNameLst>
                                          <p:attrName>style.visibility</p:attrName>
                                        </p:attrNameLst>
                                      </p:cBhvr>
                                      <p:to>
                                        <p:strVal val="visible"/>
                                      </p:to>
                                    </p:set>
                                    <p:animEffect transition="in" filter="blinds(horizontal)">
                                      <p:cBhvr>
                                        <p:cTn id="31" dur="500"/>
                                        <p:tgtEl>
                                          <p:spTgt spid="18441"/>
                                        </p:tgtEl>
                                      </p:cBhvr>
                                    </p:animEffect>
                                  </p:childTnLst>
                                </p:cTn>
                              </p:par>
                            </p:childTnLst>
                          </p:cTn>
                        </p:par>
                        <p:par>
                          <p:cTn id="32" fill="hold" nodeType="afterGroup">
                            <p:stCondLst>
                              <p:cond delay="3500"/>
                            </p:stCondLst>
                            <p:childTnLst>
                              <p:par>
                                <p:cTn id="33" presetID="8" presetClass="entr" presetSubtype="16" fill="hold" nodeType="afterEffect">
                                  <p:stCondLst>
                                    <p:cond delay="0"/>
                                  </p:stCondLst>
                                  <p:childTnLst>
                                    <p:set>
                                      <p:cBhvr>
                                        <p:cTn id="34" dur="1" fill="hold">
                                          <p:stCondLst>
                                            <p:cond delay="0"/>
                                          </p:stCondLst>
                                        </p:cTn>
                                        <p:tgtEl>
                                          <p:spTgt spid="18447"/>
                                        </p:tgtEl>
                                        <p:attrNameLst>
                                          <p:attrName>style.visibility</p:attrName>
                                        </p:attrNameLst>
                                      </p:cBhvr>
                                      <p:to>
                                        <p:strVal val="visible"/>
                                      </p:to>
                                    </p:set>
                                    <p:animEffect transition="in" filter="diamond(in)">
                                      <p:cBhvr>
                                        <p:cTn id="35" dur="2000"/>
                                        <p:tgtEl>
                                          <p:spTgt spid="18447"/>
                                        </p:tgtEl>
                                      </p:cBhvr>
                                    </p:animEffect>
                                  </p:childTnLst>
                                </p:cTn>
                              </p:par>
                            </p:childTnLst>
                          </p:cTn>
                        </p:par>
                        <p:par>
                          <p:cTn id="36" fill="hold" nodeType="afterGroup">
                            <p:stCondLst>
                              <p:cond delay="5500"/>
                            </p:stCondLst>
                            <p:childTnLst>
                              <p:par>
                                <p:cTn id="37" presetID="8" presetClass="entr" presetSubtype="16" fill="hold" nodeType="afterEffect">
                                  <p:stCondLst>
                                    <p:cond delay="0"/>
                                  </p:stCondLst>
                                  <p:childTnLst>
                                    <p:set>
                                      <p:cBhvr>
                                        <p:cTn id="38" dur="1" fill="hold">
                                          <p:stCondLst>
                                            <p:cond delay="0"/>
                                          </p:stCondLst>
                                        </p:cTn>
                                        <p:tgtEl>
                                          <p:spTgt spid="18448"/>
                                        </p:tgtEl>
                                        <p:attrNameLst>
                                          <p:attrName>style.visibility</p:attrName>
                                        </p:attrNameLst>
                                      </p:cBhvr>
                                      <p:to>
                                        <p:strVal val="visible"/>
                                      </p:to>
                                    </p:set>
                                    <p:animEffect transition="in" filter="diamond(in)">
                                      <p:cBhvr>
                                        <p:cTn id="39" dur="2000"/>
                                        <p:tgtEl>
                                          <p:spTgt spid="184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8" grpId="0" animBg="1"/>
      <p:bldP spid="18439" grpId="0" animBg="1"/>
      <p:bldP spid="18440" grpId="0" animBg="1"/>
      <p:bldP spid="18441" grpId="0" animBg="1"/>
      <p:bldP spid="18442" grpId="0" animBg="1"/>
      <p:bldP spid="18443" grpId="0" animBg="1"/>
      <p:bldP spid="18444" grpId="0" animBg="1"/>
      <p:bldP spid="18447" grpId="0" animBg="1"/>
      <p:bldP spid="1844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596572EF-CF0F-82CC-0976-17B03A95C1A1}"/>
              </a:ext>
            </a:extLst>
          </p:cNvPr>
          <p:cNvSpPr>
            <a:spLocks noGrp="1" noChangeArrowheads="1"/>
          </p:cNvSpPr>
          <p:nvPr>
            <p:ph type="title"/>
          </p:nvPr>
        </p:nvSpPr>
        <p:spPr/>
        <p:txBody>
          <a:bodyPr/>
          <a:lstStyle/>
          <a:p>
            <a:pPr eaLnBrk="1" hangingPunct="1"/>
            <a:r>
              <a:rPr lang="zh-TW" altLang="en-US" sz="4000" b="1">
                <a:latin typeface="標楷體" panose="03000509000000000000" pitchFamily="65" charset="-120"/>
                <a:ea typeface="標楷體" panose="03000509000000000000" pitchFamily="65" charset="-120"/>
              </a:rPr>
              <a:t>中山票選「性別金曲」</a:t>
            </a:r>
            <a:r>
              <a:rPr lang="zh-TW" altLang="en-US" sz="4000" b="1">
                <a:solidFill>
                  <a:srgbClr val="FF9900"/>
                </a:solidFill>
                <a:latin typeface="標楷體" panose="03000509000000000000" pitchFamily="65" charset="-120"/>
                <a:ea typeface="標楷體" panose="03000509000000000000" pitchFamily="65" charset="-120"/>
              </a:rPr>
              <a:t>家後</a:t>
            </a:r>
            <a:r>
              <a:rPr lang="zh-TW" altLang="en-US" sz="4000" b="1">
                <a:latin typeface="標楷體" panose="03000509000000000000" pitchFamily="65" charset="-120"/>
                <a:ea typeface="標楷體" panose="03000509000000000000" pitchFamily="65" charset="-120"/>
              </a:rPr>
              <a:t> 唱出深情 唱出性別歧視</a:t>
            </a:r>
            <a:endParaRPr lang="zh-TW" altLang="en-US" sz="4000"/>
          </a:p>
        </p:txBody>
      </p:sp>
      <p:sp>
        <p:nvSpPr>
          <p:cNvPr id="10243" name="Rectangle 3">
            <a:extLst>
              <a:ext uri="{FF2B5EF4-FFF2-40B4-BE49-F238E27FC236}">
                <a16:creationId xmlns:a16="http://schemas.microsoft.com/office/drawing/2014/main" id="{DBC9B326-DF30-DA3F-C4FA-CBBEA88AB881}"/>
              </a:ext>
            </a:extLst>
          </p:cNvPr>
          <p:cNvSpPr>
            <a:spLocks noGrp="1" noChangeArrowheads="1"/>
          </p:cNvSpPr>
          <p:nvPr>
            <p:ph idx="1"/>
          </p:nvPr>
        </p:nvSpPr>
        <p:spPr>
          <a:xfrm>
            <a:off x="900113" y="2060575"/>
            <a:ext cx="7704137" cy="4114800"/>
          </a:xfrm>
        </p:spPr>
        <p:txBody>
          <a:bodyPr/>
          <a:lstStyle/>
          <a:p>
            <a:pPr marL="0" indent="0" eaLnBrk="1" hangingPunct="1">
              <a:lnSpc>
                <a:spcPct val="90000"/>
              </a:lnSpc>
              <a:buFont typeface="Wingdings" panose="05000000000000000000" pitchFamily="2" charset="2"/>
              <a:buNone/>
            </a:pPr>
            <a:r>
              <a:rPr lang="zh-TW" altLang="en-US" sz="3600">
                <a:latin typeface="標楷體" panose="03000509000000000000" pitchFamily="65" charset="-120"/>
                <a:ea typeface="標楷體" panose="03000509000000000000" pitchFamily="65" charset="-120"/>
              </a:rPr>
              <a:t>中山大學學生票選「性別金曲星光選秀」</a:t>
            </a:r>
            <a:endParaRPr lang="en-US" altLang="zh-TW" sz="3600">
              <a:latin typeface="標楷體" panose="03000509000000000000" pitchFamily="65" charset="-120"/>
              <a:ea typeface="標楷體" panose="03000509000000000000" pitchFamily="65" charset="-120"/>
            </a:endParaRPr>
          </a:p>
          <a:p>
            <a:pPr marL="0" indent="0" eaLnBrk="1" hangingPunct="1">
              <a:lnSpc>
                <a:spcPct val="90000"/>
              </a:lnSpc>
              <a:buFont typeface="Wingdings" panose="05000000000000000000" pitchFamily="2" charset="2"/>
              <a:buNone/>
            </a:pPr>
            <a:r>
              <a:rPr lang="zh-TW" altLang="en-US" sz="3600">
                <a:latin typeface="標楷體" panose="03000509000000000000" pitchFamily="65" charset="-120"/>
                <a:ea typeface="標楷體" panose="03000509000000000000" pitchFamily="65" charset="-120"/>
              </a:rPr>
              <a:t>台語金曲「家後」，被學生認為既健康深情，又具性別歧視刻板印象。</a:t>
            </a:r>
            <a:endParaRPr lang="en-US" altLang="zh-TW" sz="3600">
              <a:latin typeface="標楷體" panose="03000509000000000000" pitchFamily="65" charset="-120"/>
              <a:ea typeface="標楷體" panose="03000509000000000000" pitchFamily="65" charset="-120"/>
            </a:endParaRPr>
          </a:p>
          <a:p>
            <a:pPr marL="0" indent="0" eaLnBrk="1" hangingPunct="1">
              <a:lnSpc>
                <a:spcPct val="90000"/>
              </a:lnSpc>
              <a:buFont typeface="Wingdings" panose="05000000000000000000" pitchFamily="2" charset="2"/>
              <a:buNone/>
            </a:pPr>
            <a:r>
              <a:rPr lang="zh-TW" altLang="en-US" sz="3600">
                <a:latin typeface="標楷體" panose="03000509000000000000" pitchFamily="65" charset="-120"/>
                <a:ea typeface="標楷體" panose="03000509000000000000" pitchFamily="65" charset="-120"/>
              </a:rPr>
              <a:t>「</a:t>
            </a:r>
            <a:r>
              <a:rPr lang="zh-TW" altLang="en-US" sz="3600">
                <a:solidFill>
                  <a:schemeClr val="hlink"/>
                </a:solidFill>
                <a:latin typeface="標楷體" panose="03000509000000000000" pitchFamily="65" charset="-120"/>
                <a:ea typeface="標楷體" panose="03000509000000000000" pitchFamily="65" charset="-120"/>
              </a:rPr>
              <a:t>阮的一生獻乎恁兜，才知幸福是吵吵鬧鬧。</a:t>
            </a:r>
            <a:r>
              <a:rPr lang="zh-TW" altLang="en-US" sz="3600">
                <a:latin typeface="標楷體" panose="03000509000000000000" pitchFamily="65" charset="-120"/>
                <a:ea typeface="標楷體" panose="03000509000000000000" pitchFamily="65" charset="-120"/>
              </a:rPr>
              <a:t>」</a:t>
            </a:r>
            <a:endParaRPr lang="en-US" altLang="zh-TW" sz="3600">
              <a:latin typeface="標楷體" panose="03000509000000000000" pitchFamily="65" charset="-120"/>
              <a:ea typeface="標楷體" panose="03000509000000000000" pitchFamily="65" charset="-120"/>
            </a:endParaRPr>
          </a:p>
          <a:p>
            <a:pPr marL="0" indent="0" algn="r" eaLnBrk="1" hangingPunct="1">
              <a:lnSpc>
                <a:spcPct val="90000"/>
              </a:lnSpc>
              <a:buFont typeface="Wingdings" panose="05000000000000000000" pitchFamily="2" charset="2"/>
              <a:buNone/>
            </a:pPr>
            <a:r>
              <a:rPr lang="en-US" altLang="zh-TW" sz="2600">
                <a:latin typeface="標楷體" panose="03000509000000000000" pitchFamily="65" charset="-120"/>
                <a:ea typeface="標楷體" panose="03000509000000000000" pitchFamily="65" charset="-120"/>
              </a:rPr>
              <a:t>【2009-06-09/</a:t>
            </a:r>
            <a:r>
              <a:rPr lang="zh-TW" altLang="en-US" sz="2600">
                <a:latin typeface="標楷體" panose="03000509000000000000" pitchFamily="65" charset="-120"/>
                <a:ea typeface="標楷體" panose="03000509000000000000" pitchFamily="65" charset="-120"/>
              </a:rPr>
              <a:t>聯合報</a:t>
            </a:r>
            <a:r>
              <a:rPr lang="en-US" altLang="zh-TW" sz="2600">
                <a:latin typeface="標楷體" panose="03000509000000000000" pitchFamily="65" charset="-120"/>
                <a:ea typeface="標楷體" panose="03000509000000000000" pitchFamily="65" charset="-120"/>
              </a:rPr>
              <a:t>/B2</a:t>
            </a:r>
            <a:r>
              <a:rPr lang="zh-TW" altLang="en-US" sz="2600">
                <a:latin typeface="標楷體" panose="03000509000000000000" pitchFamily="65" charset="-120"/>
                <a:ea typeface="標楷體" panose="03000509000000000000" pitchFamily="65" charset="-120"/>
              </a:rPr>
              <a:t>版</a:t>
            </a:r>
            <a:r>
              <a:rPr lang="en-US" altLang="zh-TW" sz="2600">
                <a:latin typeface="標楷體" panose="03000509000000000000" pitchFamily="65" charset="-120"/>
                <a:ea typeface="標楷體" panose="03000509000000000000" pitchFamily="65" charset="-120"/>
              </a:rPr>
              <a:t>/</a:t>
            </a:r>
            <a:r>
              <a:rPr lang="zh-TW" altLang="en-US" sz="2600">
                <a:latin typeface="標楷體" panose="03000509000000000000" pitchFamily="65" charset="-120"/>
                <a:ea typeface="標楷體" panose="03000509000000000000" pitchFamily="65" charset="-120"/>
              </a:rPr>
              <a:t>大高雄綜合新聞</a:t>
            </a:r>
            <a:r>
              <a:rPr lang="en-US" altLang="zh-TW" sz="2600">
                <a:latin typeface="標楷體" panose="03000509000000000000" pitchFamily="65" charset="-120"/>
                <a:ea typeface="標楷體" panose="03000509000000000000" pitchFamily="65" charset="-120"/>
              </a:rPr>
              <a:t>】 </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57D046F4-9E89-DEC7-A571-085752E249AE}"/>
              </a:ext>
            </a:extLst>
          </p:cNvPr>
          <p:cNvSpPr>
            <a:spLocks noGrp="1" noChangeArrowheads="1"/>
          </p:cNvSpPr>
          <p:nvPr>
            <p:ph type="title" idx="4294967295"/>
          </p:nvPr>
        </p:nvSpPr>
        <p:spPr>
          <a:xfrm>
            <a:off x="1350963" y="214313"/>
            <a:ext cx="7793037" cy="1462087"/>
          </a:xfrm>
        </p:spPr>
        <p:txBody>
          <a:bodyPr anchor="ctr"/>
          <a:lstStyle/>
          <a:p>
            <a:pPr eaLnBrk="1" hangingPunct="1"/>
            <a:r>
              <a:rPr lang="zh-TW" altLang="en-US">
                <a:latin typeface="標楷體" panose="03000509000000000000" pitchFamily="65" charset="-120"/>
                <a:ea typeface="標楷體" panose="03000509000000000000" pitchFamily="65" charset="-120"/>
              </a:rPr>
              <a:t>衣著</a:t>
            </a:r>
            <a:r>
              <a:rPr lang="zh-TW" altLang="en-US">
                <a:latin typeface="新細明體" panose="02020500000000000000" pitchFamily="18" charset="-120"/>
              </a:rPr>
              <a:t> </a:t>
            </a:r>
          </a:p>
        </p:txBody>
      </p:sp>
      <p:sp>
        <p:nvSpPr>
          <p:cNvPr id="6" name="矩形 5">
            <a:extLst>
              <a:ext uri="{FF2B5EF4-FFF2-40B4-BE49-F238E27FC236}">
                <a16:creationId xmlns:a16="http://schemas.microsoft.com/office/drawing/2014/main" id="{D0DBA016-7730-DF6D-B1D0-A30C8DE4866C}"/>
              </a:ext>
            </a:extLst>
          </p:cNvPr>
          <p:cNvSpPr/>
          <p:nvPr/>
        </p:nvSpPr>
        <p:spPr>
          <a:xfrm>
            <a:off x="1331640" y="3861048"/>
            <a:ext cx="6599884" cy="1107996"/>
          </a:xfrm>
          <a:prstGeom prst="rect">
            <a:avLst/>
          </a:prstGeom>
          <a:noFill/>
        </p:spPr>
        <p:txBody>
          <a:bodyPr wrap="none">
            <a:spAutoFit/>
          </a:bodyPr>
          <a:lstStyle/>
          <a:p>
            <a:pPr algn="ctr">
              <a:defRPr/>
            </a:pPr>
            <a:r>
              <a:rPr lang="zh-TW" altLang="en-US" sz="6600" b="1" dirty="0">
                <a:ln w="24500" cmpd="dbl">
                  <a:solidFill>
                    <a:schemeClr val="accent2">
                      <a:shade val="85000"/>
                      <a:satMod val="155000"/>
                    </a:schemeClr>
                  </a:solidFill>
                  <a:prstDash val="solid"/>
                  <a:miter lim="800000"/>
                </a:ln>
                <a:solidFill>
                  <a:srgbClr val="FF00FF"/>
                </a:solidFill>
                <a:effectLst>
                  <a:outerShdw blurRad="38100" dist="38100" dir="7020000" algn="tl">
                    <a:srgbClr val="000000">
                      <a:alpha val="35000"/>
                    </a:srgbClr>
                  </a:outerShdw>
                </a:effectLst>
              </a:rPr>
              <a:t>顏色有沒有性別</a:t>
            </a:r>
            <a:r>
              <a:rPr lang="en-US" altLang="zh-TW" sz="6600" b="1" dirty="0">
                <a:ln w="24500" cmpd="dbl">
                  <a:solidFill>
                    <a:schemeClr val="accent2">
                      <a:shade val="85000"/>
                      <a:satMod val="155000"/>
                    </a:schemeClr>
                  </a:solidFill>
                  <a:prstDash val="solid"/>
                  <a:miter lim="800000"/>
                </a:ln>
                <a:solidFill>
                  <a:srgbClr val="FF00FF"/>
                </a:solidFill>
                <a:effectLst>
                  <a:outerShdw blurRad="38100" dist="38100" dir="7020000" algn="tl">
                    <a:srgbClr val="000000">
                      <a:alpha val="35000"/>
                    </a:srgbClr>
                  </a:outerShdw>
                </a:effectLst>
              </a:rPr>
              <a:t>?</a:t>
            </a:r>
            <a:endParaRPr lang="zh-TW" altLang="en-US" sz="6600" b="1" dirty="0">
              <a:ln w="24500" cmpd="dbl">
                <a:solidFill>
                  <a:schemeClr val="accent2">
                    <a:shade val="85000"/>
                    <a:satMod val="155000"/>
                  </a:schemeClr>
                </a:solidFill>
                <a:prstDash val="solid"/>
                <a:miter lim="800000"/>
              </a:ln>
              <a:solidFill>
                <a:srgbClr val="FF00FF"/>
              </a:solidFill>
              <a:effectLst>
                <a:outerShdw blurRad="38100" dist="38100" dir="7020000" algn="tl">
                  <a:srgbClr val="000000">
                    <a:alpha val="35000"/>
                  </a:srgbClr>
                </a:outerShdw>
              </a:effectLst>
            </a:endParaRPr>
          </a:p>
        </p:txBody>
      </p:sp>
      <p:sp>
        <p:nvSpPr>
          <p:cNvPr id="7" name="矩形 6">
            <a:extLst>
              <a:ext uri="{FF2B5EF4-FFF2-40B4-BE49-F238E27FC236}">
                <a16:creationId xmlns:a16="http://schemas.microsoft.com/office/drawing/2014/main" id="{6F2F8134-258A-6A63-8473-D8C88B805E8A}"/>
              </a:ext>
            </a:extLst>
          </p:cNvPr>
          <p:cNvSpPr/>
          <p:nvPr/>
        </p:nvSpPr>
        <p:spPr>
          <a:xfrm>
            <a:off x="1331640" y="2204864"/>
            <a:ext cx="6599884" cy="1107996"/>
          </a:xfrm>
          <a:prstGeom prst="rect">
            <a:avLst/>
          </a:prstGeom>
          <a:noFill/>
        </p:spPr>
        <p:txBody>
          <a:bodyPr wrap="none">
            <a:spAutoFit/>
          </a:bodyPr>
          <a:lstStyle/>
          <a:p>
            <a:pPr algn="ctr">
              <a:defRPr/>
            </a:pPr>
            <a:r>
              <a:rPr lang="zh-TW" altLang="en-US" sz="6600" b="1" dirty="0">
                <a:ln w="24500" cmpd="dbl">
                  <a:solidFill>
                    <a:schemeClr val="accent2">
                      <a:shade val="85000"/>
                      <a:satMod val="155000"/>
                    </a:schemeClr>
                  </a:solidFill>
                  <a:prstDash val="solid"/>
                  <a:miter lim="800000"/>
                </a:ln>
                <a:solidFill>
                  <a:srgbClr val="00B0F0"/>
                </a:solidFill>
                <a:effectLst>
                  <a:outerShdw blurRad="38100" dist="38100" dir="7020000" algn="tl">
                    <a:srgbClr val="000000">
                      <a:alpha val="35000"/>
                    </a:srgbClr>
                  </a:outerShdw>
                </a:effectLst>
              </a:rPr>
              <a:t>顏色有沒有性別</a:t>
            </a:r>
            <a:r>
              <a:rPr lang="en-US" altLang="zh-TW" sz="6600" b="1" dirty="0">
                <a:ln w="24500" cmpd="dbl">
                  <a:solidFill>
                    <a:schemeClr val="accent2">
                      <a:shade val="85000"/>
                      <a:satMod val="155000"/>
                    </a:schemeClr>
                  </a:solidFill>
                  <a:prstDash val="solid"/>
                  <a:miter lim="800000"/>
                </a:ln>
                <a:solidFill>
                  <a:srgbClr val="00B0F0"/>
                </a:solidFill>
                <a:effectLst>
                  <a:outerShdw blurRad="38100" dist="38100" dir="7020000" algn="tl">
                    <a:srgbClr val="000000">
                      <a:alpha val="35000"/>
                    </a:srgbClr>
                  </a:outerShdw>
                </a:effectLst>
              </a:rPr>
              <a:t>?</a:t>
            </a:r>
            <a:endParaRPr lang="zh-TW" altLang="en-US" sz="6600" b="1" dirty="0">
              <a:ln w="24500" cmpd="dbl">
                <a:solidFill>
                  <a:schemeClr val="accent2">
                    <a:shade val="85000"/>
                    <a:satMod val="155000"/>
                  </a:schemeClr>
                </a:solidFill>
                <a:prstDash val="solid"/>
                <a:miter lim="800000"/>
              </a:ln>
              <a:solidFill>
                <a:srgbClr val="00B0F0"/>
              </a:solidFill>
              <a:effectLst>
                <a:outerShdw blurRad="38100" dist="38100" dir="7020000" algn="tl">
                  <a:srgbClr val="000000">
                    <a:alpha val="35000"/>
                  </a:srgbClr>
                </a:outerShdw>
              </a:effectLst>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A3B3850A-2E51-F570-E853-067CC1C63167}"/>
              </a:ext>
            </a:extLst>
          </p:cNvPr>
          <p:cNvSpPr>
            <a:spLocks noGrp="1" noChangeArrowheads="1"/>
          </p:cNvSpPr>
          <p:nvPr>
            <p:ph type="title" idx="4294967295"/>
          </p:nvPr>
        </p:nvSpPr>
        <p:spPr>
          <a:xfrm flipH="1">
            <a:off x="1368423" y="549275"/>
            <a:ext cx="1835424" cy="1143000"/>
          </a:xfrm>
        </p:spPr>
        <p:txBody>
          <a:bodyPr anchor="ctr"/>
          <a:lstStyle/>
          <a:p>
            <a:pPr eaLnBrk="1" hangingPunct="1"/>
            <a:r>
              <a:rPr lang="zh-TW" altLang="en-US" dirty="0">
                <a:ea typeface="標楷體" panose="03000509000000000000" pitchFamily="65" charset="-120"/>
              </a:rPr>
              <a:t>職場</a:t>
            </a:r>
          </a:p>
        </p:txBody>
      </p:sp>
      <p:sp>
        <p:nvSpPr>
          <p:cNvPr id="6" name="矩形 5">
            <a:extLst>
              <a:ext uri="{FF2B5EF4-FFF2-40B4-BE49-F238E27FC236}">
                <a16:creationId xmlns:a16="http://schemas.microsoft.com/office/drawing/2014/main" id="{F5D92040-0087-F052-7359-A7F170294729}"/>
              </a:ext>
            </a:extLst>
          </p:cNvPr>
          <p:cNvSpPr/>
          <p:nvPr/>
        </p:nvSpPr>
        <p:spPr>
          <a:xfrm>
            <a:off x="827584" y="2204864"/>
            <a:ext cx="7109639" cy="1754326"/>
          </a:xfrm>
          <a:prstGeom prst="rect">
            <a:avLst/>
          </a:prstGeom>
          <a:noFill/>
        </p:spPr>
        <p:txBody>
          <a:bodyPr wrap="none">
            <a:spAutoFit/>
          </a:bodyPr>
          <a:lstStyle/>
          <a:p>
            <a:pPr algn="ctr">
              <a:defRPr/>
            </a:pPr>
            <a:r>
              <a:rPr lang="zh-TW" altLang="en-US" sz="5400" b="1" dirty="0">
                <a:ln w="10541" cmpd="sng">
                  <a:solidFill>
                    <a:srgbClr val="7D7D7D">
                      <a:tint val="100000"/>
                      <a:shade val="100000"/>
                      <a:satMod val="110000"/>
                    </a:srgbClr>
                  </a:solidFill>
                  <a:prstDash val="solid"/>
                </a:ln>
                <a:solidFill>
                  <a:srgbClr val="0070C0"/>
                </a:solidFill>
              </a:rPr>
              <a:t>分局長、派出所所長？</a:t>
            </a:r>
            <a:endParaRPr lang="en-US" altLang="zh-TW" sz="5400" b="1" dirty="0">
              <a:ln w="10541" cmpd="sng">
                <a:solidFill>
                  <a:srgbClr val="7D7D7D">
                    <a:tint val="100000"/>
                    <a:shade val="100000"/>
                    <a:satMod val="110000"/>
                  </a:srgbClr>
                </a:solidFill>
                <a:prstDash val="solid"/>
              </a:ln>
              <a:solidFill>
                <a:srgbClr val="0070C0"/>
              </a:solidFill>
            </a:endParaRPr>
          </a:p>
          <a:p>
            <a:pPr algn="ctr">
              <a:defRPr/>
            </a:pPr>
            <a:r>
              <a:rPr lang="zh-TW" altLang="en-US" sz="5400" b="1" dirty="0">
                <a:ln w="10541" cmpd="sng">
                  <a:solidFill>
                    <a:srgbClr val="7D7D7D">
                      <a:tint val="100000"/>
                      <a:shade val="100000"/>
                      <a:satMod val="110000"/>
                    </a:srgbClr>
                  </a:solidFill>
                  <a:prstDash val="solid"/>
                </a:ln>
                <a:solidFill>
                  <a:srgbClr val="0070C0"/>
                </a:solidFill>
              </a:rPr>
              <a:t>理事長、會長？</a:t>
            </a:r>
          </a:p>
        </p:txBody>
      </p:sp>
      <p:sp>
        <p:nvSpPr>
          <p:cNvPr id="7" name="矩形 6">
            <a:extLst>
              <a:ext uri="{FF2B5EF4-FFF2-40B4-BE49-F238E27FC236}">
                <a16:creationId xmlns:a16="http://schemas.microsoft.com/office/drawing/2014/main" id="{3C0625F9-6D8E-3D52-BD49-E33B4B55B9A8}"/>
              </a:ext>
            </a:extLst>
          </p:cNvPr>
          <p:cNvSpPr/>
          <p:nvPr/>
        </p:nvSpPr>
        <p:spPr>
          <a:xfrm>
            <a:off x="899592" y="4581128"/>
            <a:ext cx="7109639" cy="923330"/>
          </a:xfrm>
          <a:prstGeom prst="rect">
            <a:avLst/>
          </a:prstGeom>
          <a:noFill/>
        </p:spPr>
        <p:txBody>
          <a:bodyPr wrap="none">
            <a:spAutoFit/>
          </a:bodyPr>
          <a:lstStyle/>
          <a:p>
            <a:pPr algn="ctr">
              <a:defRPr/>
            </a:pPr>
            <a:r>
              <a:rPr lang="zh-TW" altLang="en-US" sz="5400" b="1" dirty="0">
                <a:ln w="12700">
                  <a:solidFill>
                    <a:schemeClr val="tx2">
                      <a:satMod val="155000"/>
                    </a:schemeClr>
                  </a:solidFill>
                  <a:prstDash val="solid"/>
                </a:ln>
                <a:solidFill>
                  <a:srgbClr val="FF0000"/>
                </a:solidFill>
                <a:effectLst>
                  <a:outerShdw blurRad="41275" dist="20320" dir="1800000" algn="tl" rotWithShape="0">
                    <a:srgbClr val="000000">
                      <a:alpha val="40000"/>
                    </a:srgbClr>
                  </a:outerShdw>
                </a:effectLst>
              </a:rPr>
              <a:t>老師、護士、銀行員？</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AF67F332-D603-FD20-8138-8201889AF26A}"/>
              </a:ext>
            </a:extLst>
          </p:cNvPr>
          <p:cNvSpPr>
            <a:spLocks noGrp="1" noChangeArrowheads="1"/>
          </p:cNvSpPr>
          <p:nvPr>
            <p:ph type="title"/>
          </p:nvPr>
        </p:nvSpPr>
        <p:spPr/>
        <p:txBody>
          <a:bodyPr/>
          <a:lstStyle/>
          <a:p>
            <a:pPr eaLnBrk="1" hangingPunct="1"/>
            <a:r>
              <a:rPr lang="zh-TW" altLang="en-US" sz="4000" b="1">
                <a:latin typeface="標楷體" panose="03000509000000000000" pitchFamily="65" charset="-120"/>
                <a:ea typeface="標楷體" panose="03000509000000000000" pitchFamily="65" charset="-120"/>
              </a:rPr>
              <a:t>周美鳳 高市首位女派出所長</a:t>
            </a:r>
            <a:br>
              <a:rPr lang="zh-TW" altLang="en-US" sz="4000" b="1">
                <a:latin typeface="標楷體" panose="03000509000000000000" pitchFamily="65" charset="-120"/>
                <a:ea typeface="標楷體" panose="03000509000000000000" pitchFamily="65" charset="-120"/>
              </a:rPr>
            </a:br>
            <a:r>
              <a:rPr lang="zh-TW" altLang="en-US" sz="2300">
                <a:latin typeface="標楷體" panose="03000509000000000000" pitchFamily="65" charset="-120"/>
                <a:ea typeface="標楷體" panose="03000509000000000000" pitchFamily="65" charset="-120"/>
              </a:rPr>
              <a:t>文／莊亞築</a:t>
            </a:r>
            <a:r>
              <a:rPr lang="zh-TW" altLang="en-US" sz="4000"/>
              <a:t> </a:t>
            </a:r>
          </a:p>
        </p:txBody>
      </p:sp>
      <p:sp>
        <p:nvSpPr>
          <p:cNvPr id="13315" name="Rectangle 3">
            <a:extLst>
              <a:ext uri="{FF2B5EF4-FFF2-40B4-BE49-F238E27FC236}">
                <a16:creationId xmlns:a16="http://schemas.microsoft.com/office/drawing/2014/main" id="{7955E765-53D8-37D4-A3DF-D19C3FAA1E4B}"/>
              </a:ext>
            </a:extLst>
          </p:cNvPr>
          <p:cNvSpPr>
            <a:spLocks noGrp="1" noChangeArrowheads="1"/>
          </p:cNvSpPr>
          <p:nvPr>
            <p:ph idx="1"/>
          </p:nvPr>
        </p:nvSpPr>
        <p:spPr>
          <a:xfrm>
            <a:off x="684213" y="2133600"/>
            <a:ext cx="7772400" cy="4114800"/>
          </a:xfrm>
        </p:spPr>
        <p:txBody>
          <a:bodyPr/>
          <a:lstStyle/>
          <a:p>
            <a:pPr marL="0" indent="0" eaLnBrk="1" hangingPunct="1">
              <a:lnSpc>
                <a:spcPct val="90000"/>
              </a:lnSpc>
              <a:buFont typeface="Wingdings" panose="05000000000000000000" pitchFamily="2" charset="2"/>
              <a:buNone/>
            </a:pPr>
            <a:r>
              <a:rPr lang="zh-TW" altLang="en-US" sz="2800">
                <a:latin typeface="標楷體" panose="03000509000000000000" pitchFamily="65" charset="-120"/>
                <a:ea typeface="標楷體" panose="03000509000000000000" pitchFamily="65" charset="-120"/>
              </a:rPr>
              <a:t>在高雄市即將出現首位女派出所長。周美鳳今年市警局派出所長公開甄試中考了第一名，卓越表現讓人刮目相看。原在市警局刑警大隊</a:t>
            </a:r>
            <a:r>
              <a:rPr lang="en-US" altLang="zh-TW" sz="2800">
                <a:latin typeface="標楷體" panose="03000509000000000000" pitchFamily="65" charset="-120"/>
                <a:ea typeface="標楷體" panose="03000509000000000000" pitchFamily="65" charset="-120"/>
              </a:rPr>
              <a:t>10</a:t>
            </a:r>
            <a:r>
              <a:rPr lang="zh-TW" altLang="en-US" sz="2800">
                <a:latin typeface="標楷體" panose="03000509000000000000" pitchFamily="65" charset="-120"/>
                <a:ea typeface="標楷體" panose="03000509000000000000" pitchFamily="65" charset="-120"/>
              </a:rPr>
              <a:t>分隊擔任偵查員的她，下周一即將到左營分局啟文所報到，舊同事都很不捨，「美鳳姐很細心，從警多年仍保有工作熱誠。」周美鳳則坦言，接下新職務壓力很大，</a:t>
            </a:r>
            <a:r>
              <a:rPr lang="zh-TW" altLang="en-US" sz="2800">
                <a:solidFill>
                  <a:srgbClr val="CC00CC"/>
                </a:solidFill>
                <a:latin typeface="標楷體" panose="03000509000000000000" pitchFamily="65" charset="-120"/>
                <a:ea typeface="標楷體" panose="03000509000000000000" pitchFamily="65" charset="-120"/>
              </a:rPr>
              <a:t>還好同樣擔任警職的先生給予支持</a:t>
            </a:r>
            <a:r>
              <a:rPr lang="zh-TW" altLang="en-US" sz="2800">
                <a:latin typeface="標楷體" panose="03000509000000000000" pitchFamily="65" charset="-120"/>
                <a:ea typeface="標楷體" panose="03000509000000000000" pitchFamily="65" charset="-120"/>
              </a:rPr>
              <a:t>，未來會</a:t>
            </a:r>
            <a:r>
              <a:rPr lang="zh-TW" altLang="en-US" sz="2800">
                <a:solidFill>
                  <a:srgbClr val="CC00CC"/>
                </a:solidFill>
                <a:latin typeface="標楷體" panose="03000509000000000000" pitchFamily="65" charset="-120"/>
                <a:ea typeface="標楷體" panose="03000509000000000000" pitchFamily="65" charset="-120"/>
              </a:rPr>
              <a:t>善用女性「剛柔並濟」特質</a:t>
            </a:r>
            <a:r>
              <a:rPr lang="zh-TW" altLang="en-US" sz="2800">
                <a:latin typeface="標楷體" panose="03000509000000000000" pitchFamily="65" charset="-120"/>
                <a:ea typeface="標楷體" panose="03000509000000000000" pitchFamily="65" charset="-120"/>
              </a:rPr>
              <a:t>帶領團隊，全力以赴。 </a:t>
            </a:r>
          </a:p>
          <a:p>
            <a:pPr marL="0" indent="0" eaLnBrk="1" hangingPunct="1">
              <a:lnSpc>
                <a:spcPct val="90000"/>
              </a:lnSpc>
              <a:buFont typeface="Wingdings" panose="05000000000000000000" pitchFamily="2" charset="2"/>
              <a:buNone/>
            </a:pPr>
            <a:r>
              <a:rPr lang="zh-TW" altLang="en-US" sz="2200"/>
              <a:t>                  </a:t>
            </a:r>
            <a:r>
              <a:rPr lang="en-US" altLang="zh-TW" sz="2200"/>
              <a:t>【2009-06-19/</a:t>
            </a:r>
            <a:r>
              <a:rPr lang="zh-TW" altLang="en-US" sz="2200"/>
              <a:t>聯合報</a:t>
            </a:r>
            <a:r>
              <a:rPr lang="en-US" altLang="zh-TW" sz="2200"/>
              <a:t>/B1</a:t>
            </a:r>
            <a:r>
              <a:rPr lang="zh-TW" altLang="en-US" sz="2200"/>
              <a:t>版</a:t>
            </a:r>
            <a:r>
              <a:rPr lang="en-US" altLang="zh-TW" sz="2200"/>
              <a:t>/</a:t>
            </a:r>
            <a:r>
              <a:rPr lang="zh-TW" altLang="en-US" sz="2200"/>
              <a:t>大高雄．運動</a:t>
            </a:r>
            <a:r>
              <a:rPr lang="en-US" altLang="zh-TW" sz="2200"/>
              <a:t>】 </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0E3F4072-CD50-1169-F986-B122682D88AD}"/>
              </a:ext>
            </a:extLst>
          </p:cNvPr>
          <p:cNvSpPr>
            <a:spLocks noGrp="1" noChangeArrowheads="1"/>
          </p:cNvSpPr>
          <p:nvPr>
            <p:ph type="title"/>
          </p:nvPr>
        </p:nvSpPr>
        <p:spPr/>
        <p:txBody>
          <a:bodyPr/>
          <a:lstStyle/>
          <a:p>
            <a:pPr eaLnBrk="1" hangingPunct="1"/>
            <a:r>
              <a:rPr lang="zh-TW" altLang="en-US" sz="4000" b="1">
                <a:latin typeface="標楷體" panose="03000509000000000000" pitchFamily="65" charset="-120"/>
                <a:ea typeface="標楷體" panose="03000509000000000000" pitchFamily="65" charset="-120"/>
              </a:rPr>
              <a:t>李吳敏美接掌高雄區漁會首位女性理事長                                            </a:t>
            </a:r>
            <a:r>
              <a:rPr lang="zh-TW" altLang="en-US" sz="2300">
                <a:latin typeface="標楷體" panose="03000509000000000000" pitchFamily="65" charset="-120"/>
                <a:ea typeface="標楷體" panose="03000509000000000000" pitchFamily="65" charset="-120"/>
              </a:rPr>
              <a:t>文／謝龍田</a:t>
            </a:r>
          </a:p>
        </p:txBody>
      </p:sp>
      <p:sp>
        <p:nvSpPr>
          <p:cNvPr id="14339" name="Rectangle 3">
            <a:extLst>
              <a:ext uri="{FF2B5EF4-FFF2-40B4-BE49-F238E27FC236}">
                <a16:creationId xmlns:a16="http://schemas.microsoft.com/office/drawing/2014/main" id="{0A2A21B1-D6D5-ED51-C0DE-29A0C78E556B}"/>
              </a:ext>
            </a:extLst>
          </p:cNvPr>
          <p:cNvSpPr>
            <a:spLocks noGrp="1" noChangeArrowheads="1"/>
          </p:cNvSpPr>
          <p:nvPr>
            <p:ph idx="1"/>
          </p:nvPr>
        </p:nvSpPr>
        <p:spPr>
          <a:xfrm>
            <a:off x="827088" y="2205038"/>
            <a:ext cx="7772400" cy="4114800"/>
          </a:xfrm>
        </p:spPr>
        <p:txBody>
          <a:bodyPr/>
          <a:lstStyle/>
          <a:p>
            <a:pPr eaLnBrk="1" hangingPunct="1"/>
            <a:r>
              <a:rPr lang="zh-TW" altLang="en-US" sz="2800">
                <a:latin typeface="標楷體" panose="03000509000000000000" pitchFamily="65" charset="-120"/>
                <a:ea typeface="標楷體" panose="03000509000000000000" pitchFamily="65" charset="-120"/>
              </a:rPr>
              <a:t>高雄區漁會最近補選第八屆理事長，理事李吳敏美當選，成為高雄區漁會歷來首位女性理事長。李吳敏美的先夫李介民是漁業界聞人，曾任高雄區漁會理事長。李吳敏美此番接掌區漁會，除了是女性在漁業界</a:t>
            </a:r>
            <a:r>
              <a:rPr lang="zh-TW" altLang="en-US" sz="2800">
                <a:solidFill>
                  <a:srgbClr val="CC00CC"/>
                </a:solidFill>
                <a:latin typeface="標楷體" panose="03000509000000000000" pitchFamily="65" charset="-120"/>
                <a:ea typeface="標楷體" panose="03000509000000000000" pitchFamily="65" charset="-120"/>
              </a:rPr>
              <a:t>不讓鬚眉，也是要為亡夫完成未了的心願</a:t>
            </a:r>
            <a:r>
              <a:rPr lang="zh-TW" altLang="en-US" sz="2800">
                <a:latin typeface="標楷體" panose="03000509000000000000" pitchFamily="65" charset="-120"/>
                <a:ea typeface="標楷體" panose="03000509000000000000" pitchFamily="65" charset="-120"/>
              </a:rPr>
              <a:t>，帶領漁會及漁民闖出一片天。 </a:t>
            </a:r>
          </a:p>
          <a:p>
            <a:pPr eaLnBrk="1" hangingPunct="1">
              <a:buFont typeface="Wingdings" panose="05000000000000000000" pitchFamily="2" charset="2"/>
              <a:buNone/>
            </a:pPr>
            <a:r>
              <a:rPr lang="en-US" altLang="zh-TW" sz="2600"/>
              <a:t>【2009-06-13/</a:t>
            </a:r>
            <a:r>
              <a:rPr lang="zh-TW" altLang="en-US" sz="2600"/>
              <a:t>聯合報</a:t>
            </a:r>
            <a:r>
              <a:rPr lang="en-US" altLang="zh-TW" sz="2600"/>
              <a:t>/B1</a:t>
            </a:r>
            <a:r>
              <a:rPr lang="zh-TW" altLang="en-US" sz="2600"/>
              <a:t>版</a:t>
            </a:r>
            <a:r>
              <a:rPr lang="en-US" altLang="zh-TW" sz="2600"/>
              <a:t>/</a:t>
            </a:r>
            <a:r>
              <a:rPr lang="zh-TW" altLang="en-US" sz="2600"/>
              <a:t>大高雄．運動</a:t>
            </a:r>
            <a:r>
              <a:rPr lang="en-US" altLang="zh-TW" sz="2600"/>
              <a:t>】 </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7BBAA3C7-AD2A-27C4-BD01-F125415F0E66}"/>
              </a:ext>
            </a:extLst>
          </p:cNvPr>
          <p:cNvSpPr>
            <a:spLocks noGrp="1" noChangeArrowheads="1"/>
          </p:cNvSpPr>
          <p:nvPr>
            <p:ph type="title"/>
          </p:nvPr>
        </p:nvSpPr>
        <p:spPr/>
        <p:txBody>
          <a:bodyPr/>
          <a:lstStyle/>
          <a:p>
            <a:pPr eaLnBrk="1" hangingPunct="1"/>
            <a:r>
              <a:rPr lang="zh-TW" altLang="en-US">
                <a:ea typeface="標楷體" panose="03000509000000000000" pitchFamily="65" charset="-120"/>
              </a:rPr>
              <a:t>習俗與文化</a:t>
            </a:r>
            <a:endParaRPr lang="zh-TW" altLang="en-US" sz="1600">
              <a:ea typeface="標楷體" panose="03000509000000000000" pitchFamily="65" charset="-120"/>
            </a:endParaRPr>
          </a:p>
        </p:txBody>
      </p:sp>
      <p:sp>
        <p:nvSpPr>
          <p:cNvPr id="144387" name="Rectangle 3">
            <a:extLst>
              <a:ext uri="{FF2B5EF4-FFF2-40B4-BE49-F238E27FC236}">
                <a16:creationId xmlns:a16="http://schemas.microsoft.com/office/drawing/2014/main" id="{DCD17175-5A41-578B-CEDA-161D4F40B179}"/>
              </a:ext>
            </a:extLst>
          </p:cNvPr>
          <p:cNvSpPr>
            <a:spLocks noGrp="1" noChangeArrowheads="1"/>
          </p:cNvSpPr>
          <p:nvPr>
            <p:ph idx="1"/>
          </p:nvPr>
        </p:nvSpPr>
        <p:spPr>
          <a:xfrm>
            <a:off x="1182688" y="2017713"/>
            <a:ext cx="7566025" cy="4840287"/>
          </a:xfrm>
        </p:spPr>
        <p:txBody>
          <a:bodyPr/>
          <a:lstStyle/>
          <a:p>
            <a:pPr marL="274638" indent="-274638" eaLnBrk="1" hangingPunct="1">
              <a:buFont typeface="Wingdings" panose="05000000000000000000" pitchFamily="2" charset="2"/>
              <a:buNone/>
              <a:defRPr/>
            </a:pPr>
            <a:r>
              <a:rPr kumimoji="0" lang="en-US" altLang="zh-TW" dirty="0">
                <a:solidFill>
                  <a:schemeClr val="hlink"/>
                </a:solidFill>
                <a:effectLst>
                  <a:outerShdw blurRad="38100" dist="38100" dir="2700000" algn="tl">
                    <a:srgbClr val="C0C0C0"/>
                  </a:outerShdw>
                </a:effectLst>
                <a:ea typeface="標楷體" pitchFamily="65" charset="-120"/>
              </a:rPr>
              <a:t>10</a:t>
            </a:r>
            <a:r>
              <a:rPr kumimoji="0" lang="zh-TW" altLang="en-US" dirty="0">
                <a:solidFill>
                  <a:schemeClr val="hlink"/>
                </a:solidFill>
                <a:effectLst>
                  <a:outerShdw blurRad="38100" dist="38100" dir="2700000" algn="tl">
                    <a:srgbClr val="C0C0C0"/>
                  </a:outerShdw>
                </a:effectLst>
                <a:ea typeface="標楷體" pitchFamily="65" charset="-120"/>
              </a:rPr>
              <a:t>大女性最無法接受</a:t>
            </a:r>
            <a:endParaRPr kumimoji="0" lang="zh-TW" altLang="en-US" dirty="0">
              <a:solidFill>
                <a:schemeClr val="hlink"/>
              </a:solidFill>
              <a:ea typeface="標楷體" pitchFamily="65" charset="-120"/>
            </a:endParaRPr>
          </a:p>
          <a:p>
            <a:pPr marL="274638" indent="-274638" eaLnBrk="1" hangingPunct="1">
              <a:buFont typeface="Wingdings" panose="05000000000000000000" pitchFamily="2" charset="2"/>
              <a:buAutoNum type="arabicPeriod"/>
              <a:defRPr/>
            </a:pPr>
            <a:r>
              <a:rPr lang="zh-TW" altLang="en-US" dirty="0">
                <a:latin typeface="Times New Roman" pitchFamily="18" charset="0"/>
                <a:ea typeface="標楷體" pitchFamily="65" charset="-120"/>
              </a:rPr>
              <a:t>女性</a:t>
            </a:r>
            <a:r>
              <a:rPr lang="zh-TW" altLang="en-US" dirty="0">
                <a:solidFill>
                  <a:srgbClr val="CC0099"/>
                </a:solidFill>
                <a:latin typeface="Times New Roman" pitchFamily="18" charset="0"/>
                <a:ea typeface="標楷體" pitchFamily="65" charset="-120"/>
              </a:rPr>
              <a:t>名字</a:t>
            </a:r>
            <a:r>
              <a:rPr lang="zh-TW" altLang="en-US" dirty="0">
                <a:latin typeface="Times New Roman" pitchFamily="18" charset="0"/>
                <a:ea typeface="標楷體" pitchFamily="65" charset="-120"/>
              </a:rPr>
              <a:t>都</a:t>
            </a:r>
            <a:r>
              <a:rPr lang="zh-TW" altLang="en-US" dirty="0">
                <a:solidFill>
                  <a:srgbClr val="CC0099"/>
                </a:solidFill>
                <a:latin typeface="Times New Roman" pitchFamily="18" charset="0"/>
                <a:ea typeface="標楷體" pitchFamily="65" charset="-120"/>
              </a:rPr>
              <a:t>不會</a:t>
            </a:r>
            <a:r>
              <a:rPr lang="zh-TW" altLang="en-US" dirty="0">
                <a:latin typeface="Times New Roman" pitchFamily="18" charset="0"/>
                <a:ea typeface="標楷體" pitchFamily="65" charset="-120"/>
              </a:rPr>
              <a:t>被寫</a:t>
            </a:r>
            <a:r>
              <a:rPr lang="zh-TW" altLang="en-US" dirty="0">
                <a:solidFill>
                  <a:srgbClr val="CC0099"/>
                </a:solidFill>
                <a:latin typeface="Times New Roman" pitchFamily="18" charset="0"/>
                <a:ea typeface="標楷體" pitchFamily="65" charset="-120"/>
              </a:rPr>
              <a:t>入族譜</a:t>
            </a:r>
            <a:endParaRPr kumimoji="0" lang="zh-TW" altLang="en-US" dirty="0">
              <a:solidFill>
                <a:schemeClr val="tx2">
                  <a:lumMod val="75000"/>
                </a:schemeClr>
              </a:solidFill>
              <a:latin typeface="Times New Roman" pitchFamily="18" charset="0"/>
              <a:ea typeface="標楷體" pitchFamily="65" charset="-120"/>
            </a:endParaRPr>
          </a:p>
          <a:p>
            <a:pPr marL="274638" indent="-274638" eaLnBrk="1" hangingPunct="1">
              <a:buFont typeface="Wingdings" panose="05000000000000000000" pitchFamily="2" charset="2"/>
              <a:buAutoNum type="arabicPeriod"/>
              <a:defRPr/>
            </a:pPr>
            <a:r>
              <a:rPr lang="zh-TW" altLang="en-US" dirty="0">
                <a:solidFill>
                  <a:srgbClr val="CC0099"/>
                </a:solidFill>
                <a:latin typeface="Times New Roman" pitchFamily="18" charset="0"/>
                <a:ea typeface="標楷體" pitchFamily="65" charset="-120"/>
              </a:rPr>
              <a:t>未婚</a:t>
            </a:r>
            <a:r>
              <a:rPr lang="zh-TW" altLang="en-US" dirty="0">
                <a:latin typeface="Times New Roman" pitchFamily="18" charset="0"/>
                <a:ea typeface="標楷體" pitchFamily="65" charset="-120"/>
              </a:rPr>
              <a:t>女性往生只能住進</a:t>
            </a:r>
            <a:r>
              <a:rPr lang="zh-TW" altLang="en-US" dirty="0">
                <a:solidFill>
                  <a:srgbClr val="CC0099"/>
                </a:solidFill>
                <a:latin typeface="Times New Roman" pitchFamily="18" charset="0"/>
                <a:ea typeface="標楷體" pitchFamily="65" charset="-120"/>
              </a:rPr>
              <a:t>姑娘廟</a:t>
            </a:r>
            <a:endParaRPr kumimoji="0" lang="zh-TW" altLang="en-US" dirty="0">
              <a:solidFill>
                <a:schemeClr val="tx2">
                  <a:lumMod val="75000"/>
                </a:schemeClr>
              </a:solidFill>
              <a:latin typeface="Times New Roman" pitchFamily="18" charset="0"/>
              <a:ea typeface="標楷體" pitchFamily="65" charset="-120"/>
            </a:endParaRPr>
          </a:p>
          <a:p>
            <a:pPr marL="274638" indent="-274638" eaLnBrk="1" hangingPunct="1">
              <a:buFont typeface="Wingdings" panose="05000000000000000000" pitchFamily="2" charset="2"/>
              <a:buAutoNum type="arabicPeriod"/>
              <a:defRPr/>
            </a:pPr>
            <a:r>
              <a:rPr lang="zh-TW" altLang="en-US" dirty="0">
                <a:latin typeface="Times New Roman" pitchFamily="18" charset="0"/>
                <a:ea typeface="標楷體" pitchFamily="65" charset="-120"/>
              </a:rPr>
              <a:t>女兒結婚時，娘家要</a:t>
            </a:r>
            <a:r>
              <a:rPr lang="zh-TW" altLang="en-US" dirty="0">
                <a:solidFill>
                  <a:srgbClr val="CC0099"/>
                </a:solidFill>
                <a:latin typeface="Times New Roman" pitchFamily="18" charset="0"/>
                <a:ea typeface="標楷體" pitchFamily="65" charset="-120"/>
              </a:rPr>
              <a:t>往外潑水</a:t>
            </a:r>
          </a:p>
          <a:p>
            <a:pPr marL="274638" indent="-274638" eaLnBrk="1" hangingPunct="1">
              <a:buFont typeface="Wingdings" panose="05000000000000000000" pitchFamily="2" charset="2"/>
              <a:buAutoNum type="arabicPeriod"/>
              <a:defRPr/>
            </a:pPr>
            <a:r>
              <a:rPr lang="zh-TW" altLang="en-US" dirty="0">
                <a:latin typeface="Times New Roman" pitchFamily="18" charset="0"/>
                <a:ea typeface="標楷體" pitchFamily="65" charset="-120"/>
              </a:rPr>
              <a:t>已婚的女兒大年</a:t>
            </a:r>
            <a:r>
              <a:rPr lang="zh-TW" altLang="en-US" dirty="0">
                <a:solidFill>
                  <a:srgbClr val="CC0099"/>
                </a:solidFill>
                <a:latin typeface="Times New Roman" pitchFamily="18" charset="0"/>
                <a:ea typeface="標楷體" pitchFamily="65" charset="-120"/>
              </a:rPr>
              <a:t>初一不能回娘家</a:t>
            </a:r>
            <a:endParaRPr lang="zh-TW" altLang="en-US" dirty="0">
              <a:solidFill>
                <a:schemeClr val="tx2">
                  <a:lumMod val="75000"/>
                </a:schemeClr>
              </a:solidFill>
              <a:latin typeface="Times New Roman" pitchFamily="18" charset="0"/>
              <a:ea typeface="標楷體" pitchFamily="65" charset="-120"/>
            </a:endParaRPr>
          </a:p>
          <a:p>
            <a:pPr marL="274638" indent="-274638" eaLnBrk="1" hangingPunct="1">
              <a:buFont typeface="Wingdings" panose="05000000000000000000" pitchFamily="2" charset="2"/>
              <a:buAutoNum type="arabicPeriod"/>
              <a:defRPr/>
            </a:pPr>
            <a:r>
              <a:rPr lang="zh-TW" altLang="en-US" dirty="0">
                <a:latin typeface="Times New Roman" pitchFamily="18" charset="0"/>
                <a:ea typeface="標楷體" pitchFamily="65" charset="-120"/>
              </a:rPr>
              <a:t>親人過世時只能由</a:t>
            </a:r>
            <a:r>
              <a:rPr lang="zh-TW" altLang="en-US" dirty="0">
                <a:solidFill>
                  <a:srgbClr val="CC0099"/>
                </a:solidFill>
                <a:latin typeface="Times New Roman" pitchFamily="18" charset="0"/>
                <a:ea typeface="標楷體" pitchFamily="65" charset="-120"/>
              </a:rPr>
              <a:t>男</a:t>
            </a:r>
            <a:r>
              <a:rPr lang="zh-TW" altLang="en-US" dirty="0">
                <a:latin typeface="Times New Roman" pitchFamily="18" charset="0"/>
                <a:ea typeface="標楷體" pitchFamily="65" charset="-120"/>
              </a:rPr>
              <a:t>生執幡、主祭</a:t>
            </a:r>
          </a:p>
          <a:p>
            <a:pPr marL="274638" indent="-274638" eaLnBrk="1" hangingPunct="1">
              <a:buFont typeface="Wingdings" panose="05000000000000000000" pitchFamily="2" charset="2"/>
              <a:buNone/>
              <a:defRPr/>
            </a:pPr>
            <a:r>
              <a:rPr kumimoji="0" lang="zh-TW" altLang="en-US" dirty="0">
                <a:ea typeface="標楷體" pitchFamily="65" charset="-120"/>
              </a:rPr>
              <a:t>－</a:t>
            </a:r>
            <a:r>
              <a:rPr kumimoji="0" lang="zh-TW" altLang="en-US" sz="2400" dirty="0">
                <a:solidFill>
                  <a:srgbClr val="3333CC"/>
                </a:solidFill>
                <a:ea typeface="標楷體" pitchFamily="65" charset="-120"/>
              </a:rPr>
              <a:t>台灣性別平等教育協會與女書店調查</a:t>
            </a:r>
            <a:r>
              <a:rPr kumimoji="0" lang="en-US" altLang="zh-TW" sz="2400" dirty="0">
                <a:solidFill>
                  <a:srgbClr val="3333CC"/>
                </a:solidFill>
                <a:ea typeface="標楷體" pitchFamily="65" charset="-120"/>
              </a:rPr>
              <a:t>367</a:t>
            </a:r>
            <a:r>
              <a:rPr kumimoji="0" lang="zh-TW" altLang="en-US" sz="2400" dirty="0">
                <a:solidFill>
                  <a:srgbClr val="3333CC"/>
                </a:solidFill>
                <a:ea typeface="標楷體" pitchFamily="65" charset="-120"/>
              </a:rPr>
              <a:t>份問卷結果</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53892DBB-FDAA-1A15-B66A-8D417A6AE6E4}"/>
              </a:ext>
            </a:extLst>
          </p:cNvPr>
          <p:cNvSpPr>
            <a:spLocks noGrp="1" noChangeArrowheads="1"/>
          </p:cNvSpPr>
          <p:nvPr>
            <p:ph type="title"/>
          </p:nvPr>
        </p:nvSpPr>
        <p:spPr/>
        <p:txBody>
          <a:bodyPr/>
          <a:lstStyle/>
          <a:p>
            <a:pPr eaLnBrk="1" hangingPunct="1"/>
            <a:r>
              <a:rPr lang="zh-TW" altLang="en-US">
                <a:ea typeface="標楷體" panose="03000509000000000000" pitchFamily="65" charset="-120"/>
              </a:rPr>
              <a:t>習俗</a:t>
            </a:r>
            <a:endParaRPr lang="zh-TW" altLang="en-US" sz="1600">
              <a:ea typeface="標楷體" panose="03000509000000000000" pitchFamily="65" charset="-120"/>
            </a:endParaRPr>
          </a:p>
        </p:txBody>
      </p:sp>
      <p:sp>
        <p:nvSpPr>
          <p:cNvPr id="189443" name="Rectangle 3">
            <a:extLst>
              <a:ext uri="{FF2B5EF4-FFF2-40B4-BE49-F238E27FC236}">
                <a16:creationId xmlns:a16="http://schemas.microsoft.com/office/drawing/2014/main" id="{3FBA1FF9-85A5-5022-71ED-45EAABAD9D9D}"/>
              </a:ext>
            </a:extLst>
          </p:cNvPr>
          <p:cNvSpPr>
            <a:spLocks noGrp="1" noChangeArrowheads="1"/>
          </p:cNvSpPr>
          <p:nvPr>
            <p:ph idx="1"/>
          </p:nvPr>
        </p:nvSpPr>
        <p:spPr>
          <a:xfrm>
            <a:off x="1182688" y="2017713"/>
            <a:ext cx="7710487" cy="4840287"/>
          </a:xfrm>
        </p:spPr>
        <p:txBody>
          <a:bodyPr/>
          <a:lstStyle/>
          <a:p>
            <a:pPr marL="274638" indent="-274638" eaLnBrk="1" hangingPunct="1">
              <a:buFont typeface="Wingdings" panose="05000000000000000000" pitchFamily="2" charset="2"/>
              <a:buNone/>
              <a:defRPr/>
            </a:pPr>
            <a:r>
              <a:rPr kumimoji="0" lang="en-US" altLang="zh-TW" dirty="0">
                <a:solidFill>
                  <a:schemeClr val="hlink"/>
                </a:solidFill>
                <a:effectLst>
                  <a:outerShdw blurRad="38100" dist="38100" dir="2700000" algn="tl">
                    <a:srgbClr val="C0C0C0"/>
                  </a:outerShdw>
                </a:effectLst>
                <a:ea typeface="標楷體" pitchFamily="65" charset="-120"/>
              </a:rPr>
              <a:t>10</a:t>
            </a:r>
            <a:r>
              <a:rPr kumimoji="0" lang="zh-TW" altLang="en-US" dirty="0">
                <a:solidFill>
                  <a:schemeClr val="hlink"/>
                </a:solidFill>
                <a:effectLst>
                  <a:outerShdw blurRad="38100" dist="38100" dir="2700000" algn="tl">
                    <a:srgbClr val="C0C0C0"/>
                  </a:outerShdw>
                </a:effectLst>
                <a:ea typeface="標楷體" pitchFamily="65" charset="-120"/>
              </a:rPr>
              <a:t>大女性最無法接受</a:t>
            </a:r>
            <a:endParaRPr kumimoji="0" lang="zh-TW" altLang="en-US" dirty="0">
              <a:solidFill>
                <a:schemeClr val="hlink"/>
              </a:solidFill>
              <a:ea typeface="標楷體" pitchFamily="65" charset="-120"/>
            </a:endParaRPr>
          </a:p>
          <a:p>
            <a:pPr marL="274638" indent="-274638" eaLnBrk="1" hangingPunct="1">
              <a:buFont typeface="Wingdings" panose="05000000000000000000" pitchFamily="2" charset="2"/>
              <a:buAutoNum type="arabicPeriod" startAt="6"/>
              <a:defRPr/>
            </a:pPr>
            <a:r>
              <a:rPr lang="zh-TW" altLang="en-US" dirty="0">
                <a:latin typeface="Times New Roman" pitchFamily="18" charset="0"/>
                <a:ea typeface="標楷體" pitchFamily="65" charset="-120"/>
              </a:rPr>
              <a:t>第</a:t>
            </a:r>
            <a:r>
              <a:rPr lang="en-US" altLang="zh-TW" dirty="0">
                <a:latin typeface="Times New Roman" pitchFamily="18" charset="0"/>
                <a:ea typeface="標楷體" pitchFamily="65" charset="-120"/>
              </a:rPr>
              <a:t>1</a:t>
            </a:r>
            <a:r>
              <a:rPr lang="zh-TW" altLang="en-US" dirty="0">
                <a:latin typeface="Times New Roman" pitchFamily="18" charset="0"/>
                <a:ea typeface="標楷體" pitchFamily="65" charset="-120"/>
              </a:rPr>
              <a:t>胎若生女兒，坐月子就不能吃</a:t>
            </a:r>
            <a:r>
              <a:rPr lang="zh-TW" altLang="en-US" dirty="0">
                <a:solidFill>
                  <a:srgbClr val="CC00CC"/>
                </a:solidFill>
                <a:latin typeface="Times New Roman" pitchFamily="18" charset="0"/>
                <a:ea typeface="標楷體" pitchFamily="65" charset="-120"/>
              </a:rPr>
              <a:t>麵線</a:t>
            </a:r>
            <a:endParaRPr lang="zh-TW" altLang="en-US" dirty="0">
              <a:latin typeface="Times New Roman" pitchFamily="18" charset="0"/>
              <a:ea typeface="標楷體" pitchFamily="65" charset="-120"/>
            </a:endParaRPr>
          </a:p>
          <a:p>
            <a:pPr marL="274638" indent="-274638" eaLnBrk="1" hangingPunct="1">
              <a:buFont typeface="Wingdings" panose="05000000000000000000" pitchFamily="2" charset="2"/>
              <a:buAutoNum type="arabicPeriod" startAt="6"/>
              <a:defRPr/>
            </a:pPr>
            <a:r>
              <a:rPr lang="zh-TW" altLang="en-US" dirty="0">
                <a:latin typeface="Times New Roman" pitchFamily="18" charset="0"/>
                <a:ea typeface="標楷體" pitchFamily="65" charset="-120"/>
              </a:rPr>
              <a:t>生兒子是弄</a:t>
            </a:r>
            <a:r>
              <a:rPr lang="zh-TW" altLang="en-US" dirty="0">
                <a:solidFill>
                  <a:srgbClr val="CC00CC"/>
                </a:solidFill>
                <a:latin typeface="Times New Roman" pitchFamily="18" charset="0"/>
                <a:ea typeface="標楷體" pitchFamily="65" charset="-120"/>
              </a:rPr>
              <a:t>璋</a:t>
            </a:r>
            <a:r>
              <a:rPr lang="zh-TW" altLang="en-US" dirty="0">
                <a:latin typeface="Times New Roman" pitchFamily="18" charset="0"/>
                <a:ea typeface="標楷體" pitchFamily="65" charset="-120"/>
              </a:rPr>
              <a:t>誌喜，生女兒則淪為弄</a:t>
            </a:r>
            <a:r>
              <a:rPr lang="zh-TW" altLang="en-US" dirty="0">
                <a:solidFill>
                  <a:srgbClr val="CC00CC"/>
                </a:solidFill>
                <a:latin typeface="Times New Roman" pitchFamily="18" charset="0"/>
                <a:ea typeface="標楷體" pitchFamily="65" charset="-120"/>
              </a:rPr>
              <a:t>瓦</a:t>
            </a:r>
          </a:p>
          <a:p>
            <a:pPr marL="274638" indent="-274638" eaLnBrk="1" hangingPunct="1">
              <a:buFont typeface="Wingdings" panose="05000000000000000000" pitchFamily="2" charset="2"/>
              <a:buAutoNum type="arabicPeriod" startAt="6"/>
              <a:defRPr/>
            </a:pPr>
            <a:r>
              <a:rPr lang="zh-TW" altLang="en-US" dirty="0">
                <a:latin typeface="Times New Roman" pitchFamily="18" charset="0"/>
                <a:ea typeface="標楷體" pitchFamily="65" charset="-120"/>
              </a:rPr>
              <a:t>結婚時要</a:t>
            </a:r>
            <a:r>
              <a:rPr lang="zh-TW" altLang="en-US" dirty="0">
                <a:solidFill>
                  <a:srgbClr val="CC00CC"/>
                </a:solidFill>
                <a:latin typeface="Times New Roman" pitchFamily="18" charset="0"/>
                <a:ea typeface="標楷體" pitchFamily="65" charset="-120"/>
              </a:rPr>
              <a:t>過火爐</a:t>
            </a:r>
            <a:r>
              <a:rPr lang="zh-TW" altLang="en-US" dirty="0">
                <a:latin typeface="Times New Roman" pitchFamily="18" charset="0"/>
                <a:ea typeface="標楷體" pitchFamily="65" charset="-120"/>
              </a:rPr>
              <a:t>、</a:t>
            </a:r>
            <a:r>
              <a:rPr lang="zh-TW" altLang="en-US" dirty="0">
                <a:solidFill>
                  <a:srgbClr val="CC00CC"/>
                </a:solidFill>
                <a:latin typeface="Times New Roman" pitchFamily="18" charset="0"/>
                <a:ea typeface="標楷體" pitchFamily="65" charset="-120"/>
              </a:rPr>
              <a:t>踩瓦</a:t>
            </a:r>
            <a:r>
              <a:rPr lang="zh-TW" altLang="en-US" dirty="0">
                <a:latin typeface="Times New Roman" pitchFamily="18" charset="0"/>
                <a:ea typeface="標楷體" pitchFamily="65" charset="-120"/>
              </a:rPr>
              <a:t>片、</a:t>
            </a:r>
            <a:r>
              <a:rPr lang="zh-TW" altLang="en-US" dirty="0">
                <a:solidFill>
                  <a:srgbClr val="CC00CC"/>
                </a:solidFill>
                <a:latin typeface="Times New Roman" pitchFamily="18" charset="0"/>
                <a:ea typeface="標楷體" pitchFamily="65" charset="-120"/>
              </a:rPr>
              <a:t>丟</a:t>
            </a:r>
            <a:r>
              <a:rPr lang="zh-TW" altLang="en-US" dirty="0">
                <a:latin typeface="Times New Roman" pitchFamily="18" charset="0"/>
                <a:ea typeface="標楷體" pitchFamily="65" charset="-120"/>
              </a:rPr>
              <a:t>紙</a:t>
            </a:r>
            <a:r>
              <a:rPr lang="zh-TW" altLang="en-US" dirty="0">
                <a:solidFill>
                  <a:srgbClr val="CC00CC"/>
                </a:solidFill>
                <a:latin typeface="Times New Roman" pitchFamily="18" charset="0"/>
                <a:ea typeface="標楷體" pitchFamily="65" charset="-120"/>
              </a:rPr>
              <a:t>扇</a:t>
            </a:r>
          </a:p>
          <a:p>
            <a:pPr marL="274638" indent="-274638" eaLnBrk="1" hangingPunct="1">
              <a:buFont typeface="Wingdings" panose="05000000000000000000" pitchFamily="2" charset="2"/>
              <a:buAutoNum type="arabicPeriod" startAt="6"/>
              <a:defRPr/>
            </a:pPr>
            <a:r>
              <a:rPr lang="zh-TW" altLang="en-US" dirty="0">
                <a:latin typeface="Times New Roman" pitchFamily="18" charset="0"/>
                <a:ea typeface="標楷體" pitchFamily="65" charset="-120"/>
              </a:rPr>
              <a:t>生男孩送</a:t>
            </a:r>
            <a:r>
              <a:rPr lang="zh-TW" altLang="en-US" dirty="0">
                <a:solidFill>
                  <a:srgbClr val="CC00CC"/>
                </a:solidFill>
                <a:latin typeface="Times New Roman" pitchFamily="18" charset="0"/>
                <a:ea typeface="標楷體" pitchFamily="65" charset="-120"/>
              </a:rPr>
              <a:t>油飯</a:t>
            </a:r>
            <a:r>
              <a:rPr lang="zh-TW" altLang="en-US" dirty="0">
                <a:latin typeface="Times New Roman" pitchFamily="18" charset="0"/>
                <a:ea typeface="標楷體" pitchFamily="65" charset="-120"/>
              </a:rPr>
              <a:t>，生女兒送</a:t>
            </a:r>
            <a:r>
              <a:rPr lang="zh-TW" altLang="en-US" dirty="0">
                <a:solidFill>
                  <a:srgbClr val="CC00CC"/>
                </a:solidFill>
                <a:latin typeface="Times New Roman" pitchFamily="18" charset="0"/>
                <a:ea typeface="標楷體" pitchFamily="65" charset="-120"/>
              </a:rPr>
              <a:t>蛋糕或紅蛋</a:t>
            </a:r>
          </a:p>
          <a:p>
            <a:pPr marL="274638" indent="-274638" eaLnBrk="1" hangingPunct="1">
              <a:buFont typeface="Wingdings" panose="05000000000000000000" pitchFamily="2" charset="2"/>
              <a:buAutoNum type="arabicPeriod" startAt="6"/>
              <a:defRPr/>
            </a:pPr>
            <a:r>
              <a:rPr lang="zh-TW" altLang="en-US" dirty="0">
                <a:latin typeface="Times New Roman" pitchFamily="18" charset="0"/>
                <a:ea typeface="標楷體" pitchFamily="65" charset="-120"/>
              </a:rPr>
              <a:t>生理期不能持香拜拜</a:t>
            </a:r>
          </a:p>
          <a:p>
            <a:pPr marL="274638" indent="-274638" eaLnBrk="1" hangingPunct="1">
              <a:buFont typeface="Wingdings" panose="05000000000000000000" pitchFamily="2" charset="2"/>
              <a:buNone/>
              <a:defRPr/>
            </a:pPr>
            <a:endParaRPr kumimoji="0" lang="en-US" altLang="zh-TW" sz="2400" dirty="0">
              <a:solidFill>
                <a:srgbClr val="3333CC"/>
              </a:solidFill>
              <a:ea typeface="標楷體" pitchFamily="65" charset="-12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9C3503B3-8BC4-3B7C-A7D9-00CFB24A6B68}"/>
              </a:ext>
            </a:extLst>
          </p:cNvPr>
          <p:cNvSpPr>
            <a:spLocks noGrp="1" noChangeArrowheads="1"/>
          </p:cNvSpPr>
          <p:nvPr>
            <p:ph type="title"/>
          </p:nvPr>
        </p:nvSpPr>
        <p:spPr>
          <a:xfrm>
            <a:off x="1042988" y="404813"/>
            <a:ext cx="7345362" cy="1223962"/>
          </a:xfrm>
        </p:spPr>
        <p:txBody>
          <a:bodyPr/>
          <a:lstStyle/>
          <a:p>
            <a:pPr eaLnBrk="1" hangingPunct="1"/>
            <a:r>
              <a:rPr lang="zh-TW" altLang="en-US" dirty="0">
                <a:solidFill>
                  <a:srgbClr val="C00000"/>
                </a:solidFill>
                <a:latin typeface="微軟正黑體" panose="020B0604030504040204" pitchFamily="34" charset="-120"/>
                <a:ea typeface="微軟正黑體" panose="020B0604030504040204" pitchFamily="34" charset="-120"/>
              </a:rPr>
              <a:t>性別暴力受害者以女性居多 </a:t>
            </a:r>
          </a:p>
        </p:txBody>
      </p:sp>
      <p:sp>
        <p:nvSpPr>
          <p:cNvPr id="17411" name="Rectangle 3">
            <a:extLst>
              <a:ext uri="{FF2B5EF4-FFF2-40B4-BE49-F238E27FC236}">
                <a16:creationId xmlns:a16="http://schemas.microsoft.com/office/drawing/2014/main" id="{BE1CC1BA-896E-18C6-BF4B-31BFB74CB49D}"/>
              </a:ext>
            </a:extLst>
          </p:cNvPr>
          <p:cNvSpPr>
            <a:spLocks noGrp="1" noChangeArrowheads="1"/>
          </p:cNvSpPr>
          <p:nvPr>
            <p:ph idx="1"/>
          </p:nvPr>
        </p:nvSpPr>
        <p:spPr>
          <a:xfrm>
            <a:off x="900113" y="2133600"/>
            <a:ext cx="7343775" cy="4114800"/>
          </a:xfrm>
        </p:spPr>
        <p:txBody>
          <a:bodyPr/>
          <a:lstStyle/>
          <a:p>
            <a:pPr marL="171450" marR="0" lvl="0" indent="-171450" algn="l" defTabSz="685800" rtl="0" eaLnBrk="1" fontAlgn="auto" latinLnBrk="0" hangingPunct="1">
              <a:lnSpc>
                <a:spcPct val="90000"/>
              </a:lnSpc>
              <a:spcBef>
                <a:spcPts val="750"/>
              </a:spcBef>
              <a:spcAft>
                <a:spcPts val="0"/>
              </a:spcAft>
              <a:buClrTx/>
              <a:buSzTx/>
              <a:buFont typeface="Wingdings" panose="05000000000000000000" pitchFamily="2" charset="2"/>
              <a:buChar char="n"/>
              <a:tabLst/>
              <a:defRPr/>
            </a:pPr>
            <a:r>
              <a:rPr kumimoji="0" lang="zh-TW" altLang="en-US" sz="2600" b="0" i="0" u="none" strike="noStrike" kern="1200" cap="none" spc="0" normalizeH="0" baseline="0" noProof="0" dirty="0">
                <a:ln>
                  <a:noFill/>
                </a:ln>
                <a:solidFill>
                  <a:srgbClr val="002060"/>
                </a:solidFill>
                <a:effectLst/>
                <a:uLnTx/>
                <a:uFillTx/>
                <a:latin typeface="微軟正黑體" panose="020B0604030504040204" pitchFamily="34" charset="-120"/>
                <a:ea typeface="微軟正黑體" panose="020B0604030504040204" pitchFamily="34" charset="-120"/>
                <a:cs typeface="+mn-cs"/>
              </a:rPr>
              <a:t>家暴通報被害人</a:t>
            </a:r>
            <a:r>
              <a:rPr kumimoji="0" lang="en-US" altLang="zh-TW" sz="2600" b="0" i="0" u="none" strike="noStrike" kern="1200" cap="none" spc="0" normalizeH="0" baseline="0" noProof="0" dirty="0">
                <a:ln>
                  <a:noFill/>
                </a:ln>
                <a:solidFill>
                  <a:srgbClr val="002060"/>
                </a:solidFill>
                <a:effectLst/>
                <a:uLnTx/>
                <a:uFillTx/>
                <a:latin typeface="微軟正黑體" panose="020B0604030504040204" pitchFamily="34" charset="-120"/>
                <a:ea typeface="微軟正黑體" panose="020B0604030504040204" pitchFamily="34" charset="-120"/>
                <a:cs typeface="+mn-cs"/>
              </a:rPr>
              <a:t>103,930</a:t>
            </a:r>
            <a:r>
              <a:rPr kumimoji="0" lang="zh-TW" altLang="en-US" sz="2600" b="0" i="0" u="none" strike="noStrike" kern="1200" cap="none" spc="0" normalizeH="0" baseline="0" noProof="0" dirty="0">
                <a:ln>
                  <a:noFill/>
                </a:ln>
                <a:solidFill>
                  <a:srgbClr val="002060"/>
                </a:solidFill>
                <a:effectLst/>
                <a:uLnTx/>
                <a:uFillTx/>
                <a:latin typeface="微軟正黑體" panose="020B0604030504040204" pitchFamily="34" charset="-120"/>
                <a:ea typeface="微軟正黑體" panose="020B0604030504040204" pitchFamily="34" charset="-120"/>
                <a:cs typeface="+mn-cs"/>
              </a:rPr>
              <a:t>人，親密關係暴力</a:t>
            </a:r>
            <a:r>
              <a:rPr kumimoji="0" lang="en-US" altLang="zh-TW" sz="2600" b="0" i="0" u="none" strike="noStrike" kern="1200" cap="none" spc="0" normalizeH="0" baseline="0" noProof="0" dirty="0">
                <a:ln>
                  <a:noFill/>
                </a:ln>
                <a:solidFill>
                  <a:srgbClr val="002060"/>
                </a:solidFill>
                <a:effectLst/>
                <a:uLnTx/>
                <a:uFillTx/>
                <a:latin typeface="微軟正黑體" panose="020B0604030504040204" pitchFamily="34" charset="-120"/>
                <a:ea typeface="微軟正黑體" panose="020B0604030504040204" pitchFamily="34" charset="-120"/>
                <a:cs typeface="+mn-cs"/>
              </a:rPr>
              <a:t>50,174(48 %</a:t>
            </a:r>
            <a:r>
              <a:rPr kumimoji="0" lang="zh-TW" altLang="en-US" sz="2600" b="0" i="0" u="none" strike="noStrike" kern="1200" cap="none" spc="0" normalizeH="0" baseline="0" noProof="0" dirty="0">
                <a:ln>
                  <a:noFill/>
                </a:ln>
                <a:solidFill>
                  <a:srgbClr val="002060"/>
                </a:solidFill>
                <a:effectLst/>
                <a:uLnTx/>
                <a:uFillTx/>
                <a:latin typeface="微軟正黑體" panose="020B0604030504040204" pitchFamily="34" charset="-120"/>
                <a:ea typeface="微軟正黑體" panose="020B0604030504040204" pitchFamily="34" charset="-120"/>
                <a:cs typeface="+mn-cs"/>
              </a:rPr>
              <a:t>）；其他家庭成员和兒少保各佔</a:t>
            </a:r>
            <a:r>
              <a:rPr kumimoji="0" lang="en-US" altLang="zh-TW" sz="2600" b="0" i="0" u="none" strike="noStrike" kern="1200" cap="none" spc="0" normalizeH="0" baseline="0" noProof="0" dirty="0">
                <a:ln>
                  <a:noFill/>
                </a:ln>
                <a:solidFill>
                  <a:srgbClr val="002060"/>
                </a:solidFill>
                <a:effectLst/>
                <a:uLnTx/>
                <a:uFillTx/>
                <a:latin typeface="微軟正黑體" panose="020B0604030504040204" pitchFamily="34" charset="-120"/>
                <a:ea typeface="微軟正黑體" panose="020B0604030504040204" pitchFamily="34" charset="-120"/>
                <a:cs typeface="+mn-cs"/>
              </a:rPr>
              <a:t>17%</a:t>
            </a:r>
            <a:r>
              <a:rPr kumimoji="0" lang="zh-TW" altLang="en-US" sz="2600" b="0" i="0" u="none" strike="noStrike" kern="1200" cap="none" spc="0" normalizeH="0" baseline="0" noProof="0" dirty="0">
                <a:ln>
                  <a:noFill/>
                </a:ln>
                <a:solidFill>
                  <a:srgbClr val="002060"/>
                </a:solidFill>
                <a:effectLst/>
                <a:uLnTx/>
                <a:uFillTx/>
                <a:latin typeface="微軟正黑體" panose="020B0604030504040204" pitchFamily="34" charset="-120"/>
                <a:ea typeface="微軟正黑體" panose="020B0604030504040204" pitchFamily="34" charset="-120"/>
                <a:cs typeface="+mn-cs"/>
              </a:rPr>
              <a:t>，卑親屬虐待尊親屬</a:t>
            </a:r>
            <a:r>
              <a:rPr kumimoji="0" lang="en-US" altLang="zh-TW" sz="2600" b="0" i="0" u="none" strike="noStrike" kern="1200" cap="none" spc="0" normalizeH="0" baseline="0" noProof="0" dirty="0">
                <a:ln>
                  <a:noFill/>
                </a:ln>
                <a:solidFill>
                  <a:srgbClr val="002060"/>
                </a:solidFill>
                <a:effectLst/>
                <a:uLnTx/>
                <a:uFillTx/>
                <a:latin typeface="微軟正黑體" panose="020B0604030504040204" pitchFamily="34" charset="-120"/>
                <a:ea typeface="微軟正黑體" panose="020B0604030504040204" pitchFamily="34" charset="-120"/>
                <a:cs typeface="+mn-cs"/>
              </a:rPr>
              <a:t>11</a:t>
            </a:r>
            <a:r>
              <a:rPr kumimoji="0" lang="zh-TW" altLang="en-US" sz="2600" b="0" i="0" u="none" strike="noStrike" kern="1200" cap="none" spc="0" normalizeH="0" baseline="0" noProof="0" dirty="0">
                <a:ln>
                  <a:noFill/>
                </a:ln>
                <a:solidFill>
                  <a:srgbClr val="002060"/>
                </a:solidFill>
                <a:effectLst/>
                <a:uLnTx/>
                <a:uFillTx/>
                <a:latin typeface="微軟正黑體" panose="020B0604030504040204" pitchFamily="34" charset="-120"/>
                <a:ea typeface="微軟正黑體" panose="020B0604030504040204" pitchFamily="34" charset="-120"/>
                <a:cs typeface="+mn-cs"/>
              </a:rPr>
              <a:t>，</a:t>
            </a:r>
            <a:r>
              <a:rPr kumimoji="0" lang="en-US" altLang="zh-TW" sz="2600" b="0" i="0" u="none" strike="noStrike" kern="1200" cap="none" spc="0" normalizeH="0" baseline="0" noProof="0" dirty="0">
                <a:ln>
                  <a:noFill/>
                </a:ln>
                <a:solidFill>
                  <a:srgbClr val="002060"/>
                </a:solidFill>
                <a:effectLst/>
                <a:uLnTx/>
                <a:uFillTx/>
                <a:latin typeface="微軟正黑體" panose="020B0604030504040204" pitchFamily="34" charset="-120"/>
                <a:ea typeface="微軟正黑體" panose="020B0604030504040204" pitchFamily="34" charset="-120"/>
                <a:cs typeface="+mn-cs"/>
              </a:rPr>
              <a:t>674</a:t>
            </a:r>
            <a:r>
              <a:rPr kumimoji="0" lang="zh-TW" altLang="en-US" sz="2600" b="0" i="0" u="none" strike="noStrike" kern="1200" cap="none" spc="0" normalizeH="0" baseline="0" noProof="0" dirty="0">
                <a:ln>
                  <a:noFill/>
                </a:ln>
                <a:solidFill>
                  <a:srgbClr val="002060"/>
                </a:solidFill>
                <a:effectLst/>
                <a:uLnTx/>
                <a:uFillTx/>
                <a:latin typeface="微軟正黑體" panose="020B0604030504040204" pitchFamily="34" charset="-120"/>
                <a:ea typeface="微軟正黑體" panose="020B0604030504040204" pitchFamily="34" charset="-120"/>
                <a:cs typeface="+mn-cs"/>
              </a:rPr>
              <a:t>（</a:t>
            </a:r>
            <a:r>
              <a:rPr kumimoji="0" lang="en-US" altLang="zh-TW" sz="2600" b="0" i="0" u="none" strike="noStrike" kern="1200" cap="none" spc="0" normalizeH="0" baseline="0" noProof="0" dirty="0">
                <a:ln>
                  <a:noFill/>
                </a:ln>
                <a:solidFill>
                  <a:srgbClr val="002060"/>
                </a:solidFill>
                <a:effectLst/>
                <a:uLnTx/>
                <a:uFillTx/>
                <a:latin typeface="微軟正黑體" panose="020B0604030504040204" pitchFamily="34" charset="-120"/>
                <a:ea typeface="微軟正黑體" panose="020B0604030504040204" pitchFamily="34" charset="-120"/>
                <a:cs typeface="+mn-cs"/>
              </a:rPr>
              <a:t>11%</a:t>
            </a:r>
            <a:r>
              <a:rPr kumimoji="0" lang="zh-TW" altLang="en-US" sz="2600" b="0" i="0" u="none" strike="noStrike" kern="1200" cap="none" spc="0" normalizeH="0" baseline="0" noProof="0" dirty="0">
                <a:ln>
                  <a:noFill/>
                </a:ln>
                <a:solidFill>
                  <a:srgbClr val="002060"/>
                </a:solidFill>
                <a:effectLst/>
                <a:uLnTx/>
                <a:uFillTx/>
                <a:latin typeface="微軟正黑體" panose="020B0604030504040204" pitchFamily="34" charset="-120"/>
                <a:ea typeface="微軟正黑體" panose="020B0604030504040204" pitchFamily="34" charset="-120"/>
                <a:cs typeface="+mn-cs"/>
              </a:rPr>
              <a:t>）。</a:t>
            </a:r>
            <a:endParaRPr kumimoji="0" lang="en-US" altLang="zh-TW" sz="2600" b="0" i="0" u="none" strike="noStrike" kern="1200" cap="none" spc="0" normalizeH="0" baseline="0" noProof="0" dirty="0">
              <a:ln>
                <a:noFill/>
              </a:ln>
              <a:solidFill>
                <a:srgbClr val="002060"/>
              </a:solidFill>
              <a:effectLst/>
              <a:uLnTx/>
              <a:uFillTx/>
              <a:latin typeface="微軟正黑體" panose="020B0604030504040204" pitchFamily="34" charset="-120"/>
              <a:ea typeface="微軟正黑體" panose="020B0604030504040204" pitchFamily="34" charset="-120"/>
              <a:cs typeface="+mn-cs"/>
            </a:endParaRPr>
          </a:p>
          <a:p>
            <a:pPr marL="171450" marR="0" lvl="0" indent="-171450" algn="l" defTabSz="685800" rtl="0" eaLnBrk="1" fontAlgn="auto" latinLnBrk="0" hangingPunct="1">
              <a:lnSpc>
                <a:spcPct val="90000"/>
              </a:lnSpc>
              <a:spcBef>
                <a:spcPts val="750"/>
              </a:spcBef>
              <a:spcAft>
                <a:spcPts val="0"/>
              </a:spcAft>
              <a:buClrTx/>
              <a:buSzTx/>
              <a:buFont typeface="Wingdings" panose="05000000000000000000" pitchFamily="2" charset="2"/>
              <a:buChar char="n"/>
              <a:tabLst/>
              <a:defRPr/>
            </a:pPr>
            <a:r>
              <a:rPr kumimoji="0" lang="zh-TW" altLang="en-US" sz="2600" b="0" i="0" u="none" strike="noStrike" kern="1200" cap="none" spc="0" normalizeH="0" baseline="0" noProof="0" dirty="0">
                <a:ln>
                  <a:noFill/>
                </a:ln>
                <a:solidFill>
                  <a:srgbClr val="002060"/>
                </a:solidFill>
                <a:effectLst/>
                <a:uLnTx/>
                <a:uFillTx/>
                <a:latin typeface="微軟正黑體" panose="020B0604030504040204" pitchFamily="34" charset="-120"/>
                <a:ea typeface="微軟正黑體" panose="020B0604030504040204" pitchFamily="34" charset="-120"/>
                <a:cs typeface="+mn-cs"/>
              </a:rPr>
              <a:t>性侵害</a:t>
            </a:r>
            <a:r>
              <a:rPr kumimoji="0" lang="en-US" altLang="zh-TW" sz="2600" b="0" i="0" u="none" strike="noStrike" kern="1200" cap="none" spc="0" normalizeH="0" baseline="0" noProof="0" dirty="0">
                <a:ln>
                  <a:noFill/>
                </a:ln>
                <a:solidFill>
                  <a:srgbClr val="002060"/>
                </a:solidFill>
                <a:effectLst/>
                <a:uLnTx/>
                <a:uFillTx/>
                <a:latin typeface="微軟正黑體" panose="020B0604030504040204" pitchFamily="34" charset="-120"/>
                <a:ea typeface="微軟正黑體" panose="020B0604030504040204" pitchFamily="34" charset="-120"/>
                <a:cs typeface="+mn-cs"/>
              </a:rPr>
              <a:t>8</a:t>
            </a:r>
            <a:r>
              <a:rPr kumimoji="0" lang="zh-TW" altLang="en-US" sz="2600" b="0" i="0" u="none" strike="noStrike" kern="1200" cap="none" spc="0" normalizeH="0" baseline="0" noProof="0" dirty="0">
                <a:ln>
                  <a:noFill/>
                </a:ln>
                <a:solidFill>
                  <a:srgbClr val="002060"/>
                </a:solidFill>
                <a:effectLst/>
                <a:uLnTx/>
                <a:uFillTx/>
                <a:latin typeface="微軟正黑體" panose="020B0604030504040204" pitchFamily="34" charset="-120"/>
                <a:ea typeface="微軟正黑體" panose="020B0604030504040204" pitchFamily="34" charset="-120"/>
                <a:cs typeface="+mn-cs"/>
              </a:rPr>
              <a:t>，</a:t>
            </a:r>
            <a:r>
              <a:rPr kumimoji="0" lang="en-US" altLang="zh-TW" sz="2600" b="0" i="0" u="none" strike="noStrike" kern="1200" cap="none" spc="0" normalizeH="0" baseline="0" noProof="0" dirty="0">
                <a:ln>
                  <a:noFill/>
                </a:ln>
                <a:solidFill>
                  <a:srgbClr val="002060"/>
                </a:solidFill>
                <a:effectLst/>
                <a:uLnTx/>
                <a:uFillTx/>
                <a:latin typeface="微軟正黑體" panose="020B0604030504040204" pitchFamily="34" charset="-120"/>
                <a:ea typeface="微軟正黑體" panose="020B0604030504040204" pitchFamily="34" charset="-120"/>
                <a:cs typeface="+mn-cs"/>
              </a:rPr>
              <a:t>160</a:t>
            </a:r>
            <a:r>
              <a:rPr kumimoji="0" lang="zh-TW" altLang="en-US" sz="2600" b="0" i="0" u="none" strike="noStrike" kern="1200" cap="none" spc="0" normalizeH="0" baseline="0" noProof="0" dirty="0">
                <a:ln>
                  <a:noFill/>
                </a:ln>
                <a:solidFill>
                  <a:srgbClr val="002060"/>
                </a:solidFill>
                <a:effectLst/>
                <a:uLnTx/>
                <a:uFillTx/>
                <a:latin typeface="微軟正黑體" panose="020B0604030504040204" pitchFamily="34" charset="-120"/>
                <a:ea typeface="微軟正黑體" panose="020B0604030504040204" pitchFamily="34" charset="-120"/>
                <a:cs typeface="+mn-cs"/>
              </a:rPr>
              <a:t>人（女性</a:t>
            </a:r>
            <a:r>
              <a:rPr kumimoji="0" lang="en-US" altLang="zh-TW" sz="2600" b="0" i="0" u="none" strike="noStrike" kern="1200" cap="none" spc="0" normalizeH="0" baseline="0" noProof="0" dirty="0">
                <a:ln>
                  <a:noFill/>
                </a:ln>
                <a:solidFill>
                  <a:srgbClr val="002060"/>
                </a:solidFill>
                <a:effectLst/>
                <a:uLnTx/>
                <a:uFillTx/>
                <a:latin typeface="微軟正黑體" panose="020B0604030504040204" pitchFamily="34" charset="-120"/>
                <a:ea typeface="微軟正黑體" panose="020B0604030504040204" pitchFamily="34" charset="-120"/>
                <a:cs typeface="+mn-cs"/>
              </a:rPr>
              <a:t>82.3%</a:t>
            </a:r>
            <a:r>
              <a:rPr kumimoji="0" lang="zh-TW" altLang="en-US" sz="2600" b="0" i="0" u="none" strike="noStrike" kern="1200" cap="none" spc="0" normalizeH="0" baseline="0" noProof="0" dirty="0">
                <a:ln>
                  <a:noFill/>
                </a:ln>
                <a:solidFill>
                  <a:srgbClr val="002060"/>
                </a:solidFill>
                <a:effectLst/>
                <a:uLnTx/>
                <a:uFillTx/>
                <a:latin typeface="微軟正黑體" panose="020B0604030504040204" pitchFamily="34" charset="-120"/>
                <a:ea typeface="微軟正黑體" panose="020B0604030504040204" pitchFamily="34" charset="-120"/>
                <a:cs typeface="+mn-cs"/>
              </a:rPr>
              <a:t>）、兒少</a:t>
            </a:r>
            <a:r>
              <a:rPr kumimoji="0" lang="en-US" altLang="zh-TW" sz="2600" b="0" i="0" u="none" strike="noStrike" kern="1200" cap="none" spc="0" normalizeH="0" baseline="0" noProof="0" dirty="0">
                <a:ln>
                  <a:noFill/>
                </a:ln>
                <a:solidFill>
                  <a:srgbClr val="002060"/>
                </a:solidFill>
                <a:effectLst/>
                <a:uLnTx/>
                <a:uFillTx/>
                <a:latin typeface="微軟正黑體" panose="020B0604030504040204" pitchFamily="34" charset="-120"/>
                <a:ea typeface="微軟正黑體" panose="020B0604030504040204" pitchFamily="34" charset="-120"/>
                <a:cs typeface="+mn-cs"/>
              </a:rPr>
              <a:t>64.6%</a:t>
            </a:r>
            <a:r>
              <a:rPr kumimoji="0" lang="zh-TW" altLang="en-US" sz="2600" b="0" i="0" u="none" strike="noStrike" kern="1200" cap="none" spc="0" normalizeH="0" baseline="0" noProof="0" dirty="0">
                <a:ln>
                  <a:noFill/>
                </a:ln>
                <a:solidFill>
                  <a:srgbClr val="002060"/>
                </a:solidFill>
                <a:effectLst/>
                <a:uLnTx/>
                <a:uFillTx/>
                <a:latin typeface="微軟正黑體" panose="020B0604030504040204" pitchFamily="34" charset="-120"/>
                <a:ea typeface="微軟正黑體" panose="020B0604030504040204" pitchFamily="34" charset="-120"/>
                <a:cs typeface="+mn-cs"/>
              </a:rPr>
              <a:t>、</a:t>
            </a:r>
            <a:r>
              <a:rPr kumimoji="0" lang="en-US" altLang="zh-TW" sz="2600" b="0" i="0" u="none" strike="noStrike" kern="1200" cap="none" spc="0" normalizeH="0" baseline="0" noProof="0" dirty="0">
                <a:ln>
                  <a:noFill/>
                </a:ln>
                <a:solidFill>
                  <a:srgbClr val="002060"/>
                </a:solidFill>
                <a:effectLst/>
                <a:uLnTx/>
                <a:uFillTx/>
                <a:latin typeface="微軟正黑體" panose="020B0604030504040204" pitchFamily="34" charset="-120"/>
                <a:ea typeface="微軟正黑體" panose="020B0604030504040204" pitchFamily="34" charset="-120"/>
                <a:cs typeface="+mn-cs"/>
              </a:rPr>
              <a:t>70.7%</a:t>
            </a:r>
            <a:r>
              <a:rPr kumimoji="0" lang="zh-TW" altLang="en-US" sz="2600" b="0" i="0" u="none" strike="noStrike" kern="1200" cap="none" spc="0" normalizeH="0" baseline="0" noProof="0" dirty="0">
                <a:ln>
                  <a:noFill/>
                </a:ln>
                <a:solidFill>
                  <a:srgbClr val="002060"/>
                </a:solidFill>
                <a:effectLst/>
                <a:uLnTx/>
                <a:uFillTx/>
                <a:latin typeface="微軟正黑體" panose="020B0604030504040204" pitchFamily="34" charset="-120"/>
                <a:ea typeface="微軟正黑體" panose="020B0604030504040204" pitchFamily="34" charset="-120"/>
                <a:cs typeface="+mn-cs"/>
              </a:rPr>
              <a:t>為熟人所為，又兩造關係為朋友</a:t>
            </a:r>
            <a:r>
              <a:rPr kumimoji="0" lang="en-US" altLang="zh-TW" sz="2600" b="0" i="0" u="none" strike="noStrike" kern="1200" cap="none" spc="0" normalizeH="0" baseline="0" noProof="0" dirty="0">
                <a:ln>
                  <a:noFill/>
                </a:ln>
                <a:solidFill>
                  <a:srgbClr val="002060"/>
                </a:solidFill>
                <a:effectLst/>
                <a:uLnTx/>
                <a:uFillTx/>
                <a:latin typeface="微軟正黑體" panose="020B0604030504040204" pitchFamily="34" charset="-120"/>
                <a:ea typeface="微軟正黑體" panose="020B0604030504040204" pitchFamily="34" charset="-120"/>
                <a:cs typeface="+mn-cs"/>
              </a:rPr>
              <a:t>37.9%</a:t>
            </a:r>
            <a:r>
              <a:rPr kumimoji="0" lang="zh-TW" altLang="en-US" sz="2600" b="0" i="0" u="none" strike="noStrike" kern="1200" cap="none" spc="0" normalizeH="0" baseline="0" noProof="0" dirty="0">
                <a:ln>
                  <a:noFill/>
                </a:ln>
                <a:solidFill>
                  <a:srgbClr val="002060"/>
                </a:solidFill>
                <a:effectLst/>
                <a:uLnTx/>
                <a:uFillTx/>
                <a:latin typeface="微軟正黑體" panose="020B0604030504040204" pitchFamily="34" charset="-120"/>
                <a:ea typeface="微軟正黑體" panose="020B0604030504040204" pitchFamily="34" charset="-120"/>
                <a:cs typeface="+mn-cs"/>
              </a:rPr>
              <a:t>、網友</a:t>
            </a:r>
            <a:r>
              <a:rPr kumimoji="0" lang="en-US" altLang="zh-TW" sz="2600" b="0" i="0" u="none" strike="noStrike" kern="1200" cap="none" spc="0" normalizeH="0" baseline="0" noProof="0" dirty="0">
                <a:ln>
                  <a:noFill/>
                </a:ln>
                <a:solidFill>
                  <a:srgbClr val="002060"/>
                </a:solidFill>
                <a:effectLst/>
                <a:uLnTx/>
                <a:uFillTx/>
                <a:latin typeface="微軟正黑體" panose="020B0604030504040204" pitchFamily="34" charset="-120"/>
                <a:ea typeface="微軟正黑體" panose="020B0604030504040204" pitchFamily="34" charset="-120"/>
                <a:cs typeface="+mn-cs"/>
              </a:rPr>
              <a:t>8.1%</a:t>
            </a:r>
            <a:r>
              <a:rPr kumimoji="0" lang="zh-TW" altLang="en-US" sz="2600" b="0" i="0" u="none" strike="noStrike" kern="1200" cap="none" spc="0" normalizeH="0" baseline="0" noProof="0" dirty="0">
                <a:ln>
                  <a:noFill/>
                </a:ln>
                <a:solidFill>
                  <a:srgbClr val="002060"/>
                </a:solidFill>
                <a:effectLst/>
                <a:uLnTx/>
                <a:uFillTx/>
                <a:latin typeface="微軟正黑體" panose="020B0604030504040204" pitchFamily="34" charset="-120"/>
                <a:ea typeface="微軟正黑體" panose="020B0604030504040204" pitchFamily="34" charset="-120"/>
                <a:cs typeface="+mn-cs"/>
              </a:rPr>
              <a:t>）。</a:t>
            </a:r>
            <a:endParaRPr kumimoji="0" lang="en-US" altLang="zh-TW" sz="2600" b="0" i="0" u="none" strike="noStrike" kern="1200" cap="none" spc="0" normalizeH="0" baseline="0" noProof="0" dirty="0">
              <a:ln>
                <a:noFill/>
              </a:ln>
              <a:solidFill>
                <a:srgbClr val="002060"/>
              </a:solidFill>
              <a:effectLst/>
              <a:uLnTx/>
              <a:uFillTx/>
              <a:latin typeface="微軟正黑體" panose="020B0604030504040204" pitchFamily="34" charset="-120"/>
              <a:ea typeface="微軟正黑體" panose="020B0604030504040204" pitchFamily="34" charset="-120"/>
              <a:cs typeface="+mn-cs"/>
            </a:endParaRPr>
          </a:p>
          <a:p>
            <a:pPr marL="171450" marR="0" lvl="0" indent="-171450" algn="l" defTabSz="685800" rtl="0" eaLnBrk="1" fontAlgn="auto" latinLnBrk="0" hangingPunct="1">
              <a:lnSpc>
                <a:spcPct val="90000"/>
              </a:lnSpc>
              <a:spcBef>
                <a:spcPts val="750"/>
              </a:spcBef>
              <a:spcAft>
                <a:spcPts val="0"/>
              </a:spcAft>
              <a:buClrTx/>
              <a:buSzTx/>
              <a:buFont typeface="Wingdings" panose="05000000000000000000" pitchFamily="2" charset="2"/>
              <a:buChar char="n"/>
              <a:tabLst/>
              <a:defRPr/>
            </a:pPr>
            <a:r>
              <a:rPr kumimoji="0" lang="zh-TW" altLang="en-US" sz="2600" b="0" i="0" u="none" strike="noStrike" kern="1200" cap="none" spc="0" normalizeH="0" baseline="0" noProof="0" dirty="0">
                <a:ln>
                  <a:noFill/>
                </a:ln>
                <a:solidFill>
                  <a:srgbClr val="002060"/>
                </a:solidFill>
                <a:effectLst/>
                <a:uLnTx/>
                <a:uFillTx/>
                <a:latin typeface="微軟正黑體" panose="020B0604030504040204" pitchFamily="34" charset="-120"/>
                <a:ea typeface="微軟正黑體" panose="020B0604030504040204" pitchFamily="34" charset="-120"/>
                <a:cs typeface="+mn-cs"/>
              </a:rPr>
              <a:t>性騷擾</a:t>
            </a:r>
            <a:r>
              <a:rPr kumimoji="0" lang="en-US" altLang="zh-TW" sz="2600" b="0" i="0" u="none" strike="noStrike" kern="1200" cap="none" spc="0" normalizeH="0" baseline="0" noProof="0" dirty="0">
                <a:ln>
                  <a:noFill/>
                </a:ln>
                <a:solidFill>
                  <a:srgbClr val="002060"/>
                </a:solidFill>
                <a:effectLst/>
                <a:uLnTx/>
                <a:uFillTx/>
                <a:latin typeface="微軟正黑體" panose="020B0604030504040204" pitchFamily="34" charset="-120"/>
                <a:ea typeface="微軟正黑體" panose="020B0604030504040204" pitchFamily="34" charset="-120"/>
                <a:cs typeface="+mn-cs"/>
              </a:rPr>
              <a:t>831</a:t>
            </a:r>
            <a:r>
              <a:rPr kumimoji="0" lang="zh-TW" altLang="en-US" sz="2600" b="0" i="0" u="none" strike="noStrike" kern="1200" cap="none" spc="0" normalizeH="0" baseline="0" noProof="0" dirty="0">
                <a:ln>
                  <a:noFill/>
                </a:ln>
                <a:solidFill>
                  <a:srgbClr val="002060"/>
                </a:solidFill>
                <a:effectLst/>
                <a:uLnTx/>
                <a:uFillTx/>
                <a:latin typeface="微軟正黑體" panose="020B0604030504040204" pitchFamily="34" charset="-120"/>
                <a:ea typeface="微軟正黑體" panose="020B0604030504040204" pitchFamily="34" charset="-120"/>
                <a:cs typeface="+mn-cs"/>
              </a:rPr>
              <a:t>件，被害人女性</a:t>
            </a:r>
            <a:r>
              <a:rPr kumimoji="0" lang="en-US" altLang="zh-TW" sz="2600" b="0" i="0" u="none" strike="noStrike" kern="1200" cap="none" spc="0" normalizeH="0" baseline="0" noProof="0" dirty="0">
                <a:ln>
                  <a:noFill/>
                </a:ln>
                <a:solidFill>
                  <a:srgbClr val="002060"/>
                </a:solidFill>
                <a:effectLst/>
                <a:uLnTx/>
                <a:uFillTx/>
                <a:latin typeface="微軟正黑體" panose="020B0604030504040204" pitchFamily="34" charset="-120"/>
                <a:ea typeface="微軟正黑體" panose="020B0604030504040204" pitchFamily="34" charset="-120"/>
                <a:cs typeface="+mn-cs"/>
              </a:rPr>
              <a:t>74.4%</a:t>
            </a:r>
            <a:r>
              <a:rPr kumimoji="0" lang="zh-TW" altLang="en-US" sz="2600" b="0" i="0" u="none" strike="noStrike" kern="1200" cap="none" spc="0" normalizeH="0" baseline="0" noProof="0" dirty="0">
                <a:ln>
                  <a:noFill/>
                </a:ln>
                <a:solidFill>
                  <a:srgbClr val="002060"/>
                </a:solidFill>
                <a:effectLst/>
                <a:uLnTx/>
                <a:uFillTx/>
                <a:latin typeface="微軟正黑體" panose="020B0604030504040204" pitchFamily="34" charset="-120"/>
                <a:ea typeface="微軟正黑體" panose="020B0604030504040204" pitchFamily="34" charset="-120"/>
                <a:cs typeface="+mn-cs"/>
              </a:rPr>
              <a:t>，兩造關係以「陌生人」</a:t>
            </a:r>
            <a:r>
              <a:rPr kumimoji="0" lang="en-US" altLang="zh-TW" sz="2600" b="0" i="0" u="none" strike="noStrike" kern="1200" cap="none" spc="0" normalizeH="0" baseline="0" noProof="0" dirty="0">
                <a:ln>
                  <a:noFill/>
                </a:ln>
                <a:solidFill>
                  <a:srgbClr val="002060"/>
                </a:solidFill>
                <a:effectLst/>
                <a:uLnTx/>
                <a:uFillTx/>
                <a:latin typeface="微軟正黑體" panose="020B0604030504040204" pitchFamily="34" charset="-120"/>
                <a:ea typeface="微軟正黑體" panose="020B0604030504040204" pitchFamily="34" charset="-120"/>
                <a:cs typeface="+mn-cs"/>
              </a:rPr>
              <a:t>68.01%</a:t>
            </a:r>
            <a:r>
              <a:rPr kumimoji="0" lang="zh-TW" altLang="en-US" sz="2600" b="0" i="0" u="none" strike="noStrike" kern="1200" cap="none" spc="0" normalizeH="0" baseline="0" noProof="0" dirty="0">
                <a:ln>
                  <a:noFill/>
                </a:ln>
                <a:solidFill>
                  <a:srgbClr val="002060"/>
                </a:solidFill>
                <a:effectLst/>
                <a:uLnTx/>
                <a:uFillTx/>
                <a:latin typeface="微軟正黑體" panose="020B0604030504040204" pitchFamily="34" charset="-120"/>
                <a:ea typeface="微軟正黑體" panose="020B0604030504040204" pitchFamily="34" charset="-120"/>
                <a:cs typeface="+mn-cs"/>
              </a:rPr>
              <a:t>、網友</a:t>
            </a:r>
            <a:r>
              <a:rPr kumimoji="0" lang="en-US" altLang="zh-TW" sz="2600" b="0" i="0" u="none" strike="noStrike" kern="1200" cap="none" spc="0" normalizeH="0" baseline="0" noProof="0" dirty="0">
                <a:ln>
                  <a:noFill/>
                </a:ln>
                <a:solidFill>
                  <a:srgbClr val="002060"/>
                </a:solidFill>
                <a:effectLst/>
                <a:uLnTx/>
                <a:uFillTx/>
                <a:latin typeface="微軟正黑體" panose="020B0604030504040204" pitchFamily="34" charset="-120"/>
                <a:ea typeface="微軟正黑體" panose="020B0604030504040204" pitchFamily="34" charset="-120"/>
                <a:cs typeface="+mn-cs"/>
              </a:rPr>
              <a:t>5.41%</a:t>
            </a:r>
            <a:r>
              <a:rPr kumimoji="0" lang="zh-TW" altLang="en-US" sz="2600" b="0" i="0" u="none" strike="noStrike" kern="1200" cap="none" spc="0" normalizeH="0" baseline="0" noProof="0" dirty="0">
                <a:ln>
                  <a:noFill/>
                </a:ln>
                <a:solidFill>
                  <a:srgbClr val="002060"/>
                </a:solidFill>
                <a:effectLst/>
                <a:uLnTx/>
                <a:uFillTx/>
                <a:latin typeface="微軟正黑體" panose="020B0604030504040204" pitchFamily="34" charset="-120"/>
                <a:ea typeface="微軟正黑體" panose="020B0604030504040204" pitchFamily="34" charset="-120"/>
                <a:cs typeface="+mn-cs"/>
              </a:rPr>
              <a:t>，發生地以「公共場所」</a:t>
            </a:r>
            <a:r>
              <a:rPr kumimoji="0" lang="en-US" altLang="zh-TW" sz="2600" b="0" i="0" u="none" strike="noStrike" kern="1200" cap="none" spc="0" normalizeH="0" baseline="0" noProof="0" dirty="0">
                <a:ln>
                  <a:noFill/>
                </a:ln>
                <a:solidFill>
                  <a:srgbClr val="002060"/>
                </a:solidFill>
                <a:effectLst/>
                <a:uLnTx/>
                <a:uFillTx/>
                <a:latin typeface="微軟正黑體" panose="020B0604030504040204" pitchFamily="34" charset="-120"/>
                <a:ea typeface="微軟正黑體" panose="020B0604030504040204" pitchFamily="34" charset="-120"/>
                <a:cs typeface="+mn-cs"/>
              </a:rPr>
              <a:t>38.31%</a:t>
            </a:r>
            <a:r>
              <a:rPr kumimoji="0" lang="zh-TW" altLang="en-US" sz="2600" b="0" i="0" u="none" strike="noStrike" kern="1200" cap="none" spc="0" normalizeH="0" baseline="0" noProof="0" dirty="0">
                <a:ln>
                  <a:noFill/>
                </a:ln>
                <a:solidFill>
                  <a:srgbClr val="002060"/>
                </a:solidFill>
                <a:effectLst/>
                <a:uLnTx/>
                <a:uFillTx/>
                <a:latin typeface="微軟正黑體" panose="020B0604030504040204" pitchFamily="34" charset="-120"/>
                <a:ea typeface="微軟正黑體" panose="020B0604030504040204" pitchFamily="34" charset="-120"/>
                <a:cs typeface="+mn-cs"/>
              </a:rPr>
              <a:t>、透過科技網路、手機</a:t>
            </a:r>
            <a:r>
              <a:rPr kumimoji="0" lang="en-US" altLang="zh-TW" sz="2600" b="0" i="0" u="none" strike="noStrike" kern="1200" cap="none" spc="0" normalizeH="0" baseline="0" noProof="0" dirty="0">
                <a:ln>
                  <a:noFill/>
                </a:ln>
                <a:solidFill>
                  <a:srgbClr val="002060"/>
                </a:solidFill>
                <a:effectLst/>
                <a:uLnTx/>
                <a:uFillTx/>
                <a:latin typeface="微軟正黑體" panose="020B0604030504040204" pitchFamily="34" charset="-120"/>
                <a:ea typeface="微軟正黑體" panose="020B0604030504040204" pitchFamily="34" charset="-120"/>
                <a:cs typeface="+mn-cs"/>
              </a:rPr>
              <a:t>18.77%</a:t>
            </a:r>
            <a:r>
              <a:rPr kumimoji="0" lang="zh-TW" altLang="en-US" sz="2600" b="0" i="0" u="none" strike="noStrike" kern="1200" cap="none" spc="0" normalizeH="0" baseline="0" noProof="0" dirty="0">
                <a:ln>
                  <a:noFill/>
                </a:ln>
                <a:solidFill>
                  <a:srgbClr val="002060"/>
                </a:solidFill>
                <a:effectLst/>
                <a:uLnTx/>
                <a:uFillTx/>
                <a:latin typeface="微軟正黑體" panose="020B0604030504040204" pitchFamily="34" charset="-120"/>
                <a:ea typeface="微軟正黑體" panose="020B0604030504040204" pitchFamily="34" charset="-120"/>
                <a:cs typeface="+mn-cs"/>
              </a:rPr>
              <a:t>。</a:t>
            </a:r>
            <a:endParaRPr kumimoji="0" lang="en-US" altLang="zh-TW" sz="2600" b="0" i="0" u="none" strike="noStrike" kern="1200" cap="none" spc="0" normalizeH="0" baseline="0" noProof="0" dirty="0">
              <a:ln>
                <a:noFill/>
              </a:ln>
              <a:solidFill>
                <a:srgbClr val="002060"/>
              </a:solidFill>
              <a:effectLst/>
              <a:uLnTx/>
              <a:uFillTx/>
              <a:latin typeface="微軟正黑體" panose="020B0604030504040204" pitchFamily="34" charset="-120"/>
              <a:ea typeface="微軟正黑體" panose="020B0604030504040204" pitchFamily="34" charset="-120"/>
              <a:cs typeface="+mn-cs"/>
            </a:endParaRPr>
          </a:p>
          <a:p>
            <a:pPr marL="0" marR="0" lvl="0" indent="0" algn="ctr" defTabSz="914400" rtl="0" eaLnBrk="1" fontAlgn="auto" latinLnBrk="0" hangingPunct="1">
              <a:lnSpc>
                <a:spcPct val="90000"/>
              </a:lnSpc>
              <a:spcBef>
                <a:spcPts val="0"/>
              </a:spcBef>
              <a:spcAft>
                <a:spcPts val="600"/>
              </a:spcAft>
              <a:buClrTx/>
              <a:buSzTx/>
              <a:buFontTx/>
              <a:buNone/>
              <a:tabLst/>
              <a:defRPr/>
            </a:pPr>
            <a:r>
              <a:rPr lang="zh-TW" altLang="en-US" sz="2200" dirty="0">
                <a:latin typeface="微軟正黑體" panose="020B0604030504040204" pitchFamily="34" charset="-120"/>
                <a:ea typeface="微軟正黑體" panose="020B0604030504040204" pitchFamily="34" charset="-120"/>
              </a:rPr>
              <a:t>資料來源</a:t>
            </a:r>
            <a:r>
              <a:rPr kumimoji="0" lang="en-US" altLang="zh-TW" sz="2400" i="0" u="none" strike="noStrike" kern="1200" cap="none" spc="0" normalizeH="0" baseline="0" noProof="0" dirty="0">
                <a:ln>
                  <a:noFill/>
                </a:ln>
                <a:solidFill>
                  <a:srgbClr val="002060"/>
                </a:solidFill>
                <a:effectLst/>
                <a:uLnTx/>
                <a:uFillTx/>
                <a:latin typeface="微軟正黑體" panose="020B0604030504040204" pitchFamily="34" charset="-120"/>
                <a:ea typeface="微軟正黑體" panose="020B0604030504040204" pitchFamily="34" charset="-120"/>
              </a:rPr>
              <a:t>108</a:t>
            </a:r>
            <a:r>
              <a:rPr kumimoji="0" lang="zh-TW" altLang="en-US" sz="2400" i="0" u="none" strike="noStrike" kern="1200" cap="none" spc="0" normalizeH="0" baseline="0" noProof="0" dirty="0">
                <a:ln>
                  <a:noFill/>
                </a:ln>
                <a:solidFill>
                  <a:srgbClr val="002060"/>
                </a:solidFill>
                <a:effectLst/>
                <a:uLnTx/>
                <a:uFillTx/>
                <a:latin typeface="微軟正黑體" panose="020B0604030504040204" pitchFamily="34" charset="-120"/>
                <a:ea typeface="微軟正黑體" panose="020B0604030504040204" pitchFamily="34" charset="-120"/>
              </a:rPr>
              <a:t>年衛福部保護司保護案件通報統計分析</a:t>
            </a:r>
          </a:p>
          <a:p>
            <a:pPr marL="0" indent="0" eaLnBrk="1" hangingPunct="1">
              <a:buNone/>
            </a:pPr>
            <a:endParaRPr lang="en-US" altLang="zh-TW" sz="2200" dirty="0"/>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E36E83C-186C-EA97-FA6F-C8BF70DAE658}"/>
              </a:ext>
            </a:extLst>
          </p:cNvPr>
          <p:cNvSpPr>
            <a:spLocks noGrp="1"/>
          </p:cNvSpPr>
          <p:nvPr>
            <p:ph type="title"/>
          </p:nvPr>
        </p:nvSpPr>
        <p:spPr/>
        <p:txBody>
          <a:bodyPr/>
          <a:lstStyle/>
          <a:p>
            <a:r>
              <a:rPr lang="zh-TW" altLang="en-US" dirty="0">
                <a:solidFill>
                  <a:srgbClr val="C00000"/>
                </a:solidFill>
                <a:latin typeface="微軟正黑體" panose="020B0604030504040204" pitchFamily="34" charset="-120"/>
                <a:ea typeface="微軟正黑體" panose="020B0604030504040204" pitchFamily="34" charset="-120"/>
              </a:rPr>
              <a:t>社區習以為常</a:t>
            </a:r>
          </a:p>
        </p:txBody>
      </p:sp>
      <p:sp>
        <p:nvSpPr>
          <p:cNvPr id="3" name="內容版面配置區 2">
            <a:extLst>
              <a:ext uri="{FF2B5EF4-FFF2-40B4-BE49-F238E27FC236}">
                <a16:creationId xmlns:a16="http://schemas.microsoft.com/office/drawing/2014/main" id="{28E57443-62C2-91E9-9D53-8BFC5233FE0A}"/>
              </a:ext>
            </a:extLst>
          </p:cNvPr>
          <p:cNvSpPr>
            <a:spLocks noGrp="1"/>
          </p:cNvSpPr>
          <p:nvPr>
            <p:ph idx="1"/>
          </p:nvPr>
        </p:nvSpPr>
        <p:spPr/>
        <p:txBody>
          <a:bodyPr/>
          <a:lstStyle/>
          <a:p>
            <a:r>
              <a:rPr lang="zh-TW" altLang="en-US" dirty="0">
                <a:solidFill>
                  <a:srgbClr val="002060"/>
                </a:solidFill>
                <a:latin typeface="微軟正黑體" panose="020B0604030504040204" pitchFamily="34" charset="-120"/>
                <a:ea typeface="微軟正黑體" panose="020B0604030504040204" pitchFamily="34" charset="-120"/>
              </a:rPr>
              <a:t>分工刻板印象：女性掃地</a:t>
            </a:r>
            <a:r>
              <a:rPr lang="en-US" altLang="zh-TW" dirty="0">
                <a:solidFill>
                  <a:srgbClr val="002060"/>
                </a:solidFill>
                <a:latin typeface="微軟正黑體" panose="020B0604030504040204" pitchFamily="34" charset="-120"/>
                <a:ea typeface="微軟正黑體" panose="020B0604030504040204" pitchFamily="34" charset="-120"/>
              </a:rPr>
              <a:t>…</a:t>
            </a:r>
          </a:p>
          <a:p>
            <a:r>
              <a:rPr lang="zh-TW" altLang="en-US" dirty="0">
                <a:solidFill>
                  <a:srgbClr val="002060"/>
                </a:solidFill>
                <a:latin typeface="微軟正黑體" panose="020B0604030504040204" pitchFamily="34" charset="-120"/>
                <a:ea typeface="微軟正黑體" panose="020B0604030504040204" pitchFamily="34" charset="-120"/>
              </a:rPr>
              <a:t>空間與安全：女廁過少、巷弄照明</a:t>
            </a:r>
            <a:endParaRPr lang="en-US" altLang="zh-TW" dirty="0">
              <a:solidFill>
                <a:srgbClr val="002060"/>
              </a:solidFill>
              <a:latin typeface="微軟正黑體" panose="020B0604030504040204" pitchFamily="34" charset="-120"/>
              <a:ea typeface="微軟正黑體" panose="020B0604030504040204" pitchFamily="34" charset="-120"/>
            </a:endParaRPr>
          </a:p>
          <a:p>
            <a:r>
              <a:rPr lang="zh-TW" altLang="en-US" dirty="0">
                <a:solidFill>
                  <a:srgbClr val="002060"/>
                </a:solidFill>
                <a:latin typeface="微軟正黑體" panose="020B0604030504040204" pitchFamily="34" charset="-120"/>
                <a:ea typeface="微軟正黑體" panose="020B0604030504040204" pitchFamily="34" charset="-120"/>
              </a:rPr>
              <a:t>參與權利：重要會議決策者</a:t>
            </a:r>
            <a:r>
              <a:rPr lang="en-US" altLang="zh-TW" dirty="0">
                <a:solidFill>
                  <a:srgbClr val="002060"/>
                </a:solidFill>
                <a:latin typeface="微軟正黑體" panose="020B0604030504040204" pitchFamily="34" charset="-120"/>
                <a:ea typeface="微軟正黑體" panose="020B0604030504040204" pitchFamily="34" charset="-120"/>
              </a:rPr>
              <a:t>-</a:t>
            </a:r>
            <a:r>
              <a:rPr lang="zh-TW" altLang="en-US" dirty="0">
                <a:solidFill>
                  <a:srgbClr val="002060"/>
                </a:solidFill>
                <a:latin typeface="微軟正黑體" panose="020B0604030504040204" pitchFamily="34" charset="-120"/>
                <a:ea typeface="微軟正黑體" panose="020B0604030504040204" pitchFamily="34" charset="-120"/>
              </a:rPr>
              <a:t>男性</a:t>
            </a:r>
            <a:endParaRPr lang="en-US" altLang="zh-TW" dirty="0">
              <a:solidFill>
                <a:srgbClr val="002060"/>
              </a:solidFill>
              <a:latin typeface="微軟正黑體" panose="020B0604030504040204" pitchFamily="34" charset="-120"/>
              <a:ea typeface="微軟正黑體" panose="020B0604030504040204" pitchFamily="34" charset="-120"/>
            </a:endParaRPr>
          </a:p>
          <a:p>
            <a:r>
              <a:rPr lang="zh-TW" altLang="en-US" dirty="0">
                <a:solidFill>
                  <a:srgbClr val="002060"/>
                </a:solidFill>
                <a:latin typeface="微軟正黑體" panose="020B0604030504040204" pitchFamily="34" charset="-120"/>
                <a:ea typeface="微軟正黑體" panose="020B0604030504040204" pitchFamily="34" charset="-120"/>
              </a:rPr>
              <a:t>參與活動：女性居多</a:t>
            </a:r>
          </a:p>
        </p:txBody>
      </p:sp>
    </p:spTree>
    <p:extLst>
      <p:ext uri="{BB962C8B-B14F-4D97-AF65-F5344CB8AC3E}">
        <p14:creationId xmlns:p14="http://schemas.microsoft.com/office/powerpoint/2010/main" val="18495145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0929EC0-AE6C-002B-2E99-FF671CF2B356}"/>
              </a:ext>
            </a:extLst>
          </p:cNvPr>
          <p:cNvSpPr>
            <a:spLocks noGrp="1"/>
          </p:cNvSpPr>
          <p:nvPr>
            <p:ph type="title"/>
          </p:nvPr>
        </p:nvSpPr>
        <p:spPr/>
        <p:txBody>
          <a:bodyPr/>
          <a:lstStyle/>
          <a:p>
            <a:r>
              <a:rPr lang="zh-TW" altLang="en-US" dirty="0">
                <a:solidFill>
                  <a:srgbClr val="C00000"/>
                </a:solidFill>
                <a:latin typeface="微軟正黑體" panose="020B0604030504040204" pitchFamily="34" charset="-120"/>
                <a:ea typeface="微軟正黑體" panose="020B0604030504040204" pitchFamily="34" charset="-120"/>
              </a:rPr>
              <a:t>為什麼社區需要性別平等</a:t>
            </a:r>
          </a:p>
        </p:txBody>
      </p:sp>
      <p:sp>
        <p:nvSpPr>
          <p:cNvPr id="3" name="內容版面配置區 2">
            <a:extLst>
              <a:ext uri="{FF2B5EF4-FFF2-40B4-BE49-F238E27FC236}">
                <a16:creationId xmlns:a16="http://schemas.microsoft.com/office/drawing/2014/main" id="{7F144BAA-C842-DEAA-1587-72CD206665CB}"/>
              </a:ext>
            </a:extLst>
          </p:cNvPr>
          <p:cNvSpPr>
            <a:spLocks noGrp="1"/>
          </p:cNvSpPr>
          <p:nvPr>
            <p:ph idx="1"/>
          </p:nvPr>
        </p:nvSpPr>
        <p:spPr/>
        <p:txBody>
          <a:bodyPr/>
          <a:lstStyle/>
          <a:p>
            <a:r>
              <a:rPr lang="zh-TW" altLang="en-US" dirty="0">
                <a:solidFill>
                  <a:srgbClr val="002060"/>
                </a:solidFill>
                <a:latin typeface="微軟正黑體" panose="020B0604030504040204" pitchFamily="34" charset="-120"/>
                <a:ea typeface="微軟正黑體" panose="020B0604030504040204" pitchFamily="34" charset="-120"/>
              </a:rPr>
              <a:t>決策多元化：不同性別經驗能看見不同的社區需求</a:t>
            </a:r>
            <a:r>
              <a:rPr lang="en-US" altLang="zh-TW" dirty="0">
                <a:solidFill>
                  <a:srgbClr val="002060"/>
                </a:solidFill>
                <a:latin typeface="微軟正黑體" panose="020B0604030504040204" pitchFamily="34" charset="-120"/>
                <a:ea typeface="微軟正黑體" panose="020B0604030504040204" pitchFamily="34" charset="-120"/>
              </a:rPr>
              <a:t>(</a:t>
            </a:r>
            <a:r>
              <a:rPr lang="zh-TW" altLang="en-US" dirty="0">
                <a:solidFill>
                  <a:srgbClr val="002060"/>
                </a:solidFill>
                <a:latin typeface="微軟正黑體" panose="020B0604030504040204" pitchFamily="34" charset="-120"/>
                <a:ea typeface="微軟正黑體" panose="020B0604030504040204" pitchFamily="34" charset="-120"/>
              </a:rPr>
              <a:t>例照明需求、育兒友善空間</a:t>
            </a:r>
            <a:r>
              <a:rPr lang="en-US" altLang="zh-TW" dirty="0">
                <a:solidFill>
                  <a:srgbClr val="002060"/>
                </a:solidFill>
                <a:latin typeface="微軟正黑體" panose="020B0604030504040204" pitchFamily="34" charset="-120"/>
                <a:ea typeface="微軟正黑體" panose="020B0604030504040204" pitchFamily="34" charset="-120"/>
              </a:rPr>
              <a:t>)</a:t>
            </a:r>
          </a:p>
          <a:p>
            <a:r>
              <a:rPr lang="zh-TW" altLang="en-US" dirty="0">
                <a:solidFill>
                  <a:srgbClr val="002060"/>
                </a:solidFill>
                <a:latin typeface="微軟正黑體" panose="020B0604030504040204" pitchFamily="34" charset="-120"/>
                <a:ea typeface="微軟正黑體" panose="020B0604030504040204" pitchFamily="34" charset="-120"/>
              </a:rPr>
              <a:t>資源公平分配</a:t>
            </a:r>
            <a:endParaRPr lang="en-US" altLang="zh-TW" dirty="0">
              <a:solidFill>
                <a:srgbClr val="002060"/>
              </a:solidFill>
              <a:latin typeface="微軟正黑體" panose="020B0604030504040204" pitchFamily="34" charset="-120"/>
              <a:ea typeface="微軟正黑體" panose="020B0604030504040204" pitchFamily="34" charset="-120"/>
            </a:endParaRPr>
          </a:p>
          <a:p>
            <a:r>
              <a:rPr lang="zh-TW" altLang="en-US" dirty="0">
                <a:solidFill>
                  <a:srgbClr val="002060"/>
                </a:solidFill>
                <a:latin typeface="微軟正黑體" panose="020B0604030504040204" pitchFamily="34" charset="-120"/>
                <a:ea typeface="微軟正黑體" panose="020B0604030504040204" pitchFamily="34" charset="-120"/>
              </a:rPr>
              <a:t>減少社區衝突：降低因傳統性別刻板印象引發的衝突</a:t>
            </a:r>
            <a:endParaRPr lang="en-US" altLang="zh-TW" dirty="0">
              <a:solidFill>
                <a:srgbClr val="002060"/>
              </a:solidFill>
              <a:latin typeface="微軟正黑體" panose="020B0604030504040204" pitchFamily="34" charset="-120"/>
              <a:ea typeface="微軟正黑體" panose="020B0604030504040204" pitchFamily="34" charset="-120"/>
            </a:endParaRPr>
          </a:p>
          <a:p>
            <a:pPr marL="0" indent="0">
              <a:buNone/>
            </a:pPr>
            <a:endParaRPr lang="en-US" altLang="zh-TW" dirty="0"/>
          </a:p>
          <a:p>
            <a:endParaRPr lang="zh-TW" altLang="en-US" dirty="0"/>
          </a:p>
        </p:txBody>
      </p:sp>
    </p:spTree>
    <p:extLst>
      <p:ext uri="{BB962C8B-B14F-4D97-AF65-F5344CB8AC3E}">
        <p14:creationId xmlns:p14="http://schemas.microsoft.com/office/powerpoint/2010/main" val="6532038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C7F5961-14E1-8954-655D-8504707F08C9}"/>
              </a:ext>
            </a:extLst>
          </p:cNvPr>
          <p:cNvSpPr>
            <a:spLocks noGrp="1"/>
          </p:cNvSpPr>
          <p:nvPr>
            <p:ph type="title"/>
          </p:nvPr>
        </p:nvSpPr>
        <p:spPr/>
        <p:txBody>
          <a:bodyPr/>
          <a:lstStyle/>
          <a:p>
            <a:r>
              <a:rPr lang="zh-TW" altLang="en-US" dirty="0">
                <a:solidFill>
                  <a:srgbClr val="C00000"/>
                </a:solidFill>
                <a:latin typeface="微軟正黑體" panose="020B0604030504040204" pitchFamily="34" charset="-120"/>
                <a:ea typeface="微軟正黑體" panose="020B0604030504040204" pitchFamily="34" charset="-120"/>
              </a:rPr>
              <a:t>性別是什麼？</a:t>
            </a:r>
          </a:p>
        </p:txBody>
      </p:sp>
      <p:sp>
        <p:nvSpPr>
          <p:cNvPr id="3" name="內容版面配置區 2">
            <a:extLst>
              <a:ext uri="{FF2B5EF4-FFF2-40B4-BE49-F238E27FC236}">
                <a16:creationId xmlns:a16="http://schemas.microsoft.com/office/drawing/2014/main" id="{A77CF28D-3DF2-5675-34C0-5E9A6481ED01}"/>
              </a:ext>
            </a:extLst>
          </p:cNvPr>
          <p:cNvSpPr>
            <a:spLocks noGrp="1"/>
          </p:cNvSpPr>
          <p:nvPr>
            <p:ph idx="1"/>
          </p:nvPr>
        </p:nvSpPr>
        <p:spPr>
          <a:xfrm>
            <a:off x="899592" y="2017713"/>
            <a:ext cx="8055496" cy="4114800"/>
          </a:xfrm>
        </p:spPr>
        <p:txBody>
          <a:bodyPr/>
          <a:lstStyle/>
          <a:p>
            <a:r>
              <a:rPr lang="zh-TW" altLang="en-US" b="1" dirty="0">
                <a:solidFill>
                  <a:srgbClr val="002060"/>
                </a:solidFill>
                <a:latin typeface="微軟正黑體" panose="020B0604030504040204" pitchFamily="34" charset="-120"/>
                <a:ea typeface="微軟正黑體" panose="020B0604030504040204" pitchFamily="34" charset="-120"/>
              </a:rPr>
              <a:t>生理性別</a:t>
            </a:r>
            <a:r>
              <a:rPr lang="zh-TW" altLang="en-US" dirty="0">
                <a:solidFill>
                  <a:srgbClr val="002060"/>
                </a:solidFill>
                <a:latin typeface="微軟正黑體" panose="020B0604030504040204" pitchFamily="34" charset="-120"/>
                <a:ea typeface="微軟正黑體" panose="020B0604030504040204" pitchFamily="34" charset="-120"/>
              </a:rPr>
              <a:t>：指⾝體上的性別</a:t>
            </a:r>
            <a:r>
              <a:rPr lang="en-US" altLang="zh-TW" dirty="0">
                <a:solidFill>
                  <a:srgbClr val="002060"/>
                </a:solidFill>
                <a:latin typeface="微軟正黑體" panose="020B0604030504040204" pitchFamily="34" charset="-120"/>
                <a:ea typeface="微軟正黑體" panose="020B0604030504040204" pitchFamily="34" charset="-120"/>
              </a:rPr>
              <a:t>(Sex)</a:t>
            </a:r>
            <a:r>
              <a:rPr lang="zh-TW" altLang="en-US" dirty="0">
                <a:solidFill>
                  <a:srgbClr val="002060"/>
                </a:solidFill>
                <a:latin typeface="微軟正黑體" panose="020B0604030504040204" pitchFamily="34" charset="-120"/>
                <a:ea typeface="微軟正黑體" panose="020B0604030504040204" pitchFamily="34" charset="-120"/>
              </a:rPr>
              <a:t>，包括男性、⼥性及⾝體性別介於男⼥之間的⼈</a:t>
            </a:r>
          </a:p>
          <a:p>
            <a:pPr marL="0" indent="0">
              <a:buNone/>
            </a:pPr>
            <a:endParaRPr lang="zh-TW" altLang="en-US" dirty="0">
              <a:solidFill>
                <a:srgbClr val="002060"/>
              </a:solidFill>
              <a:latin typeface="微軟正黑體" panose="020B0604030504040204" pitchFamily="34" charset="-120"/>
              <a:ea typeface="微軟正黑體" panose="020B0604030504040204" pitchFamily="34" charset="-120"/>
            </a:endParaRPr>
          </a:p>
          <a:p>
            <a:r>
              <a:rPr lang="zh-TW" altLang="en-US" b="1" dirty="0">
                <a:solidFill>
                  <a:srgbClr val="002060"/>
                </a:solidFill>
                <a:latin typeface="微軟正黑體" panose="020B0604030504040204" pitchFamily="34" charset="-120"/>
                <a:ea typeface="微軟正黑體" panose="020B0604030504040204" pitchFamily="34" charset="-120"/>
              </a:rPr>
              <a:t>社會性別</a:t>
            </a:r>
            <a:r>
              <a:rPr lang="zh-TW" altLang="en-US" dirty="0">
                <a:solidFill>
                  <a:srgbClr val="002060"/>
                </a:solidFill>
                <a:latin typeface="微軟正黑體" panose="020B0604030504040204" pitchFamily="34" charset="-120"/>
                <a:ea typeface="微軟正黑體" panose="020B0604030504040204" pitchFamily="34" charset="-120"/>
              </a:rPr>
              <a:t>：*⽇常⽣活中，看到⼀個⼈，覺得對⽅是什麼性別，這就是社會性別。*⽇常⽣活中扮演的性別⾓⾊</a:t>
            </a:r>
            <a:r>
              <a:rPr lang="en-US" altLang="zh-TW" dirty="0">
                <a:solidFill>
                  <a:srgbClr val="002060"/>
                </a:solidFill>
                <a:latin typeface="微軟正黑體" panose="020B0604030504040204" pitchFamily="34" charset="-120"/>
                <a:ea typeface="微軟正黑體" panose="020B0604030504040204" pitchFamily="34" charset="-120"/>
              </a:rPr>
              <a:t>(Gender Role)</a:t>
            </a:r>
          </a:p>
          <a:p>
            <a:endParaRPr lang="zh-TW" altLang="en-US" dirty="0"/>
          </a:p>
        </p:txBody>
      </p:sp>
    </p:spTree>
    <p:extLst>
      <p:ext uri="{BB962C8B-B14F-4D97-AF65-F5344CB8AC3E}">
        <p14:creationId xmlns:p14="http://schemas.microsoft.com/office/powerpoint/2010/main" val="23837162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C9FFDE6-6F63-9C97-D69B-61C53A185483}"/>
              </a:ext>
            </a:extLst>
          </p:cNvPr>
          <p:cNvSpPr>
            <a:spLocks noGrp="1"/>
          </p:cNvSpPr>
          <p:nvPr>
            <p:ph type="title"/>
          </p:nvPr>
        </p:nvSpPr>
        <p:spPr/>
        <p:txBody>
          <a:bodyPr/>
          <a:lstStyle/>
          <a:p>
            <a:r>
              <a:rPr lang="zh-TW" altLang="en-US" dirty="0">
                <a:solidFill>
                  <a:srgbClr val="C00000"/>
                </a:solidFill>
                <a:latin typeface="微軟正黑體" panose="020B0604030504040204" pitchFamily="34" charset="-120"/>
                <a:ea typeface="微軟正黑體" panose="020B0604030504040204" pitchFamily="34" charset="-120"/>
              </a:rPr>
              <a:t>性別是什麼</a:t>
            </a:r>
          </a:p>
        </p:txBody>
      </p:sp>
      <p:sp>
        <p:nvSpPr>
          <p:cNvPr id="3" name="內容版面配置區 2">
            <a:extLst>
              <a:ext uri="{FF2B5EF4-FFF2-40B4-BE49-F238E27FC236}">
                <a16:creationId xmlns:a16="http://schemas.microsoft.com/office/drawing/2014/main" id="{0D351182-34DF-F058-50A9-C421338020AF}"/>
              </a:ext>
            </a:extLst>
          </p:cNvPr>
          <p:cNvSpPr>
            <a:spLocks noGrp="1"/>
          </p:cNvSpPr>
          <p:nvPr>
            <p:ph idx="1"/>
          </p:nvPr>
        </p:nvSpPr>
        <p:spPr>
          <a:xfrm>
            <a:off x="1182688" y="1916832"/>
            <a:ext cx="7772400" cy="4215681"/>
          </a:xfrm>
        </p:spPr>
        <p:txBody>
          <a:bodyPr/>
          <a:lstStyle/>
          <a:p>
            <a:r>
              <a:rPr lang="zh-TW" altLang="en-US" sz="2800" b="1" dirty="0">
                <a:solidFill>
                  <a:srgbClr val="002060"/>
                </a:solidFill>
                <a:latin typeface="微軟正黑體" panose="020B0604030504040204" pitchFamily="34" charset="-120"/>
                <a:ea typeface="微軟正黑體" panose="020B0604030504040204" pitchFamily="34" charset="-120"/>
              </a:rPr>
              <a:t>出生性別</a:t>
            </a:r>
            <a:r>
              <a:rPr lang="zh-TW" altLang="en-US" sz="2800" dirty="0">
                <a:solidFill>
                  <a:srgbClr val="002060"/>
                </a:solidFill>
                <a:latin typeface="微軟正黑體" panose="020B0604030504040204" pitchFamily="34" charset="-120"/>
                <a:ea typeface="微軟正黑體" panose="020B0604030504040204" pitchFamily="34" charset="-120"/>
              </a:rPr>
              <a:t>：出生時被指定的性別 </a:t>
            </a:r>
          </a:p>
          <a:p>
            <a:endParaRPr lang="zh-TW" altLang="en-US" sz="2800" dirty="0">
              <a:solidFill>
                <a:srgbClr val="002060"/>
              </a:solidFill>
              <a:latin typeface="微軟正黑體" panose="020B0604030504040204" pitchFamily="34" charset="-120"/>
              <a:ea typeface="微軟正黑體" panose="020B0604030504040204" pitchFamily="34" charset="-120"/>
            </a:endParaRPr>
          </a:p>
          <a:p>
            <a:r>
              <a:rPr lang="zh-TW" altLang="en-US" sz="2800" b="1" dirty="0">
                <a:solidFill>
                  <a:srgbClr val="002060"/>
                </a:solidFill>
                <a:latin typeface="微軟正黑體" panose="020B0604030504040204" pitchFamily="34" charset="-120"/>
                <a:ea typeface="微軟正黑體" panose="020B0604030504040204" pitchFamily="34" charset="-120"/>
              </a:rPr>
              <a:t>法定性別 </a:t>
            </a:r>
            <a:r>
              <a:rPr lang="zh-TW" altLang="en-US" sz="2800" dirty="0">
                <a:solidFill>
                  <a:srgbClr val="002060"/>
                </a:solidFill>
                <a:latin typeface="微軟正黑體" panose="020B0604030504040204" pitchFamily="34" charset="-120"/>
                <a:ea typeface="微軟正黑體" panose="020B0604030504040204" pitchFamily="34" charset="-120"/>
              </a:rPr>
              <a:t>：⼾籍與證件上的性別</a:t>
            </a:r>
          </a:p>
          <a:p>
            <a:endParaRPr lang="zh-TW" altLang="en-US" sz="2800" dirty="0">
              <a:solidFill>
                <a:srgbClr val="002060"/>
              </a:solidFill>
              <a:latin typeface="微軟正黑體" panose="020B0604030504040204" pitchFamily="34" charset="-120"/>
              <a:ea typeface="微軟正黑體" panose="020B0604030504040204" pitchFamily="34" charset="-120"/>
            </a:endParaRPr>
          </a:p>
          <a:p>
            <a:r>
              <a:rPr lang="zh-TW" altLang="en-US" sz="2800" b="1" dirty="0">
                <a:solidFill>
                  <a:srgbClr val="002060"/>
                </a:solidFill>
                <a:latin typeface="微軟正黑體" panose="020B0604030504040204" pitchFamily="34" charset="-120"/>
                <a:ea typeface="微軟正黑體" panose="020B0604030504040204" pitchFamily="34" charset="-120"/>
              </a:rPr>
              <a:t>心理性別</a:t>
            </a:r>
            <a:r>
              <a:rPr lang="zh-TW" altLang="en-US" sz="2800" dirty="0">
                <a:solidFill>
                  <a:srgbClr val="002060"/>
                </a:solidFill>
                <a:latin typeface="微軟正黑體" panose="020B0604030504040204" pitchFamily="34" charset="-120"/>
                <a:ea typeface="微軟正黑體" panose="020B0604030504040204" pitchFamily="34" charset="-120"/>
              </a:rPr>
              <a:t>：⼤腦的性別，通常指「性別認同」</a:t>
            </a:r>
            <a:r>
              <a:rPr lang="en-US" altLang="zh-TW" sz="2800" dirty="0">
                <a:solidFill>
                  <a:srgbClr val="002060"/>
                </a:solidFill>
                <a:latin typeface="微軟正黑體" panose="020B0604030504040204" pitchFamily="34" charset="-120"/>
                <a:ea typeface="微軟正黑體" panose="020B0604030504040204" pitchFamily="34" charset="-120"/>
              </a:rPr>
              <a:t>(Gender Identity)</a:t>
            </a:r>
            <a:r>
              <a:rPr lang="zh-TW" altLang="en-US" sz="2800" dirty="0">
                <a:solidFill>
                  <a:srgbClr val="002060"/>
                </a:solidFill>
                <a:latin typeface="微軟正黑體" panose="020B0604030504040204" pitchFamily="34" charset="-120"/>
                <a:ea typeface="微軟正黑體" panose="020B0604030504040204" pitchFamily="34" charset="-120"/>
              </a:rPr>
              <a:t>，也就是⼤腦認同⾃⼰是哪個性別，包括男性、⼥性或其他認同</a:t>
            </a:r>
          </a:p>
          <a:p>
            <a:endParaRPr lang="zh-TW" altLang="en-US" dirty="0"/>
          </a:p>
        </p:txBody>
      </p:sp>
    </p:spTree>
    <p:extLst>
      <p:ext uri="{BB962C8B-B14F-4D97-AF65-F5344CB8AC3E}">
        <p14:creationId xmlns:p14="http://schemas.microsoft.com/office/powerpoint/2010/main" val="7414450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F418017-63E3-427D-B747-50E1CAD27BE0}"/>
              </a:ext>
            </a:extLst>
          </p:cNvPr>
          <p:cNvSpPr>
            <a:spLocks noGrp="1"/>
          </p:cNvSpPr>
          <p:nvPr>
            <p:ph type="title"/>
          </p:nvPr>
        </p:nvSpPr>
        <p:spPr>
          <a:xfrm>
            <a:off x="1028700" y="476672"/>
            <a:ext cx="7200900" cy="1008112"/>
          </a:xfrm>
        </p:spPr>
        <p:txBody>
          <a:bodyPr/>
          <a:lstStyle/>
          <a:p>
            <a:r>
              <a:rPr lang="zh-TW" altLang="en-US" dirty="0">
                <a:solidFill>
                  <a:srgbClr val="C00000"/>
                </a:solidFill>
                <a:latin typeface="微軟正黑體" panose="020B0604030504040204" pitchFamily="34" charset="-120"/>
                <a:ea typeface="微軟正黑體" panose="020B0604030504040204" pitchFamily="34" charset="-120"/>
              </a:rPr>
              <a:t>性別認同 </a:t>
            </a:r>
            <a:r>
              <a:rPr lang="en-US" altLang="zh-TW" dirty="0">
                <a:solidFill>
                  <a:srgbClr val="C00000"/>
                </a:solidFill>
                <a:latin typeface="微軟正黑體" panose="020B0604030504040204" pitchFamily="34" charset="-120"/>
                <a:ea typeface="微軟正黑體" panose="020B0604030504040204" pitchFamily="34" charset="-120"/>
              </a:rPr>
              <a:t>(Gender Identity)</a:t>
            </a:r>
            <a:endParaRPr lang="zh-TW" altLang="en-US" dirty="0">
              <a:solidFill>
                <a:srgbClr val="C00000"/>
              </a:solidFill>
              <a:latin typeface="微軟正黑體" panose="020B0604030504040204" pitchFamily="34" charset="-120"/>
              <a:ea typeface="微軟正黑體" panose="020B0604030504040204" pitchFamily="34" charset="-120"/>
            </a:endParaRPr>
          </a:p>
        </p:txBody>
      </p:sp>
      <p:sp>
        <p:nvSpPr>
          <p:cNvPr id="3" name="內容版面配置區 2">
            <a:extLst>
              <a:ext uri="{FF2B5EF4-FFF2-40B4-BE49-F238E27FC236}">
                <a16:creationId xmlns:a16="http://schemas.microsoft.com/office/drawing/2014/main" id="{0ABF34EB-7053-4E5A-AA3F-AE87CCFAB521}"/>
              </a:ext>
            </a:extLst>
          </p:cNvPr>
          <p:cNvSpPr>
            <a:spLocks noGrp="1"/>
          </p:cNvSpPr>
          <p:nvPr>
            <p:ph idx="1"/>
          </p:nvPr>
        </p:nvSpPr>
        <p:spPr>
          <a:xfrm>
            <a:off x="1028700" y="2061210"/>
            <a:ext cx="7200900" cy="4536142"/>
          </a:xfrm>
        </p:spPr>
        <p:txBody>
          <a:bodyPr>
            <a:normAutofit/>
          </a:bodyPr>
          <a:lstStyle/>
          <a:p>
            <a:r>
              <a:rPr lang="zh-TW" altLang="en-US" sz="2100" dirty="0">
                <a:solidFill>
                  <a:srgbClr val="002060"/>
                </a:solidFill>
                <a:latin typeface="微軟正黑體" panose="020B0604030504040204" pitchFamily="34" charset="-120"/>
                <a:ea typeface="微軟正黑體" panose="020B0604030504040204" pitchFamily="34" charset="-120"/>
              </a:rPr>
              <a:t>意指個體對自我</a:t>
            </a:r>
            <a:r>
              <a:rPr lang="zh-TW" altLang="en-US" sz="2100" b="1" dirty="0">
                <a:solidFill>
                  <a:srgbClr val="002060"/>
                </a:solidFill>
                <a:latin typeface="微軟正黑體" panose="020B0604030504040204" pitchFamily="34" charset="-120"/>
                <a:ea typeface="微軟正黑體" panose="020B0604030504040204" pitchFamily="34" charset="-120"/>
              </a:rPr>
              <a:t>所歸屬性別的自我知覺</a:t>
            </a:r>
            <a:r>
              <a:rPr lang="zh-TW" altLang="en-US" sz="2100" dirty="0">
                <a:solidFill>
                  <a:srgbClr val="002060"/>
                </a:solidFill>
                <a:latin typeface="微軟正黑體" panose="020B0604030504040204" pitchFamily="34" charset="-120"/>
                <a:ea typeface="微軟正黑體" panose="020B0604030504040204" pitchFamily="34" charset="-120"/>
              </a:rPr>
              <a:t>，即每個人認定自己是屬於那種性別而</a:t>
            </a:r>
            <a:r>
              <a:rPr lang="zh-TW" altLang="en-US" sz="2100" b="1" dirty="0">
                <a:solidFill>
                  <a:srgbClr val="002060"/>
                </a:solidFill>
                <a:latin typeface="微軟正黑體" panose="020B0604030504040204" pitchFamily="34" charset="-120"/>
                <a:ea typeface="微軟正黑體" panose="020B0604030504040204" pitchFamily="34" charset="-120"/>
              </a:rPr>
              <a:t>該有的舉止及態度</a:t>
            </a:r>
            <a:r>
              <a:rPr lang="zh-TW" altLang="en-US" sz="2100" dirty="0">
                <a:solidFill>
                  <a:srgbClr val="002060"/>
                </a:solidFill>
                <a:latin typeface="微軟正黑體" panose="020B0604030504040204" pitchFamily="34" charset="-120"/>
                <a:ea typeface="微軟正黑體" panose="020B0604030504040204" pitchFamily="34" charset="-120"/>
              </a:rPr>
              <a:t>。此種認知程度受到文化背景的影響很大</a:t>
            </a:r>
            <a:endParaRPr lang="en-US" altLang="zh-TW" sz="2100" dirty="0">
              <a:solidFill>
                <a:srgbClr val="002060"/>
              </a:solidFill>
              <a:latin typeface="微軟正黑體" panose="020B0604030504040204" pitchFamily="34" charset="-120"/>
              <a:ea typeface="微軟正黑體" panose="020B0604030504040204" pitchFamily="34" charset="-120"/>
            </a:endParaRPr>
          </a:p>
          <a:p>
            <a:r>
              <a:rPr lang="zh-TW" altLang="en-US" sz="2400" b="1" dirty="0">
                <a:solidFill>
                  <a:srgbClr val="002060"/>
                </a:solidFill>
                <a:latin typeface="微軟正黑體" panose="020B0604030504040204" pitchFamily="34" charset="-120"/>
                <a:ea typeface="微軟正黑體" panose="020B0604030504040204" pitchFamily="34" charset="-120"/>
              </a:rPr>
              <a:t>三個發展階段</a:t>
            </a:r>
            <a:endParaRPr lang="en-US" altLang="zh-TW" sz="2400" b="1" dirty="0">
              <a:solidFill>
                <a:srgbClr val="002060"/>
              </a:solidFill>
              <a:latin typeface="微軟正黑體" panose="020B0604030504040204" pitchFamily="34" charset="-120"/>
              <a:ea typeface="微軟正黑體" panose="020B0604030504040204" pitchFamily="34" charset="-120"/>
            </a:endParaRPr>
          </a:p>
          <a:p>
            <a:pPr marL="0" indent="0">
              <a:buNone/>
            </a:pPr>
            <a:r>
              <a:rPr lang="zh-TW" altLang="en-US" sz="2100" dirty="0">
                <a:solidFill>
                  <a:srgbClr val="002060"/>
                </a:solidFill>
                <a:latin typeface="微軟正黑體" panose="020B0604030504040204" pitchFamily="34" charset="-120"/>
                <a:ea typeface="微軟正黑體" panose="020B0604030504040204" pitchFamily="34" charset="-120"/>
              </a:rPr>
              <a:t>    （一）</a:t>
            </a:r>
            <a:r>
              <a:rPr lang="zh-TW" altLang="en-US" sz="2100" b="1" dirty="0">
                <a:solidFill>
                  <a:srgbClr val="002060"/>
                </a:solidFill>
                <a:latin typeface="微軟正黑體" panose="020B0604030504040204" pitchFamily="34" charset="-120"/>
                <a:ea typeface="微軟正黑體" panose="020B0604030504040204" pitchFamily="34" charset="-120"/>
              </a:rPr>
              <a:t>性別認同期</a:t>
            </a:r>
            <a:r>
              <a:rPr lang="zh-TW" altLang="en-US" sz="2100" dirty="0">
                <a:solidFill>
                  <a:srgbClr val="002060"/>
                </a:solidFill>
                <a:latin typeface="微軟正黑體" panose="020B0604030504040204" pitchFamily="34" charset="-120"/>
                <a:ea typeface="微軟正黑體" panose="020B0604030504040204" pitchFamily="34" charset="-120"/>
              </a:rPr>
              <a:t>：</a:t>
            </a:r>
            <a:r>
              <a:rPr lang="en-US" altLang="zh-TW" sz="2100" dirty="0">
                <a:solidFill>
                  <a:srgbClr val="002060"/>
                </a:solidFill>
                <a:latin typeface="微軟正黑體" panose="020B0604030504040204" pitchFamily="34" charset="-120"/>
                <a:ea typeface="微軟正黑體" panose="020B0604030504040204" pitchFamily="34" charset="-120"/>
              </a:rPr>
              <a:t>6</a:t>
            </a:r>
            <a:r>
              <a:rPr lang="zh-TW" altLang="en-US" sz="2100" dirty="0">
                <a:solidFill>
                  <a:srgbClr val="002060"/>
                </a:solidFill>
                <a:latin typeface="微軟正黑體" panose="020B0604030504040204" pitchFamily="34" charset="-120"/>
                <a:ea typeface="微軟正黑體" panose="020B0604030504040204" pitchFamily="34" charset="-120"/>
              </a:rPr>
              <a:t>歲以後會了解男女的不同，性別</a:t>
            </a:r>
            <a:endParaRPr lang="en-US" altLang="zh-TW" sz="2100" dirty="0">
              <a:solidFill>
                <a:srgbClr val="002060"/>
              </a:solidFill>
              <a:latin typeface="微軟正黑體" panose="020B0604030504040204" pitchFamily="34" charset="-120"/>
              <a:ea typeface="微軟正黑體" panose="020B0604030504040204" pitchFamily="34" charset="-120"/>
            </a:endParaRPr>
          </a:p>
          <a:p>
            <a:pPr marL="0" indent="0">
              <a:buNone/>
            </a:pPr>
            <a:r>
              <a:rPr lang="zh-TW" altLang="en-US" sz="2100" dirty="0">
                <a:solidFill>
                  <a:srgbClr val="002060"/>
                </a:solidFill>
                <a:latin typeface="微軟正黑體" panose="020B0604030504040204" pitchFamily="34" charset="-120"/>
                <a:ea typeface="微軟正黑體" panose="020B0604030504040204" pitchFamily="34" charset="-120"/>
              </a:rPr>
              <a:t>                                        是不能改變的</a:t>
            </a:r>
            <a:endParaRPr lang="en-US" altLang="zh-TW" sz="2100" dirty="0">
              <a:solidFill>
                <a:srgbClr val="002060"/>
              </a:solidFill>
              <a:latin typeface="微軟正黑體" panose="020B0604030504040204" pitchFamily="34" charset="-120"/>
              <a:ea typeface="微軟正黑體" panose="020B0604030504040204" pitchFamily="34" charset="-120"/>
            </a:endParaRPr>
          </a:p>
          <a:p>
            <a:pPr marL="0" indent="0">
              <a:buNone/>
            </a:pPr>
            <a:r>
              <a:rPr lang="zh-TW" altLang="en-US" sz="2100" dirty="0">
                <a:solidFill>
                  <a:srgbClr val="002060"/>
                </a:solidFill>
                <a:latin typeface="微軟正黑體" panose="020B0604030504040204" pitchFamily="34" charset="-120"/>
                <a:ea typeface="微軟正黑體" panose="020B0604030504040204" pitchFamily="34" charset="-120"/>
              </a:rPr>
              <a:t>    （二）</a:t>
            </a:r>
            <a:r>
              <a:rPr lang="zh-TW" altLang="en-US" sz="2100" b="1" dirty="0">
                <a:solidFill>
                  <a:srgbClr val="002060"/>
                </a:solidFill>
                <a:latin typeface="微軟正黑體" panose="020B0604030504040204" pitchFamily="34" charset="-120"/>
                <a:ea typeface="微軟正黑體" panose="020B0604030504040204" pitchFamily="34" charset="-120"/>
              </a:rPr>
              <a:t>性別分化期</a:t>
            </a:r>
            <a:r>
              <a:rPr lang="zh-TW" altLang="en-US" sz="2100" dirty="0">
                <a:solidFill>
                  <a:srgbClr val="002060"/>
                </a:solidFill>
                <a:latin typeface="微軟正黑體" panose="020B0604030504040204" pitchFamily="34" charset="-120"/>
                <a:ea typeface="微軟正黑體" panose="020B0604030504040204" pitchFamily="34" charset="-120"/>
              </a:rPr>
              <a:t>：一旦確認自己的性別後，每個人就</a:t>
            </a:r>
            <a:endParaRPr lang="en-US" altLang="zh-TW" sz="2100" dirty="0">
              <a:solidFill>
                <a:srgbClr val="002060"/>
              </a:solidFill>
              <a:latin typeface="微軟正黑體" panose="020B0604030504040204" pitchFamily="34" charset="-120"/>
              <a:ea typeface="微軟正黑體" panose="020B0604030504040204" pitchFamily="34" charset="-120"/>
            </a:endParaRPr>
          </a:p>
          <a:p>
            <a:pPr marL="0" indent="0">
              <a:buNone/>
            </a:pPr>
            <a:r>
              <a:rPr lang="zh-TW" altLang="en-US" sz="2100" dirty="0">
                <a:solidFill>
                  <a:srgbClr val="002060"/>
                </a:solidFill>
                <a:latin typeface="微軟正黑體" panose="020B0604030504040204" pitchFamily="34" charset="-120"/>
                <a:ea typeface="微軟正黑體" panose="020B0604030504040204" pitchFamily="34" charset="-120"/>
              </a:rPr>
              <a:t>               會開始學習或做出屬於自己性別的事情。</a:t>
            </a:r>
            <a:endParaRPr lang="en-US" altLang="zh-TW" sz="2100" dirty="0">
              <a:solidFill>
                <a:srgbClr val="002060"/>
              </a:solidFill>
              <a:latin typeface="微軟正黑體" panose="020B0604030504040204" pitchFamily="34" charset="-120"/>
              <a:ea typeface="微軟正黑體" panose="020B0604030504040204" pitchFamily="34" charset="-120"/>
            </a:endParaRPr>
          </a:p>
          <a:p>
            <a:pPr marL="0" indent="0">
              <a:buNone/>
            </a:pPr>
            <a:r>
              <a:rPr lang="zh-TW" altLang="en-US" sz="2100" dirty="0">
                <a:solidFill>
                  <a:srgbClr val="002060"/>
                </a:solidFill>
                <a:latin typeface="微軟正黑體" panose="020B0604030504040204" pitchFamily="34" charset="-120"/>
                <a:ea typeface="微軟正黑體" panose="020B0604030504040204" pitchFamily="34" charset="-120"/>
              </a:rPr>
              <a:t>     （三）</a:t>
            </a:r>
            <a:r>
              <a:rPr lang="zh-TW" altLang="en-US" sz="2100" b="1" dirty="0">
                <a:solidFill>
                  <a:srgbClr val="002060"/>
                </a:solidFill>
                <a:latin typeface="微軟正黑體" panose="020B0604030504040204" pitchFamily="34" charset="-120"/>
                <a:ea typeface="微軟正黑體" panose="020B0604030504040204" pitchFamily="34" charset="-120"/>
              </a:rPr>
              <a:t>親長認同期</a:t>
            </a:r>
            <a:r>
              <a:rPr lang="zh-TW" altLang="en-US" sz="2100" dirty="0">
                <a:solidFill>
                  <a:srgbClr val="002060"/>
                </a:solidFill>
                <a:latin typeface="微軟正黑體" panose="020B0604030504040204" pitchFamily="34" charset="-120"/>
                <a:ea typeface="微軟正黑體" panose="020B0604030504040204" pitchFamily="34" charset="-120"/>
              </a:rPr>
              <a:t>：小孩子會因為跟父母其中之一是同</a:t>
            </a:r>
            <a:endParaRPr lang="en-US" altLang="zh-TW" sz="2100" dirty="0">
              <a:solidFill>
                <a:srgbClr val="002060"/>
              </a:solidFill>
              <a:latin typeface="微軟正黑體" panose="020B0604030504040204" pitchFamily="34" charset="-120"/>
              <a:ea typeface="微軟正黑體" panose="020B0604030504040204" pitchFamily="34" charset="-120"/>
            </a:endParaRPr>
          </a:p>
          <a:p>
            <a:pPr marL="0" indent="0">
              <a:buNone/>
            </a:pPr>
            <a:r>
              <a:rPr lang="zh-TW" altLang="en-US" sz="2100" dirty="0">
                <a:solidFill>
                  <a:srgbClr val="002060"/>
                </a:solidFill>
                <a:latin typeface="微軟正黑體" panose="020B0604030504040204" pitchFamily="34" charset="-120"/>
                <a:ea typeface="微軟正黑體" panose="020B0604030504040204" pitchFamily="34" charset="-120"/>
              </a:rPr>
              <a:t>                 一性別的關係，產生要與父親或母親一樣的意願而</a:t>
            </a:r>
            <a:endParaRPr lang="en-US" altLang="zh-TW" sz="2100" dirty="0">
              <a:solidFill>
                <a:srgbClr val="002060"/>
              </a:solidFill>
              <a:latin typeface="微軟正黑體" panose="020B0604030504040204" pitchFamily="34" charset="-120"/>
              <a:ea typeface="微軟正黑體" panose="020B0604030504040204" pitchFamily="34" charset="-120"/>
            </a:endParaRPr>
          </a:p>
          <a:p>
            <a:pPr marL="0" indent="0">
              <a:buNone/>
            </a:pPr>
            <a:r>
              <a:rPr lang="zh-TW" altLang="en-US" sz="2100" dirty="0">
                <a:solidFill>
                  <a:srgbClr val="002060"/>
                </a:solidFill>
                <a:latin typeface="微軟正黑體" panose="020B0604030504040204" pitchFamily="34" charset="-120"/>
                <a:ea typeface="微軟正黑體" panose="020B0604030504040204" pitchFamily="34" charset="-120"/>
              </a:rPr>
              <a:t>                 加強性別上的分化。</a:t>
            </a:r>
          </a:p>
        </p:txBody>
      </p:sp>
    </p:spTree>
    <p:extLst>
      <p:ext uri="{BB962C8B-B14F-4D97-AF65-F5344CB8AC3E}">
        <p14:creationId xmlns:p14="http://schemas.microsoft.com/office/powerpoint/2010/main" val="33810766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8820BEC-CB2D-4997-9070-3E27DAA25CEA}"/>
              </a:ext>
            </a:extLst>
          </p:cNvPr>
          <p:cNvSpPr>
            <a:spLocks noGrp="1"/>
          </p:cNvSpPr>
          <p:nvPr>
            <p:ph type="title"/>
          </p:nvPr>
        </p:nvSpPr>
        <p:spPr>
          <a:xfrm>
            <a:off x="1028700" y="908720"/>
            <a:ext cx="7200900" cy="792088"/>
          </a:xfrm>
        </p:spPr>
        <p:txBody>
          <a:bodyPr>
            <a:normAutofit/>
          </a:bodyPr>
          <a:lstStyle/>
          <a:p>
            <a:r>
              <a:rPr lang="zh-TW" altLang="en-US" dirty="0">
                <a:solidFill>
                  <a:srgbClr val="C00000"/>
                </a:solidFill>
                <a:latin typeface="微軟正黑體" panose="020B0604030504040204" pitchFamily="34" charset="-120"/>
                <a:ea typeface="微軟正黑體" panose="020B0604030504040204" pitchFamily="34" charset="-120"/>
              </a:rPr>
              <a:t>性別認同發展歷程</a:t>
            </a:r>
          </a:p>
        </p:txBody>
      </p:sp>
      <p:graphicFrame>
        <p:nvGraphicFramePr>
          <p:cNvPr id="7" name="表格 7">
            <a:extLst>
              <a:ext uri="{FF2B5EF4-FFF2-40B4-BE49-F238E27FC236}">
                <a16:creationId xmlns:a16="http://schemas.microsoft.com/office/drawing/2014/main" id="{EB18245F-887C-49CF-BC99-917A3CB15EA5}"/>
              </a:ext>
            </a:extLst>
          </p:cNvPr>
          <p:cNvGraphicFramePr>
            <a:graphicFrameLocks noGrp="1"/>
          </p:cNvGraphicFramePr>
          <p:nvPr>
            <p:ph idx="1"/>
            <p:extLst>
              <p:ext uri="{D42A27DB-BD31-4B8C-83A1-F6EECF244321}">
                <p14:modId xmlns:p14="http://schemas.microsoft.com/office/powerpoint/2010/main" val="2943537510"/>
              </p:ext>
            </p:extLst>
          </p:nvPr>
        </p:nvGraphicFramePr>
        <p:xfrm>
          <a:off x="1028700" y="1988840"/>
          <a:ext cx="7200900" cy="4536504"/>
        </p:xfrm>
        <a:graphic>
          <a:graphicData uri="http://schemas.openxmlformats.org/drawingml/2006/table">
            <a:tbl>
              <a:tblPr firstRow="1" bandRow="1">
                <a:tableStyleId>{5C22544A-7EE6-4342-B048-85BDC9FD1C3A}</a:tableStyleId>
              </a:tblPr>
              <a:tblGrid>
                <a:gridCol w="1167036">
                  <a:extLst>
                    <a:ext uri="{9D8B030D-6E8A-4147-A177-3AD203B41FA5}">
                      <a16:colId xmlns:a16="http://schemas.microsoft.com/office/drawing/2014/main" val="212788553"/>
                    </a:ext>
                  </a:extLst>
                </a:gridCol>
                <a:gridCol w="6033864">
                  <a:extLst>
                    <a:ext uri="{9D8B030D-6E8A-4147-A177-3AD203B41FA5}">
                      <a16:colId xmlns:a16="http://schemas.microsoft.com/office/drawing/2014/main" val="1475330603"/>
                    </a:ext>
                  </a:extLst>
                </a:gridCol>
              </a:tblGrid>
              <a:tr h="1134126">
                <a:tc>
                  <a:txBody>
                    <a:bodyPr/>
                    <a:lstStyle/>
                    <a:p>
                      <a:r>
                        <a:rPr lang="zh-TW" altLang="en-US" sz="2000" dirty="0">
                          <a:solidFill>
                            <a:schemeClr val="tx1"/>
                          </a:solidFill>
                          <a:latin typeface="微軟正黑體" panose="020B0604030504040204" pitchFamily="34" charset="-120"/>
                          <a:ea typeface="微軟正黑體" panose="020B0604030504040204" pitchFamily="34" charset="-120"/>
                        </a:rPr>
                        <a:t>年齡</a:t>
                      </a:r>
                    </a:p>
                  </a:txBody>
                  <a:tcPr marL="68580" marR="68580" marT="34290" marB="34290"/>
                </a:tc>
                <a:tc>
                  <a:txBody>
                    <a:bodyPr/>
                    <a:lstStyle/>
                    <a:p>
                      <a:r>
                        <a:rPr lang="zh-TW" altLang="en-US" sz="2400" dirty="0">
                          <a:solidFill>
                            <a:schemeClr val="tx1"/>
                          </a:solidFill>
                          <a:latin typeface="微軟正黑體" panose="020B0604030504040204" pitchFamily="34" charset="-120"/>
                          <a:ea typeface="微軟正黑體" panose="020B0604030504040204" pitchFamily="34" charset="-120"/>
                        </a:rPr>
                        <a:t>呈現的性別認同內涵</a:t>
                      </a:r>
                    </a:p>
                  </a:txBody>
                  <a:tcPr marL="68580" marR="68580" marT="34290" marB="34290"/>
                </a:tc>
                <a:extLst>
                  <a:ext uri="{0D108BD9-81ED-4DB2-BD59-A6C34878D82A}">
                    <a16:rowId xmlns:a16="http://schemas.microsoft.com/office/drawing/2014/main" val="4087952708"/>
                  </a:ext>
                </a:extLst>
              </a:tr>
              <a:tr h="1134126">
                <a:tc>
                  <a:txBody>
                    <a:bodyPr/>
                    <a:lstStyle/>
                    <a:p>
                      <a:r>
                        <a:rPr lang="en-US" altLang="zh-TW" sz="2000" b="1" dirty="0">
                          <a:solidFill>
                            <a:srgbClr val="002060"/>
                          </a:solidFill>
                        </a:rPr>
                        <a:t>0-2</a:t>
                      </a:r>
                      <a:r>
                        <a:rPr lang="zh-TW" altLang="en-US" sz="2000" b="1" dirty="0">
                          <a:solidFill>
                            <a:srgbClr val="002060"/>
                          </a:solidFill>
                        </a:rPr>
                        <a:t>歲</a:t>
                      </a:r>
                    </a:p>
                  </a:txBody>
                  <a:tcPr marL="68580" marR="68580" marT="34290" marB="34290"/>
                </a:tc>
                <a:tc>
                  <a:txBody>
                    <a:bodyPr/>
                    <a:lstStyle/>
                    <a:p>
                      <a:r>
                        <a:rPr lang="zh-TW" altLang="en-US" sz="2400" dirty="0">
                          <a:solidFill>
                            <a:schemeClr val="tx1"/>
                          </a:solidFill>
                          <a:latin typeface="微軟正黑體" panose="020B0604030504040204" pitchFamily="34" charset="-120"/>
                          <a:ea typeface="微軟正黑體" panose="020B0604030504040204" pitchFamily="34" charset="-120"/>
                        </a:rPr>
                        <a:t>依據外在特徵來判定男性或女性</a:t>
                      </a:r>
                    </a:p>
                  </a:txBody>
                  <a:tcPr marL="68580" marR="68580" marT="34290" marB="34290"/>
                </a:tc>
                <a:extLst>
                  <a:ext uri="{0D108BD9-81ED-4DB2-BD59-A6C34878D82A}">
                    <a16:rowId xmlns:a16="http://schemas.microsoft.com/office/drawing/2014/main" val="3851578532"/>
                  </a:ext>
                </a:extLst>
              </a:tr>
              <a:tr h="1134126">
                <a:tc>
                  <a:txBody>
                    <a:bodyPr/>
                    <a:lstStyle/>
                    <a:p>
                      <a:r>
                        <a:rPr lang="en-US" altLang="zh-TW" sz="2000" b="1" dirty="0"/>
                        <a:t>6-7</a:t>
                      </a:r>
                      <a:r>
                        <a:rPr lang="zh-TW" altLang="en-US" sz="2000" b="1" dirty="0"/>
                        <a:t>歲</a:t>
                      </a:r>
                    </a:p>
                  </a:txBody>
                  <a:tcPr marL="68580" marR="68580" marT="34290" marB="34290"/>
                </a:tc>
                <a:tc>
                  <a:txBody>
                    <a:bodyPr/>
                    <a:lstStyle/>
                    <a:p>
                      <a:r>
                        <a:rPr lang="zh-TW" altLang="en-US" sz="2000" dirty="0">
                          <a:solidFill>
                            <a:schemeClr val="tx1"/>
                          </a:solidFill>
                          <a:latin typeface="微軟正黑體" panose="020B0604030504040204" pitchFamily="34" charset="-120"/>
                          <a:ea typeface="微軟正黑體" panose="020B0604030504040204" pitchFamily="34" charset="-120"/>
                        </a:rPr>
                        <a:t>進入性別恆定階段，由接納生理性別、扮演社會性別角色，到心理和生理性別一致</a:t>
                      </a:r>
                    </a:p>
                  </a:txBody>
                  <a:tcPr marL="68580" marR="68580" marT="34290" marB="34290"/>
                </a:tc>
                <a:extLst>
                  <a:ext uri="{0D108BD9-81ED-4DB2-BD59-A6C34878D82A}">
                    <a16:rowId xmlns:a16="http://schemas.microsoft.com/office/drawing/2014/main" val="502925015"/>
                  </a:ext>
                </a:extLst>
              </a:tr>
              <a:tr h="1134126">
                <a:tc>
                  <a:txBody>
                    <a:bodyPr/>
                    <a:lstStyle/>
                    <a:p>
                      <a:r>
                        <a:rPr lang="zh-TW" altLang="en-US" sz="1800" b="1" dirty="0">
                          <a:solidFill>
                            <a:srgbClr val="002060"/>
                          </a:solidFill>
                          <a:latin typeface="微軟正黑體" panose="020B0604030504040204" pitchFamily="34" charset="-120"/>
                          <a:ea typeface="微軟正黑體" panose="020B0604030504040204" pitchFamily="34" charset="-120"/>
                        </a:rPr>
                        <a:t>青春期</a:t>
                      </a:r>
                    </a:p>
                  </a:txBody>
                  <a:tcPr marL="68580" marR="68580" marT="34290" marB="34290"/>
                </a:tc>
                <a:tc>
                  <a:txBody>
                    <a:bodyPr/>
                    <a:lstStyle/>
                    <a:p>
                      <a:r>
                        <a:rPr lang="zh-TW" altLang="en-US" sz="2000" dirty="0">
                          <a:solidFill>
                            <a:schemeClr val="tx1"/>
                          </a:solidFill>
                          <a:latin typeface="微軟正黑體" panose="020B0604030504040204" pitchFamily="34" charset="-120"/>
                          <a:ea typeface="微軟正黑體" panose="020B0604030504040204" pitchFamily="34" charset="-120"/>
                        </a:rPr>
                        <a:t>第二性徵發育與性別差異的意識浮現；完成性別認同的階段性任務</a:t>
                      </a:r>
                    </a:p>
                  </a:txBody>
                  <a:tcPr marL="68580" marR="68580" marT="34290" marB="34290"/>
                </a:tc>
                <a:extLst>
                  <a:ext uri="{0D108BD9-81ED-4DB2-BD59-A6C34878D82A}">
                    <a16:rowId xmlns:a16="http://schemas.microsoft.com/office/drawing/2014/main" val="3926309985"/>
                  </a:ext>
                </a:extLst>
              </a:tr>
            </a:tbl>
          </a:graphicData>
        </a:graphic>
      </p:graphicFrame>
    </p:spTree>
    <p:extLst>
      <p:ext uri="{BB962C8B-B14F-4D97-AF65-F5344CB8AC3E}">
        <p14:creationId xmlns:p14="http://schemas.microsoft.com/office/powerpoint/2010/main" val="10948843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4" name="內容版面配置區 3">
            <a:extLst>
              <a:ext uri="{FF2B5EF4-FFF2-40B4-BE49-F238E27FC236}">
                <a16:creationId xmlns:a16="http://schemas.microsoft.com/office/drawing/2014/main" id="{6310980B-EA2F-42FB-870C-0C03368C059D}"/>
              </a:ext>
            </a:extLst>
          </p:cNvPr>
          <p:cNvPicPr>
            <a:picLocks noGrp="1" noChangeAspect="1"/>
          </p:cNvPicPr>
          <p:nvPr>
            <p:ph idx="1"/>
          </p:nvPr>
        </p:nvPicPr>
        <p:blipFill>
          <a:blip r:embed="rId3"/>
          <a:stretch>
            <a:fillRect/>
          </a:stretch>
        </p:blipFill>
        <p:spPr>
          <a:xfrm>
            <a:off x="179512" y="908720"/>
            <a:ext cx="8928991" cy="4896544"/>
          </a:xfrm>
          <a:prstGeom prst="rect">
            <a:avLst/>
          </a:prstGeom>
        </p:spPr>
      </p:pic>
    </p:spTree>
    <p:extLst>
      <p:ext uri="{BB962C8B-B14F-4D97-AF65-F5344CB8AC3E}">
        <p14:creationId xmlns:p14="http://schemas.microsoft.com/office/powerpoint/2010/main" val="5548197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FF05EB2-B293-902F-855D-2C8493378428}"/>
              </a:ext>
            </a:extLst>
          </p:cNvPr>
          <p:cNvSpPr>
            <a:spLocks noGrp="1"/>
          </p:cNvSpPr>
          <p:nvPr>
            <p:ph type="title"/>
          </p:nvPr>
        </p:nvSpPr>
        <p:spPr/>
        <p:txBody>
          <a:bodyPr/>
          <a:lstStyle/>
          <a:p>
            <a:r>
              <a:rPr lang="zh-TW" altLang="en-US" dirty="0">
                <a:solidFill>
                  <a:srgbClr val="C00000"/>
                </a:solidFill>
                <a:latin typeface="微軟正黑體" panose="020B0604030504040204" pitchFamily="34" charset="-120"/>
                <a:ea typeface="微軟正黑體" panose="020B0604030504040204" pitchFamily="34" charset="-120"/>
              </a:rPr>
              <a:t>多元性別</a:t>
            </a:r>
          </a:p>
        </p:txBody>
      </p:sp>
      <p:sp>
        <p:nvSpPr>
          <p:cNvPr id="3" name="內容版面配置區 2">
            <a:extLst>
              <a:ext uri="{FF2B5EF4-FFF2-40B4-BE49-F238E27FC236}">
                <a16:creationId xmlns:a16="http://schemas.microsoft.com/office/drawing/2014/main" id="{5257A28F-0B89-7640-4A5C-BE1A7D3B5103}"/>
              </a:ext>
            </a:extLst>
          </p:cNvPr>
          <p:cNvSpPr>
            <a:spLocks noGrp="1"/>
          </p:cNvSpPr>
          <p:nvPr>
            <p:ph idx="1"/>
          </p:nvPr>
        </p:nvSpPr>
        <p:spPr/>
        <p:txBody>
          <a:bodyPr/>
          <a:lstStyle/>
          <a:p>
            <a:r>
              <a:rPr lang="zh-TW" altLang="en-US" sz="2800" b="1" dirty="0">
                <a:solidFill>
                  <a:srgbClr val="002060"/>
                </a:solidFill>
                <a:latin typeface="微軟正黑體" panose="020B0604030504040204" pitchFamily="34" charset="-120"/>
                <a:ea typeface="微軟正黑體" panose="020B0604030504040204" pitchFamily="34" charset="-120"/>
              </a:rPr>
              <a:t>多元性別</a:t>
            </a:r>
            <a:r>
              <a:rPr lang="zh-TW" altLang="en-US" sz="2800" dirty="0">
                <a:solidFill>
                  <a:srgbClr val="002060"/>
                </a:solidFill>
                <a:latin typeface="微軟正黑體" panose="020B0604030504040204" pitchFamily="34" charset="-120"/>
                <a:ea typeface="微軟正黑體" panose="020B0604030504040204" pitchFamily="34" charset="-120"/>
              </a:rPr>
              <a:t>一詞來稱呼各種不同性別與性傾向的族群。</a:t>
            </a:r>
          </a:p>
          <a:p>
            <a:r>
              <a:rPr lang="zh-TW" altLang="en-US" sz="2800" dirty="0">
                <a:solidFill>
                  <a:srgbClr val="002060"/>
                </a:solidFill>
                <a:latin typeface="微軟正黑體" panose="020B0604030504040204" pitchFamily="34" charset="-120"/>
                <a:ea typeface="微軟正黑體" panose="020B0604030504040204" pitchFamily="34" charset="-120"/>
              </a:rPr>
              <a:t>多元性別包含</a:t>
            </a:r>
            <a:r>
              <a:rPr lang="zh-TW" altLang="en-US" sz="2800" b="1" dirty="0">
                <a:solidFill>
                  <a:srgbClr val="002060"/>
                </a:solidFill>
                <a:latin typeface="微軟正黑體" panose="020B0604030504040204" pitchFamily="34" charset="-120"/>
                <a:ea typeface="微軟正黑體" panose="020B0604030504040204" pitchFamily="34" charset="-120"/>
              </a:rPr>
              <a:t>性別認同</a:t>
            </a:r>
            <a:r>
              <a:rPr lang="zh-TW" altLang="en-US" sz="2800" dirty="0">
                <a:solidFill>
                  <a:srgbClr val="002060"/>
                </a:solidFill>
                <a:latin typeface="微軟正黑體" panose="020B0604030504040204" pitchFamily="34" charset="-120"/>
                <a:ea typeface="微軟正黑體" panose="020B0604030504040204" pitchFamily="34" charset="-120"/>
              </a:rPr>
              <a:t>與</a:t>
            </a:r>
            <a:r>
              <a:rPr lang="zh-TW" altLang="en-US" sz="2800" b="1" dirty="0">
                <a:solidFill>
                  <a:srgbClr val="002060"/>
                </a:solidFill>
                <a:latin typeface="微軟正黑體" panose="020B0604030504040204" pitchFamily="34" charset="-120"/>
                <a:ea typeface="微軟正黑體" panose="020B0604030504040204" pitchFamily="34" charset="-120"/>
              </a:rPr>
              <a:t>性傾向</a:t>
            </a:r>
            <a:r>
              <a:rPr lang="zh-TW" altLang="en-US" sz="2800" dirty="0">
                <a:solidFill>
                  <a:srgbClr val="002060"/>
                </a:solidFill>
                <a:latin typeface="微軟正黑體" panose="020B0604030504040204" pitchFamily="34" charset="-120"/>
                <a:ea typeface="微軟正黑體" panose="020B0604030504040204" pitchFamily="34" charset="-120"/>
              </a:rPr>
              <a:t>。</a:t>
            </a:r>
          </a:p>
          <a:p>
            <a:r>
              <a:rPr lang="zh-TW" altLang="en-US" sz="2800" dirty="0">
                <a:solidFill>
                  <a:srgbClr val="002060"/>
                </a:solidFill>
                <a:latin typeface="微軟正黑體" panose="020B0604030504040204" pitchFamily="34" charset="-120"/>
                <a:ea typeface="微軟正黑體" panose="020B0604030504040204" pitchFamily="34" charset="-120"/>
              </a:rPr>
              <a:t>「</a:t>
            </a:r>
            <a:r>
              <a:rPr lang="zh-TW" altLang="en-US" sz="2800" b="1" dirty="0">
                <a:solidFill>
                  <a:srgbClr val="002060"/>
                </a:solidFill>
                <a:latin typeface="微軟正黑體" panose="020B0604030504040204" pitchFamily="34" charset="-120"/>
                <a:ea typeface="微軟正黑體" panose="020B0604030504040204" pitchFamily="34" charset="-120"/>
              </a:rPr>
              <a:t>性別認同</a:t>
            </a:r>
            <a:r>
              <a:rPr lang="zh-TW" altLang="en-US" sz="2800" dirty="0">
                <a:solidFill>
                  <a:srgbClr val="002060"/>
                </a:solidFill>
                <a:latin typeface="微軟正黑體" panose="020B0604030504040204" pitchFamily="34" charset="-120"/>
                <a:ea typeface="微軟正黑體" panose="020B0604030504040204" pitchFamily="34" charset="-120"/>
              </a:rPr>
              <a:t>」指的是一個人對自己性別身分上的認同，即自認是男生或女生。</a:t>
            </a:r>
          </a:p>
          <a:p>
            <a:r>
              <a:rPr lang="zh-TW" altLang="en-US" sz="2800" dirty="0">
                <a:solidFill>
                  <a:srgbClr val="002060"/>
                </a:solidFill>
                <a:latin typeface="微軟正黑體" panose="020B0604030504040204" pitchFamily="34" charset="-120"/>
                <a:ea typeface="微軟正黑體" panose="020B0604030504040204" pitchFamily="34" charset="-120"/>
              </a:rPr>
              <a:t>「</a:t>
            </a:r>
            <a:r>
              <a:rPr lang="zh-TW" altLang="en-US" sz="2800" b="1" dirty="0">
                <a:solidFill>
                  <a:srgbClr val="002060"/>
                </a:solidFill>
                <a:latin typeface="微軟正黑體" panose="020B0604030504040204" pitchFamily="34" charset="-120"/>
                <a:ea typeface="微軟正黑體" panose="020B0604030504040204" pitchFamily="34" charset="-120"/>
              </a:rPr>
              <a:t>性傾向</a:t>
            </a:r>
            <a:r>
              <a:rPr lang="zh-TW" altLang="en-US" sz="2800" dirty="0">
                <a:solidFill>
                  <a:srgbClr val="002060"/>
                </a:solidFill>
                <a:latin typeface="微軟正黑體" panose="020B0604030504040204" pitchFamily="34" charset="-120"/>
                <a:ea typeface="微軟正黑體" panose="020B0604030504040204" pitchFamily="34" charset="-120"/>
              </a:rPr>
              <a:t>」指的是一個人在情感、浪漫感、與性吸引的對象上的偏好，可以分為異性戀、同性戀、雙性戀等三種性傾向。</a:t>
            </a:r>
            <a:endParaRPr lang="en-US" altLang="zh-TW" sz="2800" dirty="0">
              <a:solidFill>
                <a:srgbClr val="002060"/>
              </a:solidFill>
              <a:latin typeface="微軟正黑體" panose="020B0604030504040204" pitchFamily="34" charset="-120"/>
              <a:ea typeface="微軟正黑體" panose="020B0604030504040204" pitchFamily="34" charset="-120"/>
            </a:endParaRPr>
          </a:p>
          <a:p>
            <a:pPr marL="0" indent="0">
              <a:buNone/>
            </a:pPr>
            <a:r>
              <a:rPr lang="zh-TW" altLang="en-US" sz="2800" dirty="0">
                <a:solidFill>
                  <a:srgbClr val="002060"/>
                </a:solidFill>
                <a:latin typeface="微軟正黑體" panose="020B0604030504040204" pitchFamily="34" charset="-120"/>
                <a:ea typeface="微軟正黑體" panose="020B0604030504040204" pitchFamily="34" charset="-120"/>
              </a:rPr>
              <a:t>        </a:t>
            </a:r>
            <a:r>
              <a:rPr lang="en-US" altLang="zh-TW" sz="1800" dirty="0">
                <a:solidFill>
                  <a:srgbClr val="002060"/>
                </a:solidFill>
                <a:latin typeface="微軟正黑體" panose="020B0604030504040204" pitchFamily="34" charset="-120"/>
                <a:ea typeface="微軟正黑體" panose="020B0604030504040204" pitchFamily="34" charset="-120"/>
              </a:rPr>
              <a:t>(</a:t>
            </a:r>
            <a:r>
              <a:rPr lang="zh-TW" altLang="en-US" sz="1800" dirty="0">
                <a:solidFill>
                  <a:srgbClr val="002060"/>
                </a:solidFill>
                <a:latin typeface="微軟正黑體" panose="020B0604030504040204" pitchFamily="34" charset="-120"/>
                <a:ea typeface="微軟正黑體" panose="020B0604030504040204" pitchFamily="34" charset="-120"/>
              </a:rPr>
              <a:t>民事異言堂</a:t>
            </a:r>
            <a:r>
              <a:rPr lang="en-US" altLang="zh-TW" sz="1800" dirty="0">
                <a:solidFill>
                  <a:srgbClr val="002060"/>
                </a:solidFill>
                <a:latin typeface="微軟正黑體" panose="020B0604030504040204" pitchFamily="34" charset="-120"/>
                <a:ea typeface="微軟正黑體" panose="020B0604030504040204" pitchFamily="34" charset="-120"/>
              </a:rPr>
              <a:t>-</a:t>
            </a:r>
            <a:r>
              <a:rPr lang="zh-TW" altLang="en-US" sz="1800" dirty="0">
                <a:solidFill>
                  <a:srgbClr val="002060"/>
                </a:solidFill>
                <a:latin typeface="微軟正黑體" panose="020B0604030504040204" pitchFamily="34" charset="-120"/>
                <a:ea typeface="微軟正黑體" panose="020B0604030504040204" pitchFamily="34" charset="-120"/>
              </a:rPr>
              <a:t>林郁婷</a:t>
            </a:r>
            <a:r>
              <a:rPr lang="en-US" altLang="zh-TW" sz="1800" dirty="0">
                <a:solidFill>
                  <a:srgbClr val="002060"/>
                </a:solidFill>
                <a:latin typeface="微軟正黑體" panose="020B0604030504040204" pitchFamily="34" charset="-120"/>
                <a:ea typeface="微軟正黑體" panose="020B0604030504040204" pitchFamily="34" charset="-120"/>
              </a:rPr>
              <a:t>)</a:t>
            </a:r>
            <a:endParaRPr lang="zh-TW" altLang="en-US" sz="1800" dirty="0">
              <a:solidFill>
                <a:srgbClr val="002060"/>
              </a:solidFill>
              <a:latin typeface="微軟正黑體" panose="020B0604030504040204" pitchFamily="34" charset="-120"/>
              <a:ea typeface="微軟正黑體" panose="020B0604030504040204" pitchFamily="34" charset="-120"/>
            </a:endParaRPr>
          </a:p>
          <a:p>
            <a:endParaRPr lang="zh-TW" altLang="en-US" dirty="0"/>
          </a:p>
        </p:txBody>
      </p:sp>
    </p:spTree>
    <p:extLst>
      <p:ext uri="{BB962C8B-B14F-4D97-AF65-F5344CB8AC3E}">
        <p14:creationId xmlns:p14="http://schemas.microsoft.com/office/powerpoint/2010/main" val="19317838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0E8D03A-BC69-EFD5-6A69-AA5B74ED09B4}"/>
              </a:ext>
            </a:extLst>
          </p:cNvPr>
          <p:cNvSpPr>
            <a:spLocks noGrp="1"/>
          </p:cNvSpPr>
          <p:nvPr>
            <p:ph type="title"/>
          </p:nvPr>
        </p:nvSpPr>
        <p:spPr/>
        <p:txBody>
          <a:bodyPr/>
          <a:lstStyle/>
          <a:p>
            <a:r>
              <a:rPr lang="zh-TW" altLang="en-US" dirty="0">
                <a:solidFill>
                  <a:srgbClr val="C00000"/>
                </a:solidFill>
                <a:latin typeface="微軟正黑體" panose="020B0604030504040204" pitchFamily="34" charset="-120"/>
                <a:ea typeface="微軟正黑體" panose="020B0604030504040204" pitchFamily="34" charset="-120"/>
              </a:rPr>
              <a:t>跨性別者如何相處</a:t>
            </a:r>
            <a:r>
              <a:rPr lang="en-US" altLang="zh-TW" dirty="0">
                <a:solidFill>
                  <a:srgbClr val="C00000"/>
                </a:solidFill>
                <a:latin typeface="微軟正黑體" panose="020B0604030504040204" pitchFamily="34" charset="-120"/>
                <a:ea typeface="微軟正黑體" panose="020B0604030504040204" pitchFamily="34" charset="-120"/>
              </a:rPr>
              <a:t>︖</a:t>
            </a:r>
            <a:endParaRPr lang="zh-TW" altLang="en-US" dirty="0">
              <a:solidFill>
                <a:srgbClr val="C00000"/>
              </a:solidFill>
              <a:latin typeface="微軟正黑體" panose="020B0604030504040204" pitchFamily="34" charset="-120"/>
              <a:ea typeface="微軟正黑體" panose="020B0604030504040204" pitchFamily="34" charset="-120"/>
            </a:endParaRPr>
          </a:p>
        </p:txBody>
      </p:sp>
      <p:sp>
        <p:nvSpPr>
          <p:cNvPr id="3" name="內容版面配置區 2">
            <a:extLst>
              <a:ext uri="{FF2B5EF4-FFF2-40B4-BE49-F238E27FC236}">
                <a16:creationId xmlns:a16="http://schemas.microsoft.com/office/drawing/2014/main" id="{B1CDE137-8B82-6704-4CBE-97700D1F06E9}"/>
              </a:ext>
            </a:extLst>
          </p:cNvPr>
          <p:cNvSpPr>
            <a:spLocks noGrp="1"/>
          </p:cNvSpPr>
          <p:nvPr>
            <p:ph idx="1"/>
          </p:nvPr>
        </p:nvSpPr>
        <p:spPr>
          <a:xfrm>
            <a:off x="755576" y="2017713"/>
            <a:ext cx="8199512" cy="4114800"/>
          </a:xfrm>
        </p:spPr>
        <p:txBody>
          <a:bodyPr/>
          <a:lstStyle/>
          <a:p>
            <a:r>
              <a:rPr lang="zh-TW" altLang="en-US" b="1" dirty="0">
                <a:solidFill>
                  <a:srgbClr val="002060"/>
                </a:solidFill>
                <a:latin typeface="微軟正黑體" panose="020B0604030504040204" pitchFamily="34" charset="-120"/>
                <a:ea typeface="微軟正黑體" panose="020B0604030504040204" pitchFamily="34" charset="-120"/>
              </a:rPr>
              <a:t>尊重的態度</a:t>
            </a:r>
          </a:p>
          <a:p>
            <a:r>
              <a:rPr lang="zh-TW" altLang="en-US" b="1" dirty="0">
                <a:solidFill>
                  <a:srgbClr val="002060"/>
                </a:solidFill>
                <a:latin typeface="微軟正黑體" panose="020B0604030504040204" pitchFamily="34" charset="-120"/>
                <a:ea typeface="微軟正黑體" panose="020B0604030504040204" pitchFamily="34" charset="-120"/>
              </a:rPr>
              <a:t>性別與空間</a:t>
            </a:r>
            <a:r>
              <a:rPr lang="zh-TW" altLang="en-US" dirty="0">
                <a:solidFill>
                  <a:srgbClr val="002060"/>
                </a:solidFill>
                <a:latin typeface="微軟正黑體" panose="020B0604030504040204" pitchFamily="34" charset="-120"/>
                <a:ea typeface="微軟正黑體" panose="020B0604030504040204" pitchFamily="34" charset="-120"/>
              </a:rPr>
              <a:t>：思考空間正當性、尊重他⼈性別認同</a:t>
            </a:r>
          </a:p>
          <a:p>
            <a:r>
              <a:rPr lang="zh-TW" altLang="en-US" b="1" dirty="0">
                <a:solidFill>
                  <a:srgbClr val="002060"/>
                </a:solidFill>
                <a:latin typeface="微軟正黑體" panose="020B0604030504040204" pitchFamily="34" charset="-120"/>
                <a:ea typeface="微軟正黑體" panose="020B0604030504040204" pitchFamily="34" charset="-120"/>
              </a:rPr>
              <a:t>外表、儀態</a:t>
            </a:r>
            <a:r>
              <a:rPr lang="zh-TW" altLang="en-US" dirty="0">
                <a:solidFill>
                  <a:srgbClr val="002060"/>
                </a:solidFill>
                <a:latin typeface="微軟正黑體" panose="020B0604030504040204" pitchFamily="34" charset="-120"/>
                <a:ea typeface="微軟正黑體" panose="020B0604030504040204" pitchFamily="34" charset="-120"/>
              </a:rPr>
              <a:t>：性別表現屬於個⼈⾃由領域</a:t>
            </a:r>
          </a:p>
          <a:p>
            <a:r>
              <a:rPr lang="zh-TW" altLang="en-US" b="1" dirty="0">
                <a:solidFill>
                  <a:srgbClr val="002060"/>
                </a:solidFill>
                <a:latin typeface="微軟正黑體" panose="020B0604030504040204" pitchFamily="34" charset="-120"/>
                <a:ea typeface="微軟正黑體" panose="020B0604030504040204" pitchFamily="34" charset="-120"/>
              </a:rPr>
              <a:t>友善的支持</a:t>
            </a:r>
          </a:p>
          <a:p>
            <a:pPr marL="0" indent="0">
              <a:buNone/>
            </a:pPr>
            <a:endParaRPr lang="zh-TW" altLang="en-US" dirty="0"/>
          </a:p>
        </p:txBody>
      </p:sp>
    </p:spTree>
    <p:extLst>
      <p:ext uri="{BB962C8B-B14F-4D97-AF65-F5344CB8AC3E}">
        <p14:creationId xmlns:p14="http://schemas.microsoft.com/office/powerpoint/2010/main" val="28016156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0E74CDD-135D-4558-988F-C25249B514CC}"/>
              </a:ext>
            </a:extLst>
          </p:cNvPr>
          <p:cNvSpPr>
            <a:spLocks noGrp="1"/>
          </p:cNvSpPr>
          <p:nvPr>
            <p:ph type="title"/>
          </p:nvPr>
        </p:nvSpPr>
        <p:spPr>
          <a:xfrm>
            <a:off x="1028700" y="1371600"/>
            <a:ext cx="7200900" cy="537210"/>
          </a:xfrm>
        </p:spPr>
        <p:txBody>
          <a:bodyPr>
            <a:normAutofit fontScale="90000"/>
          </a:bodyPr>
          <a:lstStyle/>
          <a:p>
            <a:r>
              <a:rPr lang="zh-TW" altLang="en-US" dirty="0">
                <a:solidFill>
                  <a:srgbClr val="C00000"/>
                </a:solidFill>
              </a:rPr>
              <a:t>性別與身體界線</a:t>
            </a:r>
          </a:p>
        </p:txBody>
      </p:sp>
      <p:sp>
        <p:nvSpPr>
          <p:cNvPr id="3" name="內容版面配置區 2">
            <a:extLst>
              <a:ext uri="{FF2B5EF4-FFF2-40B4-BE49-F238E27FC236}">
                <a16:creationId xmlns:a16="http://schemas.microsoft.com/office/drawing/2014/main" id="{A23E2C22-6A55-424F-A4D8-99EFEB85803D}"/>
              </a:ext>
            </a:extLst>
          </p:cNvPr>
          <p:cNvSpPr>
            <a:spLocks noGrp="1"/>
          </p:cNvSpPr>
          <p:nvPr>
            <p:ph idx="1"/>
          </p:nvPr>
        </p:nvSpPr>
        <p:spPr>
          <a:xfrm>
            <a:off x="683568" y="1988840"/>
            <a:ext cx="7546032" cy="4104456"/>
          </a:xfrm>
        </p:spPr>
        <p:txBody>
          <a:bodyPr/>
          <a:lstStyle/>
          <a:p>
            <a:r>
              <a:rPr lang="zh-TW" altLang="en-US" sz="2800" dirty="0">
                <a:solidFill>
                  <a:srgbClr val="002060"/>
                </a:solidFill>
                <a:latin typeface="微軟正黑體" panose="020B0604030504040204" pitchFamily="34" charset="-120"/>
                <a:ea typeface="微軟正黑體" panose="020B0604030504040204" pitchFamily="34" charset="-120"/>
              </a:rPr>
              <a:t>性別與親密關係</a:t>
            </a:r>
            <a:r>
              <a:rPr lang="en-US" altLang="zh-TW" sz="2800" dirty="0">
                <a:solidFill>
                  <a:srgbClr val="002060"/>
                </a:solidFill>
                <a:latin typeface="微軟正黑體" panose="020B0604030504040204" pitchFamily="34" charset="-120"/>
                <a:ea typeface="微軟正黑體" panose="020B0604030504040204" pitchFamily="34" charset="-120"/>
              </a:rPr>
              <a:t>-</a:t>
            </a:r>
            <a:r>
              <a:rPr lang="zh-TW" altLang="en-US" sz="2800" dirty="0">
                <a:solidFill>
                  <a:srgbClr val="002060"/>
                </a:solidFill>
                <a:latin typeface="微軟正黑體" panose="020B0604030504040204" pitchFamily="34" charset="-120"/>
                <a:ea typeface="微軟正黑體" panose="020B0604030504040204" pitchFamily="34" charset="-120"/>
              </a:rPr>
              <a:t>身體界線</a:t>
            </a:r>
            <a:r>
              <a:rPr lang="en-US" altLang="zh-TW" sz="1200" dirty="0">
                <a:solidFill>
                  <a:srgbClr val="002060"/>
                </a:solidFill>
                <a:latin typeface="微軟正黑體" panose="020B0604030504040204" pitchFamily="34" charset="-120"/>
                <a:ea typeface="微軟正黑體" panose="020B0604030504040204" pitchFamily="34" charset="-120"/>
              </a:rPr>
              <a:t>(</a:t>
            </a:r>
            <a:r>
              <a:rPr lang="en-US" altLang="zh-TW" sz="1200" dirty="0" err="1">
                <a:solidFill>
                  <a:srgbClr val="002060"/>
                </a:solidFill>
                <a:latin typeface="微軟正黑體" panose="020B0604030504040204" pitchFamily="34" charset="-120"/>
                <a:ea typeface="微軟正黑體" panose="020B0604030504040204" pitchFamily="34" charset="-120"/>
              </a:rPr>
              <a:t>youtube</a:t>
            </a:r>
            <a:r>
              <a:rPr lang="en-US" altLang="zh-TW" sz="1200" dirty="0">
                <a:solidFill>
                  <a:srgbClr val="002060"/>
                </a:solidFill>
                <a:latin typeface="微軟正黑體" panose="020B0604030504040204" pitchFamily="34" charset="-120"/>
                <a:ea typeface="微軟正黑體" panose="020B0604030504040204" pitchFamily="34" charset="-120"/>
              </a:rPr>
              <a:t>)</a:t>
            </a:r>
          </a:p>
          <a:p>
            <a:r>
              <a:rPr lang="zh-TW" altLang="en-US" sz="2800" dirty="0">
                <a:solidFill>
                  <a:srgbClr val="002060"/>
                </a:solidFill>
                <a:latin typeface="微軟正黑體" panose="020B0604030504040204" pitchFamily="34" charset="-120"/>
                <a:ea typeface="微軟正黑體" panose="020B0604030504040204" pitchFamily="34" charset="-120"/>
              </a:rPr>
              <a:t>我說可以才可以</a:t>
            </a:r>
            <a:r>
              <a:rPr lang="en-US" altLang="zh-TW" sz="1600" dirty="0">
                <a:solidFill>
                  <a:srgbClr val="002060"/>
                </a:solidFill>
                <a:latin typeface="微軟正黑體" panose="020B0604030504040204" pitchFamily="34" charset="-120"/>
                <a:ea typeface="微軟正黑體" panose="020B0604030504040204" pitchFamily="34" charset="-120"/>
              </a:rPr>
              <a:t>(</a:t>
            </a:r>
            <a:r>
              <a:rPr lang="zh-TW" altLang="en-US" sz="1600" dirty="0">
                <a:solidFill>
                  <a:srgbClr val="002060"/>
                </a:solidFill>
                <a:latin typeface="微軟正黑體" panose="020B0604030504040204" pitchFamily="34" charset="-120"/>
                <a:ea typeface="微軟正黑體" panose="020B0604030504040204" pitchFamily="34" charset="-120"/>
              </a:rPr>
              <a:t>動畫版</a:t>
            </a:r>
            <a:r>
              <a:rPr lang="en-US" altLang="zh-TW" sz="1600" dirty="0">
                <a:solidFill>
                  <a:srgbClr val="002060"/>
                </a:solidFill>
                <a:latin typeface="微軟正黑體" panose="020B0604030504040204" pitchFamily="34" charset="-120"/>
                <a:ea typeface="微軟正黑體" panose="020B0604030504040204" pitchFamily="34" charset="-120"/>
              </a:rPr>
              <a:t>)</a:t>
            </a:r>
          </a:p>
          <a:p>
            <a:r>
              <a:rPr lang="zh-TW" altLang="en-US" sz="2800" dirty="0">
                <a:solidFill>
                  <a:srgbClr val="002060"/>
                </a:solidFill>
                <a:latin typeface="微軟正黑體" panose="020B0604030504040204" pitchFamily="34" charset="-120"/>
                <a:ea typeface="微軟正黑體" panose="020B0604030504040204" pitchFamily="34" charset="-120"/>
              </a:rPr>
              <a:t>讓孩子做身體的主人</a:t>
            </a:r>
            <a:r>
              <a:rPr lang="en-US" altLang="zh-TW" sz="2800" dirty="0">
                <a:solidFill>
                  <a:srgbClr val="002060"/>
                </a:solidFill>
                <a:latin typeface="微軟正黑體" panose="020B0604030504040204" pitchFamily="34" charset="-120"/>
                <a:ea typeface="微軟正黑體" panose="020B0604030504040204" pitchFamily="34" charset="-120"/>
              </a:rPr>
              <a:t>-</a:t>
            </a:r>
            <a:r>
              <a:rPr lang="zh-TW" altLang="en-US" sz="1400" dirty="0">
                <a:solidFill>
                  <a:srgbClr val="002060"/>
                </a:solidFill>
                <a:latin typeface="微軟正黑體" panose="020B0604030504040204" pitchFamily="34" charset="-120"/>
                <a:ea typeface="微軟正黑體" panose="020B0604030504040204" pitchFamily="34" charset="-120"/>
              </a:rPr>
              <a:t>建立孩子對身體界線的認識 </a:t>
            </a:r>
            <a:r>
              <a:rPr lang="en-US" altLang="zh-TW" sz="1400" dirty="0">
                <a:solidFill>
                  <a:srgbClr val="002060"/>
                </a:solidFill>
                <a:latin typeface="微軟正黑體" panose="020B0604030504040204" pitchFamily="34" charset="-120"/>
                <a:ea typeface="微軟正黑體" panose="020B0604030504040204" pitchFamily="34" charset="-120"/>
              </a:rPr>
              <a:t>[7-12</a:t>
            </a:r>
            <a:r>
              <a:rPr lang="zh-TW" altLang="en-US" sz="1400" dirty="0">
                <a:solidFill>
                  <a:srgbClr val="002060"/>
                </a:solidFill>
                <a:latin typeface="微軟正黑體" panose="020B0604030504040204" pitchFamily="34" charset="-120"/>
                <a:ea typeface="微軟正黑體" panose="020B0604030504040204" pitchFamily="34" charset="-120"/>
              </a:rPr>
              <a:t>歲 </a:t>
            </a:r>
            <a:r>
              <a:rPr lang="en-US" altLang="zh-TW" sz="1400" dirty="0">
                <a:solidFill>
                  <a:srgbClr val="002060"/>
                </a:solidFill>
                <a:latin typeface="微軟正黑體" panose="020B0604030504040204" pitchFamily="34" charset="-120"/>
                <a:ea typeface="微軟正黑體" panose="020B0604030504040204" pitchFamily="34" charset="-120"/>
              </a:rPr>
              <a:t>(</a:t>
            </a:r>
            <a:r>
              <a:rPr lang="zh-TW" altLang="en-US" sz="1400" dirty="0">
                <a:solidFill>
                  <a:srgbClr val="002060"/>
                </a:solidFill>
                <a:latin typeface="微軟正黑體" panose="020B0604030504040204" pitchFamily="34" charset="-120"/>
                <a:ea typeface="微軟正黑體" panose="020B0604030504040204" pitchFamily="34" charset="-120"/>
              </a:rPr>
              <a:t>主要年齡層為國小高年級</a:t>
            </a:r>
            <a:r>
              <a:rPr lang="en-US" altLang="zh-TW" sz="1400" dirty="0">
                <a:solidFill>
                  <a:srgbClr val="002060"/>
                </a:solidFill>
                <a:latin typeface="微軟正黑體" panose="020B0604030504040204" pitchFamily="34" charset="-120"/>
                <a:ea typeface="微軟正黑體" panose="020B0604030504040204" pitchFamily="34" charset="-120"/>
              </a:rPr>
              <a:t>)]</a:t>
            </a:r>
          </a:p>
          <a:p>
            <a:r>
              <a:rPr lang="en-US" altLang="zh-TW" sz="2800" dirty="0">
                <a:solidFill>
                  <a:srgbClr val="002060"/>
                </a:solidFill>
                <a:latin typeface="微軟正黑體" panose="020B0604030504040204" pitchFamily="34" charset="-120"/>
                <a:ea typeface="微軟正黑體" panose="020B0604030504040204" pitchFamily="34" charset="-120"/>
              </a:rPr>
              <a:t>50686 </a:t>
            </a:r>
            <a:r>
              <a:rPr lang="zh-TW" altLang="en-US" sz="2800" dirty="0">
                <a:solidFill>
                  <a:srgbClr val="002060"/>
                </a:solidFill>
                <a:latin typeface="微軟正黑體" panose="020B0604030504040204" pitchFamily="34" charset="-120"/>
                <a:ea typeface="微軟正黑體" panose="020B0604030504040204" pitchFamily="34" charset="-120"/>
              </a:rPr>
              <a:t>練習愛</a:t>
            </a:r>
            <a:r>
              <a:rPr lang="en-US" altLang="zh-TW" sz="2800" dirty="0">
                <a:solidFill>
                  <a:srgbClr val="002060"/>
                </a:solidFill>
                <a:latin typeface="微軟正黑體" panose="020B0604030504040204" pitchFamily="34" charset="-120"/>
                <a:ea typeface="微軟正黑體" panose="020B0604030504040204" pitchFamily="34" charset="-120"/>
              </a:rPr>
              <a:t>-</a:t>
            </a:r>
            <a:r>
              <a:rPr lang="zh-TW" altLang="en-US" sz="1800" dirty="0">
                <a:solidFill>
                  <a:srgbClr val="002060"/>
                </a:solidFill>
                <a:latin typeface="微軟正黑體" panose="020B0604030504040204" pitchFamily="34" charset="-120"/>
                <a:ea typeface="微軟正黑體" panose="020B0604030504040204" pitchFamily="34" charset="-120"/>
              </a:rPr>
              <a:t>未滿</a:t>
            </a:r>
            <a:r>
              <a:rPr lang="en-US" altLang="zh-TW" sz="1800" dirty="0">
                <a:solidFill>
                  <a:srgbClr val="002060"/>
                </a:solidFill>
                <a:latin typeface="微軟正黑體" panose="020B0604030504040204" pitchFamily="34" charset="-120"/>
                <a:ea typeface="微軟正黑體" panose="020B0604030504040204" pitchFamily="34" charset="-120"/>
              </a:rPr>
              <a:t>16</a:t>
            </a:r>
            <a:r>
              <a:rPr lang="zh-TW" altLang="en-US" sz="1800" dirty="0">
                <a:solidFill>
                  <a:srgbClr val="002060"/>
                </a:solidFill>
                <a:latin typeface="微軟正黑體" panose="020B0604030504040204" pitchFamily="34" charset="-120"/>
                <a:ea typeface="微軟正黑體" panose="020B0604030504040204" pitchFamily="34" charset="-120"/>
              </a:rPr>
              <a:t>歲強制性性侵害事件親職教育宣導影片</a:t>
            </a:r>
            <a:endParaRPr lang="en-US" altLang="zh-TW" sz="1800" dirty="0">
              <a:solidFill>
                <a:srgbClr val="002060"/>
              </a:solidFill>
              <a:latin typeface="微軟正黑體" panose="020B0604030504040204" pitchFamily="34" charset="-120"/>
              <a:ea typeface="微軟正黑體" panose="020B0604030504040204" pitchFamily="34" charset="-120"/>
            </a:endParaRPr>
          </a:p>
          <a:p>
            <a:endParaRPr lang="zh-TW" altLang="en-US" dirty="0"/>
          </a:p>
        </p:txBody>
      </p:sp>
    </p:spTree>
    <p:extLst>
      <p:ext uri="{BB962C8B-B14F-4D97-AF65-F5344CB8AC3E}">
        <p14:creationId xmlns:p14="http://schemas.microsoft.com/office/powerpoint/2010/main" val="10564252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35586FBF-FFDA-F766-686B-20A905055920}"/>
              </a:ext>
            </a:extLst>
          </p:cNvPr>
          <p:cNvSpPr>
            <a:spLocks noGrp="1" noChangeArrowheads="1"/>
          </p:cNvSpPr>
          <p:nvPr>
            <p:ph type="title"/>
          </p:nvPr>
        </p:nvSpPr>
        <p:spPr>
          <a:xfrm>
            <a:off x="1116013" y="188913"/>
            <a:ext cx="7793037" cy="1462087"/>
          </a:xfrm>
        </p:spPr>
        <p:txBody>
          <a:bodyPr/>
          <a:lstStyle/>
          <a:p>
            <a:pPr eaLnBrk="1" hangingPunct="1"/>
            <a:r>
              <a:rPr lang="zh-TW" altLang="en-US" sz="4000" b="1" dirty="0">
                <a:solidFill>
                  <a:srgbClr val="C00000"/>
                </a:solidFill>
                <a:latin typeface="微軟正黑體" panose="020B0604030504040204" pitchFamily="34" charset="-120"/>
                <a:ea typeface="微軟正黑體" panose="020B0604030504040204" pitchFamily="34" charset="-120"/>
              </a:rPr>
              <a:t>性別主流化</a:t>
            </a:r>
            <a:br>
              <a:rPr lang="zh-TW" altLang="en-US" sz="4000" dirty="0">
                <a:solidFill>
                  <a:srgbClr val="C00000"/>
                </a:solidFill>
                <a:latin typeface="微軟正黑體" panose="020B0604030504040204" pitchFamily="34" charset="-120"/>
                <a:ea typeface="微軟正黑體" panose="020B0604030504040204" pitchFamily="34" charset="-120"/>
              </a:rPr>
            </a:br>
            <a:r>
              <a:rPr lang="en-US" altLang="zh-TW" sz="4000" dirty="0">
                <a:solidFill>
                  <a:srgbClr val="C00000"/>
                </a:solidFill>
                <a:latin typeface="微軟正黑體" panose="020B0604030504040204" pitchFamily="34" charset="-120"/>
                <a:ea typeface="微軟正黑體" panose="020B0604030504040204" pitchFamily="34" charset="-120"/>
              </a:rPr>
              <a:t>gender Mainstreaming</a:t>
            </a:r>
          </a:p>
        </p:txBody>
      </p:sp>
      <p:sp>
        <p:nvSpPr>
          <p:cNvPr id="18435" name="Rectangle 3">
            <a:extLst>
              <a:ext uri="{FF2B5EF4-FFF2-40B4-BE49-F238E27FC236}">
                <a16:creationId xmlns:a16="http://schemas.microsoft.com/office/drawing/2014/main" id="{B1DE5468-DBCD-D76E-26A2-DBEF3E6B8B0E}"/>
              </a:ext>
            </a:extLst>
          </p:cNvPr>
          <p:cNvSpPr>
            <a:spLocks noGrp="1" noChangeArrowheads="1"/>
          </p:cNvSpPr>
          <p:nvPr>
            <p:ph idx="1"/>
          </p:nvPr>
        </p:nvSpPr>
        <p:spPr>
          <a:xfrm>
            <a:off x="1182688" y="2017713"/>
            <a:ext cx="7134225" cy="4579937"/>
          </a:xfrm>
        </p:spPr>
        <p:txBody>
          <a:bodyPr/>
          <a:lstStyle/>
          <a:p>
            <a:pPr marL="0" indent="0" eaLnBrk="1" hangingPunct="1">
              <a:lnSpc>
                <a:spcPct val="90000"/>
              </a:lnSpc>
              <a:buFont typeface="Wingdings" panose="05000000000000000000" pitchFamily="2" charset="2"/>
              <a:buNone/>
            </a:pPr>
            <a:r>
              <a:rPr lang="zh-TW" altLang="en-US" dirty="0">
                <a:solidFill>
                  <a:srgbClr val="9933FF"/>
                </a:solidFill>
                <a:latin typeface="微軟正黑體" panose="020B0604030504040204" pitchFamily="34" charset="-120"/>
                <a:ea typeface="微軟正黑體" panose="020B0604030504040204" pitchFamily="34" charset="-120"/>
              </a:rPr>
              <a:t>定義</a:t>
            </a:r>
          </a:p>
          <a:p>
            <a:pPr marL="0" indent="0" eaLnBrk="1" hangingPunct="1">
              <a:buFont typeface="Wingdings" panose="05000000000000000000" pitchFamily="2" charset="2"/>
              <a:buNone/>
            </a:pPr>
            <a:r>
              <a:rPr lang="zh-TW" altLang="en-US" sz="2800" dirty="0">
                <a:solidFill>
                  <a:srgbClr val="002060"/>
                </a:solidFill>
                <a:latin typeface="微軟正黑體" panose="020B0604030504040204" pitchFamily="34" charset="-120"/>
                <a:ea typeface="微軟正黑體" panose="020B0604030504040204" pitchFamily="34" charset="-120"/>
              </a:rPr>
              <a:t>在各個領域和各個層面上</a:t>
            </a:r>
            <a:r>
              <a:rPr lang="zh-TW" altLang="en-US" sz="2800" dirty="0">
                <a:solidFill>
                  <a:srgbClr val="3333CC"/>
                </a:solidFill>
                <a:latin typeface="微軟正黑體" panose="020B0604030504040204" pitchFamily="34" charset="-120"/>
                <a:ea typeface="微軟正黑體" panose="020B0604030504040204" pitchFamily="34" charset="-120"/>
              </a:rPr>
              <a:t>評估所有有計畫的行動</a:t>
            </a:r>
            <a:r>
              <a:rPr lang="zh-TW" altLang="en-US" sz="2800" dirty="0">
                <a:solidFill>
                  <a:srgbClr val="002060"/>
                </a:solidFill>
                <a:latin typeface="微軟正黑體" panose="020B0604030504040204" pitchFamily="34" charset="-120"/>
                <a:ea typeface="微軟正黑體" panose="020B0604030504040204" pitchFamily="34" charset="-120"/>
              </a:rPr>
              <a:t>（包括立法、政策、方案）對男女雙方的不同含義。作為一種</a:t>
            </a:r>
            <a:r>
              <a:rPr lang="zh-TW" altLang="en-US" sz="2800" dirty="0">
                <a:solidFill>
                  <a:srgbClr val="3333CC"/>
                </a:solidFill>
                <a:latin typeface="微軟正黑體" panose="020B0604030504040204" pitchFamily="34" charset="-120"/>
                <a:ea typeface="微軟正黑體" panose="020B0604030504040204" pitchFamily="34" charset="-120"/>
              </a:rPr>
              <a:t>策略方法</a:t>
            </a:r>
            <a:r>
              <a:rPr lang="zh-TW" altLang="en-US" sz="2800" dirty="0">
                <a:solidFill>
                  <a:srgbClr val="002060"/>
                </a:solidFill>
                <a:latin typeface="微軟正黑體" panose="020B0604030504040204" pitchFamily="34" charset="-120"/>
                <a:ea typeface="微軟正黑體" panose="020B0604030504040204" pitchFamily="34" charset="-120"/>
              </a:rPr>
              <a:t>，它使男女雙方的關注和經驗成為設計、實施、監督和評判政治、經濟和社會領域所有政策方案的有機組成部分，從而使男女雙方受益均等，不再有不平等發生。納入主流的</a:t>
            </a:r>
            <a:r>
              <a:rPr lang="zh-TW" altLang="en-US" sz="2800" dirty="0">
                <a:solidFill>
                  <a:schemeClr val="hlink"/>
                </a:solidFill>
                <a:latin typeface="微軟正黑體" panose="020B0604030504040204" pitchFamily="34" charset="-120"/>
                <a:ea typeface="微軟正黑體" panose="020B0604030504040204" pitchFamily="34" charset="-120"/>
              </a:rPr>
              <a:t>最終目標</a:t>
            </a:r>
            <a:r>
              <a:rPr lang="zh-TW" altLang="en-US" sz="2800" dirty="0">
                <a:solidFill>
                  <a:srgbClr val="002060"/>
                </a:solidFill>
                <a:latin typeface="微軟正黑體" panose="020B0604030504040204" pitchFamily="34" charset="-120"/>
                <a:ea typeface="微軟正黑體" panose="020B0604030504040204" pitchFamily="34" charset="-120"/>
              </a:rPr>
              <a:t>是實現性別（男女）平等。 </a:t>
            </a:r>
          </a:p>
          <a:p>
            <a:pPr marL="0" indent="0" eaLnBrk="1" hangingPunct="1">
              <a:lnSpc>
                <a:spcPct val="90000"/>
              </a:lnSpc>
              <a:buFont typeface="Wingdings" panose="05000000000000000000" pitchFamily="2" charset="2"/>
              <a:buNone/>
            </a:pPr>
            <a:r>
              <a:rPr lang="en-US" altLang="zh-TW" sz="2800" dirty="0">
                <a:latin typeface="微軟正黑體" panose="020B0604030504040204" pitchFamily="34" charset="-120"/>
                <a:ea typeface="微軟正黑體" panose="020B0604030504040204" pitchFamily="34" charset="-120"/>
              </a:rPr>
              <a:t>--</a:t>
            </a:r>
            <a:r>
              <a:rPr lang="zh-TW" altLang="en-US" sz="2400" dirty="0">
                <a:solidFill>
                  <a:schemeClr val="tx2"/>
                </a:solidFill>
                <a:latin typeface="微軟正黑體" panose="020B0604030504040204" pitchFamily="34" charset="-120"/>
                <a:ea typeface="微軟正黑體" panose="020B0604030504040204" pitchFamily="34" charset="-120"/>
              </a:rPr>
              <a:t>聯合國經濟及社會理事會，</a:t>
            </a:r>
            <a:r>
              <a:rPr lang="en-US" altLang="zh-TW" sz="2400" dirty="0">
                <a:solidFill>
                  <a:srgbClr val="002060"/>
                </a:solidFill>
                <a:latin typeface="微軟正黑體" panose="020B0604030504040204" pitchFamily="34" charset="-120"/>
                <a:ea typeface="微軟正黑體" panose="020B0604030504040204" pitchFamily="34" charset="-120"/>
              </a:rPr>
              <a:t>1997</a:t>
            </a:r>
            <a:r>
              <a:rPr lang="zh-TW" altLang="en-US" sz="2400" dirty="0">
                <a:solidFill>
                  <a:srgbClr val="002060"/>
                </a:solidFill>
                <a:latin typeface="微軟正黑體" panose="020B0604030504040204" pitchFamily="34" charset="-120"/>
                <a:ea typeface="微軟正黑體" panose="020B0604030504040204" pitchFamily="34" charset="-120"/>
              </a:rPr>
              <a:t>年 </a:t>
            </a:r>
            <a:r>
              <a:rPr lang="en-US" altLang="zh-TW" sz="2400" dirty="0">
                <a:solidFill>
                  <a:srgbClr val="002060"/>
                </a:solidFill>
                <a:latin typeface="微軟正黑體" panose="020B0604030504040204" pitchFamily="34" charset="-120"/>
                <a:ea typeface="微軟正黑體" panose="020B0604030504040204" pitchFamily="34" charset="-120"/>
              </a:rPr>
              <a:t>2</a:t>
            </a:r>
            <a:r>
              <a:rPr lang="zh-TW" altLang="en-US" sz="2400" dirty="0">
                <a:solidFill>
                  <a:srgbClr val="002060"/>
                </a:solidFill>
                <a:latin typeface="微軟正黑體" panose="020B0604030504040204" pitchFamily="34" charset="-120"/>
                <a:ea typeface="微軟正黑體" panose="020B0604030504040204" pitchFamily="34" charset="-120"/>
              </a:rPr>
              <a:t>月</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F2F2CF94-16D9-3B3B-69C1-96ECD9E2428D}"/>
              </a:ext>
            </a:extLst>
          </p:cNvPr>
          <p:cNvSpPr>
            <a:spLocks noChangeArrowheads="1"/>
          </p:cNvSpPr>
          <p:nvPr/>
        </p:nvSpPr>
        <p:spPr bwMode="auto">
          <a:xfrm>
            <a:off x="468313" y="1196975"/>
            <a:ext cx="8280400" cy="5032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ahoma" panose="020B0604030504040204" pitchFamily="34" charset="0"/>
                <a:ea typeface="標楷體" panose="03000509000000000000" pitchFamily="65" charset="-120"/>
              </a:defRPr>
            </a:lvl1pPr>
            <a:lvl2pPr marL="742950" indent="-285750" eaLnBrk="0" hangingPunct="0">
              <a:defRPr kumimoji="1" sz="2400">
                <a:solidFill>
                  <a:schemeClr val="tx1"/>
                </a:solidFill>
                <a:latin typeface="Tahoma" panose="020B0604030504040204" pitchFamily="34" charset="0"/>
                <a:ea typeface="標楷體" panose="03000509000000000000" pitchFamily="65" charset="-120"/>
              </a:defRPr>
            </a:lvl2pPr>
            <a:lvl3pPr marL="1143000" indent="-228600" eaLnBrk="0" hangingPunct="0">
              <a:defRPr kumimoji="1" sz="2400">
                <a:solidFill>
                  <a:schemeClr val="tx1"/>
                </a:solidFill>
                <a:latin typeface="Tahoma" panose="020B0604030504040204" pitchFamily="34" charset="0"/>
                <a:ea typeface="標楷體" panose="03000509000000000000" pitchFamily="65" charset="-120"/>
              </a:defRPr>
            </a:lvl3pPr>
            <a:lvl4pPr marL="1600200" indent="-228600" eaLnBrk="0" hangingPunct="0">
              <a:defRPr kumimoji="1" sz="2400">
                <a:solidFill>
                  <a:schemeClr val="tx1"/>
                </a:solidFill>
                <a:latin typeface="Tahoma" panose="020B0604030504040204" pitchFamily="34" charset="0"/>
                <a:ea typeface="標楷體" panose="03000509000000000000" pitchFamily="65" charset="-120"/>
              </a:defRPr>
            </a:lvl4pPr>
            <a:lvl5pPr marL="2057400" indent="-228600" eaLnBrk="0" hangingPunct="0">
              <a:defRPr kumimoji="1" sz="24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9pPr>
          </a:lstStyle>
          <a:p>
            <a:pPr eaLnBrk="1" hangingPunct="1"/>
            <a:endParaRPr lang="zh-TW" altLang="en-US"/>
          </a:p>
        </p:txBody>
      </p:sp>
      <p:sp>
        <p:nvSpPr>
          <p:cNvPr id="19459" name="Oval 3">
            <a:extLst>
              <a:ext uri="{FF2B5EF4-FFF2-40B4-BE49-F238E27FC236}">
                <a16:creationId xmlns:a16="http://schemas.microsoft.com/office/drawing/2014/main" id="{9E3C62E8-8F98-3BDB-206B-8C9CFBD8F499}"/>
              </a:ext>
            </a:extLst>
          </p:cNvPr>
          <p:cNvSpPr>
            <a:spLocks noChangeArrowheads="1"/>
          </p:cNvSpPr>
          <p:nvPr/>
        </p:nvSpPr>
        <p:spPr bwMode="auto">
          <a:xfrm>
            <a:off x="2576513" y="1196975"/>
            <a:ext cx="4464050" cy="4535488"/>
          </a:xfrm>
          <a:prstGeom prst="ellipse">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ahoma" panose="020B0604030504040204" pitchFamily="34" charset="0"/>
                <a:ea typeface="標楷體" panose="03000509000000000000" pitchFamily="65" charset="-120"/>
              </a:defRPr>
            </a:lvl1pPr>
            <a:lvl2pPr marL="742950" indent="-285750" eaLnBrk="0" hangingPunct="0">
              <a:defRPr kumimoji="1" sz="2400">
                <a:solidFill>
                  <a:schemeClr val="tx1"/>
                </a:solidFill>
                <a:latin typeface="Tahoma" panose="020B0604030504040204" pitchFamily="34" charset="0"/>
                <a:ea typeface="標楷體" panose="03000509000000000000" pitchFamily="65" charset="-120"/>
              </a:defRPr>
            </a:lvl2pPr>
            <a:lvl3pPr marL="1143000" indent="-228600" eaLnBrk="0" hangingPunct="0">
              <a:defRPr kumimoji="1" sz="2400">
                <a:solidFill>
                  <a:schemeClr val="tx1"/>
                </a:solidFill>
                <a:latin typeface="Tahoma" panose="020B0604030504040204" pitchFamily="34" charset="0"/>
                <a:ea typeface="標楷體" panose="03000509000000000000" pitchFamily="65" charset="-120"/>
              </a:defRPr>
            </a:lvl3pPr>
            <a:lvl4pPr marL="1600200" indent="-228600" eaLnBrk="0" hangingPunct="0">
              <a:defRPr kumimoji="1" sz="2400">
                <a:solidFill>
                  <a:schemeClr val="tx1"/>
                </a:solidFill>
                <a:latin typeface="Tahoma" panose="020B0604030504040204" pitchFamily="34" charset="0"/>
                <a:ea typeface="標楷體" panose="03000509000000000000" pitchFamily="65" charset="-120"/>
              </a:defRPr>
            </a:lvl4pPr>
            <a:lvl5pPr marL="2057400" indent="-228600" eaLnBrk="0" hangingPunct="0">
              <a:defRPr kumimoji="1" sz="24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9pPr>
          </a:lstStyle>
          <a:p>
            <a:pPr eaLnBrk="1" hangingPunct="1"/>
            <a:endParaRPr lang="zh-TW" altLang="en-US"/>
          </a:p>
        </p:txBody>
      </p:sp>
      <p:grpSp>
        <p:nvGrpSpPr>
          <p:cNvPr id="19460" name="Group 4">
            <a:extLst>
              <a:ext uri="{FF2B5EF4-FFF2-40B4-BE49-F238E27FC236}">
                <a16:creationId xmlns:a16="http://schemas.microsoft.com/office/drawing/2014/main" id="{8500CFDF-9713-9FAB-AAFB-4B8E5E34209A}"/>
              </a:ext>
            </a:extLst>
          </p:cNvPr>
          <p:cNvGrpSpPr>
            <a:grpSpLocks/>
          </p:cNvGrpSpPr>
          <p:nvPr/>
        </p:nvGrpSpPr>
        <p:grpSpPr bwMode="auto">
          <a:xfrm>
            <a:off x="2000250" y="981075"/>
            <a:ext cx="5618163" cy="4032250"/>
            <a:chOff x="1260" y="618"/>
            <a:chExt cx="3539" cy="2540"/>
          </a:xfrm>
        </p:grpSpPr>
        <p:sp>
          <p:nvSpPr>
            <p:cNvPr id="201733" name="Oval 5">
              <a:extLst>
                <a:ext uri="{FF2B5EF4-FFF2-40B4-BE49-F238E27FC236}">
                  <a16:creationId xmlns:a16="http://schemas.microsoft.com/office/drawing/2014/main" id="{B0165A4F-CB62-8A22-68EF-643CB2CA00B9}"/>
                </a:ext>
              </a:extLst>
            </p:cNvPr>
            <p:cNvSpPr>
              <a:spLocks noChangeArrowheads="1"/>
            </p:cNvSpPr>
            <p:nvPr/>
          </p:nvSpPr>
          <p:spPr bwMode="auto">
            <a:xfrm>
              <a:off x="2031" y="1707"/>
              <a:ext cx="1905" cy="680"/>
            </a:xfrm>
            <a:prstGeom prst="ellipse">
              <a:avLst/>
            </a:prstGeom>
            <a:gradFill rotWithShape="1">
              <a:gsLst>
                <a:gs pos="0">
                  <a:schemeClr val="folHlink"/>
                </a:gs>
                <a:gs pos="50000">
                  <a:srgbClr val="FFFFFF"/>
                </a:gs>
                <a:gs pos="100000">
                  <a:schemeClr val="folHlink"/>
                </a:gs>
              </a:gsLst>
              <a:lin ang="5400000" scaled="1"/>
            </a:gradFill>
            <a:ln w="9525">
              <a:solidFill>
                <a:schemeClr val="accent1"/>
              </a:solidFill>
              <a:miter lim="800000"/>
              <a:headEnd/>
              <a:tailEnd/>
            </a:ln>
            <a:effectLst/>
          </p:spPr>
          <p:txBody>
            <a:bodyPr wrap="none" anchor="ctr"/>
            <a:lstStyle/>
            <a:p>
              <a:pPr algn="ctr">
                <a:defRPr/>
              </a:pPr>
              <a:r>
                <a:rPr kumimoji="0" lang="zh-TW" altLang="en-US" sz="3200" b="1" dirty="0">
                  <a:solidFill>
                    <a:srgbClr val="C00000"/>
                  </a:solidFill>
                  <a:latin typeface="微軟正黑體" panose="020B0604030504040204" pitchFamily="34" charset="-120"/>
                  <a:ea typeface="微軟正黑體" panose="020B0604030504040204" pitchFamily="34" charset="-120"/>
                </a:rPr>
                <a:t>性別主流化</a:t>
              </a:r>
            </a:p>
          </p:txBody>
        </p:sp>
        <p:sp>
          <p:nvSpPr>
            <p:cNvPr id="19484" name="AutoShape 6">
              <a:extLst>
                <a:ext uri="{FF2B5EF4-FFF2-40B4-BE49-F238E27FC236}">
                  <a16:creationId xmlns:a16="http://schemas.microsoft.com/office/drawing/2014/main" id="{B15088C5-41D5-4D8B-74BB-68CF396D18E6}"/>
                </a:ext>
              </a:extLst>
            </p:cNvPr>
            <p:cNvSpPr>
              <a:spLocks noChangeArrowheads="1"/>
            </p:cNvSpPr>
            <p:nvPr/>
          </p:nvSpPr>
          <p:spPr bwMode="auto">
            <a:xfrm>
              <a:off x="3483" y="2614"/>
              <a:ext cx="1316" cy="499"/>
            </a:xfrm>
            <a:prstGeom prst="roundRect">
              <a:avLst>
                <a:gd name="adj" fmla="val 16667"/>
              </a:avLst>
            </a:prstGeom>
            <a:gradFill rotWithShape="1">
              <a:gsLst>
                <a:gs pos="0">
                  <a:srgbClr val="CC00FF"/>
                </a:gs>
                <a:gs pos="50000">
                  <a:srgbClr val="FFFFFF"/>
                </a:gs>
                <a:gs pos="100000">
                  <a:srgbClr val="CC00FF"/>
                </a:gs>
              </a:gsLst>
              <a:lin ang="5400000" scaled="1"/>
            </a:gradFill>
            <a:ln w="9525">
              <a:solidFill>
                <a:schemeClr val="accent1"/>
              </a:solidFill>
              <a:miter lim="800000"/>
              <a:headEnd/>
              <a:tailEnd/>
            </a:ln>
          </p:spPr>
          <p:txBody>
            <a:bodyPr wrap="none" anchor="ctr"/>
            <a:lstStyle>
              <a:lvl1pPr eaLnBrk="0" hangingPunct="0">
                <a:defRPr kumimoji="1" sz="2400">
                  <a:solidFill>
                    <a:schemeClr val="tx1"/>
                  </a:solidFill>
                  <a:latin typeface="Tahoma" panose="020B0604030504040204" pitchFamily="34" charset="0"/>
                  <a:ea typeface="標楷體" panose="03000509000000000000" pitchFamily="65" charset="-120"/>
                </a:defRPr>
              </a:lvl1pPr>
              <a:lvl2pPr marL="742950" indent="-285750" eaLnBrk="0" hangingPunct="0">
                <a:defRPr kumimoji="1" sz="2400">
                  <a:solidFill>
                    <a:schemeClr val="tx1"/>
                  </a:solidFill>
                  <a:latin typeface="Tahoma" panose="020B0604030504040204" pitchFamily="34" charset="0"/>
                  <a:ea typeface="標楷體" panose="03000509000000000000" pitchFamily="65" charset="-120"/>
                </a:defRPr>
              </a:lvl2pPr>
              <a:lvl3pPr marL="1143000" indent="-228600" eaLnBrk="0" hangingPunct="0">
                <a:defRPr kumimoji="1" sz="2400">
                  <a:solidFill>
                    <a:schemeClr val="tx1"/>
                  </a:solidFill>
                  <a:latin typeface="Tahoma" panose="020B0604030504040204" pitchFamily="34" charset="0"/>
                  <a:ea typeface="標楷體" panose="03000509000000000000" pitchFamily="65" charset="-120"/>
                </a:defRPr>
              </a:lvl3pPr>
              <a:lvl4pPr marL="1600200" indent="-228600" eaLnBrk="0" hangingPunct="0">
                <a:defRPr kumimoji="1" sz="2400">
                  <a:solidFill>
                    <a:schemeClr val="tx1"/>
                  </a:solidFill>
                  <a:latin typeface="Tahoma" panose="020B0604030504040204" pitchFamily="34" charset="0"/>
                  <a:ea typeface="標楷體" panose="03000509000000000000" pitchFamily="65" charset="-120"/>
                </a:defRPr>
              </a:lvl4pPr>
              <a:lvl5pPr marL="2057400" indent="-228600" eaLnBrk="0" hangingPunct="0">
                <a:defRPr kumimoji="1" sz="24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9pPr>
            </a:lstStyle>
            <a:p>
              <a:pPr algn="ctr" eaLnBrk="1" hangingPunct="1"/>
              <a:r>
                <a:rPr kumimoji="0" lang="zh-TW" altLang="en-US" dirty="0">
                  <a:latin typeface="微軟正黑體" panose="020B0604030504040204" pitchFamily="34" charset="-120"/>
                  <a:ea typeface="微軟正黑體" panose="020B0604030504040204" pitchFamily="34" charset="-120"/>
                </a:rPr>
                <a:t>政策擬定</a:t>
              </a:r>
            </a:p>
          </p:txBody>
        </p:sp>
        <p:sp>
          <p:nvSpPr>
            <p:cNvPr id="19485" name="AutoShape 7">
              <a:extLst>
                <a:ext uri="{FF2B5EF4-FFF2-40B4-BE49-F238E27FC236}">
                  <a16:creationId xmlns:a16="http://schemas.microsoft.com/office/drawing/2014/main" id="{112FB3AD-F101-2A01-E71A-BBD56B0D8D18}"/>
                </a:ext>
              </a:extLst>
            </p:cNvPr>
            <p:cNvSpPr>
              <a:spLocks noChangeArrowheads="1"/>
            </p:cNvSpPr>
            <p:nvPr/>
          </p:nvSpPr>
          <p:spPr bwMode="auto">
            <a:xfrm>
              <a:off x="1260" y="2659"/>
              <a:ext cx="1316" cy="499"/>
            </a:xfrm>
            <a:prstGeom prst="roundRect">
              <a:avLst>
                <a:gd name="adj" fmla="val 16667"/>
              </a:avLst>
            </a:prstGeom>
            <a:gradFill rotWithShape="1">
              <a:gsLst>
                <a:gs pos="0">
                  <a:srgbClr val="009900"/>
                </a:gs>
                <a:gs pos="50000">
                  <a:srgbClr val="FFFFFF"/>
                </a:gs>
                <a:gs pos="100000">
                  <a:srgbClr val="009900"/>
                </a:gs>
              </a:gsLst>
              <a:lin ang="5400000" scaled="1"/>
            </a:gradFill>
            <a:ln w="9525">
              <a:solidFill>
                <a:schemeClr val="accent1"/>
              </a:solidFill>
              <a:miter lim="800000"/>
              <a:headEnd/>
              <a:tailEnd/>
            </a:ln>
          </p:spPr>
          <p:txBody>
            <a:bodyPr wrap="none" anchor="ctr"/>
            <a:lstStyle>
              <a:lvl1pPr eaLnBrk="0" hangingPunct="0">
                <a:defRPr kumimoji="1" sz="2400">
                  <a:solidFill>
                    <a:schemeClr val="tx1"/>
                  </a:solidFill>
                  <a:latin typeface="Tahoma" panose="020B0604030504040204" pitchFamily="34" charset="0"/>
                  <a:ea typeface="標楷體" panose="03000509000000000000" pitchFamily="65" charset="-120"/>
                </a:defRPr>
              </a:lvl1pPr>
              <a:lvl2pPr marL="742950" indent="-285750" eaLnBrk="0" hangingPunct="0">
                <a:defRPr kumimoji="1" sz="2400">
                  <a:solidFill>
                    <a:schemeClr val="tx1"/>
                  </a:solidFill>
                  <a:latin typeface="Tahoma" panose="020B0604030504040204" pitchFamily="34" charset="0"/>
                  <a:ea typeface="標楷體" panose="03000509000000000000" pitchFamily="65" charset="-120"/>
                </a:defRPr>
              </a:lvl2pPr>
              <a:lvl3pPr marL="1143000" indent="-228600" eaLnBrk="0" hangingPunct="0">
                <a:defRPr kumimoji="1" sz="2400">
                  <a:solidFill>
                    <a:schemeClr val="tx1"/>
                  </a:solidFill>
                  <a:latin typeface="Tahoma" panose="020B0604030504040204" pitchFamily="34" charset="0"/>
                  <a:ea typeface="標楷體" panose="03000509000000000000" pitchFamily="65" charset="-120"/>
                </a:defRPr>
              </a:lvl3pPr>
              <a:lvl4pPr marL="1600200" indent="-228600" eaLnBrk="0" hangingPunct="0">
                <a:defRPr kumimoji="1" sz="2400">
                  <a:solidFill>
                    <a:schemeClr val="tx1"/>
                  </a:solidFill>
                  <a:latin typeface="Tahoma" panose="020B0604030504040204" pitchFamily="34" charset="0"/>
                  <a:ea typeface="標楷體" panose="03000509000000000000" pitchFamily="65" charset="-120"/>
                </a:defRPr>
              </a:lvl4pPr>
              <a:lvl5pPr marL="2057400" indent="-228600" eaLnBrk="0" hangingPunct="0">
                <a:defRPr kumimoji="1" sz="24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9pPr>
            </a:lstStyle>
            <a:p>
              <a:pPr algn="ctr" eaLnBrk="1" hangingPunct="1"/>
              <a:r>
                <a:rPr kumimoji="0" lang="zh-TW" altLang="en-US" dirty="0">
                  <a:latin typeface="微軟正黑體" panose="020B0604030504040204" pitchFamily="34" charset="-120"/>
                  <a:ea typeface="微軟正黑體" panose="020B0604030504040204" pitchFamily="34" charset="-120"/>
                </a:rPr>
                <a:t>資源分配重置</a:t>
              </a:r>
            </a:p>
          </p:txBody>
        </p:sp>
        <p:sp>
          <p:nvSpPr>
            <p:cNvPr id="201736" name="AutoShape 8">
              <a:extLst>
                <a:ext uri="{FF2B5EF4-FFF2-40B4-BE49-F238E27FC236}">
                  <a16:creationId xmlns:a16="http://schemas.microsoft.com/office/drawing/2014/main" id="{4F9AD4DB-4761-FAF1-9E64-46BE9EA52591}"/>
                </a:ext>
              </a:extLst>
            </p:cNvPr>
            <p:cNvSpPr>
              <a:spLocks noChangeArrowheads="1"/>
            </p:cNvSpPr>
            <p:nvPr/>
          </p:nvSpPr>
          <p:spPr bwMode="auto">
            <a:xfrm>
              <a:off x="2349" y="618"/>
              <a:ext cx="1316" cy="499"/>
            </a:xfrm>
            <a:prstGeom prst="roundRect">
              <a:avLst>
                <a:gd name="adj" fmla="val 16667"/>
              </a:avLst>
            </a:prstGeom>
            <a:gradFill rotWithShape="1">
              <a:gsLst>
                <a:gs pos="0">
                  <a:schemeClr val="hlink"/>
                </a:gs>
                <a:gs pos="50000">
                  <a:srgbClr val="FFFFFF"/>
                </a:gs>
                <a:gs pos="100000">
                  <a:schemeClr val="hlink"/>
                </a:gs>
              </a:gsLst>
              <a:lin ang="5400000" scaled="1"/>
            </a:gradFill>
            <a:ln w="9525">
              <a:solidFill>
                <a:schemeClr val="accent1"/>
              </a:solidFill>
              <a:miter lim="800000"/>
              <a:headEnd/>
              <a:tailEnd/>
            </a:ln>
            <a:effectLst/>
          </p:spPr>
          <p:txBody>
            <a:bodyPr wrap="none" anchor="ctr"/>
            <a:lstStyle/>
            <a:p>
              <a:pPr algn="ctr">
                <a:defRPr/>
              </a:pPr>
              <a:r>
                <a:rPr kumimoji="0" lang="zh-TW" altLang="en-US" dirty="0">
                  <a:latin typeface="微軟正黑體" panose="020B0604030504040204" pitchFamily="34" charset="-120"/>
                  <a:ea typeface="微軟正黑體" panose="020B0604030504040204" pitchFamily="34" charset="-120"/>
                </a:rPr>
                <a:t>立法修法</a:t>
              </a:r>
            </a:p>
          </p:txBody>
        </p:sp>
      </p:grpSp>
      <p:sp>
        <p:nvSpPr>
          <p:cNvPr id="19461" name="Oval 9">
            <a:extLst>
              <a:ext uri="{FF2B5EF4-FFF2-40B4-BE49-F238E27FC236}">
                <a16:creationId xmlns:a16="http://schemas.microsoft.com/office/drawing/2014/main" id="{A60AE1EB-B1C8-D090-2B77-E8CEF7CE879B}"/>
              </a:ext>
            </a:extLst>
          </p:cNvPr>
          <p:cNvSpPr>
            <a:spLocks noChangeArrowheads="1"/>
          </p:cNvSpPr>
          <p:nvPr/>
        </p:nvSpPr>
        <p:spPr bwMode="auto">
          <a:xfrm>
            <a:off x="2436813" y="287338"/>
            <a:ext cx="1008062" cy="1008062"/>
          </a:xfrm>
          <a:prstGeom prst="ellipse">
            <a:avLst/>
          </a:prstGeom>
          <a:solidFill>
            <a:schemeClr val="accent2"/>
          </a:solidFill>
          <a:ln w="9525">
            <a:solidFill>
              <a:schemeClr val="accent1"/>
            </a:solidFill>
            <a:miter lim="800000"/>
            <a:headEnd/>
            <a:tailEnd/>
          </a:ln>
        </p:spPr>
        <p:txBody>
          <a:bodyPr wrap="none" anchor="ctr"/>
          <a:lstStyle>
            <a:lvl1pPr eaLnBrk="0" hangingPunct="0">
              <a:defRPr kumimoji="1" sz="2400">
                <a:solidFill>
                  <a:schemeClr val="tx1"/>
                </a:solidFill>
                <a:latin typeface="Tahoma" panose="020B0604030504040204" pitchFamily="34" charset="0"/>
                <a:ea typeface="標楷體" panose="03000509000000000000" pitchFamily="65" charset="-120"/>
              </a:defRPr>
            </a:lvl1pPr>
            <a:lvl2pPr marL="742950" indent="-285750" eaLnBrk="0" hangingPunct="0">
              <a:defRPr kumimoji="1" sz="2400">
                <a:solidFill>
                  <a:schemeClr val="tx1"/>
                </a:solidFill>
                <a:latin typeface="Tahoma" panose="020B0604030504040204" pitchFamily="34" charset="0"/>
                <a:ea typeface="標楷體" panose="03000509000000000000" pitchFamily="65" charset="-120"/>
              </a:defRPr>
            </a:lvl2pPr>
            <a:lvl3pPr marL="1143000" indent="-228600" eaLnBrk="0" hangingPunct="0">
              <a:defRPr kumimoji="1" sz="2400">
                <a:solidFill>
                  <a:schemeClr val="tx1"/>
                </a:solidFill>
                <a:latin typeface="Tahoma" panose="020B0604030504040204" pitchFamily="34" charset="0"/>
                <a:ea typeface="標楷體" panose="03000509000000000000" pitchFamily="65" charset="-120"/>
              </a:defRPr>
            </a:lvl3pPr>
            <a:lvl4pPr marL="1600200" indent="-228600" eaLnBrk="0" hangingPunct="0">
              <a:defRPr kumimoji="1" sz="2400">
                <a:solidFill>
                  <a:schemeClr val="tx1"/>
                </a:solidFill>
                <a:latin typeface="Tahoma" panose="020B0604030504040204" pitchFamily="34" charset="0"/>
                <a:ea typeface="標楷體" panose="03000509000000000000" pitchFamily="65" charset="-120"/>
              </a:defRPr>
            </a:lvl4pPr>
            <a:lvl5pPr marL="2057400" indent="-228600" eaLnBrk="0" hangingPunct="0">
              <a:defRPr kumimoji="1" sz="24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9pPr>
          </a:lstStyle>
          <a:p>
            <a:pPr algn="ctr" eaLnBrk="1" hangingPunct="1"/>
            <a:r>
              <a:rPr kumimoji="0" lang="zh-TW" altLang="en-US">
                <a:latin typeface="Times New Roman" panose="02020603050405020304" pitchFamily="18" charset="0"/>
              </a:rPr>
              <a:t>勞動</a:t>
            </a:r>
          </a:p>
        </p:txBody>
      </p:sp>
      <p:sp>
        <p:nvSpPr>
          <p:cNvPr id="19462" name="Oval 10">
            <a:extLst>
              <a:ext uri="{FF2B5EF4-FFF2-40B4-BE49-F238E27FC236}">
                <a16:creationId xmlns:a16="http://schemas.microsoft.com/office/drawing/2014/main" id="{6493B17C-3270-D2B4-70A9-C25297924A74}"/>
              </a:ext>
            </a:extLst>
          </p:cNvPr>
          <p:cNvSpPr>
            <a:spLocks noChangeArrowheads="1"/>
          </p:cNvSpPr>
          <p:nvPr/>
        </p:nvSpPr>
        <p:spPr bwMode="auto">
          <a:xfrm>
            <a:off x="1276350" y="1460500"/>
            <a:ext cx="1008063" cy="1008063"/>
          </a:xfrm>
          <a:prstGeom prst="ellipse">
            <a:avLst/>
          </a:prstGeom>
          <a:solidFill>
            <a:srgbClr val="99CCFF"/>
          </a:solidFill>
          <a:ln w="9525">
            <a:solidFill>
              <a:schemeClr val="accent1"/>
            </a:solidFill>
            <a:miter lim="800000"/>
            <a:headEnd/>
            <a:tailEnd/>
          </a:ln>
        </p:spPr>
        <p:txBody>
          <a:bodyPr wrap="none" anchor="ctr"/>
          <a:lstStyle>
            <a:lvl1pPr eaLnBrk="0" hangingPunct="0">
              <a:defRPr kumimoji="1" sz="2400">
                <a:solidFill>
                  <a:schemeClr val="tx1"/>
                </a:solidFill>
                <a:latin typeface="Tahoma" panose="020B0604030504040204" pitchFamily="34" charset="0"/>
                <a:ea typeface="標楷體" panose="03000509000000000000" pitchFamily="65" charset="-120"/>
              </a:defRPr>
            </a:lvl1pPr>
            <a:lvl2pPr marL="742950" indent="-285750" eaLnBrk="0" hangingPunct="0">
              <a:defRPr kumimoji="1" sz="2400">
                <a:solidFill>
                  <a:schemeClr val="tx1"/>
                </a:solidFill>
                <a:latin typeface="Tahoma" panose="020B0604030504040204" pitchFamily="34" charset="0"/>
                <a:ea typeface="標楷體" panose="03000509000000000000" pitchFamily="65" charset="-120"/>
              </a:defRPr>
            </a:lvl2pPr>
            <a:lvl3pPr marL="1143000" indent="-228600" eaLnBrk="0" hangingPunct="0">
              <a:defRPr kumimoji="1" sz="2400">
                <a:solidFill>
                  <a:schemeClr val="tx1"/>
                </a:solidFill>
                <a:latin typeface="Tahoma" panose="020B0604030504040204" pitchFamily="34" charset="0"/>
                <a:ea typeface="標楷體" panose="03000509000000000000" pitchFamily="65" charset="-120"/>
              </a:defRPr>
            </a:lvl3pPr>
            <a:lvl4pPr marL="1600200" indent="-228600" eaLnBrk="0" hangingPunct="0">
              <a:defRPr kumimoji="1" sz="2400">
                <a:solidFill>
                  <a:schemeClr val="tx1"/>
                </a:solidFill>
                <a:latin typeface="Tahoma" panose="020B0604030504040204" pitchFamily="34" charset="0"/>
                <a:ea typeface="標楷體" panose="03000509000000000000" pitchFamily="65" charset="-120"/>
              </a:defRPr>
            </a:lvl4pPr>
            <a:lvl5pPr marL="2057400" indent="-228600" eaLnBrk="0" hangingPunct="0">
              <a:defRPr kumimoji="1" sz="24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9pPr>
          </a:lstStyle>
          <a:p>
            <a:pPr algn="ctr" eaLnBrk="1" hangingPunct="1"/>
            <a:r>
              <a:rPr kumimoji="0" lang="zh-TW" altLang="en-US">
                <a:latin typeface="Times New Roman" panose="02020603050405020304" pitchFamily="18" charset="0"/>
              </a:rPr>
              <a:t>福利</a:t>
            </a:r>
          </a:p>
        </p:txBody>
      </p:sp>
      <p:sp>
        <p:nvSpPr>
          <p:cNvPr id="19463" name="Oval 11">
            <a:extLst>
              <a:ext uri="{FF2B5EF4-FFF2-40B4-BE49-F238E27FC236}">
                <a16:creationId xmlns:a16="http://schemas.microsoft.com/office/drawing/2014/main" id="{FB2E1EC5-88B2-0DE5-D131-73EF1D5F75A1}"/>
              </a:ext>
            </a:extLst>
          </p:cNvPr>
          <p:cNvSpPr>
            <a:spLocks noChangeArrowheads="1"/>
          </p:cNvSpPr>
          <p:nvPr/>
        </p:nvSpPr>
        <p:spPr bwMode="auto">
          <a:xfrm>
            <a:off x="790575" y="2954338"/>
            <a:ext cx="1008063" cy="1008062"/>
          </a:xfrm>
          <a:prstGeom prst="ellipse">
            <a:avLst/>
          </a:prstGeom>
          <a:solidFill>
            <a:srgbClr val="CCFF66"/>
          </a:solidFill>
          <a:ln w="9525">
            <a:solidFill>
              <a:schemeClr val="accent1"/>
            </a:solidFill>
            <a:miter lim="800000"/>
            <a:headEnd/>
            <a:tailEnd/>
          </a:ln>
        </p:spPr>
        <p:txBody>
          <a:bodyPr wrap="none" anchor="ctr"/>
          <a:lstStyle>
            <a:lvl1pPr eaLnBrk="0" hangingPunct="0">
              <a:defRPr kumimoji="1" sz="2400">
                <a:solidFill>
                  <a:schemeClr val="tx1"/>
                </a:solidFill>
                <a:latin typeface="Tahoma" panose="020B0604030504040204" pitchFamily="34" charset="0"/>
                <a:ea typeface="標楷體" panose="03000509000000000000" pitchFamily="65" charset="-120"/>
              </a:defRPr>
            </a:lvl1pPr>
            <a:lvl2pPr marL="742950" indent="-285750" eaLnBrk="0" hangingPunct="0">
              <a:defRPr kumimoji="1" sz="2400">
                <a:solidFill>
                  <a:schemeClr val="tx1"/>
                </a:solidFill>
                <a:latin typeface="Tahoma" panose="020B0604030504040204" pitchFamily="34" charset="0"/>
                <a:ea typeface="標楷體" panose="03000509000000000000" pitchFamily="65" charset="-120"/>
              </a:defRPr>
            </a:lvl2pPr>
            <a:lvl3pPr marL="1143000" indent="-228600" eaLnBrk="0" hangingPunct="0">
              <a:defRPr kumimoji="1" sz="2400">
                <a:solidFill>
                  <a:schemeClr val="tx1"/>
                </a:solidFill>
                <a:latin typeface="Tahoma" panose="020B0604030504040204" pitchFamily="34" charset="0"/>
                <a:ea typeface="標楷體" panose="03000509000000000000" pitchFamily="65" charset="-120"/>
              </a:defRPr>
            </a:lvl3pPr>
            <a:lvl4pPr marL="1600200" indent="-228600" eaLnBrk="0" hangingPunct="0">
              <a:defRPr kumimoji="1" sz="2400">
                <a:solidFill>
                  <a:schemeClr val="tx1"/>
                </a:solidFill>
                <a:latin typeface="Tahoma" panose="020B0604030504040204" pitchFamily="34" charset="0"/>
                <a:ea typeface="標楷體" panose="03000509000000000000" pitchFamily="65" charset="-120"/>
              </a:defRPr>
            </a:lvl4pPr>
            <a:lvl5pPr marL="2057400" indent="-228600" eaLnBrk="0" hangingPunct="0">
              <a:defRPr kumimoji="1" sz="24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9pPr>
          </a:lstStyle>
          <a:p>
            <a:pPr algn="ctr" eaLnBrk="1" hangingPunct="1"/>
            <a:r>
              <a:rPr kumimoji="0" lang="zh-TW" altLang="en-US">
                <a:latin typeface="Times New Roman" panose="02020603050405020304" pitchFamily="18" charset="0"/>
              </a:rPr>
              <a:t>教育</a:t>
            </a:r>
          </a:p>
        </p:txBody>
      </p:sp>
      <p:sp>
        <p:nvSpPr>
          <p:cNvPr id="19464" name="Oval 12">
            <a:extLst>
              <a:ext uri="{FF2B5EF4-FFF2-40B4-BE49-F238E27FC236}">
                <a16:creationId xmlns:a16="http://schemas.microsoft.com/office/drawing/2014/main" id="{6D63F20E-4ADC-DCA1-A4A3-B1B7A5858D16}"/>
              </a:ext>
            </a:extLst>
          </p:cNvPr>
          <p:cNvSpPr>
            <a:spLocks noChangeArrowheads="1"/>
          </p:cNvSpPr>
          <p:nvPr/>
        </p:nvSpPr>
        <p:spPr bwMode="auto">
          <a:xfrm>
            <a:off x="869950" y="4518025"/>
            <a:ext cx="1008063" cy="1008063"/>
          </a:xfrm>
          <a:prstGeom prst="ellipse">
            <a:avLst/>
          </a:prstGeom>
          <a:solidFill>
            <a:srgbClr val="FFCCCC"/>
          </a:solidFill>
          <a:ln w="9525">
            <a:solidFill>
              <a:schemeClr val="accent1"/>
            </a:solidFill>
            <a:miter lim="800000"/>
            <a:headEnd/>
            <a:tailEnd/>
          </a:ln>
        </p:spPr>
        <p:txBody>
          <a:bodyPr wrap="none" anchor="ctr"/>
          <a:lstStyle>
            <a:lvl1pPr eaLnBrk="0" hangingPunct="0">
              <a:defRPr kumimoji="1" sz="2400">
                <a:solidFill>
                  <a:schemeClr val="tx1"/>
                </a:solidFill>
                <a:latin typeface="Tahoma" panose="020B0604030504040204" pitchFamily="34" charset="0"/>
                <a:ea typeface="標楷體" panose="03000509000000000000" pitchFamily="65" charset="-120"/>
              </a:defRPr>
            </a:lvl1pPr>
            <a:lvl2pPr marL="742950" indent="-285750" eaLnBrk="0" hangingPunct="0">
              <a:defRPr kumimoji="1" sz="2400">
                <a:solidFill>
                  <a:schemeClr val="tx1"/>
                </a:solidFill>
                <a:latin typeface="Tahoma" panose="020B0604030504040204" pitchFamily="34" charset="0"/>
                <a:ea typeface="標楷體" panose="03000509000000000000" pitchFamily="65" charset="-120"/>
              </a:defRPr>
            </a:lvl2pPr>
            <a:lvl3pPr marL="1143000" indent="-228600" eaLnBrk="0" hangingPunct="0">
              <a:defRPr kumimoji="1" sz="2400">
                <a:solidFill>
                  <a:schemeClr val="tx1"/>
                </a:solidFill>
                <a:latin typeface="Tahoma" panose="020B0604030504040204" pitchFamily="34" charset="0"/>
                <a:ea typeface="標楷體" panose="03000509000000000000" pitchFamily="65" charset="-120"/>
              </a:defRPr>
            </a:lvl3pPr>
            <a:lvl4pPr marL="1600200" indent="-228600" eaLnBrk="0" hangingPunct="0">
              <a:defRPr kumimoji="1" sz="2400">
                <a:solidFill>
                  <a:schemeClr val="tx1"/>
                </a:solidFill>
                <a:latin typeface="Tahoma" panose="020B0604030504040204" pitchFamily="34" charset="0"/>
                <a:ea typeface="標楷體" panose="03000509000000000000" pitchFamily="65" charset="-120"/>
              </a:defRPr>
            </a:lvl4pPr>
            <a:lvl5pPr marL="2057400" indent="-228600" eaLnBrk="0" hangingPunct="0">
              <a:defRPr kumimoji="1" sz="24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9pPr>
          </a:lstStyle>
          <a:p>
            <a:pPr algn="ctr" eaLnBrk="1" hangingPunct="1"/>
            <a:r>
              <a:rPr kumimoji="0" lang="zh-TW" altLang="en-US">
                <a:latin typeface="Times New Roman" panose="02020603050405020304" pitchFamily="18" charset="0"/>
              </a:rPr>
              <a:t>文化</a:t>
            </a:r>
          </a:p>
        </p:txBody>
      </p:sp>
      <p:sp>
        <p:nvSpPr>
          <p:cNvPr id="19465" name="Oval 13">
            <a:extLst>
              <a:ext uri="{FF2B5EF4-FFF2-40B4-BE49-F238E27FC236}">
                <a16:creationId xmlns:a16="http://schemas.microsoft.com/office/drawing/2014/main" id="{8A2BAC0D-57E9-16FA-B3A8-4217255EB11F}"/>
              </a:ext>
            </a:extLst>
          </p:cNvPr>
          <p:cNvSpPr>
            <a:spLocks noChangeArrowheads="1"/>
          </p:cNvSpPr>
          <p:nvPr/>
        </p:nvSpPr>
        <p:spPr bwMode="auto">
          <a:xfrm>
            <a:off x="2133600" y="5635625"/>
            <a:ext cx="1008063" cy="1008063"/>
          </a:xfrm>
          <a:prstGeom prst="ellipse">
            <a:avLst/>
          </a:prstGeom>
          <a:solidFill>
            <a:srgbClr val="CCFFFF"/>
          </a:solidFill>
          <a:ln w="9525">
            <a:solidFill>
              <a:schemeClr val="accent1"/>
            </a:solidFill>
            <a:miter lim="800000"/>
            <a:headEnd/>
            <a:tailEnd/>
          </a:ln>
        </p:spPr>
        <p:txBody>
          <a:bodyPr wrap="none" anchor="ctr"/>
          <a:lstStyle>
            <a:lvl1pPr eaLnBrk="0" hangingPunct="0">
              <a:defRPr kumimoji="1" sz="2400">
                <a:solidFill>
                  <a:schemeClr val="tx1"/>
                </a:solidFill>
                <a:latin typeface="Tahoma" panose="020B0604030504040204" pitchFamily="34" charset="0"/>
                <a:ea typeface="標楷體" panose="03000509000000000000" pitchFamily="65" charset="-120"/>
              </a:defRPr>
            </a:lvl1pPr>
            <a:lvl2pPr marL="742950" indent="-285750" eaLnBrk="0" hangingPunct="0">
              <a:defRPr kumimoji="1" sz="2400">
                <a:solidFill>
                  <a:schemeClr val="tx1"/>
                </a:solidFill>
                <a:latin typeface="Tahoma" panose="020B0604030504040204" pitchFamily="34" charset="0"/>
                <a:ea typeface="標楷體" panose="03000509000000000000" pitchFamily="65" charset="-120"/>
              </a:defRPr>
            </a:lvl2pPr>
            <a:lvl3pPr marL="1143000" indent="-228600" eaLnBrk="0" hangingPunct="0">
              <a:defRPr kumimoji="1" sz="2400">
                <a:solidFill>
                  <a:schemeClr val="tx1"/>
                </a:solidFill>
                <a:latin typeface="Tahoma" panose="020B0604030504040204" pitchFamily="34" charset="0"/>
                <a:ea typeface="標楷體" panose="03000509000000000000" pitchFamily="65" charset="-120"/>
              </a:defRPr>
            </a:lvl3pPr>
            <a:lvl4pPr marL="1600200" indent="-228600" eaLnBrk="0" hangingPunct="0">
              <a:defRPr kumimoji="1" sz="2400">
                <a:solidFill>
                  <a:schemeClr val="tx1"/>
                </a:solidFill>
                <a:latin typeface="Tahoma" panose="020B0604030504040204" pitchFamily="34" charset="0"/>
                <a:ea typeface="標楷體" panose="03000509000000000000" pitchFamily="65" charset="-120"/>
              </a:defRPr>
            </a:lvl4pPr>
            <a:lvl5pPr marL="2057400" indent="-228600" eaLnBrk="0" hangingPunct="0">
              <a:defRPr kumimoji="1" sz="24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9pPr>
          </a:lstStyle>
          <a:p>
            <a:pPr algn="ctr" eaLnBrk="1" hangingPunct="1"/>
            <a:r>
              <a:rPr kumimoji="0" lang="zh-TW" altLang="en-US">
                <a:latin typeface="Times New Roman" panose="02020603050405020304" pitchFamily="18" charset="0"/>
              </a:rPr>
              <a:t>環保</a:t>
            </a:r>
          </a:p>
        </p:txBody>
      </p:sp>
      <p:sp>
        <p:nvSpPr>
          <p:cNvPr id="19466" name="Oval 14">
            <a:extLst>
              <a:ext uri="{FF2B5EF4-FFF2-40B4-BE49-F238E27FC236}">
                <a16:creationId xmlns:a16="http://schemas.microsoft.com/office/drawing/2014/main" id="{3BA342BC-6EEB-D35F-72FD-45431739AA2A}"/>
              </a:ext>
            </a:extLst>
          </p:cNvPr>
          <p:cNvSpPr>
            <a:spLocks noChangeArrowheads="1"/>
          </p:cNvSpPr>
          <p:nvPr/>
        </p:nvSpPr>
        <p:spPr bwMode="auto">
          <a:xfrm flipH="1">
            <a:off x="6105525" y="260350"/>
            <a:ext cx="1008063" cy="1008063"/>
          </a:xfrm>
          <a:prstGeom prst="ellipse">
            <a:avLst/>
          </a:prstGeom>
          <a:solidFill>
            <a:schemeClr val="accent2"/>
          </a:solidFill>
          <a:ln w="9525">
            <a:solidFill>
              <a:schemeClr val="accent1"/>
            </a:solidFill>
            <a:miter lim="800000"/>
            <a:headEnd/>
            <a:tailEnd/>
          </a:ln>
        </p:spPr>
        <p:txBody>
          <a:bodyPr wrap="none" anchor="ctr"/>
          <a:lstStyle>
            <a:lvl1pPr eaLnBrk="0" hangingPunct="0">
              <a:defRPr kumimoji="1" sz="2400">
                <a:solidFill>
                  <a:schemeClr val="tx1"/>
                </a:solidFill>
                <a:latin typeface="Tahoma" panose="020B0604030504040204" pitchFamily="34" charset="0"/>
                <a:ea typeface="標楷體" panose="03000509000000000000" pitchFamily="65" charset="-120"/>
              </a:defRPr>
            </a:lvl1pPr>
            <a:lvl2pPr marL="742950" indent="-285750" eaLnBrk="0" hangingPunct="0">
              <a:defRPr kumimoji="1" sz="2400">
                <a:solidFill>
                  <a:schemeClr val="tx1"/>
                </a:solidFill>
                <a:latin typeface="Tahoma" panose="020B0604030504040204" pitchFamily="34" charset="0"/>
                <a:ea typeface="標楷體" panose="03000509000000000000" pitchFamily="65" charset="-120"/>
              </a:defRPr>
            </a:lvl2pPr>
            <a:lvl3pPr marL="1143000" indent="-228600" eaLnBrk="0" hangingPunct="0">
              <a:defRPr kumimoji="1" sz="2400">
                <a:solidFill>
                  <a:schemeClr val="tx1"/>
                </a:solidFill>
                <a:latin typeface="Tahoma" panose="020B0604030504040204" pitchFamily="34" charset="0"/>
                <a:ea typeface="標楷體" panose="03000509000000000000" pitchFamily="65" charset="-120"/>
              </a:defRPr>
            </a:lvl3pPr>
            <a:lvl4pPr marL="1600200" indent="-228600" eaLnBrk="0" hangingPunct="0">
              <a:defRPr kumimoji="1" sz="2400">
                <a:solidFill>
                  <a:schemeClr val="tx1"/>
                </a:solidFill>
                <a:latin typeface="Tahoma" panose="020B0604030504040204" pitchFamily="34" charset="0"/>
                <a:ea typeface="標楷體" panose="03000509000000000000" pitchFamily="65" charset="-120"/>
              </a:defRPr>
            </a:lvl4pPr>
            <a:lvl5pPr marL="2057400" indent="-228600" eaLnBrk="0" hangingPunct="0">
              <a:defRPr kumimoji="1" sz="24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9pPr>
          </a:lstStyle>
          <a:p>
            <a:pPr algn="ctr" eaLnBrk="1" hangingPunct="1"/>
            <a:r>
              <a:rPr kumimoji="0" lang="zh-TW" altLang="en-US" dirty="0">
                <a:latin typeface="Times New Roman" panose="02020603050405020304" pitchFamily="18" charset="0"/>
              </a:rPr>
              <a:t>金融</a:t>
            </a:r>
          </a:p>
        </p:txBody>
      </p:sp>
      <p:sp>
        <p:nvSpPr>
          <p:cNvPr id="19467" name="Oval 15">
            <a:extLst>
              <a:ext uri="{FF2B5EF4-FFF2-40B4-BE49-F238E27FC236}">
                <a16:creationId xmlns:a16="http://schemas.microsoft.com/office/drawing/2014/main" id="{BD35574F-9218-49FB-BD30-340109E0E673}"/>
              </a:ext>
            </a:extLst>
          </p:cNvPr>
          <p:cNvSpPr>
            <a:spLocks noChangeArrowheads="1"/>
          </p:cNvSpPr>
          <p:nvPr/>
        </p:nvSpPr>
        <p:spPr bwMode="auto">
          <a:xfrm flipH="1">
            <a:off x="7164388" y="1539875"/>
            <a:ext cx="1008062" cy="1008063"/>
          </a:xfrm>
          <a:prstGeom prst="ellipse">
            <a:avLst/>
          </a:prstGeom>
          <a:solidFill>
            <a:srgbClr val="99CCFF"/>
          </a:solidFill>
          <a:ln w="9525">
            <a:solidFill>
              <a:schemeClr val="accent1"/>
            </a:solidFill>
            <a:miter lim="800000"/>
            <a:headEnd/>
            <a:tailEnd/>
          </a:ln>
        </p:spPr>
        <p:txBody>
          <a:bodyPr wrap="none" anchor="ctr"/>
          <a:lstStyle>
            <a:lvl1pPr eaLnBrk="0" hangingPunct="0">
              <a:defRPr kumimoji="1" sz="2400">
                <a:solidFill>
                  <a:schemeClr val="tx1"/>
                </a:solidFill>
                <a:latin typeface="Tahoma" panose="020B0604030504040204" pitchFamily="34" charset="0"/>
                <a:ea typeface="標楷體" panose="03000509000000000000" pitchFamily="65" charset="-120"/>
              </a:defRPr>
            </a:lvl1pPr>
            <a:lvl2pPr marL="742950" indent="-285750" eaLnBrk="0" hangingPunct="0">
              <a:defRPr kumimoji="1" sz="2400">
                <a:solidFill>
                  <a:schemeClr val="tx1"/>
                </a:solidFill>
                <a:latin typeface="Tahoma" panose="020B0604030504040204" pitchFamily="34" charset="0"/>
                <a:ea typeface="標楷體" panose="03000509000000000000" pitchFamily="65" charset="-120"/>
              </a:defRPr>
            </a:lvl2pPr>
            <a:lvl3pPr marL="1143000" indent="-228600" eaLnBrk="0" hangingPunct="0">
              <a:defRPr kumimoji="1" sz="2400">
                <a:solidFill>
                  <a:schemeClr val="tx1"/>
                </a:solidFill>
                <a:latin typeface="Tahoma" panose="020B0604030504040204" pitchFamily="34" charset="0"/>
                <a:ea typeface="標楷體" panose="03000509000000000000" pitchFamily="65" charset="-120"/>
              </a:defRPr>
            </a:lvl3pPr>
            <a:lvl4pPr marL="1600200" indent="-228600" eaLnBrk="0" hangingPunct="0">
              <a:defRPr kumimoji="1" sz="2400">
                <a:solidFill>
                  <a:schemeClr val="tx1"/>
                </a:solidFill>
                <a:latin typeface="Tahoma" panose="020B0604030504040204" pitchFamily="34" charset="0"/>
                <a:ea typeface="標楷體" panose="03000509000000000000" pitchFamily="65" charset="-120"/>
              </a:defRPr>
            </a:lvl4pPr>
            <a:lvl5pPr marL="2057400" indent="-228600" eaLnBrk="0" hangingPunct="0">
              <a:defRPr kumimoji="1" sz="24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9pPr>
          </a:lstStyle>
          <a:p>
            <a:pPr algn="ctr" eaLnBrk="1" hangingPunct="1"/>
            <a:r>
              <a:rPr kumimoji="0" lang="zh-TW" altLang="en-US">
                <a:latin typeface="Times New Roman" panose="02020603050405020304" pitchFamily="18" charset="0"/>
              </a:rPr>
              <a:t>經濟</a:t>
            </a:r>
          </a:p>
        </p:txBody>
      </p:sp>
      <p:sp>
        <p:nvSpPr>
          <p:cNvPr id="19468" name="Oval 16">
            <a:extLst>
              <a:ext uri="{FF2B5EF4-FFF2-40B4-BE49-F238E27FC236}">
                <a16:creationId xmlns:a16="http://schemas.microsoft.com/office/drawing/2014/main" id="{1BDE18B4-6ED1-DFA1-035C-019587FF9894}"/>
              </a:ext>
            </a:extLst>
          </p:cNvPr>
          <p:cNvSpPr>
            <a:spLocks noChangeArrowheads="1"/>
          </p:cNvSpPr>
          <p:nvPr/>
        </p:nvSpPr>
        <p:spPr bwMode="auto">
          <a:xfrm flipH="1">
            <a:off x="7707313" y="2911475"/>
            <a:ext cx="1008062" cy="1008063"/>
          </a:xfrm>
          <a:prstGeom prst="ellipse">
            <a:avLst/>
          </a:prstGeom>
          <a:solidFill>
            <a:srgbClr val="CCFF66"/>
          </a:solidFill>
          <a:ln w="9525">
            <a:solidFill>
              <a:schemeClr val="accent1"/>
            </a:solidFill>
            <a:miter lim="800000"/>
            <a:headEnd/>
            <a:tailEnd/>
          </a:ln>
        </p:spPr>
        <p:txBody>
          <a:bodyPr wrap="none" anchor="ctr"/>
          <a:lstStyle>
            <a:lvl1pPr eaLnBrk="0" hangingPunct="0">
              <a:defRPr kumimoji="1" sz="2400">
                <a:solidFill>
                  <a:schemeClr val="tx1"/>
                </a:solidFill>
                <a:latin typeface="Tahoma" panose="020B0604030504040204" pitchFamily="34" charset="0"/>
                <a:ea typeface="標楷體" panose="03000509000000000000" pitchFamily="65" charset="-120"/>
              </a:defRPr>
            </a:lvl1pPr>
            <a:lvl2pPr marL="742950" indent="-285750" eaLnBrk="0" hangingPunct="0">
              <a:defRPr kumimoji="1" sz="2400">
                <a:solidFill>
                  <a:schemeClr val="tx1"/>
                </a:solidFill>
                <a:latin typeface="Tahoma" panose="020B0604030504040204" pitchFamily="34" charset="0"/>
                <a:ea typeface="標楷體" panose="03000509000000000000" pitchFamily="65" charset="-120"/>
              </a:defRPr>
            </a:lvl2pPr>
            <a:lvl3pPr marL="1143000" indent="-228600" eaLnBrk="0" hangingPunct="0">
              <a:defRPr kumimoji="1" sz="2400">
                <a:solidFill>
                  <a:schemeClr val="tx1"/>
                </a:solidFill>
                <a:latin typeface="Tahoma" panose="020B0604030504040204" pitchFamily="34" charset="0"/>
                <a:ea typeface="標楷體" panose="03000509000000000000" pitchFamily="65" charset="-120"/>
              </a:defRPr>
            </a:lvl3pPr>
            <a:lvl4pPr marL="1600200" indent="-228600" eaLnBrk="0" hangingPunct="0">
              <a:defRPr kumimoji="1" sz="2400">
                <a:solidFill>
                  <a:schemeClr val="tx1"/>
                </a:solidFill>
                <a:latin typeface="Tahoma" panose="020B0604030504040204" pitchFamily="34" charset="0"/>
                <a:ea typeface="標楷體" panose="03000509000000000000" pitchFamily="65" charset="-120"/>
              </a:defRPr>
            </a:lvl4pPr>
            <a:lvl5pPr marL="2057400" indent="-228600" eaLnBrk="0" hangingPunct="0">
              <a:defRPr kumimoji="1" sz="24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9pPr>
          </a:lstStyle>
          <a:p>
            <a:pPr algn="ctr" eaLnBrk="1" hangingPunct="1"/>
            <a:r>
              <a:rPr kumimoji="0" lang="zh-TW" altLang="en-US">
                <a:latin typeface="Times New Roman" panose="02020603050405020304" pitchFamily="18" charset="0"/>
              </a:rPr>
              <a:t>醫療</a:t>
            </a:r>
          </a:p>
        </p:txBody>
      </p:sp>
      <p:sp>
        <p:nvSpPr>
          <p:cNvPr id="19469" name="Oval 17">
            <a:extLst>
              <a:ext uri="{FF2B5EF4-FFF2-40B4-BE49-F238E27FC236}">
                <a16:creationId xmlns:a16="http://schemas.microsoft.com/office/drawing/2014/main" id="{8D986D16-3CEA-D9CD-D3FD-A6E28015344B}"/>
              </a:ext>
            </a:extLst>
          </p:cNvPr>
          <p:cNvSpPr>
            <a:spLocks noChangeArrowheads="1"/>
          </p:cNvSpPr>
          <p:nvPr/>
        </p:nvSpPr>
        <p:spPr bwMode="auto">
          <a:xfrm flipH="1">
            <a:off x="7770813" y="4527550"/>
            <a:ext cx="1008062" cy="1008063"/>
          </a:xfrm>
          <a:prstGeom prst="ellipse">
            <a:avLst/>
          </a:prstGeom>
          <a:solidFill>
            <a:srgbClr val="FFCCCC"/>
          </a:solidFill>
          <a:ln w="9525">
            <a:solidFill>
              <a:schemeClr val="accent1"/>
            </a:solidFill>
            <a:miter lim="800000"/>
            <a:headEnd/>
            <a:tailEnd/>
          </a:ln>
        </p:spPr>
        <p:txBody>
          <a:bodyPr wrap="none" anchor="ctr"/>
          <a:lstStyle>
            <a:lvl1pPr eaLnBrk="0" hangingPunct="0">
              <a:defRPr kumimoji="1" sz="2400">
                <a:solidFill>
                  <a:schemeClr val="tx1"/>
                </a:solidFill>
                <a:latin typeface="Tahoma" panose="020B0604030504040204" pitchFamily="34" charset="0"/>
                <a:ea typeface="標楷體" panose="03000509000000000000" pitchFamily="65" charset="-120"/>
              </a:defRPr>
            </a:lvl1pPr>
            <a:lvl2pPr marL="742950" indent="-285750" eaLnBrk="0" hangingPunct="0">
              <a:defRPr kumimoji="1" sz="2400">
                <a:solidFill>
                  <a:schemeClr val="tx1"/>
                </a:solidFill>
                <a:latin typeface="Tahoma" panose="020B0604030504040204" pitchFamily="34" charset="0"/>
                <a:ea typeface="標楷體" panose="03000509000000000000" pitchFamily="65" charset="-120"/>
              </a:defRPr>
            </a:lvl2pPr>
            <a:lvl3pPr marL="1143000" indent="-228600" eaLnBrk="0" hangingPunct="0">
              <a:defRPr kumimoji="1" sz="2400">
                <a:solidFill>
                  <a:schemeClr val="tx1"/>
                </a:solidFill>
                <a:latin typeface="Tahoma" panose="020B0604030504040204" pitchFamily="34" charset="0"/>
                <a:ea typeface="標楷體" panose="03000509000000000000" pitchFamily="65" charset="-120"/>
              </a:defRPr>
            </a:lvl3pPr>
            <a:lvl4pPr marL="1600200" indent="-228600" eaLnBrk="0" hangingPunct="0">
              <a:defRPr kumimoji="1" sz="2400">
                <a:solidFill>
                  <a:schemeClr val="tx1"/>
                </a:solidFill>
                <a:latin typeface="Tahoma" panose="020B0604030504040204" pitchFamily="34" charset="0"/>
                <a:ea typeface="標楷體" panose="03000509000000000000" pitchFamily="65" charset="-120"/>
              </a:defRPr>
            </a:lvl4pPr>
            <a:lvl5pPr marL="2057400" indent="-228600" eaLnBrk="0" hangingPunct="0">
              <a:defRPr kumimoji="1" sz="24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9pPr>
          </a:lstStyle>
          <a:p>
            <a:pPr algn="ctr" eaLnBrk="1" hangingPunct="1"/>
            <a:r>
              <a:rPr kumimoji="0" lang="zh-TW" altLang="en-US">
                <a:latin typeface="Times New Roman" panose="02020603050405020304" pitchFamily="18" charset="0"/>
              </a:rPr>
              <a:t>健康</a:t>
            </a:r>
          </a:p>
        </p:txBody>
      </p:sp>
      <p:sp>
        <p:nvSpPr>
          <p:cNvPr id="19470" name="Oval 18">
            <a:extLst>
              <a:ext uri="{FF2B5EF4-FFF2-40B4-BE49-F238E27FC236}">
                <a16:creationId xmlns:a16="http://schemas.microsoft.com/office/drawing/2014/main" id="{ACEFB76A-DC8D-9F33-4FA6-DF9F025E67DC}"/>
              </a:ext>
            </a:extLst>
          </p:cNvPr>
          <p:cNvSpPr>
            <a:spLocks noChangeArrowheads="1"/>
          </p:cNvSpPr>
          <p:nvPr/>
        </p:nvSpPr>
        <p:spPr bwMode="auto">
          <a:xfrm flipH="1">
            <a:off x="6249988" y="5661025"/>
            <a:ext cx="1008062" cy="1008063"/>
          </a:xfrm>
          <a:prstGeom prst="ellipse">
            <a:avLst/>
          </a:prstGeom>
          <a:solidFill>
            <a:schemeClr val="accent2"/>
          </a:solidFill>
          <a:ln w="9525">
            <a:solidFill>
              <a:schemeClr val="accent1"/>
            </a:solidFill>
            <a:miter lim="800000"/>
            <a:headEnd/>
            <a:tailEnd/>
          </a:ln>
        </p:spPr>
        <p:txBody>
          <a:bodyPr wrap="none" anchor="ctr"/>
          <a:lstStyle>
            <a:lvl1pPr eaLnBrk="0" hangingPunct="0">
              <a:defRPr kumimoji="1" sz="2400">
                <a:solidFill>
                  <a:schemeClr val="tx1"/>
                </a:solidFill>
                <a:latin typeface="Tahoma" panose="020B0604030504040204" pitchFamily="34" charset="0"/>
                <a:ea typeface="標楷體" panose="03000509000000000000" pitchFamily="65" charset="-120"/>
              </a:defRPr>
            </a:lvl1pPr>
            <a:lvl2pPr marL="742950" indent="-285750" eaLnBrk="0" hangingPunct="0">
              <a:defRPr kumimoji="1" sz="2400">
                <a:solidFill>
                  <a:schemeClr val="tx1"/>
                </a:solidFill>
                <a:latin typeface="Tahoma" panose="020B0604030504040204" pitchFamily="34" charset="0"/>
                <a:ea typeface="標楷體" panose="03000509000000000000" pitchFamily="65" charset="-120"/>
              </a:defRPr>
            </a:lvl2pPr>
            <a:lvl3pPr marL="1143000" indent="-228600" eaLnBrk="0" hangingPunct="0">
              <a:defRPr kumimoji="1" sz="2400">
                <a:solidFill>
                  <a:schemeClr val="tx1"/>
                </a:solidFill>
                <a:latin typeface="Tahoma" panose="020B0604030504040204" pitchFamily="34" charset="0"/>
                <a:ea typeface="標楷體" panose="03000509000000000000" pitchFamily="65" charset="-120"/>
              </a:defRPr>
            </a:lvl3pPr>
            <a:lvl4pPr marL="1600200" indent="-228600" eaLnBrk="0" hangingPunct="0">
              <a:defRPr kumimoji="1" sz="2400">
                <a:solidFill>
                  <a:schemeClr val="tx1"/>
                </a:solidFill>
                <a:latin typeface="Tahoma" panose="020B0604030504040204" pitchFamily="34" charset="0"/>
                <a:ea typeface="標楷體" panose="03000509000000000000" pitchFamily="65" charset="-120"/>
              </a:defRPr>
            </a:lvl4pPr>
            <a:lvl5pPr marL="2057400" indent="-228600" eaLnBrk="0" hangingPunct="0">
              <a:defRPr kumimoji="1" sz="24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9pPr>
          </a:lstStyle>
          <a:p>
            <a:pPr algn="ctr" eaLnBrk="1" hangingPunct="1"/>
            <a:r>
              <a:rPr kumimoji="0" lang="zh-TW" altLang="en-US">
                <a:latin typeface="Times New Roman" panose="02020603050405020304" pitchFamily="18" charset="0"/>
              </a:rPr>
              <a:t>科技</a:t>
            </a:r>
          </a:p>
        </p:txBody>
      </p:sp>
      <p:sp>
        <p:nvSpPr>
          <p:cNvPr id="19471" name="Line 19">
            <a:extLst>
              <a:ext uri="{FF2B5EF4-FFF2-40B4-BE49-F238E27FC236}">
                <a16:creationId xmlns:a16="http://schemas.microsoft.com/office/drawing/2014/main" id="{A3A6878D-ADC1-F11E-F483-A21A6548E0B6}"/>
              </a:ext>
            </a:extLst>
          </p:cNvPr>
          <p:cNvSpPr>
            <a:spLocks noChangeShapeType="1"/>
          </p:cNvSpPr>
          <p:nvPr/>
        </p:nvSpPr>
        <p:spPr bwMode="auto">
          <a:xfrm>
            <a:off x="5829300" y="1450975"/>
            <a:ext cx="360363" cy="71438"/>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TW" altLang="en-US"/>
          </a:p>
        </p:txBody>
      </p:sp>
      <p:sp>
        <p:nvSpPr>
          <p:cNvPr id="19472" name="Line 20">
            <a:extLst>
              <a:ext uri="{FF2B5EF4-FFF2-40B4-BE49-F238E27FC236}">
                <a16:creationId xmlns:a16="http://schemas.microsoft.com/office/drawing/2014/main" id="{5072F8D2-1FE5-5353-3B0F-EF23015335DA}"/>
              </a:ext>
            </a:extLst>
          </p:cNvPr>
          <p:cNvSpPr>
            <a:spLocks noChangeShapeType="1"/>
          </p:cNvSpPr>
          <p:nvPr/>
        </p:nvSpPr>
        <p:spPr bwMode="auto">
          <a:xfrm>
            <a:off x="5835650" y="1444625"/>
            <a:ext cx="144463" cy="287338"/>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TW" altLang="en-US"/>
          </a:p>
        </p:txBody>
      </p:sp>
      <p:sp>
        <p:nvSpPr>
          <p:cNvPr id="19473" name="Line 21">
            <a:extLst>
              <a:ext uri="{FF2B5EF4-FFF2-40B4-BE49-F238E27FC236}">
                <a16:creationId xmlns:a16="http://schemas.microsoft.com/office/drawing/2014/main" id="{B7D32BFE-1604-6ED8-B546-9D1D3F24431E}"/>
              </a:ext>
            </a:extLst>
          </p:cNvPr>
          <p:cNvSpPr>
            <a:spLocks noChangeShapeType="1"/>
          </p:cNvSpPr>
          <p:nvPr/>
        </p:nvSpPr>
        <p:spPr bwMode="auto">
          <a:xfrm>
            <a:off x="3440113" y="1484313"/>
            <a:ext cx="288925" cy="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TW" altLang="en-US"/>
          </a:p>
        </p:txBody>
      </p:sp>
      <p:sp>
        <p:nvSpPr>
          <p:cNvPr id="19474" name="Line 22">
            <a:extLst>
              <a:ext uri="{FF2B5EF4-FFF2-40B4-BE49-F238E27FC236}">
                <a16:creationId xmlns:a16="http://schemas.microsoft.com/office/drawing/2014/main" id="{5C83217B-5C24-5F6A-45C1-82C88A3E109E}"/>
              </a:ext>
            </a:extLst>
          </p:cNvPr>
          <p:cNvSpPr>
            <a:spLocks noChangeShapeType="1"/>
          </p:cNvSpPr>
          <p:nvPr/>
        </p:nvSpPr>
        <p:spPr bwMode="auto">
          <a:xfrm flipH="1">
            <a:off x="3584575" y="1484313"/>
            <a:ext cx="144463" cy="21590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TW" altLang="en-US"/>
          </a:p>
        </p:txBody>
      </p:sp>
      <p:sp>
        <p:nvSpPr>
          <p:cNvPr id="19475" name="Line 23">
            <a:extLst>
              <a:ext uri="{FF2B5EF4-FFF2-40B4-BE49-F238E27FC236}">
                <a16:creationId xmlns:a16="http://schemas.microsoft.com/office/drawing/2014/main" id="{926550E6-551F-65D7-7312-EB5B71AF5A62}"/>
              </a:ext>
            </a:extLst>
          </p:cNvPr>
          <p:cNvSpPr>
            <a:spLocks noChangeShapeType="1"/>
          </p:cNvSpPr>
          <p:nvPr/>
        </p:nvSpPr>
        <p:spPr bwMode="auto">
          <a:xfrm>
            <a:off x="2505075" y="4076700"/>
            <a:ext cx="215900" cy="144463"/>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TW" altLang="en-US"/>
          </a:p>
        </p:txBody>
      </p:sp>
      <p:sp>
        <p:nvSpPr>
          <p:cNvPr id="19476" name="Line 24">
            <a:extLst>
              <a:ext uri="{FF2B5EF4-FFF2-40B4-BE49-F238E27FC236}">
                <a16:creationId xmlns:a16="http://schemas.microsoft.com/office/drawing/2014/main" id="{BAAF998A-2AD7-7225-09E4-593B241BA09D}"/>
              </a:ext>
            </a:extLst>
          </p:cNvPr>
          <p:cNvSpPr>
            <a:spLocks noChangeShapeType="1"/>
          </p:cNvSpPr>
          <p:nvPr/>
        </p:nvSpPr>
        <p:spPr bwMode="auto">
          <a:xfrm flipH="1">
            <a:off x="2720975" y="4005263"/>
            <a:ext cx="71438" cy="21590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TW" altLang="en-US"/>
          </a:p>
        </p:txBody>
      </p:sp>
      <p:sp>
        <p:nvSpPr>
          <p:cNvPr id="19477" name="Line 25">
            <a:extLst>
              <a:ext uri="{FF2B5EF4-FFF2-40B4-BE49-F238E27FC236}">
                <a16:creationId xmlns:a16="http://schemas.microsoft.com/office/drawing/2014/main" id="{C887571A-681D-46A4-088A-76AA4D3D4AF0}"/>
              </a:ext>
            </a:extLst>
          </p:cNvPr>
          <p:cNvSpPr>
            <a:spLocks noChangeShapeType="1"/>
          </p:cNvSpPr>
          <p:nvPr/>
        </p:nvSpPr>
        <p:spPr bwMode="auto">
          <a:xfrm>
            <a:off x="6862763" y="3940175"/>
            <a:ext cx="73025" cy="21590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TW" altLang="en-US"/>
          </a:p>
        </p:txBody>
      </p:sp>
      <p:sp>
        <p:nvSpPr>
          <p:cNvPr id="19478" name="Line 26">
            <a:extLst>
              <a:ext uri="{FF2B5EF4-FFF2-40B4-BE49-F238E27FC236}">
                <a16:creationId xmlns:a16="http://schemas.microsoft.com/office/drawing/2014/main" id="{139380E9-9FC6-EC91-98FF-35A71E1EEFB8}"/>
              </a:ext>
            </a:extLst>
          </p:cNvPr>
          <p:cNvSpPr>
            <a:spLocks noChangeShapeType="1"/>
          </p:cNvSpPr>
          <p:nvPr/>
        </p:nvSpPr>
        <p:spPr bwMode="auto">
          <a:xfrm flipV="1">
            <a:off x="6937375" y="3927475"/>
            <a:ext cx="215900" cy="21590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TW" altLang="en-US"/>
          </a:p>
        </p:txBody>
      </p:sp>
      <p:sp>
        <p:nvSpPr>
          <p:cNvPr id="19479" name="Line 27">
            <a:extLst>
              <a:ext uri="{FF2B5EF4-FFF2-40B4-BE49-F238E27FC236}">
                <a16:creationId xmlns:a16="http://schemas.microsoft.com/office/drawing/2014/main" id="{D1D02C80-A116-75DD-C608-8458B0183117}"/>
              </a:ext>
            </a:extLst>
          </p:cNvPr>
          <p:cNvSpPr>
            <a:spLocks noChangeShapeType="1"/>
          </p:cNvSpPr>
          <p:nvPr/>
        </p:nvSpPr>
        <p:spPr bwMode="auto">
          <a:xfrm>
            <a:off x="3168650" y="5016500"/>
            <a:ext cx="88900" cy="24765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TW" altLang="en-US"/>
          </a:p>
        </p:txBody>
      </p:sp>
      <p:sp>
        <p:nvSpPr>
          <p:cNvPr id="19480" name="Line 28">
            <a:extLst>
              <a:ext uri="{FF2B5EF4-FFF2-40B4-BE49-F238E27FC236}">
                <a16:creationId xmlns:a16="http://schemas.microsoft.com/office/drawing/2014/main" id="{35D295FF-680E-C130-80A1-C9C118E9331D}"/>
              </a:ext>
            </a:extLst>
          </p:cNvPr>
          <p:cNvSpPr>
            <a:spLocks noChangeShapeType="1"/>
          </p:cNvSpPr>
          <p:nvPr/>
        </p:nvSpPr>
        <p:spPr bwMode="auto">
          <a:xfrm>
            <a:off x="3194050" y="5016500"/>
            <a:ext cx="266700" cy="8890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TW" altLang="en-US"/>
          </a:p>
        </p:txBody>
      </p:sp>
      <p:sp>
        <p:nvSpPr>
          <p:cNvPr id="19481" name="Line 29">
            <a:extLst>
              <a:ext uri="{FF2B5EF4-FFF2-40B4-BE49-F238E27FC236}">
                <a16:creationId xmlns:a16="http://schemas.microsoft.com/office/drawing/2014/main" id="{4FBA6EE8-4D1E-63A4-FDAE-548D96C56D94}"/>
              </a:ext>
            </a:extLst>
          </p:cNvPr>
          <p:cNvSpPr>
            <a:spLocks noChangeShapeType="1"/>
          </p:cNvSpPr>
          <p:nvPr/>
        </p:nvSpPr>
        <p:spPr bwMode="auto">
          <a:xfrm flipH="1">
            <a:off x="6413500" y="4953000"/>
            <a:ext cx="88900" cy="23495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TW" altLang="en-US"/>
          </a:p>
        </p:txBody>
      </p:sp>
      <p:sp>
        <p:nvSpPr>
          <p:cNvPr id="19482" name="Line 30">
            <a:extLst>
              <a:ext uri="{FF2B5EF4-FFF2-40B4-BE49-F238E27FC236}">
                <a16:creationId xmlns:a16="http://schemas.microsoft.com/office/drawing/2014/main" id="{3736D6A5-933A-2DD3-2EBB-768208F5B4BF}"/>
              </a:ext>
            </a:extLst>
          </p:cNvPr>
          <p:cNvSpPr>
            <a:spLocks noChangeShapeType="1"/>
          </p:cNvSpPr>
          <p:nvPr/>
        </p:nvSpPr>
        <p:spPr bwMode="auto">
          <a:xfrm flipH="1">
            <a:off x="6223000" y="4965700"/>
            <a:ext cx="266700" cy="8890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TW" altLang="en-US"/>
          </a:p>
        </p:txBody>
      </p:sp>
    </p:spTree>
  </p:cSld>
  <p:clrMapOvr>
    <a:masterClrMapping/>
  </p:clrMapOvr>
  <p:transition spd="slow">
    <p:randomBar dir="ver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57B560CE-C772-86EA-0014-13356B25948D}"/>
              </a:ext>
            </a:extLst>
          </p:cNvPr>
          <p:cNvSpPr>
            <a:spLocks noGrp="1" noChangeArrowheads="1"/>
          </p:cNvSpPr>
          <p:nvPr>
            <p:ph type="title"/>
          </p:nvPr>
        </p:nvSpPr>
        <p:spPr>
          <a:xfrm>
            <a:off x="1331913" y="188913"/>
            <a:ext cx="7577137" cy="1462087"/>
          </a:xfrm>
        </p:spPr>
        <p:txBody>
          <a:bodyPr/>
          <a:lstStyle/>
          <a:p>
            <a:pPr eaLnBrk="1" hangingPunct="1"/>
            <a:r>
              <a:rPr lang="zh-TW" altLang="en-US" b="1" dirty="0">
                <a:latin typeface="微軟正黑體" panose="020B0604030504040204" pitchFamily="34" charset="-120"/>
                <a:ea typeface="微軟正黑體" panose="020B0604030504040204" pitchFamily="34" charset="-120"/>
              </a:rPr>
              <a:t>原則</a:t>
            </a:r>
            <a:r>
              <a:rPr lang="en-US" altLang="zh-TW" b="1" baseline="-25000" dirty="0">
                <a:latin typeface="微軟正黑體" panose="020B0604030504040204" pitchFamily="34" charset="-120"/>
                <a:ea typeface="微軟正黑體" panose="020B0604030504040204" pitchFamily="34" charset="-120"/>
              </a:rPr>
              <a:t>1</a:t>
            </a:r>
          </a:p>
        </p:txBody>
      </p:sp>
      <p:sp>
        <p:nvSpPr>
          <p:cNvPr id="20483" name="Rectangle 3">
            <a:extLst>
              <a:ext uri="{FF2B5EF4-FFF2-40B4-BE49-F238E27FC236}">
                <a16:creationId xmlns:a16="http://schemas.microsoft.com/office/drawing/2014/main" id="{399B4489-6A48-0A32-5256-192178477A67}"/>
              </a:ext>
            </a:extLst>
          </p:cNvPr>
          <p:cNvSpPr>
            <a:spLocks noGrp="1" noChangeArrowheads="1"/>
          </p:cNvSpPr>
          <p:nvPr>
            <p:ph idx="1"/>
          </p:nvPr>
        </p:nvSpPr>
        <p:spPr>
          <a:xfrm>
            <a:off x="1182688" y="2017713"/>
            <a:ext cx="6773862" cy="4579937"/>
          </a:xfrm>
        </p:spPr>
        <p:txBody>
          <a:bodyPr/>
          <a:lstStyle/>
          <a:p>
            <a:pPr marL="266700" indent="-266700" eaLnBrk="1" hangingPunct="1">
              <a:buClr>
                <a:srgbClr val="CC00CC"/>
              </a:buClr>
              <a:buFont typeface="Wingdings" panose="05000000000000000000" pitchFamily="2" charset="2"/>
              <a:buChar char="Ø"/>
            </a:pPr>
            <a:r>
              <a:rPr lang="zh-TW" altLang="en-US" dirty="0">
                <a:solidFill>
                  <a:srgbClr val="002060"/>
                </a:solidFill>
                <a:latin typeface="標楷體" panose="03000509000000000000" pitchFamily="65" charset="-120"/>
                <a:ea typeface="標楷體" panose="03000509000000000000" pitchFamily="65" charset="-120"/>
              </a:rPr>
              <a:t>所有議題都應該設定成能</a:t>
            </a:r>
            <a:r>
              <a:rPr lang="zh-TW" altLang="en-US" dirty="0">
                <a:solidFill>
                  <a:srgbClr val="CC00CC"/>
                </a:solidFill>
                <a:latin typeface="標楷體" panose="03000509000000000000" pitchFamily="65" charset="-120"/>
                <a:ea typeface="標楷體" panose="03000509000000000000" pitchFamily="65" charset="-120"/>
              </a:rPr>
              <a:t>考慮性別差異</a:t>
            </a:r>
            <a:r>
              <a:rPr lang="zh-TW" altLang="en-US" dirty="0">
                <a:solidFill>
                  <a:srgbClr val="002060"/>
                </a:solidFill>
                <a:latin typeface="標楷體" panose="03000509000000000000" pitchFamily="65" charset="-120"/>
                <a:ea typeface="標楷體" panose="03000509000000000000" pitchFamily="65" charset="-120"/>
              </a:rPr>
              <a:t>的形式，而不該設定該議題與性別無關。 </a:t>
            </a:r>
          </a:p>
          <a:p>
            <a:pPr marL="266700" indent="-266700" eaLnBrk="1" hangingPunct="1">
              <a:buClr>
                <a:srgbClr val="CC00CC"/>
              </a:buClr>
              <a:buFont typeface="Wingdings" panose="05000000000000000000" pitchFamily="2" charset="2"/>
              <a:buChar char="Ø"/>
            </a:pPr>
            <a:r>
              <a:rPr lang="zh-TW" altLang="en-US" dirty="0">
                <a:solidFill>
                  <a:srgbClr val="002060"/>
                </a:solidFill>
                <a:latin typeface="標楷體" panose="03000509000000000000" pitchFamily="65" charset="-120"/>
                <a:ea typeface="標楷體" panose="03000509000000000000" pitchFamily="65" charset="-120"/>
              </a:rPr>
              <a:t>性別主流化這個過程必須</a:t>
            </a:r>
            <a:r>
              <a:rPr lang="zh-TW" altLang="en-US" dirty="0">
                <a:solidFill>
                  <a:srgbClr val="CC00CC"/>
                </a:solidFill>
                <a:latin typeface="標楷體" panose="03000509000000000000" pitchFamily="65" charset="-120"/>
                <a:ea typeface="標楷體" panose="03000509000000000000" pitchFamily="65" charset="-120"/>
              </a:rPr>
              <a:t>全面</a:t>
            </a:r>
            <a:r>
              <a:rPr lang="zh-TW" altLang="en-US" dirty="0">
                <a:latin typeface="標楷體" panose="03000509000000000000" pitchFamily="65" charset="-120"/>
                <a:ea typeface="標楷體" panose="03000509000000000000" pitchFamily="65" charset="-120"/>
              </a:rPr>
              <a:t>而</a:t>
            </a:r>
            <a:r>
              <a:rPr lang="zh-TW" altLang="en-US" dirty="0">
                <a:solidFill>
                  <a:srgbClr val="CC00CC"/>
                </a:solidFill>
                <a:latin typeface="標楷體" panose="03000509000000000000" pitchFamily="65" charset="-120"/>
                <a:ea typeface="標楷體" panose="03000509000000000000" pitchFamily="65" charset="-120"/>
              </a:rPr>
              <a:t>有系統</a:t>
            </a:r>
            <a:r>
              <a:rPr lang="zh-TW" altLang="en-US" dirty="0">
                <a:solidFill>
                  <a:srgbClr val="002060"/>
                </a:solidFill>
                <a:latin typeface="標楷體" panose="03000509000000000000" pitchFamily="65" charset="-120"/>
                <a:ea typeface="標楷體" panose="03000509000000000000" pitchFamily="65" charset="-120"/>
              </a:rPr>
              <a:t>的進行，要由</a:t>
            </a:r>
            <a:r>
              <a:rPr lang="zh-TW" altLang="en-US" dirty="0">
                <a:solidFill>
                  <a:srgbClr val="CC00CC"/>
                </a:solidFill>
                <a:latin typeface="標楷體" panose="03000509000000000000" pitchFamily="65" charset="-120"/>
                <a:ea typeface="標楷體" panose="03000509000000000000" pitchFamily="65" charset="-120"/>
              </a:rPr>
              <a:t>最高層</a:t>
            </a:r>
            <a:r>
              <a:rPr lang="zh-TW" altLang="en-US" dirty="0">
                <a:solidFill>
                  <a:srgbClr val="002060"/>
                </a:solidFill>
                <a:latin typeface="標楷體" panose="03000509000000000000" pitchFamily="65" charset="-120"/>
                <a:ea typeface="標楷體" panose="03000509000000000000" pitchFamily="65" charset="-120"/>
              </a:rPr>
              <a:t>的機關負責，而且要</a:t>
            </a:r>
            <a:r>
              <a:rPr lang="zh-TW" altLang="en-US" dirty="0">
                <a:solidFill>
                  <a:srgbClr val="CC00CC"/>
                </a:solidFill>
                <a:latin typeface="標楷體" panose="03000509000000000000" pitchFamily="65" charset="-120"/>
                <a:ea typeface="標楷體" panose="03000509000000000000" pitchFamily="65" charset="-120"/>
              </a:rPr>
              <a:t>監督</a:t>
            </a:r>
            <a:r>
              <a:rPr lang="zh-TW" altLang="en-US" dirty="0">
                <a:solidFill>
                  <a:srgbClr val="002060"/>
                </a:solidFill>
                <a:latin typeface="標楷體" panose="03000509000000000000" pitchFamily="65" charset="-120"/>
                <a:ea typeface="標楷體" panose="03000509000000000000" pitchFamily="65" charset="-120"/>
              </a:rPr>
              <a:t>進度。</a:t>
            </a:r>
            <a:r>
              <a:rPr lang="zh-TW" altLang="en-US" dirty="0">
                <a:latin typeface="標楷體" panose="03000509000000000000" pitchFamily="65" charset="-120"/>
                <a:ea typeface="標楷體" panose="03000509000000000000" pitchFamily="65" charset="-120"/>
              </a:rPr>
              <a:t> </a:t>
            </a:r>
          </a:p>
          <a:p>
            <a:pPr marL="266700" indent="-266700" eaLnBrk="1" hangingPunct="1">
              <a:buFont typeface="Wingdings" panose="05000000000000000000" pitchFamily="2" charset="2"/>
              <a:buNone/>
            </a:pPr>
            <a:endParaRPr lang="zh-TW" altLang="en-US" dirty="0">
              <a:latin typeface="Times New Roman" panose="02020603050405020304" pitchFamily="18" charset="0"/>
              <a:ea typeface="標楷體" panose="03000509000000000000" pitchFamily="65" charset="-120"/>
            </a:endParaRPr>
          </a:p>
          <a:p>
            <a:pPr marL="266700" indent="-266700" eaLnBrk="1" hangingPunct="1">
              <a:buFont typeface="Wingdings" panose="05000000000000000000" pitchFamily="2" charset="2"/>
              <a:buNone/>
            </a:pPr>
            <a:r>
              <a:rPr lang="en-US" altLang="zh-TW" dirty="0">
                <a:latin typeface="Times New Roman" panose="02020603050405020304" pitchFamily="18" charset="0"/>
                <a:ea typeface="標楷體" panose="03000509000000000000" pitchFamily="65" charset="-120"/>
              </a:rPr>
              <a:t>--</a:t>
            </a:r>
            <a:r>
              <a:rPr lang="zh-TW" altLang="en-US" sz="2400" dirty="0">
                <a:latin typeface="Times New Roman" panose="02020603050405020304" pitchFamily="18" charset="0"/>
                <a:ea typeface="標楷體" panose="03000509000000000000" pitchFamily="65" charset="-120"/>
              </a:rPr>
              <a:t>聯合國經濟及社會理事會，</a:t>
            </a:r>
            <a:r>
              <a:rPr lang="en-US" altLang="zh-TW" sz="2400" dirty="0">
                <a:latin typeface="Times New Roman" panose="02020603050405020304" pitchFamily="18" charset="0"/>
                <a:ea typeface="標楷體" panose="03000509000000000000" pitchFamily="65" charset="-120"/>
              </a:rPr>
              <a:t>1997</a:t>
            </a:r>
            <a:r>
              <a:rPr lang="zh-TW" altLang="en-US" sz="2400" dirty="0">
                <a:latin typeface="Times New Roman" panose="02020603050405020304" pitchFamily="18" charset="0"/>
                <a:ea typeface="標楷體" panose="03000509000000000000" pitchFamily="65" charset="-120"/>
              </a:rPr>
              <a:t>年 </a:t>
            </a:r>
            <a:r>
              <a:rPr lang="en-US" altLang="zh-TW" sz="2400" dirty="0">
                <a:latin typeface="Times New Roman" panose="02020603050405020304" pitchFamily="18" charset="0"/>
                <a:ea typeface="標楷體" panose="03000509000000000000" pitchFamily="65" charset="-120"/>
              </a:rPr>
              <a:t>2</a:t>
            </a:r>
            <a:r>
              <a:rPr lang="zh-TW" altLang="en-US" sz="2400" dirty="0">
                <a:latin typeface="Times New Roman" panose="02020603050405020304" pitchFamily="18" charset="0"/>
                <a:ea typeface="標楷體" panose="03000509000000000000" pitchFamily="65" charset="-120"/>
              </a:rPr>
              <a:t>月</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36B800E8-7AA3-C1E5-507E-0E71645D358A}"/>
              </a:ext>
            </a:extLst>
          </p:cNvPr>
          <p:cNvSpPr>
            <a:spLocks noGrp="1" noChangeArrowheads="1"/>
          </p:cNvSpPr>
          <p:nvPr>
            <p:ph type="title"/>
          </p:nvPr>
        </p:nvSpPr>
        <p:spPr>
          <a:xfrm>
            <a:off x="1331913" y="188913"/>
            <a:ext cx="7577137" cy="1462087"/>
          </a:xfrm>
        </p:spPr>
        <p:txBody>
          <a:bodyPr/>
          <a:lstStyle/>
          <a:p>
            <a:pPr eaLnBrk="1" hangingPunct="1"/>
            <a:r>
              <a:rPr lang="zh-TW" altLang="en-US" b="1" dirty="0">
                <a:latin typeface="微軟正黑體" panose="020B0604030504040204" pitchFamily="34" charset="-120"/>
                <a:ea typeface="微軟正黑體" panose="020B0604030504040204" pitchFamily="34" charset="-120"/>
              </a:rPr>
              <a:t>原則</a:t>
            </a:r>
            <a:r>
              <a:rPr lang="en-US" altLang="zh-TW" b="1" baseline="-25000" dirty="0">
                <a:latin typeface="微軟正黑體" panose="020B0604030504040204" pitchFamily="34" charset="-120"/>
                <a:ea typeface="微軟正黑體" panose="020B0604030504040204" pitchFamily="34" charset="-120"/>
              </a:rPr>
              <a:t>2</a:t>
            </a:r>
          </a:p>
        </p:txBody>
      </p:sp>
      <p:sp>
        <p:nvSpPr>
          <p:cNvPr id="21507" name="Rectangle 3">
            <a:extLst>
              <a:ext uri="{FF2B5EF4-FFF2-40B4-BE49-F238E27FC236}">
                <a16:creationId xmlns:a16="http://schemas.microsoft.com/office/drawing/2014/main" id="{F3BC8805-439C-3DEA-612C-4CB582D4299E}"/>
              </a:ext>
            </a:extLst>
          </p:cNvPr>
          <p:cNvSpPr>
            <a:spLocks noGrp="1" noChangeArrowheads="1"/>
          </p:cNvSpPr>
          <p:nvPr>
            <p:ph idx="1"/>
          </p:nvPr>
        </p:nvSpPr>
        <p:spPr>
          <a:xfrm>
            <a:off x="1182688" y="2017713"/>
            <a:ext cx="6918325" cy="4579937"/>
          </a:xfrm>
        </p:spPr>
        <p:txBody>
          <a:bodyPr/>
          <a:lstStyle/>
          <a:p>
            <a:pPr marL="266700" indent="-266700" eaLnBrk="1" hangingPunct="1">
              <a:buClr>
                <a:srgbClr val="CC00CC"/>
              </a:buClr>
              <a:buFont typeface="Wingdings" panose="05000000000000000000" pitchFamily="2" charset="2"/>
              <a:buChar char="Ø"/>
            </a:pPr>
            <a:r>
              <a:rPr lang="zh-TW" altLang="en-US" dirty="0">
                <a:solidFill>
                  <a:srgbClr val="002060"/>
                </a:solidFill>
                <a:latin typeface="微軟正黑體" panose="020B0604030504040204" pitchFamily="34" charset="-120"/>
                <a:ea typeface="微軟正黑體" panose="020B0604030504040204" pitchFamily="34" charset="-120"/>
              </a:rPr>
              <a:t>推行性別主流化並不代表不需要針對女性的</a:t>
            </a:r>
            <a:r>
              <a:rPr lang="zh-TW" altLang="en-US" dirty="0">
                <a:solidFill>
                  <a:srgbClr val="CC00CC"/>
                </a:solidFill>
                <a:latin typeface="標楷體" panose="03000509000000000000" pitchFamily="65" charset="-120"/>
                <a:ea typeface="標楷體" panose="03000509000000000000" pitchFamily="65" charset="-120"/>
              </a:rPr>
              <a:t>政策或立法</a:t>
            </a:r>
            <a:r>
              <a:rPr lang="zh-TW" altLang="en-US" dirty="0">
                <a:latin typeface="標楷體" panose="03000509000000000000" pitchFamily="65" charset="-120"/>
                <a:ea typeface="標楷體" panose="03000509000000000000" pitchFamily="65" charset="-120"/>
              </a:rPr>
              <a:t>。 </a:t>
            </a:r>
          </a:p>
          <a:p>
            <a:pPr marL="266700" indent="-266700" eaLnBrk="1" hangingPunct="1">
              <a:buClr>
                <a:srgbClr val="CC00CC"/>
              </a:buClr>
              <a:buFont typeface="Wingdings" panose="05000000000000000000" pitchFamily="2" charset="2"/>
              <a:buChar char="Ø"/>
            </a:pPr>
            <a:r>
              <a:rPr lang="zh-TW" altLang="en-US" dirty="0">
                <a:solidFill>
                  <a:srgbClr val="002060"/>
                </a:solidFill>
                <a:latin typeface="微軟正黑體" panose="020B0604030504040204" pitchFamily="34" charset="-120"/>
                <a:ea typeface="微軟正黑體" panose="020B0604030504040204" pitchFamily="34" charset="-120"/>
              </a:rPr>
              <a:t>性別主流化需要</a:t>
            </a:r>
            <a:r>
              <a:rPr lang="zh-TW" altLang="en-US" dirty="0">
                <a:solidFill>
                  <a:srgbClr val="CC00CC"/>
                </a:solidFill>
                <a:latin typeface="標楷體" panose="03000509000000000000" pitchFamily="65" charset="-120"/>
                <a:ea typeface="標楷體" panose="03000509000000000000" pitchFamily="65" charset="-120"/>
              </a:rPr>
              <a:t>明確</a:t>
            </a:r>
            <a:r>
              <a:rPr lang="zh-TW" altLang="en-US" dirty="0">
                <a:solidFill>
                  <a:srgbClr val="002060"/>
                </a:solidFill>
                <a:latin typeface="微軟正黑體" panose="020B0604030504040204" pitchFamily="34" charset="-120"/>
                <a:ea typeface="微軟正黑體" panose="020B0604030504040204" pitchFamily="34" charset="-120"/>
              </a:rPr>
              <a:t>的</a:t>
            </a:r>
            <a:r>
              <a:rPr lang="zh-TW" altLang="en-US" dirty="0">
                <a:solidFill>
                  <a:srgbClr val="CC00CC"/>
                </a:solidFill>
                <a:latin typeface="標楷體" panose="03000509000000000000" pitchFamily="65" charset="-120"/>
                <a:ea typeface="標楷體" panose="03000509000000000000" pitchFamily="65" charset="-120"/>
              </a:rPr>
              <a:t>政治意志</a:t>
            </a:r>
            <a:r>
              <a:rPr lang="zh-TW" altLang="en-US" dirty="0">
                <a:latin typeface="微軟正黑體" panose="020B0604030504040204" pitchFamily="34" charset="-120"/>
                <a:ea typeface="微軟正黑體" panose="020B0604030504040204" pitchFamily="34" charset="-120"/>
              </a:rPr>
              <a:t>與</a:t>
            </a:r>
            <a:r>
              <a:rPr lang="zh-TW" altLang="en-US" dirty="0">
                <a:solidFill>
                  <a:srgbClr val="CC00CC"/>
                </a:solidFill>
                <a:latin typeface="標楷體" panose="03000509000000000000" pitchFamily="65" charset="-120"/>
                <a:ea typeface="標楷體" panose="03000509000000000000" pitchFamily="65" charset="-120"/>
              </a:rPr>
              <a:t>財務、人力的分配</a:t>
            </a:r>
            <a:r>
              <a:rPr lang="zh-TW" altLang="en-US" dirty="0">
                <a:latin typeface="標楷體" panose="03000509000000000000" pitchFamily="65" charset="-120"/>
                <a:ea typeface="標楷體" panose="03000509000000000000" pitchFamily="65" charset="-120"/>
              </a:rPr>
              <a:t>。</a:t>
            </a:r>
          </a:p>
          <a:p>
            <a:pPr marL="266700" indent="-266700" eaLnBrk="1" hangingPunct="1">
              <a:buClr>
                <a:srgbClr val="CC00CC"/>
              </a:buClr>
              <a:buFont typeface="Wingdings" panose="05000000000000000000" pitchFamily="2" charset="2"/>
              <a:buChar char="Ø"/>
            </a:pPr>
            <a:endParaRPr lang="zh-TW" altLang="en-US" dirty="0">
              <a:latin typeface="Times New Roman" panose="02020603050405020304" pitchFamily="18" charset="0"/>
              <a:ea typeface="標楷體" panose="03000509000000000000" pitchFamily="65" charset="-120"/>
            </a:endParaRPr>
          </a:p>
          <a:p>
            <a:pPr marL="266700" indent="-266700" eaLnBrk="1" hangingPunct="1">
              <a:buFont typeface="Wingdings" panose="05000000000000000000" pitchFamily="2" charset="2"/>
              <a:buNone/>
            </a:pPr>
            <a:endParaRPr lang="zh-TW" altLang="en-US" dirty="0">
              <a:latin typeface="Times New Roman" panose="02020603050405020304" pitchFamily="18" charset="0"/>
              <a:ea typeface="標楷體" panose="03000509000000000000" pitchFamily="65" charset="-120"/>
            </a:endParaRPr>
          </a:p>
          <a:p>
            <a:pPr marL="266700" indent="-266700" eaLnBrk="1" hangingPunct="1">
              <a:buFont typeface="Wingdings" panose="05000000000000000000" pitchFamily="2" charset="2"/>
              <a:buNone/>
            </a:pPr>
            <a:r>
              <a:rPr lang="en-US" altLang="zh-TW" dirty="0">
                <a:solidFill>
                  <a:srgbClr val="002060"/>
                </a:solidFill>
                <a:latin typeface="微軟正黑體" panose="020B0604030504040204" pitchFamily="34" charset="-120"/>
                <a:ea typeface="微軟正黑體" panose="020B0604030504040204" pitchFamily="34" charset="-120"/>
              </a:rPr>
              <a:t>--</a:t>
            </a:r>
            <a:r>
              <a:rPr lang="zh-TW" altLang="en-US" sz="2400" dirty="0">
                <a:solidFill>
                  <a:srgbClr val="002060"/>
                </a:solidFill>
                <a:latin typeface="微軟正黑體" panose="020B0604030504040204" pitchFamily="34" charset="-120"/>
                <a:ea typeface="微軟正黑體" panose="020B0604030504040204" pitchFamily="34" charset="-120"/>
              </a:rPr>
              <a:t>聯合國經濟及社會理事會，</a:t>
            </a:r>
            <a:r>
              <a:rPr lang="en-US" altLang="zh-TW" sz="2400" dirty="0">
                <a:solidFill>
                  <a:srgbClr val="002060"/>
                </a:solidFill>
                <a:latin typeface="微軟正黑體" panose="020B0604030504040204" pitchFamily="34" charset="-120"/>
                <a:ea typeface="微軟正黑體" panose="020B0604030504040204" pitchFamily="34" charset="-120"/>
              </a:rPr>
              <a:t>1997</a:t>
            </a:r>
            <a:r>
              <a:rPr lang="zh-TW" altLang="en-US" sz="2400" dirty="0">
                <a:solidFill>
                  <a:srgbClr val="002060"/>
                </a:solidFill>
                <a:latin typeface="微軟正黑體" panose="020B0604030504040204" pitchFamily="34" charset="-120"/>
                <a:ea typeface="微軟正黑體" panose="020B0604030504040204" pitchFamily="34" charset="-120"/>
              </a:rPr>
              <a:t>年 </a:t>
            </a:r>
            <a:r>
              <a:rPr lang="en-US" altLang="zh-TW" sz="2400" dirty="0">
                <a:solidFill>
                  <a:srgbClr val="002060"/>
                </a:solidFill>
                <a:latin typeface="微軟正黑體" panose="020B0604030504040204" pitchFamily="34" charset="-120"/>
                <a:ea typeface="微軟正黑體" panose="020B0604030504040204" pitchFamily="34" charset="-120"/>
              </a:rPr>
              <a:t>2</a:t>
            </a:r>
            <a:r>
              <a:rPr lang="zh-TW" altLang="en-US" sz="2400" dirty="0">
                <a:solidFill>
                  <a:srgbClr val="002060"/>
                </a:solidFill>
                <a:latin typeface="微軟正黑體" panose="020B0604030504040204" pitchFamily="34" charset="-120"/>
                <a:ea typeface="微軟正黑體" panose="020B0604030504040204" pitchFamily="34" charset="-120"/>
              </a:rPr>
              <a:t>月</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6055D4EC-C76D-1200-7C9C-A001561EE539}"/>
              </a:ext>
            </a:extLst>
          </p:cNvPr>
          <p:cNvSpPr>
            <a:spLocks noGrp="1" noChangeArrowheads="1"/>
          </p:cNvSpPr>
          <p:nvPr>
            <p:ph type="title"/>
          </p:nvPr>
        </p:nvSpPr>
        <p:spPr>
          <a:xfrm>
            <a:off x="1116013" y="227013"/>
            <a:ext cx="7307262" cy="1385887"/>
          </a:xfrm>
          <a:noFill/>
        </p:spPr>
        <p:txBody>
          <a:bodyPr lIns="92075" tIns="46038" rIns="92075" bIns="46038" anchor="ctr"/>
          <a:lstStyle/>
          <a:p>
            <a:pPr algn="ctr" eaLnBrk="1" hangingPunct="1"/>
            <a:r>
              <a:rPr lang="zh-TW" altLang="en-US" sz="4800" b="1" dirty="0">
                <a:latin typeface="標楷體" panose="03000509000000000000" pitchFamily="65" charset="-120"/>
                <a:ea typeface="標楷體" panose="03000509000000000000" pitchFamily="65" charset="-120"/>
              </a:rPr>
              <a:t>國際推動性別主流化源起</a:t>
            </a:r>
            <a:r>
              <a:rPr lang="en-US" altLang="zh-TW" sz="4800" b="1" dirty="0">
                <a:latin typeface="標楷體" panose="03000509000000000000" pitchFamily="65" charset="-120"/>
                <a:ea typeface="標楷體" panose="03000509000000000000" pitchFamily="65" charset="-120"/>
              </a:rPr>
              <a:t>1</a:t>
            </a:r>
            <a:endParaRPr lang="zh-TW" altLang="en-US" sz="2800" b="1" dirty="0">
              <a:latin typeface="標楷體" panose="03000509000000000000" pitchFamily="65" charset="-120"/>
              <a:ea typeface="標楷體" panose="03000509000000000000" pitchFamily="65" charset="-120"/>
            </a:endParaRPr>
          </a:p>
        </p:txBody>
      </p:sp>
      <p:sp>
        <p:nvSpPr>
          <p:cNvPr id="22531" name="Text Box 3">
            <a:extLst>
              <a:ext uri="{FF2B5EF4-FFF2-40B4-BE49-F238E27FC236}">
                <a16:creationId xmlns:a16="http://schemas.microsoft.com/office/drawing/2014/main" id="{E1DBBB6F-EC4E-19CB-93D7-FBBD623CB689}"/>
              </a:ext>
            </a:extLst>
          </p:cNvPr>
          <p:cNvSpPr txBox="1">
            <a:spLocks noChangeArrowheads="1"/>
          </p:cNvSpPr>
          <p:nvPr/>
        </p:nvSpPr>
        <p:spPr bwMode="auto">
          <a:xfrm>
            <a:off x="719138" y="1916113"/>
            <a:ext cx="5005387" cy="2405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715963" indent="-715963" eaLnBrk="0" hangingPunct="0">
              <a:defRPr kumimoji="1" sz="2400">
                <a:solidFill>
                  <a:schemeClr val="tx1"/>
                </a:solidFill>
                <a:latin typeface="Tahoma" panose="020B0604030504040204" pitchFamily="34" charset="0"/>
                <a:ea typeface="標楷體" panose="03000509000000000000" pitchFamily="65" charset="-120"/>
              </a:defRPr>
            </a:lvl1pPr>
            <a:lvl2pPr marL="742950" indent="-285750" eaLnBrk="0" hangingPunct="0">
              <a:defRPr kumimoji="1" sz="2400">
                <a:solidFill>
                  <a:schemeClr val="tx1"/>
                </a:solidFill>
                <a:latin typeface="Tahoma" panose="020B0604030504040204" pitchFamily="34" charset="0"/>
                <a:ea typeface="標楷體" panose="03000509000000000000" pitchFamily="65" charset="-120"/>
              </a:defRPr>
            </a:lvl2pPr>
            <a:lvl3pPr marL="1143000" indent="-228600" eaLnBrk="0" hangingPunct="0">
              <a:defRPr kumimoji="1" sz="2400">
                <a:solidFill>
                  <a:schemeClr val="tx1"/>
                </a:solidFill>
                <a:latin typeface="Tahoma" panose="020B0604030504040204" pitchFamily="34" charset="0"/>
                <a:ea typeface="標楷體" panose="03000509000000000000" pitchFamily="65" charset="-120"/>
              </a:defRPr>
            </a:lvl3pPr>
            <a:lvl4pPr marL="1600200" indent="-228600" eaLnBrk="0" hangingPunct="0">
              <a:defRPr kumimoji="1" sz="2400">
                <a:solidFill>
                  <a:schemeClr val="tx1"/>
                </a:solidFill>
                <a:latin typeface="Tahoma" panose="020B0604030504040204" pitchFamily="34" charset="0"/>
                <a:ea typeface="標楷體" panose="03000509000000000000" pitchFamily="65" charset="-120"/>
              </a:defRPr>
            </a:lvl4pPr>
            <a:lvl5pPr marL="2057400" indent="-228600" eaLnBrk="0" hangingPunct="0">
              <a:defRPr kumimoji="1" sz="24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9pPr>
          </a:lstStyle>
          <a:p>
            <a:pPr eaLnBrk="1" hangingPunct="1">
              <a:lnSpc>
                <a:spcPct val="120000"/>
              </a:lnSpc>
            </a:pPr>
            <a:r>
              <a:rPr kumimoji="0" lang="zh-TW" altLang="en-US" sz="3200">
                <a:solidFill>
                  <a:schemeClr val="hlink"/>
                </a:solidFill>
                <a:latin typeface="標楷體" panose="03000509000000000000" pitchFamily="65" charset="-120"/>
              </a:rPr>
              <a:t>壹、聯合國世界婦女會議</a:t>
            </a:r>
          </a:p>
          <a:p>
            <a:pPr eaLnBrk="1" hangingPunct="1">
              <a:lnSpc>
                <a:spcPct val="135000"/>
              </a:lnSpc>
            </a:pPr>
            <a:r>
              <a:rPr kumimoji="0" lang="zh-TW" altLang="en-US" sz="2800">
                <a:solidFill>
                  <a:srgbClr val="9933FF"/>
                </a:solidFill>
                <a:latin typeface="標楷體" panose="03000509000000000000" pitchFamily="65" charset="-120"/>
              </a:rPr>
              <a:t>一、</a:t>
            </a:r>
            <a:r>
              <a:rPr kumimoji="0" lang="en-US" altLang="zh-TW" sz="2800">
                <a:latin typeface="Times New Roman" panose="02020603050405020304" pitchFamily="18" charset="0"/>
              </a:rPr>
              <a:t>1945</a:t>
            </a:r>
            <a:r>
              <a:rPr kumimoji="0" lang="zh-TW" altLang="en-US" sz="2800">
                <a:latin typeface="Times New Roman" panose="02020603050405020304" pitchFamily="18" charset="0"/>
              </a:rPr>
              <a:t>年聯合國</a:t>
            </a:r>
            <a:r>
              <a:rPr kumimoji="0" lang="en-US" altLang="zh-TW" sz="2800">
                <a:latin typeface="Times New Roman" panose="02020603050405020304" pitchFamily="18" charset="0"/>
              </a:rPr>
              <a:t>51</a:t>
            </a:r>
            <a:r>
              <a:rPr kumimoji="0" lang="zh-TW" altLang="en-US" sz="2800">
                <a:latin typeface="Times New Roman" panose="02020603050405020304" pitchFamily="18" charset="0"/>
              </a:rPr>
              <a:t>個會員國中只有</a:t>
            </a:r>
            <a:r>
              <a:rPr kumimoji="0" lang="en-US" altLang="zh-TW" sz="2800">
                <a:latin typeface="Times New Roman" panose="02020603050405020304" pitchFamily="18" charset="0"/>
              </a:rPr>
              <a:t>30</a:t>
            </a:r>
            <a:r>
              <a:rPr kumimoji="0" lang="zh-TW" altLang="en-US" sz="2800">
                <a:latin typeface="Times New Roman" panose="02020603050405020304" pitchFamily="18" charset="0"/>
              </a:rPr>
              <a:t>個國家的婦女擁有投票權，且可擔任公職</a:t>
            </a:r>
          </a:p>
        </p:txBody>
      </p:sp>
      <p:pic>
        <p:nvPicPr>
          <p:cNvPr id="22532" name="Picture 4" descr="婦女十年紀念郵票">
            <a:extLst>
              <a:ext uri="{FF2B5EF4-FFF2-40B4-BE49-F238E27FC236}">
                <a16:creationId xmlns:a16="http://schemas.microsoft.com/office/drawing/2014/main" id="{386E4A16-E4C6-F38E-3E2A-97DB4AF2D1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56325" y="2708275"/>
            <a:ext cx="2020888" cy="252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Bar dir="ver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EE70B396-C74A-44AC-F519-401E8D6DC227}"/>
              </a:ext>
            </a:extLst>
          </p:cNvPr>
          <p:cNvSpPr>
            <a:spLocks noGrp="1" noChangeArrowheads="1"/>
          </p:cNvSpPr>
          <p:nvPr>
            <p:ph type="title"/>
          </p:nvPr>
        </p:nvSpPr>
        <p:spPr>
          <a:xfrm>
            <a:off x="1116013" y="227013"/>
            <a:ext cx="7307262" cy="1385887"/>
          </a:xfrm>
          <a:noFill/>
        </p:spPr>
        <p:txBody>
          <a:bodyPr lIns="92075" tIns="46038" rIns="92075" bIns="46038" anchor="ctr"/>
          <a:lstStyle/>
          <a:p>
            <a:pPr algn="ctr" eaLnBrk="1" hangingPunct="1"/>
            <a:r>
              <a:rPr lang="zh-TW" altLang="en-US" sz="4800" b="1" dirty="0">
                <a:latin typeface="標楷體" panose="03000509000000000000" pitchFamily="65" charset="-120"/>
                <a:ea typeface="標楷體" panose="03000509000000000000" pitchFamily="65" charset="-120"/>
              </a:rPr>
              <a:t>國際推動性別主流化源起</a:t>
            </a:r>
            <a:r>
              <a:rPr lang="en-US" altLang="zh-TW" sz="4800" b="1" dirty="0">
                <a:latin typeface="標楷體" panose="03000509000000000000" pitchFamily="65" charset="-120"/>
                <a:ea typeface="標楷體" panose="03000509000000000000" pitchFamily="65" charset="-120"/>
              </a:rPr>
              <a:t>2</a:t>
            </a:r>
            <a:endParaRPr lang="zh-TW" altLang="en-US" sz="2800" b="1" dirty="0">
              <a:latin typeface="標楷體" panose="03000509000000000000" pitchFamily="65" charset="-120"/>
              <a:ea typeface="標楷體" panose="03000509000000000000" pitchFamily="65" charset="-120"/>
            </a:endParaRPr>
          </a:p>
        </p:txBody>
      </p:sp>
      <p:sp>
        <p:nvSpPr>
          <p:cNvPr id="23555" name="Text Box 3">
            <a:extLst>
              <a:ext uri="{FF2B5EF4-FFF2-40B4-BE49-F238E27FC236}">
                <a16:creationId xmlns:a16="http://schemas.microsoft.com/office/drawing/2014/main" id="{2619DBC2-DD24-01D0-C24A-5F525145E608}"/>
              </a:ext>
            </a:extLst>
          </p:cNvPr>
          <p:cNvSpPr txBox="1">
            <a:spLocks noChangeArrowheads="1"/>
          </p:cNvSpPr>
          <p:nvPr/>
        </p:nvSpPr>
        <p:spPr bwMode="auto">
          <a:xfrm>
            <a:off x="611188" y="1916113"/>
            <a:ext cx="5689600" cy="375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715963" indent="-715963" eaLnBrk="0" hangingPunct="0">
              <a:defRPr kumimoji="1" sz="2400">
                <a:solidFill>
                  <a:schemeClr val="tx1"/>
                </a:solidFill>
                <a:latin typeface="Tahoma" panose="020B0604030504040204" pitchFamily="34" charset="0"/>
                <a:ea typeface="標楷體" panose="03000509000000000000" pitchFamily="65" charset="-120"/>
              </a:defRPr>
            </a:lvl1pPr>
            <a:lvl2pPr marL="742950" indent="-285750" eaLnBrk="0" hangingPunct="0">
              <a:defRPr kumimoji="1" sz="2400">
                <a:solidFill>
                  <a:schemeClr val="tx1"/>
                </a:solidFill>
                <a:latin typeface="Tahoma" panose="020B0604030504040204" pitchFamily="34" charset="0"/>
                <a:ea typeface="標楷體" panose="03000509000000000000" pitchFamily="65" charset="-120"/>
              </a:defRPr>
            </a:lvl2pPr>
            <a:lvl3pPr marL="1143000" indent="-228600" eaLnBrk="0" hangingPunct="0">
              <a:defRPr kumimoji="1" sz="2400">
                <a:solidFill>
                  <a:schemeClr val="tx1"/>
                </a:solidFill>
                <a:latin typeface="Tahoma" panose="020B0604030504040204" pitchFamily="34" charset="0"/>
                <a:ea typeface="標楷體" panose="03000509000000000000" pitchFamily="65" charset="-120"/>
              </a:defRPr>
            </a:lvl3pPr>
            <a:lvl4pPr marL="1600200" indent="-228600" eaLnBrk="0" hangingPunct="0">
              <a:defRPr kumimoji="1" sz="2400">
                <a:solidFill>
                  <a:schemeClr val="tx1"/>
                </a:solidFill>
                <a:latin typeface="Tahoma" panose="020B0604030504040204" pitchFamily="34" charset="0"/>
                <a:ea typeface="標楷體" panose="03000509000000000000" pitchFamily="65" charset="-120"/>
              </a:defRPr>
            </a:lvl4pPr>
            <a:lvl5pPr marL="2057400" indent="-228600" eaLnBrk="0" hangingPunct="0">
              <a:defRPr kumimoji="1" sz="24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9pPr>
          </a:lstStyle>
          <a:p>
            <a:pPr eaLnBrk="1" hangingPunct="1">
              <a:lnSpc>
                <a:spcPct val="120000"/>
              </a:lnSpc>
            </a:pPr>
            <a:r>
              <a:rPr kumimoji="0" lang="zh-TW" altLang="en-US" sz="3200">
                <a:solidFill>
                  <a:schemeClr val="hlink"/>
                </a:solidFill>
                <a:latin typeface="標楷體" panose="03000509000000000000" pitchFamily="65" charset="-120"/>
              </a:rPr>
              <a:t>壹、聯合國世界婦女會議</a:t>
            </a:r>
          </a:p>
          <a:p>
            <a:pPr eaLnBrk="1" hangingPunct="1">
              <a:lnSpc>
                <a:spcPct val="120000"/>
              </a:lnSpc>
            </a:pPr>
            <a:r>
              <a:rPr kumimoji="0" lang="zh-TW" altLang="en-US" sz="2800">
                <a:solidFill>
                  <a:srgbClr val="9933FF"/>
                </a:solidFill>
                <a:latin typeface="Times New Roman" panose="02020603050405020304" pitchFamily="18" charset="0"/>
              </a:rPr>
              <a:t>二、</a:t>
            </a:r>
            <a:r>
              <a:rPr kumimoji="0" lang="zh-TW" altLang="en-US" sz="2800">
                <a:latin typeface="Times New Roman" panose="02020603050405020304" pitchFamily="18" charset="0"/>
              </a:rPr>
              <a:t> </a:t>
            </a:r>
            <a:r>
              <a:rPr kumimoji="0" lang="en-US" altLang="zh-TW" sz="2800">
                <a:latin typeface="Times New Roman" panose="02020603050405020304" pitchFamily="18" charset="0"/>
              </a:rPr>
              <a:t>1975</a:t>
            </a:r>
            <a:r>
              <a:rPr kumimoji="0" lang="zh-TW" altLang="en-US" sz="2800">
                <a:latin typeface="Times New Roman" panose="02020603050405020304" pitchFamily="18" charset="0"/>
              </a:rPr>
              <a:t>年</a:t>
            </a:r>
            <a:r>
              <a:rPr kumimoji="0" lang="en-US" altLang="zh-TW" sz="2800">
                <a:latin typeface="Times New Roman" panose="02020603050405020304" pitchFamily="18" charset="0"/>
              </a:rPr>
              <a:t>(</a:t>
            </a:r>
            <a:r>
              <a:rPr kumimoji="0" lang="zh-TW" altLang="en-US" sz="2800">
                <a:latin typeface="Times New Roman" panose="02020603050405020304" pitchFamily="18" charset="0"/>
              </a:rPr>
              <a:t>墨西哥</a:t>
            </a:r>
            <a:r>
              <a:rPr kumimoji="0" lang="en-US" altLang="zh-TW" sz="2800">
                <a:latin typeface="Times New Roman" panose="02020603050405020304" pitchFamily="18" charset="0"/>
              </a:rPr>
              <a:t>)</a:t>
            </a:r>
            <a:r>
              <a:rPr kumimoji="0" lang="zh-TW" altLang="en-US" sz="2800">
                <a:latin typeface="Times New Roman" panose="02020603050405020304" pitchFamily="18" charset="0"/>
              </a:rPr>
              <a:t>第二屆婦女大會提出「婦女十年」，以保障女性、消除對女性歧視為目標</a:t>
            </a:r>
          </a:p>
          <a:p>
            <a:pPr eaLnBrk="1" hangingPunct="1">
              <a:lnSpc>
                <a:spcPct val="120000"/>
              </a:lnSpc>
            </a:pPr>
            <a:r>
              <a:rPr kumimoji="0" lang="zh-TW" altLang="en-US" sz="2800">
                <a:solidFill>
                  <a:srgbClr val="9933FF"/>
                </a:solidFill>
              </a:rPr>
              <a:t>三、</a:t>
            </a:r>
            <a:r>
              <a:rPr kumimoji="0" lang="zh-TW" altLang="en-US" sz="2800"/>
              <a:t> </a:t>
            </a:r>
            <a:r>
              <a:rPr kumimoji="0" lang="en-US" altLang="zh-TW" sz="2800">
                <a:latin typeface="Times New Roman" panose="02020603050405020304" pitchFamily="18" charset="0"/>
              </a:rPr>
              <a:t>1979</a:t>
            </a:r>
            <a:r>
              <a:rPr kumimoji="0" lang="zh-TW" altLang="en-US" sz="2800">
                <a:latin typeface="Times New Roman" panose="02020603050405020304" pitchFamily="18" charset="0"/>
              </a:rPr>
              <a:t>年通過「消除對婦女一切形式歧視公約」（</a:t>
            </a:r>
            <a:r>
              <a:rPr kumimoji="0" lang="en-US" altLang="zh-TW" sz="2800">
                <a:solidFill>
                  <a:srgbClr val="CC00CC"/>
                </a:solidFill>
              </a:rPr>
              <a:t>CEDAW</a:t>
            </a:r>
            <a:r>
              <a:rPr kumimoji="0" lang="zh-TW" altLang="en-US" sz="2800">
                <a:latin typeface="Times New Roman" panose="02020603050405020304" pitchFamily="18" charset="0"/>
              </a:rPr>
              <a:t>）作為婦女人權憲章</a:t>
            </a:r>
          </a:p>
        </p:txBody>
      </p:sp>
      <p:pic>
        <p:nvPicPr>
          <p:cNvPr id="23556" name="Picture 5" descr="CEDAW">
            <a:extLst>
              <a:ext uri="{FF2B5EF4-FFF2-40B4-BE49-F238E27FC236}">
                <a16:creationId xmlns:a16="http://schemas.microsoft.com/office/drawing/2014/main" id="{0DD15AC0-014F-0D76-DA99-DAA96C4359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8125" y="3213100"/>
            <a:ext cx="1905000" cy="271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Bar dir="ver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a:extLst>
              <a:ext uri="{FF2B5EF4-FFF2-40B4-BE49-F238E27FC236}">
                <a16:creationId xmlns:a16="http://schemas.microsoft.com/office/drawing/2014/main" id="{A9C6B77E-0D06-7D00-03C5-CA1454373EC2}"/>
              </a:ext>
            </a:extLst>
          </p:cNvPr>
          <p:cNvSpPr>
            <a:spLocks noGrp="1" noChangeArrowheads="1"/>
          </p:cNvSpPr>
          <p:nvPr>
            <p:ph type="title"/>
          </p:nvPr>
        </p:nvSpPr>
        <p:spPr>
          <a:xfrm>
            <a:off x="539750" y="227013"/>
            <a:ext cx="7883525" cy="1385887"/>
          </a:xfrm>
          <a:noFill/>
        </p:spPr>
        <p:txBody>
          <a:bodyPr lIns="92075" tIns="46038" rIns="92075" bIns="46038" anchor="ctr"/>
          <a:lstStyle/>
          <a:p>
            <a:pPr algn="ctr" eaLnBrk="1" hangingPunct="1"/>
            <a:r>
              <a:rPr lang="zh-TW" altLang="en-US" sz="4800" b="1" dirty="0">
                <a:ea typeface="標楷體" panose="03000509000000000000" pitchFamily="65" charset="-120"/>
              </a:rPr>
              <a:t>國際推動性別主流化源起</a:t>
            </a:r>
            <a:r>
              <a:rPr lang="en-US" altLang="zh-TW" sz="4800" b="1" dirty="0">
                <a:ea typeface="標楷體" panose="03000509000000000000" pitchFamily="65" charset="-120"/>
              </a:rPr>
              <a:t>3</a:t>
            </a:r>
            <a:endParaRPr lang="zh-TW" altLang="en-US" sz="4800" b="1" dirty="0">
              <a:ea typeface="標楷體" panose="03000509000000000000" pitchFamily="65" charset="-120"/>
            </a:endParaRPr>
          </a:p>
        </p:txBody>
      </p:sp>
      <p:sp>
        <p:nvSpPr>
          <p:cNvPr id="24578" name="Text Box 2">
            <a:extLst>
              <a:ext uri="{FF2B5EF4-FFF2-40B4-BE49-F238E27FC236}">
                <a16:creationId xmlns:a16="http://schemas.microsoft.com/office/drawing/2014/main" id="{312E284F-B7DB-D22E-F54C-1E7955CB7EC2}"/>
              </a:ext>
            </a:extLst>
          </p:cNvPr>
          <p:cNvSpPr>
            <a:spLocks noGrp="1" noChangeArrowheads="1"/>
          </p:cNvSpPr>
          <p:nvPr>
            <p:ph idx="1"/>
          </p:nvPr>
        </p:nvSpPr>
        <p:spPr>
          <a:xfrm>
            <a:off x="539750" y="2205038"/>
            <a:ext cx="5184775" cy="4319587"/>
          </a:xfrm>
          <a:noFill/>
        </p:spPr>
        <p:txBody>
          <a:bodyPr/>
          <a:lstStyle/>
          <a:p>
            <a:pPr marL="723900" indent="-723900" eaLnBrk="1" hangingPunct="1">
              <a:lnSpc>
                <a:spcPct val="125000"/>
              </a:lnSpc>
              <a:buFont typeface="Wingdings" panose="05000000000000000000" pitchFamily="2" charset="2"/>
              <a:buNone/>
            </a:pPr>
            <a:r>
              <a:rPr kumimoji="0" lang="zh-TW" altLang="en-US" sz="2800">
                <a:solidFill>
                  <a:srgbClr val="9933FF"/>
                </a:solidFill>
                <a:latin typeface="標楷體" panose="03000509000000000000" pitchFamily="65" charset="-120"/>
                <a:ea typeface="標楷體" panose="03000509000000000000" pitchFamily="65" charset="-120"/>
              </a:rPr>
              <a:t>四、</a:t>
            </a:r>
            <a:r>
              <a:rPr kumimoji="0" lang="en-US" altLang="zh-TW" sz="2800">
                <a:latin typeface="Times New Roman" panose="02020603050405020304" pitchFamily="18" charset="0"/>
                <a:ea typeface="標楷體" panose="03000509000000000000" pitchFamily="65" charset="-120"/>
              </a:rPr>
              <a:t>1985</a:t>
            </a:r>
            <a:r>
              <a:rPr kumimoji="0" lang="en-US" altLang="en-US"/>
              <a:t>（</a:t>
            </a:r>
            <a:r>
              <a:rPr kumimoji="0" lang="zh-TW" altLang="en-US" sz="2800">
                <a:latin typeface="Times New Roman" panose="02020603050405020304" pitchFamily="18" charset="0"/>
                <a:ea typeface="標楷體" panose="03000509000000000000" pitchFamily="65" charset="-120"/>
              </a:rPr>
              <a:t>奈洛比</a:t>
            </a:r>
            <a:r>
              <a:rPr kumimoji="0" lang="zh-TW" altLang="en-US"/>
              <a:t>）</a:t>
            </a:r>
            <a:r>
              <a:rPr kumimoji="0" lang="zh-TW" altLang="en-US" sz="2800">
                <a:latin typeface="Times New Roman" panose="02020603050405020304" pitchFamily="18" charset="0"/>
                <a:ea typeface="標楷體" panose="03000509000000000000" pitchFamily="65" charset="-120"/>
              </a:rPr>
              <a:t>第三屆世界婦女大會，第一次提出</a:t>
            </a:r>
            <a:r>
              <a:rPr lang="zh-TW" altLang="en-US" sz="2800">
                <a:solidFill>
                  <a:schemeClr val="hlink"/>
                </a:solidFill>
                <a:latin typeface="Times New Roman" panose="02020603050405020304" pitchFamily="18" charset="0"/>
                <a:ea typeface="標楷體" panose="03000509000000000000" pitchFamily="65" charset="-120"/>
              </a:rPr>
              <a:t>性別主流化</a:t>
            </a:r>
            <a:r>
              <a:rPr lang="zh-TW" altLang="en-US" sz="2800">
                <a:latin typeface="Times New Roman" panose="02020603050405020304" pitchFamily="18" charset="0"/>
                <a:ea typeface="標楷體" panose="03000509000000000000" pitchFamily="65" charset="-120"/>
              </a:rPr>
              <a:t>，</a:t>
            </a:r>
            <a:r>
              <a:rPr lang="zh-TW" altLang="en-US" sz="2800">
                <a:solidFill>
                  <a:schemeClr val="hlink"/>
                </a:solidFill>
                <a:latin typeface="Times New Roman" panose="02020603050405020304" pitchFamily="18" charset="0"/>
                <a:ea typeface="標楷體" panose="03000509000000000000" pitchFamily="65" charset="-120"/>
              </a:rPr>
              <a:t>討論</a:t>
            </a:r>
            <a:r>
              <a:rPr kumimoji="0" lang="zh-TW" altLang="en-US" sz="2800">
                <a:latin typeface="Times New Roman" panose="02020603050405020304" pitchFamily="18" charset="0"/>
                <a:ea typeface="標楷體" panose="03000509000000000000" pitchFamily="65" charset="-120"/>
              </a:rPr>
              <a:t>「</a:t>
            </a:r>
            <a:r>
              <a:rPr kumimoji="0" lang="zh-TW" altLang="en-US" sz="2800">
                <a:solidFill>
                  <a:srgbClr val="CC0099"/>
                </a:solidFill>
                <a:latin typeface="Times New Roman" panose="02020603050405020304" pitchFamily="18" charset="0"/>
                <a:ea typeface="標楷體" panose="03000509000000000000" pitchFamily="65" charset="-120"/>
              </a:rPr>
              <a:t>性別盲</a:t>
            </a:r>
            <a:r>
              <a:rPr kumimoji="0" lang="zh-TW" altLang="en-US" sz="2800">
                <a:latin typeface="Times New Roman" panose="02020603050405020304" pitchFamily="18" charset="0"/>
                <a:ea typeface="標楷體" panose="03000509000000000000" pitchFamily="65" charset="-120"/>
              </a:rPr>
              <a:t>」現象，審查「婦女十年」成果，發現目標並未達成</a:t>
            </a:r>
          </a:p>
        </p:txBody>
      </p:sp>
      <p:pic>
        <p:nvPicPr>
          <p:cNvPr id="24580" name="Picture 4" descr="性別主流化">
            <a:extLst>
              <a:ext uri="{FF2B5EF4-FFF2-40B4-BE49-F238E27FC236}">
                <a16:creationId xmlns:a16="http://schemas.microsoft.com/office/drawing/2014/main" id="{84FE69C8-AFE3-0F29-A388-563DFD11B4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1863" y="2492375"/>
            <a:ext cx="2411412" cy="288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a:extLst>
              <a:ext uri="{FF2B5EF4-FFF2-40B4-BE49-F238E27FC236}">
                <a16:creationId xmlns:a16="http://schemas.microsoft.com/office/drawing/2014/main" id="{887043E9-9BC5-F081-841B-A03632079E05}"/>
              </a:ext>
            </a:extLst>
          </p:cNvPr>
          <p:cNvSpPr>
            <a:spLocks noGrp="1" noChangeArrowheads="1"/>
          </p:cNvSpPr>
          <p:nvPr>
            <p:ph type="title"/>
          </p:nvPr>
        </p:nvSpPr>
        <p:spPr>
          <a:xfrm>
            <a:off x="971600" y="227013"/>
            <a:ext cx="7451675" cy="1385887"/>
          </a:xfrm>
          <a:noFill/>
        </p:spPr>
        <p:txBody>
          <a:bodyPr lIns="92075" tIns="46038" rIns="92075" bIns="46038" anchor="ctr"/>
          <a:lstStyle/>
          <a:p>
            <a:pPr algn="ctr" eaLnBrk="1" hangingPunct="1"/>
            <a:r>
              <a:rPr lang="zh-TW" altLang="en-US" sz="4800" b="1" dirty="0">
                <a:ea typeface="標楷體" panose="03000509000000000000" pitchFamily="65" charset="-120"/>
              </a:rPr>
              <a:t>國際推動性別主流化源起</a:t>
            </a:r>
            <a:r>
              <a:rPr lang="en-US" altLang="zh-TW" sz="4800" b="1" dirty="0">
                <a:ea typeface="標楷體" panose="03000509000000000000" pitchFamily="65" charset="-120"/>
              </a:rPr>
              <a:t>4</a:t>
            </a:r>
            <a:endParaRPr lang="zh-TW" altLang="en-US" sz="4800" b="1" dirty="0">
              <a:ea typeface="標楷體" panose="03000509000000000000" pitchFamily="65" charset="-120"/>
            </a:endParaRPr>
          </a:p>
        </p:txBody>
      </p:sp>
      <p:sp>
        <p:nvSpPr>
          <p:cNvPr id="25602" name="Text Box 2">
            <a:extLst>
              <a:ext uri="{FF2B5EF4-FFF2-40B4-BE49-F238E27FC236}">
                <a16:creationId xmlns:a16="http://schemas.microsoft.com/office/drawing/2014/main" id="{20C8A9A3-3B0F-DFF6-4947-D4A91581865D}"/>
              </a:ext>
            </a:extLst>
          </p:cNvPr>
          <p:cNvSpPr>
            <a:spLocks noGrp="1" noChangeArrowheads="1"/>
          </p:cNvSpPr>
          <p:nvPr>
            <p:ph idx="1"/>
          </p:nvPr>
        </p:nvSpPr>
        <p:spPr>
          <a:xfrm>
            <a:off x="539750" y="2205038"/>
            <a:ext cx="5184775" cy="4319587"/>
          </a:xfrm>
          <a:noFill/>
        </p:spPr>
        <p:txBody>
          <a:bodyPr/>
          <a:lstStyle/>
          <a:p>
            <a:pPr marL="803275" indent="-803275" eaLnBrk="1" hangingPunct="1">
              <a:buFont typeface="Wingdings" panose="05000000000000000000" pitchFamily="2" charset="2"/>
              <a:buNone/>
            </a:pPr>
            <a:r>
              <a:rPr kumimoji="0" lang="zh-TW" altLang="en-US" sz="2800">
                <a:solidFill>
                  <a:srgbClr val="9933FF"/>
                </a:solidFill>
                <a:latin typeface="Times New Roman" panose="02020603050405020304" pitchFamily="18" charset="0"/>
                <a:ea typeface="標楷體" panose="03000509000000000000" pitchFamily="65" charset="-120"/>
              </a:rPr>
              <a:t>五、</a:t>
            </a:r>
            <a:r>
              <a:rPr kumimoji="0" lang="en-US" altLang="zh-TW" sz="2800">
                <a:latin typeface="Times New Roman" panose="02020603050405020304" pitchFamily="18" charset="0"/>
                <a:ea typeface="標楷體" panose="03000509000000000000" pitchFamily="65" charset="-120"/>
              </a:rPr>
              <a:t>1995</a:t>
            </a:r>
            <a:r>
              <a:rPr kumimoji="0" lang="zh-TW" altLang="en-US" sz="2800">
                <a:latin typeface="Times New Roman" panose="02020603050405020304" pitchFamily="18" charset="0"/>
                <a:ea typeface="標楷體" panose="03000509000000000000" pitchFamily="65" charset="-120"/>
              </a:rPr>
              <a:t>年</a:t>
            </a:r>
            <a:r>
              <a:rPr kumimoji="0" lang="en-US" altLang="zh-TW" sz="2800">
                <a:latin typeface="Times New Roman" panose="02020603050405020304" pitchFamily="18" charset="0"/>
                <a:ea typeface="標楷體" panose="03000509000000000000" pitchFamily="65" charset="-120"/>
              </a:rPr>
              <a:t>(</a:t>
            </a:r>
            <a:r>
              <a:rPr kumimoji="0" lang="zh-TW" altLang="en-US" sz="2800">
                <a:latin typeface="標楷體" panose="03000509000000000000" pitchFamily="65" charset="-120"/>
                <a:ea typeface="標楷體" panose="03000509000000000000" pitchFamily="65" charset="-120"/>
              </a:rPr>
              <a:t>北京</a:t>
            </a:r>
            <a:r>
              <a:rPr kumimoji="0" lang="en-US" altLang="zh-TW" sz="2800">
                <a:latin typeface="標楷體" panose="03000509000000000000" pitchFamily="65" charset="-120"/>
                <a:ea typeface="標楷體" panose="03000509000000000000" pitchFamily="65" charset="-120"/>
              </a:rPr>
              <a:t>)</a:t>
            </a:r>
            <a:r>
              <a:rPr kumimoji="0" lang="zh-TW" altLang="en-US" sz="2800">
                <a:latin typeface="標楷體" panose="03000509000000000000" pitchFamily="65" charset="-120"/>
                <a:ea typeface="標楷體" panose="03000509000000000000" pitchFamily="65" charset="-120"/>
              </a:rPr>
              <a:t>聯合國第四屆婦女大會推出「</a:t>
            </a:r>
            <a:r>
              <a:rPr kumimoji="0" lang="zh-TW" altLang="en-US" sz="2800">
                <a:solidFill>
                  <a:srgbClr val="CC0099"/>
                </a:solidFill>
                <a:latin typeface="標楷體" panose="03000509000000000000" pitchFamily="65" charset="-120"/>
                <a:ea typeface="標楷體" panose="03000509000000000000" pitchFamily="65" charset="-120"/>
              </a:rPr>
              <a:t>性別主流化</a:t>
            </a:r>
            <a:r>
              <a:rPr kumimoji="0" lang="zh-TW" altLang="en-US" sz="2800">
                <a:latin typeface="標楷體" panose="03000509000000000000" pitchFamily="65" charset="-120"/>
                <a:ea typeface="標楷體" panose="03000509000000000000" pitchFamily="65" charset="-120"/>
              </a:rPr>
              <a:t>」的全球策略，強調需要</a:t>
            </a:r>
            <a:r>
              <a:rPr kumimoji="0" lang="zh-TW" altLang="en-US" sz="2800">
                <a:solidFill>
                  <a:srgbClr val="CC0099"/>
                </a:solidFill>
                <a:latin typeface="標楷體" panose="03000509000000000000" pitchFamily="65" charset="-120"/>
                <a:ea typeface="標楷體" panose="03000509000000000000" pitchFamily="65" charset="-120"/>
              </a:rPr>
              <a:t>國家級</a:t>
            </a:r>
            <a:r>
              <a:rPr kumimoji="0" lang="zh-TW" altLang="en-US" sz="2800">
                <a:latin typeface="標楷體" panose="03000509000000000000" pitchFamily="65" charset="-120"/>
                <a:ea typeface="標楷體" panose="03000509000000000000" pitchFamily="65" charset="-120"/>
              </a:rPr>
              <a:t>的行動策略才能確保性別平等的落實</a:t>
            </a:r>
          </a:p>
          <a:p>
            <a:pPr marL="803275" indent="-803275" eaLnBrk="1" hangingPunct="1">
              <a:buFont typeface="Wingdings" panose="05000000000000000000" pitchFamily="2" charset="2"/>
              <a:buNone/>
            </a:pPr>
            <a:r>
              <a:rPr kumimoji="0" lang="zh-TW" altLang="en-US" sz="2800">
                <a:solidFill>
                  <a:schemeClr val="hlink"/>
                </a:solidFill>
                <a:latin typeface="Times New Roman" panose="02020603050405020304" pitchFamily="18" charset="0"/>
                <a:ea typeface="標楷體" panose="03000509000000000000" pitchFamily="65" charset="-120"/>
              </a:rPr>
              <a:t>貳、</a:t>
            </a:r>
            <a:r>
              <a:rPr kumimoji="0" lang="en-US" altLang="zh-TW" sz="2800">
                <a:solidFill>
                  <a:schemeClr val="hlink"/>
                </a:solidFill>
                <a:latin typeface="Times New Roman" panose="02020603050405020304" pitchFamily="18" charset="0"/>
                <a:ea typeface="標楷體" panose="03000509000000000000" pitchFamily="65" charset="-120"/>
              </a:rPr>
              <a:t>APEC</a:t>
            </a:r>
            <a:r>
              <a:rPr kumimoji="0" lang="zh-TW" altLang="en-US" sz="2800">
                <a:solidFill>
                  <a:schemeClr val="hlink"/>
                </a:solidFill>
                <a:latin typeface="Times New Roman" panose="02020603050405020304" pitchFamily="18" charset="0"/>
                <a:ea typeface="標楷體" panose="03000509000000000000" pitchFamily="65" charset="-120"/>
              </a:rPr>
              <a:t>性別整合會議倡議「性別主流化」思潮，訂定重要</a:t>
            </a:r>
            <a:r>
              <a:rPr kumimoji="0" lang="zh-TW" altLang="en-US" sz="2800">
                <a:solidFill>
                  <a:srgbClr val="CC00CC"/>
                </a:solidFill>
                <a:latin typeface="Times New Roman" panose="02020603050405020304" pitchFamily="18" charset="0"/>
                <a:ea typeface="標楷體" panose="03000509000000000000" pitchFamily="65" charset="-120"/>
              </a:rPr>
              <a:t>指標檢視清單</a:t>
            </a:r>
            <a:endParaRPr kumimoji="0" lang="zh-TW" altLang="en-US" sz="2800">
              <a:solidFill>
                <a:srgbClr val="CC00CC"/>
              </a:solidFill>
              <a:latin typeface="新細明體" panose="02020500000000000000" pitchFamily="18" charset="-120"/>
            </a:endParaRPr>
          </a:p>
        </p:txBody>
      </p:sp>
      <p:pic>
        <p:nvPicPr>
          <p:cNvPr id="25604" name="Picture 4" descr="1995北京婦女世界會議">
            <a:extLst>
              <a:ext uri="{FF2B5EF4-FFF2-40B4-BE49-F238E27FC236}">
                <a16:creationId xmlns:a16="http://schemas.microsoft.com/office/drawing/2014/main" id="{179A3D0C-E955-392B-6F73-09B1872867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24525" y="2924175"/>
            <a:ext cx="3209925" cy="209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F7FAB39C-9279-5937-50BA-FBAEE78F017F}"/>
              </a:ext>
            </a:extLst>
          </p:cNvPr>
          <p:cNvSpPr>
            <a:spLocks noGrp="1" noChangeArrowheads="1"/>
          </p:cNvSpPr>
          <p:nvPr>
            <p:ph type="title"/>
          </p:nvPr>
        </p:nvSpPr>
        <p:spPr>
          <a:xfrm>
            <a:off x="1115294" y="188640"/>
            <a:ext cx="7793037" cy="1462087"/>
          </a:xfrm>
        </p:spPr>
        <p:txBody>
          <a:bodyPr/>
          <a:lstStyle/>
          <a:p>
            <a:r>
              <a:rPr lang="zh-TW" altLang="en-US" b="1" dirty="0">
                <a:latin typeface="微軟正黑體" panose="020B0604030504040204" pitchFamily="34" charset="-120"/>
                <a:ea typeface="微軟正黑體" panose="020B0604030504040204" pitchFamily="34" charset="-120"/>
              </a:rPr>
              <a:t>性別主流化在台灣</a:t>
            </a:r>
            <a:r>
              <a:rPr lang="zh-TW" altLang="en-US" sz="3400" b="1" dirty="0">
                <a:latin typeface="微軟正黑體" panose="020B0604030504040204" pitchFamily="34" charset="-120"/>
                <a:ea typeface="微軟正黑體" panose="020B0604030504040204" pitchFamily="34" charset="-120"/>
              </a:rPr>
              <a:t>（一）</a:t>
            </a:r>
          </a:p>
        </p:txBody>
      </p:sp>
      <p:sp>
        <p:nvSpPr>
          <p:cNvPr id="26627" name="Rectangle 3">
            <a:extLst>
              <a:ext uri="{FF2B5EF4-FFF2-40B4-BE49-F238E27FC236}">
                <a16:creationId xmlns:a16="http://schemas.microsoft.com/office/drawing/2014/main" id="{11EC0857-AB5D-D65F-79FF-E227EC1D4DEF}"/>
              </a:ext>
            </a:extLst>
          </p:cNvPr>
          <p:cNvSpPr>
            <a:spLocks noGrp="1" noChangeArrowheads="1"/>
          </p:cNvSpPr>
          <p:nvPr>
            <p:ph idx="1"/>
          </p:nvPr>
        </p:nvSpPr>
        <p:spPr>
          <a:xfrm>
            <a:off x="1182688" y="1773238"/>
            <a:ext cx="7772400" cy="4359275"/>
          </a:xfrm>
        </p:spPr>
        <p:txBody>
          <a:bodyPr/>
          <a:lstStyle/>
          <a:p>
            <a:r>
              <a:rPr kumimoji="0" lang="en-US" altLang="zh-TW" sz="2800" dirty="0">
                <a:solidFill>
                  <a:srgbClr val="002060"/>
                </a:solidFill>
                <a:latin typeface="微軟正黑體" panose="020B0604030504040204" pitchFamily="34" charset="-120"/>
                <a:ea typeface="微軟正黑體" panose="020B0604030504040204" pitchFamily="34" charset="-120"/>
              </a:rPr>
              <a:t>90</a:t>
            </a:r>
            <a:r>
              <a:rPr kumimoji="0" lang="zh-TW" altLang="en-US" sz="2800" dirty="0">
                <a:solidFill>
                  <a:srgbClr val="002060"/>
                </a:solidFill>
                <a:latin typeface="微軟正黑體" panose="020B0604030504040204" pitchFamily="34" charset="-120"/>
                <a:ea typeface="微軟正黑體" panose="020B0604030504040204" pitchFamily="34" charset="-120"/>
              </a:rPr>
              <a:t>年代</a:t>
            </a:r>
            <a:r>
              <a:rPr kumimoji="0" lang="en-US" altLang="zh-TW" sz="2800" dirty="0">
                <a:solidFill>
                  <a:srgbClr val="002060"/>
                </a:solidFill>
                <a:latin typeface="微軟正黑體" panose="020B0604030504040204" pitchFamily="34" charset="-120"/>
                <a:ea typeface="微軟正黑體" panose="020B0604030504040204" pitchFamily="34" charset="-120"/>
              </a:rPr>
              <a:t>-</a:t>
            </a:r>
            <a:r>
              <a:rPr kumimoji="0" lang="zh-TW" altLang="en-US" sz="2800" dirty="0">
                <a:solidFill>
                  <a:srgbClr val="002060"/>
                </a:solidFill>
                <a:latin typeface="微軟正黑體" panose="020B0604030504040204" pitchFamily="34" charset="-120"/>
                <a:ea typeface="微軟正黑體" panose="020B0604030504040204" pitchFamily="34" charset="-120"/>
              </a:rPr>
              <a:t>在全球化浪潮下，形成本土婦運</a:t>
            </a:r>
            <a:r>
              <a:rPr kumimoji="0" lang="en-US" altLang="zh-TW" sz="2800" dirty="0">
                <a:solidFill>
                  <a:srgbClr val="002060"/>
                </a:solidFill>
                <a:latin typeface="微軟正黑體" panose="020B0604030504040204" pitchFamily="34" charset="-120"/>
                <a:ea typeface="微軟正黑體" panose="020B0604030504040204" pitchFamily="34" charset="-120"/>
              </a:rPr>
              <a:t>(</a:t>
            </a:r>
            <a:r>
              <a:rPr kumimoji="0" lang="zh-TW" altLang="en-US" sz="2800" dirty="0">
                <a:solidFill>
                  <a:srgbClr val="002060"/>
                </a:solidFill>
                <a:latin typeface="微軟正黑體" panose="020B0604030504040204" pitchFamily="34" charset="-120"/>
                <a:ea typeface="微軟正黑體" panose="020B0604030504040204" pitchFamily="34" charset="-120"/>
              </a:rPr>
              <a:t>當時使用婦女運動、婦女權益、兩性平等詞彙；做法和性別主流化有異曲同工之妙</a:t>
            </a:r>
            <a:r>
              <a:rPr kumimoji="0" lang="en-US" altLang="zh-TW" sz="2800" dirty="0">
                <a:solidFill>
                  <a:srgbClr val="002060"/>
                </a:solidFill>
                <a:latin typeface="微軟正黑體" panose="020B0604030504040204" pitchFamily="34" charset="-120"/>
                <a:ea typeface="微軟正黑體" panose="020B0604030504040204" pitchFamily="34" charset="-120"/>
              </a:rPr>
              <a:t>)</a:t>
            </a:r>
          </a:p>
          <a:p>
            <a:pPr>
              <a:buFont typeface="Wingdings" panose="05000000000000000000" pitchFamily="2" charset="2"/>
              <a:buNone/>
            </a:pPr>
            <a:endParaRPr kumimoji="0" lang="en-US" altLang="zh-TW" sz="2800" dirty="0">
              <a:solidFill>
                <a:srgbClr val="002060"/>
              </a:solidFill>
              <a:latin typeface="微軟正黑體" panose="020B0604030504040204" pitchFamily="34" charset="-120"/>
              <a:ea typeface="微軟正黑體" panose="020B0604030504040204" pitchFamily="34" charset="-120"/>
            </a:endParaRPr>
          </a:p>
          <a:p>
            <a:r>
              <a:rPr kumimoji="0" lang="en-US" altLang="zh-TW" sz="2800" dirty="0">
                <a:solidFill>
                  <a:srgbClr val="002060"/>
                </a:solidFill>
                <a:latin typeface="微軟正黑體" panose="020B0604030504040204" pitchFamily="34" charset="-120"/>
                <a:ea typeface="微軟正黑體" panose="020B0604030504040204" pitchFamily="34" charset="-120"/>
              </a:rPr>
              <a:t>2000</a:t>
            </a:r>
            <a:r>
              <a:rPr kumimoji="0" lang="zh-TW" altLang="en-US" sz="2800" dirty="0">
                <a:solidFill>
                  <a:srgbClr val="002060"/>
                </a:solidFill>
                <a:latin typeface="微軟正黑體" panose="020B0604030504040204" pitchFamily="34" charset="-120"/>
                <a:ea typeface="微軟正黑體" panose="020B0604030504040204" pitchFamily="34" charset="-120"/>
              </a:rPr>
              <a:t>年之後</a:t>
            </a:r>
            <a:r>
              <a:rPr kumimoji="0" lang="en-US" altLang="zh-TW" sz="2800" dirty="0">
                <a:solidFill>
                  <a:srgbClr val="002060"/>
                </a:solidFill>
                <a:latin typeface="微軟正黑體" panose="020B0604030504040204" pitchFamily="34" charset="-120"/>
                <a:ea typeface="微軟正黑體" panose="020B0604030504040204" pitchFamily="34" charset="-120"/>
              </a:rPr>
              <a:t>-</a:t>
            </a:r>
            <a:r>
              <a:rPr kumimoji="0" lang="zh-TW" altLang="en-US" sz="2800" dirty="0">
                <a:solidFill>
                  <a:srgbClr val="002060"/>
                </a:solidFill>
                <a:latin typeface="微軟正黑體" panose="020B0604030504040204" pitchFamily="34" charset="-120"/>
                <a:ea typeface="微軟正黑體" panose="020B0604030504040204" pitchFamily="34" charset="-120"/>
              </a:rPr>
              <a:t>行政院青輔會率先用性別主流化的概念制定施政方針；行政院婦權會積極推動，各地方政府配合跟進。</a:t>
            </a:r>
          </a:p>
          <a:p>
            <a:pPr>
              <a:buFont typeface="Wingdings" panose="05000000000000000000" pitchFamily="2" charset="2"/>
              <a:buNone/>
            </a:pPr>
            <a:endParaRPr kumimoji="0" lang="zh-TW" altLang="en-US" sz="2800" dirty="0">
              <a:solidFill>
                <a:srgbClr val="002060"/>
              </a:solidFill>
              <a:latin typeface="微軟正黑體" panose="020B0604030504040204" pitchFamily="34" charset="-120"/>
              <a:ea typeface="微軟正黑體" panose="020B0604030504040204" pitchFamily="34" charset="-120"/>
            </a:endParaRPr>
          </a:p>
          <a:p>
            <a:pPr>
              <a:buFont typeface="Wingdings" panose="05000000000000000000" pitchFamily="2" charset="2"/>
              <a:buNone/>
            </a:pPr>
            <a:r>
              <a:rPr kumimoji="0" lang="en-US" altLang="zh-TW" sz="2000" dirty="0">
                <a:solidFill>
                  <a:srgbClr val="002060"/>
                </a:solidFill>
                <a:latin typeface="微軟正黑體" panose="020B0604030504040204" pitchFamily="34" charset="-120"/>
                <a:ea typeface="微軟正黑體" panose="020B0604030504040204" pitchFamily="34" charset="-120"/>
              </a:rPr>
              <a:t>(</a:t>
            </a:r>
            <a:r>
              <a:rPr kumimoji="0" lang="zh-TW" altLang="en-US" sz="2000" dirty="0">
                <a:solidFill>
                  <a:srgbClr val="002060"/>
                </a:solidFill>
                <a:latin typeface="微軟正黑體" panose="020B0604030504040204" pitchFamily="34" charset="-120"/>
                <a:ea typeface="微軟正黑體" panose="020B0604030504040204" pitchFamily="34" charset="-120"/>
              </a:rPr>
              <a:t>部份資料引自林芳玫─性別主流化在台灣：從國際發展到在地方的實踐</a:t>
            </a:r>
            <a:r>
              <a:rPr kumimoji="0" lang="en-US" altLang="zh-TW" sz="2000" dirty="0">
                <a:solidFill>
                  <a:srgbClr val="002060"/>
                </a:solidFill>
                <a:latin typeface="微軟正黑體" panose="020B0604030504040204" pitchFamily="34" charset="-120"/>
                <a:ea typeface="微軟正黑體" panose="020B0604030504040204" pitchFamily="34" charset="-120"/>
              </a:rPr>
              <a:t>)</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2A5B46CF-4A66-B344-DD48-F04C87B68AFB}"/>
              </a:ext>
            </a:extLst>
          </p:cNvPr>
          <p:cNvSpPr>
            <a:spLocks noGrp="1" noChangeArrowheads="1"/>
          </p:cNvSpPr>
          <p:nvPr>
            <p:ph type="title"/>
          </p:nvPr>
        </p:nvSpPr>
        <p:spPr/>
        <p:txBody>
          <a:bodyPr/>
          <a:lstStyle/>
          <a:p>
            <a:pPr eaLnBrk="1" hangingPunct="1"/>
            <a:r>
              <a:rPr lang="zh-TW" altLang="en-US" b="1" dirty="0">
                <a:latin typeface="微軟正黑體" panose="020B0604030504040204" pitchFamily="34" charset="-120"/>
                <a:ea typeface="微軟正黑體" panose="020B0604030504040204" pitchFamily="34" charset="-120"/>
              </a:rPr>
              <a:t>性別主流化在台灣</a:t>
            </a:r>
            <a:r>
              <a:rPr lang="zh-TW" altLang="en-US" sz="3200" b="1" dirty="0">
                <a:latin typeface="微軟正黑體" panose="020B0604030504040204" pitchFamily="34" charset="-120"/>
                <a:ea typeface="微軟正黑體" panose="020B0604030504040204" pitchFamily="34" charset="-120"/>
              </a:rPr>
              <a:t>（二）</a:t>
            </a:r>
            <a:endParaRPr lang="en-US" altLang="zh-TW" sz="3200" b="1" dirty="0">
              <a:latin typeface="微軟正黑體" panose="020B0604030504040204" pitchFamily="34" charset="-120"/>
              <a:ea typeface="微軟正黑體" panose="020B0604030504040204" pitchFamily="34" charset="-120"/>
            </a:endParaRPr>
          </a:p>
        </p:txBody>
      </p:sp>
      <p:sp>
        <p:nvSpPr>
          <p:cNvPr id="27651" name="Rectangle 3">
            <a:extLst>
              <a:ext uri="{FF2B5EF4-FFF2-40B4-BE49-F238E27FC236}">
                <a16:creationId xmlns:a16="http://schemas.microsoft.com/office/drawing/2014/main" id="{D937FE54-024A-A0EF-991B-96F6147CA303}"/>
              </a:ext>
            </a:extLst>
          </p:cNvPr>
          <p:cNvSpPr>
            <a:spLocks noGrp="1" noChangeArrowheads="1"/>
          </p:cNvSpPr>
          <p:nvPr>
            <p:ph idx="1"/>
          </p:nvPr>
        </p:nvSpPr>
        <p:spPr>
          <a:xfrm>
            <a:off x="684213" y="2060575"/>
            <a:ext cx="7345362" cy="4114800"/>
          </a:xfrm>
        </p:spPr>
        <p:txBody>
          <a:bodyPr/>
          <a:lstStyle/>
          <a:p>
            <a:pPr marL="177800" indent="-177800" eaLnBrk="1" hangingPunct="1">
              <a:buFont typeface="Wingdings" panose="05000000000000000000" pitchFamily="2" charset="2"/>
              <a:buNone/>
            </a:pPr>
            <a:r>
              <a:rPr kumimoji="0" lang="en-US" altLang="zh-TW" sz="3600" dirty="0">
                <a:solidFill>
                  <a:srgbClr val="002060"/>
                </a:solidFill>
                <a:latin typeface="微軟正黑體" panose="020B0604030504040204" pitchFamily="34" charset="-120"/>
                <a:ea typeface="微軟正黑體" panose="020B0604030504040204" pitchFamily="34" charset="-120"/>
              </a:rPr>
              <a:t>2000</a:t>
            </a:r>
            <a:r>
              <a:rPr kumimoji="0" lang="zh-TW" altLang="en-US" sz="3600" dirty="0">
                <a:solidFill>
                  <a:srgbClr val="002060"/>
                </a:solidFill>
                <a:latin typeface="微軟正黑體" panose="020B0604030504040204" pitchFamily="34" charset="-120"/>
                <a:ea typeface="微軟正黑體" panose="020B0604030504040204" pitchFamily="34" charset="-120"/>
              </a:rPr>
              <a:t>年之後</a:t>
            </a:r>
          </a:p>
          <a:p>
            <a:pPr marL="177800" indent="-177800" eaLnBrk="1" hangingPunct="1">
              <a:buClr>
                <a:srgbClr val="CC0099"/>
              </a:buClr>
              <a:buFont typeface="Wingdings" panose="05000000000000000000" pitchFamily="2" charset="2"/>
              <a:buChar char="Ø"/>
            </a:pPr>
            <a:r>
              <a:rPr kumimoji="0" lang="zh-TW" altLang="en-US" dirty="0">
                <a:solidFill>
                  <a:srgbClr val="002060"/>
                </a:solidFill>
                <a:latin typeface="微軟正黑體" panose="020B0604030504040204" pitchFamily="34" charset="-120"/>
                <a:ea typeface="微軟正黑體" panose="020B0604030504040204" pitchFamily="34" charset="-120"/>
              </a:rPr>
              <a:t>總統府</a:t>
            </a:r>
            <a:r>
              <a:rPr kumimoji="0" lang="en-US" altLang="zh-TW" dirty="0">
                <a:solidFill>
                  <a:srgbClr val="002060"/>
                </a:solidFill>
                <a:latin typeface="微軟正黑體" panose="020B0604030504040204" pitchFamily="34" charset="-120"/>
                <a:ea typeface="微軟正黑體" panose="020B0604030504040204" pitchFamily="34" charset="-120"/>
              </a:rPr>
              <a:t>2005</a:t>
            </a:r>
            <a:r>
              <a:rPr kumimoji="0" lang="zh-TW" altLang="en-US" dirty="0">
                <a:solidFill>
                  <a:srgbClr val="002060"/>
                </a:solidFill>
                <a:latin typeface="微軟正黑體" panose="020B0604030504040204" pitchFamily="34" charset="-120"/>
                <a:ea typeface="微軟正黑體" panose="020B0604030504040204" pitchFamily="34" charset="-120"/>
              </a:rPr>
              <a:t>年</a:t>
            </a:r>
            <a:r>
              <a:rPr kumimoji="0" lang="en-US" altLang="zh-TW" dirty="0">
                <a:solidFill>
                  <a:srgbClr val="002060"/>
                </a:solidFill>
                <a:latin typeface="微軟正黑體" panose="020B0604030504040204" pitchFamily="34" charset="-120"/>
                <a:ea typeface="微軟正黑體" panose="020B0604030504040204" pitchFamily="34" charset="-120"/>
              </a:rPr>
              <a:t>7</a:t>
            </a:r>
            <a:r>
              <a:rPr kumimoji="0" lang="zh-TW" altLang="en-US" dirty="0">
                <a:solidFill>
                  <a:srgbClr val="002060"/>
                </a:solidFill>
                <a:latin typeface="微軟正黑體" panose="020B0604030504040204" pitchFamily="34" charset="-120"/>
                <a:ea typeface="微軟正黑體" panose="020B0604030504040204" pitchFamily="34" charset="-120"/>
              </a:rPr>
              <a:t>月成立性別主流化諮詢顧問小組</a:t>
            </a:r>
          </a:p>
          <a:p>
            <a:pPr marL="177800" indent="-177800" eaLnBrk="1" hangingPunct="1">
              <a:buClr>
                <a:srgbClr val="CC0099"/>
              </a:buClr>
              <a:buFont typeface="Wingdings" panose="05000000000000000000" pitchFamily="2" charset="2"/>
              <a:buChar char="Ø"/>
            </a:pPr>
            <a:r>
              <a:rPr kumimoji="0" lang="en-US" altLang="zh-TW" dirty="0">
                <a:solidFill>
                  <a:srgbClr val="002060"/>
                </a:solidFill>
                <a:latin typeface="微軟正黑體" panose="020B0604030504040204" pitchFamily="34" charset="-120"/>
                <a:ea typeface="微軟正黑體" panose="020B0604030504040204" pitchFamily="34" charset="-120"/>
              </a:rPr>
              <a:t>2008</a:t>
            </a:r>
            <a:r>
              <a:rPr kumimoji="0" lang="zh-TW" altLang="en-US" dirty="0">
                <a:solidFill>
                  <a:srgbClr val="002060"/>
                </a:solidFill>
                <a:latin typeface="微軟正黑體" panose="020B0604030504040204" pitchFamily="34" charset="-120"/>
                <a:ea typeface="微軟正黑體" panose="020B0604030504040204" pitchFamily="34" charset="-120"/>
              </a:rPr>
              <a:t>年總統大選經婦女團體遊說候選人均公開承諾支持設立性別平等委員會，目前正等待立法院通過相關法案</a:t>
            </a:r>
            <a:endParaRPr kumimoji="0" lang="zh-TW" altLang="en-US" sz="2400" dirty="0">
              <a:solidFill>
                <a:srgbClr val="002060"/>
              </a:solidFill>
              <a:latin typeface="微軟正黑體" panose="020B0604030504040204" pitchFamily="34" charset="-120"/>
              <a:ea typeface="微軟正黑體" panose="020B0604030504040204" pitchFamily="34" charset="-120"/>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42DEA05C-D6B3-E7A7-8FEA-E9B1860E349D}"/>
              </a:ext>
            </a:extLst>
          </p:cNvPr>
          <p:cNvSpPr>
            <a:spLocks noGrp="1" noChangeArrowheads="1"/>
          </p:cNvSpPr>
          <p:nvPr>
            <p:ph type="title"/>
          </p:nvPr>
        </p:nvSpPr>
        <p:spPr/>
        <p:txBody>
          <a:bodyPr/>
          <a:lstStyle/>
          <a:p>
            <a:r>
              <a:rPr lang="zh-TW" altLang="en-US" b="1" dirty="0">
                <a:latin typeface="微軟正黑體" panose="020B0604030504040204" pitchFamily="34" charset="-120"/>
                <a:ea typeface="微軟正黑體" panose="020B0604030504040204" pitchFamily="34" charset="-120"/>
              </a:rPr>
              <a:t>性別主流化在台灣</a:t>
            </a:r>
            <a:r>
              <a:rPr lang="zh-TW" altLang="en-US" sz="3400" b="1" dirty="0">
                <a:latin typeface="微軟正黑體" panose="020B0604030504040204" pitchFamily="34" charset="-120"/>
                <a:ea typeface="微軟正黑體" panose="020B0604030504040204" pitchFamily="34" charset="-120"/>
              </a:rPr>
              <a:t>（三）</a:t>
            </a:r>
          </a:p>
        </p:txBody>
      </p:sp>
      <p:sp>
        <p:nvSpPr>
          <p:cNvPr id="28675" name="Rectangle 3">
            <a:extLst>
              <a:ext uri="{FF2B5EF4-FFF2-40B4-BE49-F238E27FC236}">
                <a16:creationId xmlns:a16="http://schemas.microsoft.com/office/drawing/2014/main" id="{3DCEE5C1-478F-F27F-FAD8-6682DB0F87EE}"/>
              </a:ext>
            </a:extLst>
          </p:cNvPr>
          <p:cNvSpPr>
            <a:spLocks noGrp="1" noChangeArrowheads="1"/>
          </p:cNvSpPr>
          <p:nvPr>
            <p:ph idx="1"/>
          </p:nvPr>
        </p:nvSpPr>
        <p:spPr>
          <a:xfrm>
            <a:off x="467544" y="1844824"/>
            <a:ext cx="8487544" cy="4287689"/>
          </a:xfrm>
        </p:spPr>
        <p:txBody>
          <a:bodyPr/>
          <a:lstStyle/>
          <a:p>
            <a:r>
              <a:rPr lang="en-US" altLang="zh-TW" sz="2800" dirty="0">
                <a:solidFill>
                  <a:srgbClr val="002060"/>
                </a:solidFill>
                <a:latin typeface="微軟正黑體" panose="020B0604030504040204" pitchFamily="34" charset="-120"/>
                <a:ea typeface="微軟正黑體" panose="020B0604030504040204" pitchFamily="34" charset="-120"/>
              </a:rPr>
              <a:t>2011</a:t>
            </a:r>
            <a:r>
              <a:rPr lang="zh-TW" altLang="en-US" sz="2800" dirty="0">
                <a:solidFill>
                  <a:srgbClr val="002060"/>
                </a:solidFill>
                <a:latin typeface="微軟正黑體" panose="020B0604030504040204" pitchFamily="34" charset="-120"/>
                <a:ea typeface="微軟正黑體" panose="020B0604030504040204" pitchFamily="34" charset="-120"/>
              </a:rPr>
              <a:t>年</a:t>
            </a:r>
            <a:r>
              <a:rPr lang="en-US" altLang="zh-TW" sz="2800" dirty="0">
                <a:solidFill>
                  <a:srgbClr val="002060"/>
                </a:solidFill>
                <a:latin typeface="微軟正黑體" panose="020B0604030504040204" pitchFamily="34" charset="-120"/>
                <a:ea typeface="微軟正黑體" panose="020B0604030504040204" pitchFamily="34" charset="-120"/>
              </a:rPr>
              <a:t>5</a:t>
            </a:r>
            <a:r>
              <a:rPr lang="zh-TW" altLang="en-US" sz="2800" dirty="0">
                <a:solidFill>
                  <a:srgbClr val="002060"/>
                </a:solidFill>
                <a:latin typeface="微軟正黑體" panose="020B0604030504040204" pitchFamily="34" charset="-120"/>
                <a:ea typeface="微軟正黑體" panose="020B0604030504040204" pitchFamily="34" charset="-120"/>
              </a:rPr>
              <a:t>月</a:t>
            </a:r>
            <a:r>
              <a:rPr lang="en-US" altLang="zh-TW" sz="2800" dirty="0">
                <a:solidFill>
                  <a:srgbClr val="002060"/>
                </a:solidFill>
                <a:latin typeface="微軟正黑體" panose="020B0604030504040204" pitchFamily="34" charset="-120"/>
                <a:ea typeface="微軟正黑體" panose="020B0604030504040204" pitchFamily="34" charset="-120"/>
              </a:rPr>
              <a:t>20</a:t>
            </a:r>
            <a:r>
              <a:rPr lang="zh-TW" altLang="en-US" sz="2800" dirty="0">
                <a:solidFill>
                  <a:srgbClr val="002060"/>
                </a:solidFill>
                <a:latin typeface="微軟正黑體" panose="020B0604030504040204" pitchFamily="34" charset="-120"/>
                <a:ea typeface="微軟正黑體" panose="020B0604030504040204" pitchFamily="34" charset="-120"/>
              </a:rPr>
              <a:t>日立法院通過</a:t>
            </a:r>
            <a:r>
              <a:rPr lang="en-US" altLang="zh-TW" sz="2800" dirty="0">
                <a:solidFill>
                  <a:schemeClr val="hlink"/>
                </a:solidFill>
                <a:latin typeface="微軟正黑體" panose="020B0604030504040204" pitchFamily="34" charset="-120"/>
                <a:ea typeface="微軟正黑體" panose="020B0604030504040204" pitchFamily="34" charset="-120"/>
              </a:rPr>
              <a:t>CEDAW 【</a:t>
            </a:r>
            <a:r>
              <a:rPr lang="zh-TW" altLang="en-US" sz="2800" b="1" dirty="0">
                <a:solidFill>
                  <a:schemeClr val="hlink"/>
                </a:solidFill>
                <a:latin typeface="微軟正黑體" panose="020B0604030504040204" pitchFamily="34" charset="-120"/>
                <a:ea typeface="微軟正黑體" panose="020B0604030504040204" pitchFamily="34" charset="-120"/>
              </a:rPr>
              <a:t>消除對婦女一切形式歧視公約</a:t>
            </a:r>
            <a:r>
              <a:rPr lang="en-US" altLang="zh-TW" sz="2800" dirty="0">
                <a:solidFill>
                  <a:schemeClr val="hlink"/>
                </a:solidFill>
                <a:latin typeface="微軟正黑體" panose="020B0604030504040204" pitchFamily="34" charset="-120"/>
                <a:ea typeface="微軟正黑體" panose="020B0604030504040204" pitchFamily="34" charset="-120"/>
              </a:rPr>
              <a:t>】</a:t>
            </a:r>
            <a:r>
              <a:rPr lang="zh-TW" altLang="en-US" sz="2800" dirty="0">
                <a:solidFill>
                  <a:schemeClr val="hlink"/>
                </a:solidFill>
                <a:latin typeface="微軟正黑體" panose="020B0604030504040204" pitchFamily="34" charset="-120"/>
                <a:ea typeface="微軟正黑體" panose="020B0604030504040204" pitchFamily="34" charset="-120"/>
              </a:rPr>
              <a:t>施行法</a:t>
            </a:r>
            <a:r>
              <a:rPr lang="zh-TW" altLang="en-US" sz="2800" dirty="0">
                <a:latin typeface="微軟正黑體" panose="020B0604030504040204" pitchFamily="34" charset="-120"/>
                <a:ea typeface="微軟正黑體" panose="020B0604030504040204" pitchFamily="34" charset="-120"/>
              </a:rPr>
              <a:t>，</a:t>
            </a:r>
            <a:r>
              <a:rPr lang="en-US" altLang="zh-TW" sz="2800" dirty="0">
                <a:solidFill>
                  <a:srgbClr val="002060"/>
                </a:solidFill>
                <a:latin typeface="微軟正黑體" panose="020B0604030504040204" pitchFamily="34" charset="-120"/>
                <a:ea typeface="微軟正黑體" panose="020B0604030504040204" pitchFamily="34" charset="-120"/>
              </a:rPr>
              <a:t>6</a:t>
            </a:r>
            <a:r>
              <a:rPr lang="zh-TW" altLang="en-US" sz="2800" dirty="0">
                <a:solidFill>
                  <a:srgbClr val="002060"/>
                </a:solidFill>
                <a:latin typeface="微軟正黑體" panose="020B0604030504040204" pitchFamily="34" charset="-120"/>
                <a:ea typeface="微軟正黑體" panose="020B0604030504040204" pitchFamily="34" charset="-120"/>
              </a:rPr>
              <a:t>月</a:t>
            </a:r>
            <a:r>
              <a:rPr lang="en-US" altLang="zh-TW" sz="2800" dirty="0">
                <a:solidFill>
                  <a:srgbClr val="002060"/>
                </a:solidFill>
                <a:latin typeface="微軟正黑體" panose="020B0604030504040204" pitchFamily="34" charset="-120"/>
                <a:ea typeface="微軟正黑體" panose="020B0604030504040204" pitchFamily="34" charset="-120"/>
              </a:rPr>
              <a:t>8</a:t>
            </a:r>
            <a:r>
              <a:rPr lang="zh-TW" altLang="en-US" sz="2800" dirty="0">
                <a:solidFill>
                  <a:srgbClr val="002060"/>
                </a:solidFill>
                <a:latin typeface="微軟正黑體" panose="020B0604030504040204" pitchFamily="34" charset="-120"/>
                <a:ea typeface="微軟正黑體" panose="020B0604030504040204" pitchFamily="34" charset="-120"/>
              </a:rPr>
              <a:t>日總統正式公佈。具國內法效力，於</a:t>
            </a:r>
            <a:r>
              <a:rPr lang="en-US" altLang="zh-TW" sz="2800" dirty="0">
                <a:solidFill>
                  <a:schemeClr val="hlink"/>
                </a:solidFill>
                <a:latin typeface="微軟正黑體" panose="020B0604030504040204" pitchFamily="34" charset="-120"/>
                <a:ea typeface="微軟正黑體" panose="020B0604030504040204" pitchFamily="34" charset="-120"/>
              </a:rPr>
              <a:t>2012</a:t>
            </a:r>
            <a:r>
              <a:rPr lang="zh-TW" altLang="en-US" sz="2800" dirty="0">
                <a:solidFill>
                  <a:schemeClr val="hlink"/>
                </a:solidFill>
                <a:latin typeface="微軟正黑體" panose="020B0604030504040204" pitchFamily="34" charset="-120"/>
                <a:ea typeface="微軟正黑體" panose="020B0604030504040204" pitchFamily="34" charset="-120"/>
              </a:rPr>
              <a:t>年</a:t>
            </a:r>
            <a:r>
              <a:rPr lang="en-US" altLang="zh-TW" sz="2800" dirty="0">
                <a:solidFill>
                  <a:schemeClr val="hlink"/>
                </a:solidFill>
                <a:latin typeface="微軟正黑體" panose="020B0604030504040204" pitchFamily="34" charset="-120"/>
                <a:ea typeface="微軟正黑體" panose="020B0604030504040204" pitchFamily="34" charset="-120"/>
              </a:rPr>
              <a:t>1</a:t>
            </a:r>
            <a:r>
              <a:rPr lang="zh-TW" altLang="en-US" sz="2800" dirty="0">
                <a:solidFill>
                  <a:schemeClr val="hlink"/>
                </a:solidFill>
                <a:latin typeface="微軟正黑體" panose="020B0604030504040204" pitchFamily="34" charset="-120"/>
                <a:ea typeface="微軟正黑體" panose="020B0604030504040204" pitchFamily="34" charset="-120"/>
              </a:rPr>
              <a:t>月</a:t>
            </a:r>
            <a:r>
              <a:rPr lang="en-US" altLang="zh-TW" sz="2800" dirty="0">
                <a:solidFill>
                  <a:schemeClr val="hlink"/>
                </a:solidFill>
                <a:latin typeface="微軟正黑體" panose="020B0604030504040204" pitchFamily="34" charset="-120"/>
                <a:ea typeface="微軟正黑體" panose="020B0604030504040204" pitchFamily="34" charset="-120"/>
              </a:rPr>
              <a:t>1</a:t>
            </a:r>
            <a:r>
              <a:rPr lang="zh-TW" altLang="en-US" sz="2800" dirty="0">
                <a:solidFill>
                  <a:schemeClr val="hlink"/>
                </a:solidFill>
                <a:latin typeface="微軟正黑體" panose="020B0604030504040204" pitchFamily="34" charset="-120"/>
                <a:ea typeface="微軟正黑體" panose="020B0604030504040204" pitchFamily="34" charset="-120"/>
              </a:rPr>
              <a:t>日</a:t>
            </a:r>
            <a:r>
              <a:rPr lang="zh-TW" altLang="en-US" sz="2800" dirty="0">
                <a:solidFill>
                  <a:srgbClr val="002060"/>
                </a:solidFill>
                <a:latin typeface="微軟正黑體" panose="020B0604030504040204" pitchFamily="34" charset="-120"/>
                <a:ea typeface="微軟正黑體" panose="020B0604030504040204" pitchFamily="34" charset="-120"/>
              </a:rPr>
              <a:t>正式實施。</a:t>
            </a:r>
            <a:r>
              <a:rPr lang="zh-TW" altLang="en-US" sz="2800" b="1" dirty="0">
                <a:solidFill>
                  <a:srgbClr val="002060"/>
                </a:solidFill>
                <a:latin typeface="微軟正黑體" panose="020B0604030504040204" pitchFamily="34" charset="-120"/>
                <a:ea typeface="微軟正黑體" panose="020B0604030504040204" pitchFamily="34" charset="-120"/>
              </a:rPr>
              <a:t>其</a:t>
            </a:r>
            <a:r>
              <a:rPr lang="zh-TW" altLang="en-US" sz="2800" b="1" dirty="0">
                <a:solidFill>
                  <a:schemeClr val="hlink"/>
                </a:solidFill>
                <a:latin typeface="微軟正黑體" panose="020B0604030504040204" pitchFamily="34" charset="-120"/>
                <a:ea typeface="微軟正黑體" panose="020B0604030504040204" pitchFamily="34" charset="-120"/>
              </a:rPr>
              <a:t>制法目的</a:t>
            </a:r>
            <a:r>
              <a:rPr lang="zh-TW" altLang="en-US" sz="2800" dirty="0">
                <a:latin typeface="微軟正黑體" panose="020B0604030504040204" pitchFamily="34" charset="-120"/>
                <a:ea typeface="微軟正黑體" panose="020B0604030504040204" pitchFamily="34" charset="-120"/>
              </a:rPr>
              <a:t>：</a:t>
            </a:r>
          </a:p>
          <a:p>
            <a:pPr>
              <a:buFont typeface="Wingdings" panose="05000000000000000000" pitchFamily="2" charset="2"/>
              <a:buNone/>
            </a:pPr>
            <a:r>
              <a:rPr lang="en-US" altLang="zh-TW" sz="2800" dirty="0">
                <a:latin typeface="微軟正黑體" panose="020B0604030504040204" pitchFamily="34" charset="-120"/>
                <a:ea typeface="微軟正黑體" panose="020B0604030504040204" pitchFamily="34" charset="-120"/>
              </a:rPr>
              <a:t>    </a:t>
            </a:r>
            <a:r>
              <a:rPr lang="en-US" altLang="zh-TW" sz="2800" dirty="0">
                <a:solidFill>
                  <a:srgbClr val="002060"/>
                </a:solidFill>
                <a:latin typeface="微軟正黑體" panose="020B0604030504040204" pitchFamily="34" charset="-120"/>
                <a:ea typeface="微軟正黑體" panose="020B0604030504040204" pitchFamily="34" charset="-120"/>
              </a:rPr>
              <a:t>1.</a:t>
            </a:r>
            <a:r>
              <a:rPr lang="zh-TW" altLang="en-US" sz="2800" dirty="0">
                <a:solidFill>
                  <a:srgbClr val="002060"/>
                </a:solidFill>
                <a:latin typeface="微軟正黑體" panose="020B0604030504040204" pitchFamily="34" charset="-120"/>
                <a:ea typeface="微軟正黑體" panose="020B0604030504040204" pitchFamily="34" charset="-120"/>
              </a:rPr>
              <a:t>消除對婦女歧視；</a:t>
            </a:r>
          </a:p>
          <a:p>
            <a:pPr>
              <a:buFont typeface="Wingdings" panose="05000000000000000000" pitchFamily="2" charset="2"/>
              <a:buNone/>
            </a:pPr>
            <a:r>
              <a:rPr lang="zh-TW" altLang="en-US" sz="2800" dirty="0">
                <a:solidFill>
                  <a:srgbClr val="002060"/>
                </a:solidFill>
                <a:latin typeface="微軟正黑體" panose="020B0604030504040204" pitchFamily="34" charset="-120"/>
                <a:ea typeface="微軟正黑體" panose="020B0604030504040204" pitchFamily="34" charset="-120"/>
              </a:rPr>
              <a:t>    </a:t>
            </a:r>
            <a:r>
              <a:rPr lang="en-US" altLang="zh-TW" sz="2800" dirty="0">
                <a:solidFill>
                  <a:srgbClr val="002060"/>
                </a:solidFill>
                <a:latin typeface="微軟正黑體" panose="020B0604030504040204" pitchFamily="34" charset="-120"/>
                <a:ea typeface="微軟正黑體" panose="020B0604030504040204" pitchFamily="34" charset="-120"/>
              </a:rPr>
              <a:t>2.</a:t>
            </a:r>
            <a:r>
              <a:rPr lang="zh-TW" altLang="en-US" sz="2800" dirty="0">
                <a:solidFill>
                  <a:srgbClr val="002060"/>
                </a:solidFill>
                <a:latin typeface="微軟正黑體" panose="020B0604030504040204" pitchFamily="34" charset="-120"/>
                <a:ea typeface="微軟正黑體" panose="020B0604030504040204" pitchFamily="34" charset="-120"/>
              </a:rPr>
              <a:t>健全婦女發展；</a:t>
            </a:r>
          </a:p>
          <a:p>
            <a:pPr>
              <a:buFont typeface="Wingdings" panose="05000000000000000000" pitchFamily="2" charset="2"/>
              <a:buNone/>
            </a:pPr>
            <a:r>
              <a:rPr lang="zh-TW" altLang="en-US" sz="2800" dirty="0">
                <a:solidFill>
                  <a:srgbClr val="002060"/>
                </a:solidFill>
                <a:latin typeface="微軟正黑體" panose="020B0604030504040204" pitchFamily="34" charset="-120"/>
                <a:ea typeface="微軟正黑體" panose="020B0604030504040204" pitchFamily="34" charset="-120"/>
              </a:rPr>
              <a:t>    </a:t>
            </a:r>
            <a:r>
              <a:rPr lang="en-US" altLang="zh-TW" sz="2800" dirty="0">
                <a:solidFill>
                  <a:srgbClr val="002060"/>
                </a:solidFill>
                <a:latin typeface="微軟正黑體" panose="020B0604030504040204" pitchFamily="34" charset="-120"/>
                <a:ea typeface="微軟正黑體" panose="020B0604030504040204" pitchFamily="34" charset="-120"/>
              </a:rPr>
              <a:t>3.</a:t>
            </a:r>
            <a:r>
              <a:rPr lang="zh-TW" altLang="en-US" sz="2800" dirty="0">
                <a:solidFill>
                  <a:srgbClr val="002060"/>
                </a:solidFill>
                <a:latin typeface="微軟正黑體" panose="020B0604030504040204" pitchFamily="34" charset="-120"/>
                <a:ea typeface="微軟正黑體" panose="020B0604030504040204" pitchFamily="34" charset="-120"/>
              </a:rPr>
              <a:t>落實保障性別人權；</a:t>
            </a:r>
          </a:p>
          <a:p>
            <a:pPr>
              <a:buFont typeface="Wingdings" panose="05000000000000000000" pitchFamily="2" charset="2"/>
              <a:buNone/>
            </a:pPr>
            <a:r>
              <a:rPr lang="zh-TW" altLang="en-US" sz="2800" dirty="0">
                <a:solidFill>
                  <a:srgbClr val="002060"/>
                </a:solidFill>
                <a:latin typeface="微軟正黑體" panose="020B0604030504040204" pitchFamily="34" charset="-120"/>
                <a:ea typeface="微軟正黑體" panose="020B0604030504040204" pitchFamily="34" charset="-120"/>
              </a:rPr>
              <a:t>    </a:t>
            </a:r>
            <a:r>
              <a:rPr lang="en-US" altLang="zh-TW" sz="2800" dirty="0">
                <a:solidFill>
                  <a:srgbClr val="002060"/>
                </a:solidFill>
                <a:latin typeface="微軟正黑體" panose="020B0604030504040204" pitchFamily="34" charset="-120"/>
                <a:ea typeface="微軟正黑體" panose="020B0604030504040204" pitchFamily="34" charset="-120"/>
              </a:rPr>
              <a:t>4.</a:t>
            </a:r>
            <a:r>
              <a:rPr lang="zh-TW" altLang="en-US" sz="2800" dirty="0">
                <a:solidFill>
                  <a:srgbClr val="002060"/>
                </a:solidFill>
                <a:latin typeface="微軟正黑體" panose="020B0604030504040204" pitchFamily="34" charset="-120"/>
                <a:ea typeface="微軟正黑體" panose="020B0604030504040204" pitchFamily="34" charset="-120"/>
              </a:rPr>
              <a:t>促進性別平等。</a:t>
            </a:r>
            <a:endParaRPr lang="en-US" altLang="zh-TW" sz="2800" dirty="0">
              <a:solidFill>
                <a:srgbClr val="002060"/>
              </a:solidFill>
              <a:latin typeface="微軟正黑體" panose="020B0604030504040204" pitchFamily="34" charset="-120"/>
              <a:ea typeface="微軟正黑體" panose="020B0604030504040204" pitchFamily="34" charset="-120"/>
            </a:endParaRPr>
          </a:p>
          <a:p>
            <a:r>
              <a:rPr lang="en-US" altLang="zh-TW" sz="2800" b="1" dirty="0">
                <a:solidFill>
                  <a:srgbClr val="002060"/>
                </a:solidFill>
                <a:latin typeface="微軟正黑體" panose="020B0604030504040204" pitchFamily="34" charset="-120"/>
                <a:ea typeface="微軟正黑體" panose="020B0604030504040204" pitchFamily="34" charset="-120"/>
              </a:rPr>
              <a:t>2019</a:t>
            </a:r>
            <a:r>
              <a:rPr lang="zh-TW" altLang="en-US" sz="2800" b="1" dirty="0">
                <a:solidFill>
                  <a:srgbClr val="002060"/>
                </a:solidFill>
                <a:latin typeface="微軟正黑體" panose="020B0604030504040204" pitchFamily="34" charset="-120"/>
                <a:ea typeface="微軟正黑體" panose="020B0604030504040204" pitchFamily="34" charset="-120"/>
              </a:rPr>
              <a:t>年台灣成為亞洲第一個合法化同性婚姻的國家，成為性別平等運的之重要里程碑。</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D7EA03F5-B0CA-A86C-A3B6-9F698D07DBEB}"/>
              </a:ext>
            </a:extLst>
          </p:cNvPr>
          <p:cNvSpPr>
            <a:spLocks noGrp="1" noChangeArrowheads="1"/>
          </p:cNvSpPr>
          <p:nvPr>
            <p:ph type="title"/>
          </p:nvPr>
        </p:nvSpPr>
        <p:spPr>
          <a:xfrm>
            <a:off x="1116013" y="549275"/>
            <a:ext cx="7793037" cy="1087438"/>
          </a:xfrm>
        </p:spPr>
        <p:txBody>
          <a:bodyPr/>
          <a:lstStyle/>
          <a:p>
            <a:r>
              <a:rPr lang="en-US" altLang="zh-TW" sz="4800" b="1">
                <a:solidFill>
                  <a:schemeClr val="folHlink"/>
                </a:solidFill>
              </a:rPr>
              <a:t>CEDAW</a:t>
            </a:r>
            <a:r>
              <a:rPr lang="zh-TW" altLang="en-US" sz="4800" b="1">
                <a:solidFill>
                  <a:schemeClr val="folHlink"/>
                </a:solidFill>
              </a:rPr>
              <a:t>施行法</a:t>
            </a:r>
          </a:p>
        </p:txBody>
      </p:sp>
      <p:sp>
        <p:nvSpPr>
          <p:cNvPr id="29699" name="Rectangle 3">
            <a:extLst>
              <a:ext uri="{FF2B5EF4-FFF2-40B4-BE49-F238E27FC236}">
                <a16:creationId xmlns:a16="http://schemas.microsoft.com/office/drawing/2014/main" id="{0308E9F3-82E8-5A79-5560-1A47B3261881}"/>
              </a:ext>
            </a:extLst>
          </p:cNvPr>
          <p:cNvSpPr>
            <a:spLocks noGrp="1" noChangeArrowheads="1"/>
          </p:cNvSpPr>
          <p:nvPr>
            <p:ph idx="1"/>
          </p:nvPr>
        </p:nvSpPr>
        <p:spPr>
          <a:xfrm>
            <a:off x="457200" y="1773238"/>
            <a:ext cx="8686800" cy="4357687"/>
          </a:xfrm>
        </p:spPr>
        <p:txBody>
          <a:bodyPr/>
          <a:lstStyle/>
          <a:p>
            <a:pPr>
              <a:buFont typeface="Wingdings" panose="05000000000000000000" pitchFamily="2" charset="2"/>
              <a:buNone/>
            </a:pPr>
            <a:r>
              <a:rPr lang="zh-TW" altLang="en-US" dirty="0"/>
              <a:t>   </a:t>
            </a:r>
            <a:r>
              <a:rPr lang="en-US" altLang="zh-TW" sz="2800" dirty="0">
                <a:solidFill>
                  <a:srgbClr val="002060"/>
                </a:solidFill>
                <a:latin typeface="微軟正黑體" panose="020B0604030504040204" pitchFamily="34" charset="-120"/>
                <a:ea typeface="微軟正黑體" panose="020B0604030504040204" pitchFamily="34" charset="-120"/>
              </a:rPr>
              <a:t>CEDAW</a:t>
            </a:r>
            <a:r>
              <a:rPr lang="zh-TW" altLang="en-US" sz="2800" dirty="0">
                <a:solidFill>
                  <a:srgbClr val="002060"/>
                </a:solidFill>
                <a:latin typeface="微軟正黑體" panose="020B0604030504040204" pitchFamily="34" charset="-120"/>
                <a:ea typeface="微軟正黑體" panose="020B0604030504040204" pitchFamily="34" charset="-120"/>
              </a:rPr>
              <a:t>施行法所保障的</a:t>
            </a:r>
            <a:r>
              <a:rPr lang="zh-TW" altLang="en-US" sz="2800" dirty="0">
                <a:solidFill>
                  <a:schemeClr val="hlink"/>
                </a:solidFill>
                <a:latin typeface="微軟正黑體" panose="020B0604030504040204" pitchFamily="34" charset="-120"/>
                <a:ea typeface="微軟正黑體" panose="020B0604030504040204" pitchFamily="34" charset="-120"/>
              </a:rPr>
              <a:t>婦女權利</a:t>
            </a:r>
            <a:r>
              <a:rPr lang="zh-TW" altLang="en-US" sz="2800" dirty="0">
                <a:solidFill>
                  <a:srgbClr val="002060"/>
                </a:solidFill>
                <a:latin typeface="微軟正黑體" panose="020B0604030504040204" pitchFamily="34" charset="-120"/>
                <a:ea typeface="微軟正黑體" panose="020B0604030504040204" pitchFamily="34" charset="-120"/>
              </a:rPr>
              <a:t>類型：</a:t>
            </a:r>
          </a:p>
          <a:p>
            <a:pPr>
              <a:buFont typeface="Wingdings" panose="05000000000000000000" pitchFamily="2" charset="2"/>
              <a:buNone/>
            </a:pPr>
            <a:r>
              <a:rPr lang="zh-TW" altLang="en-US" sz="2800" dirty="0">
                <a:latin typeface="微軟正黑體" panose="020B0604030504040204" pitchFamily="34" charset="-120"/>
                <a:ea typeface="微軟正黑體" panose="020B0604030504040204" pitchFamily="34" charset="-120"/>
              </a:rPr>
              <a:t>   </a:t>
            </a:r>
            <a:r>
              <a:rPr lang="en-US" altLang="zh-TW" sz="2800" dirty="0">
                <a:latin typeface="微軟正黑體" panose="020B0604030504040204" pitchFamily="34" charset="-120"/>
                <a:ea typeface="微軟正黑體" panose="020B0604030504040204" pitchFamily="34" charset="-120"/>
              </a:rPr>
              <a:t>1.</a:t>
            </a:r>
            <a:r>
              <a:rPr lang="zh-TW" altLang="en-US" sz="2800" dirty="0">
                <a:solidFill>
                  <a:schemeClr val="hlink"/>
                </a:solidFill>
                <a:latin typeface="微軟正黑體" panose="020B0604030504040204" pitchFamily="34" charset="-120"/>
                <a:ea typeface="微軟正黑體" panose="020B0604030504040204" pitchFamily="34" charset="-120"/>
              </a:rPr>
              <a:t>政治領域</a:t>
            </a:r>
            <a:r>
              <a:rPr lang="zh-TW" altLang="en-US" sz="2800" dirty="0">
                <a:latin typeface="微軟正黑體" panose="020B0604030504040204" pitchFamily="34" charset="-120"/>
                <a:ea typeface="微軟正黑體" panose="020B0604030504040204" pitchFamily="34" charset="-120"/>
              </a:rPr>
              <a:t>：</a:t>
            </a:r>
            <a:r>
              <a:rPr lang="zh-TW" altLang="en-US" sz="2800" dirty="0">
                <a:solidFill>
                  <a:srgbClr val="002060"/>
                </a:solidFill>
                <a:latin typeface="微軟正黑體" panose="020B0604030504040204" pitchFamily="34" charset="-120"/>
                <a:ea typeface="微軟正黑體" panose="020B0604030504040204" pitchFamily="34" charset="-120"/>
              </a:rPr>
              <a:t>國籍權、政治及公共參與</a:t>
            </a:r>
          </a:p>
          <a:p>
            <a:pPr>
              <a:buFont typeface="Wingdings" panose="05000000000000000000" pitchFamily="2" charset="2"/>
              <a:buNone/>
            </a:pPr>
            <a:r>
              <a:rPr lang="zh-TW" altLang="en-US" sz="2800" dirty="0">
                <a:latin typeface="微軟正黑體" panose="020B0604030504040204" pitchFamily="34" charset="-120"/>
                <a:ea typeface="微軟正黑體" panose="020B0604030504040204" pitchFamily="34" charset="-120"/>
              </a:rPr>
              <a:t>   </a:t>
            </a:r>
            <a:r>
              <a:rPr lang="en-US" altLang="zh-TW" sz="2800" dirty="0">
                <a:latin typeface="微軟正黑體" panose="020B0604030504040204" pitchFamily="34" charset="-120"/>
                <a:ea typeface="微軟正黑體" panose="020B0604030504040204" pitchFamily="34" charset="-120"/>
              </a:rPr>
              <a:t>2.</a:t>
            </a:r>
            <a:r>
              <a:rPr lang="zh-TW" altLang="en-US" sz="2800" dirty="0">
                <a:solidFill>
                  <a:schemeClr val="hlink"/>
                </a:solidFill>
                <a:latin typeface="微軟正黑體" panose="020B0604030504040204" pitchFamily="34" charset="-120"/>
                <a:ea typeface="微軟正黑體" panose="020B0604030504040204" pitchFamily="34" charset="-120"/>
              </a:rPr>
              <a:t>經濟領域</a:t>
            </a:r>
            <a:r>
              <a:rPr lang="zh-TW" altLang="en-US" sz="2800" dirty="0">
                <a:latin typeface="微軟正黑體" panose="020B0604030504040204" pitchFamily="34" charset="-120"/>
                <a:ea typeface="微軟正黑體" panose="020B0604030504040204" pitchFamily="34" charset="-120"/>
              </a:rPr>
              <a:t>：</a:t>
            </a:r>
            <a:r>
              <a:rPr lang="zh-TW" altLang="en-US" sz="2800" dirty="0">
                <a:solidFill>
                  <a:srgbClr val="002060"/>
                </a:solidFill>
                <a:latin typeface="微軟正黑體" panose="020B0604030504040204" pitchFamily="34" charset="-120"/>
                <a:ea typeface="微軟正黑體" panose="020B0604030504040204" pitchFamily="34" charset="-120"/>
              </a:rPr>
              <a:t>偏見消除、教育權、工作權、財</a:t>
            </a:r>
          </a:p>
          <a:p>
            <a:pPr>
              <a:buFont typeface="Wingdings" panose="05000000000000000000" pitchFamily="2" charset="2"/>
              <a:buNone/>
            </a:pPr>
            <a:r>
              <a:rPr lang="zh-TW" altLang="en-US" sz="2800" dirty="0">
                <a:solidFill>
                  <a:srgbClr val="002060"/>
                </a:solidFill>
                <a:latin typeface="微軟正黑體" panose="020B0604030504040204" pitchFamily="34" charset="-120"/>
                <a:ea typeface="微軟正黑體" panose="020B0604030504040204" pitchFamily="34" charset="-120"/>
              </a:rPr>
              <a:t>               產及社會保障、農村婦女、法律</a:t>
            </a:r>
          </a:p>
          <a:p>
            <a:pPr>
              <a:buFont typeface="Wingdings" panose="05000000000000000000" pitchFamily="2" charset="2"/>
              <a:buNone/>
            </a:pPr>
            <a:r>
              <a:rPr lang="zh-TW" altLang="en-US" sz="2800" dirty="0">
                <a:solidFill>
                  <a:srgbClr val="002060"/>
                </a:solidFill>
                <a:latin typeface="微軟正黑體" panose="020B0604030504040204" pitchFamily="34" charset="-120"/>
                <a:ea typeface="微軟正黑體" panose="020B0604030504040204" pitchFamily="34" charset="-120"/>
              </a:rPr>
              <a:t>               和民事方面的平等。</a:t>
            </a:r>
          </a:p>
          <a:p>
            <a:pPr>
              <a:buFont typeface="Wingdings" panose="05000000000000000000" pitchFamily="2" charset="2"/>
              <a:buNone/>
            </a:pPr>
            <a:r>
              <a:rPr lang="zh-TW" altLang="en-US" sz="2800" dirty="0">
                <a:latin typeface="微軟正黑體" panose="020B0604030504040204" pitchFamily="34" charset="-120"/>
                <a:ea typeface="微軟正黑體" panose="020B0604030504040204" pitchFamily="34" charset="-120"/>
              </a:rPr>
              <a:t>    </a:t>
            </a:r>
            <a:r>
              <a:rPr lang="en-US" altLang="zh-TW" sz="2800" dirty="0">
                <a:latin typeface="微軟正黑體" panose="020B0604030504040204" pitchFamily="34" charset="-120"/>
                <a:ea typeface="微軟正黑體" panose="020B0604030504040204" pitchFamily="34" charset="-120"/>
              </a:rPr>
              <a:t>3.</a:t>
            </a:r>
            <a:r>
              <a:rPr lang="zh-TW" altLang="en-US" sz="2800" dirty="0">
                <a:solidFill>
                  <a:schemeClr val="hlink"/>
                </a:solidFill>
                <a:latin typeface="微軟正黑體" panose="020B0604030504040204" pitchFamily="34" charset="-120"/>
                <a:ea typeface="微軟正黑體" panose="020B0604030504040204" pitchFamily="34" charset="-120"/>
              </a:rPr>
              <a:t>家庭領域</a:t>
            </a:r>
            <a:r>
              <a:rPr lang="zh-TW" altLang="en-US" sz="2800" dirty="0">
                <a:latin typeface="微軟正黑體" panose="020B0604030504040204" pitchFamily="34" charset="-120"/>
                <a:ea typeface="微軟正黑體" panose="020B0604030504040204" pitchFamily="34" charset="-120"/>
              </a:rPr>
              <a:t>：</a:t>
            </a:r>
            <a:r>
              <a:rPr lang="zh-TW" altLang="en-US" sz="2800" dirty="0">
                <a:solidFill>
                  <a:srgbClr val="002060"/>
                </a:solidFill>
                <a:latin typeface="微軟正黑體" panose="020B0604030504040204" pitchFamily="34" charset="-120"/>
                <a:ea typeface="微軟正黑體" panose="020B0604030504040204" pitchFamily="34" charset="-120"/>
              </a:rPr>
              <a:t>母性、家庭教育、家庭和婚姻（自</a:t>
            </a:r>
          </a:p>
          <a:p>
            <a:pPr>
              <a:buFont typeface="Wingdings" panose="05000000000000000000" pitchFamily="2" charset="2"/>
              <a:buNone/>
            </a:pPr>
            <a:r>
              <a:rPr lang="zh-TW" altLang="en-US" sz="2800" dirty="0">
                <a:solidFill>
                  <a:srgbClr val="002060"/>
                </a:solidFill>
                <a:latin typeface="微軟正黑體" panose="020B0604030504040204" pitchFamily="34" charset="-120"/>
                <a:ea typeface="微軟正黑體" panose="020B0604030504040204" pitchFamily="34" charset="-120"/>
              </a:rPr>
              <a:t>                由決定生育、最低結婚年齡）</a:t>
            </a:r>
          </a:p>
          <a:p>
            <a:pPr>
              <a:buFont typeface="Wingdings" panose="05000000000000000000" pitchFamily="2" charset="2"/>
              <a:buNone/>
            </a:pPr>
            <a:r>
              <a:rPr lang="zh-TW" altLang="en-US" sz="2800" dirty="0">
                <a:latin typeface="微軟正黑體" panose="020B0604030504040204" pitchFamily="34" charset="-120"/>
                <a:ea typeface="微軟正黑體" panose="020B0604030504040204" pitchFamily="34" charset="-120"/>
              </a:rPr>
              <a:t>    </a:t>
            </a:r>
            <a:r>
              <a:rPr lang="en-US" altLang="zh-TW" sz="2800" dirty="0">
                <a:latin typeface="微軟正黑體" panose="020B0604030504040204" pitchFamily="34" charset="-120"/>
                <a:ea typeface="微軟正黑體" panose="020B0604030504040204" pitchFamily="34" charset="-120"/>
              </a:rPr>
              <a:t>4.</a:t>
            </a:r>
            <a:r>
              <a:rPr lang="zh-TW" altLang="en-US" sz="2800" dirty="0">
                <a:solidFill>
                  <a:schemeClr val="hlink"/>
                </a:solidFill>
                <a:latin typeface="微軟正黑體" panose="020B0604030504040204" pitchFamily="34" charset="-120"/>
                <a:ea typeface="微軟正黑體" panose="020B0604030504040204" pitchFamily="34" charset="-120"/>
              </a:rPr>
              <a:t>個人自主</a:t>
            </a:r>
            <a:r>
              <a:rPr lang="zh-TW" altLang="en-US" sz="2800" dirty="0">
                <a:solidFill>
                  <a:srgbClr val="002060"/>
                </a:solidFill>
                <a:latin typeface="微軟正黑體" panose="020B0604030504040204" pitchFamily="34" charset="-120"/>
                <a:ea typeface="微軟正黑體" panose="020B0604030504040204" pitchFamily="34" charset="-120"/>
              </a:rPr>
              <a:t>：健康平等、人身自由及性自由</a:t>
            </a:r>
            <a:r>
              <a:rPr lang="zh-TW" altLang="en-US" dirty="0">
                <a:solidFill>
                  <a:srgbClr val="002060"/>
                </a:solidFill>
                <a:latin typeface="微軟正黑體" panose="020B0604030504040204" pitchFamily="34" charset="-120"/>
                <a:ea typeface="微軟正黑體" panose="020B0604030504040204" pitchFamily="34" charset="-120"/>
              </a:rPr>
              <a:t>。</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F2AE81D9-9876-73D5-3344-649F5C08AEC2}"/>
              </a:ext>
            </a:extLst>
          </p:cNvPr>
          <p:cNvSpPr>
            <a:spLocks noGrp="1" noChangeArrowheads="1"/>
          </p:cNvSpPr>
          <p:nvPr>
            <p:ph type="title"/>
          </p:nvPr>
        </p:nvSpPr>
        <p:spPr/>
        <p:txBody>
          <a:bodyPr/>
          <a:lstStyle/>
          <a:p>
            <a:r>
              <a:rPr lang="en-US" altLang="zh-TW" sz="4800" b="1">
                <a:solidFill>
                  <a:schemeClr val="folHlink"/>
                </a:solidFill>
              </a:rPr>
              <a:t>CEDAW</a:t>
            </a:r>
            <a:r>
              <a:rPr lang="zh-TW" altLang="en-US" sz="4800" b="1">
                <a:solidFill>
                  <a:schemeClr val="folHlink"/>
                </a:solidFill>
              </a:rPr>
              <a:t>條文結構</a:t>
            </a:r>
          </a:p>
        </p:txBody>
      </p:sp>
      <p:sp>
        <p:nvSpPr>
          <p:cNvPr id="30723" name="Rectangle 3">
            <a:extLst>
              <a:ext uri="{FF2B5EF4-FFF2-40B4-BE49-F238E27FC236}">
                <a16:creationId xmlns:a16="http://schemas.microsoft.com/office/drawing/2014/main" id="{6DB5F010-6E67-E781-31DB-62DD38063032}"/>
              </a:ext>
            </a:extLst>
          </p:cNvPr>
          <p:cNvSpPr>
            <a:spLocks noGrp="1" noChangeArrowheads="1"/>
          </p:cNvSpPr>
          <p:nvPr>
            <p:ph type="body" sz="half" idx="1"/>
          </p:nvPr>
        </p:nvSpPr>
        <p:spPr>
          <a:xfrm>
            <a:off x="1182688" y="2017713"/>
            <a:ext cx="3814762" cy="4114800"/>
          </a:xfrm>
        </p:spPr>
        <p:txBody>
          <a:bodyPr/>
          <a:lstStyle/>
          <a:p>
            <a:pPr>
              <a:buFont typeface="Wingdings" panose="05000000000000000000" pitchFamily="2" charset="2"/>
              <a:buNone/>
            </a:pPr>
            <a:r>
              <a:rPr lang="zh-TW" altLang="en-US" sz="2800"/>
              <a:t>  </a:t>
            </a:r>
          </a:p>
        </p:txBody>
      </p:sp>
      <p:graphicFrame>
        <p:nvGraphicFramePr>
          <p:cNvPr id="77870" name="Group 46">
            <a:extLst>
              <a:ext uri="{FF2B5EF4-FFF2-40B4-BE49-F238E27FC236}">
                <a16:creationId xmlns:a16="http://schemas.microsoft.com/office/drawing/2014/main" id="{9CA1D03F-86B6-B3E7-C048-8D5B72C27D13}"/>
              </a:ext>
            </a:extLst>
          </p:cNvPr>
          <p:cNvGraphicFramePr>
            <a:graphicFrameLocks noGrp="1"/>
          </p:cNvGraphicFramePr>
          <p:nvPr>
            <p:ph sz="half" idx="2"/>
          </p:nvPr>
        </p:nvGraphicFramePr>
        <p:xfrm>
          <a:off x="755650" y="1989138"/>
          <a:ext cx="7848600" cy="4606926"/>
        </p:xfrm>
        <a:graphic>
          <a:graphicData uri="http://schemas.openxmlformats.org/drawingml/2006/table">
            <a:tbl>
              <a:tblPr/>
              <a:tblGrid>
                <a:gridCol w="1512888">
                  <a:extLst>
                    <a:ext uri="{9D8B030D-6E8A-4147-A177-3AD203B41FA5}">
                      <a16:colId xmlns:a16="http://schemas.microsoft.com/office/drawing/2014/main" val="20000"/>
                    </a:ext>
                  </a:extLst>
                </a:gridCol>
                <a:gridCol w="1543050">
                  <a:extLst>
                    <a:ext uri="{9D8B030D-6E8A-4147-A177-3AD203B41FA5}">
                      <a16:colId xmlns:a16="http://schemas.microsoft.com/office/drawing/2014/main" val="20001"/>
                    </a:ext>
                  </a:extLst>
                </a:gridCol>
                <a:gridCol w="1120775">
                  <a:extLst>
                    <a:ext uri="{9D8B030D-6E8A-4147-A177-3AD203B41FA5}">
                      <a16:colId xmlns:a16="http://schemas.microsoft.com/office/drawing/2014/main" val="20002"/>
                    </a:ext>
                  </a:extLst>
                </a:gridCol>
                <a:gridCol w="3671887">
                  <a:extLst>
                    <a:ext uri="{9D8B030D-6E8A-4147-A177-3AD203B41FA5}">
                      <a16:colId xmlns:a16="http://schemas.microsoft.com/office/drawing/2014/main" val="20003"/>
                    </a:ext>
                  </a:extLst>
                </a:gridCol>
              </a:tblGrid>
              <a:tr h="550863">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1" lang="zh-TW" altLang="en-US" sz="2000" b="0" i="0" u="none" strike="noStrike" cap="none" normalizeH="0" baseline="0">
                        <a:ln>
                          <a:noFill/>
                        </a:ln>
                        <a:solidFill>
                          <a:schemeClr val="tx1"/>
                        </a:solidFill>
                        <a:effectLst/>
                        <a:latin typeface="Tahoma" pitchFamily="34" charset="0"/>
                        <a:ea typeface="新細明體" pitchFamily="18" charset="-12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1" lang="zh-TW" altLang="en-US" sz="2000" b="0" i="0" u="none" strike="noStrike" cap="none" normalizeH="0" baseline="0">
                          <a:ln>
                            <a:noFill/>
                          </a:ln>
                          <a:solidFill>
                            <a:schemeClr val="tx1"/>
                          </a:solidFill>
                          <a:effectLst/>
                          <a:latin typeface="Tahoma" pitchFamily="34" charset="0"/>
                          <a:ea typeface="新細明體" pitchFamily="18" charset="-120"/>
                        </a:rPr>
                        <a:t>分類</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1" lang="zh-TW" altLang="en-US" sz="2000" b="0" i="0" u="none" strike="noStrike" cap="none" normalizeH="0" baseline="0">
                          <a:ln>
                            <a:noFill/>
                          </a:ln>
                          <a:solidFill>
                            <a:schemeClr val="tx1"/>
                          </a:solidFill>
                          <a:effectLst/>
                          <a:latin typeface="Tahoma" pitchFamily="34" charset="0"/>
                          <a:ea typeface="新細明體" pitchFamily="18" charset="-120"/>
                        </a:rPr>
                        <a:t>條文</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1" lang="zh-TW" altLang="en-US" sz="2000" b="0" i="0" u="none" strike="noStrike" cap="none" normalizeH="0" baseline="0">
                          <a:ln>
                            <a:noFill/>
                          </a:ln>
                          <a:solidFill>
                            <a:schemeClr val="tx1"/>
                          </a:solidFill>
                          <a:effectLst/>
                          <a:latin typeface="Tahoma" pitchFamily="34" charset="0"/>
                          <a:ea typeface="新細明體" pitchFamily="18" charset="-120"/>
                        </a:rPr>
                        <a:t>內容</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01040">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1" lang="zh-TW" altLang="en-US" sz="2000" b="0" i="0" u="none" strike="noStrike" cap="none" normalizeH="0" baseline="0">
                          <a:ln>
                            <a:noFill/>
                          </a:ln>
                          <a:solidFill>
                            <a:schemeClr val="hlink"/>
                          </a:solidFill>
                          <a:effectLst/>
                          <a:latin typeface="Tahoma" pitchFamily="34" charset="0"/>
                          <a:ea typeface="新細明體" pitchFamily="18" charset="-120"/>
                        </a:rPr>
                        <a:t>實質條款</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1" lang="zh-TW" altLang="en-US" sz="2000" b="0" i="0" u="none" strike="noStrike" cap="none" normalizeH="0" baseline="0">
                          <a:ln>
                            <a:noFill/>
                          </a:ln>
                          <a:solidFill>
                            <a:schemeClr val="tx1"/>
                          </a:solidFill>
                          <a:effectLst/>
                          <a:latin typeface="Tahoma" pitchFamily="34" charset="0"/>
                          <a:ea typeface="新細明體" pitchFamily="18" charset="-120"/>
                        </a:rPr>
                        <a:t>第一部分</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1" lang="en-US" altLang="zh-TW" sz="2000" b="0" i="0" u="none" strike="noStrike" cap="none" normalizeH="0" baseline="0">
                          <a:ln>
                            <a:noFill/>
                          </a:ln>
                          <a:solidFill>
                            <a:schemeClr val="tx1"/>
                          </a:solidFill>
                          <a:effectLst/>
                          <a:latin typeface="Tahoma" pitchFamily="34" charset="0"/>
                          <a:ea typeface="新細明體" pitchFamily="18" charset="-120"/>
                        </a:rPr>
                        <a:t>1-6</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1" lang="zh-TW" altLang="en-US" sz="2000" b="0" i="0" u="none" strike="noStrike" cap="none" normalizeH="0" baseline="0">
                          <a:ln>
                            <a:noFill/>
                          </a:ln>
                          <a:solidFill>
                            <a:schemeClr val="tx1"/>
                          </a:solidFill>
                          <a:effectLst/>
                          <a:latin typeface="Tahoma" pitchFamily="34" charset="0"/>
                          <a:ea typeface="新細明體" pitchFamily="18" charset="-120"/>
                        </a:rPr>
                        <a:t>定義何謂婦女歧視、規定國家義務</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01040">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1" lang="zh-TW" altLang="en-US" sz="2000" b="0" i="0" u="none" strike="noStrike" cap="none" normalizeH="0" baseline="0">
                        <a:ln>
                          <a:noFill/>
                        </a:ln>
                        <a:solidFill>
                          <a:schemeClr val="tx1"/>
                        </a:solidFill>
                        <a:effectLst/>
                        <a:latin typeface="Tahoma" pitchFamily="34" charset="0"/>
                        <a:ea typeface="新細明體" pitchFamily="18" charset="-12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1" lang="zh-TW" altLang="en-US" sz="2000" b="0" i="0" u="none" strike="noStrike" cap="none" normalizeH="0" baseline="0">
                          <a:ln>
                            <a:noFill/>
                          </a:ln>
                          <a:solidFill>
                            <a:schemeClr val="tx1"/>
                          </a:solidFill>
                          <a:effectLst/>
                          <a:latin typeface="Tahoma" pitchFamily="34" charset="0"/>
                          <a:ea typeface="新細明體" pitchFamily="18" charset="-120"/>
                        </a:rPr>
                        <a:t>第二部分</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1" lang="en-US" altLang="zh-TW" sz="2000" b="0" i="0" u="none" strike="noStrike" cap="none" normalizeH="0" baseline="0">
                          <a:ln>
                            <a:noFill/>
                          </a:ln>
                          <a:solidFill>
                            <a:schemeClr val="tx1"/>
                          </a:solidFill>
                          <a:effectLst/>
                          <a:latin typeface="Tahoma" pitchFamily="34" charset="0"/>
                          <a:ea typeface="新細明體" pitchFamily="18" charset="-120"/>
                        </a:rPr>
                        <a:t>7-9</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1" lang="zh-TW" altLang="en-US" sz="2000" b="0" i="0" u="none" strike="noStrike" cap="none" normalizeH="0" baseline="0">
                          <a:ln>
                            <a:noFill/>
                          </a:ln>
                          <a:solidFill>
                            <a:schemeClr val="tx1"/>
                          </a:solidFill>
                          <a:effectLst/>
                          <a:latin typeface="Tahoma" pitchFamily="34" charset="0"/>
                          <a:ea typeface="新細明體" pitchFamily="18" charset="-120"/>
                        </a:rPr>
                        <a:t>婦女政治及公共參與平等的權利</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01040">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1" lang="zh-TW" altLang="en-US" sz="2000" b="0" i="0" u="none" strike="noStrike" cap="none" normalizeH="0" baseline="0">
                        <a:ln>
                          <a:noFill/>
                        </a:ln>
                        <a:solidFill>
                          <a:schemeClr val="tx1"/>
                        </a:solidFill>
                        <a:effectLst/>
                        <a:latin typeface="Tahoma" pitchFamily="34" charset="0"/>
                        <a:ea typeface="新細明體" pitchFamily="18" charset="-12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1" lang="zh-TW" altLang="en-US" sz="2000" b="0" i="0" u="none" strike="noStrike" cap="none" normalizeH="0" baseline="0">
                          <a:ln>
                            <a:noFill/>
                          </a:ln>
                          <a:solidFill>
                            <a:schemeClr val="tx1"/>
                          </a:solidFill>
                          <a:effectLst/>
                          <a:latin typeface="Tahoma" pitchFamily="34" charset="0"/>
                          <a:ea typeface="新細明體" pitchFamily="18" charset="-120"/>
                        </a:rPr>
                        <a:t>第三部分</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1" lang="en-US" altLang="zh-TW" sz="2000" b="0" i="0" u="none" strike="noStrike" cap="none" normalizeH="0" baseline="0">
                          <a:ln>
                            <a:noFill/>
                          </a:ln>
                          <a:solidFill>
                            <a:schemeClr val="tx1"/>
                          </a:solidFill>
                          <a:effectLst/>
                          <a:latin typeface="Tahoma" pitchFamily="34" charset="0"/>
                          <a:ea typeface="新細明體" pitchFamily="18" charset="-120"/>
                        </a:rPr>
                        <a:t>10-14</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1" lang="zh-TW" altLang="en-US" sz="2000" b="0" i="0" u="none" strike="noStrike" cap="none" normalizeH="0" baseline="0">
                          <a:ln>
                            <a:noFill/>
                          </a:ln>
                          <a:solidFill>
                            <a:schemeClr val="tx1"/>
                          </a:solidFill>
                          <a:effectLst/>
                          <a:latin typeface="Tahoma" pitchFamily="34" charset="0"/>
                          <a:ea typeface="新細明體" pitchFamily="18" charset="-120"/>
                        </a:rPr>
                        <a:t>婦女在經濟社會文化醫療保障上平等的保障</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50863">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1" lang="zh-TW" altLang="en-US" sz="2000" b="0" i="0" u="none" strike="noStrike" cap="none" normalizeH="0" baseline="0">
                        <a:ln>
                          <a:noFill/>
                        </a:ln>
                        <a:solidFill>
                          <a:schemeClr val="tx1"/>
                        </a:solidFill>
                        <a:effectLst/>
                        <a:latin typeface="Tahoma" pitchFamily="34" charset="0"/>
                        <a:ea typeface="新細明體" pitchFamily="18" charset="-12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1" lang="zh-TW" altLang="en-US" sz="2000" b="0" i="0" u="none" strike="noStrike" cap="none" normalizeH="0" baseline="0">
                          <a:ln>
                            <a:noFill/>
                          </a:ln>
                          <a:solidFill>
                            <a:schemeClr val="tx1"/>
                          </a:solidFill>
                          <a:effectLst/>
                          <a:latin typeface="Tahoma" pitchFamily="34" charset="0"/>
                          <a:ea typeface="新細明體" pitchFamily="18" charset="-120"/>
                        </a:rPr>
                        <a:t>第四部分</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1" lang="en-US" altLang="zh-TW" sz="2000" b="0" i="0" u="none" strike="noStrike" cap="none" normalizeH="0" baseline="0">
                          <a:ln>
                            <a:noFill/>
                          </a:ln>
                          <a:solidFill>
                            <a:schemeClr val="tx1"/>
                          </a:solidFill>
                          <a:effectLst/>
                          <a:latin typeface="Tahoma" pitchFamily="34" charset="0"/>
                          <a:ea typeface="新細明體" pitchFamily="18" charset="-120"/>
                        </a:rPr>
                        <a:t>15-16</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1" lang="zh-TW" altLang="en-US" sz="2000" b="0" i="0" u="none" strike="noStrike" cap="none" normalizeH="0" baseline="0">
                          <a:ln>
                            <a:noFill/>
                          </a:ln>
                          <a:solidFill>
                            <a:schemeClr val="tx1"/>
                          </a:solidFill>
                          <a:effectLst/>
                          <a:latin typeface="Tahoma" pitchFamily="34" charset="0"/>
                          <a:ea typeface="新細明體" pitchFamily="18" charset="-120"/>
                        </a:rPr>
                        <a:t>婦女在法律平等的內涵</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01040">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1" lang="zh-TW" altLang="en-US" sz="2000" b="0" i="0" u="none" strike="noStrike" cap="none" normalizeH="0" baseline="0">
                          <a:ln>
                            <a:noFill/>
                          </a:ln>
                          <a:solidFill>
                            <a:schemeClr val="hlink"/>
                          </a:solidFill>
                          <a:effectLst/>
                          <a:latin typeface="Tahoma" pitchFamily="34" charset="0"/>
                          <a:ea typeface="新細明體" pitchFamily="18" charset="-120"/>
                        </a:rPr>
                        <a:t>監督機制</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1" lang="zh-TW" altLang="en-US" sz="2000" b="0" i="0" u="none" strike="noStrike" cap="none" normalizeH="0" baseline="0">
                          <a:ln>
                            <a:noFill/>
                          </a:ln>
                          <a:solidFill>
                            <a:schemeClr val="tx1"/>
                          </a:solidFill>
                          <a:effectLst/>
                          <a:latin typeface="Tahoma" pitchFamily="34" charset="0"/>
                          <a:ea typeface="新細明體" pitchFamily="18" charset="-120"/>
                        </a:rPr>
                        <a:t>第四部分</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1" lang="en-US" altLang="zh-TW" sz="2000" b="0" i="0" u="none" strike="noStrike" cap="none" normalizeH="0" baseline="0">
                          <a:ln>
                            <a:noFill/>
                          </a:ln>
                          <a:solidFill>
                            <a:schemeClr val="tx1"/>
                          </a:solidFill>
                          <a:effectLst/>
                          <a:latin typeface="Tahoma" pitchFamily="34" charset="0"/>
                          <a:ea typeface="新細明體" pitchFamily="18" charset="-120"/>
                        </a:rPr>
                        <a:t>17-22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1" lang="zh-TW" altLang="en-US" sz="2000" b="0" i="0" u="none" strike="noStrike" cap="none" normalizeH="0" baseline="0">
                          <a:ln>
                            <a:noFill/>
                          </a:ln>
                          <a:solidFill>
                            <a:schemeClr val="tx1"/>
                          </a:solidFill>
                          <a:effectLst/>
                          <a:latin typeface="Tahoma" pitchFamily="34" charset="0"/>
                          <a:ea typeface="新細明體" pitchFamily="18" charset="-120"/>
                        </a:rPr>
                        <a:t>規範公約委員會組織及其執行運作</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701040">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1" lang="zh-TW" altLang="en-US" sz="2000" b="0" i="0" u="none" strike="noStrike" cap="none" normalizeH="0" baseline="0">
                          <a:ln>
                            <a:noFill/>
                          </a:ln>
                          <a:solidFill>
                            <a:schemeClr val="tx1"/>
                          </a:solidFill>
                          <a:effectLst/>
                          <a:latin typeface="Tahoma" pitchFamily="34" charset="0"/>
                          <a:ea typeface="新細明體" pitchFamily="18" charset="-120"/>
                        </a:rPr>
                        <a:t>一般條款</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1" lang="zh-TW" altLang="en-US" sz="2000" b="0" i="0" u="none" strike="noStrike" cap="none" normalizeH="0" baseline="0">
                          <a:ln>
                            <a:noFill/>
                          </a:ln>
                          <a:solidFill>
                            <a:schemeClr val="tx1"/>
                          </a:solidFill>
                          <a:effectLst/>
                          <a:latin typeface="Tahoma" pitchFamily="34" charset="0"/>
                          <a:ea typeface="新細明體" pitchFamily="18" charset="-120"/>
                        </a:rPr>
                        <a:t>第四部分</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1" lang="en-US" altLang="zh-TW" sz="2000" b="0" i="0" u="none" strike="noStrike" cap="none" normalizeH="0" baseline="0">
                          <a:ln>
                            <a:noFill/>
                          </a:ln>
                          <a:solidFill>
                            <a:schemeClr val="tx1"/>
                          </a:solidFill>
                          <a:effectLst/>
                          <a:latin typeface="Tahoma" pitchFamily="34" charset="0"/>
                          <a:ea typeface="新細明體" pitchFamily="18" charset="-120"/>
                        </a:rPr>
                        <a:t>23-30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1" lang="zh-TW" altLang="en-US" sz="2000" b="0" i="0" u="none" strike="noStrike" cap="none" normalizeH="0" baseline="0">
                          <a:ln>
                            <a:noFill/>
                          </a:ln>
                          <a:solidFill>
                            <a:schemeClr val="tx1"/>
                          </a:solidFill>
                          <a:effectLst/>
                          <a:latin typeface="Tahoma" pitchFamily="34" charset="0"/>
                          <a:ea typeface="新細明體" pitchFamily="18" charset="-120"/>
                        </a:rPr>
                        <a:t>規範公約的效力範圍、開放對象及生效規定</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3B1D0B5A-3D81-A54E-98F2-4B56B0453947}"/>
              </a:ext>
            </a:extLst>
          </p:cNvPr>
          <p:cNvSpPr>
            <a:spLocks noGrp="1" noChangeArrowheads="1"/>
          </p:cNvSpPr>
          <p:nvPr>
            <p:ph type="title"/>
          </p:nvPr>
        </p:nvSpPr>
        <p:spPr>
          <a:xfrm>
            <a:off x="1187450" y="765175"/>
            <a:ext cx="7294563" cy="919163"/>
          </a:xfrm>
        </p:spPr>
        <p:txBody>
          <a:bodyPr/>
          <a:lstStyle/>
          <a:p>
            <a:r>
              <a:rPr lang="en-US" altLang="zh-TW" sz="3600" b="1" dirty="0">
                <a:solidFill>
                  <a:schemeClr val="folHlink"/>
                </a:solidFill>
                <a:latin typeface="微軟正黑體" panose="020B0604030504040204" pitchFamily="34" charset="-120"/>
                <a:ea typeface="微軟正黑體" panose="020B0604030504040204" pitchFamily="34" charset="-120"/>
              </a:rPr>
              <a:t>CEDAW</a:t>
            </a:r>
            <a:r>
              <a:rPr lang="zh-TW" altLang="en-US" sz="3600" b="1" dirty="0">
                <a:solidFill>
                  <a:schemeClr val="folHlink"/>
                </a:solidFill>
                <a:latin typeface="微軟正黑體" panose="020B0604030504040204" pitchFamily="34" charset="-120"/>
                <a:ea typeface="微軟正黑體" panose="020B0604030504040204" pitchFamily="34" charset="-120"/>
              </a:rPr>
              <a:t>施行法實施內涵</a:t>
            </a:r>
          </a:p>
        </p:txBody>
      </p:sp>
      <p:sp>
        <p:nvSpPr>
          <p:cNvPr id="31747" name="Rectangle 3">
            <a:extLst>
              <a:ext uri="{FF2B5EF4-FFF2-40B4-BE49-F238E27FC236}">
                <a16:creationId xmlns:a16="http://schemas.microsoft.com/office/drawing/2014/main" id="{5054CE01-069A-C8E3-EE66-3A517AAA80C1}"/>
              </a:ext>
            </a:extLst>
          </p:cNvPr>
          <p:cNvSpPr>
            <a:spLocks noGrp="1" noChangeArrowheads="1"/>
          </p:cNvSpPr>
          <p:nvPr>
            <p:ph idx="1"/>
          </p:nvPr>
        </p:nvSpPr>
        <p:spPr>
          <a:xfrm>
            <a:off x="539750" y="1844675"/>
            <a:ext cx="8604250" cy="5688013"/>
          </a:xfrm>
        </p:spPr>
        <p:txBody>
          <a:bodyPr/>
          <a:lstStyle/>
          <a:p>
            <a:pPr>
              <a:buFont typeface="Wingdings" panose="05000000000000000000" pitchFamily="2" charset="2"/>
              <a:buNone/>
            </a:pPr>
            <a:r>
              <a:rPr lang="en-US" altLang="zh-TW" sz="2400" dirty="0">
                <a:solidFill>
                  <a:srgbClr val="002060"/>
                </a:solidFill>
                <a:latin typeface="微軟正黑體" panose="020B0604030504040204" pitchFamily="34" charset="-120"/>
                <a:ea typeface="微軟正黑體" panose="020B0604030504040204" pitchFamily="34" charset="-120"/>
              </a:rPr>
              <a:t>1.</a:t>
            </a:r>
            <a:r>
              <a:rPr lang="zh-TW" altLang="en-US" sz="2400" dirty="0">
                <a:solidFill>
                  <a:srgbClr val="002060"/>
                </a:solidFill>
                <a:latin typeface="微軟正黑體" panose="020B0604030504040204" pitchFamily="34" charset="-120"/>
                <a:ea typeface="微軟正黑體" panose="020B0604030504040204" pitchFamily="34" charset="-120"/>
              </a:rPr>
              <a:t>各機關以公權力行使職權應符合公約規定（</a:t>
            </a:r>
            <a:r>
              <a:rPr lang="en-US" altLang="zh-TW" sz="2400" dirty="0">
                <a:solidFill>
                  <a:srgbClr val="002060"/>
                </a:solidFill>
                <a:latin typeface="微軟正黑體" panose="020B0604030504040204" pitchFamily="34" charset="-120"/>
                <a:ea typeface="微軟正黑體" panose="020B0604030504040204" pitchFamily="34" charset="-120"/>
              </a:rPr>
              <a:t>4</a:t>
            </a:r>
            <a:r>
              <a:rPr lang="zh-TW" altLang="en-US" sz="2400" dirty="0">
                <a:solidFill>
                  <a:srgbClr val="002060"/>
                </a:solidFill>
                <a:latin typeface="微軟正黑體" panose="020B0604030504040204" pitchFamily="34" charset="-120"/>
                <a:ea typeface="微軟正黑體" panose="020B0604030504040204" pitchFamily="34" charset="-120"/>
              </a:rPr>
              <a:t>條），並依業務執掌負責籌畫、推動、執行公約相關事項（</a:t>
            </a:r>
            <a:r>
              <a:rPr lang="en-US" altLang="zh-TW" sz="2400" dirty="0">
                <a:solidFill>
                  <a:srgbClr val="002060"/>
                </a:solidFill>
                <a:latin typeface="微軟正黑體" panose="020B0604030504040204" pitchFamily="34" charset="-120"/>
                <a:ea typeface="微軟正黑體" panose="020B0604030504040204" pitchFamily="34" charset="-120"/>
              </a:rPr>
              <a:t>5</a:t>
            </a:r>
            <a:r>
              <a:rPr lang="zh-TW" altLang="en-US" sz="2400" dirty="0">
                <a:solidFill>
                  <a:srgbClr val="002060"/>
                </a:solidFill>
                <a:latin typeface="微軟正黑體" panose="020B0604030504040204" pitchFamily="34" charset="-120"/>
                <a:ea typeface="微軟正黑體" panose="020B0604030504040204" pitchFamily="34" charset="-120"/>
              </a:rPr>
              <a:t>條）。</a:t>
            </a:r>
          </a:p>
          <a:p>
            <a:pPr>
              <a:buFont typeface="Wingdings" panose="05000000000000000000" pitchFamily="2" charset="2"/>
              <a:buNone/>
            </a:pPr>
            <a:r>
              <a:rPr lang="en-US" altLang="zh-TW" sz="2400" dirty="0">
                <a:solidFill>
                  <a:srgbClr val="002060"/>
                </a:solidFill>
                <a:latin typeface="微軟正黑體" panose="020B0604030504040204" pitchFamily="34" charset="-120"/>
                <a:ea typeface="微軟正黑體" panose="020B0604030504040204" pitchFamily="34" charset="-120"/>
              </a:rPr>
              <a:t>2.</a:t>
            </a:r>
            <a:r>
              <a:rPr lang="zh-TW" altLang="en-US" sz="2400" dirty="0">
                <a:solidFill>
                  <a:srgbClr val="002060"/>
                </a:solidFill>
                <a:latin typeface="微軟正黑體" panose="020B0604030504040204" pitchFamily="34" charset="-120"/>
                <a:ea typeface="微軟正黑體" panose="020B0604030504040204" pitchFamily="34" charset="-120"/>
              </a:rPr>
              <a:t>個公部門間，以及政府與國內外公私部門（如非政府組織和人權</a:t>
            </a:r>
            <a:r>
              <a:rPr lang="zh-TW" altLang="en-US" sz="2400" dirty="0">
                <a:latin typeface="微軟正黑體" panose="020B0604030504040204" pitchFamily="34" charset="-120"/>
                <a:ea typeface="微軟正黑體" panose="020B0604030504040204" pitchFamily="34" charset="-120"/>
              </a:rPr>
              <a:t>機構）應依法橫向相互協調合作，聯繫辦理（</a:t>
            </a:r>
            <a:r>
              <a:rPr lang="en-US" altLang="zh-TW" sz="2400" dirty="0">
                <a:latin typeface="微軟正黑體" panose="020B0604030504040204" pitchFamily="34" charset="-120"/>
                <a:ea typeface="微軟正黑體" panose="020B0604030504040204" pitchFamily="34" charset="-120"/>
              </a:rPr>
              <a:t>5</a:t>
            </a:r>
            <a:r>
              <a:rPr lang="zh-TW" altLang="en-US" sz="2400" dirty="0">
                <a:latin typeface="微軟正黑體" panose="020B0604030504040204" pitchFamily="34" charset="-120"/>
                <a:ea typeface="微軟正黑體" panose="020B0604030504040204" pitchFamily="34" charset="-120"/>
              </a:rPr>
              <a:t>條）。</a:t>
            </a:r>
          </a:p>
          <a:p>
            <a:pPr>
              <a:buFont typeface="Wingdings" panose="05000000000000000000" pitchFamily="2" charset="2"/>
              <a:buNone/>
            </a:pPr>
            <a:r>
              <a:rPr kumimoji="0" lang="en-US" altLang="zh-TW" sz="2400" dirty="0">
                <a:latin typeface="微軟正黑體" panose="020B0604030504040204" pitchFamily="34" charset="-120"/>
                <a:ea typeface="微軟正黑體" panose="020B0604030504040204" pitchFamily="34" charset="-120"/>
              </a:rPr>
              <a:t>3.</a:t>
            </a:r>
            <a:r>
              <a:rPr kumimoji="0" lang="zh-TW" altLang="en-US" sz="2400" dirty="0">
                <a:latin typeface="微軟正黑體" panose="020B0604030504040204" pitchFamily="34" charset="-120"/>
                <a:ea typeface="微軟正黑體" panose="020B0604030504040204" pitchFamily="34" charset="-120"/>
              </a:rPr>
              <a:t>所有</a:t>
            </a:r>
            <a:r>
              <a:rPr kumimoji="0" lang="zh-TW" altLang="en-US" sz="2400" dirty="0">
                <a:solidFill>
                  <a:schemeClr val="hlink"/>
                </a:solidFill>
                <a:latin typeface="微軟正黑體" panose="020B0604030504040204" pitchFamily="34" charset="-120"/>
                <a:ea typeface="微軟正黑體" panose="020B0604030504040204" pitchFamily="34" charset="-120"/>
              </a:rPr>
              <a:t>法規</a:t>
            </a:r>
            <a:r>
              <a:rPr kumimoji="0" lang="zh-TW" altLang="en-US" sz="2400" dirty="0">
                <a:solidFill>
                  <a:srgbClr val="002060"/>
                </a:solidFill>
                <a:latin typeface="微軟正黑體" panose="020B0604030504040204" pitchFamily="34" charset="-120"/>
                <a:ea typeface="微軟正黑體" panose="020B0604030504040204" pitchFamily="34" charset="-120"/>
              </a:rPr>
              <a:t>級行政措施應於本法施行</a:t>
            </a:r>
            <a:r>
              <a:rPr kumimoji="0" lang="zh-TW" altLang="en-US" sz="2400" dirty="0">
                <a:solidFill>
                  <a:schemeClr val="hlink"/>
                </a:solidFill>
                <a:latin typeface="微軟正黑體" panose="020B0604030504040204" pitchFamily="34" charset="-120"/>
                <a:ea typeface="微軟正黑體" panose="020B0604030504040204" pitchFamily="34" charset="-120"/>
              </a:rPr>
              <a:t>三年後</a:t>
            </a:r>
            <a:r>
              <a:rPr kumimoji="0" lang="zh-TW" altLang="en-US" sz="2400" dirty="0">
                <a:latin typeface="微軟正黑體" panose="020B0604030504040204" pitchFamily="34" charset="-120"/>
                <a:ea typeface="微軟正黑體" panose="020B0604030504040204" pitchFamily="34" charset="-120"/>
              </a:rPr>
              <a:t>，</a:t>
            </a:r>
            <a:r>
              <a:rPr kumimoji="0" lang="zh-TW" altLang="en-US" sz="2400" dirty="0">
                <a:solidFill>
                  <a:srgbClr val="002060"/>
                </a:solidFill>
                <a:latin typeface="微軟正黑體" panose="020B0604030504040204" pitchFamily="34" charset="-120"/>
                <a:ea typeface="微軟正黑體" panose="020B0604030504040204" pitchFamily="34" charset="-120"/>
              </a:rPr>
              <a:t>為成</a:t>
            </a:r>
            <a:r>
              <a:rPr kumimoji="0" lang="zh-TW" altLang="en-US" sz="2400" dirty="0">
                <a:solidFill>
                  <a:schemeClr val="hlink"/>
                </a:solidFill>
                <a:latin typeface="微軟正黑體" panose="020B0604030504040204" pitchFamily="34" charset="-120"/>
                <a:ea typeface="微軟正黑體" panose="020B0604030504040204" pitchFamily="34" charset="-120"/>
              </a:rPr>
              <a:t>檢視</a:t>
            </a:r>
            <a:r>
              <a:rPr kumimoji="0" lang="zh-TW" altLang="en-US" sz="2400" dirty="0">
                <a:solidFill>
                  <a:srgbClr val="002060"/>
                </a:solidFill>
                <a:latin typeface="微軟正黑體" panose="020B0604030504040204" pitchFamily="34" charset="-120"/>
                <a:ea typeface="微軟正黑體" panose="020B0604030504040204" pitchFamily="34" charset="-120"/>
              </a:rPr>
              <a:t>暨改進作為（</a:t>
            </a:r>
            <a:r>
              <a:rPr kumimoji="0" lang="en-US" altLang="zh-TW" sz="2400" dirty="0">
                <a:solidFill>
                  <a:srgbClr val="002060"/>
                </a:solidFill>
                <a:latin typeface="微軟正黑體" panose="020B0604030504040204" pitchFamily="34" charset="-120"/>
                <a:ea typeface="微軟正黑體" panose="020B0604030504040204" pitchFamily="34" charset="-120"/>
              </a:rPr>
              <a:t>8</a:t>
            </a:r>
            <a:r>
              <a:rPr kumimoji="0" lang="zh-TW" altLang="en-US" sz="2400" dirty="0">
                <a:solidFill>
                  <a:srgbClr val="002060"/>
                </a:solidFill>
                <a:latin typeface="微軟正黑體" panose="020B0604030504040204" pitchFamily="34" charset="-120"/>
                <a:ea typeface="微軟正黑體" panose="020B0604030504040204" pitchFamily="34" charset="-120"/>
              </a:rPr>
              <a:t>條）。</a:t>
            </a:r>
          </a:p>
          <a:p>
            <a:pPr>
              <a:buFont typeface="Wingdings" panose="05000000000000000000" pitchFamily="2" charset="2"/>
              <a:buNone/>
            </a:pPr>
            <a:r>
              <a:rPr kumimoji="0" lang="en-US" altLang="zh-TW" sz="2400" dirty="0">
                <a:solidFill>
                  <a:srgbClr val="002060"/>
                </a:solidFill>
                <a:latin typeface="微軟正黑體" panose="020B0604030504040204" pitchFamily="34" charset="-120"/>
                <a:ea typeface="微軟正黑體" panose="020B0604030504040204" pitchFamily="34" charset="-120"/>
              </a:rPr>
              <a:t>4.</a:t>
            </a:r>
            <a:r>
              <a:rPr kumimoji="0" lang="zh-TW" altLang="en-US" sz="2400" dirty="0">
                <a:solidFill>
                  <a:srgbClr val="002060"/>
                </a:solidFill>
                <a:latin typeface="微軟正黑體" panose="020B0604030504040204" pitchFamily="34" charset="-120"/>
                <a:ea typeface="微軟正黑體" panose="020B0604030504040204" pitchFamily="34" charset="-120"/>
              </a:rPr>
              <a:t>依據公約規定，政府應「每四年提出國家報告，並邀請相關專家學者及民間團體代表審閱」，依此「檢討、研擬後續施政」（</a:t>
            </a:r>
            <a:r>
              <a:rPr kumimoji="0" lang="en-US" altLang="zh-TW" sz="2400" dirty="0">
                <a:solidFill>
                  <a:srgbClr val="002060"/>
                </a:solidFill>
                <a:latin typeface="微軟正黑體" panose="020B0604030504040204" pitchFamily="34" charset="-120"/>
                <a:ea typeface="微軟正黑體" panose="020B0604030504040204" pitchFamily="34" charset="-120"/>
              </a:rPr>
              <a:t>6</a:t>
            </a:r>
            <a:r>
              <a:rPr kumimoji="0" lang="zh-TW" altLang="en-US" sz="2400" dirty="0">
                <a:solidFill>
                  <a:srgbClr val="002060"/>
                </a:solidFill>
                <a:latin typeface="微軟正黑體" panose="020B0604030504040204" pitchFamily="34" charset="-120"/>
                <a:ea typeface="微軟正黑體" panose="020B0604030504040204" pitchFamily="34" charset="-120"/>
              </a:rPr>
              <a:t>條）。</a:t>
            </a:r>
          </a:p>
          <a:p>
            <a:pPr>
              <a:buFont typeface="Wingdings" panose="05000000000000000000" pitchFamily="2" charset="2"/>
              <a:buNone/>
            </a:pPr>
            <a:r>
              <a:rPr kumimoji="0" lang="en-US" altLang="zh-TW" sz="2400" dirty="0">
                <a:solidFill>
                  <a:srgbClr val="002060"/>
                </a:solidFill>
                <a:latin typeface="微軟正黑體" panose="020B0604030504040204" pitchFamily="34" charset="-120"/>
                <a:ea typeface="微軟正黑體" panose="020B0604030504040204" pitchFamily="34" charset="-120"/>
              </a:rPr>
              <a:t>5. 【</a:t>
            </a:r>
            <a:r>
              <a:rPr kumimoji="0" lang="zh-TW" altLang="en-US" sz="2400" dirty="0">
                <a:solidFill>
                  <a:srgbClr val="002060"/>
                </a:solidFill>
                <a:latin typeface="微軟正黑體" panose="020B0604030504040204" pitchFamily="34" charset="-120"/>
                <a:ea typeface="微軟正黑體" panose="020B0604030504040204" pitchFamily="34" charset="-120"/>
              </a:rPr>
              <a:t>施行法</a:t>
            </a:r>
            <a:r>
              <a:rPr kumimoji="0" lang="en-US" altLang="zh-TW" sz="2400" dirty="0">
                <a:solidFill>
                  <a:srgbClr val="002060"/>
                </a:solidFill>
                <a:latin typeface="微軟正黑體" panose="020B0604030504040204" pitchFamily="34" charset="-120"/>
                <a:ea typeface="微軟正黑體" panose="020B0604030504040204" pitchFamily="34" charset="-120"/>
              </a:rPr>
              <a:t>】</a:t>
            </a:r>
            <a:r>
              <a:rPr kumimoji="0" lang="zh-TW" altLang="en-US" sz="2400" dirty="0">
                <a:solidFill>
                  <a:srgbClr val="002060"/>
                </a:solidFill>
                <a:latin typeface="微軟正黑體" panose="020B0604030504040204" pitchFamily="34" charset="-120"/>
                <a:ea typeface="微軟正黑體" panose="020B0604030504040204" pitchFamily="34" charset="-120"/>
              </a:rPr>
              <a:t>明定上述之各項任務執行所需之</a:t>
            </a:r>
            <a:r>
              <a:rPr kumimoji="0" lang="zh-TW" altLang="en-US" sz="2400" dirty="0">
                <a:solidFill>
                  <a:schemeClr val="hlink"/>
                </a:solidFill>
                <a:latin typeface="微軟正黑體" panose="020B0604030504040204" pitchFamily="34" charset="-120"/>
                <a:ea typeface="微軟正黑體" panose="020B0604030504040204" pitchFamily="34" charset="-120"/>
              </a:rPr>
              <a:t>經費</a:t>
            </a:r>
            <a:r>
              <a:rPr kumimoji="0" lang="zh-TW" altLang="en-US" sz="2400" dirty="0">
                <a:solidFill>
                  <a:srgbClr val="002060"/>
                </a:solidFill>
                <a:latin typeface="微軟正黑體" panose="020B0604030504040204" pitchFamily="34" charset="-120"/>
                <a:ea typeface="微軟正黑體" panose="020B0604030504040204" pitchFamily="34" charset="-120"/>
              </a:rPr>
              <a:t>「應依財政狀況</a:t>
            </a:r>
            <a:r>
              <a:rPr kumimoji="0" lang="zh-TW" altLang="en-US" sz="2400" dirty="0">
                <a:latin typeface="微軟正黑體" panose="020B0604030504040204" pitchFamily="34" charset="-120"/>
                <a:ea typeface="微軟正黑體" panose="020B0604030504040204" pitchFamily="34" charset="-120"/>
              </a:rPr>
              <a:t>，</a:t>
            </a:r>
            <a:r>
              <a:rPr kumimoji="0" lang="zh-TW" altLang="en-US" sz="2400" dirty="0">
                <a:solidFill>
                  <a:schemeClr val="hlink"/>
                </a:solidFill>
                <a:latin typeface="微軟正黑體" panose="020B0604030504040204" pitchFamily="34" charset="-120"/>
                <a:ea typeface="微軟正黑體" panose="020B0604030504040204" pitchFamily="34" charset="-120"/>
              </a:rPr>
              <a:t>優先編列</a:t>
            </a:r>
            <a:r>
              <a:rPr kumimoji="0" lang="zh-TW" altLang="en-US" sz="2400" dirty="0">
                <a:latin typeface="微軟正黑體" panose="020B0604030504040204" pitchFamily="34" charset="-120"/>
                <a:ea typeface="微軟正黑體" panose="020B0604030504040204" pitchFamily="34" charset="-120"/>
              </a:rPr>
              <a:t>」</a:t>
            </a:r>
            <a:r>
              <a:rPr kumimoji="0" lang="zh-TW" altLang="en-US" sz="2400" dirty="0">
                <a:solidFill>
                  <a:srgbClr val="002060"/>
                </a:solidFill>
                <a:latin typeface="微軟正黑體" panose="020B0604030504040204" pitchFamily="34" charset="-120"/>
                <a:ea typeface="微軟正黑體" panose="020B0604030504040204" pitchFamily="34" charset="-120"/>
              </a:rPr>
              <a:t>（</a:t>
            </a:r>
            <a:r>
              <a:rPr kumimoji="0" lang="en-US" altLang="zh-TW" sz="2400" dirty="0">
                <a:solidFill>
                  <a:srgbClr val="002060"/>
                </a:solidFill>
                <a:latin typeface="微軟正黑體" panose="020B0604030504040204" pitchFamily="34" charset="-120"/>
                <a:ea typeface="微軟正黑體" panose="020B0604030504040204" pitchFamily="34" charset="-120"/>
              </a:rPr>
              <a:t>7</a:t>
            </a:r>
            <a:r>
              <a:rPr kumimoji="0" lang="zh-TW" altLang="en-US" sz="2400" dirty="0">
                <a:solidFill>
                  <a:srgbClr val="002060"/>
                </a:solidFill>
                <a:latin typeface="微軟正黑體" panose="020B0604030504040204" pitchFamily="34" charset="-120"/>
                <a:ea typeface="微軟正黑體" panose="020B0604030504040204" pitchFamily="34" charset="-120"/>
              </a:rPr>
              <a:t>條）。</a:t>
            </a: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36F4E763-778B-0562-8173-4554FC656205}"/>
              </a:ext>
            </a:extLst>
          </p:cNvPr>
          <p:cNvSpPr>
            <a:spLocks noGrp="1" noChangeArrowheads="1"/>
          </p:cNvSpPr>
          <p:nvPr>
            <p:ph type="title"/>
          </p:nvPr>
        </p:nvSpPr>
        <p:spPr/>
        <p:txBody>
          <a:bodyPr/>
          <a:lstStyle/>
          <a:p>
            <a:pPr eaLnBrk="1" hangingPunct="1"/>
            <a:r>
              <a:rPr lang="zh-TW" altLang="en-US" dirty="0">
                <a:latin typeface="微軟正黑體" panose="020B0604030504040204" pitchFamily="34" charset="-120"/>
                <a:ea typeface="微軟正黑體" panose="020B0604030504040204" pitchFamily="34" charset="-120"/>
              </a:rPr>
              <a:t>特色與目標</a:t>
            </a:r>
          </a:p>
        </p:txBody>
      </p:sp>
      <p:sp>
        <p:nvSpPr>
          <p:cNvPr id="32771" name="Rectangle 3">
            <a:extLst>
              <a:ext uri="{FF2B5EF4-FFF2-40B4-BE49-F238E27FC236}">
                <a16:creationId xmlns:a16="http://schemas.microsoft.com/office/drawing/2014/main" id="{48C29460-E88B-18A4-F631-9DA93F1807C9}"/>
              </a:ext>
            </a:extLst>
          </p:cNvPr>
          <p:cNvSpPr>
            <a:spLocks noGrp="1" noChangeArrowheads="1"/>
          </p:cNvSpPr>
          <p:nvPr>
            <p:ph idx="1"/>
          </p:nvPr>
        </p:nvSpPr>
        <p:spPr>
          <a:xfrm>
            <a:off x="1182688" y="2017713"/>
            <a:ext cx="7350125" cy="4114800"/>
          </a:xfrm>
        </p:spPr>
        <p:txBody>
          <a:bodyPr/>
          <a:lstStyle/>
          <a:p>
            <a:pPr marL="0" indent="0" eaLnBrk="1" hangingPunct="1"/>
            <a:r>
              <a:rPr lang="zh-TW" altLang="en-US" dirty="0">
                <a:solidFill>
                  <a:srgbClr val="002060"/>
                </a:solidFill>
                <a:latin typeface="微軟正黑體" panose="020B0604030504040204" pitchFamily="34" charset="-120"/>
                <a:ea typeface="微軟正黑體" panose="020B0604030504040204" pitchFamily="34" charset="-120"/>
              </a:rPr>
              <a:t>性別主流化是一個</a:t>
            </a:r>
            <a:r>
              <a:rPr lang="zh-TW" altLang="en-US" dirty="0">
                <a:solidFill>
                  <a:srgbClr val="CC00CC"/>
                </a:solidFill>
                <a:latin typeface="微軟正黑體" panose="020B0604030504040204" pitchFamily="34" charset="-120"/>
                <a:ea typeface="微軟正黑體" panose="020B0604030504040204" pitchFamily="34" charset="-120"/>
              </a:rPr>
              <a:t>評估過程</a:t>
            </a:r>
          </a:p>
          <a:p>
            <a:pPr marL="0" indent="0" eaLnBrk="1" hangingPunct="1"/>
            <a:r>
              <a:rPr lang="zh-TW" altLang="en-US" dirty="0">
                <a:solidFill>
                  <a:srgbClr val="002060"/>
                </a:solidFill>
                <a:latin typeface="微軟正黑體" panose="020B0604030504040204" pitchFamily="34" charset="-120"/>
                <a:ea typeface="微軟正黑體" panose="020B0604030504040204" pitchFamily="34" charset="-120"/>
              </a:rPr>
              <a:t>性別主流化是一種</a:t>
            </a:r>
            <a:r>
              <a:rPr lang="zh-TW" altLang="en-US" dirty="0">
                <a:solidFill>
                  <a:srgbClr val="CC00CC"/>
                </a:solidFill>
                <a:latin typeface="微軟正黑體" panose="020B0604030504040204" pitchFamily="34" charset="-120"/>
                <a:ea typeface="微軟正黑體" panose="020B0604030504040204" pitchFamily="34" charset="-120"/>
              </a:rPr>
              <a:t>策略</a:t>
            </a:r>
          </a:p>
          <a:p>
            <a:pPr marL="0" indent="0" eaLnBrk="1" hangingPunct="1"/>
            <a:r>
              <a:rPr lang="zh-TW" altLang="en-US" dirty="0">
                <a:solidFill>
                  <a:srgbClr val="002060"/>
                </a:solidFill>
                <a:latin typeface="微軟正黑體" panose="020B0604030504040204" pitchFamily="34" charset="-120"/>
                <a:ea typeface="微軟正黑體" panose="020B0604030504040204" pitchFamily="34" charset="-120"/>
              </a:rPr>
              <a:t>其最終目的是</a:t>
            </a:r>
            <a:r>
              <a:rPr lang="zh-TW" altLang="en-US" dirty="0">
                <a:solidFill>
                  <a:srgbClr val="CC00CC"/>
                </a:solidFill>
                <a:latin typeface="微軟正黑體" panose="020B0604030504040204" pitchFamily="34" charset="-120"/>
                <a:ea typeface="微軟正黑體" panose="020B0604030504040204" pitchFamily="34" charset="-120"/>
              </a:rPr>
              <a:t>性別平等</a:t>
            </a:r>
          </a:p>
          <a:p>
            <a:pPr marL="0" indent="0" eaLnBrk="1" hangingPunct="1">
              <a:buFont typeface="Wingdings" panose="05000000000000000000" pitchFamily="2" charset="2"/>
              <a:buNone/>
            </a:pPr>
            <a:endParaRPr lang="zh-TW" altLang="en-US" dirty="0">
              <a:latin typeface="微軟正黑體" panose="020B0604030504040204" pitchFamily="34" charset="-120"/>
              <a:ea typeface="微軟正黑體" panose="020B0604030504040204" pitchFamily="34" charset="-120"/>
            </a:endParaRPr>
          </a:p>
          <a:p>
            <a:pPr marL="0" indent="0" eaLnBrk="1" hangingPunct="1">
              <a:buFont typeface="Wingdings" panose="05000000000000000000" pitchFamily="2" charset="2"/>
              <a:buNone/>
            </a:pPr>
            <a:r>
              <a:rPr lang="zh-TW" altLang="en-US" dirty="0">
                <a:solidFill>
                  <a:schemeClr val="hlink"/>
                </a:solidFill>
                <a:latin typeface="微軟正黑體" panose="020B0604030504040204" pitchFamily="34" charset="-120"/>
                <a:ea typeface="微軟正黑體" panose="020B0604030504040204" pitchFamily="34" charset="-120"/>
              </a:rPr>
              <a:t>性別平等</a:t>
            </a:r>
            <a:r>
              <a:rPr lang="zh-TW" altLang="en-US" dirty="0">
                <a:solidFill>
                  <a:srgbClr val="002060"/>
                </a:solidFill>
                <a:latin typeface="微軟正黑體" panose="020B0604030504040204" pitchFamily="34" charset="-120"/>
                <a:ea typeface="微軟正黑體" panose="020B0604030504040204" pitchFamily="34" charset="-120"/>
              </a:rPr>
              <a:t>是一個攸關全社會、全人類幸福的價值，而不是特定人口的福利，更不只是婦女的福利</a:t>
            </a: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04D6B0D6-7A67-C5FB-AB38-C3B45DF0A845}"/>
              </a:ext>
            </a:extLst>
          </p:cNvPr>
          <p:cNvSpPr>
            <a:spLocks noGrp="1" noChangeArrowheads="1"/>
          </p:cNvSpPr>
          <p:nvPr>
            <p:ph type="title"/>
          </p:nvPr>
        </p:nvSpPr>
        <p:spPr/>
        <p:txBody>
          <a:bodyPr/>
          <a:lstStyle/>
          <a:p>
            <a:pPr eaLnBrk="1" hangingPunct="1"/>
            <a:r>
              <a:rPr kumimoji="0" lang="zh-TW" altLang="en-US" dirty="0">
                <a:solidFill>
                  <a:srgbClr val="002060"/>
                </a:solidFill>
                <a:latin typeface="微軟正黑體" panose="020B0604030504040204" pitchFamily="34" charset="-120"/>
                <a:ea typeface="微軟正黑體" panose="020B0604030504040204" pitchFamily="34" charset="-120"/>
              </a:rPr>
              <a:t>六</a:t>
            </a:r>
            <a:r>
              <a:rPr lang="zh-TW" altLang="en-US" dirty="0">
                <a:solidFill>
                  <a:srgbClr val="002060"/>
                </a:solidFill>
                <a:latin typeface="微軟正黑體" panose="020B0604030504040204" pitchFamily="34" charset="-120"/>
                <a:ea typeface="微軟正黑體" panose="020B0604030504040204" pitchFamily="34" charset="-120"/>
              </a:rPr>
              <a:t>大操作工具</a:t>
            </a:r>
          </a:p>
        </p:txBody>
      </p:sp>
      <p:sp>
        <p:nvSpPr>
          <p:cNvPr id="33795" name="Oval 5">
            <a:extLst>
              <a:ext uri="{FF2B5EF4-FFF2-40B4-BE49-F238E27FC236}">
                <a16:creationId xmlns:a16="http://schemas.microsoft.com/office/drawing/2014/main" id="{F7905320-82DE-9724-30A9-DF4084DDBEC6}"/>
              </a:ext>
            </a:extLst>
          </p:cNvPr>
          <p:cNvSpPr>
            <a:spLocks noChangeArrowheads="1"/>
          </p:cNvSpPr>
          <p:nvPr/>
        </p:nvSpPr>
        <p:spPr bwMode="auto">
          <a:xfrm>
            <a:off x="5364163" y="3500438"/>
            <a:ext cx="3095625" cy="1152525"/>
          </a:xfrm>
          <a:prstGeom prst="ellipse">
            <a:avLst/>
          </a:prstGeom>
          <a:solidFill>
            <a:srgbClr val="666699"/>
          </a:solidFill>
          <a:ln w="9525">
            <a:solidFill>
              <a:srgbClr val="FFCC99"/>
            </a:solidFill>
            <a:round/>
            <a:headEnd/>
            <a:tailEnd/>
          </a:ln>
        </p:spPr>
        <p:txBody>
          <a:bodyPr wrap="none" anchor="ctr"/>
          <a:lstStyle>
            <a:lvl1pPr eaLnBrk="0" hangingPunct="0">
              <a:defRPr kumimoji="1" sz="2400">
                <a:solidFill>
                  <a:schemeClr val="tx1"/>
                </a:solidFill>
                <a:latin typeface="Tahoma" panose="020B0604030504040204" pitchFamily="34" charset="0"/>
                <a:ea typeface="標楷體" panose="03000509000000000000" pitchFamily="65" charset="-120"/>
              </a:defRPr>
            </a:lvl1pPr>
            <a:lvl2pPr marL="742950" indent="-285750" eaLnBrk="0" hangingPunct="0">
              <a:defRPr kumimoji="1" sz="2400">
                <a:solidFill>
                  <a:schemeClr val="tx1"/>
                </a:solidFill>
                <a:latin typeface="Tahoma" panose="020B0604030504040204" pitchFamily="34" charset="0"/>
                <a:ea typeface="標楷體" panose="03000509000000000000" pitchFamily="65" charset="-120"/>
              </a:defRPr>
            </a:lvl2pPr>
            <a:lvl3pPr marL="1143000" indent="-228600" eaLnBrk="0" hangingPunct="0">
              <a:defRPr kumimoji="1" sz="2400">
                <a:solidFill>
                  <a:schemeClr val="tx1"/>
                </a:solidFill>
                <a:latin typeface="Tahoma" panose="020B0604030504040204" pitchFamily="34" charset="0"/>
                <a:ea typeface="標楷體" panose="03000509000000000000" pitchFamily="65" charset="-120"/>
              </a:defRPr>
            </a:lvl3pPr>
            <a:lvl4pPr marL="1600200" indent="-228600" eaLnBrk="0" hangingPunct="0">
              <a:defRPr kumimoji="1" sz="2400">
                <a:solidFill>
                  <a:schemeClr val="tx1"/>
                </a:solidFill>
                <a:latin typeface="Tahoma" panose="020B0604030504040204" pitchFamily="34" charset="0"/>
                <a:ea typeface="標楷體" panose="03000509000000000000" pitchFamily="65" charset="-120"/>
              </a:defRPr>
            </a:lvl4pPr>
            <a:lvl5pPr marL="2057400" indent="-228600" eaLnBrk="0" hangingPunct="0">
              <a:defRPr kumimoji="1" sz="24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9pPr>
          </a:lstStyle>
          <a:p>
            <a:pPr algn="ctr" eaLnBrk="1" hangingPunct="1"/>
            <a:r>
              <a:rPr lang="zh-TW" altLang="en-US" sz="3600" dirty="0">
                <a:solidFill>
                  <a:schemeClr val="accent2"/>
                </a:solidFill>
                <a:latin typeface="微軟正黑體" panose="020B0604030504040204" pitchFamily="34" charset="-120"/>
                <a:ea typeface="微軟正黑體" panose="020B0604030504040204" pitchFamily="34" charset="-120"/>
              </a:rPr>
              <a:t>性別影響評估</a:t>
            </a:r>
          </a:p>
        </p:txBody>
      </p:sp>
      <p:sp>
        <p:nvSpPr>
          <p:cNvPr id="33796" name="Oval 6">
            <a:extLst>
              <a:ext uri="{FF2B5EF4-FFF2-40B4-BE49-F238E27FC236}">
                <a16:creationId xmlns:a16="http://schemas.microsoft.com/office/drawing/2014/main" id="{452CA37D-4BE6-52D2-FB68-BF7AFEAA167F}"/>
              </a:ext>
            </a:extLst>
          </p:cNvPr>
          <p:cNvSpPr>
            <a:spLocks noChangeArrowheads="1"/>
          </p:cNvSpPr>
          <p:nvPr/>
        </p:nvSpPr>
        <p:spPr bwMode="auto">
          <a:xfrm>
            <a:off x="4427538" y="4941888"/>
            <a:ext cx="3095625" cy="1152525"/>
          </a:xfrm>
          <a:prstGeom prst="ellipse">
            <a:avLst/>
          </a:prstGeom>
          <a:solidFill>
            <a:srgbClr val="FFFF99"/>
          </a:solidFill>
          <a:ln w="9525">
            <a:solidFill>
              <a:schemeClr val="folHlink"/>
            </a:solidFill>
            <a:round/>
            <a:headEnd/>
            <a:tailEnd/>
          </a:ln>
        </p:spPr>
        <p:txBody>
          <a:bodyPr wrap="none" anchor="ctr"/>
          <a:lstStyle>
            <a:lvl1pPr eaLnBrk="0" hangingPunct="0">
              <a:defRPr kumimoji="1" sz="2400">
                <a:solidFill>
                  <a:schemeClr val="tx1"/>
                </a:solidFill>
                <a:latin typeface="Tahoma" panose="020B0604030504040204" pitchFamily="34" charset="0"/>
                <a:ea typeface="標楷體" panose="03000509000000000000" pitchFamily="65" charset="-120"/>
              </a:defRPr>
            </a:lvl1pPr>
            <a:lvl2pPr marL="742950" indent="-285750" eaLnBrk="0" hangingPunct="0">
              <a:defRPr kumimoji="1" sz="2400">
                <a:solidFill>
                  <a:schemeClr val="tx1"/>
                </a:solidFill>
                <a:latin typeface="Tahoma" panose="020B0604030504040204" pitchFamily="34" charset="0"/>
                <a:ea typeface="標楷體" panose="03000509000000000000" pitchFamily="65" charset="-120"/>
              </a:defRPr>
            </a:lvl2pPr>
            <a:lvl3pPr marL="1143000" indent="-228600" eaLnBrk="0" hangingPunct="0">
              <a:defRPr kumimoji="1" sz="2400">
                <a:solidFill>
                  <a:schemeClr val="tx1"/>
                </a:solidFill>
                <a:latin typeface="Tahoma" panose="020B0604030504040204" pitchFamily="34" charset="0"/>
                <a:ea typeface="標楷體" panose="03000509000000000000" pitchFamily="65" charset="-120"/>
              </a:defRPr>
            </a:lvl3pPr>
            <a:lvl4pPr marL="1600200" indent="-228600" eaLnBrk="0" hangingPunct="0">
              <a:defRPr kumimoji="1" sz="2400">
                <a:solidFill>
                  <a:schemeClr val="tx1"/>
                </a:solidFill>
                <a:latin typeface="Tahoma" panose="020B0604030504040204" pitchFamily="34" charset="0"/>
                <a:ea typeface="標楷體" panose="03000509000000000000" pitchFamily="65" charset="-120"/>
              </a:defRPr>
            </a:lvl4pPr>
            <a:lvl5pPr marL="2057400" indent="-228600" eaLnBrk="0" hangingPunct="0">
              <a:defRPr kumimoji="1" sz="24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9pPr>
          </a:lstStyle>
          <a:p>
            <a:pPr algn="ctr" eaLnBrk="1" hangingPunct="1"/>
            <a:r>
              <a:rPr lang="zh-TW" altLang="en-US" sz="3600" dirty="0">
                <a:solidFill>
                  <a:srgbClr val="669900"/>
                </a:solidFill>
                <a:latin typeface="微軟正黑體" panose="020B0604030504040204" pitchFamily="34" charset="-120"/>
                <a:ea typeface="微軟正黑體" panose="020B0604030504040204" pitchFamily="34" charset="-120"/>
              </a:rPr>
              <a:t>性別預算</a:t>
            </a:r>
          </a:p>
        </p:txBody>
      </p:sp>
      <p:sp>
        <p:nvSpPr>
          <p:cNvPr id="33797" name="Oval 7">
            <a:extLst>
              <a:ext uri="{FF2B5EF4-FFF2-40B4-BE49-F238E27FC236}">
                <a16:creationId xmlns:a16="http://schemas.microsoft.com/office/drawing/2014/main" id="{683194C7-CBDD-9266-C3BE-1ACB1E815B97}"/>
              </a:ext>
            </a:extLst>
          </p:cNvPr>
          <p:cNvSpPr>
            <a:spLocks noChangeArrowheads="1"/>
          </p:cNvSpPr>
          <p:nvPr/>
        </p:nvSpPr>
        <p:spPr bwMode="auto">
          <a:xfrm>
            <a:off x="1258888" y="2133600"/>
            <a:ext cx="3095625" cy="1152525"/>
          </a:xfrm>
          <a:prstGeom prst="ellipse">
            <a:avLst/>
          </a:prstGeom>
          <a:solidFill>
            <a:srgbClr val="CC99FF"/>
          </a:solidFill>
          <a:ln w="9525">
            <a:solidFill>
              <a:schemeClr val="folHlink"/>
            </a:solidFill>
            <a:round/>
            <a:headEnd/>
            <a:tailEnd/>
          </a:ln>
        </p:spPr>
        <p:txBody>
          <a:bodyPr wrap="none" anchor="ctr"/>
          <a:lstStyle>
            <a:lvl1pPr eaLnBrk="0" hangingPunct="0">
              <a:defRPr kumimoji="1" sz="2400">
                <a:solidFill>
                  <a:schemeClr val="tx1"/>
                </a:solidFill>
                <a:latin typeface="Tahoma" panose="020B0604030504040204" pitchFamily="34" charset="0"/>
                <a:ea typeface="標楷體" panose="03000509000000000000" pitchFamily="65" charset="-120"/>
              </a:defRPr>
            </a:lvl1pPr>
            <a:lvl2pPr marL="742950" indent="-285750" eaLnBrk="0" hangingPunct="0">
              <a:defRPr kumimoji="1" sz="2400">
                <a:solidFill>
                  <a:schemeClr val="tx1"/>
                </a:solidFill>
                <a:latin typeface="Tahoma" panose="020B0604030504040204" pitchFamily="34" charset="0"/>
                <a:ea typeface="標楷體" panose="03000509000000000000" pitchFamily="65" charset="-120"/>
              </a:defRPr>
            </a:lvl2pPr>
            <a:lvl3pPr marL="1143000" indent="-228600" eaLnBrk="0" hangingPunct="0">
              <a:defRPr kumimoji="1" sz="2400">
                <a:solidFill>
                  <a:schemeClr val="tx1"/>
                </a:solidFill>
                <a:latin typeface="Tahoma" panose="020B0604030504040204" pitchFamily="34" charset="0"/>
                <a:ea typeface="標楷體" panose="03000509000000000000" pitchFamily="65" charset="-120"/>
              </a:defRPr>
            </a:lvl3pPr>
            <a:lvl4pPr marL="1600200" indent="-228600" eaLnBrk="0" hangingPunct="0">
              <a:defRPr kumimoji="1" sz="2400">
                <a:solidFill>
                  <a:schemeClr val="tx1"/>
                </a:solidFill>
                <a:latin typeface="Tahoma" panose="020B0604030504040204" pitchFamily="34" charset="0"/>
                <a:ea typeface="標楷體" panose="03000509000000000000" pitchFamily="65" charset="-120"/>
              </a:defRPr>
            </a:lvl4pPr>
            <a:lvl5pPr marL="2057400" indent="-228600" eaLnBrk="0" hangingPunct="0">
              <a:defRPr kumimoji="1" sz="24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9pPr>
          </a:lstStyle>
          <a:p>
            <a:pPr algn="ctr" eaLnBrk="1" hangingPunct="1"/>
            <a:r>
              <a:rPr lang="zh-TW" altLang="en-US" sz="3600" dirty="0">
                <a:solidFill>
                  <a:srgbClr val="CC00CC"/>
                </a:solidFill>
                <a:latin typeface="微軟正黑體" panose="020B0604030504040204" pitchFamily="34" charset="-120"/>
                <a:ea typeface="微軟正黑體" panose="020B0604030504040204" pitchFamily="34" charset="-120"/>
              </a:rPr>
              <a:t>組織再教育</a:t>
            </a:r>
          </a:p>
        </p:txBody>
      </p:sp>
      <p:sp>
        <p:nvSpPr>
          <p:cNvPr id="33798" name="Oval 8">
            <a:extLst>
              <a:ext uri="{FF2B5EF4-FFF2-40B4-BE49-F238E27FC236}">
                <a16:creationId xmlns:a16="http://schemas.microsoft.com/office/drawing/2014/main" id="{0F09AA38-ECF4-066C-C0F6-5C54DB91B7DF}"/>
              </a:ext>
            </a:extLst>
          </p:cNvPr>
          <p:cNvSpPr>
            <a:spLocks noChangeArrowheads="1"/>
          </p:cNvSpPr>
          <p:nvPr/>
        </p:nvSpPr>
        <p:spPr bwMode="auto">
          <a:xfrm>
            <a:off x="4500563" y="2133600"/>
            <a:ext cx="3095625" cy="1152525"/>
          </a:xfrm>
          <a:prstGeom prst="ellipse">
            <a:avLst/>
          </a:prstGeom>
          <a:solidFill>
            <a:srgbClr val="CCECFF"/>
          </a:solidFill>
          <a:ln w="9525">
            <a:solidFill>
              <a:schemeClr val="folHlink"/>
            </a:solidFill>
            <a:round/>
            <a:headEnd/>
            <a:tailEnd/>
          </a:ln>
        </p:spPr>
        <p:txBody>
          <a:bodyPr wrap="none" anchor="ctr"/>
          <a:lstStyle>
            <a:lvl1pPr eaLnBrk="0" hangingPunct="0">
              <a:defRPr kumimoji="1" sz="2400">
                <a:solidFill>
                  <a:schemeClr val="tx1"/>
                </a:solidFill>
                <a:latin typeface="Tahoma" panose="020B0604030504040204" pitchFamily="34" charset="0"/>
                <a:ea typeface="標楷體" panose="03000509000000000000" pitchFamily="65" charset="-120"/>
              </a:defRPr>
            </a:lvl1pPr>
            <a:lvl2pPr marL="742950" indent="-285750" eaLnBrk="0" hangingPunct="0">
              <a:defRPr kumimoji="1" sz="2400">
                <a:solidFill>
                  <a:schemeClr val="tx1"/>
                </a:solidFill>
                <a:latin typeface="Tahoma" panose="020B0604030504040204" pitchFamily="34" charset="0"/>
                <a:ea typeface="標楷體" panose="03000509000000000000" pitchFamily="65" charset="-120"/>
              </a:defRPr>
            </a:lvl2pPr>
            <a:lvl3pPr marL="1143000" indent="-228600" eaLnBrk="0" hangingPunct="0">
              <a:defRPr kumimoji="1" sz="2400">
                <a:solidFill>
                  <a:schemeClr val="tx1"/>
                </a:solidFill>
                <a:latin typeface="Tahoma" panose="020B0604030504040204" pitchFamily="34" charset="0"/>
                <a:ea typeface="標楷體" panose="03000509000000000000" pitchFamily="65" charset="-120"/>
              </a:defRPr>
            </a:lvl3pPr>
            <a:lvl4pPr marL="1600200" indent="-228600" eaLnBrk="0" hangingPunct="0">
              <a:defRPr kumimoji="1" sz="2400">
                <a:solidFill>
                  <a:schemeClr val="tx1"/>
                </a:solidFill>
                <a:latin typeface="Tahoma" panose="020B0604030504040204" pitchFamily="34" charset="0"/>
                <a:ea typeface="標楷體" panose="03000509000000000000" pitchFamily="65" charset="-120"/>
              </a:defRPr>
            </a:lvl4pPr>
            <a:lvl5pPr marL="2057400" indent="-228600" eaLnBrk="0" hangingPunct="0">
              <a:defRPr kumimoji="1" sz="24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9pPr>
          </a:lstStyle>
          <a:p>
            <a:pPr algn="ctr" eaLnBrk="1" hangingPunct="1"/>
            <a:r>
              <a:rPr lang="zh-TW" altLang="en-US" sz="3600" dirty="0">
                <a:solidFill>
                  <a:schemeClr val="hlink"/>
                </a:solidFill>
                <a:latin typeface="微軟正黑體" panose="020B0604030504040204" pitchFamily="34" charset="-120"/>
                <a:ea typeface="微軟正黑體" panose="020B0604030504040204" pitchFamily="34" charset="-120"/>
              </a:rPr>
              <a:t>性別意識培力</a:t>
            </a:r>
          </a:p>
        </p:txBody>
      </p:sp>
      <p:sp>
        <p:nvSpPr>
          <p:cNvPr id="33799" name="Oval 9">
            <a:extLst>
              <a:ext uri="{FF2B5EF4-FFF2-40B4-BE49-F238E27FC236}">
                <a16:creationId xmlns:a16="http://schemas.microsoft.com/office/drawing/2014/main" id="{171DE1B4-5474-9034-40BC-BB89337D2387}"/>
              </a:ext>
            </a:extLst>
          </p:cNvPr>
          <p:cNvSpPr>
            <a:spLocks noChangeArrowheads="1"/>
          </p:cNvSpPr>
          <p:nvPr/>
        </p:nvSpPr>
        <p:spPr bwMode="auto">
          <a:xfrm>
            <a:off x="468313" y="3573463"/>
            <a:ext cx="3095625" cy="1152525"/>
          </a:xfrm>
          <a:prstGeom prst="ellipse">
            <a:avLst/>
          </a:prstGeom>
          <a:solidFill>
            <a:srgbClr val="C0C0C0">
              <a:alpha val="45097"/>
            </a:srgbClr>
          </a:solidFill>
          <a:ln w="9525">
            <a:solidFill>
              <a:schemeClr val="folHlink"/>
            </a:solidFill>
            <a:round/>
            <a:headEnd/>
            <a:tailEnd/>
          </a:ln>
        </p:spPr>
        <p:txBody>
          <a:bodyPr wrap="none" anchor="ctr"/>
          <a:lstStyle>
            <a:lvl1pPr eaLnBrk="0" hangingPunct="0">
              <a:defRPr kumimoji="1" sz="2400">
                <a:solidFill>
                  <a:schemeClr val="tx1"/>
                </a:solidFill>
                <a:latin typeface="Tahoma" panose="020B0604030504040204" pitchFamily="34" charset="0"/>
                <a:ea typeface="標楷體" panose="03000509000000000000" pitchFamily="65" charset="-120"/>
              </a:defRPr>
            </a:lvl1pPr>
            <a:lvl2pPr marL="742950" indent="-285750" eaLnBrk="0" hangingPunct="0">
              <a:defRPr kumimoji="1" sz="2400">
                <a:solidFill>
                  <a:schemeClr val="tx1"/>
                </a:solidFill>
                <a:latin typeface="Tahoma" panose="020B0604030504040204" pitchFamily="34" charset="0"/>
                <a:ea typeface="標楷體" panose="03000509000000000000" pitchFamily="65" charset="-120"/>
              </a:defRPr>
            </a:lvl2pPr>
            <a:lvl3pPr marL="1143000" indent="-228600" eaLnBrk="0" hangingPunct="0">
              <a:defRPr kumimoji="1" sz="2400">
                <a:solidFill>
                  <a:schemeClr val="tx1"/>
                </a:solidFill>
                <a:latin typeface="Tahoma" panose="020B0604030504040204" pitchFamily="34" charset="0"/>
                <a:ea typeface="標楷體" panose="03000509000000000000" pitchFamily="65" charset="-120"/>
              </a:defRPr>
            </a:lvl3pPr>
            <a:lvl4pPr marL="1600200" indent="-228600" eaLnBrk="0" hangingPunct="0">
              <a:defRPr kumimoji="1" sz="2400">
                <a:solidFill>
                  <a:schemeClr val="tx1"/>
                </a:solidFill>
                <a:latin typeface="Tahoma" panose="020B0604030504040204" pitchFamily="34" charset="0"/>
                <a:ea typeface="標楷體" panose="03000509000000000000" pitchFamily="65" charset="-120"/>
              </a:defRPr>
            </a:lvl4pPr>
            <a:lvl5pPr marL="2057400" indent="-228600" eaLnBrk="0" hangingPunct="0">
              <a:defRPr kumimoji="1" sz="24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9pPr>
          </a:lstStyle>
          <a:p>
            <a:pPr algn="ctr" eaLnBrk="1" hangingPunct="1"/>
            <a:r>
              <a:rPr lang="zh-TW" altLang="en-US" sz="3600" dirty="0">
                <a:latin typeface="微軟正黑體" panose="020B0604030504040204" pitchFamily="34" charset="-120"/>
                <a:ea typeface="微軟正黑體" panose="020B0604030504040204" pitchFamily="34" charset="-120"/>
              </a:rPr>
              <a:t>性別分析</a:t>
            </a:r>
          </a:p>
        </p:txBody>
      </p:sp>
      <p:sp>
        <p:nvSpPr>
          <p:cNvPr id="33800" name="Oval 10">
            <a:extLst>
              <a:ext uri="{FF2B5EF4-FFF2-40B4-BE49-F238E27FC236}">
                <a16:creationId xmlns:a16="http://schemas.microsoft.com/office/drawing/2014/main" id="{412D8B9C-0D73-BF50-F60E-7A332CD0095F}"/>
              </a:ext>
            </a:extLst>
          </p:cNvPr>
          <p:cNvSpPr>
            <a:spLocks noChangeArrowheads="1"/>
          </p:cNvSpPr>
          <p:nvPr/>
        </p:nvSpPr>
        <p:spPr bwMode="auto">
          <a:xfrm>
            <a:off x="1187450" y="4941888"/>
            <a:ext cx="3095625" cy="1152525"/>
          </a:xfrm>
          <a:prstGeom prst="ellipse">
            <a:avLst/>
          </a:prstGeom>
          <a:solidFill>
            <a:srgbClr val="CCFF99"/>
          </a:solidFill>
          <a:ln w="9525">
            <a:solidFill>
              <a:schemeClr val="folHlink"/>
            </a:solidFill>
            <a:round/>
            <a:headEnd/>
            <a:tailEnd/>
          </a:ln>
        </p:spPr>
        <p:txBody>
          <a:bodyPr wrap="none" anchor="ctr"/>
          <a:lstStyle>
            <a:lvl1pPr eaLnBrk="0" hangingPunct="0">
              <a:defRPr kumimoji="1" sz="2400">
                <a:solidFill>
                  <a:schemeClr val="tx1"/>
                </a:solidFill>
                <a:latin typeface="Tahoma" panose="020B0604030504040204" pitchFamily="34" charset="0"/>
                <a:ea typeface="標楷體" panose="03000509000000000000" pitchFamily="65" charset="-120"/>
              </a:defRPr>
            </a:lvl1pPr>
            <a:lvl2pPr marL="742950" indent="-285750" eaLnBrk="0" hangingPunct="0">
              <a:defRPr kumimoji="1" sz="2400">
                <a:solidFill>
                  <a:schemeClr val="tx1"/>
                </a:solidFill>
                <a:latin typeface="Tahoma" panose="020B0604030504040204" pitchFamily="34" charset="0"/>
                <a:ea typeface="標楷體" panose="03000509000000000000" pitchFamily="65" charset="-120"/>
              </a:defRPr>
            </a:lvl2pPr>
            <a:lvl3pPr marL="1143000" indent="-228600" eaLnBrk="0" hangingPunct="0">
              <a:defRPr kumimoji="1" sz="2400">
                <a:solidFill>
                  <a:schemeClr val="tx1"/>
                </a:solidFill>
                <a:latin typeface="Tahoma" panose="020B0604030504040204" pitchFamily="34" charset="0"/>
                <a:ea typeface="標楷體" panose="03000509000000000000" pitchFamily="65" charset="-120"/>
              </a:defRPr>
            </a:lvl3pPr>
            <a:lvl4pPr marL="1600200" indent="-228600" eaLnBrk="0" hangingPunct="0">
              <a:defRPr kumimoji="1" sz="2400">
                <a:solidFill>
                  <a:schemeClr val="tx1"/>
                </a:solidFill>
                <a:latin typeface="Tahoma" panose="020B0604030504040204" pitchFamily="34" charset="0"/>
                <a:ea typeface="標楷體" panose="03000509000000000000" pitchFamily="65" charset="-120"/>
              </a:defRPr>
            </a:lvl4pPr>
            <a:lvl5pPr marL="2057400" indent="-228600" eaLnBrk="0" hangingPunct="0">
              <a:defRPr kumimoji="1" sz="24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9pPr>
          </a:lstStyle>
          <a:p>
            <a:pPr algn="ctr" eaLnBrk="1" hangingPunct="1"/>
            <a:r>
              <a:rPr lang="zh-TW" altLang="en-US" sz="3600" dirty="0">
                <a:solidFill>
                  <a:srgbClr val="3333CC"/>
                </a:solidFill>
                <a:latin typeface="微軟正黑體" panose="020B0604030504040204" pitchFamily="34" charset="-120"/>
                <a:ea typeface="微軟正黑體" panose="020B0604030504040204" pitchFamily="34" charset="-120"/>
              </a:rPr>
              <a:t>性別統計</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9CFB4C16-A77F-3225-974F-DBC616F92A35}"/>
              </a:ext>
            </a:extLst>
          </p:cNvPr>
          <p:cNvSpPr>
            <a:spLocks noGrp="1" noChangeArrowheads="1"/>
          </p:cNvSpPr>
          <p:nvPr>
            <p:ph type="title"/>
          </p:nvPr>
        </p:nvSpPr>
        <p:spPr/>
        <p:txBody>
          <a:bodyPr/>
          <a:lstStyle/>
          <a:p>
            <a:pPr eaLnBrk="1" hangingPunct="1"/>
            <a:r>
              <a:rPr lang="zh-TW" altLang="en-US" dirty="0">
                <a:solidFill>
                  <a:srgbClr val="002060"/>
                </a:solidFill>
                <a:latin typeface="微軟正黑體" panose="020B0604030504040204" pitchFamily="34" charset="-120"/>
                <a:ea typeface="微軟正黑體" panose="020B0604030504040204" pitchFamily="34" charset="-120"/>
              </a:rPr>
              <a:t>具體做法</a:t>
            </a:r>
            <a:r>
              <a:rPr lang="en-US" altLang="zh-TW" dirty="0">
                <a:solidFill>
                  <a:srgbClr val="002060"/>
                </a:solidFill>
                <a:latin typeface="微軟正黑體" panose="020B0604030504040204" pitchFamily="34" charset="-120"/>
                <a:ea typeface="微軟正黑體" panose="020B0604030504040204" pitchFamily="34" charset="-120"/>
              </a:rPr>
              <a:t>1</a:t>
            </a:r>
            <a:endParaRPr lang="zh-TW" altLang="en-US" dirty="0">
              <a:solidFill>
                <a:srgbClr val="002060"/>
              </a:solidFill>
              <a:latin typeface="微軟正黑體" panose="020B0604030504040204" pitchFamily="34" charset="-120"/>
              <a:ea typeface="微軟正黑體" panose="020B0604030504040204" pitchFamily="34" charset="-120"/>
            </a:endParaRPr>
          </a:p>
        </p:txBody>
      </p:sp>
      <p:sp>
        <p:nvSpPr>
          <p:cNvPr id="34819" name="Rectangle 3">
            <a:extLst>
              <a:ext uri="{FF2B5EF4-FFF2-40B4-BE49-F238E27FC236}">
                <a16:creationId xmlns:a16="http://schemas.microsoft.com/office/drawing/2014/main" id="{E1315930-36C6-7F49-D80A-7CF7EF74032F}"/>
              </a:ext>
            </a:extLst>
          </p:cNvPr>
          <p:cNvSpPr>
            <a:spLocks noGrp="1" noChangeArrowheads="1"/>
          </p:cNvSpPr>
          <p:nvPr>
            <p:ph idx="1"/>
          </p:nvPr>
        </p:nvSpPr>
        <p:spPr>
          <a:xfrm>
            <a:off x="1187450" y="1989138"/>
            <a:ext cx="7772400" cy="4114800"/>
          </a:xfrm>
        </p:spPr>
        <p:txBody>
          <a:bodyPr/>
          <a:lstStyle/>
          <a:p>
            <a:pPr eaLnBrk="1" hangingPunct="1">
              <a:buFont typeface="Wingdings" panose="05000000000000000000" pitchFamily="2" charset="2"/>
              <a:buNone/>
            </a:pPr>
            <a:r>
              <a:rPr lang="zh-TW" altLang="en-US" dirty="0">
                <a:solidFill>
                  <a:srgbClr val="002060"/>
                </a:solidFill>
                <a:latin typeface="微軟正黑體" panose="020B0604030504040204" pitchFamily="34" charset="-120"/>
                <a:ea typeface="微軟正黑體" panose="020B0604030504040204" pitchFamily="34" charset="-120"/>
              </a:rPr>
              <a:t>一、確保女性參與決策</a:t>
            </a:r>
          </a:p>
          <a:p>
            <a:pPr eaLnBrk="1" hangingPunct="1">
              <a:buFont typeface="Wingdings" panose="05000000000000000000" pitchFamily="2" charset="2"/>
              <a:buNone/>
            </a:pPr>
            <a:r>
              <a:rPr lang="zh-TW" altLang="en-US" dirty="0">
                <a:latin typeface="微軟正黑體" panose="020B0604030504040204" pitchFamily="34" charset="-120"/>
                <a:ea typeface="微軟正黑體" panose="020B0604030504040204" pitchFamily="34" charset="-120"/>
              </a:rPr>
              <a:t>    </a:t>
            </a:r>
            <a:r>
              <a:rPr lang="zh-TW" altLang="en-US" dirty="0">
                <a:solidFill>
                  <a:srgbClr val="9933FF"/>
                </a:solidFill>
                <a:latin typeface="微軟正黑體" panose="020B0604030504040204" pitchFamily="34" charset="-120"/>
                <a:ea typeface="微軟正黑體" panose="020B0604030504040204" pitchFamily="34" charset="-120"/>
              </a:rPr>
              <a:t>參與式民主</a:t>
            </a:r>
          </a:p>
          <a:p>
            <a:pPr eaLnBrk="1" hangingPunct="1">
              <a:buFont typeface="Wingdings" panose="05000000000000000000" pitchFamily="2" charset="2"/>
              <a:buNone/>
            </a:pPr>
            <a:r>
              <a:rPr lang="zh-TW" altLang="en-US" dirty="0">
                <a:solidFill>
                  <a:srgbClr val="002060"/>
                </a:solidFill>
                <a:latin typeface="微軟正黑體" panose="020B0604030504040204" pitchFamily="34" charset="-120"/>
                <a:ea typeface="微軟正黑體" panose="020B0604030504040204" pitchFamily="34" charset="-120"/>
              </a:rPr>
              <a:t>二、提升女性領導與決策力</a:t>
            </a:r>
          </a:p>
          <a:p>
            <a:pPr eaLnBrk="1" hangingPunct="1">
              <a:buFont typeface="Wingdings" panose="05000000000000000000" pitchFamily="2" charset="2"/>
              <a:buNone/>
            </a:pPr>
            <a:r>
              <a:rPr lang="zh-TW" altLang="en-US" dirty="0">
                <a:latin typeface="微軟正黑體" panose="020B0604030504040204" pitchFamily="34" charset="-120"/>
                <a:ea typeface="微軟正黑體" panose="020B0604030504040204" pitchFamily="34" charset="-120"/>
              </a:rPr>
              <a:t>    </a:t>
            </a:r>
            <a:r>
              <a:rPr lang="zh-TW" altLang="en-US" dirty="0">
                <a:solidFill>
                  <a:srgbClr val="9933FF"/>
                </a:solidFill>
                <a:latin typeface="微軟正黑體" panose="020B0604030504040204" pitchFamily="34" charset="-120"/>
                <a:ea typeface="微軟正黑體" panose="020B0604030504040204" pitchFamily="34" charset="-120"/>
              </a:rPr>
              <a:t>培養女性人才</a:t>
            </a:r>
          </a:p>
          <a:p>
            <a:pPr eaLnBrk="1" hangingPunct="1">
              <a:buFont typeface="Wingdings" panose="05000000000000000000" pitchFamily="2" charset="2"/>
              <a:buNone/>
            </a:pPr>
            <a:r>
              <a:rPr lang="zh-TW" altLang="en-US" dirty="0">
                <a:solidFill>
                  <a:srgbClr val="002060"/>
                </a:solidFill>
                <a:latin typeface="微軟正黑體" panose="020B0604030504040204" pitchFamily="34" charset="-120"/>
                <a:ea typeface="微軟正黑體" panose="020B0604030504040204" pitchFamily="34" charset="-120"/>
              </a:rPr>
              <a:t>三、設立中央性平機制</a:t>
            </a:r>
          </a:p>
          <a:p>
            <a:pPr eaLnBrk="1" hangingPunct="1">
              <a:buFont typeface="Wingdings" panose="05000000000000000000" pitchFamily="2" charset="2"/>
              <a:buNone/>
            </a:pPr>
            <a:r>
              <a:rPr lang="zh-TW" altLang="en-US" dirty="0">
                <a:latin typeface="微軟正黑體" panose="020B0604030504040204" pitchFamily="34" charset="-120"/>
                <a:ea typeface="微軟正黑體" panose="020B0604030504040204" pitchFamily="34" charset="-120"/>
              </a:rPr>
              <a:t>    </a:t>
            </a:r>
            <a:r>
              <a:rPr lang="zh-TW" altLang="en-US" dirty="0">
                <a:solidFill>
                  <a:srgbClr val="9933FF"/>
                </a:solidFill>
                <a:latin typeface="微軟正黑體" panose="020B0604030504040204" pitchFamily="34" charset="-120"/>
                <a:ea typeface="微軟正黑體" panose="020B0604030504040204" pitchFamily="34" charset="-120"/>
              </a:rPr>
              <a:t>正式專責機制</a:t>
            </a: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F215BCA6-F0E8-FC15-3821-3A333900F53E}"/>
              </a:ext>
            </a:extLst>
          </p:cNvPr>
          <p:cNvSpPr>
            <a:spLocks noGrp="1" noChangeArrowheads="1"/>
          </p:cNvSpPr>
          <p:nvPr>
            <p:ph type="title"/>
          </p:nvPr>
        </p:nvSpPr>
        <p:spPr/>
        <p:txBody>
          <a:bodyPr/>
          <a:lstStyle/>
          <a:p>
            <a:pPr eaLnBrk="1" hangingPunct="1"/>
            <a:r>
              <a:rPr lang="zh-TW" altLang="en-US" dirty="0">
                <a:latin typeface="微軟正黑體" panose="020B0604030504040204" pitchFamily="34" charset="-120"/>
                <a:ea typeface="微軟正黑體" panose="020B0604030504040204" pitchFamily="34" charset="-120"/>
              </a:rPr>
              <a:t>具體做法</a:t>
            </a:r>
            <a:r>
              <a:rPr lang="en-US" altLang="zh-TW" dirty="0">
                <a:latin typeface="微軟正黑體" panose="020B0604030504040204" pitchFamily="34" charset="-120"/>
                <a:ea typeface="微軟正黑體" panose="020B0604030504040204" pitchFamily="34" charset="-120"/>
              </a:rPr>
              <a:t>2</a:t>
            </a:r>
            <a:endParaRPr lang="zh-TW" altLang="en-US" dirty="0">
              <a:latin typeface="微軟正黑體" panose="020B0604030504040204" pitchFamily="34" charset="-120"/>
              <a:ea typeface="微軟正黑體" panose="020B0604030504040204" pitchFamily="34" charset="-120"/>
            </a:endParaRPr>
          </a:p>
        </p:txBody>
      </p:sp>
      <p:sp>
        <p:nvSpPr>
          <p:cNvPr id="35843" name="Rectangle 3">
            <a:extLst>
              <a:ext uri="{FF2B5EF4-FFF2-40B4-BE49-F238E27FC236}">
                <a16:creationId xmlns:a16="http://schemas.microsoft.com/office/drawing/2014/main" id="{C10DBA1F-D4BF-1274-888E-7A0CF364216E}"/>
              </a:ext>
            </a:extLst>
          </p:cNvPr>
          <p:cNvSpPr>
            <a:spLocks noGrp="1" noChangeArrowheads="1"/>
          </p:cNvSpPr>
          <p:nvPr>
            <p:ph idx="1"/>
          </p:nvPr>
        </p:nvSpPr>
        <p:spPr>
          <a:xfrm>
            <a:off x="1187450" y="1989138"/>
            <a:ext cx="7772400" cy="4114800"/>
          </a:xfrm>
        </p:spPr>
        <p:txBody>
          <a:bodyPr/>
          <a:lstStyle/>
          <a:p>
            <a:pPr eaLnBrk="1" hangingPunct="1">
              <a:buFont typeface="Wingdings" panose="05000000000000000000" pitchFamily="2" charset="2"/>
              <a:buNone/>
            </a:pPr>
            <a:r>
              <a:rPr lang="zh-TW" altLang="en-US" dirty="0">
                <a:solidFill>
                  <a:srgbClr val="002060"/>
                </a:solidFill>
                <a:latin typeface="微軟正黑體" panose="020B0604030504040204" pitchFamily="34" charset="-120"/>
                <a:ea typeface="微軟正黑體" panose="020B0604030504040204" pitchFamily="34" charset="-120"/>
              </a:rPr>
              <a:t>四、從事性別分析</a:t>
            </a:r>
          </a:p>
          <a:p>
            <a:pPr eaLnBrk="1" hangingPunct="1">
              <a:buFont typeface="Wingdings" panose="05000000000000000000" pitchFamily="2" charset="2"/>
              <a:buNone/>
            </a:pPr>
            <a:r>
              <a:rPr lang="zh-TW" altLang="en-US" dirty="0">
                <a:latin typeface="微軟正黑體" panose="020B0604030504040204" pitchFamily="34" charset="-120"/>
                <a:ea typeface="微軟正黑體" panose="020B0604030504040204" pitchFamily="34" charset="-120"/>
              </a:rPr>
              <a:t>    </a:t>
            </a:r>
            <a:r>
              <a:rPr lang="zh-TW" altLang="en-US" dirty="0">
                <a:solidFill>
                  <a:srgbClr val="9933FF"/>
                </a:solidFill>
                <a:latin typeface="微軟正黑體" panose="020B0604030504040204" pitchFamily="34" charset="-120"/>
                <a:ea typeface="微軟正黑體" panose="020B0604030504040204" pitchFamily="34" charset="-120"/>
              </a:rPr>
              <a:t>了解掌握現況</a:t>
            </a:r>
          </a:p>
          <a:p>
            <a:pPr eaLnBrk="1" hangingPunct="1">
              <a:buFont typeface="Wingdings" panose="05000000000000000000" pitchFamily="2" charset="2"/>
              <a:buNone/>
            </a:pPr>
            <a:r>
              <a:rPr lang="zh-TW" altLang="en-US" dirty="0">
                <a:solidFill>
                  <a:srgbClr val="002060"/>
                </a:solidFill>
                <a:latin typeface="微軟正黑體" panose="020B0604030504040204" pitchFamily="34" charset="-120"/>
                <a:ea typeface="微軟正黑體" panose="020B0604030504040204" pitchFamily="34" charset="-120"/>
              </a:rPr>
              <a:t>五、編列具性別觀點的預算</a:t>
            </a:r>
          </a:p>
          <a:p>
            <a:pPr eaLnBrk="1" hangingPunct="1">
              <a:buFont typeface="Wingdings" panose="05000000000000000000" pitchFamily="2" charset="2"/>
              <a:buNone/>
            </a:pPr>
            <a:r>
              <a:rPr lang="zh-TW" altLang="en-US" dirty="0">
                <a:latin typeface="微軟正黑體" panose="020B0604030504040204" pitchFamily="34" charset="-120"/>
                <a:ea typeface="微軟正黑體" panose="020B0604030504040204" pitchFamily="34" charset="-120"/>
              </a:rPr>
              <a:t>    </a:t>
            </a:r>
            <a:r>
              <a:rPr lang="zh-TW" altLang="en-US" dirty="0">
                <a:solidFill>
                  <a:srgbClr val="9933FF"/>
                </a:solidFill>
                <a:latin typeface="微軟正黑體" panose="020B0604030504040204" pitchFamily="34" charset="-120"/>
                <a:ea typeface="微軟正黑體" panose="020B0604030504040204" pitchFamily="34" charset="-120"/>
              </a:rPr>
              <a:t>充足經費</a:t>
            </a:r>
          </a:p>
          <a:p>
            <a:pPr eaLnBrk="1" hangingPunct="1">
              <a:buFont typeface="Wingdings" panose="05000000000000000000" pitchFamily="2" charset="2"/>
              <a:buNone/>
            </a:pPr>
            <a:r>
              <a:rPr lang="zh-TW" altLang="en-US" dirty="0">
                <a:solidFill>
                  <a:srgbClr val="002060"/>
                </a:solidFill>
                <a:latin typeface="微軟正黑體" panose="020B0604030504040204" pitchFamily="34" charset="-120"/>
                <a:ea typeface="微軟正黑體" panose="020B0604030504040204" pitchFamily="34" charset="-120"/>
              </a:rPr>
              <a:t>六、進行性別影響評估</a:t>
            </a:r>
          </a:p>
          <a:p>
            <a:pPr eaLnBrk="1" hangingPunct="1">
              <a:buFont typeface="Wingdings" panose="05000000000000000000" pitchFamily="2" charset="2"/>
              <a:buNone/>
            </a:pPr>
            <a:r>
              <a:rPr lang="zh-TW" altLang="en-US" dirty="0">
                <a:latin typeface="微軟正黑體" panose="020B0604030504040204" pitchFamily="34" charset="-120"/>
                <a:ea typeface="微軟正黑體" panose="020B0604030504040204" pitchFamily="34" charset="-120"/>
              </a:rPr>
              <a:t>    </a:t>
            </a:r>
            <a:r>
              <a:rPr lang="zh-TW" altLang="en-US" dirty="0">
                <a:solidFill>
                  <a:srgbClr val="9933FF"/>
                </a:solidFill>
                <a:latin typeface="微軟正黑體" panose="020B0604030504040204" pitchFamily="34" charset="-120"/>
                <a:ea typeface="微軟正黑體" panose="020B0604030504040204" pitchFamily="34" charset="-120"/>
              </a:rPr>
              <a:t>逐步檢視修正</a:t>
            </a: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a:extLst>
              <a:ext uri="{FF2B5EF4-FFF2-40B4-BE49-F238E27FC236}">
                <a16:creationId xmlns:a16="http://schemas.microsoft.com/office/drawing/2014/main" id="{4F8BA899-CCCF-656D-B654-4F68A36D360D}"/>
              </a:ext>
            </a:extLst>
          </p:cNvPr>
          <p:cNvSpPr>
            <a:spLocks noChangeArrowheads="1"/>
          </p:cNvSpPr>
          <p:nvPr/>
        </p:nvSpPr>
        <p:spPr bwMode="auto">
          <a:xfrm>
            <a:off x="395288" y="2133600"/>
            <a:ext cx="3024187" cy="398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444500" eaLnBrk="0" hangingPunct="0">
              <a:defRPr kumimoji="1" sz="2400">
                <a:solidFill>
                  <a:schemeClr val="tx1"/>
                </a:solidFill>
                <a:latin typeface="Tahoma" panose="020B0604030504040204" pitchFamily="34" charset="0"/>
                <a:ea typeface="標楷體" panose="03000509000000000000" pitchFamily="65" charset="-120"/>
              </a:defRPr>
            </a:lvl1pPr>
            <a:lvl2pPr marL="742950" indent="-285750" eaLnBrk="0" hangingPunct="0">
              <a:defRPr kumimoji="1" sz="2400">
                <a:solidFill>
                  <a:schemeClr val="tx1"/>
                </a:solidFill>
                <a:latin typeface="Tahoma" panose="020B0604030504040204" pitchFamily="34" charset="0"/>
                <a:ea typeface="標楷體" panose="03000509000000000000" pitchFamily="65" charset="-120"/>
              </a:defRPr>
            </a:lvl2pPr>
            <a:lvl3pPr marL="1143000" indent="-228600" eaLnBrk="0" hangingPunct="0">
              <a:defRPr kumimoji="1" sz="2400">
                <a:solidFill>
                  <a:schemeClr val="tx1"/>
                </a:solidFill>
                <a:latin typeface="Tahoma" panose="020B0604030504040204" pitchFamily="34" charset="0"/>
                <a:ea typeface="標楷體" panose="03000509000000000000" pitchFamily="65" charset="-120"/>
              </a:defRPr>
            </a:lvl3pPr>
            <a:lvl4pPr marL="1600200" indent="-228600" eaLnBrk="0" hangingPunct="0">
              <a:defRPr kumimoji="1" sz="2400">
                <a:solidFill>
                  <a:schemeClr val="tx1"/>
                </a:solidFill>
                <a:latin typeface="Tahoma" panose="020B0604030504040204" pitchFamily="34" charset="0"/>
                <a:ea typeface="標楷體" panose="03000509000000000000" pitchFamily="65" charset="-120"/>
              </a:defRPr>
            </a:lvl4pPr>
            <a:lvl5pPr marL="2057400" indent="-228600" eaLnBrk="0" hangingPunct="0">
              <a:defRPr kumimoji="1" sz="24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9pPr>
          </a:lstStyle>
          <a:p>
            <a:pPr eaLnBrk="1" hangingPunct="1">
              <a:spcBef>
                <a:spcPct val="20000"/>
              </a:spcBef>
              <a:buClr>
                <a:schemeClr val="bg2"/>
              </a:buClr>
              <a:buSzPct val="75000"/>
              <a:buFont typeface="Wingdings" panose="05000000000000000000" pitchFamily="2" charset="2"/>
              <a:buNone/>
            </a:pPr>
            <a:r>
              <a:rPr lang="zh-TW" altLang="en-US" sz="2800" dirty="0">
                <a:solidFill>
                  <a:srgbClr val="002060"/>
                </a:solidFill>
                <a:latin typeface="微軟正黑體" panose="020B0604030504040204" pitchFamily="34" charset="-120"/>
                <a:ea typeface="微軟正黑體" panose="020B0604030504040204" pitchFamily="34" charset="-120"/>
              </a:rPr>
              <a:t>各單位應就職掌項目建立及收集與性別分類之統計資料，透過區分性別的統計</a:t>
            </a:r>
            <a:r>
              <a:rPr lang="zh-TW" altLang="en-US" sz="2800" dirty="0">
                <a:latin typeface="微軟正黑體" panose="020B0604030504040204" pitchFamily="34" charset="-120"/>
                <a:ea typeface="微軟正黑體" panose="020B0604030504040204" pitchFamily="34" charset="-120"/>
              </a:rPr>
              <a:t>，</a:t>
            </a:r>
            <a:r>
              <a:rPr lang="zh-TW" altLang="en-US" sz="2800" dirty="0">
                <a:solidFill>
                  <a:srgbClr val="CC00CC"/>
                </a:solidFill>
                <a:latin typeface="微軟正黑體" panose="020B0604030504040204" pitchFamily="34" charset="-120"/>
                <a:ea typeface="微軟正黑體" panose="020B0604030504040204" pitchFamily="34" charset="-120"/>
              </a:rPr>
              <a:t>瞭解不同性別者的社會處境及差異</a:t>
            </a:r>
            <a:r>
              <a:rPr lang="zh-TW" altLang="en-US" sz="2800" dirty="0">
                <a:latin typeface="微軟正黑體" panose="020B0604030504040204" pitchFamily="34" charset="-120"/>
                <a:ea typeface="微軟正黑體" panose="020B0604030504040204" pitchFamily="34" charset="-120"/>
              </a:rPr>
              <a:t>。</a:t>
            </a:r>
          </a:p>
          <a:p>
            <a:pPr eaLnBrk="1" hangingPunct="1">
              <a:spcBef>
                <a:spcPct val="20000"/>
              </a:spcBef>
              <a:buClr>
                <a:schemeClr val="bg2"/>
              </a:buClr>
              <a:buSzPct val="75000"/>
              <a:buFont typeface="Wingdings" panose="05000000000000000000" pitchFamily="2" charset="2"/>
              <a:buNone/>
            </a:pPr>
            <a:r>
              <a:rPr lang="zh-TW" altLang="en-US" dirty="0">
                <a:latin typeface="Verdana" panose="020B0604030504040204" pitchFamily="34" charset="0"/>
                <a:ea typeface="新細明體" panose="02020500000000000000" pitchFamily="18" charset="-120"/>
              </a:rPr>
              <a:t>　</a:t>
            </a:r>
            <a:endParaRPr lang="zh-TW" altLang="en-US" dirty="0">
              <a:latin typeface="標楷體" panose="03000509000000000000" pitchFamily="65" charset="-120"/>
            </a:endParaRPr>
          </a:p>
        </p:txBody>
      </p:sp>
      <p:sp>
        <p:nvSpPr>
          <p:cNvPr id="1028" name="Rectangle 42">
            <a:hlinkClick r:id="" action="ppaction://hlinkshowjump?jump=nextslide"/>
            <a:extLst>
              <a:ext uri="{FF2B5EF4-FFF2-40B4-BE49-F238E27FC236}">
                <a16:creationId xmlns:a16="http://schemas.microsoft.com/office/drawing/2014/main" id="{E2D62B1E-F362-D3E7-04DE-7DFBC3B1F9F8}"/>
              </a:ext>
            </a:extLst>
          </p:cNvPr>
          <p:cNvSpPr>
            <a:spLocks noChangeArrowheads="1"/>
          </p:cNvSpPr>
          <p:nvPr/>
        </p:nvSpPr>
        <p:spPr bwMode="auto">
          <a:xfrm>
            <a:off x="1187450" y="836613"/>
            <a:ext cx="2663825"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sz="2400">
                <a:solidFill>
                  <a:schemeClr val="tx1"/>
                </a:solidFill>
                <a:latin typeface="Tahoma" panose="020B0604030504040204" pitchFamily="34" charset="0"/>
                <a:ea typeface="標楷體" panose="03000509000000000000" pitchFamily="65" charset="-120"/>
              </a:defRPr>
            </a:lvl1pPr>
            <a:lvl2pPr marL="742950" indent="-285750" eaLnBrk="0" hangingPunct="0">
              <a:defRPr kumimoji="1" sz="2400">
                <a:solidFill>
                  <a:schemeClr val="tx1"/>
                </a:solidFill>
                <a:latin typeface="Tahoma" panose="020B0604030504040204" pitchFamily="34" charset="0"/>
                <a:ea typeface="標楷體" panose="03000509000000000000" pitchFamily="65" charset="-120"/>
              </a:defRPr>
            </a:lvl2pPr>
            <a:lvl3pPr marL="1143000" indent="-228600" eaLnBrk="0" hangingPunct="0">
              <a:defRPr kumimoji="1" sz="2400">
                <a:solidFill>
                  <a:schemeClr val="tx1"/>
                </a:solidFill>
                <a:latin typeface="Tahoma" panose="020B0604030504040204" pitchFamily="34" charset="0"/>
                <a:ea typeface="標楷體" panose="03000509000000000000" pitchFamily="65" charset="-120"/>
              </a:defRPr>
            </a:lvl3pPr>
            <a:lvl4pPr marL="1600200" indent="-228600" eaLnBrk="0" hangingPunct="0">
              <a:defRPr kumimoji="1" sz="2400">
                <a:solidFill>
                  <a:schemeClr val="tx1"/>
                </a:solidFill>
                <a:latin typeface="Tahoma" panose="020B0604030504040204" pitchFamily="34" charset="0"/>
                <a:ea typeface="標楷體" panose="03000509000000000000" pitchFamily="65" charset="-120"/>
              </a:defRPr>
            </a:lvl4pPr>
            <a:lvl5pPr marL="2057400" indent="-228600" eaLnBrk="0" hangingPunct="0">
              <a:defRPr kumimoji="1" sz="24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9pPr>
          </a:lstStyle>
          <a:p>
            <a:pPr eaLnBrk="1" hangingPunct="1"/>
            <a:r>
              <a:rPr lang="zh-TW" altLang="en-US" sz="4000" dirty="0">
                <a:solidFill>
                  <a:schemeClr val="tx2"/>
                </a:solidFill>
                <a:latin typeface="微軟正黑體" panose="020B0604030504040204" pitchFamily="34" charset="-120"/>
                <a:ea typeface="微軟正黑體" panose="020B0604030504040204" pitchFamily="34" charset="-120"/>
              </a:rPr>
              <a:t>性別統計</a:t>
            </a:r>
          </a:p>
        </p:txBody>
      </p:sp>
      <p:sp>
        <p:nvSpPr>
          <p:cNvPr id="1029" name="Text Box 65">
            <a:extLst>
              <a:ext uri="{FF2B5EF4-FFF2-40B4-BE49-F238E27FC236}">
                <a16:creationId xmlns:a16="http://schemas.microsoft.com/office/drawing/2014/main" id="{800BB400-E836-8771-B90B-00AF9C9DFE80}"/>
              </a:ext>
            </a:extLst>
          </p:cNvPr>
          <p:cNvSpPr txBox="1">
            <a:spLocks noChangeArrowheads="1"/>
          </p:cNvSpPr>
          <p:nvPr/>
        </p:nvSpPr>
        <p:spPr bwMode="auto">
          <a:xfrm>
            <a:off x="3563938" y="2133600"/>
            <a:ext cx="53292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標楷體" panose="03000509000000000000" pitchFamily="65" charset="-120"/>
              </a:defRPr>
            </a:lvl1pPr>
            <a:lvl2pPr marL="742950" indent="-285750" eaLnBrk="0" hangingPunct="0">
              <a:defRPr kumimoji="1" sz="2400">
                <a:solidFill>
                  <a:schemeClr val="tx1"/>
                </a:solidFill>
                <a:latin typeface="Tahoma" panose="020B0604030504040204" pitchFamily="34" charset="0"/>
                <a:ea typeface="標楷體" panose="03000509000000000000" pitchFamily="65" charset="-120"/>
              </a:defRPr>
            </a:lvl2pPr>
            <a:lvl3pPr marL="1143000" indent="-228600" eaLnBrk="0" hangingPunct="0">
              <a:defRPr kumimoji="1" sz="2400">
                <a:solidFill>
                  <a:schemeClr val="tx1"/>
                </a:solidFill>
                <a:latin typeface="Tahoma" panose="020B0604030504040204" pitchFamily="34" charset="0"/>
                <a:ea typeface="標楷體" panose="03000509000000000000" pitchFamily="65" charset="-120"/>
              </a:defRPr>
            </a:lvl3pPr>
            <a:lvl4pPr marL="1600200" indent="-228600" eaLnBrk="0" hangingPunct="0">
              <a:defRPr kumimoji="1" sz="2400">
                <a:solidFill>
                  <a:schemeClr val="tx1"/>
                </a:solidFill>
                <a:latin typeface="Tahoma" panose="020B0604030504040204" pitchFamily="34" charset="0"/>
                <a:ea typeface="標楷體" panose="03000509000000000000" pitchFamily="65" charset="-120"/>
              </a:defRPr>
            </a:lvl4pPr>
            <a:lvl5pPr marL="2057400" indent="-228600" eaLnBrk="0" hangingPunct="0">
              <a:defRPr kumimoji="1" sz="24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9pPr>
          </a:lstStyle>
          <a:p>
            <a:pPr algn="ctr" eaLnBrk="1" hangingPunct="1">
              <a:spcBef>
                <a:spcPct val="50000"/>
              </a:spcBef>
            </a:pPr>
            <a:r>
              <a:rPr lang="zh-TW" altLang="en-US">
                <a:solidFill>
                  <a:schemeClr val="tx2"/>
                </a:solidFill>
                <a:latin typeface="Verdana" panose="020B0604030504040204" pitchFamily="34" charset="0"/>
              </a:rPr>
              <a:t>高雄市第</a:t>
            </a:r>
            <a:r>
              <a:rPr lang="en-US" altLang="zh-TW">
                <a:solidFill>
                  <a:schemeClr val="tx2"/>
                </a:solidFill>
                <a:latin typeface="Verdana" panose="020B0604030504040204" pitchFamily="34" charset="0"/>
              </a:rPr>
              <a:t>7</a:t>
            </a:r>
            <a:r>
              <a:rPr lang="zh-TW" altLang="en-US">
                <a:solidFill>
                  <a:schemeClr val="tx2"/>
                </a:solidFill>
                <a:latin typeface="Verdana" panose="020B0604030504040204" pitchFamily="34" charset="0"/>
              </a:rPr>
              <a:t>屆選舉當選人數</a:t>
            </a:r>
          </a:p>
        </p:txBody>
      </p:sp>
      <p:graphicFrame>
        <p:nvGraphicFramePr>
          <p:cNvPr id="1026" name="Object 67">
            <a:extLst>
              <a:ext uri="{FF2B5EF4-FFF2-40B4-BE49-F238E27FC236}">
                <a16:creationId xmlns:a16="http://schemas.microsoft.com/office/drawing/2014/main" id="{39D35874-297D-20ED-9DE5-869B05B20343}"/>
              </a:ext>
            </a:extLst>
          </p:cNvPr>
          <p:cNvGraphicFramePr>
            <a:graphicFrameLocks noChangeAspect="1"/>
          </p:cNvGraphicFramePr>
          <p:nvPr/>
        </p:nvGraphicFramePr>
        <p:xfrm>
          <a:off x="3348038" y="2636838"/>
          <a:ext cx="5616575" cy="2579687"/>
        </p:xfrm>
        <a:graphic>
          <a:graphicData uri="http://schemas.openxmlformats.org/presentationml/2006/ole">
            <mc:AlternateContent xmlns:mc="http://schemas.openxmlformats.org/markup-compatibility/2006">
              <mc:Choice xmlns:v="urn:schemas-microsoft-com:vml" Requires="v">
                <p:oleObj name="圖表" r:id="rId2" imgW="10669556" imgH="4535937" progId="MSGraph.Chart.8">
                  <p:embed followColorScheme="full"/>
                </p:oleObj>
              </mc:Choice>
              <mc:Fallback>
                <p:oleObj name="圖表" r:id="rId2" imgW="10669556" imgH="4535937" progId="MSGraph.Chart.8">
                  <p:embed followColorScheme="full"/>
                  <p:pic>
                    <p:nvPicPr>
                      <p:cNvPr id="1026" name="Object 67">
                        <a:extLst>
                          <a:ext uri="{FF2B5EF4-FFF2-40B4-BE49-F238E27FC236}">
                            <a16:creationId xmlns:a16="http://schemas.microsoft.com/office/drawing/2014/main" id="{39D35874-297D-20ED-9DE5-869B05B20343}"/>
                          </a:ext>
                        </a:extLst>
                      </p:cNvPr>
                      <p:cNvPicPr>
                        <a:picLocks noChangeAspect="1" noChangeArrowheads="1"/>
                      </p:cNvPicPr>
                      <p:nvPr/>
                    </p:nvPicPr>
                    <p:blipFill>
                      <a:blip r:embed="rId3"/>
                      <a:srcRect/>
                      <a:stretch>
                        <a:fillRect/>
                      </a:stretch>
                    </p:blipFill>
                    <p:spPr bwMode="auto">
                      <a:xfrm>
                        <a:off x="3348038" y="2636838"/>
                        <a:ext cx="5616575" cy="2579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1986" name="Group 82">
            <a:extLst>
              <a:ext uri="{FF2B5EF4-FFF2-40B4-BE49-F238E27FC236}">
                <a16:creationId xmlns:a16="http://schemas.microsoft.com/office/drawing/2014/main" id="{6E9D018F-BF77-FEB3-B39E-81F19A7450C0}"/>
              </a:ext>
            </a:extLst>
          </p:cNvPr>
          <p:cNvGraphicFramePr>
            <a:graphicFrameLocks noGrp="1"/>
          </p:cNvGraphicFramePr>
          <p:nvPr/>
        </p:nvGraphicFramePr>
        <p:xfrm>
          <a:off x="5219700" y="5157788"/>
          <a:ext cx="2663825" cy="1036320"/>
        </p:xfrm>
        <a:graphic>
          <a:graphicData uri="http://schemas.openxmlformats.org/drawingml/2006/table">
            <a:tbl>
              <a:tblPr/>
              <a:tblGrid>
                <a:gridCol w="871538">
                  <a:extLst>
                    <a:ext uri="{9D8B030D-6E8A-4147-A177-3AD203B41FA5}">
                      <a16:colId xmlns:a16="http://schemas.microsoft.com/office/drawing/2014/main" val="2683774229"/>
                    </a:ext>
                  </a:extLst>
                </a:gridCol>
                <a:gridCol w="873125">
                  <a:extLst>
                    <a:ext uri="{9D8B030D-6E8A-4147-A177-3AD203B41FA5}">
                      <a16:colId xmlns:a16="http://schemas.microsoft.com/office/drawing/2014/main" val="1791176993"/>
                    </a:ext>
                  </a:extLst>
                </a:gridCol>
                <a:gridCol w="919162">
                  <a:extLst>
                    <a:ext uri="{9D8B030D-6E8A-4147-A177-3AD203B41FA5}">
                      <a16:colId xmlns:a16="http://schemas.microsoft.com/office/drawing/2014/main" val="747585814"/>
                    </a:ext>
                  </a:extLst>
                </a:gridCol>
              </a:tblGrid>
              <a:tr h="260350">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新細明體" panose="02020500000000000000" pitchFamily="18" charset="-120"/>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新細明體" panose="02020500000000000000" pitchFamily="18" charset="-120"/>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新細明體" panose="02020500000000000000" pitchFamily="18" charset="-120"/>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新細明體" panose="02020500000000000000" pitchFamily="18" charset="-120"/>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新細明體" panose="02020500000000000000" pitchFamily="18" charset="-12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新細明體" panose="02020500000000000000" pitchFamily="18" charset="-12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新細明體" panose="02020500000000000000" pitchFamily="18" charset="-12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新細明體" panose="02020500000000000000" pitchFamily="18" charset="-12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新細明體" panose="02020500000000000000" pitchFamily="18" charset="-12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TW" altLang="en-US" sz="2800" b="0" i="0" u="none" strike="noStrike" cap="none" normalizeH="0" baseline="0">
                          <a:ln>
                            <a:noFill/>
                          </a:ln>
                          <a:solidFill>
                            <a:schemeClr val="tx1"/>
                          </a:solidFill>
                          <a:effectLst/>
                          <a:latin typeface="Tahoma" panose="020B0604030504040204" pitchFamily="34" charset="0"/>
                          <a:ea typeface="新細明體" panose="02020500000000000000" pitchFamily="18" charset="-120"/>
                        </a:rPr>
                        <a:t>男</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FF66"/>
                    </a:solid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新細明體" panose="02020500000000000000" pitchFamily="18" charset="-120"/>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新細明體" panose="02020500000000000000" pitchFamily="18" charset="-120"/>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新細明體" panose="02020500000000000000" pitchFamily="18" charset="-120"/>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新細明體" panose="02020500000000000000" pitchFamily="18" charset="-120"/>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新細明體" panose="02020500000000000000" pitchFamily="18" charset="-12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新細明體" panose="02020500000000000000" pitchFamily="18" charset="-12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新細明體" panose="02020500000000000000" pitchFamily="18" charset="-12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新細明體" panose="02020500000000000000" pitchFamily="18" charset="-12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新細明體" panose="02020500000000000000" pitchFamily="18" charset="-12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TW" sz="2800" b="0" i="0" u="none" strike="noStrike" cap="none" normalizeH="0" baseline="0">
                          <a:ln>
                            <a:noFill/>
                          </a:ln>
                          <a:solidFill>
                            <a:schemeClr val="tx1"/>
                          </a:solidFill>
                          <a:effectLst/>
                          <a:latin typeface="Tahoma" panose="020B0604030504040204" pitchFamily="34" charset="0"/>
                          <a:ea typeface="新細明體" panose="02020500000000000000" pitchFamily="18" charset="-120"/>
                        </a:rPr>
                        <a:t>4</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FF66"/>
                    </a:solid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新細明體" panose="02020500000000000000" pitchFamily="18" charset="-120"/>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新細明體" panose="02020500000000000000" pitchFamily="18" charset="-120"/>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新細明體" panose="02020500000000000000" pitchFamily="18" charset="-120"/>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新細明體" panose="02020500000000000000" pitchFamily="18" charset="-120"/>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新細明體" panose="02020500000000000000" pitchFamily="18" charset="-12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新細明體" panose="02020500000000000000" pitchFamily="18" charset="-12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新細明體" panose="02020500000000000000" pitchFamily="18" charset="-12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新細明體" panose="02020500000000000000" pitchFamily="18" charset="-12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新細明體" panose="02020500000000000000" pitchFamily="18" charset="-12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TW" sz="2800" b="0" i="0" u="none" strike="noStrike" cap="none" normalizeH="0" baseline="0">
                          <a:ln>
                            <a:noFill/>
                          </a:ln>
                          <a:solidFill>
                            <a:schemeClr val="tx1"/>
                          </a:solidFill>
                          <a:effectLst/>
                          <a:latin typeface="Tahoma" panose="020B0604030504040204" pitchFamily="34" charset="0"/>
                          <a:ea typeface="新細明體" panose="02020500000000000000" pitchFamily="18" charset="-120"/>
                        </a:rPr>
                        <a:t>29</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132706789"/>
                  </a:ext>
                </a:extLst>
              </a:tr>
              <a:tr h="258763">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新細明體" panose="02020500000000000000" pitchFamily="18" charset="-120"/>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新細明體" panose="02020500000000000000" pitchFamily="18" charset="-120"/>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新細明體" panose="02020500000000000000" pitchFamily="18" charset="-120"/>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新細明體" panose="02020500000000000000" pitchFamily="18" charset="-120"/>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新細明體" panose="02020500000000000000" pitchFamily="18" charset="-12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新細明體" panose="02020500000000000000" pitchFamily="18" charset="-12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新細明體" panose="02020500000000000000" pitchFamily="18" charset="-12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新細明體" panose="02020500000000000000" pitchFamily="18" charset="-12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新細明體" panose="02020500000000000000" pitchFamily="18" charset="-12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TW" altLang="en-US" sz="2800" b="0" i="0" u="none" strike="noStrike" cap="none" normalizeH="0" baseline="0">
                          <a:ln>
                            <a:noFill/>
                          </a:ln>
                          <a:solidFill>
                            <a:schemeClr val="tx1"/>
                          </a:solidFill>
                          <a:effectLst/>
                          <a:latin typeface="Tahoma" panose="020B0604030504040204" pitchFamily="34" charset="0"/>
                          <a:ea typeface="新細明體" panose="02020500000000000000" pitchFamily="18" charset="-120"/>
                        </a:rPr>
                        <a:t>女</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FFFF66"/>
                    </a:solid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新細明體" panose="02020500000000000000" pitchFamily="18" charset="-120"/>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新細明體" panose="02020500000000000000" pitchFamily="18" charset="-120"/>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新細明體" panose="02020500000000000000" pitchFamily="18" charset="-120"/>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新細明體" panose="02020500000000000000" pitchFamily="18" charset="-120"/>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新細明體" panose="02020500000000000000" pitchFamily="18" charset="-12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新細明體" panose="02020500000000000000" pitchFamily="18" charset="-12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新細明體" panose="02020500000000000000" pitchFamily="18" charset="-12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新細明體" panose="02020500000000000000" pitchFamily="18" charset="-12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新細明體" panose="02020500000000000000" pitchFamily="18" charset="-12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TW" sz="2800" b="0" i="0" u="none" strike="noStrike" cap="none" normalizeH="0" baseline="0">
                          <a:ln>
                            <a:noFill/>
                          </a:ln>
                          <a:solidFill>
                            <a:schemeClr val="tx1"/>
                          </a:solidFill>
                          <a:effectLst/>
                          <a:latin typeface="Tahoma" panose="020B0604030504040204" pitchFamily="34" charset="0"/>
                          <a:ea typeface="新細明體" panose="02020500000000000000" pitchFamily="18" charset="-120"/>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FFFF66"/>
                    </a:solid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新細明體" panose="02020500000000000000" pitchFamily="18" charset="-120"/>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新細明體" panose="02020500000000000000" pitchFamily="18" charset="-120"/>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新細明體" panose="02020500000000000000" pitchFamily="18" charset="-120"/>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新細明體" panose="02020500000000000000" pitchFamily="18" charset="-120"/>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新細明體" panose="02020500000000000000" pitchFamily="18" charset="-12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新細明體" panose="02020500000000000000" pitchFamily="18" charset="-12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新細明體" panose="02020500000000000000" pitchFamily="18" charset="-12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新細明體" panose="02020500000000000000" pitchFamily="18" charset="-12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新細明體" panose="02020500000000000000" pitchFamily="18" charset="-12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TW" sz="2800" b="0" i="0" u="none" strike="noStrike" cap="none" normalizeH="0" baseline="0">
                          <a:ln>
                            <a:noFill/>
                          </a:ln>
                          <a:solidFill>
                            <a:schemeClr val="tx1"/>
                          </a:solidFill>
                          <a:effectLst/>
                          <a:latin typeface="Tahoma" panose="020B0604030504040204" pitchFamily="34" charset="0"/>
                          <a:ea typeface="新細明體" panose="02020500000000000000" pitchFamily="18" charset="-120"/>
                        </a:rPr>
                        <a:t>15</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4163727223"/>
                  </a:ext>
                </a:extLst>
              </a:tr>
            </a:tbl>
          </a:graphicData>
        </a:graphic>
      </p:graphicFrame>
      <p:sp>
        <p:nvSpPr>
          <p:cNvPr id="1044" name="Text Box 83">
            <a:extLst>
              <a:ext uri="{FF2B5EF4-FFF2-40B4-BE49-F238E27FC236}">
                <a16:creationId xmlns:a16="http://schemas.microsoft.com/office/drawing/2014/main" id="{923A746C-7C7D-831A-6ECC-13738E6FF5E6}"/>
              </a:ext>
            </a:extLst>
          </p:cNvPr>
          <p:cNvSpPr txBox="1">
            <a:spLocks noChangeArrowheads="1"/>
          </p:cNvSpPr>
          <p:nvPr/>
        </p:nvSpPr>
        <p:spPr bwMode="auto">
          <a:xfrm>
            <a:off x="7740650" y="6308725"/>
            <a:ext cx="10810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標楷體" panose="03000509000000000000" pitchFamily="65" charset="-120"/>
              </a:defRPr>
            </a:lvl1pPr>
            <a:lvl2pPr marL="742950" indent="-285750" eaLnBrk="0" hangingPunct="0">
              <a:defRPr kumimoji="1" sz="2400">
                <a:solidFill>
                  <a:schemeClr val="tx1"/>
                </a:solidFill>
                <a:latin typeface="Tahoma" panose="020B0604030504040204" pitchFamily="34" charset="0"/>
                <a:ea typeface="標楷體" panose="03000509000000000000" pitchFamily="65" charset="-120"/>
              </a:defRPr>
            </a:lvl2pPr>
            <a:lvl3pPr marL="1143000" indent="-228600" eaLnBrk="0" hangingPunct="0">
              <a:defRPr kumimoji="1" sz="2400">
                <a:solidFill>
                  <a:schemeClr val="tx1"/>
                </a:solidFill>
                <a:latin typeface="Tahoma" panose="020B0604030504040204" pitchFamily="34" charset="0"/>
                <a:ea typeface="標楷體" panose="03000509000000000000" pitchFamily="65" charset="-120"/>
              </a:defRPr>
            </a:lvl3pPr>
            <a:lvl4pPr marL="1600200" indent="-228600" eaLnBrk="0" hangingPunct="0">
              <a:defRPr kumimoji="1" sz="2400">
                <a:solidFill>
                  <a:schemeClr val="tx1"/>
                </a:solidFill>
                <a:latin typeface="Tahoma" panose="020B0604030504040204" pitchFamily="34" charset="0"/>
                <a:ea typeface="標楷體" panose="03000509000000000000" pitchFamily="65" charset="-120"/>
              </a:defRPr>
            </a:lvl4pPr>
            <a:lvl5pPr marL="2057400" indent="-228600" eaLnBrk="0" hangingPunct="0">
              <a:defRPr kumimoji="1" sz="24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9pPr>
          </a:lstStyle>
          <a:p>
            <a:pPr eaLnBrk="1" hangingPunct="1">
              <a:spcBef>
                <a:spcPct val="50000"/>
              </a:spcBef>
            </a:pPr>
            <a:r>
              <a:rPr lang="zh-TW" altLang="en-US" sz="1800">
                <a:latin typeface="Verdana" panose="020B0604030504040204" pitchFamily="34" charset="0"/>
                <a:ea typeface="新細明體" panose="02020500000000000000" pitchFamily="18" charset="-120"/>
              </a:rPr>
              <a:t>單位</a:t>
            </a:r>
            <a:r>
              <a:rPr lang="en-US" altLang="zh-TW" sz="1800">
                <a:latin typeface="Verdana" panose="020B0604030504040204" pitchFamily="34" charset="0"/>
                <a:ea typeface="新細明體" panose="02020500000000000000" pitchFamily="18" charset="-120"/>
              </a:rPr>
              <a:t>:</a:t>
            </a:r>
            <a:r>
              <a:rPr lang="zh-TW" altLang="en-US" sz="1800">
                <a:latin typeface="Verdana" panose="020B0604030504040204" pitchFamily="34" charset="0"/>
                <a:ea typeface="新細明體" panose="02020500000000000000" pitchFamily="18" charset="-120"/>
              </a:rPr>
              <a:t>人</a:t>
            </a: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38A7309B-104E-BB2D-431B-37BA0CBF676D}"/>
              </a:ext>
            </a:extLst>
          </p:cNvPr>
          <p:cNvSpPr>
            <a:spLocks noChangeArrowheads="1"/>
          </p:cNvSpPr>
          <p:nvPr/>
        </p:nvSpPr>
        <p:spPr bwMode="auto">
          <a:xfrm>
            <a:off x="457200" y="2133600"/>
            <a:ext cx="8686800" cy="392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sz="2400">
                <a:solidFill>
                  <a:schemeClr val="tx1"/>
                </a:solidFill>
                <a:latin typeface="Tahoma" panose="020B0604030504040204" pitchFamily="34" charset="0"/>
                <a:ea typeface="標楷體" panose="03000509000000000000" pitchFamily="65" charset="-120"/>
              </a:defRPr>
            </a:lvl1pPr>
            <a:lvl2pPr marL="742950" indent="-285750" eaLnBrk="0" hangingPunct="0">
              <a:defRPr kumimoji="1" sz="2400">
                <a:solidFill>
                  <a:schemeClr val="tx1"/>
                </a:solidFill>
                <a:latin typeface="Tahoma" panose="020B0604030504040204" pitchFamily="34" charset="0"/>
                <a:ea typeface="標楷體" panose="03000509000000000000" pitchFamily="65" charset="-120"/>
              </a:defRPr>
            </a:lvl2pPr>
            <a:lvl3pPr marL="1143000" indent="-228600" eaLnBrk="0" hangingPunct="0">
              <a:defRPr kumimoji="1" sz="2400">
                <a:solidFill>
                  <a:schemeClr val="tx1"/>
                </a:solidFill>
                <a:latin typeface="Tahoma" panose="020B0604030504040204" pitchFamily="34" charset="0"/>
                <a:ea typeface="標楷體" panose="03000509000000000000" pitchFamily="65" charset="-120"/>
              </a:defRPr>
            </a:lvl3pPr>
            <a:lvl4pPr marL="1600200" indent="-228600" eaLnBrk="0" hangingPunct="0">
              <a:defRPr kumimoji="1" sz="2400">
                <a:solidFill>
                  <a:schemeClr val="tx1"/>
                </a:solidFill>
                <a:latin typeface="Tahoma" panose="020B0604030504040204" pitchFamily="34" charset="0"/>
                <a:ea typeface="標楷體" panose="03000509000000000000" pitchFamily="65" charset="-120"/>
              </a:defRPr>
            </a:lvl4pPr>
            <a:lvl5pPr marL="2057400" indent="-228600" eaLnBrk="0" hangingPunct="0">
              <a:defRPr kumimoji="1" sz="24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9pPr>
          </a:lstStyle>
          <a:p>
            <a:pPr marL="457200" indent="-457200" eaLnBrk="1" hangingPunct="1">
              <a:spcBef>
                <a:spcPct val="20000"/>
              </a:spcBef>
              <a:buClr>
                <a:schemeClr val="bg2"/>
              </a:buClr>
              <a:buSzPct val="75000"/>
              <a:buFont typeface="Wingdings" panose="05000000000000000000" pitchFamily="2" charset="2"/>
              <a:buChar char="l"/>
            </a:pPr>
            <a:r>
              <a:rPr lang="zh-TW" altLang="en-US" sz="3200" dirty="0">
                <a:solidFill>
                  <a:srgbClr val="002060"/>
                </a:solidFill>
                <a:latin typeface="微軟正黑體" panose="020B0604030504040204" pitchFamily="34" charset="-120"/>
                <a:ea typeface="微軟正黑體" panose="020B0604030504040204" pitchFamily="34" charset="-120"/>
              </a:rPr>
              <a:t>針對性別統計資料及相關資訊，從</a:t>
            </a:r>
            <a:r>
              <a:rPr lang="zh-TW" altLang="en-US" sz="3200" b="1" dirty="0">
                <a:solidFill>
                  <a:srgbClr val="002060"/>
                </a:solidFill>
                <a:latin typeface="微軟正黑體" panose="020B0604030504040204" pitchFamily="34" charset="-120"/>
                <a:ea typeface="微軟正黑體" panose="020B0604030504040204" pitchFamily="34" charset="-120"/>
              </a:rPr>
              <a:t>具有性別</a:t>
            </a:r>
          </a:p>
          <a:p>
            <a:pPr marL="457200" indent="-457200" eaLnBrk="1" hangingPunct="1">
              <a:spcBef>
                <a:spcPct val="20000"/>
              </a:spcBef>
              <a:buClr>
                <a:schemeClr val="bg2"/>
              </a:buClr>
              <a:buSzPct val="75000"/>
              <a:buFont typeface="Wingdings" panose="05000000000000000000" pitchFamily="2" charset="2"/>
              <a:buChar char="l"/>
            </a:pPr>
            <a:r>
              <a:rPr lang="zh-TW" altLang="en-US" sz="3200" b="1" dirty="0">
                <a:solidFill>
                  <a:srgbClr val="002060"/>
                </a:solidFill>
                <a:latin typeface="微軟正黑體" panose="020B0604030504040204" pitchFamily="34" charset="-120"/>
                <a:ea typeface="微軟正黑體" panose="020B0604030504040204" pitchFamily="34" charset="-120"/>
              </a:rPr>
              <a:t>意識觀點來分析性別處境及現象</a:t>
            </a:r>
            <a:r>
              <a:rPr lang="zh-TW" altLang="en-US" sz="3200" dirty="0">
                <a:solidFill>
                  <a:srgbClr val="002060"/>
                </a:solidFill>
                <a:latin typeface="微軟正黑體" panose="020B0604030504040204" pitchFamily="34" charset="-120"/>
                <a:ea typeface="微軟正黑體" panose="020B0604030504040204" pitchFamily="34" charset="-120"/>
              </a:rPr>
              <a:t>；精密分析</a:t>
            </a:r>
          </a:p>
          <a:p>
            <a:pPr marL="0" indent="0" eaLnBrk="1" hangingPunct="1">
              <a:spcBef>
                <a:spcPct val="20000"/>
              </a:spcBef>
              <a:buClr>
                <a:schemeClr val="bg2"/>
              </a:buClr>
              <a:buSzPct val="75000"/>
            </a:pPr>
            <a:r>
              <a:rPr lang="zh-TW" altLang="en-US" sz="3200" dirty="0">
                <a:solidFill>
                  <a:srgbClr val="002060"/>
                </a:solidFill>
                <a:latin typeface="微軟正黑體" panose="020B0604030504040204" pitchFamily="34" charset="-120"/>
                <a:ea typeface="微軟正黑體" panose="020B0604030504040204" pitchFamily="34" charset="-120"/>
              </a:rPr>
              <a:t>    不同性別者在特定事務的處境</a:t>
            </a:r>
          </a:p>
          <a:p>
            <a:pPr eaLnBrk="1" hangingPunct="1">
              <a:spcBef>
                <a:spcPct val="20000"/>
              </a:spcBef>
              <a:buClr>
                <a:schemeClr val="bg2"/>
              </a:buClr>
              <a:buSzPct val="75000"/>
              <a:buFont typeface="Wingdings" panose="05000000000000000000" pitchFamily="2" charset="2"/>
              <a:buNone/>
            </a:pPr>
            <a:r>
              <a:rPr lang="zh-TW" altLang="en-US" sz="3200" dirty="0">
                <a:solidFill>
                  <a:srgbClr val="CC00CC"/>
                </a:solidFill>
                <a:latin typeface="微軟正黑體" panose="020B0604030504040204" pitchFamily="34" charset="-120"/>
                <a:ea typeface="微軟正黑體" panose="020B0604030504040204" pitchFamily="34" charset="-120"/>
              </a:rPr>
              <a:t>分析工具</a:t>
            </a:r>
            <a:r>
              <a:rPr lang="zh-TW" altLang="en-US" sz="3200" dirty="0">
                <a:latin typeface="微軟正黑體" panose="020B0604030504040204" pitchFamily="34" charset="-120"/>
                <a:ea typeface="微軟正黑體" panose="020B0604030504040204" pitchFamily="34" charset="-120"/>
              </a:rPr>
              <a:t>：</a:t>
            </a:r>
          </a:p>
          <a:p>
            <a:pPr eaLnBrk="1" hangingPunct="1">
              <a:spcBef>
                <a:spcPct val="20000"/>
              </a:spcBef>
              <a:buClr>
                <a:schemeClr val="bg2"/>
              </a:buClr>
              <a:buSzPct val="75000"/>
              <a:buFont typeface="Wingdings" panose="05000000000000000000" pitchFamily="2" charset="2"/>
              <a:buNone/>
            </a:pPr>
            <a:r>
              <a:rPr lang="zh-TW" altLang="en-US" sz="3200" dirty="0">
                <a:solidFill>
                  <a:srgbClr val="002060"/>
                </a:solidFill>
                <a:latin typeface="微軟正黑體" panose="020B0604030504040204" pitchFamily="34" charset="-120"/>
                <a:ea typeface="微軟正黑體" panose="020B0604030504040204" pitchFamily="34" charset="-120"/>
              </a:rPr>
              <a:t>性別意識、組織配合、性別預算、其他工具</a:t>
            </a:r>
          </a:p>
          <a:p>
            <a:pPr eaLnBrk="1" hangingPunct="1">
              <a:spcBef>
                <a:spcPct val="20000"/>
              </a:spcBef>
              <a:buClr>
                <a:schemeClr val="bg2"/>
              </a:buClr>
              <a:buSzPct val="75000"/>
              <a:buFont typeface="Wingdings" panose="05000000000000000000" pitchFamily="2" charset="2"/>
              <a:buNone/>
            </a:pPr>
            <a:r>
              <a:rPr lang="zh-TW" altLang="en-US" sz="3200" dirty="0">
                <a:solidFill>
                  <a:srgbClr val="CC00CC"/>
                </a:solidFill>
                <a:latin typeface="微軟正黑體" panose="020B0604030504040204" pitchFamily="34" charset="-120"/>
                <a:ea typeface="微軟正黑體" panose="020B0604030504040204" pitchFamily="34" charset="-120"/>
              </a:rPr>
              <a:t>分析方法</a:t>
            </a:r>
            <a:r>
              <a:rPr lang="zh-TW" altLang="en-US" sz="3200" dirty="0">
                <a:latin typeface="微軟正黑體" panose="020B0604030504040204" pitchFamily="34" charset="-120"/>
                <a:ea typeface="微軟正黑體" panose="020B0604030504040204" pitchFamily="34" charset="-120"/>
              </a:rPr>
              <a:t>：</a:t>
            </a:r>
          </a:p>
          <a:p>
            <a:pPr eaLnBrk="1" hangingPunct="1">
              <a:spcBef>
                <a:spcPct val="20000"/>
              </a:spcBef>
              <a:buClr>
                <a:schemeClr val="bg2"/>
              </a:buClr>
              <a:buSzPct val="75000"/>
              <a:buFont typeface="Wingdings" panose="05000000000000000000" pitchFamily="2" charset="2"/>
              <a:buNone/>
            </a:pPr>
            <a:r>
              <a:rPr lang="zh-TW" altLang="en-US" sz="3200" dirty="0">
                <a:solidFill>
                  <a:srgbClr val="002060"/>
                </a:solidFill>
                <a:latin typeface="微軟正黑體" panose="020B0604030504040204" pitchFamily="34" charset="-120"/>
                <a:ea typeface="微軟正黑體" panose="020B0604030504040204" pitchFamily="34" charset="-120"/>
              </a:rPr>
              <a:t>質的分析、量的統計、類型化的分析</a:t>
            </a:r>
          </a:p>
        </p:txBody>
      </p:sp>
      <p:sp>
        <p:nvSpPr>
          <p:cNvPr id="36867" name="Rectangle 3">
            <a:hlinkClick r:id="" action="ppaction://hlinkshowjump?jump=nextslide"/>
            <a:extLst>
              <a:ext uri="{FF2B5EF4-FFF2-40B4-BE49-F238E27FC236}">
                <a16:creationId xmlns:a16="http://schemas.microsoft.com/office/drawing/2014/main" id="{5AE6C56C-2FC6-A2CD-072C-95E5742A986D}"/>
              </a:ext>
            </a:extLst>
          </p:cNvPr>
          <p:cNvSpPr>
            <a:spLocks noChangeArrowheads="1"/>
          </p:cNvSpPr>
          <p:nvPr/>
        </p:nvSpPr>
        <p:spPr bwMode="auto">
          <a:xfrm>
            <a:off x="1547813" y="836613"/>
            <a:ext cx="2663825"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sz="2400">
                <a:solidFill>
                  <a:schemeClr val="tx1"/>
                </a:solidFill>
                <a:latin typeface="Tahoma" panose="020B0604030504040204" pitchFamily="34" charset="0"/>
                <a:ea typeface="標楷體" panose="03000509000000000000" pitchFamily="65" charset="-120"/>
              </a:defRPr>
            </a:lvl1pPr>
            <a:lvl2pPr marL="742950" indent="-285750" eaLnBrk="0" hangingPunct="0">
              <a:defRPr kumimoji="1" sz="2400">
                <a:solidFill>
                  <a:schemeClr val="tx1"/>
                </a:solidFill>
                <a:latin typeface="Tahoma" panose="020B0604030504040204" pitchFamily="34" charset="0"/>
                <a:ea typeface="標楷體" panose="03000509000000000000" pitchFamily="65" charset="-120"/>
              </a:defRPr>
            </a:lvl2pPr>
            <a:lvl3pPr marL="1143000" indent="-228600" eaLnBrk="0" hangingPunct="0">
              <a:defRPr kumimoji="1" sz="2400">
                <a:solidFill>
                  <a:schemeClr val="tx1"/>
                </a:solidFill>
                <a:latin typeface="Tahoma" panose="020B0604030504040204" pitchFamily="34" charset="0"/>
                <a:ea typeface="標楷體" panose="03000509000000000000" pitchFamily="65" charset="-120"/>
              </a:defRPr>
            </a:lvl3pPr>
            <a:lvl4pPr marL="1600200" indent="-228600" eaLnBrk="0" hangingPunct="0">
              <a:defRPr kumimoji="1" sz="2400">
                <a:solidFill>
                  <a:schemeClr val="tx1"/>
                </a:solidFill>
                <a:latin typeface="Tahoma" panose="020B0604030504040204" pitchFamily="34" charset="0"/>
                <a:ea typeface="標楷體" panose="03000509000000000000" pitchFamily="65" charset="-120"/>
              </a:defRPr>
            </a:lvl4pPr>
            <a:lvl5pPr marL="2057400" indent="-228600" eaLnBrk="0" hangingPunct="0">
              <a:defRPr kumimoji="1" sz="24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9pPr>
          </a:lstStyle>
          <a:p>
            <a:pPr eaLnBrk="1" hangingPunct="1"/>
            <a:r>
              <a:rPr lang="zh-TW" altLang="en-US" sz="4000" b="1" dirty="0">
                <a:solidFill>
                  <a:schemeClr val="tx2"/>
                </a:solidFill>
                <a:latin typeface="微軟正黑體" panose="020B0604030504040204" pitchFamily="34" charset="-120"/>
                <a:ea typeface="微軟正黑體" panose="020B0604030504040204" pitchFamily="34" charset="-120"/>
              </a:rPr>
              <a:t>性別分析</a:t>
            </a: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8CD0EB5C-8D9F-FC90-B11E-C36855D95C34}"/>
              </a:ext>
            </a:extLst>
          </p:cNvPr>
          <p:cNvSpPr>
            <a:spLocks noChangeArrowheads="1"/>
          </p:cNvSpPr>
          <p:nvPr/>
        </p:nvSpPr>
        <p:spPr bwMode="auto">
          <a:xfrm>
            <a:off x="457200" y="2133600"/>
            <a:ext cx="8002588" cy="392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sz="2400">
                <a:solidFill>
                  <a:schemeClr val="tx1"/>
                </a:solidFill>
                <a:latin typeface="Tahoma" panose="020B0604030504040204" pitchFamily="34" charset="0"/>
                <a:ea typeface="標楷體" panose="03000509000000000000" pitchFamily="65" charset="-120"/>
              </a:defRPr>
            </a:lvl1pPr>
            <a:lvl2pPr marL="742950" indent="-285750" eaLnBrk="0" hangingPunct="0">
              <a:defRPr kumimoji="1" sz="2400">
                <a:solidFill>
                  <a:schemeClr val="tx1"/>
                </a:solidFill>
                <a:latin typeface="Tahoma" panose="020B0604030504040204" pitchFamily="34" charset="0"/>
                <a:ea typeface="標楷體" panose="03000509000000000000" pitchFamily="65" charset="-120"/>
              </a:defRPr>
            </a:lvl2pPr>
            <a:lvl3pPr marL="1143000" indent="-228600" eaLnBrk="0" hangingPunct="0">
              <a:defRPr kumimoji="1" sz="2400">
                <a:solidFill>
                  <a:schemeClr val="tx1"/>
                </a:solidFill>
                <a:latin typeface="Tahoma" panose="020B0604030504040204" pitchFamily="34" charset="0"/>
                <a:ea typeface="標楷體" panose="03000509000000000000" pitchFamily="65" charset="-120"/>
              </a:defRPr>
            </a:lvl3pPr>
            <a:lvl4pPr marL="1600200" indent="-228600" eaLnBrk="0" hangingPunct="0">
              <a:defRPr kumimoji="1" sz="2400">
                <a:solidFill>
                  <a:schemeClr val="tx1"/>
                </a:solidFill>
                <a:latin typeface="Tahoma" panose="020B0604030504040204" pitchFamily="34" charset="0"/>
                <a:ea typeface="標楷體" panose="03000509000000000000" pitchFamily="65" charset="-120"/>
              </a:defRPr>
            </a:lvl4pPr>
            <a:lvl5pPr marL="2057400" indent="-228600" eaLnBrk="0" hangingPunct="0">
              <a:defRPr kumimoji="1" sz="24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9pPr>
          </a:lstStyle>
          <a:p>
            <a:pPr eaLnBrk="1" hangingPunct="1">
              <a:spcBef>
                <a:spcPct val="20000"/>
              </a:spcBef>
              <a:buClr>
                <a:schemeClr val="bg2"/>
              </a:buClr>
              <a:buSzPct val="75000"/>
              <a:buFont typeface="Wingdings" panose="05000000000000000000" pitchFamily="2" charset="2"/>
              <a:buNone/>
            </a:pPr>
            <a:endParaRPr lang="zh-TW" altLang="en-US" sz="3200">
              <a:latin typeface="標楷體" panose="03000509000000000000" pitchFamily="65" charset="-120"/>
            </a:endParaRPr>
          </a:p>
        </p:txBody>
      </p:sp>
      <p:sp>
        <p:nvSpPr>
          <p:cNvPr id="37891" name="Rectangle 3">
            <a:hlinkClick r:id="" action="ppaction://hlinkshowjump?jump=nextslide"/>
            <a:extLst>
              <a:ext uri="{FF2B5EF4-FFF2-40B4-BE49-F238E27FC236}">
                <a16:creationId xmlns:a16="http://schemas.microsoft.com/office/drawing/2014/main" id="{16915D36-EEE2-E6DE-2A05-0E60771644E5}"/>
              </a:ext>
            </a:extLst>
          </p:cNvPr>
          <p:cNvSpPr>
            <a:spLocks noChangeArrowheads="1"/>
          </p:cNvSpPr>
          <p:nvPr/>
        </p:nvSpPr>
        <p:spPr bwMode="auto">
          <a:xfrm>
            <a:off x="1547813" y="836613"/>
            <a:ext cx="2663825"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sz="2400">
                <a:solidFill>
                  <a:schemeClr val="tx1"/>
                </a:solidFill>
                <a:latin typeface="Tahoma" panose="020B0604030504040204" pitchFamily="34" charset="0"/>
                <a:ea typeface="標楷體" panose="03000509000000000000" pitchFamily="65" charset="-120"/>
              </a:defRPr>
            </a:lvl1pPr>
            <a:lvl2pPr marL="742950" indent="-285750" eaLnBrk="0" hangingPunct="0">
              <a:defRPr kumimoji="1" sz="2400">
                <a:solidFill>
                  <a:schemeClr val="tx1"/>
                </a:solidFill>
                <a:latin typeface="Tahoma" panose="020B0604030504040204" pitchFamily="34" charset="0"/>
                <a:ea typeface="標楷體" panose="03000509000000000000" pitchFamily="65" charset="-120"/>
              </a:defRPr>
            </a:lvl2pPr>
            <a:lvl3pPr marL="1143000" indent="-228600" eaLnBrk="0" hangingPunct="0">
              <a:defRPr kumimoji="1" sz="2400">
                <a:solidFill>
                  <a:schemeClr val="tx1"/>
                </a:solidFill>
                <a:latin typeface="Tahoma" panose="020B0604030504040204" pitchFamily="34" charset="0"/>
                <a:ea typeface="標楷體" panose="03000509000000000000" pitchFamily="65" charset="-120"/>
              </a:defRPr>
            </a:lvl3pPr>
            <a:lvl4pPr marL="1600200" indent="-228600" eaLnBrk="0" hangingPunct="0">
              <a:defRPr kumimoji="1" sz="2400">
                <a:solidFill>
                  <a:schemeClr val="tx1"/>
                </a:solidFill>
                <a:latin typeface="Tahoma" panose="020B0604030504040204" pitchFamily="34" charset="0"/>
                <a:ea typeface="標楷體" panose="03000509000000000000" pitchFamily="65" charset="-120"/>
              </a:defRPr>
            </a:lvl4pPr>
            <a:lvl5pPr marL="2057400" indent="-228600" eaLnBrk="0" hangingPunct="0">
              <a:defRPr kumimoji="1" sz="24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9pPr>
          </a:lstStyle>
          <a:p>
            <a:pPr eaLnBrk="1" hangingPunct="1"/>
            <a:r>
              <a:rPr lang="zh-TW" altLang="en-US" sz="4000" b="1" dirty="0">
                <a:solidFill>
                  <a:srgbClr val="002060"/>
                </a:solidFill>
                <a:latin typeface="微軟正黑體" panose="020B0604030504040204" pitchFamily="34" charset="-120"/>
                <a:ea typeface="微軟正黑體" panose="020B0604030504040204" pitchFamily="34" charset="-120"/>
              </a:rPr>
              <a:t>性別分析</a:t>
            </a:r>
          </a:p>
        </p:txBody>
      </p:sp>
      <p:sp>
        <p:nvSpPr>
          <p:cNvPr id="4" name="矩形 3">
            <a:extLst>
              <a:ext uri="{FF2B5EF4-FFF2-40B4-BE49-F238E27FC236}">
                <a16:creationId xmlns:a16="http://schemas.microsoft.com/office/drawing/2014/main" id="{F51ADD57-8537-E3EC-3D90-9898B50545BD}"/>
              </a:ext>
            </a:extLst>
          </p:cNvPr>
          <p:cNvSpPr/>
          <p:nvPr/>
        </p:nvSpPr>
        <p:spPr>
          <a:xfrm>
            <a:off x="684213" y="1989138"/>
            <a:ext cx="7775575" cy="4176712"/>
          </a:xfrm>
          <a:prstGeom prst="rect">
            <a:avLst/>
          </a:prstGeom>
        </p:spPr>
        <p:txBody>
          <a:bodyPr>
            <a:spAutoFit/>
          </a:bodyPr>
          <a:lstStyle/>
          <a:p>
            <a:pPr>
              <a:defRPr/>
            </a:pPr>
            <a:r>
              <a:rPr lang="zh-TW" altLang="en-US" sz="3200" dirty="0">
                <a:solidFill>
                  <a:srgbClr val="002060"/>
                </a:solidFill>
                <a:latin typeface="微軟正黑體" panose="020B0604030504040204" pitchFamily="34" charset="-120"/>
                <a:ea typeface="微軟正黑體" panose="020B0604030504040204" pitchFamily="34" charset="-120"/>
              </a:rPr>
              <a:t>內政部</a:t>
            </a:r>
            <a:endParaRPr lang="en-US" altLang="zh-TW" sz="3200" dirty="0">
              <a:solidFill>
                <a:srgbClr val="002060"/>
              </a:solidFill>
              <a:latin typeface="微軟正黑體" panose="020B0604030504040204" pitchFamily="34" charset="-120"/>
              <a:ea typeface="微軟正黑體" panose="020B0604030504040204" pitchFamily="34" charset="-120"/>
            </a:endParaRPr>
          </a:p>
          <a:p>
            <a:pPr>
              <a:defRPr/>
            </a:pPr>
            <a:r>
              <a:rPr lang="en-US" altLang="zh-TW" sz="3200" dirty="0">
                <a:solidFill>
                  <a:srgbClr val="002060"/>
                </a:solidFill>
                <a:latin typeface="微軟正黑體" panose="020B0604030504040204" pitchFamily="34" charset="-120"/>
                <a:ea typeface="微軟正黑體" panose="020B0604030504040204" pitchFamily="34" charset="-120"/>
              </a:rPr>
              <a:t>2008</a:t>
            </a:r>
            <a:r>
              <a:rPr lang="zh-TW" altLang="zh-TW" sz="3200" dirty="0">
                <a:solidFill>
                  <a:srgbClr val="002060"/>
                </a:solidFill>
                <a:latin typeface="微軟正黑體" panose="020B0604030504040204" pitchFamily="34" charset="-120"/>
                <a:ea typeface="微軟正黑體" panose="020B0604030504040204" pitchFamily="34" charset="-120"/>
              </a:rPr>
              <a:t>年國民生活狀況調查結果性別分析</a:t>
            </a:r>
            <a:endParaRPr lang="en-US" altLang="zh-TW" sz="3200" dirty="0">
              <a:solidFill>
                <a:srgbClr val="002060"/>
              </a:solidFill>
              <a:latin typeface="微軟正黑體" panose="020B0604030504040204" pitchFamily="34" charset="-120"/>
              <a:ea typeface="微軟正黑體" panose="020B0604030504040204" pitchFamily="34" charset="-120"/>
            </a:endParaRPr>
          </a:p>
          <a:p>
            <a:pPr marL="361950" indent="-361950">
              <a:buFont typeface="Wingdings" pitchFamily="2" charset="2"/>
              <a:buChar char="Ø"/>
              <a:defRPr/>
            </a:pPr>
            <a:r>
              <a:rPr lang="en-US" altLang="zh-TW" sz="3200" dirty="0">
                <a:solidFill>
                  <a:srgbClr val="002060"/>
                </a:solidFill>
                <a:latin typeface="微軟正黑體" panose="020B0604030504040204" pitchFamily="34" charset="-120"/>
                <a:ea typeface="微軟正黑體" panose="020B0604030504040204" pitchFamily="34" charset="-120"/>
              </a:rPr>
              <a:t>64.8%</a:t>
            </a:r>
            <a:r>
              <a:rPr lang="zh-TW" altLang="zh-TW" sz="3200" dirty="0">
                <a:solidFill>
                  <a:srgbClr val="002060"/>
                </a:solidFill>
                <a:latin typeface="微軟正黑體" panose="020B0604030504040204" pitchFamily="34" charset="-120"/>
                <a:ea typeface="微軟正黑體" panose="020B0604030504040204" pitchFamily="34" charset="-120"/>
              </a:rPr>
              <a:t>國民表示知道政府提供免費「</a:t>
            </a:r>
            <a:r>
              <a:rPr lang="en-US" altLang="zh-TW" sz="3200" dirty="0">
                <a:solidFill>
                  <a:srgbClr val="002060"/>
                </a:solidFill>
                <a:latin typeface="微軟正黑體" panose="020B0604030504040204" pitchFamily="34" charset="-120"/>
                <a:ea typeface="微軟正黑體" panose="020B0604030504040204" pitchFamily="34" charset="-120"/>
              </a:rPr>
              <a:t>113</a:t>
            </a:r>
            <a:r>
              <a:rPr lang="zh-TW" altLang="zh-TW" sz="3200" dirty="0">
                <a:solidFill>
                  <a:srgbClr val="002060"/>
                </a:solidFill>
                <a:latin typeface="微軟正黑體" panose="020B0604030504040204" pitchFamily="34" charset="-120"/>
                <a:ea typeface="微軟正黑體" panose="020B0604030504040204" pitchFamily="34" charset="-120"/>
              </a:rPr>
              <a:t>專線」電話</a:t>
            </a:r>
            <a:r>
              <a:rPr lang="zh-TW" altLang="zh-TW" sz="3200" dirty="0">
                <a:solidFill>
                  <a:schemeClr val="tx1">
                    <a:lumMod val="95000"/>
                    <a:lumOff val="5000"/>
                  </a:schemeClr>
                </a:solidFill>
                <a:latin typeface="微軟正黑體" panose="020B0604030504040204" pitchFamily="34" charset="-120"/>
                <a:ea typeface="微軟正黑體" panose="020B0604030504040204" pitchFamily="34" charset="-120"/>
              </a:rPr>
              <a:t>。</a:t>
            </a:r>
            <a:endParaRPr lang="en-US" altLang="zh-TW" sz="3200" dirty="0">
              <a:solidFill>
                <a:schemeClr val="tx1">
                  <a:lumMod val="95000"/>
                  <a:lumOff val="5000"/>
                </a:schemeClr>
              </a:solidFill>
              <a:latin typeface="微軟正黑體" panose="020B0604030504040204" pitchFamily="34" charset="-120"/>
              <a:ea typeface="微軟正黑體" panose="020B0604030504040204" pitchFamily="34" charset="-120"/>
            </a:endParaRPr>
          </a:p>
          <a:p>
            <a:pPr marL="276225" indent="-276225">
              <a:buFont typeface="Wingdings" pitchFamily="2" charset="2"/>
              <a:buChar char="Ø"/>
              <a:defRPr/>
            </a:pPr>
            <a:r>
              <a:rPr lang="zh-TW" altLang="zh-TW" sz="3200" dirty="0">
                <a:solidFill>
                  <a:srgbClr val="FF0000"/>
                </a:solidFill>
                <a:latin typeface="微軟正黑體" panose="020B0604030504040204" pitchFamily="34" charset="-120"/>
                <a:ea typeface="微軟正黑體" panose="020B0604030504040204" pitchFamily="34" charset="-120"/>
              </a:rPr>
              <a:t>女性知道「</a:t>
            </a:r>
            <a:r>
              <a:rPr lang="en-US" altLang="zh-TW" sz="3200" dirty="0">
                <a:solidFill>
                  <a:srgbClr val="FF0000"/>
                </a:solidFill>
                <a:latin typeface="微軟正黑體" panose="020B0604030504040204" pitchFamily="34" charset="-120"/>
                <a:ea typeface="微軟正黑體" panose="020B0604030504040204" pitchFamily="34" charset="-120"/>
              </a:rPr>
              <a:t>113</a:t>
            </a:r>
            <a:r>
              <a:rPr lang="zh-TW" altLang="zh-TW" sz="3200" dirty="0">
                <a:solidFill>
                  <a:srgbClr val="FF0000"/>
                </a:solidFill>
                <a:latin typeface="微軟正黑體" panose="020B0604030504040204" pitchFamily="34" charset="-120"/>
                <a:ea typeface="微軟正黑體" panose="020B0604030504040204" pitchFamily="34" charset="-120"/>
              </a:rPr>
              <a:t>專線」比例</a:t>
            </a:r>
            <a:r>
              <a:rPr lang="en-US" altLang="zh-TW" sz="3200" dirty="0">
                <a:solidFill>
                  <a:srgbClr val="FF0000"/>
                </a:solidFill>
                <a:latin typeface="微軟正黑體" panose="020B0604030504040204" pitchFamily="34" charset="-120"/>
                <a:ea typeface="微軟正黑體" panose="020B0604030504040204" pitchFamily="34" charset="-120"/>
              </a:rPr>
              <a:t>71.4%</a:t>
            </a:r>
            <a:r>
              <a:rPr lang="zh-TW" altLang="zh-TW" sz="3200" dirty="0">
                <a:solidFill>
                  <a:srgbClr val="FF0000"/>
                </a:solidFill>
                <a:latin typeface="微軟正黑體" panose="020B0604030504040204" pitchFamily="34" charset="-120"/>
                <a:ea typeface="微軟正黑體" panose="020B0604030504040204" pitchFamily="34" charset="-120"/>
              </a:rPr>
              <a:t>高於男性之</a:t>
            </a:r>
            <a:r>
              <a:rPr lang="en-US" altLang="zh-TW" sz="3200" dirty="0">
                <a:solidFill>
                  <a:srgbClr val="FF0000"/>
                </a:solidFill>
                <a:latin typeface="微軟正黑體" panose="020B0604030504040204" pitchFamily="34" charset="-120"/>
                <a:ea typeface="微軟正黑體" panose="020B0604030504040204" pitchFamily="34" charset="-120"/>
              </a:rPr>
              <a:t>58.2%</a:t>
            </a:r>
            <a:r>
              <a:rPr lang="zh-TW" altLang="en-US" sz="3200" dirty="0">
                <a:solidFill>
                  <a:srgbClr val="FF0000"/>
                </a:solidFill>
                <a:latin typeface="微軟正黑體" panose="020B0604030504040204" pitchFamily="34" charset="-120"/>
                <a:ea typeface="微軟正黑體" panose="020B0604030504040204" pitchFamily="34" charset="-120"/>
              </a:rPr>
              <a:t>。</a:t>
            </a:r>
            <a:endParaRPr lang="en-US" altLang="zh-TW" sz="3200" dirty="0">
              <a:solidFill>
                <a:srgbClr val="FF0000"/>
              </a:solidFill>
              <a:latin typeface="微軟正黑體" panose="020B0604030504040204" pitchFamily="34" charset="-120"/>
              <a:ea typeface="微軟正黑體" panose="020B0604030504040204" pitchFamily="34" charset="-120"/>
            </a:endParaRPr>
          </a:p>
          <a:p>
            <a:pPr marL="276225" indent="-276225">
              <a:buFont typeface="Wingdings" pitchFamily="2" charset="2"/>
              <a:buChar char="Ø"/>
              <a:defRPr/>
            </a:pPr>
            <a:r>
              <a:rPr lang="zh-TW" altLang="zh-TW" sz="3200" dirty="0">
                <a:solidFill>
                  <a:srgbClr val="002060"/>
                </a:solidFill>
                <a:latin typeface="微軟正黑體" panose="020B0604030504040204" pitchFamily="34" charset="-120"/>
                <a:ea typeface="微軟正黑體" panose="020B0604030504040204" pitchFamily="34" charset="-120"/>
              </a:rPr>
              <a:t>在遭受家暴、性侵害及性騷擾件</a:t>
            </a:r>
            <a:r>
              <a:rPr lang="zh-TW" altLang="en-US" sz="3200" dirty="0">
                <a:solidFill>
                  <a:srgbClr val="002060"/>
                </a:solidFill>
                <a:latin typeface="微軟正黑體" panose="020B0604030504040204" pitchFamily="34" charset="-120"/>
                <a:ea typeface="微軟正黑體" panose="020B0604030504040204" pitchFamily="34" charset="-120"/>
              </a:rPr>
              <a:t>通報案</a:t>
            </a:r>
            <a:r>
              <a:rPr lang="zh-TW" altLang="en-US" sz="3200" dirty="0">
                <a:solidFill>
                  <a:srgbClr val="C00000"/>
                </a:solidFill>
                <a:latin typeface="微軟正黑體" panose="020B0604030504040204" pitchFamily="34" charset="-120"/>
                <a:ea typeface="微軟正黑體" panose="020B0604030504040204" pitchFamily="34" charset="-120"/>
              </a:rPr>
              <a:t>性別</a:t>
            </a:r>
            <a:r>
              <a:rPr lang="zh-TW" altLang="zh-TW" sz="3200" dirty="0">
                <a:solidFill>
                  <a:srgbClr val="C00000"/>
                </a:solidFill>
                <a:latin typeface="微軟正黑體" panose="020B0604030504040204" pitchFamily="34" charset="-120"/>
                <a:ea typeface="微軟正黑體" panose="020B0604030504040204" pitchFamily="34" charset="-120"/>
              </a:rPr>
              <a:t>比例</a:t>
            </a:r>
            <a:r>
              <a:rPr lang="zh-TW" altLang="zh-TW" sz="3200" dirty="0">
                <a:solidFill>
                  <a:srgbClr val="FF0000"/>
                </a:solidFill>
                <a:latin typeface="微軟正黑體" panose="020B0604030504040204" pitchFamily="34" charset="-120"/>
                <a:ea typeface="微軟正黑體" panose="020B0604030504040204" pitchFamily="34" charset="-120"/>
              </a:rPr>
              <a:t>，</a:t>
            </a:r>
            <a:r>
              <a:rPr lang="zh-TW" altLang="en-US" sz="3200" dirty="0">
                <a:solidFill>
                  <a:srgbClr val="FF0000"/>
                </a:solidFill>
                <a:latin typeface="微軟正黑體" panose="020B0604030504040204" pitchFamily="34" charset="-120"/>
                <a:ea typeface="微軟正黑體" panose="020B0604030504040204" pitchFamily="34" charset="-120"/>
              </a:rPr>
              <a:t>女</a:t>
            </a:r>
            <a:r>
              <a:rPr lang="zh-TW" altLang="zh-TW" sz="3200" dirty="0">
                <a:solidFill>
                  <a:srgbClr val="FF0000"/>
                </a:solidFill>
                <a:latin typeface="微軟正黑體" panose="020B0604030504040204" pitchFamily="34" charset="-120"/>
                <a:ea typeface="微軟正黑體" panose="020B0604030504040204" pitchFamily="34" charset="-120"/>
              </a:rPr>
              <a:t>性高於</a:t>
            </a:r>
            <a:r>
              <a:rPr lang="zh-TW" altLang="en-US" sz="3200" dirty="0">
                <a:solidFill>
                  <a:srgbClr val="FF0000"/>
                </a:solidFill>
                <a:latin typeface="微軟正黑體" panose="020B0604030504040204" pitchFamily="34" charset="-120"/>
                <a:ea typeface="微軟正黑體" panose="020B0604030504040204" pitchFamily="34" charset="-120"/>
              </a:rPr>
              <a:t>男</a:t>
            </a:r>
            <a:r>
              <a:rPr lang="zh-TW" altLang="zh-TW" sz="3200" dirty="0">
                <a:solidFill>
                  <a:srgbClr val="FF0000"/>
                </a:solidFill>
                <a:latin typeface="微軟正黑體" panose="020B0604030504040204" pitchFamily="34" charset="-120"/>
                <a:ea typeface="微軟正黑體" panose="020B0604030504040204" pitchFamily="34" charset="-120"/>
              </a:rPr>
              <a:t>性</a:t>
            </a:r>
            <a:r>
              <a:rPr lang="zh-TW" altLang="zh-TW" sz="3200" dirty="0">
                <a:latin typeface="微軟正黑體" panose="020B0604030504040204" pitchFamily="34" charset="-120"/>
                <a:ea typeface="微軟正黑體" panose="020B0604030504040204" pitchFamily="34" charset="-120"/>
              </a:rPr>
              <a:t>。</a:t>
            </a:r>
            <a:endParaRPr lang="zh-TW" altLang="en-US" sz="3200" dirty="0">
              <a:latin typeface="微軟正黑體" panose="020B0604030504040204" pitchFamily="34" charset="-120"/>
              <a:ea typeface="微軟正黑體" panose="020B0604030504040204" pitchFamily="34" charset="-120"/>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E2D20ED6-DE71-1EC9-94A2-F4E2598042ED}"/>
              </a:ext>
            </a:extLst>
          </p:cNvPr>
          <p:cNvSpPr>
            <a:spLocks noChangeArrowheads="1"/>
          </p:cNvSpPr>
          <p:nvPr/>
        </p:nvSpPr>
        <p:spPr bwMode="auto">
          <a:xfrm>
            <a:off x="971600" y="2204864"/>
            <a:ext cx="7704138" cy="445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sz="2400">
                <a:solidFill>
                  <a:schemeClr val="tx1"/>
                </a:solidFill>
                <a:latin typeface="Tahoma" panose="020B0604030504040204" pitchFamily="34" charset="0"/>
                <a:ea typeface="標楷體" panose="03000509000000000000" pitchFamily="65" charset="-120"/>
              </a:defRPr>
            </a:lvl1pPr>
            <a:lvl2pPr marL="742950" indent="-285750" eaLnBrk="0" hangingPunct="0">
              <a:defRPr kumimoji="1" sz="2400">
                <a:solidFill>
                  <a:schemeClr val="tx1"/>
                </a:solidFill>
                <a:latin typeface="Tahoma" panose="020B0604030504040204" pitchFamily="34" charset="0"/>
                <a:ea typeface="標楷體" panose="03000509000000000000" pitchFamily="65" charset="-120"/>
              </a:defRPr>
            </a:lvl2pPr>
            <a:lvl3pPr marL="1143000" indent="-228600" eaLnBrk="0" hangingPunct="0">
              <a:defRPr kumimoji="1" sz="2400">
                <a:solidFill>
                  <a:schemeClr val="tx1"/>
                </a:solidFill>
                <a:latin typeface="Tahoma" panose="020B0604030504040204" pitchFamily="34" charset="0"/>
                <a:ea typeface="標楷體" panose="03000509000000000000" pitchFamily="65" charset="-120"/>
              </a:defRPr>
            </a:lvl3pPr>
            <a:lvl4pPr marL="1600200" indent="-228600" eaLnBrk="0" hangingPunct="0">
              <a:defRPr kumimoji="1" sz="2400">
                <a:solidFill>
                  <a:schemeClr val="tx1"/>
                </a:solidFill>
                <a:latin typeface="Tahoma" panose="020B0604030504040204" pitchFamily="34" charset="0"/>
                <a:ea typeface="標楷體" panose="03000509000000000000" pitchFamily="65" charset="-120"/>
              </a:defRPr>
            </a:lvl4pPr>
            <a:lvl5pPr marL="2057400" indent="-228600" eaLnBrk="0" hangingPunct="0">
              <a:defRPr kumimoji="1" sz="24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9pPr>
          </a:lstStyle>
          <a:p>
            <a:pPr marL="457200" indent="-457200" eaLnBrk="1" hangingPunct="1">
              <a:spcBef>
                <a:spcPct val="20000"/>
              </a:spcBef>
              <a:buClr>
                <a:schemeClr val="bg2"/>
              </a:buClr>
              <a:buSzPct val="75000"/>
              <a:buFont typeface="Wingdings" panose="05000000000000000000" pitchFamily="2" charset="2"/>
              <a:buChar char="l"/>
            </a:pPr>
            <a:r>
              <a:rPr lang="zh-TW" altLang="en-US" sz="3200" dirty="0">
                <a:solidFill>
                  <a:srgbClr val="002060"/>
                </a:solidFill>
                <a:latin typeface="微軟正黑體" panose="020B0604030504040204" pitchFamily="34" charset="-120"/>
                <a:ea typeface="微軟正黑體" panose="020B0604030504040204" pitchFamily="34" charset="-120"/>
              </a:rPr>
              <a:t>編列預算時，讓不同性別者有機會參</a:t>
            </a:r>
          </a:p>
          <a:p>
            <a:pPr eaLnBrk="1" hangingPunct="1">
              <a:spcBef>
                <a:spcPct val="20000"/>
              </a:spcBef>
              <a:buClr>
                <a:schemeClr val="bg2"/>
              </a:buClr>
              <a:buSzPct val="75000"/>
              <a:buFont typeface="Wingdings" panose="05000000000000000000" pitchFamily="2" charset="2"/>
              <a:buNone/>
            </a:pPr>
            <a:r>
              <a:rPr lang="zh-TW" altLang="en-US" sz="3200" dirty="0">
                <a:solidFill>
                  <a:srgbClr val="002060"/>
                </a:solidFill>
                <a:latin typeface="微軟正黑體" panose="020B0604030504040204" pitchFamily="34" charset="-120"/>
                <a:ea typeface="微軟正黑體" panose="020B0604030504040204" pitchFamily="34" charset="-120"/>
              </a:rPr>
              <a:t>與討論。注意參與者的性別比例</a:t>
            </a:r>
          </a:p>
          <a:p>
            <a:pPr marL="457200" indent="-457200" eaLnBrk="1" hangingPunct="1">
              <a:spcBef>
                <a:spcPct val="20000"/>
              </a:spcBef>
              <a:buClr>
                <a:schemeClr val="bg2"/>
              </a:buClr>
              <a:buSzPct val="75000"/>
              <a:buFont typeface="Wingdings" panose="05000000000000000000" pitchFamily="2" charset="2"/>
              <a:buChar char="l"/>
            </a:pPr>
            <a:r>
              <a:rPr lang="zh-TW" altLang="en-US" sz="3200" dirty="0">
                <a:solidFill>
                  <a:srgbClr val="002060"/>
                </a:solidFill>
                <a:latin typeface="微軟正黑體" panose="020B0604030504040204" pitchFamily="34" charset="-120"/>
                <a:ea typeface="微軟正黑體" panose="020B0604030504040204" pitchFamily="34" charset="-120"/>
              </a:rPr>
              <a:t>兩種不同層次的預算思考：</a:t>
            </a:r>
          </a:p>
          <a:p>
            <a:pPr eaLnBrk="1" hangingPunct="1">
              <a:spcBef>
                <a:spcPct val="20000"/>
              </a:spcBef>
              <a:buClr>
                <a:schemeClr val="bg2"/>
              </a:buClr>
              <a:buSzPct val="75000"/>
              <a:buFont typeface="Wingdings" panose="05000000000000000000" pitchFamily="2" charset="2"/>
              <a:buNone/>
            </a:pPr>
            <a:r>
              <a:rPr lang="en-US" altLang="zh-TW" sz="3200" dirty="0">
                <a:solidFill>
                  <a:srgbClr val="CC00CC"/>
                </a:solidFill>
                <a:latin typeface="微軟正黑體" panose="020B0604030504040204" pitchFamily="34" charset="-120"/>
                <a:ea typeface="微軟正黑體" panose="020B0604030504040204" pitchFamily="34" charset="-120"/>
              </a:rPr>
              <a:t>  1.</a:t>
            </a:r>
            <a:r>
              <a:rPr lang="zh-TW" altLang="en-US" sz="3200" dirty="0">
                <a:solidFill>
                  <a:srgbClr val="CC00CC"/>
                </a:solidFill>
                <a:latin typeface="微軟正黑體" panose="020B0604030504040204" pitchFamily="34" charset="-120"/>
                <a:ea typeface="微軟正黑體" panose="020B0604030504040204" pitchFamily="34" charset="-120"/>
              </a:rPr>
              <a:t>一般預算對於不同性別者的影響</a:t>
            </a:r>
          </a:p>
          <a:p>
            <a:pPr eaLnBrk="1" hangingPunct="1">
              <a:spcBef>
                <a:spcPct val="20000"/>
              </a:spcBef>
              <a:buClr>
                <a:schemeClr val="bg2"/>
              </a:buClr>
              <a:buSzPct val="75000"/>
              <a:buFont typeface="Wingdings" panose="05000000000000000000" pitchFamily="2" charset="2"/>
              <a:buNone/>
            </a:pPr>
            <a:r>
              <a:rPr lang="en-US" altLang="zh-TW" sz="3200" dirty="0">
                <a:solidFill>
                  <a:srgbClr val="CC00CC"/>
                </a:solidFill>
                <a:latin typeface="微軟正黑體" panose="020B0604030504040204" pitchFamily="34" charset="-120"/>
                <a:ea typeface="微軟正黑體" panose="020B0604030504040204" pitchFamily="34" charset="-120"/>
              </a:rPr>
              <a:t>  2.</a:t>
            </a:r>
            <a:r>
              <a:rPr lang="zh-TW" altLang="en-US" sz="3200" dirty="0">
                <a:solidFill>
                  <a:srgbClr val="CC00CC"/>
                </a:solidFill>
                <a:latin typeface="微軟正黑體" panose="020B0604030504040204" pitchFamily="34" charset="-120"/>
                <a:ea typeface="微軟正黑體" panose="020B0604030504040204" pitchFamily="34" charset="-120"/>
              </a:rPr>
              <a:t>如何提升任一性別不利處境的特別預算 </a:t>
            </a:r>
          </a:p>
        </p:txBody>
      </p:sp>
      <p:sp>
        <p:nvSpPr>
          <p:cNvPr id="38915" name="Rectangle 3">
            <a:hlinkClick r:id="" action="ppaction://hlinkshowjump?jump=nextslide"/>
            <a:extLst>
              <a:ext uri="{FF2B5EF4-FFF2-40B4-BE49-F238E27FC236}">
                <a16:creationId xmlns:a16="http://schemas.microsoft.com/office/drawing/2014/main" id="{A85DA154-F63C-9630-58E1-A1B329661209}"/>
              </a:ext>
            </a:extLst>
          </p:cNvPr>
          <p:cNvSpPr>
            <a:spLocks noChangeArrowheads="1"/>
          </p:cNvSpPr>
          <p:nvPr/>
        </p:nvSpPr>
        <p:spPr bwMode="auto">
          <a:xfrm>
            <a:off x="1116013" y="908050"/>
            <a:ext cx="2663825"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sz="2400">
                <a:solidFill>
                  <a:schemeClr val="tx1"/>
                </a:solidFill>
                <a:latin typeface="Tahoma" panose="020B0604030504040204" pitchFamily="34" charset="0"/>
                <a:ea typeface="標楷體" panose="03000509000000000000" pitchFamily="65" charset="-120"/>
              </a:defRPr>
            </a:lvl1pPr>
            <a:lvl2pPr marL="742950" indent="-285750" eaLnBrk="0" hangingPunct="0">
              <a:defRPr kumimoji="1" sz="2400">
                <a:solidFill>
                  <a:schemeClr val="tx1"/>
                </a:solidFill>
                <a:latin typeface="Tahoma" panose="020B0604030504040204" pitchFamily="34" charset="0"/>
                <a:ea typeface="標楷體" panose="03000509000000000000" pitchFamily="65" charset="-120"/>
              </a:defRPr>
            </a:lvl2pPr>
            <a:lvl3pPr marL="1143000" indent="-228600" eaLnBrk="0" hangingPunct="0">
              <a:defRPr kumimoji="1" sz="2400">
                <a:solidFill>
                  <a:schemeClr val="tx1"/>
                </a:solidFill>
                <a:latin typeface="Tahoma" panose="020B0604030504040204" pitchFamily="34" charset="0"/>
                <a:ea typeface="標楷體" panose="03000509000000000000" pitchFamily="65" charset="-120"/>
              </a:defRPr>
            </a:lvl3pPr>
            <a:lvl4pPr marL="1600200" indent="-228600" eaLnBrk="0" hangingPunct="0">
              <a:defRPr kumimoji="1" sz="2400">
                <a:solidFill>
                  <a:schemeClr val="tx1"/>
                </a:solidFill>
                <a:latin typeface="Tahoma" panose="020B0604030504040204" pitchFamily="34" charset="0"/>
                <a:ea typeface="標楷體" panose="03000509000000000000" pitchFamily="65" charset="-120"/>
              </a:defRPr>
            </a:lvl4pPr>
            <a:lvl5pPr marL="2057400" indent="-228600" eaLnBrk="0" hangingPunct="0">
              <a:defRPr kumimoji="1" sz="24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9pPr>
          </a:lstStyle>
          <a:p>
            <a:pPr eaLnBrk="1" hangingPunct="1"/>
            <a:r>
              <a:rPr lang="zh-TW" altLang="en-US" sz="4000" b="1" dirty="0">
                <a:solidFill>
                  <a:schemeClr val="tx2"/>
                </a:solidFill>
                <a:latin typeface="微軟正黑體" panose="020B0604030504040204" pitchFamily="34" charset="-120"/>
                <a:ea typeface="微軟正黑體" panose="020B0604030504040204" pitchFamily="34" charset="-120"/>
              </a:rPr>
              <a:t>性別預算</a:t>
            </a: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CB19807A-050D-AE8C-2668-0A5AC3B0490F}"/>
              </a:ext>
            </a:extLst>
          </p:cNvPr>
          <p:cNvSpPr>
            <a:spLocks noChangeArrowheads="1"/>
          </p:cNvSpPr>
          <p:nvPr/>
        </p:nvSpPr>
        <p:spPr bwMode="auto">
          <a:xfrm>
            <a:off x="755650" y="2205038"/>
            <a:ext cx="7488238" cy="3443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711200" indent="-711200" eaLnBrk="0" hangingPunct="0">
              <a:defRPr kumimoji="1" sz="2400">
                <a:solidFill>
                  <a:schemeClr val="tx1"/>
                </a:solidFill>
                <a:latin typeface="Tahoma" panose="020B0604030504040204" pitchFamily="34" charset="0"/>
                <a:ea typeface="標楷體" panose="03000509000000000000" pitchFamily="65" charset="-120"/>
              </a:defRPr>
            </a:lvl1pPr>
            <a:lvl2pPr marL="742950" indent="-285750" eaLnBrk="0" hangingPunct="0">
              <a:defRPr kumimoji="1" sz="2400">
                <a:solidFill>
                  <a:schemeClr val="tx1"/>
                </a:solidFill>
                <a:latin typeface="Tahoma" panose="020B0604030504040204" pitchFamily="34" charset="0"/>
                <a:ea typeface="標楷體" panose="03000509000000000000" pitchFamily="65" charset="-120"/>
              </a:defRPr>
            </a:lvl2pPr>
            <a:lvl3pPr marL="1143000" indent="-228600" eaLnBrk="0" hangingPunct="0">
              <a:defRPr kumimoji="1" sz="2400">
                <a:solidFill>
                  <a:schemeClr val="tx1"/>
                </a:solidFill>
                <a:latin typeface="Tahoma" panose="020B0604030504040204" pitchFamily="34" charset="0"/>
                <a:ea typeface="標楷體" panose="03000509000000000000" pitchFamily="65" charset="-120"/>
              </a:defRPr>
            </a:lvl3pPr>
            <a:lvl4pPr marL="1600200" indent="-228600" eaLnBrk="0" hangingPunct="0">
              <a:defRPr kumimoji="1" sz="2400">
                <a:solidFill>
                  <a:schemeClr val="tx1"/>
                </a:solidFill>
                <a:latin typeface="Tahoma" panose="020B0604030504040204" pitchFamily="34" charset="0"/>
                <a:ea typeface="標楷體" panose="03000509000000000000" pitchFamily="65" charset="-120"/>
              </a:defRPr>
            </a:lvl4pPr>
            <a:lvl5pPr marL="2057400" indent="-228600" eaLnBrk="0" hangingPunct="0">
              <a:defRPr kumimoji="1" sz="24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9pPr>
          </a:lstStyle>
          <a:p>
            <a:pPr eaLnBrk="1" hangingPunct="1">
              <a:spcBef>
                <a:spcPct val="20000"/>
              </a:spcBef>
              <a:buClr>
                <a:schemeClr val="bg2"/>
              </a:buClr>
              <a:buSzPct val="75000"/>
              <a:buFont typeface="Wingdings" panose="05000000000000000000" pitchFamily="2" charset="2"/>
              <a:buChar char="l"/>
            </a:pPr>
            <a:r>
              <a:rPr lang="zh-TW" altLang="en-US" sz="3200" dirty="0">
                <a:solidFill>
                  <a:srgbClr val="002060"/>
                </a:solidFill>
                <a:latin typeface="微軟正黑體" panose="020B0604030504040204" pitchFamily="34" charset="-120"/>
                <a:ea typeface="微軟正黑體" panose="020B0604030504040204" pitchFamily="34" charset="-120"/>
              </a:rPr>
              <a:t>在制定方案、計畫、政策、立法時，</a:t>
            </a:r>
          </a:p>
          <a:p>
            <a:pPr eaLnBrk="1" hangingPunct="1">
              <a:spcBef>
                <a:spcPct val="20000"/>
              </a:spcBef>
              <a:buClr>
                <a:schemeClr val="bg2"/>
              </a:buClr>
              <a:buSzPct val="75000"/>
              <a:buFont typeface="Wingdings" panose="05000000000000000000" pitchFamily="2" charset="2"/>
              <a:buNone/>
            </a:pPr>
            <a:r>
              <a:rPr lang="zh-TW" altLang="en-US" sz="3200" dirty="0">
                <a:solidFill>
                  <a:srgbClr val="002060"/>
                </a:solidFill>
                <a:latin typeface="微軟正黑體" panose="020B0604030504040204" pitchFamily="34" charset="-120"/>
                <a:ea typeface="微軟正黑體" panose="020B0604030504040204" pitchFamily="34" charset="-120"/>
              </a:rPr>
              <a:t>考量不同性別觀點，對於不同性別者</a:t>
            </a:r>
          </a:p>
          <a:p>
            <a:pPr eaLnBrk="1" hangingPunct="1">
              <a:spcBef>
                <a:spcPct val="20000"/>
              </a:spcBef>
              <a:buClr>
                <a:schemeClr val="bg2"/>
              </a:buClr>
              <a:buSzPct val="75000"/>
              <a:buFont typeface="Wingdings" panose="05000000000000000000" pitchFamily="2" charset="2"/>
              <a:buNone/>
            </a:pPr>
            <a:r>
              <a:rPr lang="zh-TW" altLang="en-US" sz="3200" dirty="0">
                <a:solidFill>
                  <a:srgbClr val="002060"/>
                </a:solidFill>
                <a:latin typeface="微軟正黑體" panose="020B0604030504040204" pitchFamily="34" charset="-120"/>
                <a:ea typeface="微軟正黑體" panose="020B0604030504040204" pitchFamily="34" charset="-120"/>
              </a:rPr>
              <a:t>的</a:t>
            </a:r>
            <a:r>
              <a:rPr lang="zh-TW" altLang="en-US" sz="3200" dirty="0">
                <a:solidFill>
                  <a:srgbClr val="CC00CC"/>
                </a:solidFill>
                <a:latin typeface="微軟正黑體" panose="020B0604030504040204" pitchFamily="34" charset="-120"/>
                <a:ea typeface="微軟正黑體" panose="020B0604030504040204" pitchFamily="34" charset="-120"/>
              </a:rPr>
              <a:t>影響及受益程度進行評估檢討</a:t>
            </a:r>
            <a:r>
              <a:rPr lang="zh-TW" altLang="en-US" sz="3200" dirty="0">
                <a:latin typeface="微軟正黑體" panose="020B0604030504040204" pitchFamily="34" charset="-120"/>
                <a:ea typeface="微軟正黑體" panose="020B0604030504040204" pitchFamily="34" charset="-120"/>
              </a:rPr>
              <a:t>。</a:t>
            </a:r>
          </a:p>
          <a:p>
            <a:pPr eaLnBrk="1" hangingPunct="1">
              <a:spcBef>
                <a:spcPct val="20000"/>
              </a:spcBef>
              <a:buClr>
                <a:schemeClr val="bg2"/>
              </a:buClr>
              <a:buSzPct val="75000"/>
              <a:buFont typeface="Wingdings" panose="05000000000000000000" pitchFamily="2" charset="2"/>
              <a:buChar char="l"/>
            </a:pPr>
            <a:r>
              <a:rPr lang="zh-TW" altLang="en-US" sz="3200" dirty="0">
                <a:solidFill>
                  <a:srgbClr val="002060"/>
                </a:solidFill>
                <a:latin typeface="微軟正黑體" panose="020B0604030504040204" pitchFamily="34" charset="-120"/>
                <a:ea typeface="微軟正黑體" panose="020B0604030504040204" pitchFamily="34" charset="-120"/>
              </a:rPr>
              <a:t>中央已訂性別影響評估檢視表，協</a:t>
            </a:r>
          </a:p>
          <a:p>
            <a:pPr eaLnBrk="1" hangingPunct="1">
              <a:spcBef>
                <a:spcPct val="20000"/>
              </a:spcBef>
              <a:buClr>
                <a:schemeClr val="bg2"/>
              </a:buClr>
              <a:buSzPct val="75000"/>
              <a:buFont typeface="Wingdings" panose="05000000000000000000" pitchFamily="2" charset="2"/>
              <a:buNone/>
            </a:pPr>
            <a:r>
              <a:rPr lang="zh-TW" altLang="en-US" sz="3200" dirty="0">
                <a:solidFill>
                  <a:srgbClr val="002060"/>
                </a:solidFill>
                <a:latin typeface="微軟正黑體" panose="020B0604030504040204" pitchFamily="34" charset="-120"/>
                <a:ea typeface="微軟正黑體" panose="020B0604030504040204" pitchFamily="34" charset="-120"/>
              </a:rPr>
              <a:t>助各部會、各地方政府</a:t>
            </a:r>
            <a:r>
              <a:rPr lang="en-US" altLang="zh-TW" sz="3200" dirty="0">
                <a:solidFill>
                  <a:srgbClr val="002060"/>
                </a:solidFill>
                <a:latin typeface="微軟正黑體" panose="020B0604030504040204" pitchFamily="34" charset="-120"/>
                <a:ea typeface="微軟正黑體" panose="020B0604030504040204" pitchFamily="34" charset="-120"/>
              </a:rPr>
              <a:t>(</a:t>
            </a:r>
            <a:r>
              <a:rPr lang="zh-TW" altLang="en-US" sz="3200" dirty="0">
                <a:solidFill>
                  <a:srgbClr val="002060"/>
                </a:solidFill>
                <a:latin typeface="微軟正黑體" panose="020B0604030504040204" pitchFamily="34" charset="-120"/>
                <a:ea typeface="微軟正黑體" panose="020B0604030504040204" pitchFamily="34" charset="-120"/>
              </a:rPr>
              <a:t>報院核備之重</a:t>
            </a:r>
          </a:p>
          <a:p>
            <a:pPr eaLnBrk="1" hangingPunct="1">
              <a:spcBef>
                <a:spcPct val="20000"/>
              </a:spcBef>
              <a:buClr>
                <a:schemeClr val="bg2"/>
              </a:buClr>
              <a:buSzPct val="75000"/>
              <a:buFont typeface="Wingdings" panose="05000000000000000000" pitchFamily="2" charset="2"/>
              <a:buNone/>
            </a:pPr>
            <a:r>
              <a:rPr lang="zh-TW" altLang="en-US" sz="3200" dirty="0">
                <a:solidFill>
                  <a:srgbClr val="002060"/>
                </a:solidFill>
                <a:latin typeface="微軟正黑體" panose="020B0604030504040204" pitchFamily="34" charset="-120"/>
                <a:ea typeface="微軟正黑體" panose="020B0604030504040204" pitchFamily="34" charset="-120"/>
              </a:rPr>
              <a:t>大政策</a:t>
            </a:r>
            <a:r>
              <a:rPr lang="en-US" altLang="zh-TW" sz="3200" dirty="0">
                <a:solidFill>
                  <a:srgbClr val="002060"/>
                </a:solidFill>
                <a:latin typeface="微軟正黑體" panose="020B0604030504040204" pitchFamily="34" charset="-120"/>
                <a:ea typeface="微軟正黑體" panose="020B0604030504040204" pitchFamily="34" charset="-120"/>
              </a:rPr>
              <a:t>)</a:t>
            </a:r>
            <a:r>
              <a:rPr lang="zh-TW" altLang="en-US" sz="3200" dirty="0">
                <a:solidFill>
                  <a:srgbClr val="002060"/>
                </a:solidFill>
                <a:latin typeface="微軟正黑體" panose="020B0604030504040204" pitchFamily="34" charset="-120"/>
                <a:ea typeface="微軟正黑體" panose="020B0604030504040204" pitchFamily="34" charset="-120"/>
              </a:rPr>
              <a:t>進行評估。</a:t>
            </a:r>
          </a:p>
        </p:txBody>
      </p:sp>
      <p:sp>
        <p:nvSpPr>
          <p:cNvPr id="39939" name="Rectangle 3">
            <a:hlinkClick r:id="" action="ppaction://hlinkshowjump?jump=nextslide"/>
            <a:extLst>
              <a:ext uri="{FF2B5EF4-FFF2-40B4-BE49-F238E27FC236}">
                <a16:creationId xmlns:a16="http://schemas.microsoft.com/office/drawing/2014/main" id="{D111415A-8DFF-A9CF-B930-5978E96FD952}"/>
              </a:ext>
            </a:extLst>
          </p:cNvPr>
          <p:cNvSpPr>
            <a:spLocks noChangeArrowheads="1"/>
          </p:cNvSpPr>
          <p:nvPr/>
        </p:nvSpPr>
        <p:spPr bwMode="auto">
          <a:xfrm>
            <a:off x="1258888" y="908050"/>
            <a:ext cx="3313112"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sz="2400">
                <a:solidFill>
                  <a:schemeClr val="tx1"/>
                </a:solidFill>
                <a:latin typeface="Tahoma" panose="020B0604030504040204" pitchFamily="34" charset="0"/>
                <a:ea typeface="標楷體" panose="03000509000000000000" pitchFamily="65" charset="-120"/>
              </a:defRPr>
            </a:lvl1pPr>
            <a:lvl2pPr marL="742950" indent="-285750" eaLnBrk="0" hangingPunct="0">
              <a:defRPr kumimoji="1" sz="2400">
                <a:solidFill>
                  <a:schemeClr val="tx1"/>
                </a:solidFill>
                <a:latin typeface="Tahoma" panose="020B0604030504040204" pitchFamily="34" charset="0"/>
                <a:ea typeface="標楷體" panose="03000509000000000000" pitchFamily="65" charset="-120"/>
              </a:defRPr>
            </a:lvl2pPr>
            <a:lvl3pPr marL="1143000" indent="-228600" eaLnBrk="0" hangingPunct="0">
              <a:defRPr kumimoji="1" sz="2400">
                <a:solidFill>
                  <a:schemeClr val="tx1"/>
                </a:solidFill>
                <a:latin typeface="Tahoma" panose="020B0604030504040204" pitchFamily="34" charset="0"/>
                <a:ea typeface="標楷體" panose="03000509000000000000" pitchFamily="65" charset="-120"/>
              </a:defRPr>
            </a:lvl3pPr>
            <a:lvl4pPr marL="1600200" indent="-228600" eaLnBrk="0" hangingPunct="0">
              <a:defRPr kumimoji="1" sz="2400">
                <a:solidFill>
                  <a:schemeClr val="tx1"/>
                </a:solidFill>
                <a:latin typeface="Tahoma" panose="020B0604030504040204" pitchFamily="34" charset="0"/>
                <a:ea typeface="標楷體" panose="03000509000000000000" pitchFamily="65" charset="-120"/>
              </a:defRPr>
            </a:lvl4pPr>
            <a:lvl5pPr marL="2057400" indent="-228600" eaLnBrk="0" hangingPunct="0">
              <a:defRPr kumimoji="1" sz="24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9pPr>
          </a:lstStyle>
          <a:p>
            <a:pPr eaLnBrk="1" hangingPunct="1"/>
            <a:r>
              <a:rPr lang="zh-TW" altLang="en-US" sz="4000" b="1" dirty="0">
                <a:solidFill>
                  <a:schemeClr val="tx2"/>
                </a:solidFill>
                <a:latin typeface="微軟正黑體" panose="020B0604030504040204" pitchFamily="34" charset="-120"/>
                <a:ea typeface="微軟正黑體" panose="020B0604030504040204" pitchFamily="34" charset="-120"/>
              </a:rPr>
              <a:t>性別影響評估</a:t>
            </a: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74D078EE-2C0C-B01E-FCB8-673D97956B0E}"/>
              </a:ext>
            </a:extLst>
          </p:cNvPr>
          <p:cNvSpPr>
            <a:spLocks noGrp="1" noChangeArrowheads="1"/>
          </p:cNvSpPr>
          <p:nvPr>
            <p:ph type="title"/>
          </p:nvPr>
        </p:nvSpPr>
        <p:spPr/>
        <p:txBody>
          <a:bodyPr/>
          <a:lstStyle/>
          <a:p>
            <a:pPr eaLnBrk="1" hangingPunct="1"/>
            <a:r>
              <a:rPr lang="zh-TW" altLang="en-US" dirty="0">
                <a:latin typeface="微軟正黑體" panose="020B0604030504040204" pitchFamily="34" charset="-120"/>
                <a:ea typeface="微軟正黑體" panose="020B0604030504040204" pitchFamily="34" charset="-120"/>
              </a:rPr>
              <a:t>性別影響評估</a:t>
            </a:r>
            <a:r>
              <a:rPr lang="en-US" altLang="zh-TW" baseline="-25000" dirty="0">
                <a:latin typeface="微軟正黑體" panose="020B0604030504040204" pitchFamily="34" charset="-120"/>
                <a:ea typeface="微軟正黑體" panose="020B0604030504040204" pitchFamily="34" charset="-120"/>
              </a:rPr>
              <a:t>1</a:t>
            </a:r>
          </a:p>
        </p:txBody>
      </p:sp>
      <p:sp>
        <p:nvSpPr>
          <p:cNvPr id="40963" name="Rectangle 3">
            <a:extLst>
              <a:ext uri="{FF2B5EF4-FFF2-40B4-BE49-F238E27FC236}">
                <a16:creationId xmlns:a16="http://schemas.microsoft.com/office/drawing/2014/main" id="{3A77CB5E-B8D9-9BCA-D6AA-41E49A58124D}"/>
              </a:ext>
            </a:extLst>
          </p:cNvPr>
          <p:cNvSpPr>
            <a:spLocks noGrp="1" noChangeArrowheads="1"/>
          </p:cNvSpPr>
          <p:nvPr>
            <p:ph idx="1"/>
          </p:nvPr>
        </p:nvSpPr>
        <p:spPr>
          <a:xfrm>
            <a:off x="1182688" y="2017713"/>
            <a:ext cx="6845300" cy="4114800"/>
          </a:xfrm>
        </p:spPr>
        <p:txBody>
          <a:bodyPr/>
          <a:lstStyle/>
          <a:p>
            <a:pPr eaLnBrk="1" hangingPunct="1">
              <a:buClr>
                <a:srgbClr val="CC00CC"/>
              </a:buClr>
              <a:buFont typeface="Wingdings" panose="05000000000000000000" pitchFamily="2" charset="2"/>
              <a:buChar char="Ø"/>
            </a:pPr>
            <a:r>
              <a:rPr lang="zh-TW" altLang="en-US" dirty="0">
                <a:solidFill>
                  <a:srgbClr val="002060"/>
                </a:solidFill>
                <a:latin typeface="微軟正黑體" panose="020B0604030504040204" pitchFamily="34" charset="-120"/>
                <a:ea typeface="微軟正黑體" panose="020B0604030504040204" pitchFamily="34" charset="-120"/>
              </a:rPr>
              <a:t>在方案設計及執行過程中，有徵詢女性的意見</a:t>
            </a:r>
          </a:p>
          <a:p>
            <a:pPr eaLnBrk="1" hangingPunct="1">
              <a:buClr>
                <a:srgbClr val="CC00CC"/>
              </a:buClr>
              <a:buFont typeface="Wingdings" panose="05000000000000000000" pitchFamily="2" charset="2"/>
              <a:buChar char="Ø"/>
            </a:pPr>
            <a:r>
              <a:rPr lang="zh-TW" altLang="en-US" dirty="0">
                <a:solidFill>
                  <a:srgbClr val="002060"/>
                </a:solidFill>
                <a:latin typeface="微軟正黑體" panose="020B0604030504040204" pitchFamily="34" charset="-120"/>
                <a:ea typeface="微軟正黑體" panose="020B0604030504040204" pitchFamily="34" charset="-120"/>
              </a:rPr>
              <a:t>此方案有蒐集並使用性別分類統計資料</a:t>
            </a:r>
          </a:p>
          <a:p>
            <a:pPr eaLnBrk="1" hangingPunct="1">
              <a:buClr>
                <a:srgbClr val="CC00CC"/>
              </a:buClr>
              <a:buFont typeface="Wingdings" panose="05000000000000000000" pitchFamily="2" charset="2"/>
              <a:buChar char="Ø"/>
            </a:pPr>
            <a:r>
              <a:rPr lang="zh-TW" altLang="en-US" dirty="0">
                <a:solidFill>
                  <a:srgbClr val="002060"/>
                </a:solidFill>
                <a:latin typeface="微軟正黑體" panose="020B0604030504040204" pitchFamily="34" charset="-120"/>
                <a:ea typeface="微軟正黑體" panose="020B0604030504040204" pitchFamily="34" charset="-120"/>
              </a:rPr>
              <a:t>協助女性循序漸進地參與方案及規劃執行</a:t>
            </a:r>
          </a:p>
          <a:p>
            <a:pPr eaLnBrk="1" hangingPunct="1">
              <a:buClr>
                <a:srgbClr val="CC00CC"/>
              </a:buClr>
              <a:buFont typeface="Wingdings" panose="05000000000000000000" pitchFamily="2" charset="2"/>
              <a:buChar char="Ø"/>
            </a:pPr>
            <a:r>
              <a:rPr lang="zh-TW" altLang="en-US" dirty="0">
                <a:solidFill>
                  <a:srgbClr val="002060"/>
                </a:solidFill>
                <a:latin typeface="微軟正黑體" panose="020B0604030504040204" pitchFamily="34" charset="-120"/>
                <a:ea typeface="微軟正黑體" panose="020B0604030504040204" pitchFamily="34" charset="-120"/>
              </a:rPr>
              <a:t>女性能充分獲得方案中的相關資訊</a:t>
            </a: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D9DCF9A8-40F1-F861-C132-FD3431849890}"/>
              </a:ext>
            </a:extLst>
          </p:cNvPr>
          <p:cNvSpPr>
            <a:spLocks noGrp="1" noChangeArrowheads="1"/>
          </p:cNvSpPr>
          <p:nvPr>
            <p:ph type="title"/>
          </p:nvPr>
        </p:nvSpPr>
        <p:spPr/>
        <p:txBody>
          <a:bodyPr/>
          <a:lstStyle/>
          <a:p>
            <a:pPr eaLnBrk="1" hangingPunct="1"/>
            <a:r>
              <a:rPr lang="zh-TW" altLang="en-US" dirty="0">
                <a:latin typeface="微軟正黑體" panose="020B0604030504040204" pitchFamily="34" charset="-120"/>
                <a:ea typeface="微軟正黑體" panose="020B0604030504040204" pitchFamily="34" charset="-120"/>
              </a:rPr>
              <a:t>性別影響評估</a:t>
            </a:r>
            <a:r>
              <a:rPr lang="en-US" altLang="zh-TW" baseline="-25000" dirty="0">
                <a:latin typeface="微軟正黑體" panose="020B0604030504040204" pitchFamily="34" charset="-120"/>
                <a:ea typeface="微軟正黑體" panose="020B0604030504040204" pitchFamily="34" charset="-120"/>
              </a:rPr>
              <a:t>2</a:t>
            </a:r>
          </a:p>
        </p:txBody>
      </p:sp>
      <p:sp>
        <p:nvSpPr>
          <p:cNvPr id="41987" name="Rectangle 3">
            <a:extLst>
              <a:ext uri="{FF2B5EF4-FFF2-40B4-BE49-F238E27FC236}">
                <a16:creationId xmlns:a16="http://schemas.microsoft.com/office/drawing/2014/main" id="{24CEBCC7-9DBA-DE9C-F7EC-A7C4CB06EAE9}"/>
              </a:ext>
            </a:extLst>
          </p:cNvPr>
          <p:cNvSpPr>
            <a:spLocks noGrp="1" noChangeArrowheads="1"/>
          </p:cNvSpPr>
          <p:nvPr>
            <p:ph idx="1"/>
          </p:nvPr>
        </p:nvSpPr>
        <p:spPr>
          <a:xfrm>
            <a:off x="1331913" y="2017713"/>
            <a:ext cx="6624637" cy="4114800"/>
          </a:xfrm>
        </p:spPr>
        <p:txBody>
          <a:bodyPr/>
          <a:lstStyle/>
          <a:p>
            <a:pPr eaLnBrk="1" hangingPunct="1">
              <a:buClr>
                <a:srgbClr val="CC00CC"/>
              </a:buClr>
              <a:buFont typeface="Wingdings" panose="05000000000000000000" pitchFamily="2" charset="2"/>
              <a:buChar char="Ø"/>
            </a:pPr>
            <a:r>
              <a:rPr lang="zh-TW" altLang="en-US" dirty="0">
                <a:solidFill>
                  <a:srgbClr val="002060"/>
                </a:solidFill>
                <a:latin typeface="微軟正黑體" panose="020B0604030504040204" pitchFamily="34" charset="-120"/>
                <a:ea typeface="微軟正黑體" panose="020B0604030504040204" pitchFamily="34" charset="-120"/>
              </a:rPr>
              <a:t>有努力找出對女性不利的潛在因素</a:t>
            </a:r>
          </a:p>
          <a:p>
            <a:pPr eaLnBrk="1" hangingPunct="1">
              <a:buClr>
                <a:srgbClr val="CC00CC"/>
              </a:buClr>
              <a:buFont typeface="Wingdings" panose="05000000000000000000" pitchFamily="2" charset="2"/>
              <a:buChar char="Ø"/>
            </a:pPr>
            <a:r>
              <a:rPr lang="zh-TW" altLang="en-US" dirty="0">
                <a:solidFill>
                  <a:srgbClr val="002060"/>
                </a:solidFill>
                <a:latin typeface="微軟正黑體" panose="020B0604030504040204" pitchFamily="34" charset="-120"/>
                <a:ea typeface="微軟正黑體" panose="020B0604030504040204" pitchFamily="34" charset="-120"/>
              </a:rPr>
              <a:t>此方案重視女性</a:t>
            </a:r>
          </a:p>
          <a:p>
            <a:pPr eaLnBrk="1" hangingPunct="1">
              <a:buClr>
                <a:srgbClr val="CC00CC"/>
              </a:buClr>
              <a:buFont typeface="Wingdings" panose="05000000000000000000" pitchFamily="2" charset="2"/>
              <a:buChar char="Ø"/>
            </a:pPr>
            <a:r>
              <a:rPr lang="zh-TW" altLang="en-US" dirty="0">
                <a:solidFill>
                  <a:srgbClr val="002060"/>
                </a:solidFill>
                <a:latin typeface="微軟正黑體" panose="020B0604030504040204" pitchFamily="34" charset="-120"/>
                <a:ea typeface="微軟正黑體" panose="020B0604030504040204" pitchFamily="34" charset="-120"/>
              </a:rPr>
              <a:t>女性的參與應納入方案評估項目中</a:t>
            </a:r>
          </a:p>
          <a:p>
            <a:pPr eaLnBrk="1" hangingPunct="1">
              <a:buClr>
                <a:srgbClr val="CC00CC"/>
              </a:buClr>
              <a:buFont typeface="Wingdings" panose="05000000000000000000" pitchFamily="2" charset="2"/>
              <a:buChar char="Ø"/>
            </a:pPr>
            <a:r>
              <a:rPr lang="zh-TW" altLang="en-US" dirty="0">
                <a:solidFill>
                  <a:srgbClr val="002060"/>
                </a:solidFill>
                <a:latin typeface="微軟正黑體" panose="020B0604030504040204" pitchFamily="34" charset="-120"/>
                <a:ea typeface="微軟正黑體" panose="020B0604030504040204" pitchFamily="34" charset="-120"/>
              </a:rPr>
              <a:t>女性能充分獲得方案中的相關資訊</a:t>
            </a: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9EFF5AD9-EA4B-C39A-C9EA-1CC94C15EA75}"/>
              </a:ext>
            </a:extLst>
          </p:cNvPr>
          <p:cNvSpPr>
            <a:spLocks noChangeArrowheads="1"/>
          </p:cNvSpPr>
          <p:nvPr/>
        </p:nvSpPr>
        <p:spPr bwMode="auto">
          <a:xfrm>
            <a:off x="971550" y="2205038"/>
            <a:ext cx="7427913" cy="334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sz="2400">
                <a:solidFill>
                  <a:schemeClr val="tx1"/>
                </a:solidFill>
                <a:latin typeface="Tahoma" panose="020B0604030504040204" pitchFamily="34" charset="0"/>
                <a:ea typeface="標楷體" panose="03000509000000000000" pitchFamily="65" charset="-120"/>
              </a:defRPr>
            </a:lvl1pPr>
            <a:lvl2pPr marL="742950" indent="-285750" eaLnBrk="0" hangingPunct="0">
              <a:defRPr kumimoji="1" sz="2400">
                <a:solidFill>
                  <a:schemeClr val="tx1"/>
                </a:solidFill>
                <a:latin typeface="Tahoma" panose="020B0604030504040204" pitchFamily="34" charset="0"/>
                <a:ea typeface="標楷體" panose="03000509000000000000" pitchFamily="65" charset="-120"/>
              </a:defRPr>
            </a:lvl2pPr>
            <a:lvl3pPr marL="1143000" indent="-228600" eaLnBrk="0" hangingPunct="0">
              <a:defRPr kumimoji="1" sz="2400">
                <a:solidFill>
                  <a:schemeClr val="tx1"/>
                </a:solidFill>
                <a:latin typeface="Tahoma" panose="020B0604030504040204" pitchFamily="34" charset="0"/>
                <a:ea typeface="標楷體" panose="03000509000000000000" pitchFamily="65" charset="-120"/>
              </a:defRPr>
            </a:lvl3pPr>
            <a:lvl4pPr marL="1600200" indent="-228600" eaLnBrk="0" hangingPunct="0">
              <a:defRPr kumimoji="1" sz="2400">
                <a:solidFill>
                  <a:schemeClr val="tx1"/>
                </a:solidFill>
                <a:latin typeface="Tahoma" panose="020B0604030504040204" pitchFamily="34" charset="0"/>
                <a:ea typeface="標楷體" panose="03000509000000000000" pitchFamily="65" charset="-120"/>
              </a:defRPr>
            </a:lvl4pPr>
            <a:lvl5pPr marL="2057400" indent="-228600" eaLnBrk="0" hangingPunct="0">
              <a:defRPr kumimoji="1" sz="24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9pPr>
          </a:lstStyle>
          <a:p>
            <a:pPr eaLnBrk="1" hangingPunct="1">
              <a:spcBef>
                <a:spcPct val="20000"/>
              </a:spcBef>
              <a:buClr>
                <a:schemeClr val="bg2"/>
              </a:buClr>
              <a:buSzPct val="75000"/>
              <a:buFont typeface="Wingdings" panose="05000000000000000000" pitchFamily="2" charset="2"/>
              <a:buNone/>
            </a:pPr>
            <a:r>
              <a:rPr lang="zh-TW" altLang="en-US" sz="3600" dirty="0">
                <a:solidFill>
                  <a:srgbClr val="C00000"/>
                </a:solidFill>
                <a:latin typeface="微軟正黑體" panose="020B0604030504040204" pitchFamily="34" charset="-120"/>
                <a:ea typeface="微軟正黑體" panose="020B0604030504040204" pitchFamily="34" charset="-120"/>
              </a:rPr>
              <a:t>性別意識培力：</a:t>
            </a:r>
          </a:p>
          <a:p>
            <a:pPr eaLnBrk="1" hangingPunct="1">
              <a:spcBef>
                <a:spcPct val="20000"/>
              </a:spcBef>
              <a:buClr>
                <a:schemeClr val="bg2"/>
              </a:buClr>
              <a:buSzPct val="75000"/>
              <a:buFont typeface="Wingdings" panose="05000000000000000000" pitchFamily="2" charset="2"/>
              <a:buNone/>
            </a:pPr>
            <a:r>
              <a:rPr lang="zh-TW" altLang="en-US" sz="3600" dirty="0">
                <a:solidFill>
                  <a:srgbClr val="002060"/>
                </a:solidFill>
                <a:latin typeface="微軟正黑體" panose="020B0604030504040204" pitchFamily="34" charset="-120"/>
                <a:ea typeface="微軟正黑體" panose="020B0604030504040204" pitchFamily="34" charset="-120"/>
              </a:rPr>
              <a:t>透過相關研習訓練，以瞭解不同性</a:t>
            </a:r>
          </a:p>
          <a:p>
            <a:pPr eaLnBrk="1" hangingPunct="1">
              <a:spcBef>
                <a:spcPct val="20000"/>
              </a:spcBef>
              <a:buClr>
                <a:schemeClr val="bg2"/>
              </a:buClr>
              <a:buSzPct val="75000"/>
              <a:buFont typeface="Wingdings" panose="05000000000000000000" pitchFamily="2" charset="2"/>
              <a:buNone/>
            </a:pPr>
            <a:r>
              <a:rPr lang="zh-TW" altLang="en-US" sz="3600" dirty="0">
                <a:solidFill>
                  <a:srgbClr val="002060"/>
                </a:solidFill>
                <a:latin typeface="微軟正黑體" panose="020B0604030504040204" pitchFamily="34" charset="-120"/>
                <a:ea typeface="微軟正黑體" panose="020B0604030504040204" pitchFamily="34" charset="-120"/>
              </a:rPr>
              <a:t>別者的觀點與處境，提昇個人落實</a:t>
            </a:r>
          </a:p>
          <a:p>
            <a:pPr eaLnBrk="1" hangingPunct="1">
              <a:spcBef>
                <a:spcPct val="20000"/>
              </a:spcBef>
              <a:buClr>
                <a:schemeClr val="bg2"/>
              </a:buClr>
              <a:buSzPct val="75000"/>
              <a:buFont typeface="Wingdings" panose="05000000000000000000" pitchFamily="2" charset="2"/>
              <a:buNone/>
            </a:pPr>
            <a:r>
              <a:rPr lang="zh-TW" altLang="en-US" sz="3600" dirty="0">
                <a:solidFill>
                  <a:srgbClr val="002060"/>
                </a:solidFill>
                <a:latin typeface="微軟正黑體" panose="020B0604030504040204" pitchFamily="34" charset="-120"/>
                <a:ea typeface="微軟正黑體" panose="020B0604030504040204" pitchFamily="34" charset="-120"/>
              </a:rPr>
              <a:t>性別平等之能力。</a:t>
            </a:r>
          </a:p>
          <a:p>
            <a:pPr eaLnBrk="1" hangingPunct="1">
              <a:spcBef>
                <a:spcPct val="20000"/>
              </a:spcBef>
              <a:buClr>
                <a:schemeClr val="bg2"/>
              </a:buClr>
              <a:buSzPct val="75000"/>
              <a:buFont typeface="Wingdings" panose="05000000000000000000" pitchFamily="2" charset="2"/>
              <a:buNone/>
            </a:pPr>
            <a:endParaRPr lang="en-US" altLang="zh-TW" sz="3600" b="1" dirty="0">
              <a:latin typeface="標楷體" panose="03000509000000000000" pitchFamily="65" charset="-120"/>
            </a:endParaRPr>
          </a:p>
        </p:txBody>
      </p:sp>
      <p:sp>
        <p:nvSpPr>
          <p:cNvPr id="43011" name="Rectangle 3">
            <a:hlinkClick r:id="" action="ppaction://hlinkshowjump?jump=nextslide"/>
            <a:extLst>
              <a:ext uri="{FF2B5EF4-FFF2-40B4-BE49-F238E27FC236}">
                <a16:creationId xmlns:a16="http://schemas.microsoft.com/office/drawing/2014/main" id="{CA98E8BA-68AF-FAF3-5822-1D23435301D2}"/>
              </a:ext>
            </a:extLst>
          </p:cNvPr>
          <p:cNvSpPr>
            <a:spLocks noChangeArrowheads="1"/>
          </p:cNvSpPr>
          <p:nvPr/>
        </p:nvSpPr>
        <p:spPr bwMode="auto">
          <a:xfrm>
            <a:off x="1116013" y="765175"/>
            <a:ext cx="7488237"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sz="2400">
                <a:solidFill>
                  <a:schemeClr val="tx1"/>
                </a:solidFill>
                <a:latin typeface="Tahoma" panose="020B0604030504040204" pitchFamily="34" charset="0"/>
                <a:ea typeface="標楷體" panose="03000509000000000000" pitchFamily="65" charset="-120"/>
              </a:defRPr>
            </a:lvl1pPr>
            <a:lvl2pPr marL="742950" indent="-285750" eaLnBrk="0" hangingPunct="0">
              <a:defRPr kumimoji="1" sz="2400">
                <a:solidFill>
                  <a:schemeClr val="tx1"/>
                </a:solidFill>
                <a:latin typeface="Tahoma" panose="020B0604030504040204" pitchFamily="34" charset="0"/>
                <a:ea typeface="標楷體" panose="03000509000000000000" pitchFamily="65" charset="-120"/>
              </a:defRPr>
            </a:lvl2pPr>
            <a:lvl3pPr marL="1143000" indent="-228600" eaLnBrk="0" hangingPunct="0">
              <a:defRPr kumimoji="1" sz="2400">
                <a:solidFill>
                  <a:schemeClr val="tx1"/>
                </a:solidFill>
                <a:latin typeface="Tahoma" panose="020B0604030504040204" pitchFamily="34" charset="0"/>
                <a:ea typeface="標楷體" panose="03000509000000000000" pitchFamily="65" charset="-120"/>
              </a:defRPr>
            </a:lvl3pPr>
            <a:lvl4pPr marL="1600200" indent="-228600" eaLnBrk="0" hangingPunct="0">
              <a:defRPr kumimoji="1" sz="2400">
                <a:solidFill>
                  <a:schemeClr val="tx1"/>
                </a:solidFill>
                <a:latin typeface="Tahoma" panose="020B0604030504040204" pitchFamily="34" charset="0"/>
                <a:ea typeface="標楷體" panose="03000509000000000000" pitchFamily="65" charset="-120"/>
              </a:defRPr>
            </a:lvl4pPr>
            <a:lvl5pPr marL="2057400" indent="-228600" eaLnBrk="0" hangingPunct="0">
              <a:defRPr kumimoji="1" sz="24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9pPr>
          </a:lstStyle>
          <a:p>
            <a:pPr eaLnBrk="1" hangingPunct="1"/>
            <a:r>
              <a:rPr lang="zh-TW" altLang="en-US" sz="4000" b="1" dirty="0">
                <a:solidFill>
                  <a:schemeClr val="tx2"/>
                </a:solidFill>
                <a:latin typeface="微軟正黑體" panose="020B0604030504040204" pitchFamily="34" charset="-120"/>
                <a:ea typeface="微軟正黑體" panose="020B0604030504040204" pitchFamily="34" charset="-120"/>
              </a:rPr>
              <a:t>應具備之能力─性別意識</a:t>
            </a: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DBC9D9EA-62F1-DDF3-6F11-3B8F19BCCD82}"/>
              </a:ext>
            </a:extLst>
          </p:cNvPr>
          <p:cNvSpPr>
            <a:spLocks noGrp="1" noChangeArrowheads="1"/>
          </p:cNvSpPr>
          <p:nvPr>
            <p:ph type="title"/>
          </p:nvPr>
        </p:nvSpPr>
        <p:spPr>
          <a:xfrm>
            <a:off x="1350963" y="260350"/>
            <a:ext cx="7793037" cy="1462088"/>
          </a:xfrm>
        </p:spPr>
        <p:txBody>
          <a:bodyPr/>
          <a:lstStyle/>
          <a:p>
            <a:pPr eaLnBrk="1" hangingPunct="1"/>
            <a:r>
              <a:rPr lang="zh-TW" altLang="en-US" dirty="0">
                <a:latin typeface="微軟正黑體" panose="020B0604030504040204" pitchFamily="34" charset="-120"/>
                <a:ea typeface="微軟正黑體" panose="020B0604030504040204" pitchFamily="34" charset="-120"/>
              </a:rPr>
              <a:t>人才培力</a:t>
            </a:r>
            <a:r>
              <a:rPr lang="en-US" altLang="zh-TW" baseline="-25000" dirty="0">
                <a:latin typeface="微軟正黑體" panose="020B0604030504040204" pitchFamily="34" charset="-120"/>
                <a:ea typeface="微軟正黑體" panose="020B0604030504040204" pitchFamily="34" charset="-120"/>
              </a:rPr>
              <a:t>1</a:t>
            </a:r>
          </a:p>
        </p:txBody>
      </p:sp>
      <p:sp>
        <p:nvSpPr>
          <p:cNvPr id="44035" name="Rectangle 3">
            <a:extLst>
              <a:ext uri="{FF2B5EF4-FFF2-40B4-BE49-F238E27FC236}">
                <a16:creationId xmlns:a16="http://schemas.microsoft.com/office/drawing/2014/main" id="{C604A0DD-396F-5BFC-2D3A-1B3612E1647C}"/>
              </a:ext>
            </a:extLst>
          </p:cNvPr>
          <p:cNvSpPr>
            <a:spLocks noGrp="1" noChangeArrowheads="1"/>
          </p:cNvSpPr>
          <p:nvPr>
            <p:ph idx="1"/>
          </p:nvPr>
        </p:nvSpPr>
        <p:spPr>
          <a:xfrm>
            <a:off x="1182688" y="2017713"/>
            <a:ext cx="6773862" cy="4114800"/>
          </a:xfrm>
        </p:spPr>
        <p:txBody>
          <a:bodyPr/>
          <a:lstStyle/>
          <a:p>
            <a:pPr eaLnBrk="1" hangingPunct="1">
              <a:lnSpc>
                <a:spcPct val="120000"/>
              </a:lnSpc>
              <a:buClr>
                <a:srgbClr val="CC00CC"/>
              </a:buClr>
              <a:buFont typeface="Wingdings" panose="05000000000000000000" pitchFamily="2" charset="2"/>
              <a:buChar char="Ø"/>
            </a:pPr>
            <a:r>
              <a:rPr lang="zh-TW" altLang="en-US" dirty="0">
                <a:solidFill>
                  <a:schemeClr val="hlink"/>
                </a:solidFill>
                <a:latin typeface="微軟正黑體" panose="020B0604030504040204" pitchFamily="34" charset="-120"/>
                <a:ea typeface="微軟正黑體" panose="020B0604030504040204" pitchFamily="34" charset="-120"/>
              </a:rPr>
              <a:t>提拔</a:t>
            </a:r>
            <a:r>
              <a:rPr lang="zh-TW" altLang="en-US" dirty="0">
                <a:solidFill>
                  <a:srgbClr val="002060"/>
                </a:solidFill>
                <a:latin typeface="微軟正黑體" panose="020B0604030504040204" pitchFamily="34" charset="-120"/>
                <a:ea typeface="微軟正黑體" panose="020B0604030504040204" pitchFamily="34" charset="-120"/>
              </a:rPr>
              <a:t>女性領導人才</a:t>
            </a:r>
          </a:p>
          <a:p>
            <a:pPr eaLnBrk="1" hangingPunct="1">
              <a:lnSpc>
                <a:spcPct val="120000"/>
              </a:lnSpc>
              <a:buClr>
                <a:srgbClr val="CC00CC"/>
              </a:buClr>
              <a:buFont typeface="Wingdings" panose="05000000000000000000" pitchFamily="2" charset="2"/>
              <a:buChar char="Ø"/>
            </a:pPr>
            <a:r>
              <a:rPr lang="zh-TW" altLang="en-US" dirty="0">
                <a:solidFill>
                  <a:srgbClr val="002060"/>
                </a:solidFill>
                <a:latin typeface="微軟正黑體" panose="020B0604030504040204" pitchFamily="34" charset="-120"/>
                <a:ea typeface="微軟正黑體" panose="020B0604030504040204" pitchFamily="34" charset="-120"/>
              </a:rPr>
              <a:t>兩性共治</a:t>
            </a:r>
            <a:r>
              <a:rPr lang="en-US" altLang="en-US" dirty="0">
                <a:solidFill>
                  <a:srgbClr val="002060"/>
                </a:solidFill>
                <a:latin typeface="微軟正黑體" panose="020B0604030504040204" pitchFamily="34" charset="-120"/>
                <a:ea typeface="微軟正黑體" panose="020B0604030504040204" pitchFamily="34" charset="-120"/>
              </a:rPr>
              <a:t>、</a:t>
            </a:r>
            <a:r>
              <a:rPr lang="zh-TW" altLang="en-US" dirty="0">
                <a:solidFill>
                  <a:srgbClr val="002060"/>
                </a:solidFill>
                <a:latin typeface="微軟正黑體" panose="020B0604030504040204" pitchFamily="34" charset="-120"/>
                <a:ea typeface="微軟正黑體" panose="020B0604030504040204" pitchFamily="34" charset="-120"/>
              </a:rPr>
              <a:t>多元參與</a:t>
            </a:r>
          </a:p>
          <a:p>
            <a:pPr eaLnBrk="1" hangingPunct="1">
              <a:lnSpc>
                <a:spcPct val="120000"/>
              </a:lnSpc>
              <a:buClr>
                <a:srgbClr val="CC00CC"/>
              </a:buClr>
              <a:buFont typeface="Wingdings" panose="05000000000000000000" pitchFamily="2" charset="2"/>
              <a:buChar char="Ø"/>
            </a:pPr>
            <a:r>
              <a:rPr lang="zh-TW" altLang="en-US" dirty="0">
                <a:solidFill>
                  <a:schemeClr val="hlink"/>
                </a:solidFill>
                <a:latin typeface="微軟正黑體" panose="020B0604030504040204" pitchFamily="34" charset="-120"/>
                <a:ea typeface="微軟正黑體" panose="020B0604030504040204" pitchFamily="34" charset="-120"/>
              </a:rPr>
              <a:t>檢視</a:t>
            </a:r>
            <a:r>
              <a:rPr lang="zh-TW" altLang="en-US" dirty="0">
                <a:solidFill>
                  <a:srgbClr val="002060"/>
                </a:solidFill>
                <a:latin typeface="微軟正黑體" panose="020B0604030504040204" pitchFamily="34" charset="-120"/>
                <a:ea typeface="微軟正黑體" panose="020B0604030504040204" pitchFamily="34" charset="-120"/>
              </a:rPr>
              <a:t>決策過程、表達管道、對話習慣、權責劃分</a:t>
            </a:r>
          </a:p>
          <a:p>
            <a:pPr eaLnBrk="1" hangingPunct="1">
              <a:lnSpc>
                <a:spcPct val="120000"/>
              </a:lnSpc>
              <a:buClr>
                <a:srgbClr val="CC00CC"/>
              </a:buClr>
              <a:buFont typeface="Wingdings" panose="05000000000000000000" pitchFamily="2" charset="2"/>
              <a:buNone/>
            </a:pPr>
            <a:r>
              <a:rPr lang="zh-TW" altLang="en-US" sz="3600" dirty="0">
                <a:latin typeface="標楷體" panose="03000509000000000000" pitchFamily="65" charset="-120"/>
                <a:ea typeface="標楷體" panose="03000509000000000000" pitchFamily="65" charset="-120"/>
              </a:rPr>
              <a:t>　</a:t>
            </a:r>
            <a:endParaRPr lang="zh-TW" altLang="en-US" sz="2800" dirty="0">
              <a:latin typeface="標楷體" panose="03000509000000000000" pitchFamily="65" charset="-120"/>
              <a:ea typeface="標楷體" panose="03000509000000000000" pitchFamily="65" charset="-120"/>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4E6AB925-1861-4039-BA1A-457892D17B98}"/>
              </a:ext>
            </a:extLst>
          </p:cNvPr>
          <p:cNvSpPr>
            <a:spLocks noGrp="1" noChangeArrowheads="1"/>
          </p:cNvSpPr>
          <p:nvPr>
            <p:ph type="title"/>
          </p:nvPr>
        </p:nvSpPr>
        <p:spPr>
          <a:xfrm>
            <a:off x="1350963" y="260350"/>
            <a:ext cx="7793037" cy="1462088"/>
          </a:xfrm>
        </p:spPr>
        <p:txBody>
          <a:bodyPr/>
          <a:lstStyle/>
          <a:p>
            <a:pPr eaLnBrk="1" hangingPunct="1"/>
            <a:r>
              <a:rPr lang="zh-TW" altLang="en-US" dirty="0">
                <a:latin typeface="微軟正黑體" panose="020B0604030504040204" pitchFamily="34" charset="-120"/>
                <a:ea typeface="微軟正黑體" panose="020B0604030504040204" pitchFamily="34" charset="-120"/>
              </a:rPr>
              <a:t>人才培力</a:t>
            </a:r>
            <a:r>
              <a:rPr lang="en-US" altLang="zh-TW" baseline="-25000" dirty="0">
                <a:latin typeface="微軟正黑體" panose="020B0604030504040204" pitchFamily="34" charset="-120"/>
                <a:ea typeface="微軟正黑體" panose="020B0604030504040204" pitchFamily="34" charset="-120"/>
              </a:rPr>
              <a:t>2</a:t>
            </a:r>
          </a:p>
        </p:txBody>
      </p:sp>
      <p:sp>
        <p:nvSpPr>
          <p:cNvPr id="45059" name="Rectangle 5">
            <a:extLst>
              <a:ext uri="{FF2B5EF4-FFF2-40B4-BE49-F238E27FC236}">
                <a16:creationId xmlns:a16="http://schemas.microsoft.com/office/drawing/2014/main" id="{2B740B00-EABF-3E82-0843-AAD48D71E32E}"/>
              </a:ext>
            </a:extLst>
          </p:cNvPr>
          <p:cNvSpPr>
            <a:spLocks noChangeArrowheads="1"/>
          </p:cNvSpPr>
          <p:nvPr/>
        </p:nvSpPr>
        <p:spPr bwMode="auto">
          <a:xfrm>
            <a:off x="611188" y="2747138"/>
            <a:ext cx="7848600"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ahoma" panose="020B0604030504040204" pitchFamily="34" charset="0"/>
                <a:ea typeface="標楷體" panose="03000509000000000000" pitchFamily="65" charset="-120"/>
              </a:defRPr>
            </a:lvl1pPr>
            <a:lvl2pPr marL="742950" indent="-285750" eaLnBrk="0" hangingPunct="0">
              <a:defRPr kumimoji="1" sz="2400">
                <a:solidFill>
                  <a:schemeClr val="tx1"/>
                </a:solidFill>
                <a:latin typeface="Tahoma" panose="020B0604030504040204" pitchFamily="34" charset="0"/>
                <a:ea typeface="標楷體" panose="03000509000000000000" pitchFamily="65" charset="-120"/>
              </a:defRPr>
            </a:lvl2pPr>
            <a:lvl3pPr marL="1143000" indent="-228600" eaLnBrk="0" hangingPunct="0">
              <a:defRPr kumimoji="1" sz="2400">
                <a:solidFill>
                  <a:schemeClr val="tx1"/>
                </a:solidFill>
                <a:latin typeface="Tahoma" panose="020B0604030504040204" pitchFamily="34" charset="0"/>
                <a:ea typeface="標楷體" panose="03000509000000000000" pitchFamily="65" charset="-120"/>
              </a:defRPr>
            </a:lvl3pPr>
            <a:lvl4pPr marL="1600200" indent="-228600" eaLnBrk="0" hangingPunct="0">
              <a:defRPr kumimoji="1" sz="2400">
                <a:solidFill>
                  <a:schemeClr val="tx1"/>
                </a:solidFill>
                <a:latin typeface="Tahoma" panose="020B0604030504040204" pitchFamily="34" charset="0"/>
                <a:ea typeface="標楷體" panose="03000509000000000000" pitchFamily="65" charset="-120"/>
              </a:defRPr>
            </a:lvl4pPr>
            <a:lvl5pPr marL="2057400" indent="-228600" eaLnBrk="0" hangingPunct="0">
              <a:defRPr kumimoji="1" sz="24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9pPr>
          </a:lstStyle>
          <a:p>
            <a:pPr marL="571500" indent="-571500" eaLnBrk="1" hangingPunct="1">
              <a:buFont typeface="Wingdings" panose="05000000000000000000" pitchFamily="2" charset="2"/>
              <a:buChar char="l"/>
            </a:pPr>
            <a:r>
              <a:rPr lang="zh-TW" altLang="en-US" sz="3600" dirty="0">
                <a:solidFill>
                  <a:schemeClr val="tx2"/>
                </a:solidFill>
                <a:latin typeface="微軟正黑體" panose="020B0604030504040204" pitchFamily="34" charset="-120"/>
                <a:ea typeface="微軟正黑體" panose="020B0604030504040204" pitchFamily="34" charset="-120"/>
              </a:rPr>
              <a:t>促進女性參與決策</a:t>
            </a:r>
            <a:r>
              <a:rPr lang="zh-TW" altLang="en-US" sz="3600" b="1" dirty="0">
                <a:solidFill>
                  <a:schemeClr val="tx2"/>
                </a:solidFill>
                <a:latin typeface="微軟正黑體" panose="020B0604030504040204" pitchFamily="34" charset="-120"/>
                <a:ea typeface="微軟正黑體" panose="020B0604030504040204" pitchFamily="34" charset="-120"/>
              </a:rPr>
              <a:t>金馨獎及特別獎</a:t>
            </a:r>
            <a:br>
              <a:rPr lang="zh-TW" altLang="en-US" sz="3600" b="1" dirty="0">
                <a:latin typeface="微軟正黑體" panose="020B0604030504040204" pitchFamily="34" charset="-120"/>
                <a:ea typeface="微軟正黑體" panose="020B0604030504040204" pitchFamily="34" charset="-120"/>
              </a:rPr>
            </a:br>
            <a:r>
              <a:rPr lang="zh-TW" altLang="en-US" sz="2800" dirty="0">
                <a:solidFill>
                  <a:srgbClr val="002060"/>
                </a:solidFill>
                <a:latin typeface="微軟正黑體" panose="020B0604030504040204" pitchFamily="34" charset="-120"/>
                <a:ea typeface="微軟正黑體" panose="020B0604030504040204" pitchFamily="34" charset="-120"/>
              </a:rPr>
              <a:t>行政院每年舉行「促進女性參與決策金馨獎及特別獎」競賽，肯定各得獎機關</a:t>
            </a:r>
            <a:r>
              <a:rPr lang="zh-TW" altLang="en-US" sz="2800" dirty="0">
                <a:solidFill>
                  <a:srgbClr val="CC00CC"/>
                </a:solidFill>
                <a:latin typeface="微軟正黑體" panose="020B0604030504040204" pitchFamily="34" charset="-120"/>
                <a:ea typeface="微軟正黑體" panose="020B0604030504040204" pitchFamily="34" charset="-120"/>
              </a:rPr>
              <a:t>落實促進女性參與決策</a:t>
            </a:r>
            <a:r>
              <a:rPr lang="zh-TW" altLang="en-US" sz="2800" dirty="0">
                <a:solidFill>
                  <a:srgbClr val="002060"/>
                </a:solidFill>
                <a:latin typeface="微軟正黑體" panose="020B0604030504040204" pitchFamily="34" charset="-120"/>
                <a:ea typeface="微軟正黑體" panose="020B0604030504040204" pitchFamily="34" charset="-120"/>
              </a:rPr>
              <a:t>外，期許各界共同為營造兩性平權友善職場而努力。</a:t>
            </a:r>
            <a:br>
              <a:rPr lang="zh-TW" altLang="en-US" sz="2800" dirty="0">
                <a:solidFill>
                  <a:srgbClr val="002060"/>
                </a:solidFill>
                <a:latin typeface="微軟正黑體" panose="020B0604030504040204" pitchFamily="34" charset="-120"/>
                <a:ea typeface="微軟正黑體" panose="020B0604030504040204" pitchFamily="34" charset="-120"/>
              </a:rPr>
            </a:br>
            <a:r>
              <a:rPr lang="zh-TW" altLang="en-US" sz="3200" dirty="0">
                <a:latin typeface="微軟正黑體" panose="020B0604030504040204" pitchFamily="34" charset="-120"/>
                <a:ea typeface="微軟正黑體" panose="020B0604030504040204" pitchFamily="34" charset="-120"/>
              </a:rPr>
              <a:t>　　　　　　　　</a:t>
            </a:r>
            <a:endParaRPr lang="en-US" altLang="zh-TW" sz="1800" dirty="0">
              <a:latin typeface="微軟正黑體" panose="020B0604030504040204" pitchFamily="34" charset="-120"/>
              <a:ea typeface="微軟正黑體" panose="020B0604030504040204" pitchFamily="34" charset="-120"/>
            </a:endParaRP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651A8E54-B81A-AB95-B49E-1ADA51FCAC36}"/>
              </a:ext>
            </a:extLst>
          </p:cNvPr>
          <p:cNvSpPr>
            <a:spLocks noGrp="1" noChangeArrowheads="1"/>
          </p:cNvSpPr>
          <p:nvPr>
            <p:ph type="title"/>
          </p:nvPr>
        </p:nvSpPr>
        <p:spPr>
          <a:xfrm>
            <a:off x="1350963" y="260350"/>
            <a:ext cx="7793037" cy="1462088"/>
          </a:xfrm>
        </p:spPr>
        <p:txBody>
          <a:bodyPr/>
          <a:lstStyle/>
          <a:p>
            <a:pPr eaLnBrk="1" hangingPunct="1"/>
            <a:r>
              <a:rPr lang="zh-TW" altLang="en-US" dirty="0">
                <a:latin typeface="微軟正黑體" panose="020B0604030504040204" pitchFamily="34" charset="-120"/>
                <a:ea typeface="微軟正黑體" panose="020B0604030504040204" pitchFamily="34" charset="-120"/>
              </a:rPr>
              <a:t>人才培力</a:t>
            </a:r>
            <a:r>
              <a:rPr lang="en-US" altLang="zh-TW" baseline="-25000" dirty="0">
                <a:latin typeface="微軟正黑體" panose="020B0604030504040204" pitchFamily="34" charset="-120"/>
                <a:ea typeface="微軟正黑體" panose="020B0604030504040204" pitchFamily="34" charset="-120"/>
              </a:rPr>
              <a:t>3</a:t>
            </a:r>
          </a:p>
        </p:txBody>
      </p:sp>
      <p:sp>
        <p:nvSpPr>
          <p:cNvPr id="46083" name="Rectangle 4">
            <a:extLst>
              <a:ext uri="{FF2B5EF4-FFF2-40B4-BE49-F238E27FC236}">
                <a16:creationId xmlns:a16="http://schemas.microsoft.com/office/drawing/2014/main" id="{06A83ECB-3310-1912-FABA-E3393B1AAE82}"/>
              </a:ext>
            </a:extLst>
          </p:cNvPr>
          <p:cNvSpPr>
            <a:spLocks noChangeArrowheads="1"/>
          </p:cNvSpPr>
          <p:nvPr/>
        </p:nvSpPr>
        <p:spPr bwMode="auto">
          <a:xfrm>
            <a:off x="827088" y="2082800"/>
            <a:ext cx="7777162" cy="440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ahoma" panose="020B0604030504040204" pitchFamily="34" charset="0"/>
                <a:ea typeface="標楷體" panose="03000509000000000000" pitchFamily="65" charset="-120"/>
              </a:defRPr>
            </a:lvl1pPr>
            <a:lvl2pPr marL="742950" indent="-285750" eaLnBrk="0" hangingPunct="0">
              <a:defRPr kumimoji="1" sz="2400">
                <a:solidFill>
                  <a:schemeClr val="tx1"/>
                </a:solidFill>
                <a:latin typeface="Tahoma" panose="020B0604030504040204" pitchFamily="34" charset="0"/>
                <a:ea typeface="標楷體" panose="03000509000000000000" pitchFamily="65" charset="-120"/>
              </a:defRPr>
            </a:lvl2pPr>
            <a:lvl3pPr marL="1143000" indent="-228600" eaLnBrk="0" hangingPunct="0">
              <a:defRPr kumimoji="1" sz="2400">
                <a:solidFill>
                  <a:schemeClr val="tx1"/>
                </a:solidFill>
                <a:latin typeface="Tahoma" panose="020B0604030504040204" pitchFamily="34" charset="0"/>
                <a:ea typeface="標楷體" panose="03000509000000000000" pitchFamily="65" charset="-120"/>
              </a:defRPr>
            </a:lvl3pPr>
            <a:lvl4pPr marL="1600200" indent="-228600" eaLnBrk="0" hangingPunct="0">
              <a:defRPr kumimoji="1" sz="2400">
                <a:solidFill>
                  <a:schemeClr val="tx1"/>
                </a:solidFill>
                <a:latin typeface="Tahoma" panose="020B0604030504040204" pitchFamily="34" charset="0"/>
                <a:ea typeface="標楷體" panose="03000509000000000000" pitchFamily="65" charset="-120"/>
              </a:defRPr>
            </a:lvl4pPr>
            <a:lvl5pPr marL="2057400" indent="-228600" eaLnBrk="0" hangingPunct="0">
              <a:defRPr kumimoji="1" sz="24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9pPr>
          </a:lstStyle>
          <a:p>
            <a:pPr marL="457200" indent="-457200" eaLnBrk="1" hangingPunct="1">
              <a:buFont typeface="Wingdings" panose="05000000000000000000" pitchFamily="2" charset="2"/>
              <a:buChar char="l"/>
            </a:pPr>
            <a:r>
              <a:rPr lang="zh-TW" altLang="en-US" sz="3200" dirty="0">
                <a:solidFill>
                  <a:schemeClr val="tx2"/>
                </a:solidFill>
                <a:latin typeface="微軟正黑體" panose="020B0604030504040204" pitchFamily="34" charset="-120"/>
                <a:ea typeface="微軟正黑體" panose="020B0604030504040204" pitchFamily="34" charset="-120"/>
              </a:rPr>
              <a:t>教部修法　明訂大學校長遴選委員會性別比例</a:t>
            </a:r>
          </a:p>
          <a:p>
            <a:pPr eaLnBrk="1" hangingPunct="1"/>
            <a:r>
              <a:rPr lang="zh-TW" altLang="en-US" sz="3200" dirty="0">
                <a:latin typeface="微軟正黑體" panose="020B0604030504040204" pitchFamily="34" charset="-120"/>
                <a:ea typeface="微軟正黑體" panose="020B0604030504040204" pitchFamily="34" charset="-120"/>
              </a:rPr>
              <a:t>教育部日前於部務會報中通過大學法修正案，增列大學校長遴選委員會的性別比例，</a:t>
            </a:r>
            <a:r>
              <a:rPr lang="zh-TW" altLang="en-US" sz="3200" dirty="0">
                <a:solidFill>
                  <a:srgbClr val="CC00CC"/>
                </a:solidFill>
                <a:latin typeface="微軟正黑體" panose="020B0604030504040204" pitchFamily="34" charset="-120"/>
                <a:ea typeface="微軟正黑體" panose="020B0604030504040204" pitchFamily="34" charset="-120"/>
              </a:rPr>
              <a:t>單一性別委員人數不得低於三分之一</a:t>
            </a:r>
            <a:r>
              <a:rPr lang="zh-TW" altLang="en-US" sz="3200" dirty="0">
                <a:latin typeface="微軟正黑體" panose="020B0604030504040204" pitchFamily="34" charset="-120"/>
                <a:ea typeface="微軟正黑體" panose="020B0604030504040204" pitchFamily="34" charset="-120"/>
              </a:rPr>
              <a:t>。教育部表示，這是為落實行政院婦女政策白皮書及性別平等教育法精神，回應婦權團體對大學校長遴選性別平等訴求。</a:t>
            </a:r>
            <a:r>
              <a:rPr lang="zh-TW" altLang="en-US" sz="2800"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【2008-09-20/</a:t>
            </a:r>
            <a:r>
              <a:rPr lang="zh-TW" altLang="en-US" dirty="0">
                <a:latin typeface="微軟正黑體" panose="020B0604030504040204" pitchFamily="34" charset="-120"/>
                <a:ea typeface="微軟正黑體" panose="020B0604030504040204" pitchFamily="34" charset="-120"/>
              </a:rPr>
              <a:t>中央社</a:t>
            </a:r>
            <a:r>
              <a:rPr lang="en-US" altLang="zh-TW" dirty="0">
                <a:latin typeface="微軟正黑體" panose="020B0604030504040204" pitchFamily="34" charset="-120"/>
                <a:ea typeface="微軟正黑體" panose="020B0604030504040204" pitchFamily="34" charset="-120"/>
              </a:rPr>
              <a:t>】</a:t>
            </a: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BD6A6633-9E7B-9105-B89B-FF3B0217A4C7}"/>
              </a:ext>
            </a:extLst>
          </p:cNvPr>
          <p:cNvSpPr>
            <a:spLocks noGrp="1" noChangeArrowheads="1"/>
          </p:cNvSpPr>
          <p:nvPr>
            <p:ph type="title"/>
          </p:nvPr>
        </p:nvSpPr>
        <p:spPr/>
        <p:txBody>
          <a:bodyPr/>
          <a:lstStyle/>
          <a:p>
            <a:pPr eaLnBrk="1" hangingPunct="1"/>
            <a:r>
              <a:rPr lang="zh-TW" altLang="en-US" dirty="0">
                <a:solidFill>
                  <a:srgbClr val="002060"/>
                </a:solidFill>
                <a:latin typeface="微軟正黑體" panose="020B0604030504040204" pitchFamily="34" charset="-120"/>
                <a:ea typeface="微軟正黑體" panose="020B0604030504040204" pitchFamily="34" charset="-120"/>
              </a:rPr>
              <a:t>專責機制</a:t>
            </a:r>
          </a:p>
        </p:txBody>
      </p:sp>
      <p:sp>
        <p:nvSpPr>
          <p:cNvPr id="47107" name="Rectangle 3">
            <a:extLst>
              <a:ext uri="{FF2B5EF4-FFF2-40B4-BE49-F238E27FC236}">
                <a16:creationId xmlns:a16="http://schemas.microsoft.com/office/drawing/2014/main" id="{69396230-446F-00E2-6011-83BB23456848}"/>
              </a:ext>
            </a:extLst>
          </p:cNvPr>
          <p:cNvSpPr>
            <a:spLocks noGrp="1" noChangeArrowheads="1"/>
          </p:cNvSpPr>
          <p:nvPr>
            <p:ph idx="1"/>
          </p:nvPr>
        </p:nvSpPr>
        <p:spPr>
          <a:xfrm>
            <a:off x="1182688" y="2017713"/>
            <a:ext cx="6773862" cy="4114800"/>
          </a:xfrm>
        </p:spPr>
        <p:txBody>
          <a:bodyPr/>
          <a:lstStyle/>
          <a:p>
            <a:pPr eaLnBrk="1" hangingPunct="1"/>
            <a:r>
              <a:rPr lang="zh-TW" altLang="en-US" dirty="0">
                <a:solidFill>
                  <a:srgbClr val="CC00CC"/>
                </a:solidFill>
                <a:latin typeface="微軟正黑體" panose="020B0604030504040204" pitchFamily="34" charset="-120"/>
                <a:ea typeface="微軟正黑體" panose="020B0604030504040204" pitchFamily="34" charset="-120"/>
              </a:rPr>
              <a:t>之前</a:t>
            </a:r>
          </a:p>
          <a:p>
            <a:pPr eaLnBrk="1" hangingPunct="1">
              <a:buFont typeface="Wingdings" panose="05000000000000000000" pitchFamily="2" charset="2"/>
              <a:buNone/>
            </a:pPr>
            <a:r>
              <a:rPr lang="zh-TW" altLang="en-US" dirty="0">
                <a:latin typeface="微軟正黑體" panose="020B0604030504040204" pitchFamily="34" charset="-120"/>
                <a:ea typeface="微軟正黑體" panose="020B0604030504040204" pitchFamily="34" charset="-120"/>
              </a:rPr>
              <a:t>  </a:t>
            </a:r>
            <a:r>
              <a:rPr lang="zh-TW" altLang="en-US" dirty="0">
                <a:solidFill>
                  <a:srgbClr val="002060"/>
                </a:solidFill>
                <a:latin typeface="微軟正黑體" panose="020B0604030504040204" pitchFamily="34" charset="-120"/>
                <a:ea typeface="微軟正黑體" panose="020B0604030504040204" pitchFamily="34" charset="-120"/>
              </a:rPr>
              <a:t>行政院婦女權益促進委員會</a:t>
            </a:r>
          </a:p>
          <a:p>
            <a:pPr eaLnBrk="1" hangingPunct="1"/>
            <a:r>
              <a:rPr lang="zh-TW" altLang="en-US" dirty="0">
                <a:solidFill>
                  <a:srgbClr val="CC00CC"/>
                </a:solidFill>
                <a:latin typeface="微軟正黑體" panose="020B0604030504040204" pitchFamily="34" charset="-120"/>
                <a:ea typeface="微軟正黑體" panose="020B0604030504040204" pitchFamily="34" charset="-120"/>
              </a:rPr>
              <a:t>目前</a:t>
            </a:r>
          </a:p>
          <a:p>
            <a:pPr eaLnBrk="1" hangingPunct="1">
              <a:buFont typeface="Wingdings" panose="05000000000000000000" pitchFamily="2" charset="2"/>
              <a:buNone/>
            </a:pPr>
            <a:r>
              <a:rPr lang="zh-TW" altLang="en-US" dirty="0">
                <a:latin typeface="微軟正黑體" panose="020B0604030504040204" pitchFamily="34" charset="-120"/>
                <a:ea typeface="微軟正黑體" panose="020B0604030504040204" pitchFamily="34" charset="-120"/>
              </a:rPr>
              <a:t>  </a:t>
            </a:r>
            <a:r>
              <a:rPr lang="zh-TW" altLang="en-US" dirty="0">
                <a:solidFill>
                  <a:srgbClr val="002060"/>
                </a:solidFill>
                <a:latin typeface="微軟正黑體" panose="020B0604030504040204" pitchFamily="34" charset="-120"/>
                <a:ea typeface="微軟正黑體" panose="020B0604030504040204" pitchFamily="34" charset="-120"/>
              </a:rPr>
              <a:t>行政院性別平等處</a:t>
            </a:r>
          </a:p>
          <a:p>
            <a:pPr eaLnBrk="1" hangingPunct="1">
              <a:buFont typeface="Wingdings" panose="05000000000000000000" pitchFamily="2" charset="2"/>
              <a:buNone/>
            </a:pPr>
            <a:r>
              <a:rPr lang="zh-TW" altLang="en-US" dirty="0">
                <a:solidFill>
                  <a:srgbClr val="002060"/>
                </a:solidFill>
                <a:latin typeface="微軟正黑體" panose="020B0604030504040204" pitchFamily="34" charset="-120"/>
                <a:ea typeface="微軟正黑體" panose="020B0604030504040204" pitchFamily="34" charset="-120"/>
              </a:rPr>
              <a:t>  地方政府性別平等辦公室</a:t>
            </a: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42066B93-967C-E05E-4744-ABEA570CB393}"/>
              </a:ext>
            </a:extLst>
          </p:cNvPr>
          <p:cNvSpPr>
            <a:spLocks noGrp="1" noChangeArrowheads="1"/>
          </p:cNvSpPr>
          <p:nvPr>
            <p:ph type="title"/>
          </p:nvPr>
        </p:nvSpPr>
        <p:spPr/>
        <p:txBody>
          <a:bodyPr/>
          <a:lstStyle/>
          <a:p>
            <a:pPr eaLnBrk="1" hangingPunct="1"/>
            <a:r>
              <a:rPr lang="zh-TW" altLang="en-US" dirty="0">
                <a:latin typeface="微軟正黑體" panose="020B0604030504040204" pitchFamily="34" charset="-120"/>
                <a:ea typeface="微軟正黑體" panose="020B0604030504040204" pitchFamily="34" charset="-120"/>
              </a:rPr>
              <a:t>性別與教育</a:t>
            </a:r>
          </a:p>
        </p:txBody>
      </p:sp>
      <p:sp>
        <p:nvSpPr>
          <p:cNvPr id="48131" name="Rectangle 3">
            <a:extLst>
              <a:ext uri="{FF2B5EF4-FFF2-40B4-BE49-F238E27FC236}">
                <a16:creationId xmlns:a16="http://schemas.microsoft.com/office/drawing/2014/main" id="{B1102726-A63C-B681-CB68-A41815CEC7B8}"/>
              </a:ext>
            </a:extLst>
          </p:cNvPr>
          <p:cNvSpPr>
            <a:spLocks noGrp="1" noChangeArrowheads="1"/>
          </p:cNvSpPr>
          <p:nvPr>
            <p:ph idx="1"/>
          </p:nvPr>
        </p:nvSpPr>
        <p:spPr>
          <a:xfrm>
            <a:off x="1182688" y="2017713"/>
            <a:ext cx="7277100" cy="4114800"/>
          </a:xfrm>
        </p:spPr>
        <p:txBody>
          <a:bodyPr/>
          <a:lstStyle/>
          <a:p>
            <a:pPr eaLnBrk="1" hangingPunct="1"/>
            <a:r>
              <a:rPr lang="zh-TW" altLang="en-US" sz="3700" dirty="0">
                <a:solidFill>
                  <a:srgbClr val="002060"/>
                </a:solidFill>
                <a:latin typeface="微軟正黑體" panose="020B0604030504040204" pitchFamily="34" charset="-120"/>
                <a:ea typeface="微軟正黑體" panose="020B0604030504040204" pitchFamily="34" charset="-120"/>
              </a:rPr>
              <a:t>性別平等教育法</a:t>
            </a:r>
          </a:p>
          <a:p>
            <a:pPr eaLnBrk="1" hangingPunct="1">
              <a:buFont typeface="Wingdings" panose="05000000000000000000" pitchFamily="2" charset="2"/>
              <a:buNone/>
            </a:pPr>
            <a:r>
              <a:rPr lang="zh-TW" altLang="en-US" sz="3700" dirty="0">
                <a:latin typeface="微軟正黑體" panose="020B0604030504040204" pitchFamily="34" charset="-120"/>
                <a:ea typeface="微軟正黑體" panose="020B0604030504040204" pitchFamily="34" charset="-120"/>
              </a:rPr>
              <a:t>  </a:t>
            </a:r>
            <a:r>
              <a:rPr lang="zh-TW" altLang="en-US" sz="3700" dirty="0">
                <a:solidFill>
                  <a:srgbClr val="002060"/>
                </a:solidFill>
                <a:latin typeface="微軟正黑體" panose="020B0604030504040204" pitchFamily="34" charset="-120"/>
                <a:ea typeface="微軟正黑體" panose="020B0604030504040204" pitchFamily="34" charset="-120"/>
              </a:rPr>
              <a:t>消極目標</a:t>
            </a:r>
            <a:r>
              <a:rPr lang="en-US" altLang="zh-TW" sz="3700" dirty="0">
                <a:solidFill>
                  <a:srgbClr val="002060"/>
                </a:solidFill>
                <a:latin typeface="微軟正黑體" panose="020B0604030504040204" pitchFamily="34" charset="-120"/>
                <a:ea typeface="微軟正黑體" panose="020B0604030504040204" pitchFamily="34" charset="-120"/>
              </a:rPr>
              <a:t>: </a:t>
            </a:r>
            <a:r>
              <a:rPr lang="zh-TW" altLang="en-US" sz="3700" dirty="0">
                <a:solidFill>
                  <a:srgbClr val="002060"/>
                </a:solidFill>
                <a:latin typeface="微軟正黑體" panose="020B0604030504040204" pitchFamily="34" charset="-120"/>
                <a:ea typeface="微軟正黑體" panose="020B0604030504040204" pitchFamily="34" charset="-120"/>
              </a:rPr>
              <a:t>禁止</a:t>
            </a:r>
            <a:r>
              <a:rPr lang="zh-TW" altLang="en-US" sz="3700" dirty="0">
                <a:solidFill>
                  <a:srgbClr val="CC00CC"/>
                </a:solidFill>
                <a:latin typeface="微軟正黑體" panose="020B0604030504040204" pitchFamily="34" charset="-120"/>
                <a:ea typeface="微軟正黑體" panose="020B0604030504040204" pitchFamily="34" charset="-120"/>
              </a:rPr>
              <a:t>性別歧視</a:t>
            </a:r>
          </a:p>
          <a:p>
            <a:pPr eaLnBrk="1" hangingPunct="1">
              <a:buFont typeface="Wingdings" panose="05000000000000000000" pitchFamily="2" charset="2"/>
              <a:buNone/>
            </a:pPr>
            <a:r>
              <a:rPr lang="zh-TW" altLang="en-US" sz="3700" dirty="0">
                <a:latin typeface="微軟正黑體" panose="020B0604030504040204" pitchFamily="34" charset="-120"/>
                <a:ea typeface="微軟正黑體" panose="020B0604030504040204" pitchFamily="34" charset="-120"/>
              </a:rPr>
              <a:t>  </a:t>
            </a:r>
            <a:r>
              <a:rPr lang="zh-TW" altLang="en-US" sz="3700" dirty="0">
                <a:solidFill>
                  <a:srgbClr val="002060"/>
                </a:solidFill>
                <a:latin typeface="微軟正黑體" panose="020B0604030504040204" pitchFamily="34" charset="-120"/>
                <a:ea typeface="微軟正黑體" panose="020B0604030504040204" pitchFamily="34" charset="-120"/>
              </a:rPr>
              <a:t>積極目標</a:t>
            </a:r>
            <a:r>
              <a:rPr lang="en-US" altLang="zh-TW" sz="3700" dirty="0">
                <a:solidFill>
                  <a:srgbClr val="002060"/>
                </a:solidFill>
                <a:latin typeface="微軟正黑體" panose="020B0604030504040204" pitchFamily="34" charset="-120"/>
                <a:ea typeface="微軟正黑體" panose="020B0604030504040204" pitchFamily="34" charset="-120"/>
              </a:rPr>
              <a:t>: </a:t>
            </a:r>
            <a:r>
              <a:rPr lang="zh-TW" altLang="en-US" sz="3700" dirty="0">
                <a:solidFill>
                  <a:srgbClr val="002060"/>
                </a:solidFill>
                <a:latin typeface="微軟正黑體" panose="020B0604030504040204" pitchFamily="34" charset="-120"/>
                <a:ea typeface="微軟正黑體" panose="020B0604030504040204" pitchFamily="34" charset="-120"/>
              </a:rPr>
              <a:t>鼓勵</a:t>
            </a:r>
            <a:r>
              <a:rPr lang="zh-TW" altLang="en-US" sz="3700" dirty="0">
                <a:solidFill>
                  <a:srgbClr val="CC00CC"/>
                </a:solidFill>
                <a:latin typeface="微軟正黑體" panose="020B0604030504040204" pitchFamily="34" charset="-120"/>
                <a:ea typeface="微軟正黑體" panose="020B0604030504040204" pitchFamily="34" charset="-120"/>
              </a:rPr>
              <a:t>平等</a:t>
            </a:r>
            <a:r>
              <a:rPr lang="zh-TW" altLang="en-US" sz="3700" dirty="0">
                <a:latin typeface="微軟正黑體" panose="020B0604030504040204" pitchFamily="34" charset="-120"/>
                <a:ea typeface="微軟正黑體" panose="020B0604030504040204" pitchFamily="34" charset="-120"/>
              </a:rPr>
              <a:t>與</a:t>
            </a:r>
            <a:r>
              <a:rPr lang="zh-TW" altLang="en-US" sz="3700" dirty="0">
                <a:solidFill>
                  <a:srgbClr val="CC00CC"/>
                </a:solidFill>
                <a:latin typeface="微軟正黑體" panose="020B0604030504040204" pitchFamily="34" charset="-120"/>
                <a:ea typeface="微軟正黑體" panose="020B0604030504040204" pitchFamily="34" charset="-120"/>
              </a:rPr>
              <a:t>多元</a:t>
            </a:r>
          </a:p>
          <a:p>
            <a:pPr eaLnBrk="1" hangingPunct="1">
              <a:buFont typeface="Wingdings" panose="05000000000000000000" pitchFamily="2" charset="2"/>
              <a:buNone/>
            </a:pPr>
            <a:r>
              <a:rPr lang="zh-TW" altLang="en-US" sz="3700" dirty="0">
                <a:latin typeface="微軟正黑體" panose="020B0604030504040204" pitchFamily="34" charset="-120"/>
                <a:ea typeface="微軟正黑體" panose="020B0604030504040204" pitchFamily="34" charset="-120"/>
              </a:rPr>
              <a:t>  </a:t>
            </a:r>
            <a:r>
              <a:rPr lang="zh-TW" altLang="en-US" sz="3700" dirty="0">
                <a:solidFill>
                  <a:srgbClr val="002060"/>
                </a:solidFill>
                <a:latin typeface="微軟正黑體" panose="020B0604030504040204" pitchFamily="34" charset="-120"/>
                <a:ea typeface="微軟正黑體" panose="020B0604030504040204" pitchFamily="34" charset="-120"/>
              </a:rPr>
              <a:t>特殊關切</a:t>
            </a:r>
            <a:r>
              <a:rPr lang="en-US" altLang="zh-TW" sz="3700" dirty="0">
                <a:latin typeface="微軟正黑體" panose="020B0604030504040204" pitchFamily="34" charset="-120"/>
                <a:ea typeface="微軟正黑體" panose="020B0604030504040204" pitchFamily="34" charset="-120"/>
              </a:rPr>
              <a:t>: </a:t>
            </a:r>
            <a:r>
              <a:rPr lang="zh-TW" altLang="en-US" sz="3700" dirty="0">
                <a:solidFill>
                  <a:srgbClr val="CC00CC"/>
                </a:solidFill>
                <a:latin typeface="微軟正黑體" panose="020B0604030504040204" pitchFamily="34" charset="-120"/>
                <a:ea typeface="微軟正黑體" panose="020B0604030504040204" pitchFamily="34" charset="-120"/>
              </a:rPr>
              <a:t>性騷擾性侵害</a:t>
            </a:r>
            <a:r>
              <a:rPr lang="zh-TW" altLang="en-US" sz="3700" dirty="0">
                <a:latin typeface="微軟正黑體" panose="020B0604030504040204" pitchFamily="34" charset="-120"/>
                <a:ea typeface="微軟正黑體" panose="020B0604030504040204" pitchFamily="34" charset="-120"/>
              </a:rPr>
              <a:t>之</a:t>
            </a:r>
            <a:r>
              <a:rPr lang="zh-TW" altLang="en-US" sz="3700" dirty="0">
                <a:solidFill>
                  <a:srgbClr val="CC00CC"/>
                </a:solidFill>
                <a:latin typeface="微軟正黑體" panose="020B0604030504040204" pitchFamily="34" charset="-120"/>
                <a:ea typeface="微軟正黑體" panose="020B0604030504040204" pitchFamily="34" charset="-120"/>
              </a:rPr>
              <a:t>防治</a:t>
            </a: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65F18449-013A-89F1-5253-78014450C5F5}"/>
              </a:ext>
            </a:extLst>
          </p:cNvPr>
          <p:cNvSpPr>
            <a:spLocks noGrp="1" noChangeArrowheads="1"/>
          </p:cNvSpPr>
          <p:nvPr>
            <p:ph idx="1"/>
          </p:nvPr>
        </p:nvSpPr>
        <p:spPr>
          <a:xfrm>
            <a:off x="468312" y="765175"/>
            <a:ext cx="8784207" cy="5688161"/>
          </a:xfrm>
        </p:spPr>
        <p:txBody>
          <a:bodyPr/>
          <a:lstStyle/>
          <a:p>
            <a:pPr>
              <a:lnSpc>
                <a:spcPct val="115000"/>
              </a:lnSpc>
              <a:buFont typeface="Wingdings" panose="05000000000000000000" pitchFamily="2" charset="2"/>
              <a:buNone/>
            </a:pPr>
            <a:r>
              <a:rPr kumimoji="0" lang="zh-TW" altLang="en-US" sz="3600" dirty="0">
                <a:latin typeface="新細明體" panose="02020500000000000000" pitchFamily="18" charset="-120"/>
              </a:rPr>
              <a:t>       </a:t>
            </a:r>
            <a:r>
              <a:rPr kumimoji="0" lang="zh-TW" altLang="en-US" sz="3600" dirty="0">
                <a:solidFill>
                  <a:srgbClr val="C00000"/>
                </a:solidFill>
                <a:latin typeface="微軟正黑體" panose="020B0604030504040204" pitchFamily="34" charset="-120"/>
                <a:ea typeface="微軟正黑體" panose="020B0604030504040204" pitchFamily="34" charset="-120"/>
              </a:rPr>
              <a:t>性別平等相關法案</a:t>
            </a:r>
          </a:p>
          <a:p>
            <a:pPr>
              <a:lnSpc>
                <a:spcPct val="115000"/>
              </a:lnSpc>
              <a:buFont typeface="Wingdings" panose="05000000000000000000" pitchFamily="2" charset="2"/>
              <a:buNone/>
            </a:pPr>
            <a:endParaRPr kumimoji="0" lang="zh-TW" altLang="en-US" sz="2800" dirty="0">
              <a:solidFill>
                <a:schemeClr val="folHlink"/>
              </a:solidFill>
              <a:latin typeface="標楷體" panose="03000509000000000000" pitchFamily="65" charset="-120"/>
              <a:ea typeface="標楷體" panose="03000509000000000000" pitchFamily="65" charset="-120"/>
            </a:endParaRPr>
          </a:p>
          <a:p>
            <a:pPr>
              <a:lnSpc>
                <a:spcPct val="115000"/>
              </a:lnSpc>
              <a:buFont typeface="Wingdings" panose="05000000000000000000" pitchFamily="2" charset="2"/>
              <a:buNone/>
            </a:pPr>
            <a:r>
              <a:rPr kumimoji="0" lang="zh-TW" altLang="en-US" sz="2800" dirty="0">
                <a:solidFill>
                  <a:srgbClr val="002060"/>
                </a:solidFill>
                <a:latin typeface="微軟正黑體" panose="020B0604030504040204" pitchFamily="34" charset="-120"/>
                <a:ea typeface="微軟正黑體" panose="020B0604030504040204" pitchFamily="34" charset="-120"/>
              </a:rPr>
              <a:t> </a:t>
            </a:r>
            <a:r>
              <a:rPr kumimoji="0" lang="en-US" altLang="zh-TW" sz="2800" dirty="0">
                <a:solidFill>
                  <a:srgbClr val="002060"/>
                </a:solidFill>
                <a:latin typeface="微軟正黑體" panose="020B0604030504040204" pitchFamily="34" charset="-120"/>
                <a:ea typeface="微軟正黑體" panose="020B0604030504040204" pitchFamily="34" charset="-120"/>
              </a:rPr>
              <a:t>(</a:t>
            </a:r>
            <a:r>
              <a:rPr kumimoji="0" lang="zh-TW" altLang="en-US" sz="2800" dirty="0">
                <a:solidFill>
                  <a:srgbClr val="002060"/>
                </a:solidFill>
                <a:latin typeface="微軟正黑體" panose="020B0604030504040204" pitchFamily="34" charset="-120"/>
                <a:ea typeface="微軟正黑體" panose="020B0604030504040204" pitchFamily="34" charset="-120"/>
              </a:rPr>
              <a:t>一</a:t>
            </a:r>
            <a:r>
              <a:rPr kumimoji="0" lang="en-US" altLang="zh-TW" sz="2800" dirty="0">
                <a:solidFill>
                  <a:srgbClr val="002060"/>
                </a:solidFill>
                <a:latin typeface="微軟正黑體" panose="020B0604030504040204" pitchFamily="34" charset="-120"/>
                <a:ea typeface="微軟正黑體" panose="020B0604030504040204" pitchFamily="34" charset="-120"/>
              </a:rPr>
              <a:t>)</a:t>
            </a:r>
            <a:r>
              <a:rPr kumimoji="0" lang="zh-TW" altLang="en-US" sz="2800" dirty="0">
                <a:solidFill>
                  <a:srgbClr val="002060"/>
                </a:solidFill>
                <a:latin typeface="微軟正黑體" panose="020B0604030504040204" pitchFamily="34" charset="-120"/>
                <a:ea typeface="微軟正黑體" panose="020B0604030504040204" pitchFamily="34" charset="-120"/>
              </a:rPr>
              <a:t>性侵害犯罪防治法</a:t>
            </a:r>
            <a:r>
              <a:rPr kumimoji="0" lang="en-US" altLang="zh-TW" sz="2800" dirty="0">
                <a:solidFill>
                  <a:srgbClr val="002060"/>
                </a:solidFill>
                <a:latin typeface="微軟正黑體" panose="020B0604030504040204" pitchFamily="34" charset="-120"/>
                <a:ea typeface="微軟正黑體" panose="020B0604030504040204" pitchFamily="34" charset="-120"/>
              </a:rPr>
              <a:t>(</a:t>
            </a:r>
            <a:r>
              <a:rPr kumimoji="0" lang="zh-TW" altLang="en-US" sz="2800" dirty="0">
                <a:solidFill>
                  <a:srgbClr val="002060"/>
                </a:solidFill>
                <a:latin typeface="微軟正黑體" panose="020B0604030504040204" pitchFamily="34" charset="-120"/>
                <a:ea typeface="微軟正黑體" panose="020B0604030504040204" pitchFamily="34" charset="-120"/>
              </a:rPr>
              <a:t>民</a:t>
            </a:r>
            <a:r>
              <a:rPr kumimoji="0" lang="en-US" altLang="zh-TW" sz="2800" dirty="0">
                <a:solidFill>
                  <a:srgbClr val="002060"/>
                </a:solidFill>
                <a:latin typeface="微軟正黑體" panose="020B0604030504040204" pitchFamily="34" charset="-120"/>
                <a:ea typeface="微軟正黑體" panose="020B0604030504040204" pitchFamily="34" charset="-120"/>
              </a:rPr>
              <a:t>86)</a:t>
            </a:r>
          </a:p>
          <a:p>
            <a:pPr>
              <a:lnSpc>
                <a:spcPct val="115000"/>
              </a:lnSpc>
              <a:buFont typeface="Wingdings" panose="05000000000000000000" pitchFamily="2" charset="2"/>
              <a:buNone/>
            </a:pPr>
            <a:r>
              <a:rPr kumimoji="0" lang="en-US" altLang="zh-TW" sz="2800" dirty="0">
                <a:solidFill>
                  <a:srgbClr val="002060"/>
                </a:solidFill>
                <a:latin typeface="微軟正黑體" panose="020B0604030504040204" pitchFamily="34" charset="-120"/>
                <a:ea typeface="微軟正黑體" panose="020B0604030504040204" pitchFamily="34" charset="-120"/>
              </a:rPr>
              <a:t>  (</a:t>
            </a:r>
            <a:r>
              <a:rPr kumimoji="0" lang="zh-TW" altLang="en-US" sz="2800" dirty="0">
                <a:solidFill>
                  <a:srgbClr val="002060"/>
                </a:solidFill>
                <a:latin typeface="微軟正黑體" panose="020B0604030504040204" pitchFamily="34" charset="-120"/>
                <a:ea typeface="微軟正黑體" panose="020B0604030504040204" pitchFamily="34" charset="-120"/>
              </a:rPr>
              <a:t>二</a:t>
            </a:r>
            <a:r>
              <a:rPr kumimoji="0" lang="en-US" altLang="zh-TW" sz="2800" dirty="0">
                <a:solidFill>
                  <a:srgbClr val="002060"/>
                </a:solidFill>
                <a:latin typeface="微軟正黑體" panose="020B0604030504040204" pitchFamily="34" charset="-120"/>
                <a:ea typeface="微軟正黑體" panose="020B0604030504040204" pitchFamily="34" charset="-120"/>
              </a:rPr>
              <a:t>)</a:t>
            </a:r>
            <a:r>
              <a:rPr kumimoji="0" lang="zh-TW" altLang="en-US" sz="2800" dirty="0">
                <a:solidFill>
                  <a:srgbClr val="002060"/>
                </a:solidFill>
                <a:latin typeface="微軟正黑體" panose="020B0604030504040204" pitchFamily="34" charset="-120"/>
                <a:ea typeface="微軟正黑體" panose="020B0604030504040204" pitchFamily="34" charset="-120"/>
              </a:rPr>
              <a:t>家庭暴力防治法</a:t>
            </a:r>
            <a:r>
              <a:rPr kumimoji="0" lang="en-US" altLang="zh-TW" sz="2800" dirty="0">
                <a:solidFill>
                  <a:srgbClr val="002060"/>
                </a:solidFill>
                <a:latin typeface="微軟正黑體" panose="020B0604030504040204" pitchFamily="34" charset="-120"/>
                <a:ea typeface="微軟正黑體" panose="020B0604030504040204" pitchFamily="34" charset="-120"/>
              </a:rPr>
              <a:t>(</a:t>
            </a:r>
            <a:r>
              <a:rPr kumimoji="0" lang="zh-TW" altLang="en-US" sz="2800" dirty="0">
                <a:solidFill>
                  <a:srgbClr val="002060"/>
                </a:solidFill>
                <a:latin typeface="微軟正黑體" panose="020B0604030504040204" pitchFamily="34" charset="-120"/>
                <a:ea typeface="微軟正黑體" panose="020B0604030504040204" pitchFamily="34" charset="-120"/>
              </a:rPr>
              <a:t>民</a:t>
            </a:r>
            <a:r>
              <a:rPr kumimoji="0" lang="en-US" altLang="zh-TW" sz="2800" dirty="0">
                <a:solidFill>
                  <a:srgbClr val="002060"/>
                </a:solidFill>
                <a:latin typeface="微軟正黑體" panose="020B0604030504040204" pitchFamily="34" charset="-120"/>
                <a:ea typeface="微軟正黑體" panose="020B0604030504040204" pitchFamily="34" charset="-120"/>
              </a:rPr>
              <a:t>87)</a:t>
            </a:r>
          </a:p>
          <a:p>
            <a:pPr>
              <a:lnSpc>
                <a:spcPct val="115000"/>
              </a:lnSpc>
              <a:buFont typeface="Wingdings" panose="05000000000000000000" pitchFamily="2" charset="2"/>
              <a:buNone/>
            </a:pPr>
            <a:r>
              <a:rPr kumimoji="0" lang="en-US" altLang="zh-TW" sz="2800" dirty="0">
                <a:solidFill>
                  <a:srgbClr val="002060"/>
                </a:solidFill>
                <a:latin typeface="微軟正黑體" panose="020B0604030504040204" pitchFamily="34" charset="-120"/>
                <a:ea typeface="微軟正黑體" panose="020B0604030504040204" pitchFamily="34" charset="-120"/>
              </a:rPr>
              <a:t>  (</a:t>
            </a:r>
            <a:r>
              <a:rPr kumimoji="0" lang="zh-TW" altLang="en-US" sz="2800" dirty="0">
                <a:solidFill>
                  <a:srgbClr val="002060"/>
                </a:solidFill>
                <a:latin typeface="微軟正黑體" panose="020B0604030504040204" pitchFamily="34" charset="-120"/>
                <a:ea typeface="微軟正黑體" panose="020B0604030504040204" pitchFamily="34" charset="-120"/>
              </a:rPr>
              <a:t>三</a:t>
            </a:r>
            <a:r>
              <a:rPr kumimoji="0" lang="en-US" altLang="zh-TW" sz="2800" dirty="0">
                <a:solidFill>
                  <a:srgbClr val="002060"/>
                </a:solidFill>
                <a:latin typeface="微軟正黑體" panose="020B0604030504040204" pitchFamily="34" charset="-120"/>
                <a:ea typeface="微軟正黑體" panose="020B0604030504040204" pitchFamily="34" charset="-120"/>
              </a:rPr>
              <a:t>)</a:t>
            </a:r>
            <a:r>
              <a:rPr kumimoji="0" lang="zh-TW" altLang="en-US" sz="2800" dirty="0">
                <a:solidFill>
                  <a:srgbClr val="002060"/>
                </a:solidFill>
                <a:latin typeface="微軟正黑體" panose="020B0604030504040204" pitchFamily="34" charset="-120"/>
                <a:ea typeface="微軟正黑體" panose="020B0604030504040204" pitchFamily="34" charset="-120"/>
              </a:rPr>
              <a:t>兩性工作平等法</a:t>
            </a:r>
            <a:r>
              <a:rPr kumimoji="0" lang="en-US" altLang="zh-TW" sz="2800" dirty="0">
                <a:solidFill>
                  <a:srgbClr val="002060"/>
                </a:solidFill>
                <a:latin typeface="微軟正黑體" panose="020B0604030504040204" pitchFamily="34" charset="-120"/>
                <a:ea typeface="微軟正黑體" panose="020B0604030504040204" pitchFamily="34" charset="-120"/>
              </a:rPr>
              <a:t>(</a:t>
            </a:r>
            <a:r>
              <a:rPr kumimoji="0" lang="zh-TW" altLang="en-US" sz="2800" dirty="0">
                <a:solidFill>
                  <a:srgbClr val="002060"/>
                </a:solidFill>
                <a:latin typeface="微軟正黑體" panose="020B0604030504040204" pitchFamily="34" charset="-120"/>
                <a:ea typeface="微軟正黑體" panose="020B0604030504040204" pitchFamily="34" charset="-120"/>
              </a:rPr>
              <a:t>民</a:t>
            </a:r>
            <a:r>
              <a:rPr kumimoji="0" lang="en-US" altLang="zh-TW" sz="2800" dirty="0">
                <a:solidFill>
                  <a:srgbClr val="002060"/>
                </a:solidFill>
                <a:latin typeface="微軟正黑體" panose="020B0604030504040204" pitchFamily="34" charset="-120"/>
                <a:ea typeface="微軟正黑體" panose="020B0604030504040204" pitchFamily="34" charset="-120"/>
              </a:rPr>
              <a:t>91)(97</a:t>
            </a:r>
            <a:r>
              <a:rPr kumimoji="0" lang="zh-TW" altLang="en-US" sz="2800" dirty="0">
                <a:solidFill>
                  <a:srgbClr val="002060"/>
                </a:solidFill>
                <a:latin typeface="微軟正黑體" panose="020B0604030504040204" pitchFamily="34" charset="-120"/>
                <a:ea typeface="微軟正黑體" panose="020B0604030504040204" pitchFamily="34" charset="-120"/>
              </a:rPr>
              <a:t>修正為性別工作平等法</a:t>
            </a:r>
            <a:r>
              <a:rPr kumimoji="0" lang="en-US" altLang="zh-TW" sz="2800" dirty="0">
                <a:solidFill>
                  <a:srgbClr val="002060"/>
                </a:solidFill>
                <a:latin typeface="微軟正黑體" panose="020B0604030504040204" pitchFamily="34" charset="-120"/>
                <a:ea typeface="微軟正黑體" panose="020B0604030504040204" pitchFamily="34" charset="-120"/>
              </a:rPr>
              <a:t>)</a:t>
            </a:r>
          </a:p>
          <a:p>
            <a:pPr>
              <a:lnSpc>
                <a:spcPct val="115000"/>
              </a:lnSpc>
              <a:buFont typeface="Wingdings" panose="05000000000000000000" pitchFamily="2" charset="2"/>
              <a:buNone/>
            </a:pPr>
            <a:r>
              <a:rPr kumimoji="0" lang="en-US" altLang="zh-TW" sz="2800" dirty="0">
                <a:solidFill>
                  <a:srgbClr val="002060"/>
                </a:solidFill>
                <a:latin typeface="微軟正黑體" panose="020B0604030504040204" pitchFamily="34" charset="-120"/>
                <a:ea typeface="微軟正黑體" panose="020B0604030504040204" pitchFamily="34" charset="-120"/>
              </a:rPr>
              <a:t>  (</a:t>
            </a:r>
            <a:r>
              <a:rPr kumimoji="0" lang="zh-TW" altLang="en-US" sz="2800" dirty="0">
                <a:solidFill>
                  <a:srgbClr val="002060"/>
                </a:solidFill>
                <a:latin typeface="微軟正黑體" panose="020B0604030504040204" pitchFamily="34" charset="-120"/>
                <a:ea typeface="微軟正黑體" panose="020B0604030504040204" pitchFamily="34" charset="-120"/>
              </a:rPr>
              <a:t>四</a:t>
            </a:r>
            <a:r>
              <a:rPr kumimoji="0" lang="en-US" altLang="zh-TW" sz="2800" dirty="0">
                <a:solidFill>
                  <a:srgbClr val="002060"/>
                </a:solidFill>
                <a:latin typeface="微軟正黑體" panose="020B0604030504040204" pitchFamily="34" charset="-120"/>
                <a:ea typeface="微軟正黑體" panose="020B0604030504040204" pitchFamily="34" charset="-120"/>
              </a:rPr>
              <a:t>)</a:t>
            </a:r>
            <a:r>
              <a:rPr kumimoji="0" lang="zh-TW" altLang="en-US" sz="2800" dirty="0">
                <a:solidFill>
                  <a:srgbClr val="002060"/>
                </a:solidFill>
                <a:latin typeface="微軟正黑體" panose="020B0604030504040204" pitchFamily="34" charset="-120"/>
                <a:ea typeface="微軟正黑體" panose="020B0604030504040204" pitchFamily="34" charset="-120"/>
              </a:rPr>
              <a:t>性別平等教育法</a:t>
            </a:r>
            <a:r>
              <a:rPr kumimoji="0" lang="en-US" altLang="zh-TW" sz="2800" dirty="0">
                <a:solidFill>
                  <a:srgbClr val="002060"/>
                </a:solidFill>
                <a:latin typeface="微軟正黑體" panose="020B0604030504040204" pitchFamily="34" charset="-120"/>
                <a:ea typeface="微軟正黑體" panose="020B0604030504040204" pitchFamily="34" charset="-120"/>
              </a:rPr>
              <a:t>(</a:t>
            </a:r>
            <a:r>
              <a:rPr kumimoji="0" lang="zh-TW" altLang="en-US" sz="2800" dirty="0">
                <a:solidFill>
                  <a:srgbClr val="002060"/>
                </a:solidFill>
                <a:latin typeface="微軟正黑體" panose="020B0604030504040204" pitchFamily="34" charset="-120"/>
                <a:ea typeface="微軟正黑體" panose="020B0604030504040204" pitchFamily="34" charset="-120"/>
              </a:rPr>
              <a:t>民</a:t>
            </a:r>
            <a:r>
              <a:rPr kumimoji="0" lang="en-US" altLang="zh-TW" sz="2800" dirty="0">
                <a:solidFill>
                  <a:srgbClr val="002060"/>
                </a:solidFill>
                <a:latin typeface="微軟正黑體" panose="020B0604030504040204" pitchFamily="34" charset="-120"/>
                <a:ea typeface="微軟正黑體" panose="020B0604030504040204" pitchFamily="34" charset="-120"/>
              </a:rPr>
              <a:t>93)</a:t>
            </a:r>
            <a:endParaRPr kumimoji="0" lang="zh-TW" altLang="en-US" sz="2800" dirty="0">
              <a:solidFill>
                <a:srgbClr val="002060"/>
              </a:solidFill>
              <a:latin typeface="微軟正黑體" panose="020B0604030504040204" pitchFamily="34" charset="-120"/>
              <a:ea typeface="微軟正黑體" panose="020B0604030504040204" pitchFamily="34" charset="-120"/>
            </a:endParaRPr>
          </a:p>
          <a:p>
            <a:pPr>
              <a:lnSpc>
                <a:spcPct val="115000"/>
              </a:lnSpc>
              <a:buFont typeface="Wingdings" panose="05000000000000000000" pitchFamily="2" charset="2"/>
              <a:buNone/>
            </a:pPr>
            <a:r>
              <a:rPr kumimoji="0" lang="en-US" altLang="zh-TW" sz="2800" dirty="0">
                <a:solidFill>
                  <a:srgbClr val="002060"/>
                </a:solidFill>
                <a:latin typeface="微軟正黑體" panose="020B0604030504040204" pitchFamily="34" charset="-120"/>
                <a:ea typeface="微軟正黑體" panose="020B0604030504040204" pitchFamily="34" charset="-120"/>
              </a:rPr>
              <a:t>  (</a:t>
            </a:r>
            <a:r>
              <a:rPr kumimoji="0" lang="zh-TW" altLang="en-US" sz="2800" dirty="0">
                <a:solidFill>
                  <a:srgbClr val="002060"/>
                </a:solidFill>
                <a:latin typeface="微軟正黑體" panose="020B0604030504040204" pitchFamily="34" charset="-120"/>
                <a:ea typeface="微軟正黑體" panose="020B0604030504040204" pitchFamily="34" charset="-120"/>
              </a:rPr>
              <a:t>五</a:t>
            </a:r>
            <a:r>
              <a:rPr kumimoji="0" lang="en-US" altLang="zh-TW" sz="2800" dirty="0">
                <a:solidFill>
                  <a:srgbClr val="002060"/>
                </a:solidFill>
                <a:latin typeface="微軟正黑體" panose="020B0604030504040204" pitchFamily="34" charset="-120"/>
                <a:ea typeface="微軟正黑體" panose="020B0604030504040204" pitchFamily="34" charset="-120"/>
              </a:rPr>
              <a:t>)</a:t>
            </a:r>
            <a:r>
              <a:rPr kumimoji="0" lang="zh-TW" altLang="en-US" sz="2800" dirty="0">
                <a:solidFill>
                  <a:srgbClr val="002060"/>
                </a:solidFill>
                <a:latin typeface="微軟正黑體" panose="020B0604030504040204" pitchFamily="34" charset="-120"/>
                <a:ea typeface="微軟正黑體" panose="020B0604030504040204" pitchFamily="34" charset="-120"/>
              </a:rPr>
              <a:t>性騷擾防治法</a:t>
            </a:r>
            <a:r>
              <a:rPr kumimoji="0" lang="en-US" altLang="zh-TW" sz="2800" dirty="0">
                <a:solidFill>
                  <a:srgbClr val="002060"/>
                </a:solidFill>
                <a:latin typeface="微軟正黑體" panose="020B0604030504040204" pitchFamily="34" charset="-120"/>
                <a:ea typeface="微軟正黑體" panose="020B0604030504040204" pitchFamily="34" charset="-120"/>
              </a:rPr>
              <a:t>(</a:t>
            </a:r>
            <a:r>
              <a:rPr kumimoji="0" lang="zh-TW" altLang="en-US" sz="2800" dirty="0">
                <a:solidFill>
                  <a:srgbClr val="002060"/>
                </a:solidFill>
                <a:latin typeface="微軟正黑體" panose="020B0604030504040204" pitchFamily="34" charset="-120"/>
                <a:ea typeface="微軟正黑體" panose="020B0604030504040204" pitchFamily="34" charset="-120"/>
              </a:rPr>
              <a:t>民</a:t>
            </a:r>
            <a:r>
              <a:rPr kumimoji="0" lang="en-US" altLang="zh-TW" sz="2800" dirty="0">
                <a:solidFill>
                  <a:srgbClr val="002060"/>
                </a:solidFill>
                <a:latin typeface="微軟正黑體" panose="020B0604030504040204" pitchFamily="34" charset="-120"/>
                <a:ea typeface="微軟正黑體" panose="020B0604030504040204" pitchFamily="34" charset="-120"/>
              </a:rPr>
              <a:t>94)</a:t>
            </a:r>
          </a:p>
          <a:p>
            <a:pPr>
              <a:lnSpc>
                <a:spcPct val="115000"/>
              </a:lnSpc>
              <a:buFont typeface="Wingdings" panose="05000000000000000000" pitchFamily="2" charset="2"/>
              <a:buNone/>
            </a:pPr>
            <a:r>
              <a:rPr kumimoji="0" lang="zh-TW" altLang="en-US" sz="2800" dirty="0">
                <a:solidFill>
                  <a:srgbClr val="002060"/>
                </a:solidFill>
                <a:latin typeface="微軟正黑體" panose="020B0604030504040204" pitchFamily="34" charset="-120"/>
                <a:ea typeface="微軟正黑體" panose="020B0604030504040204" pitchFamily="34" charset="-120"/>
              </a:rPr>
              <a:t>  </a:t>
            </a:r>
            <a:r>
              <a:rPr kumimoji="0" lang="en-US" altLang="zh-TW" sz="2800" dirty="0">
                <a:solidFill>
                  <a:srgbClr val="002060"/>
                </a:solidFill>
                <a:latin typeface="微軟正黑體" panose="020B0604030504040204" pitchFamily="34" charset="-120"/>
                <a:ea typeface="微軟正黑體" panose="020B0604030504040204" pitchFamily="34" charset="-120"/>
              </a:rPr>
              <a:t>(</a:t>
            </a:r>
            <a:r>
              <a:rPr kumimoji="0" lang="zh-TW" altLang="en-US" sz="2800" dirty="0">
                <a:solidFill>
                  <a:srgbClr val="002060"/>
                </a:solidFill>
                <a:latin typeface="微軟正黑體" panose="020B0604030504040204" pitchFamily="34" charset="-120"/>
                <a:ea typeface="微軟正黑體" panose="020B0604030504040204" pitchFamily="34" charset="-120"/>
              </a:rPr>
              <a:t>六</a:t>
            </a:r>
            <a:r>
              <a:rPr kumimoji="0" lang="en-US" altLang="zh-TW" sz="2800" dirty="0">
                <a:solidFill>
                  <a:srgbClr val="002060"/>
                </a:solidFill>
                <a:latin typeface="微軟正黑體" panose="020B0604030504040204" pitchFamily="34" charset="-120"/>
                <a:ea typeface="微軟正黑體" panose="020B0604030504040204" pitchFamily="34" charset="-120"/>
              </a:rPr>
              <a:t>)</a:t>
            </a:r>
            <a:r>
              <a:rPr kumimoji="0" lang="zh-TW" altLang="en-US" sz="2800" dirty="0">
                <a:solidFill>
                  <a:srgbClr val="002060"/>
                </a:solidFill>
                <a:latin typeface="微軟正黑體" panose="020B0604030504040204" pitchFamily="34" charset="-120"/>
                <a:ea typeface="微軟正黑體" panose="020B0604030504040204" pitchFamily="34" charset="-120"/>
              </a:rPr>
              <a:t>跟蹤騷擾法</a:t>
            </a:r>
            <a:r>
              <a:rPr kumimoji="0" lang="en-US" altLang="zh-TW" sz="2800" dirty="0">
                <a:solidFill>
                  <a:srgbClr val="002060"/>
                </a:solidFill>
                <a:latin typeface="微軟正黑體" panose="020B0604030504040204" pitchFamily="34" charset="-120"/>
                <a:ea typeface="微軟正黑體" panose="020B0604030504040204" pitchFamily="34" charset="-120"/>
              </a:rPr>
              <a:t>(</a:t>
            </a:r>
            <a:r>
              <a:rPr kumimoji="0" lang="zh-TW" altLang="en-US" sz="2800" dirty="0">
                <a:solidFill>
                  <a:srgbClr val="002060"/>
                </a:solidFill>
                <a:latin typeface="微軟正黑體" panose="020B0604030504040204" pitchFamily="34" charset="-120"/>
                <a:ea typeface="微軟正黑體" panose="020B0604030504040204" pitchFamily="34" charset="-120"/>
              </a:rPr>
              <a:t>民</a:t>
            </a:r>
            <a:r>
              <a:rPr kumimoji="0" lang="en-US" altLang="zh-TW" sz="2800" dirty="0">
                <a:solidFill>
                  <a:srgbClr val="002060"/>
                </a:solidFill>
                <a:latin typeface="微軟正黑體" panose="020B0604030504040204" pitchFamily="34" charset="-120"/>
                <a:ea typeface="微軟正黑體" panose="020B0604030504040204" pitchFamily="34" charset="-120"/>
              </a:rPr>
              <a:t>110)</a:t>
            </a:r>
            <a:endParaRPr lang="zh-TW" altLang="en-US" sz="2800" dirty="0">
              <a:solidFill>
                <a:srgbClr val="002060"/>
              </a:solidFill>
              <a:latin typeface="微軟正黑體" panose="020B0604030504040204" pitchFamily="34" charset="-120"/>
              <a:ea typeface="微軟正黑體" panose="020B0604030504040204" pitchFamily="34" charset="-120"/>
            </a:endParaRP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8499A82-4C61-12BE-7E28-14E7429F9417}"/>
              </a:ext>
            </a:extLst>
          </p:cNvPr>
          <p:cNvSpPr>
            <a:spLocks noGrp="1"/>
          </p:cNvSpPr>
          <p:nvPr>
            <p:ph type="title"/>
          </p:nvPr>
        </p:nvSpPr>
        <p:spPr/>
        <p:txBody>
          <a:bodyPr/>
          <a:lstStyle/>
          <a:p>
            <a:r>
              <a:rPr lang="zh-TW" altLang="en-US" dirty="0">
                <a:solidFill>
                  <a:srgbClr val="C00000"/>
                </a:solidFill>
                <a:latin typeface="微軟正黑體" panose="020B0604030504040204" pitchFamily="34" charset="-120"/>
                <a:ea typeface="微軟正黑體" panose="020B0604030504040204" pitchFamily="34" charset="-120"/>
              </a:rPr>
              <a:t>社區推動性別平等的重要性</a:t>
            </a:r>
          </a:p>
        </p:txBody>
      </p:sp>
      <p:sp>
        <p:nvSpPr>
          <p:cNvPr id="3" name="內容版面配置區 2">
            <a:extLst>
              <a:ext uri="{FF2B5EF4-FFF2-40B4-BE49-F238E27FC236}">
                <a16:creationId xmlns:a16="http://schemas.microsoft.com/office/drawing/2014/main" id="{578D3228-A2F2-21A6-7666-D414A21EE4E1}"/>
              </a:ext>
            </a:extLst>
          </p:cNvPr>
          <p:cNvSpPr>
            <a:spLocks noGrp="1"/>
          </p:cNvSpPr>
          <p:nvPr>
            <p:ph idx="1"/>
          </p:nvPr>
        </p:nvSpPr>
        <p:spPr/>
        <p:txBody>
          <a:bodyPr/>
          <a:lstStyle/>
          <a:p>
            <a:r>
              <a:rPr lang="zh-TW" altLang="en-US" sz="3600" dirty="0">
                <a:solidFill>
                  <a:srgbClr val="002060"/>
                </a:solidFill>
                <a:latin typeface="微軟正黑體" panose="020B0604030504040204" pitchFamily="34" charset="-120"/>
                <a:ea typeface="微軟正黑體" panose="020B0604030504040204" pitchFamily="34" charset="-120"/>
              </a:rPr>
              <a:t>推動性別平等觀念深入社區，提升居民對性別多樣性與平等的認識，並透過參與式活動促進彼此尊重與共融的社區文化，可有效預防性別案件的發生，提升居民相互尊重的文化</a:t>
            </a:r>
            <a:r>
              <a:rPr lang="zh-TW" altLang="en-US" dirty="0"/>
              <a:t>。</a:t>
            </a:r>
          </a:p>
        </p:txBody>
      </p:sp>
    </p:spTree>
    <p:extLst>
      <p:ext uri="{BB962C8B-B14F-4D97-AF65-F5344CB8AC3E}">
        <p14:creationId xmlns:p14="http://schemas.microsoft.com/office/powerpoint/2010/main" val="164278607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D383335-F131-B3D7-3F8C-6BB67C53C425}"/>
              </a:ext>
            </a:extLst>
          </p:cNvPr>
          <p:cNvSpPr>
            <a:spLocks noGrp="1"/>
          </p:cNvSpPr>
          <p:nvPr>
            <p:ph type="title"/>
          </p:nvPr>
        </p:nvSpPr>
        <p:spPr/>
        <p:txBody>
          <a:bodyPr/>
          <a:lstStyle/>
          <a:p>
            <a:r>
              <a:rPr lang="zh-TW" altLang="en-US" dirty="0">
                <a:solidFill>
                  <a:srgbClr val="C00000"/>
                </a:solidFill>
                <a:latin typeface="微軟正黑體" panose="020B0604030504040204" pitchFamily="34" charset="-120"/>
                <a:ea typeface="微軟正黑體" panose="020B0604030504040204" pitchFamily="34" charset="-120"/>
              </a:rPr>
              <a:t>核心理念</a:t>
            </a:r>
          </a:p>
        </p:txBody>
      </p:sp>
      <p:sp>
        <p:nvSpPr>
          <p:cNvPr id="3" name="內容版面配置區 2">
            <a:extLst>
              <a:ext uri="{FF2B5EF4-FFF2-40B4-BE49-F238E27FC236}">
                <a16:creationId xmlns:a16="http://schemas.microsoft.com/office/drawing/2014/main" id="{65025399-44D5-C84F-E34D-5109AAD89040}"/>
              </a:ext>
            </a:extLst>
          </p:cNvPr>
          <p:cNvSpPr>
            <a:spLocks noGrp="1"/>
          </p:cNvSpPr>
          <p:nvPr>
            <p:ph idx="1"/>
          </p:nvPr>
        </p:nvSpPr>
        <p:spPr/>
        <p:txBody>
          <a:bodyPr/>
          <a:lstStyle/>
          <a:p>
            <a:pPr marL="0" indent="0">
              <a:buNone/>
            </a:pPr>
            <a:r>
              <a:rPr lang="en-US" altLang="zh-TW" dirty="0">
                <a:solidFill>
                  <a:srgbClr val="002060"/>
                </a:solidFill>
                <a:latin typeface="微軟正黑體" panose="020B0604030504040204" pitchFamily="34" charset="-120"/>
                <a:ea typeface="微軟正黑體" panose="020B0604030504040204" pitchFamily="34" charset="-120"/>
              </a:rPr>
              <a:t>1. </a:t>
            </a:r>
            <a:r>
              <a:rPr lang="zh-TW" altLang="en-US" dirty="0">
                <a:solidFill>
                  <a:srgbClr val="002060"/>
                </a:solidFill>
                <a:latin typeface="微軟正黑體" panose="020B0604030504040204" pitchFamily="34" charset="-120"/>
                <a:ea typeface="微軟正黑體" panose="020B0604030504040204" pitchFamily="34" charset="-120"/>
              </a:rPr>
              <a:t>性別平等不僅是法律保障，更是社會文化的實踐。</a:t>
            </a:r>
          </a:p>
          <a:p>
            <a:pPr marL="0" indent="0">
              <a:buNone/>
            </a:pPr>
            <a:r>
              <a:rPr lang="en-US" altLang="zh-TW" dirty="0">
                <a:solidFill>
                  <a:srgbClr val="002060"/>
                </a:solidFill>
                <a:latin typeface="微軟正黑體" panose="020B0604030504040204" pitchFamily="34" charset="-120"/>
                <a:ea typeface="微軟正黑體" panose="020B0604030504040204" pitchFamily="34" charset="-120"/>
              </a:rPr>
              <a:t>2. </a:t>
            </a:r>
            <a:r>
              <a:rPr lang="zh-TW" altLang="en-US" dirty="0">
                <a:solidFill>
                  <a:srgbClr val="002060"/>
                </a:solidFill>
                <a:latin typeface="微軟正黑體" panose="020B0604030504040204" pitchFamily="34" charset="-120"/>
                <a:ea typeface="微軟正黑體" panose="020B0604030504040204" pitchFamily="34" charset="-120"/>
              </a:rPr>
              <a:t>社區是推動性別友善的第一線場域。</a:t>
            </a:r>
            <a:endParaRPr lang="en-US" altLang="zh-TW" dirty="0">
              <a:solidFill>
                <a:srgbClr val="002060"/>
              </a:solidFill>
              <a:latin typeface="微軟正黑體" panose="020B0604030504040204" pitchFamily="34" charset="-120"/>
              <a:ea typeface="微軟正黑體" panose="020B0604030504040204" pitchFamily="34" charset="-120"/>
            </a:endParaRPr>
          </a:p>
          <a:p>
            <a:pPr marL="0" indent="0">
              <a:buNone/>
            </a:pPr>
            <a:r>
              <a:rPr lang="en-US" altLang="zh-TW" dirty="0">
                <a:solidFill>
                  <a:srgbClr val="002060"/>
                </a:solidFill>
                <a:latin typeface="微軟正黑體" panose="020B0604030504040204" pitchFamily="34" charset="-120"/>
                <a:ea typeface="微軟正黑體" panose="020B0604030504040204" pitchFamily="34" charset="-120"/>
              </a:rPr>
              <a:t>3. </a:t>
            </a:r>
            <a:r>
              <a:rPr lang="zh-TW" altLang="en-US" dirty="0">
                <a:solidFill>
                  <a:srgbClr val="002060"/>
                </a:solidFill>
                <a:latin typeface="微軟正黑體" panose="020B0604030504040204" pitchFamily="34" charset="-120"/>
                <a:ea typeface="微軟正黑體" panose="020B0604030504040204" pitchFamily="34" charset="-120"/>
              </a:rPr>
              <a:t>每個人都是推動改變的種子，從生活中的小事做起。</a:t>
            </a:r>
          </a:p>
        </p:txBody>
      </p:sp>
    </p:spTree>
    <p:extLst>
      <p:ext uri="{BB962C8B-B14F-4D97-AF65-F5344CB8AC3E}">
        <p14:creationId xmlns:p14="http://schemas.microsoft.com/office/powerpoint/2010/main" val="23281653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78728DD-3F15-7CD5-44C5-B11097D0447A}"/>
              </a:ext>
            </a:extLst>
          </p:cNvPr>
          <p:cNvSpPr>
            <a:spLocks noGrp="1"/>
          </p:cNvSpPr>
          <p:nvPr>
            <p:ph type="title"/>
          </p:nvPr>
        </p:nvSpPr>
        <p:spPr/>
        <p:txBody>
          <a:bodyPr/>
          <a:lstStyle/>
          <a:p>
            <a:r>
              <a:rPr lang="zh-TW" altLang="en-US" dirty="0">
                <a:solidFill>
                  <a:srgbClr val="C00000"/>
                </a:solidFill>
                <a:latin typeface="微軟正黑體" panose="020B0604030504040204" pitchFamily="34" charset="-120"/>
                <a:ea typeface="微軟正黑體" panose="020B0604030504040204" pitchFamily="34" charset="-120"/>
              </a:rPr>
              <a:t>推動策略</a:t>
            </a:r>
            <a:r>
              <a:rPr lang="en-US" altLang="zh-TW" dirty="0">
                <a:solidFill>
                  <a:srgbClr val="C00000"/>
                </a:solidFill>
              </a:rPr>
              <a:t>1</a:t>
            </a:r>
            <a:endParaRPr lang="zh-TW" altLang="en-US" dirty="0">
              <a:solidFill>
                <a:srgbClr val="C00000"/>
              </a:solidFill>
            </a:endParaRPr>
          </a:p>
        </p:txBody>
      </p:sp>
      <p:sp>
        <p:nvSpPr>
          <p:cNvPr id="3" name="內容版面配置區 2">
            <a:extLst>
              <a:ext uri="{FF2B5EF4-FFF2-40B4-BE49-F238E27FC236}">
                <a16:creationId xmlns:a16="http://schemas.microsoft.com/office/drawing/2014/main" id="{1BAF5610-3F13-8C83-486E-DCDA4029A6A0}"/>
              </a:ext>
            </a:extLst>
          </p:cNvPr>
          <p:cNvSpPr>
            <a:spLocks noGrp="1"/>
          </p:cNvSpPr>
          <p:nvPr>
            <p:ph idx="1"/>
          </p:nvPr>
        </p:nvSpPr>
        <p:spPr>
          <a:xfrm>
            <a:off x="755576" y="2017713"/>
            <a:ext cx="8424936" cy="4114800"/>
          </a:xfrm>
        </p:spPr>
        <p:txBody>
          <a:bodyPr/>
          <a:lstStyle/>
          <a:p>
            <a:pPr marL="0" indent="0">
              <a:buNone/>
            </a:pPr>
            <a:r>
              <a:rPr lang="en-US" altLang="zh-TW" sz="2800" b="1" dirty="0">
                <a:solidFill>
                  <a:srgbClr val="002060"/>
                </a:solidFill>
                <a:latin typeface="微軟正黑體" panose="020B0604030504040204" pitchFamily="34" charset="-120"/>
                <a:ea typeface="微軟正黑體" panose="020B0604030504040204" pitchFamily="34" charset="-120"/>
              </a:rPr>
              <a:t>1. </a:t>
            </a:r>
            <a:r>
              <a:rPr lang="zh-TW" altLang="en-US" sz="2800" b="1" dirty="0">
                <a:solidFill>
                  <a:srgbClr val="002060"/>
                </a:solidFill>
                <a:latin typeface="微軟正黑體" panose="020B0604030504040204" pitchFamily="34" charset="-120"/>
                <a:ea typeface="微軟正黑體" panose="020B0604030504040204" pitchFamily="34" charset="-120"/>
              </a:rPr>
              <a:t>教育宣導</a:t>
            </a:r>
          </a:p>
          <a:p>
            <a:pPr marL="0" indent="0">
              <a:buNone/>
            </a:pPr>
            <a:r>
              <a:rPr lang="zh-TW" altLang="en-US" sz="2800" dirty="0">
                <a:solidFill>
                  <a:srgbClr val="002060"/>
                </a:solidFill>
                <a:latin typeface="微軟正黑體" panose="020B0604030504040204" pitchFamily="34" charset="-120"/>
                <a:ea typeface="微軟正黑體" panose="020B0604030504040204" pitchFamily="34" charset="-120"/>
              </a:rPr>
              <a:t>  </a:t>
            </a:r>
            <a:r>
              <a:rPr lang="en-US" altLang="zh-TW" sz="2800" dirty="0">
                <a:solidFill>
                  <a:srgbClr val="002060"/>
                </a:solidFill>
                <a:latin typeface="微軟正黑體" panose="020B0604030504040204" pitchFamily="34" charset="-120"/>
                <a:ea typeface="微軟正黑體" panose="020B0604030504040204" pitchFamily="34" charset="-120"/>
              </a:rPr>
              <a:t>•  </a:t>
            </a:r>
            <a:r>
              <a:rPr lang="zh-TW" altLang="en-US" sz="2800" dirty="0">
                <a:solidFill>
                  <a:srgbClr val="002060"/>
                </a:solidFill>
                <a:latin typeface="微軟正黑體" panose="020B0604030504040204" pitchFamily="34" charset="-120"/>
                <a:ea typeface="微軟正黑體" panose="020B0604030504040204" pitchFamily="34" charset="-120"/>
              </a:rPr>
              <a:t>舉辦性別平等講座、電影放映與討論會。</a:t>
            </a:r>
          </a:p>
          <a:p>
            <a:pPr marL="0" indent="0">
              <a:buNone/>
            </a:pPr>
            <a:r>
              <a:rPr lang="zh-TW" altLang="en-US" sz="2800" dirty="0">
                <a:solidFill>
                  <a:srgbClr val="002060"/>
                </a:solidFill>
                <a:latin typeface="微軟正黑體" panose="020B0604030504040204" pitchFamily="34" charset="-120"/>
                <a:ea typeface="微軟正黑體" panose="020B0604030504040204" pitchFamily="34" charset="-120"/>
              </a:rPr>
              <a:t>  </a:t>
            </a:r>
            <a:r>
              <a:rPr lang="en-US" altLang="zh-TW" sz="2800" dirty="0">
                <a:solidFill>
                  <a:srgbClr val="002060"/>
                </a:solidFill>
                <a:latin typeface="微軟正黑體" panose="020B0604030504040204" pitchFamily="34" charset="-120"/>
                <a:ea typeface="微軟正黑體" panose="020B0604030504040204" pitchFamily="34" charset="-120"/>
              </a:rPr>
              <a:t>•   </a:t>
            </a:r>
            <a:r>
              <a:rPr lang="zh-TW" altLang="en-US" sz="2800" dirty="0">
                <a:solidFill>
                  <a:srgbClr val="002060"/>
                </a:solidFill>
                <a:latin typeface="微軟正黑體" panose="020B0604030504040204" pitchFamily="34" charset="-120"/>
                <a:ea typeface="微軟正黑體" panose="020B0604030504040204" pitchFamily="34" charset="-120"/>
              </a:rPr>
              <a:t>發行性別平等小冊子，簡單易懂，適合各年齡層</a:t>
            </a:r>
          </a:p>
          <a:p>
            <a:pPr marL="0" indent="0">
              <a:buNone/>
            </a:pPr>
            <a:r>
              <a:rPr lang="en-US" altLang="zh-TW" sz="2800" b="1" dirty="0">
                <a:solidFill>
                  <a:srgbClr val="002060"/>
                </a:solidFill>
                <a:latin typeface="微軟正黑體" panose="020B0604030504040204" pitchFamily="34" charset="-120"/>
                <a:ea typeface="微軟正黑體" panose="020B0604030504040204" pitchFamily="34" charset="-120"/>
              </a:rPr>
              <a:t>2. </a:t>
            </a:r>
            <a:r>
              <a:rPr lang="zh-TW" altLang="en-US" sz="2800" b="1" dirty="0">
                <a:solidFill>
                  <a:srgbClr val="002060"/>
                </a:solidFill>
                <a:latin typeface="微軟正黑體" panose="020B0604030504040204" pitchFamily="34" charset="-120"/>
                <a:ea typeface="微軟正黑體" panose="020B0604030504040204" pitchFamily="34" charset="-120"/>
              </a:rPr>
              <a:t>互動活動</a:t>
            </a:r>
          </a:p>
          <a:p>
            <a:pPr marL="0" indent="0">
              <a:buNone/>
            </a:pPr>
            <a:r>
              <a:rPr lang="zh-TW" altLang="en-US" sz="2800" dirty="0">
                <a:solidFill>
                  <a:srgbClr val="002060"/>
                </a:solidFill>
                <a:latin typeface="微軟正黑體" panose="020B0604030504040204" pitchFamily="34" charset="-120"/>
                <a:ea typeface="微軟正黑體" panose="020B0604030504040204" pitchFamily="34" charset="-120"/>
              </a:rPr>
              <a:t> </a:t>
            </a:r>
            <a:r>
              <a:rPr lang="en-US" altLang="zh-TW" sz="2800" dirty="0">
                <a:solidFill>
                  <a:srgbClr val="002060"/>
                </a:solidFill>
                <a:latin typeface="微軟正黑體" panose="020B0604030504040204" pitchFamily="34" charset="-120"/>
                <a:ea typeface="微軟正黑體" panose="020B0604030504040204" pitchFamily="34" charset="-120"/>
              </a:rPr>
              <a:t>•   </a:t>
            </a:r>
            <a:r>
              <a:rPr lang="zh-TW" altLang="en-US" sz="2800" dirty="0">
                <a:solidFill>
                  <a:srgbClr val="002060"/>
                </a:solidFill>
                <a:latin typeface="微軟正黑體" panose="020B0604030504040204" pitchFamily="34" charset="-120"/>
                <a:ea typeface="微軟正黑體" panose="020B0604030504040204" pitchFamily="34" charset="-120"/>
              </a:rPr>
              <a:t>性別角色互換體驗活動，讓民眾體會性別刻板印象的影響。</a:t>
            </a:r>
          </a:p>
          <a:p>
            <a:pPr marL="0" indent="0">
              <a:buNone/>
            </a:pPr>
            <a:r>
              <a:rPr lang="zh-TW" altLang="en-US" sz="2800" dirty="0">
                <a:solidFill>
                  <a:srgbClr val="002060"/>
                </a:solidFill>
                <a:latin typeface="微軟正黑體" panose="020B0604030504040204" pitchFamily="34" charset="-120"/>
                <a:ea typeface="微軟正黑體" panose="020B0604030504040204" pitchFamily="34" charset="-120"/>
              </a:rPr>
              <a:t> </a:t>
            </a:r>
            <a:r>
              <a:rPr lang="en-US" altLang="zh-TW" sz="2800" dirty="0">
                <a:solidFill>
                  <a:srgbClr val="002060"/>
                </a:solidFill>
                <a:latin typeface="微軟正黑體" panose="020B0604030504040204" pitchFamily="34" charset="-120"/>
                <a:ea typeface="微軟正黑體" panose="020B0604030504040204" pitchFamily="34" charset="-120"/>
              </a:rPr>
              <a:t>•   </a:t>
            </a:r>
            <a:r>
              <a:rPr lang="zh-TW" altLang="en-US" sz="2800" dirty="0">
                <a:solidFill>
                  <a:srgbClr val="002060"/>
                </a:solidFill>
                <a:latin typeface="微軟正黑體" panose="020B0604030504040204" pitchFamily="34" charset="-120"/>
                <a:ea typeface="微軟正黑體" panose="020B0604030504040204" pitchFamily="34" charset="-120"/>
              </a:rPr>
              <a:t>社區繪畫或攝影展，呈現多元性別樣貌與故事。</a:t>
            </a:r>
          </a:p>
        </p:txBody>
      </p:sp>
    </p:spTree>
    <p:extLst>
      <p:ext uri="{BB962C8B-B14F-4D97-AF65-F5344CB8AC3E}">
        <p14:creationId xmlns:p14="http://schemas.microsoft.com/office/powerpoint/2010/main" val="114240054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A2D8A10-8BCE-F4B2-6F96-4ACB018520E2}"/>
              </a:ext>
            </a:extLst>
          </p:cNvPr>
          <p:cNvSpPr>
            <a:spLocks noGrp="1"/>
          </p:cNvSpPr>
          <p:nvPr>
            <p:ph type="title"/>
          </p:nvPr>
        </p:nvSpPr>
        <p:spPr/>
        <p:txBody>
          <a:bodyPr/>
          <a:lstStyle/>
          <a:p>
            <a:r>
              <a:rPr lang="zh-TW" altLang="en-US" dirty="0">
                <a:solidFill>
                  <a:srgbClr val="C00000"/>
                </a:solidFill>
                <a:latin typeface="微軟正黑體" panose="020B0604030504040204" pitchFamily="34" charset="-120"/>
                <a:ea typeface="微軟正黑體" panose="020B0604030504040204" pitchFamily="34" charset="-120"/>
              </a:rPr>
              <a:t>推動策略</a:t>
            </a:r>
            <a:r>
              <a:rPr lang="en-US" altLang="zh-TW" dirty="0">
                <a:solidFill>
                  <a:srgbClr val="C00000"/>
                </a:solidFill>
                <a:latin typeface="微軟正黑體" panose="020B0604030504040204" pitchFamily="34" charset="-120"/>
                <a:ea typeface="微軟正黑體" panose="020B0604030504040204" pitchFamily="34" charset="-120"/>
              </a:rPr>
              <a:t>2</a:t>
            </a:r>
            <a:endParaRPr lang="zh-TW" altLang="en-US" dirty="0">
              <a:solidFill>
                <a:srgbClr val="C00000"/>
              </a:solidFill>
              <a:latin typeface="微軟正黑體" panose="020B0604030504040204" pitchFamily="34" charset="-120"/>
              <a:ea typeface="微軟正黑體" panose="020B0604030504040204" pitchFamily="34" charset="-120"/>
            </a:endParaRPr>
          </a:p>
        </p:txBody>
      </p:sp>
      <p:sp>
        <p:nvSpPr>
          <p:cNvPr id="3" name="內容版面配置區 2">
            <a:extLst>
              <a:ext uri="{FF2B5EF4-FFF2-40B4-BE49-F238E27FC236}">
                <a16:creationId xmlns:a16="http://schemas.microsoft.com/office/drawing/2014/main" id="{88B8355E-86CD-1CDD-BCE5-F47B512C0D7B}"/>
              </a:ext>
            </a:extLst>
          </p:cNvPr>
          <p:cNvSpPr>
            <a:spLocks noGrp="1"/>
          </p:cNvSpPr>
          <p:nvPr>
            <p:ph idx="1"/>
          </p:nvPr>
        </p:nvSpPr>
        <p:spPr>
          <a:xfrm>
            <a:off x="467544" y="2017713"/>
            <a:ext cx="9145016" cy="4114800"/>
          </a:xfrm>
        </p:spPr>
        <p:txBody>
          <a:bodyPr/>
          <a:lstStyle/>
          <a:p>
            <a:pPr marL="0" indent="0">
              <a:buNone/>
            </a:pPr>
            <a:r>
              <a:rPr lang="zh-TW" altLang="en-US" dirty="0"/>
              <a:t> </a:t>
            </a:r>
            <a:r>
              <a:rPr lang="en-US" altLang="zh-TW" sz="2800" b="1" dirty="0">
                <a:solidFill>
                  <a:srgbClr val="002060"/>
                </a:solidFill>
                <a:latin typeface="微軟正黑體" panose="020B0604030504040204" pitchFamily="34" charset="-120"/>
                <a:ea typeface="微軟正黑體" panose="020B0604030504040204" pitchFamily="34" charset="-120"/>
              </a:rPr>
              <a:t>3. </a:t>
            </a:r>
            <a:r>
              <a:rPr lang="zh-TW" altLang="en-US" sz="2800" b="1" dirty="0">
                <a:solidFill>
                  <a:srgbClr val="002060"/>
                </a:solidFill>
                <a:latin typeface="微軟正黑體" panose="020B0604030504040204" pitchFamily="34" charset="-120"/>
                <a:ea typeface="微軟正黑體" panose="020B0604030504040204" pitchFamily="34" charset="-120"/>
              </a:rPr>
              <a:t>跨世代交流</a:t>
            </a:r>
          </a:p>
          <a:p>
            <a:pPr marL="0" indent="0">
              <a:buNone/>
            </a:pPr>
            <a:r>
              <a:rPr lang="zh-TW" altLang="en-US" sz="2800" dirty="0">
                <a:solidFill>
                  <a:srgbClr val="002060"/>
                </a:solidFill>
                <a:latin typeface="微軟正黑體" panose="020B0604030504040204" pitchFamily="34" charset="-120"/>
                <a:ea typeface="微軟正黑體" panose="020B0604030504040204" pitchFamily="34" charset="-120"/>
              </a:rPr>
              <a:t>      </a:t>
            </a:r>
            <a:r>
              <a:rPr lang="en-US" altLang="zh-TW" sz="2800" dirty="0">
                <a:solidFill>
                  <a:srgbClr val="002060"/>
                </a:solidFill>
                <a:latin typeface="微軟正黑體" panose="020B0604030504040204" pitchFamily="34" charset="-120"/>
                <a:ea typeface="微軟正黑體" panose="020B0604030504040204" pitchFamily="34" charset="-120"/>
              </a:rPr>
              <a:t>•  </a:t>
            </a:r>
            <a:r>
              <a:rPr lang="zh-TW" altLang="en-US" sz="2800" dirty="0">
                <a:solidFill>
                  <a:srgbClr val="002060"/>
                </a:solidFill>
                <a:latin typeface="微軟正黑體" panose="020B0604030504040204" pitchFamily="34" charset="-120"/>
                <a:ea typeface="微軟正黑體" panose="020B0604030504040204" pitchFamily="34" charset="-120"/>
              </a:rPr>
              <a:t>設計祖孫共學課程，分享不同世代對性別角色的看法。</a:t>
            </a:r>
          </a:p>
          <a:p>
            <a:pPr marL="0" indent="0">
              <a:buNone/>
            </a:pPr>
            <a:r>
              <a:rPr lang="zh-TW" altLang="en-US" sz="2800" dirty="0">
                <a:solidFill>
                  <a:srgbClr val="002060"/>
                </a:solidFill>
                <a:latin typeface="微軟正黑體" panose="020B0604030504040204" pitchFamily="34" charset="-120"/>
                <a:ea typeface="微軟正黑體" panose="020B0604030504040204" pitchFamily="34" charset="-120"/>
              </a:rPr>
              <a:t>      </a:t>
            </a:r>
            <a:r>
              <a:rPr lang="en-US" altLang="zh-TW" sz="2800" dirty="0">
                <a:solidFill>
                  <a:srgbClr val="002060"/>
                </a:solidFill>
                <a:latin typeface="微軟正黑體" panose="020B0604030504040204" pitchFamily="34" charset="-120"/>
                <a:ea typeface="微軟正黑體" panose="020B0604030504040204" pitchFamily="34" charset="-120"/>
              </a:rPr>
              <a:t>•  </a:t>
            </a:r>
            <a:r>
              <a:rPr lang="zh-TW" altLang="en-US" sz="2800" dirty="0">
                <a:solidFill>
                  <a:srgbClr val="002060"/>
                </a:solidFill>
                <a:latin typeface="微軟正黑體" panose="020B0604030504040204" pitchFamily="34" charset="-120"/>
                <a:ea typeface="微軟正黑體" panose="020B0604030504040204" pitchFamily="34" charset="-120"/>
              </a:rPr>
              <a:t>讓年輕人與長輩共同創作社區性別平等故事牆。</a:t>
            </a:r>
          </a:p>
          <a:p>
            <a:pPr marL="0" indent="0">
              <a:buNone/>
            </a:pPr>
            <a:r>
              <a:rPr lang="zh-TW" altLang="en-US" sz="2800" dirty="0">
                <a:solidFill>
                  <a:srgbClr val="002060"/>
                </a:solidFill>
                <a:latin typeface="微軟正黑體" panose="020B0604030504040204" pitchFamily="34" charset="-120"/>
                <a:ea typeface="微軟正黑體" panose="020B0604030504040204" pitchFamily="34" charset="-120"/>
              </a:rPr>
              <a:t> </a:t>
            </a:r>
            <a:r>
              <a:rPr lang="en-US" altLang="zh-TW" sz="2800" b="1" dirty="0">
                <a:solidFill>
                  <a:srgbClr val="002060"/>
                </a:solidFill>
                <a:latin typeface="微軟正黑體" panose="020B0604030504040204" pitchFamily="34" charset="-120"/>
                <a:ea typeface="微軟正黑體" panose="020B0604030504040204" pitchFamily="34" charset="-120"/>
              </a:rPr>
              <a:t>4. </a:t>
            </a:r>
            <a:r>
              <a:rPr lang="zh-TW" altLang="en-US" sz="2800" b="1" dirty="0">
                <a:solidFill>
                  <a:srgbClr val="002060"/>
                </a:solidFill>
                <a:latin typeface="微軟正黑體" panose="020B0604030504040204" pitchFamily="34" charset="-120"/>
                <a:ea typeface="微軟正黑體" panose="020B0604030504040204" pitchFamily="34" charset="-120"/>
              </a:rPr>
              <a:t>建立支持系統</a:t>
            </a:r>
          </a:p>
          <a:p>
            <a:pPr marL="0" indent="0">
              <a:buNone/>
            </a:pPr>
            <a:r>
              <a:rPr lang="zh-TW" altLang="en-US" sz="2800" dirty="0">
                <a:solidFill>
                  <a:srgbClr val="002060"/>
                </a:solidFill>
                <a:latin typeface="微軟正黑體" panose="020B0604030504040204" pitchFamily="34" charset="-120"/>
                <a:ea typeface="微軟正黑體" panose="020B0604030504040204" pitchFamily="34" charset="-120"/>
              </a:rPr>
              <a:t>      </a:t>
            </a:r>
            <a:r>
              <a:rPr lang="en-US" altLang="zh-TW" sz="2800" dirty="0">
                <a:solidFill>
                  <a:srgbClr val="002060"/>
                </a:solidFill>
                <a:latin typeface="微軟正黑體" panose="020B0604030504040204" pitchFamily="34" charset="-120"/>
                <a:ea typeface="微軟正黑體" panose="020B0604030504040204" pitchFamily="34" charset="-120"/>
              </a:rPr>
              <a:t>•  </a:t>
            </a:r>
            <a:r>
              <a:rPr lang="zh-TW" altLang="en-US" sz="2800" dirty="0">
                <a:solidFill>
                  <a:srgbClr val="002060"/>
                </a:solidFill>
                <a:latin typeface="微軟正黑體" panose="020B0604030504040204" pitchFamily="34" charset="-120"/>
                <a:ea typeface="微軟正黑體" panose="020B0604030504040204" pitchFamily="34" charset="-120"/>
              </a:rPr>
              <a:t>建立社區性別友善志工隊，協助推動與協調活動。</a:t>
            </a:r>
          </a:p>
          <a:p>
            <a:pPr marL="0" indent="0">
              <a:buNone/>
            </a:pPr>
            <a:r>
              <a:rPr lang="zh-TW" altLang="en-US" sz="2800" dirty="0">
                <a:solidFill>
                  <a:srgbClr val="002060"/>
                </a:solidFill>
                <a:latin typeface="微軟正黑體" panose="020B0604030504040204" pitchFamily="34" charset="-120"/>
                <a:ea typeface="微軟正黑體" panose="020B0604030504040204" pitchFamily="34" charset="-120"/>
              </a:rPr>
              <a:t>      </a:t>
            </a:r>
            <a:r>
              <a:rPr lang="en-US" altLang="zh-TW" sz="2800" dirty="0">
                <a:solidFill>
                  <a:srgbClr val="002060"/>
                </a:solidFill>
                <a:latin typeface="微軟正黑體" panose="020B0604030504040204" pitchFamily="34" charset="-120"/>
                <a:ea typeface="微軟正黑體" panose="020B0604030504040204" pitchFamily="34" charset="-120"/>
              </a:rPr>
              <a:t>•   </a:t>
            </a:r>
            <a:r>
              <a:rPr lang="zh-TW" altLang="en-US" sz="2800" dirty="0">
                <a:solidFill>
                  <a:srgbClr val="002060"/>
                </a:solidFill>
                <a:latin typeface="微軟正黑體" panose="020B0604030504040204" pitchFamily="34" charset="-120"/>
                <a:ea typeface="微軟正黑體" panose="020B0604030504040204" pitchFamily="34" charset="-120"/>
              </a:rPr>
              <a:t>提供資源諮詢窗口，協助居民了解性別相關法律與協助管道。</a:t>
            </a:r>
          </a:p>
          <a:p>
            <a:pPr marL="0" indent="0">
              <a:buNone/>
            </a:pPr>
            <a:endParaRPr lang="zh-TW" altLang="en-US" dirty="0"/>
          </a:p>
        </p:txBody>
      </p:sp>
    </p:spTree>
    <p:extLst>
      <p:ext uri="{BB962C8B-B14F-4D97-AF65-F5344CB8AC3E}">
        <p14:creationId xmlns:p14="http://schemas.microsoft.com/office/powerpoint/2010/main" val="45728063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BC03019-59F9-DEB4-9CE5-B735FCE054E3}"/>
              </a:ext>
            </a:extLst>
          </p:cNvPr>
          <p:cNvSpPr>
            <a:spLocks noGrp="1"/>
          </p:cNvSpPr>
          <p:nvPr>
            <p:ph type="title"/>
          </p:nvPr>
        </p:nvSpPr>
        <p:spPr/>
        <p:txBody>
          <a:bodyPr/>
          <a:lstStyle/>
          <a:p>
            <a:r>
              <a:rPr lang="zh-TW" altLang="en-US" dirty="0">
                <a:solidFill>
                  <a:srgbClr val="C00000"/>
                </a:solidFill>
                <a:latin typeface="微軟正黑體" panose="020B0604030504040204" pitchFamily="34" charset="-120"/>
                <a:ea typeface="微軟正黑體" panose="020B0604030504040204" pitchFamily="34" charset="-120"/>
              </a:rPr>
              <a:t>具體行動</a:t>
            </a:r>
          </a:p>
        </p:txBody>
      </p:sp>
      <p:sp>
        <p:nvSpPr>
          <p:cNvPr id="3" name="內容版面配置區 2">
            <a:extLst>
              <a:ext uri="{FF2B5EF4-FFF2-40B4-BE49-F238E27FC236}">
                <a16:creationId xmlns:a16="http://schemas.microsoft.com/office/drawing/2014/main" id="{FD94925E-7C9C-4501-5C1F-283BE578A9B6}"/>
              </a:ext>
            </a:extLst>
          </p:cNvPr>
          <p:cNvSpPr>
            <a:spLocks noGrp="1"/>
          </p:cNvSpPr>
          <p:nvPr>
            <p:ph idx="1"/>
          </p:nvPr>
        </p:nvSpPr>
        <p:spPr>
          <a:xfrm>
            <a:off x="1182688" y="2017713"/>
            <a:ext cx="7961312" cy="4114800"/>
          </a:xfrm>
        </p:spPr>
        <p:txBody>
          <a:bodyPr/>
          <a:lstStyle/>
          <a:p>
            <a:r>
              <a:rPr lang="zh-TW" altLang="en-US" sz="2800" b="1" dirty="0">
                <a:solidFill>
                  <a:srgbClr val="002060"/>
                </a:solidFill>
                <a:latin typeface="微軟正黑體" panose="020B0604030504040204" pitchFamily="34" charset="-120"/>
                <a:ea typeface="微軟正黑體" panose="020B0604030504040204" pitchFamily="34" charset="-120"/>
              </a:rPr>
              <a:t>空間規劃</a:t>
            </a:r>
            <a:r>
              <a:rPr lang="zh-TW" altLang="en-US" sz="2800" dirty="0">
                <a:solidFill>
                  <a:srgbClr val="002060"/>
                </a:solidFill>
                <a:latin typeface="微軟正黑體" panose="020B0604030504040204" pitchFamily="34" charset="-120"/>
                <a:ea typeface="微軟正黑體" panose="020B0604030504040204" pitchFamily="34" charset="-120"/>
              </a:rPr>
              <a:t>：營造「性別友善環境」</a:t>
            </a:r>
            <a:r>
              <a:rPr lang="en-US" altLang="zh-TW" sz="2800" dirty="0">
                <a:solidFill>
                  <a:srgbClr val="002060"/>
                </a:solidFill>
                <a:latin typeface="微軟正黑體" panose="020B0604030504040204" pitchFamily="34" charset="-120"/>
                <a:ea typeface="微軟正黑體" panose="020B0604030504040204" pitchFamily="34" charset="-120"/>
              </a:rPr>
              <a:t>-</a:t>
            </a:r>
            <a:r>
              <a:rPr lang="zh-TW" altLang="en-US" sz="2800" dirty="0">
                <a:solidFill>
                  <a:srgbClr val="002060"/>
                </a:solidFill>
                <a:latin typeface="微軟正黑體" panose="020B0604030504040204" pitchFamily="34" charset="-120"/>
                <a:ea typeface="微軟正黑體" panose="020B0604030504040204" pitchFamily="34" charset="-120"/>
              </a:rPr>
              <a:t>廁所增設尿布台、安全死角盤點、無障礙環境</a:t>
            </a:r>
            <a:endParaRPr lang="en-US" altLang="zh-TW" sz="2800" dirty="0">
              <a:solidFill>
                <a:srgbClr val="002060"/>
              </a:solidFill>
              <a:latin typeface="微軟正黑體" panose="020B0604030504040204" pitchFamily="34" charset="-120"/>
              <a:ea typeface="微軟正黑體" panose="020B0604030504040204" pitchFamily="34" charset="-120"/>
            </a:endParaRPr>
          </a:p>
          <a:p>
            <a:r>
              <a:rPr lang="zh-TW" altLang="en-US" sz="2800" b="1" dirty="0">
                <a:solidFill>
                  <a:srgbClr val="002060"/>
                </a:solidFill>
                <a:latin typeface="微軟正黑體" panose="020B0604030504040204" pitchFamily="34" charset="-120"/>
                <a:ea typeface="微軟正黑體" panose="020B0604030504040204" pitchFamily="34" charset="-120"/>
              </a:rPr>
              <a:t>活動設計</a:t>
            </a:r>
            <a:r>
              <a:rPr lang="zh-TW" altLang="en-US" sz="2800" dirty="0">
                <a:solidFill>
                  <a:srgbClr val="002060"/>
                </a:solidFill>
                <a:latin typeface="微軟正黑體" panose="020B0604030504040204" pitchFamily="34" charset="-120"/>
                <a:ea typeface="微軟正黑體" panose="020B0604030504040204" pitchFamily="34" charset="-120"/>
              </a:rPr>
              <a:t>：打破性別框架，鼓勵跨界參與，如「型男大主廚」「女力水電修繕」</a:t>
            </a:r>
            <a:endParaRPr lang="en-US" altLang="zh-TW" sz="2800" dirty="0">
              <a:solidFill>
                <a:srgbClr val="002060"/>
              </a:solidFill>
              <a:latin typeface="微軟正黑體" panose="020B0604030504040204" pitchFamily="34" charset="-120"/>
              <a:ea typeface="微軟正黑體" panose="020B0604030504040204" pitchFamily="34" charset="-120"/>
            </a:endParaRPr>
          </a:p>
          <a:p>
            <a:r>
              <a:rPr lang="zh-TW" altLang="en-US" sz="2800" b="1" dirty="0">
                <a:solidFill>
                  <a:srgbClr val="002060"/>
                </a:solidFill>
                <a:latin typeface="微軟正黑體" panose="020B0604030504040204" pitchFamily="34" charset="-120"/>
                <a:ea typeface="微軟正黑體" panose="020B0604030504040204" pitchFamily="34" charset="-120"/>
              </a:rPr>
              <a:t>組織經營</a:t>
            </a:r>
            <a:r>
              <a:rPr lang="zh-TW" altLang="en-US" sz="2800" dirty="0">
                <a:solidFill>
                  <a:srgbClr val="002060"/>
                </a:solidFill>
                <a:latin typeface="微軟正黑體" panose="020B0604030504040204" pitchFamily="34" charset="-120"/>
                <a:ea typeface="微軟正黑體" panose="020B0604030504040204" pitchFamily="34" charset="-120"/>
              </a:rPr>
              <a:t>：鼓勵更多男性參與社區志工、女性擔任社區幹部。</a:t>
            </a:r>
            <a:endParaRPr lang="en-US" altLang="zh-TW" sz="2800" dirty="0">
              <a:solidFill>
                <a:srgbClr val="002060"/>
              </a:solidFill>
              <a:latin typeface="微軟正黑體" panose="020B0604030504040204" pitchFamily="34" charset="-120"/>
              <a:ea typeface="微軟正黑體" panose="020B0604030504040204" pitchFamily="34" charset="-120"/>
            </a:endParaRPr>
          </a:p>
          <a:p>
            <a:r>
              <a:rPr lang="zh-TW" altLang="en-US" sz="2800" b="1" dirty="0">
                <a:solidFill>
                  <a:srgbClr val="002060"/>
                </a:solidFill>
                <a:latin typeface="微軟正黑體" panose="020B0604030504040204" pitchFamily="34" charset="-120"/>
                <a:ea typeface="微軟正黑體" panose="020B0604030504040204" pitchFamily="34" charset="-120"/>
              </a:rPr>
              <a:t>社區宣導</a:t>
            </a:r>
            <a:r>
              <a:rPr lang="zh-TW" altLang="en-US" sz="2800" dirty="0">
                <a:solidFill>
                  <a:srgbClr val="002060"/>
                </a:solidFill>
                <a:latin typeface="微軟正黑體" panose="020B0604030504040204" pitchFamily="34" charset="-120"/>
                <a:ea typeface="微軟正黑體" panose="020B0604030504040204" pitchFamily="34" charset="-120"/>
              </a:rPr>
              <a:t>：性別暴力防治．多元性別</a:t>
            </a:r>
            <a:r>
              <a:rPr lang="en-US" altLang="zh-TW" sz="2800" dirty="0">
                <a:solidFill>
                  <a:srgbClr val="002060"/>
                </a:solidFill>
                <a:latin typeface="微軟正黑體" panose="020B0604030504040204" pitchFamily="34" charset="-120"/>
                <a:ea typeface="微軟正黑體" panose="020B0604030504040204" pitchFamily="34" charset="-120"/>
              </a:rPr>
              <a:t>/</a:t>
            </a:r>
            <a:r>
              <a:rPr lang="zh-TW" altLang="en-US" sz="2800" dirty="0">
                <a:solidFill>
                  <a:srgbClr val="002060"/>
                </a:solidFill>
                <a:latin typeface="微軟正黑體" panose="020B0604030504040204" pitchFamily="34" charset="-120"/>
                <a:ea typeface="微軟正黑體" panose="020B0604030504040204" pitchFamily="34" charset="-120"/>
              </a:rPr>
              <a:t>家庭</a:t>
            </a:r>
          </a:p>
        </p:txBody>
      </p:sp>
    </p:spTree>
    <p:extLst>
      <p:ext uri="{BB962C8B-B14F-4D97-AF65-F5344CB8AC3E}">
        <p14:creationId xmlns:p14="http://schemas.microsoft.com/office/powerpoint/2010/main" val="277988849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3" descr="月球">
            <a:extLst>
              <a:ext uri="{FF2B5EF4-FFF2-40B4-BE49-F238E27FC236}">
                <a16:creationId xmlns:a16="http://schemas.microsoft.com/office/drawing/2014/main" id="{97FA73E3-AE99-686E-ACB2-1F3AFC7A1A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2138" y="3429000"/>
            <a:ext cx="3313112" cy="265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47" name="Rectangle 5">
            <a:extLst>
              <a:ext uri="{FF2B5EF4-FFF2-40B4-BE49-F238E27FC236}">
                <a16:creationId xmlns:a16="http://schemas.microsoft.com/office/drawing/2014/main" id="{AD32BA4C-9030-D34A-1443-04F01A77CAF4}"/>
              </a:ext>
            </a:extLst>
          </p:cNvPr>
          <p:cNvSpPr>
            <a:spLocks noChangeArrowheads="1"/>
          </p:cNvSpPr>
          <p:nvPr/>
        </p:nvSpPr>
        <p:spPr bwMode="auto">
          <a:xfrm>
            <a:off x="444500" y="1643063"/>
            <a:ext cx="8077200" cy="160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Tahoma" panose="020B0604030504040204" pitchFamily="34" charset="0"/>
                <a:ea typeface="標楷體" panose="03000509000000000000" pitchFamily="65" charset="-120"/>
              </a:defRPr>
            </a:lvl1pPr>
            <a:lvl2pPr marL="742950" indent="-285750" eaLnBrk="0" hangingPunct="0">
              <a:defRPr kumimoji="1" sz="2400">
                <a:solidFill>
                  <a:schemeClr val="tx1"/>
                </a:solidFill>
                <a:latin typeface="Tahoma" panose="020B0604030504040204" pitchFamily="34" charset="0"/>
                <a:ea typeface="標楷體" panose="03000509000000000000" pitchFamily="65" charset="-120"/>
              </a:defRPr>
            </a:lvl2pPr>
            <a:lvl3pPr marL="1143000" indent="-228600" eaLnBrk="0" hangingPunct="0">
              <a:defRPr kumimoji="1" sz="2400">
                <a:solidFill>
                  <a:schemeClr val="tx1"/>
                </a:solidFill>
                <a:latin typeface="Tahoma" panose="020B0604030504040204" pitchFamily="34" charset="0"/>
                <a:ea typeface="標楷體" panose="03000509000000000000" pitchFamily="65" charset="-120"/>
              </a:defRPr>
            </a:lvl3pPr>
            <a:lvl4pPr marL="1600200" indent="-228600" eaLnBrk="0" hangingPunct="0">
              <a:defRPr kumimoji="1" sz="2400">
                <a:solidFill>
                  <a:schemeClr val="tx1"/>
                </a:solidFill>
                <a:latin typeface="Tahoma" panose="020B0604030504040204" pitchFamily="34" charset="0"/>
                <a:ea typeface="標楷體" panose="03000509000000000000" pitchFamily="65" charset="-120"/>
              </a:defRPr>
            </a:lvl4pPr>
            <a:lvl5pPr marL="2057400" indent="-228600" eaLnBrk="0" hangingPunct="0">
              <a:defRPr kumimoji="1" sz="2400">
                <a:solidFill>
                  <a:schemeClr val="tx1"/>
                </a:solidFill>
                <a:latin typeface="Tahoma" panose="020B0604030504040204" pitchFamily="34" charset="0"/>
                <a:ea typeface="標楷體" panose="03000509000000000000" pitchFamily="65"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標楷體" panose="03000509000000000000" pitchFamily="65" charset="-120"/>
              </a:defRPr>
            </a:lvl9pPr>
          </a:lstStyle>
          <a:p>
            <a:pPr algn="ctr" eaLnBrk="1" hangingPunct="1"/>
            <a:endParaRPr lang="zh-TW" altLang="zh-TW" sz="4200">
              <a:solidFill>
                <a:schemeClr val="bg1"/>
              </a:solidFill>
              <a:latin typeface="標楷體" panose="03000509000000000000" pitchFamily="65" charset="-120"/>
            </a:endParaRPr>
          </a:p>
        </p:txBody>
      </p:sp>
      <p:sp>
        <p:nvSpPr>
          <p:cNvPr id="57348" name="Rectangle 6">
            <a:extLst>
              <a:ext uri="{FF2B5EF4-FFF2-40B4-BE49-F238E27FC236}">
                <a16:creationId xmlns:a16="http://schemas.microsoft.com/office/drawing/2014/main" id="{EDD9DDD9-D79F-C9E1-B80F-05EBA34AC203}"/>
              </a:ext>
            </a:extLst>
          </p:cNvPr>
          <p:cNvSpPr>
            <a:spLocks noGrp="1" noChangeArrowheads="1"/>
          </p:cNvSpPr>
          <p:nvPr>
            <p:ph type="ctrTitle"/>
          </p:nvPr>
        </p:nvSpPr>
        <p:spPr>
          <a:xfrm>
            <a:off x="900113" y="765175"/>
            <a:ext cx="7772400" cy="1655763"/>
          </a:xfrm>
        </p:spPr>
        <p:txBody>
          <a:bodyPr/>
          <a:lstStyle/>
          <a:p>
            <a:pPr algn="ctr" eaLnBrk="1" hangingPunct="1"/>
            <a:r>
              <a:rPr lang="zh-TW" altLang="en-US" dirty="0">
                <a:ea typeface="標楷體" panose="03000509000000000000" pitchFamily="65" charset="-120"/>
              </a:rPr>
              <a:t>謝謝聆聽</a:t>
            </a:r>
          </a:p>
        </p:txBody>
      </p:sp>
    </p:spTree>
  </p:cSld>
  <p:clrMapOvr>
    <a:masterClrMapping/>
  </p:clrMapOvr>
  <p:transition/>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新細明體"/>
        <a:cs typeface=""/>
      </a:majorFont>
      <a:minorFont>
        <a:latin typeface="Tahoma"/>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5294</TotalTime>
  <Words>3563</Words>
  <Application>Microsoft Office PowerPoint</Application>
  <PresentationFormat>如螢幕大小 (4:3)</PresentationFormat>
  <Paragraphs>362</Paragraphs>
  <Slides>61</Slides>
  <Notes>7</Notes>
  <HiddenSlides>0</HiddenSlides>
  <MMClips>0</MMClips>
  <ScaleCrop>false</ScaleCrop>
  <HeadingPairs>
    <vt:vector size="8" baseType="variant">
      <vt:variant>
        <vt:lpstr>使用字型</vt:lpstr>
      </vt:variant>
      <vt:variant>
        <vt:i4>9</vt:i4>
      </vt:variant>
      <vt:variant>
        <vt:lpstr>佈景主題</vt:lpstr>
      </vt:variant>
      <vt:variant>
        <vt:i4>1</vt:i4>
      </vt:variant>
      <vt:variant>
        <vt:lpstr>內嵌 OLE 伺服程式</vt:lpstr>
      </vt:variant>
      <vt:variant>
        <vt:i4>1</vt:i4>
      </vt:variant>
      <vt:variant>
        <vt:lpstr>投影片標題</vt:lpstr>
      </vt:variant>
      <vt:variant>
        <vt:i4>61</vt:i4>
      </vt:variant>
    </vt:vector>
  </HeadingPairs>
  <TitlesOfParts>
    <vt:vector size="72" baseType="lpstr">
      <vt:lpstr>微軟正黑體</vt:lpstr>
      <vt:lpstr>新細明體</vt:lpstr>
      <vt:lpstr>標楷體</vt:lpstr>
      <vt:lpstr>Arial</vt:lpstr>
      <vt:lpstr>Arial Narrow</vt:lpstr>
      <vt:lpstr>Tahoma</vt:lpstr>
      <vt:lpstr>Times New Roman</vt:lpstr>
      <vt:lpstr>Verdana</vt:lpstr>
      <vt:lpstr>Wingdings</vt:lpstr>
      <vt:lpstr>Blends</vt:lpstr>
      <vt:lpstr>圖表</vt:lpstr>
      <vt:lpstr>性別平等-紮根社區</vt:lpstr>
      <vt:lpstr>課程大綱</vt:lpstr>
      <vt:lpstr>社區的日常治理</vt:lpstr>
      <vt:lpstr>我們對男女期待-個性、行為 </vt:lpstr>
      <vt:lpstr>PowerPoint 簡報</vt:lpstr>
      <vt:lpstr>中山票選「性別金曲」家後 唱出深情 唱出性別歧視</vt:lpstr>
      <vt:lpstr>衣著 </vt:lpstr>
      <vt:lpstr>職場</vt:lpstr>
      <vt:lpstr>周美鳳 高市首位女派出所長 文／莊亞築 </vt:lpstr>
      <vt:lpstr>李吳敏美接掌高雄區漁會首位女性理事長                                            文／謝龍田</vt:lpstr>
      <vt:lpstr>習俗與文化</vt:lpstr>
      <vt:lpstr>習俗</vt:lpstr>
      <vt:lpstr>性別暴力受害者以女性居多 </vt:lpstr>
      <vt:lpstr>社區習以為常</vt:lpstr>
      <vt:lpstr>為什麼社區需要性別平等</vt:lpstr>
      <vt:lpstr>性別是什麼？</vt:lpstr>
      <vt:lpstr>性別是什麼</vt:lpstr>
      <vt:lpstr>性別認同 (Gender Identity)</vt:lpstr>
      <vt:lpstr>性別認同發展歷程</vt:lpstr>
      <vt:lpstr>PowerPoint 簡報</vt:lpstr>
      <vt:lpstr>多元性別</vt:lpstr>
      <vt:lpstr>跨性別者如何相處︖</vt:lpstr>
      <vt:lpstr>性別與身體界線</vt:lpstr>
      <vt:lpstr>性別主流化 gender Mainstreaming</vt:lpstr>
      <vt:lpstr>PowerPoint 簡報</vt:lpstr>
      <vt:lpstr>原則1</vt:lpstr>
      <vt:lpstr>原則2</vt:lpstr>
      <vt:lpstr>國際推動性別主流化源起1</vt:lpstr>
      <vt:lpstr>國際推動性別主流化源起2</vt:lpstr>
      <vt:lpstr>國際推動性別主流化源起3</vt:lpstr>
      <vt:lpstr>國際推動性別主流化源起4</vt:lpstr>
      <vt:lpstr>性別主流化在台灣（一）</vt:lpstr>
      <vt:lpstr>性別主流化在台灣（二）</vt:lpstr>
      <vt:lpstr>性別主流化在台灣（三）</vt:lpstr>
      <vt:lpstr>CEDAW施行法</vt:lpstr>
      <vt:lpstr>CEDAW條文結構</vt:lpstr>
      <vt:lpstr>CEDAW施行法實施內涵</vt:lpstr>
      <vt:lpstr>特色與目標</vt:lpstr>
      <vt:lpstr>六大操作工具</vt:lpstr>
      <vt:lpstr>具體做法1</vt:lpstr>
      <vt:lpstr>具體做法2</vt:lpstr>
      <vt:lpstr>PowerPoint 簡報</vt:lpstr>
      <vt:lpstr>PowerPoint 簡報</vt:lpstr>
      <vt:lpstr>PowerPoint 簡報</vt:lpstr>
      <vt:lpstr>PowerPoint 簡報</vt:lpstr>
      <vt:lpstr>PowerPoint 簡報</vt:lpstr>
      <vt:lpstr>性別影響評估1</vt:lpstr>
      <vt:lpstr>性別影響評估2</vt:lpstr>
      <vt:lpstr>PowerPoint 簡報</vt:lpstr>
      <vt:lpstr>人才培力1</vt:lpstr>
      <vt:lpstr>人才培力2</vt:lpstr>
      <vt:lpstr>人才培力3</vt:lpstr>
      <vt:lpstr>專責機制</vt:lpstr>
      <vt:lpstr>性別與教育</vt:lpstr>
      <vt:lpstr>PowerPoint 簡報</vt:lpstr>
      <vt:lpstr>社區推動性別平等的重要性</vt:lpstr>
      <vt:lpstr>核心理念</vt:lpstr>
      <vt:lpstr>推動策略1</vt:lpstr>
      <vt:lpstr>推動策略2</vt:lpstr>
      <vt:lpstr>具體行動</vt:lpstr>
      <vt:lpstr>謝謝聆聽</vt:lpstr>
    </vt:vector>
  </TitlesOfParts>
  <Company>CMT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婦女福利政策與立法</dc:title>
  <dc:creator>USER</dc:creator>
  <cp:lastModifiedBy>坋妃 許</cp:lastModifiedBy>
  <cp:revision>97</cp:revision>
  <dcterms:created xsi:type="dcterms:W3CDTF">2006-05-28T01:12:38Z</dcterms:created>
  <dcterms:modified xsi:type="dcterms:W3CDTF">2026-04-29T00:44:58Z</dcterms:modified>
</cp:coreProperties>
</file>