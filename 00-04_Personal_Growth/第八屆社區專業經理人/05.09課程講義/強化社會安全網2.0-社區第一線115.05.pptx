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708" r:id="rId3"/>
    <p:sldId id="709" r:id="rId4"/>
    <p:sldId id="710" r:id="rId5"/>
    <p:sldId id="647" r:id="rId6"/>
    <p:sldId id="688" r:id="rId7"/>
    <p:sldId id="646" r:id="rId8"/>
    <p:sldId id="1351" r:id="rId9"/>
    <p:sldId id="258" r:id="rId10"/>
    <p:sldId id="311" r:id="rId11"/>
    <p:sldId id="329" r:id="rId12"/>
    <p:sldId id="720" r:id="rId13"/>
    <p:sldId id="290" r:id="rId14"/>
    <p:sldId id="1331" r:id="rId15"/>
    <p:sldId id="721" r:id="rId16"/>
    <p:sldId id="297" r:id="rId17"/>
    <p:sldId id="1310" r:id="rId18"/>
    <p:sldId id="338" r:id="rId19"/>
    <p:sldId id="1424" r:id="rId20"/>
    <p:sldId id="1389" r:id="rId21"/>
    <p:sldId id="1428" r:id="rId22"/>
    <p:sldId id="1260" r:id="rId23"/>
    <p:sldId id="1304" r:id="rId24"/>
    <p:sldId id="1355" r:id="rId25"/>
    <p:sldId id="260" r:id="rId26"/>
    <p:sldId id="261" r:id="rId27"/>
    <p:sldId id="262" r:id="rId28"/>
    <p:sldId id="264" r:id="rId29"/>
    <p:sldId id="265" r:id="rId30"/>
    <p:sldId id="1427" r:id="rId31"/>
    <p:sldId id="358" r:id="rId32"/>
    <p:sldId id="359" r:id="rId33"/>
    <p:sldId id="365" r:id="rId34"/>
    <p:sldId id="257" r:id="rId35"/>
    <p:sldId id="1334" r:id="rId36"/>
    <p:sldId id="1308" r:id="rId37"/>
    <p:sldId id="422" r:id="rId38"/>
    <p:sldId id="1311" r:id="rId39"/>
    <p:sldId id="1316" r:id="rId4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坋妃 許" initials="坋妃" lastIdx="1" clrIdx="0">
    <p:extLst>
      <p:ext uri="{19B8F6BF-5375-455C-9EA6-DF929625EA0E}">
        <p15:presenceInfo xmlns:p15="http://schemas.microsoft.com/office/powerpoint/2012/main" userId="9a2a22223d9ae36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9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7.png"/></Relationships>
</file>

<file path=ppt/diagrams/_rels/drawing1.xml.rels><?xml version="1.0" encoding="UTF-8" standalone="yes"?>
<Relationships xmlns="http://schemas.openxmlformats.org/package/2006/relationships"><Relationship Id="rId1"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B4E702-4ABA-444D-876A-DC4C48FFA998}" type="doc">
      <dgm:prSet loTypeId="urn:microsoft.com/office/officeart/2005/8/layout/radial2" loCatId="relationship" qsTypeId="urn:microsoft.com/office/officeart/2005/8/quickstyle/3d2#2" qsCatId="3D" csTypeId="urn:microsoft.com/office/officeart/2005/8/colors/colorful5" csCatId="colorful" phldr="1"/>
      <dgm:spPr/>
      <dgm:t>
        <a:bodyPr/>
        <a:lstStyle/>
        <a:p>
          <a:endParaRPr lang="zh-TW" altLang="en-US"/>
        </a:p>
      </dgm:t>
    </dgm:pt>
    <dgm:pt modelId="{BBDA9001-55D3-4724-A5AB-1A56286813F3}">
      <dgm:prSet phldrT="[文字]" custT="1"/>
      <dgm:spPr/>
      <dgm:t>
        <a:bodyPr/>
        <a:lstStyle/>
        <a:p>
          <a:r>
            <a:rPr lang="zh-TW" altLang="en-US" sz="1700" b="1" dirty="0">
              <a:solidFill>
                <a:schemeClr val="bg1"/>
              </a:solidFill>
              <a:latin typeface="微軟正黑體" pitchFamily="34" charset="-120"/>
              <a:ea typeface="微軟正黑體" pitchFamily="34" charset="-120"/>
            </a:rPr>
            <a:t>隨機殺人案件頻傳</a:t>
          </a:r>
        </a:p>
      </dgm:t>
    </dgm:pt>
    <dgm:pt modelId="{624147B8-278C-463C-A0F1-65A555279845}" type="parTrans" cxnId="{11DEDBAD-43EB-4F19-ADE0-5BDC99781EB5}">
      <dgm:prSet/>
      <dgm:spPr/>
      <dgm:t>
        <a:bodyPr/>
        <a:lstStyle/>
        <a:p>
          <a:endParaRPr lang="zh-TW" altLang="en-US" sz="1700">
            <a:latin typeface="微軟正黑體" pitchFamily="34" charset="-120"/>
            <a:ea typeface="微軟正黑體" pitchFamily="34" charset="-120"/>
          </a:endParaRPr>
        </a:p>
      </dgm:t>
    </dgm:pt>
    <dgm:pt modelId="{2F0120E1-4D3F-4ACE-9D6D-E3EEE7BB6619}" type="sibTrans" cxnId="{11DEDBAD-43EB-4F19-ADE0-5BDC99781EB5}">
      <dgm:prSet/>
      <dgm:spPr/>
      <dgm:t>
        <a:bodyPr/>
        <a:lstStyle/>
        <a:p>
          <a:endParaRPr lang="zh-TW" altLang="en-US" sz="1700">
            <a:latin typeface="微軟正黑體" pitchFamily="34" charset="-120"/>
            <a:ea typeface="微軟正黑體" pitchFamily="34" charset="-120"/>
          </a:endParaRPr>
        </a:p>
      </dgm:t>
    </dgm:pt>
    <dgm:pt modelId="{1D511EB8-3AA3-4CA4-A30D-12C186DD24CB}">
      <dgm:prSet phldrT="[文字]" custT="1"/>
      <dgm:spPr>
        <a:solidFill>
          <a:srgbClr val="FFC000"/>
        </a:solidFill>
      </dgm:spPr>
      <dgm:t>
        <a:bodyPr/>
        <a:lstStyle/>
        <a:p>
          <a:r>
            <a:rPr lang="zh-TW" altLang="en-US" sz="1700" b="1" dirty="0">
              <a:solidFill>
                <a:schemeClr val="bg1"/>
              </a:solidFill>
              <a:latin typeface="微軟正黑體" pitchFamily="34" charset="-120"/>
              <a:ea typeface="微軟正黑體" pitchFamily="34" charset="-120"/>
            </a:rPr>
            <a:t>自殺人數未明顯下降</a:t>
          </a:r>
        </a:p>
      </dgm:t>
    </dgm:pt>
    <dgm:pt modelId="{94D372D1-97DE-41D1-A2EF-D6E18780DE64}" type="parTrans" cxnId="{4E6CB9AC-7EEB-4410-8914-70DEE2E54597}">
      <dgm:prSet/>
      <dgm:spPr/>
      <dgm:t>
        <a:bodyPr/>
        <a:lstStyle/>
        <a:p>
          <a:endParaRPr lang="zh-TW" altLang="en-US" sz="1700">
            <a:latin typeface="微軟正黑體" pitchFamily="34" charset="-120"/>
            <a:ea typeface="微軟正黑體" pitchFamily="34" charset="-120"/>
          </a:endParaRPr>
        </a:p>
      </dgm:t>
    </dgm:pt>
    <dgm:pt modelId="{D32FF62C-CDF2-4680-9109-1EFF31D0B4CC}" type="sibTrans" cxnId="{4E6CB9AC-7EEB-4410-8914-70DEE2E54597}">
      <dgm:prSet/>
      <dgm:spPr/>
      <dgm:t>
        <a:bodyPr/>
        <a:lstStyle/>
        <a:p>
          <a:endParaRPr lang="zh-TW" altLang="en-US" sz="1700">
            <a:latin typeface="微軟正黑體" pitchFamily="34" charset="-120"/>
            <a:ea typeface="微軟正黑體" pitchFamily="34" charset="-120"/>
          </a:endParaRPr>
        </a:p>
      </dgm:t>
    </dgm:pt>
    <dgm:pt modelId="{0C657F98-7AF3-4E34-8808-169734BC834F}">
      <dgm:prSet phldrT="[文字]" custT="1"/>
      <dgm:spPr/>
      <dgm:t>
        <a:bodyPr/>
        <a:lstStyle/>
        <a:p>
          <a:r>
            <a:rPr lang="zh-TW" altLang="en-US" sz="1700" b="1" dirty="0">
              <a:solidFill>
                <a:schemeClr val="bg1"/>
              </a:solidFill>
              <a:latin typeface="微軟正黑體" pitchFamily="34" charset="-120"/>
              <a:ea typeface="微軟正黑體" pitchFamily="34" charset="-120"/>
            </a:rPr>
            <a:t>保護案件漸增</a:t>
          </a:r>
        </a:p>
      </dgm:t>
    </dgm:pt>
    <dgm:pt modelId="{BAC1A0D6-7C0B-4FD4-99E1-1AE2110E047D}" type="parTrans" cxnId="{492B101A-BBFF-41D5-BDF0-B432D464F3E0}">
      <dgm:prSet/>
      <dgm:spPr/>
      <dgm:t>
        <a:bodyPr/>
        <a:lstStyle/>
        <a:p>
          <a:endParaRPr lang="zh-TW" altLang="en-US" sz="1700">
            <a:latin typeface="微軟正黑體" pitchFamily="34" charset="-120"/>
            <a:ea typeface="微軟正黑體" pitchFamily="34" charset="-120"/>
          </a:endParaRPr>
        </a:p>
      </dgm:t>
    </dgm:pt>
    <dgm:pt modelId="{2FDB0D7A-0141-45AC-A1C1-FEC83B728517}" type="sibTrans" cxnId="{492B101A-BBFF-41D5-BDF0-B432D464F3E0}">
      <dgm:prSet/>
      <dgm:spPr/>
      <dgm:t>
        <a:bodyPr/>
        <a:lstStyle/>
        <a:p>
          <a:endParaRPr lang="zh-TW" altLang="en-US" sz="1700">
            <a:latin typeface="微軟正黑體" pitchFamily="34" charset="-120"/>
            <a:ea typeface="微軟正黑體" pitchFamily="34" charset="-120"/>
          </a:endParaRPr>
        </a:p>
      </dgm:t>
    </dgm:pt>
    <dgm:pt modelId="{E3600578-BAE5-4D25-BC81-E6C77C21A1E4}" type="pres">
      <dgm:prSet presAssocID="{67B4E702-4ABA-444D-876A-DC4C48FFA998}" presName="composite" presStyleCnt="0">
        <dgm:presLayoutVars>
          <dgm:chMax val="5"/>
          <dgm:dir/>
          <dgm:animLvl val="ctr"/>
          <dgm:resizeHandles val="exact"/>
        </dgm:presLayoutVars>
      </dgm:prSet>
      <dgm:spPr/>
    </dgm:pt>
    <dgm:pt modelId="{D6B9F35A-3531-4DEB-901A-4EC93C47B45E}" type="pres">
      <dgm:prSet presAssocID="{67B4E702-4ABA-444D-876A-DC4C48FFA998}" presName="cycle" presStyleCnt="0"/>
      <dgm:spPr/>
    </dgm:pt>
    <dgm:pt modelId="{4A25BC31-8092-47F7-AFE0-8EC48A8EBEE6}" type="pres">
      <dgm:prSet presAssocID="{67B4E702-4ABA-444D-876A-DC4C48FFA998}" presName="centerShape" presStyleCnt="0"/>
      <dgm:spPr/>
    </dgm:pt>
    <dgm:pt modelId="{64081774-2D6B-43C8-AAA4-CC5187B84477}" type="pres">
      <dgm:prSet presAssocID="{67B4E702-4ABA-444D-876A-DC4C48FFA998}" presName="connSite" presStyleLbl="node1" presStyleIdx="0" presStyleCnt="4"/>
      <dgm:spPr/>
    </dgm:pt>
    <dgm:pt modelId="{E2249031-8E5B-4DBB-A53A-6500FE272E02}" type="pres">
      <dgm:prSet presAssocID="{67B4E702-4ABA-444D-876A-DC4C48FFA998}" presName="visible" presStyleLbl="node1" presStyleIdx="0" presStyleCnt="4" custScaleX="89542" custScaleY="123673" custLinFactNeighborX="-25591" custLinFactNeighborY="-8646"/>
      <dgm:spPr>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dgm:spPr>
    </dgm:pt>
    <dgm:pt modelId="{4DB1E75B-A519-4760-93CB-AE27BD1BDAAB}" type="pres">
      <dgm:prSet presAssocID="{624147B8-278C-463C-A0F1-65A555279845}" presName="Name25" presStyleLbl="parChTrans1D1" presStyleIdx="0" presStyleCnt="3"/>
      <dgm:spPr/>
    </dgm:pt>
    <dgm:pt modelId="{9D65DB08-0BE7-418C-A3F3-EA2C05719CF2}" type="pres">
      <dgm:prSet presAssocID="{BBDA9001-55D3-4724-A5AB-1A56286813F3}" presName="node" presStyleCnt="0"/>
      <dgm:spPr/>
    </dgm:pt>
    <dgm:pt modelId="{0F98290B-6EED-4B73-B940-C8DB6BCF6395}" type="pres">
      <dgm:prSet presAssocID="{BBDA9001-55D3-4724-A5AB-1A56286813F3}" presName="parentNode" presStyleLbl="node1" presStyleIdx="1" presStyleCnt="4" custScaleX="194619" custScaleY="167508" custLinFactNeighborX="50504" custLinFactNeighborY="2670">
        <dgm:presLayoutVars>
          <dgm:chMax val="1"/>
          <dgm:bulletEnabled val="1"/>
        </dgm:presLayoutVars>
      </dgm:prSet>
      <dgm:spPr/>
    </dgm:pt>
    <dgm:pt modelId="{D6700619-BDB9-49EE-B09A-B5D9293B67E3}" type="pres">
      <dgm:prSet presAssocID="{BBDA9001-55D3-4724-A5AB-1A56286813F3}" presName="childNode" presStyleLbl="revTx" presStyleIdx="0" presStyleCnt="0">
        <dgm:presLayoutVars>
          <dgm:bulletEnabled val="1"/>
        </dgm:presLayoutVars>
      </dgm:prSet>
      <dgm:spPr/>
    </dgm:pt>
    <dgm:pt modelId="{C13656FB-F5E7-4328-888F-0BD57605C2E1}" type="pres">
      <dgm:prSet presAssocID="{BAC1A0D6-7C0B-4FD4-99E1-1AE2110E047D}" presName="Name25" presStyleLbl="parChTrans1D1" presStyleIdx="1" presStyleCnt="3"/>
      <dgm:spPr/>
    </dgm:pt>
    <dgm:pt modelId="{7AA80DF9-FB2E-40F2-BBFB-57BACA6C6DD9}" type="pres">
      <dgm:prSet presAssocID="{0C657F98-7AF3-4E34-8808-169734BC834F}" presName="node" presStyleCnt="0"/>
      <dgm:spPr/>
    </dgm:pt>
    <dgm:pt modelId="{C3F0CE98-D52C-4B0E-BFD2-FA169E86D7DC}" type="pres">
      <dgm:prSet presAssocID="{0C657F98-7AF3-4E34-8808-169734BC834F}" presName="parentNode" presStyleLbl="node1" presStyleIdx="2" presStyleCnt="4" custScaleX="202102" custScaleY="128975" custLinFactNeighborX="32622" custLinFactNeighborY="13929">
        <dgm:presLayoutVars>
          <dgm:chMax val="1"/>
          <dgm:bulletEnabled val="1"/>
        </dgm:presLayoutVars>
      </dgm:prSet>
      <dgm:spPr/>
    </dgm:pt>
    <dgm:pt modelId="{7941FFF8-A79E-471C-A4B7-F8B700902450}" type="pres">
      <dgm:prSet presAssocID="{0C657F98-7AF3-4E34-8808-169734BC834F}" presName="childNode" presStyleLbl="revTx" presStyleIdx="0" presStyleCnt="0">
        <dgm:presLayoutVars>
          <dgm:bulletEnabled val="1"/>
        </dgm:presLayoutVars>
      </dgm:prSet>
      <dgm:spPr/>
    </dgm:pt>
    <dgm:pt modelId="{4AC42EE4-4920-4C11-97DA-589DCDB22669}" type="pres">
      <dgm:prSet presAssocID="{94D372D1-97DE-41D1-A2EF-D6E18780DE64}" presName="Name25" presStyleLbl="parChTrans1D1" presStyleIdx="2" presStyleCnt="3"/>
      <dgm:spPr/>
    </dgm:pt>
    <dgm:pt modelId="{B3B76848-D8F5-4C92-8EA1-4AC3F09D408A}" type="pres">
      <dgm:prSet presAssocID="{1D511EB8-3AA3-4CA4-A30D-12C186DD24CB}" presName="node" presStyleCnt="0"/>
      <dgm:spPr/>
    </dgm:pt>
    <dgm:pt modelId="{0907608F-5475-40DA-84D3-FE29F21A9429}" type="pres">
      <dgm:prSet presAssocID="{1D511EB8-3AA3-4CA4-A30D-12C186DD24CB}" presName="parentNode" presStyleLbl="node1" presStyleIdx="3" presStyleCnt="4" custScaleX="229961" custScaleY="111774" custLinFactNeighborX="20253" custLinFactNeighborY="19136">
        <dgm:presLayoutVars>
          <dgm:chMax val="1"/>
          <dgm:bulletEnabled val="1"/>
        </dgm:presLayoutVars>
      </dgm:prSet>
      <dgm:spPr/>
    </dgm:pt>
    <dgm:pt modelId="{FB6BCC1E-CF21-473E-800B-D3C055950C61}" type="pres">
      <dgm:prSet presAssocID="{1D511EB8-3AA3-4CA4-A30D-12C186DD24CB}" presName="childNode" presStyleLbl="revTx" presStyleIdx="0" presStyleCnt="0">
        <dgm:presLayoutVars>
          <dgm:bulletEnabled val="1"/>
        </dgm:presLayoutVars>
      </dgm:prSet>
      <dgm:spPr/>
    </dgm:pt>
  </dgm:ptLst>
  <dgm:cxnLst>
    <dgm:cxn modelId="{97A17909-D2BB-4A0B-8152-A3640EFDF7C8}" type="presOf" srcId="{0C657F98-7AF3-4E34-8808-169734BC834F}" destId="{C3F0CE98-D52C-4B0E-BFD2-FA169E86D7DC}" srcOrd="0" destOrd="0" presId="urn:microsoft.com/office/officeart/2005/8/layout/radial2"/>
    <dgm:cxn modelId="{492B101A-BBFF-41D5-BDF0-B432D464F3E0}" srcId="{67B4E702-4ABA-444D-876A-DC4C48FFA998}" destId="{0C657F98-7AF3-4E34-8808-169734BC834F}" srcOrd="1" destOrd="0" parTransId="{BAC1A0D6-7C0B-4FD4-99E1-1AE2110E047D}" sibTransId="{2FDB0D7A-0141-45AC-A1C1-FEC83B728517}"/>
    <dgm:cxn modelId="{DBEDBB5D-C173-46EA-A493-A34399AACB48}" type="presOf" srcId="{1D511EB8-3AA3-4CA4-A30D-12C186DD24CB}" destId="{0907608F-5475-40DA-84D3-FE29F21A9429}" srcOrd="0" destOrd="0" presId="urn:microsoft.com/office/officeart/2005/8/layout/radial2"/>
    <dgm:cxn modelId="{C95A7284-812B-41EA-B22B-5356EA2A1296}" type="presOf" srcId="{94D372D1-97DE-41D1-A2EF-D6E18780DE64}" destId="{4AC42EE4-4920-4C11-97DA-589DCDB22669}" srcOrd="0" destOrd="0" presId="urn:microsoft.com/office/officeart/2005/8/layout/radial2"/>
    <dgm:cxn modelId="{EE199B84-93A0-4E4C-813A-5FE06B0D4B9F}" type="presOf" srcId="{67B4E702-4ABA-444D-876A-DC4C48FFA998}" destId="{E3600578-BAE5-4D25-BC81-E6C77C21A1E4}" srcOrd="0" destOrd="0" presId="urn:microsoft.com/office/officeart/2005/8/layout/radial2"/>
    <dgm:cxn modelId="{02EACAAA-6AA5-45C5-84EA-1099E3062C80}" type="presOf" srcId="{BAC1A0D6-7C0B-4FD4-99E1-1AE2110E047D}" destId="{C13656FB-F5E7-4328-888F-0BD57605C2E1}" srcOrd="0" destOrd="0" presId="urn:microsoft.com/office/officeart/2005/8/layout/radial2"/>
    <dgm:cxn modelId="{4E6CB9AC-7EEB-4410-8914-70DEE2E54597}" srcId="{67B4E702-4ABA-444D-876A-DC4C48FFA998}" destId="{1D511EB8-3AA3-4CA4-A30D-12C186DD24CB}" srcOrd="2" destOrd="0" parTransId="{94D372D1-97DE-41D1-A2EF-D6E18780DE64}" sibTransId="{D32FF62C-CDF2-4680-9109-1EFF31D0B4CC}"/>
    <dgm:cxn modelId="{11DEDBAD-43EB-4F19-ADE0-5BDC99781EB5}" srcId="{67B4E702-4ABA-444D-876A-DC4C48FFA998}" destId="{BBDA9001-55D3-4724-A5AB-1A56286813F3}" srcOrd="0" destOrd="0" parTransId="{624147B8-278C-463C-A0F1-65A555279845}" sibTransId="{2F0120E1-4D3F-4ACE-9D6D-E3EEE7BB6619}"/>
    <dgm:cxn modelId="{777CCCB8-F366-480D-8153-EA3FBC03D1E2}" type="presOf" srcId="{624147B8-278C-463C-A0F1-65A555279845}" destId="{4DB1E75B-A519-4760-93CB-AE27BD1BDAAB}" srcOrd="0" destOrd="0" presId="urn:microsoft.com/office/officeart/2005/8/layout/radial2"/>
    <dgm:cxn modelId="{278057BC-9821-4A61-81CC-FFED64396F73}" type="presOf" srcId="{BBDA9001-55D3-4724-A5AB-1A56286813F3}" destId="{0F98290B-6EED-4B73-B940-C8DB6BCF6395}" srcOrd="0" destOrd="0" presId="urn:microsoft.com/office/officeart/2005/8/layout/radial2"/>
    <dgm:cxn modelId="{313BB31B-E302-4BD6-92D5-028D98AE61D8}" type="presParOf" srcId="{E3600578-BAE5-4D25-BC81-E6C77C21A1E4}" destId="{D6B9F35A-3531-4DEB-901A-4EC93C47B45E}" srcOrd="0" destOrd="0" presId="urn:microsoft.com/office/officeart/2005/8/layout/radial2"/>
    <dgm:cxn modelId="{839C2C8C-54EC-42E7-8AE9-4E8968697B62}" type="presParOf" srcId="{D6B9F35A-3531-4DEB-901A-4EC93C47B45E}" destId="{4A25BC31-8092-47F7-AFE0-8EC48A8EBEE6}" srcOrd="0" destOrd="0" presId="urn:microsoft.com/office/officeart/2005/8/layout/radial2"/>
    <dgm:cxn modelId="{92207451-F445-4F0B-9275-A31BDA22146E}" type="presParOf" srcId="{4A25BC31-8092-47F7-AFE0-8EC48A8EBEE6}" destId="{64081774-2D6B-43C8-AAA4-CC5187B84477}" srcOrd="0" destOrd="0" presId="urn:microsoft.com/office/officeart/2005/8/layout/radial2"/>
    <dgm:cxn modelId="{6CB68EA9-9E8C-4E67-BF9D-3C9B5E2DB127}" type="presParOf" srcId="{4A25BC31-8092-47F7-AFE0-8EC48A8EBEE6}" destId="{E2249031-8E5B-4DBB-A53A-6500FE272E02}" srcOrd="1" destOrd="0" presId="urn:microsoft.com/office/officeart/2005/8/layout/radial2"/>
    <dgm:cxn modelId="{D90EB8A8-ECF8-4B84-A208-8E017650BBB0}" type="presParOf" srcId="{D6B9F35A-3531-4DEB-901A-4EC93C47B45E}" destId="{4DB1E75B-A519-4760-93CB-AE27BD1BDAAB}" srcOrd="1" destOrd="0" presId="urn:microsoft.com/office/officeart/2005/8/layout/radial2"/>
    <dgm:cxn modelId="{22F16C07-A173-4F1F-B2FB-18DF4BBAA540}" type="presParOf" srcId="{D6B9F35A-3531-4DEB-901A-4EC93C47B45E}" destId="{9D65DB08-0BE7-418C-A3F3-EA2C05719CF2}" srcOrd="2" destOrd="0" presId="urn:microsoft.com/office/officeart/2005/8/layout/radial2"/>
    <dgm:cxn modelId="{59A8649D-68D8-4449-A059-9CE1D3A6A022}" type="presParOf" srcId="{9D65DB08-0BE7-418C-A3F3-EA2C05719CF2}" destId="{0F98290B-6EED-4B73-B940-C8DB6BCF6395}" srcOrd="0" destOrd="0" presId="urn:microsoft.com/office/officeart/2005/8/layout/radial2"/>
    <dgm:cxn modelId="{1DFB0CFB-9DEA-4DA1-B1E4-F914B3F350BA}" type="presParOf" srcId="{9D65DB08-0BE7-418C-A3F3-EA2C05719CF2}" destId="{D6700619-BDB9-49EE-B09A-B5D9293B67E3}" srcOrd="1" destOrd="0" presId="urn:microsoft.com/office/officeart/2005/8/layout/radial2"/>
    <dgm:cxn modelId="{B3BA6D22-09C2-4C07-8B8A-EB04A7398158}" type="presParOf" srcId="{D6B9F35A-3531-4DEB-901A-4EC93C47B45E}" destId="{C13656FB-F5E7-4328-888F-0BD57605C2E1}" srcOrd="3" destOrd="0" presId="urn:microsoft.com/office/officeart/2005/8/layout/radial2"/>
    <dgm:cxn modelId="{CA22FDE3-24A3-407E-968B-6A2469778B4F}" type="presParOf" srcId="{D6B9F35A-3531-4DEB-901A-4EC93C47B45E}" destId="{7AA80DF9-FB2E-40F2-BBFB-57BACA6C6DD9}" srcOrd="4" destOrd="0" presId="urn:microsoft.com/office/officeart/2005/8/layout/radial2"/>
    <dgm:cxn modelId="{1435034B-F4AE-49A3-A20B-0CF897CFB5ED}" type="presParOf" srcId="{7AA80DF9-FB2E-40F2-BBFB-57BACA6C6DD9}" destId="{C3F0CE98-D52C-4B0E-BFD2-FA169E86D7DC}" srcOrd="0" destOrd="0" presId="urn:microsoft.com/office/officeart/2005/8/layout/radial2"/>
    <dgm:cxn modelId="{CD0AE1B7-C4D9-4860-8B47-E7AAC590B8E0}" type="presParOf" srcId="{7AA80DF9-FB2E-40F2-BBFB-57BACA6C6DD9}" destId="{7941FFF8-A79E-471C-A4B7-F8B700902450}" srcOrd="1" destOrd="0" presId="urn:microsoft.com/office/officeart/2005/8/layout/radial2"/>
    <dgm:cxn modelId="{F11707B5-6B02-4C01-A704-F24D9F48C9C6}" type="presParOf" srcId="{D6B9F35A-3531-4DEB-901A-4EC93C47B45E}" destId="{4AC42EE4-4920-4C11-97DA-589DCDB22669}" srcOrd="5" destOrd="0" presId="urn:microsoft.com/office/officeart/2005/8/layout/radial2"/>
    <dgm:cxn modelId="{DC17D617-145F-40DB-9DE5-65A5D0A7C741}" type="presParOf" srcId="{D6B9F35A-3531-4DEB-901A-4EC93C47B45E}" destId="{B3B76848-D8F5-4C92-8EA1-4AC3F09D408A}" srcOrd="6" destOrd="0" presId="urn:microsoft.com/office/officeart/2005/8/layout/radial2"/>
    <dgm:cxn modelId="{4B58D908-BA1D-4982-824B-918C0CE86472}" type="presParOf" srcId="{B3B76848-D8F5-4C92-8EA1-4AC3F09D408A}" destId="{0907608F-5475-40DA-84D3-FE29F21A9429}" srcOrd="0" destOrd="0" presId="urn:microsoft.com/office/officeart/2005/8/layout/radial2"/>
    <dgm:cxn modelId="{0F257B55-83FE-46AE-A907-59F7F25A86DE}" type="presParOf" srcId="{B3B76848-D8F5-4C92-8EA1-4AC3F09D408A}" destId="{FB6BCC1E-CF21-473E-800B-D3C055950C61}" srcOrd="1" destOrd="0" presId="urn:microsoft.com/office/officeart/2005/8/layout/radial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38A0B7-2096-4008-B2B8-BE5C5AF7EFDE}" type="doc">
      <dgm:prSet loTypeId="urn:microsoft.com/office/officeart/2005/8/layout/radial6" loCatId="cycle" qsTypeId="urn:microsoft.com/office/officeart/2005/8/quickstyle/simple2" qsCatId="simple" csTypeId="urn:microsoft.com/office/officeart/2005/8/colors/colorful1#4" csCatId="colorful" phldr="1"/>
      <dgm:spPr/>
      <dgm:t>
        <a:bodyPr/>
        <a:lstStyle/>
        <a:p>
          <a:endParaRPr lang="zh-TW" altLang="en-US"/>
        </a:p>
      </dgm:t>
    </dgm:pt>
    <dgm:pt modelId="{7F25F271-10DD-4836-8D72-85740ECA4659}">
      <dgm:prSet phldrT="[文字]" custT="1"/>
      <dgm:spPr/>
      <dgm:t>
        <a:bodyPr/>
        <a:lstStyle/>
        <a:p>
          <a:r>
            <a:rPr lang="zh-TW" altLang="en-US" sz="2000" dirty="0">
              <a:latin typeface="+mj-ea"/>
              <a:ea typeface="+mj-ea"/>
            </a:rPr>
            <a:t>失業</a:t>
          </a:r>
        </a:p>
      </dgm:t>
    </dgm:pt>
    <dgm:pt modelId="{5F2C9A80-3B23-4B23-B888-B9495B628F37}" type="parTrans" cxnId="{6F11D964-5619-4916-B615-EBE9DFB12BA0}">
      <dgm:prSet/>
      <dgm:spPr/>
      <dgm:t>
        <a:bodyPr/>
        <a:lstStyle/>
        <a:p>
          <a:endParaRPr lang="zh-TW" altLang="en-US" sz="2000">
            <a:latin typeface="+mj-ea"/>
            <a:ea typeface="+mj-ea"/>
          </a:endParaRPr>
        </a:p>
      </dgm:t>
    </dgm:pt>
    <dgm:pt modelId="{CD23A5EC-3867-4EEF-B361-0C5A8BAB9344}" type="sibTrans" cxnId="{6F11D964-5619-4916-B615-EBE9DFB12BA0}">
      <dgm:prSet/>
      <dgm:spPr/>
      <dgm:t>
        <a:bodyPr/>
        <a:lstStyle/>
        <a:p>
          <a:endParaRPr lang="zh-TW" altLang="en-US" sz="2000">
            <a:latin typeface="+mj-ea"/>
            <a:ea typeface="+mj-ea"/>
          </a:endParaRPr>
        </a:p>
      </dgm:t>
    </dgm:pt>
    <dgm:pt modelId="{87D46653-4024-4BD2-BBD3-E31E77D16E1F}">
      <dgm:prSet phldrT="[文字]" custT="1"/>
      <dgm:spPr/>
      <dgm:t>
        <a:bodyPr/>
        <a:lstStyle/>
        <a:p>
          <a:r>
            <a:rPr lang="zh-TW" altLang="en-US" sz="2000" dirty="0">
              <a:latin typeface="+mj-ea"/>
              <a:ea typeface="+mj-ea"/>
            </a:rPr>
            <a:t>毒品</a:t>
          </a:r>
        </a:p>
      </dgm:t>
    </dgm:pt>
    <dgm:pt modelId="{3D1B32D0-8BCB-4751-9881-1CA303D75AFA}" type="parTrans" cxnId="{1DB5EA30-DAD8-4B2F-8101-20943452B4FA}">
      <dgm:prSet/>
      <dgm:spPr/>
      <dgm:t>
        <a:bodyPr/>
        <a:lstStyle/>
        <a:p>
          <a:endParaRPr lang="zh-TW" altLang="en-US" sz="2000">
            <a:latin typeface="+mj-ea"/>
            <a:ea typeface="+mj-ea"/>
          </a:endParaRPr>
        </a:p>
      </dgm:t>
    </dgm:pt>
    <dgm:pt modelId="{734BC78C-CECE-4906-BD9F-5AD45AE8DFFA}" type="sibTrans" cxnId="{1DB5EA30-DAD8-4B2F-8101-20943452B4FA}">
      <dgm:prSet/>
      <dgm:spPr/>
      <dgm:t>
        <a:bodyPr/>
        <a:lstStyle/>
        <a:p>
          <a:endParaRPr lang="zh-TW" altLang="en-US" sz="2000">
            <a:latin typeface="+mj-ea"/>
            <a:ea typeface="+mj-ea"/>
          </a:endParaRPr>
        </a:p>
      </dgm:t>
    </dgm:pt>
    <dgm:pt modelId="{E37D9D4D-8E12-4680-B3B6-F8B243502755}">
      <dgm:prSet phldrT="[文字]" custT="1"/>
      <dgm:spPr/>
      <dgm:t>
        <a:bodyPr/>
        <a:lstStyle/>
        <a:p>
          <a:pPr>
            <a:lnSpc>
              <a:spcPts val="2200"/>
            </a:lnSpc>
            <a:spcAft>
              <a:spcPts val="0"/>
            </a:spcAft>
          </a:pPr>
          <a:r>
            <a:rPr lang="zh-TW" altLang="en-US" sz="2000" dirty="0">
              <a:latin typeface="+mj-ea"/>
              <a:ea typeface="+mj-ea"/>
            </a:rPr>
            <a:t>精神</a:t>
          </a:r>
          <a:endParaRPr lang="en-US" altLang="zh-TW" sz="2000" dirty="0">
            <a:latin typeface="+mj-ea"/>
            <a:ea typeface="+mj-ea"/>
          </a:endParaRPr>
        </a:p>
        <a:p>
          <a:pPr>
            <a:lnSpc>
              <a:spcPts val="2200"/>
            </a:lnSpc>
            <a:spcAft>
              <a:spcPts val="0"/>
            </a:spcAft>
          </a:pPr>
          <a:r>
            <a:rPr lang="zh-TW" altLang="en-US" sz="2000" dirty="0">
              <a:latin typeface="+mj-ea"/>
              <a:ea typeface="+mj-ea"/>
            </a:rPr>
            <a:t>疾病</a:t>
          </a:r>
        </a:p>
      </dgm:t>
    </dgm:pt>
    <dgm:pt modelId="{39451731-69BB-4954-B081-11A9BD3B30AA}" type="parTrans" cxnId="{E5806DD3-FDDD-4B7E-8B88-94718D562002}">
      <dgm:prSet/>
      <dgm:spPr/>
      <dgm:t>
        <a:bodyPr/>
        <a:lstStyle/>
        <a:p>
          <a:endParaRPr lang="zh-TW" altLang="en-US" sz="2000">
            <a:latin typeface="+mj-ea"/>
            <a:ea typeface="+mj-ea"/>
          </a:endParaRPr>
        </a:p>
      </dgm:t>
    </dgm:pt>
    <dgm:pt modelId="{F8E2C749-F9AA-4B0E-B157-5379655F727E}" type="sibTrans" cxnId="{E5806DD3-FDDD-4B7E-8B88-94718D562002}">
      <dgm:prSet/>
      <dgm:spPr/>
      <dgm:t>
        <a:bodyPr/>
        <a:lstStyle/>
        <a:p>
          <a:endParaRPr lang="zh-TW" altLang="en-US" sz="2000">
            <a:latin typeface="+mj-ea"/>
            <a:ea typeface="+mj-ea"/>
          </a:endParaRPr>
        </a:p>
      </dgm:t>
    </dgm:pt>
    <dgm:pt modelId="{8FE96CD5-60FF-4F65-9243-0A3513D34920}">
      <dgm:prSet phldrT="[文字]" custT="1"/>
      <dgm:spPr/>
      <dgm:t>
        <a:bodyPr/>
        <a:lstStyle/>
        <a:p>
          <a:r>
            <a:rPr lang="zh-TW" altLang="en-US" sz="2000" dirty="0">
              <a:latin typeface="+mj-ea"/>
              <a:ea typeface="+mj-ea"/>
            </a:rPr>
            <a:t>貧窮</a:t>
          </a:r>
        </a:p>
      </dgm:t>
    </dgm:pt>
    <dgm:pt modelId="{E929472D-62E4-43E7-807D-87323FAD20CD}" type="sibTrans" cxnId="{941453F7-A854-4883-B7E0-4FFE53DE5B77}">
      <dgm:prSet/>
      <dgm:spPr/>
      <dgm:t>
        <a:bodyPr/>
        <a:lstStyle/>
        <a:p>
          <a:endParaRPr lang="zh-TW" altLang="en-US" sz="2000">
            <a:latin typeface="+mj-ea"/>
            <a:ea typeface="+mj-ea"/>
          </a:endParaRPr>
        </a:p>
      </dgm:t>
    </dgm:pt>
    <dgm:pt modelId="{33B2E3D5-0BB6-41C1-AFA8-DFE338009F3A}" type="parTrans" cxnId="{941453F7-A854-4883-B7E0-4FFE53DE5B77}">
      <dgm:prSet/>
      <dgm:spPr/>
      <dgm:t>
        <a:bodyPr/>
        <a:lstStyle/>
        <a:p>
          <a:endParaRPr lang="zh-TW" altLang="en-US" sz="2000">
            <a:latin typeface="+mj-ea"/>
            <a:ea typeface="+mj-ea"/>
          </a:endParaRPr>
        </a:p>
      </dgm:t>
    </dgm:pt>
    <dgm:pt modelId="{F2CD3859-9F1C-42CD-910E-28908A82A9B7}">
      <dgm:prSet phldrT="[文字]" custT="1"/>
      <dgm:spPr/>
      <dgm:t>
        <a:bodyPr/>
        <a:lstStyle/>
        <a:p>
          <a:pPr>
            <a:lnSpc>
              <a:spcPts val="2000"/>
            </a:lnSpc>
            <a:spcAft>
              <a:spcPts val="0"/>
            </a:spcAft>
          </a:pPr>
          <a:r>
            <a:rPr lang="zh-TW" altLang="en-US" sz="2000" b="1" dirty="0">
              <a:latin typeface="+mj-ea"/>
              <a:ea typeface="+mj-ea"/>
            </a:rPr>
            <a:t>隨機殺人案件</a:t>
          </a:r>
          <a:endParaRPr lang="en-US" altLang="zh-TW" sz="2000" b="1" dirty="0">
            <a:latin typeface="+mj-ea"/>
            <a:ea typeface="+mj-ea"/>
          </a:endParaRPr>
        </a:p>
        <a:p>
          <a:pPr>
            <a:lnSpc>
              <a:spcPts val="2000"/>
            </a:lnSpc>
            <a:spcAft>
              <a:spcPts val="0"/>
            </a:spcAft>
          </a:pPr>
          <a:r>
            <a:rPr lang="zh-TW" altLang="en-US" sz="2000" b="1" dirty="0">
              <a:latin typeface="+mj-ea"/>
              <a:ea typeface="+mj-ea"/>
            </a:rPr>
            <a:t>保護案件</a:t>
          </a:r>
          <a:endParaRPr lang="en-US" altLang="zh-TW" sz="2000" b="1" dirty="0">
            <a:latin typeface="+mj-ea"/>
            <a:ea typeface="+mj-ea"/>
          </a:endParaRPr>
        </a:p>
        <a:p>
          <a:pPr>
            <a:lnSpc>
              <a:spcPts val="2000"/>
            </a:lnSpc>
            <a:spcAft>
              <a:spcPts val="0"/>
            </a:spcAft>
          </a:pPr>
          <a:r>
            <a:rPr lang="zh-TW" altLang="en-US" sz="2000" b="1" dirty="0">
              <a:latin typeface="+mj-ea"/>
              <a:ea typeface="+mj-ea"/>
            </a:rPr>
            <a:t>自殺案件</a:t>
          </a:r>
          <a:endParaRPr lang="en-US" altLang="zh-TW" sz="2000" b="1" dirty="0">
            <a:latin typeface="+mj-ea"/>
            <a:ea typeface="+mj-ea"/>
          </a:endParaRPr>
        </a:p>
        <a:p>
          <a:pPr>
            <a:lnSpc>
              <a:spcPts val="2000"/>
            </a:lnSpc>
            <a:spcAft>
              <a:spcPts val="0"/>
            </a:spcAft>
          </a:pPr>
          <a:r>
            <a:rPr lang="zh-TW" altLang="en-US" sz="2000" b="1" dirty="0">
              <a:latin typeface="+mj-ea"/>
              <a:ea typeface="+mj-ea"/>
            </a:rPr>
            <a:t>之</a:t>
          </a:r>
          <a:r>
            <a:rPr lang="zh-TW" altLang="en-US" sz="2000" b="1" dirty="0">
              <a:solidFill>
                <a:srgbClr val="FF0000"/>
              </a:solidFill>
              <a:latin typeface="+mj-ea"/>
              <a:ea typeface="+mj-ea"/>
            </a:rPr>
            <a:t>成因</a:t>
          </a:r>
        </a:p>
      </dgm:t>
    </dgm:pt>
    <dgm:pt modelId="{5A25353E-0D59-4787-9410-E6AA0DCE172D}" type="sibTrans" cxnId="{FB4D7762-6BF8-4BE7-AA9E-AD3B56A13F67}">
      <dgm:prSet/>
      <dgm:spPr/>
      <dgm:t>
        <a:bodyPr/>
        <a:lstStyle/>
        <a:p>
          <a:endParaRPr lang="zh-TW" altLang="en-US" sz="2000">
            <a:latin typeface="+mj-ea"/>
            <a:ea typeface="+mj-ea"/>
          </a:endParaRPr>
        </a:p>
      </dgm:t>
    </dgm:pt>
    <dgm:pt modelId="{7338FDBC-391A-442A-B30E-39418F96468F}" type="parTrans" cxnId="{FB4D7762-6BF8-4BE7-AA9E-AD3B56A13F67}">
      <dgm:prSet/>
      <dgm:spPr/>
      <dgm:t>
        <a:bodyPr/>
        <a:lstStyle/>
        <a:p>
          <a:endParaRPr lang="zh-TW" altLang="en-US" sz="2000">
            <a:latin typeface="+mj-ea"/>
            <a:ea typeface="+mj-ea"/>
          </a:endParaRPr>
        </a:p>
      </dgm:t>
    </dgm:pt>
    <dgm:pt modelId="{662FF38A-C5CA-49A2-BAE5-C6A773388F07}">
      <dgm:prSet custT="1"/>
      <dgm:spPr/>
      <dgm:t>
        <a:bodyPr/>
        <a:lstStyle/>
        <a:p>
          <a:pPr>
            <a:lnSpc>
              <a:spcPts val="2200"/>
            </a:lnSpc>
            <a:spcAft>
              <a:spcPts val="0"/>
            </a:spcAft>
          </a:pPr>
          <a:r>
            <a:rPr lang="zh-TW" altLang="en-US" sz="2000" dirty="0">
              <a:latin typeface="+mj-ea"/>
              <a:ea typeface="+mj-ea"/>
            </a:rPr>
            <a:t>家庭</a:t>
          </a:r>
          <a:endParaRPr lang="en-US" altLang="zh-TW" sz="2000" dirty="0">
            <a:latin typeface="+mj-ea"/>
            <a:ea typeface="+mj-ea"/>
          </a:endParaRPr>
        </a:p>
        <a:p>
          <a:pPr>
            <a:lnSpc>
              <a:spcPts val="2200"/>
            </a:lnSpc>
            <a:spcAft>
              <a:spcPts val="0"/>
            </a:spcAft>
          </a:pPr>
          <a:r>
            <a:rPr lang="zh-TW" altLang="en-US" sz="2000" dirty="0">
              <a:latin typeface="+mj-ea"/>
              <a:ea typeface="+mj-ea"/>
            </a:rPr>
            <a:t>結構</a:t>
          </a:r>
        </a:p>
      </dgm:t>
    </dgm:pt>
    <dgm:pt modelId="{FF5A534B-D4FE-4189-AEF2-46D63030C61D}" type="parTrans" cxnId="{EC12DAE7-1521-41D8-94D0-BBB127AE07E4}">
      <dgm:prSet/>
      <dgm:spPr/>
      <dgm:t>
        <a:bodyPr/>
        <a:lstStyle/>
        <a:p>
          <a:endParaRPr lang="zh-TW" altLang="en-US" sz="2000">
            <a:latin typeface="+mj-ea"/>
            <a:ea typeface="+mj-ea"/>
          </a:endParaRPr>
        </a:p>
      </dgm:t>
    </dgm:pt>
    <dgm:pt modelId="{30E8C554-ACB2-4C4E-AB42-E41B7A07CED2}" type="sibTrans" cxnId="{EC12DAE7-1521-41D8-94D0-BBB127AE07E4}">
      <dgm:prSet/>
      <dgm:spPr/>
      <dgm:t>
        <a:bodyPr/>
        <a:lstStyle/>
        <a:p>
          <a:endParaRPr lang="zh-TW" altLang="en-US" sz="2000">
            <a:latin typeface="+mj-ea"/>
            <a:ea typeface="+mj-ea"/>
          </a:endParaRPr>
        </a:p>
      </dgm:t>
    </dgm:pt>
    <dgm:pt modelId="{076372C6-7F51-4BE7-86B0-052282229D04}" type="pres">
      <dgm:prSet presAssocID="{D338A0B7-2096-4008-B2B8-BE5C5AF7EFDE}" presName="Name0" presStyleCnt="0">
        <dgm:presLayoutVars>
          <dgm:chMax val="1"/>
          <dgm:dir/>
          <dgm:animLvl val="ctr"/>
          <dgm:resizeHandles val="exact"/>
        </dgm:presLayoutVars>
      </dgm:prSet>
      <dgm:spPr/>
    </dgm:pt>
    <dgm:pt modelId="{E28326A6-85D1-4995-AA24-6B373931E053}" type="pres">
      <dgm:prSet presAssocID="{F2CD3859-9F1C-42CD-910E-28908A82A9B7}" presName="centerShape" presStyleLbl="node0" presStyleIdx="0" presStyleCnt="1" custScaleX="148801" custScaleY="123489" custLinFactNeighborX="2172"/>
      <dgm:spPr/>
    </dgm:pt>
    <dgm:pt modelId="{D9C34AF0-3840-4505-B5AC-C40F8044ED6E}" type="pres">
      <dgm:prSet presAssocID="{8FE96CD5-60FF-4F65-9243-0A3513D34920}" presName="node" presStyleLbl="node1" presStyleIdx="0" presStyleCnt="5">
        <dgm:presLayoutVars>
          <dgm:bulletEnabled val="1"/>
        </dgm:presLayoutVars>
      </dgm:prSet>
      <dgm:spPr/>
    </dgm:pt>
    <dgm:pt modelId="{EB93BCCA-E6C5-4907-BDB9-0BBCB6E00682}" type="pres">
      <dgm:prSet presAssocID="{8FE96CD5-60FF-4F65-9243-0A3513D34920}" presName="dummy" presStyleCnt="0"/>
      <dgm:spPr/>
    </dgm:pt>
    <dgm:pt modelId="{08E91779-1FE9-49EA-B886-AF39C1CF275F}" type="pres">
      <dgm:prSet presAssocID="{E929472D-62E4-43E7-807D-87323FAD20CD}" presName="sibTrans" presStyleLbl="sibTrans2D1" presStyleIdx="0" presStyleCnt="5"/>
      <dgm:spPr/>
    </dgm:pt>
    <dgm:pt modelId="{7D34CCCE-1DC0-446C-B408-46D55B3505D3}" type="pres">
      <dgm:prSet presAssocID="{7F25F271-10DD-4836-8D72-85740ECA4659}" presName="node" presStyleLbl="node1" presStyleIdx="1" presStyleCnt="5">
        <dgm:presLayoutVars>
          <dgm:bulletEnabled val="1"/>
        </dgm:presLayoutVars>
      </dgm:prSet>
      <dgm:spPr/>
    </dgm:pt>
    <dgm:pt modelId="{954EF965-E361-4AD3-B9A8-489DA18944A0}" type="pres">
      <dgm:prSet presAssocID="{7F25F271-10DD-4836-8D72-85740ECA4659}" presName="dummy" presStyleCnt="0"/>
      <dgm:spPr/>
    </dgm:pt>
    <dgm:pt modelId="{689454BF-8865-40CC-AA8C-B1B2E603D4ED}" type="pres">
      <dgm:prSet presAssocID="{CD23A5EC-3867-4EEF-B361-0C5A8BAB9344}" presName="sibTrans" presStyleLbl="sibTrans2D1" presStyleIdx="1" presStyleCnt="5"/>
      <dgm:spPr/>
    </dgm:pt>
    <dgm:pt modelId="{39F34595-E2B3-4779-AA34-525022370CD5}" type="pres">
      <dgm:prSet presAssocID="{87D46653-4024-4BD2-BBD3-E31E77D16E1F}" presName="node" presStyleLbl="node1" presStyleIdx="2" presStyleCnt="5">
        <dgm:presLayoutVars>
          <dgm:bulletEnabled val="1"/>
        </dgm:presLayoutVars>
      </dgm:prSet>
      <dgm:spPr/>
    </dgm:pt>
    <dgm:pt modelId="{9F724810-8517-4F94-B882-66053D868C9F}" type="pres">
      <dgm:prSet presAssocID="{87D46653-4024-4BD2-BBD3-E31E77D16E1F}" presName="dummy" presStyleCnt="0"/>
      <dgm:spPr/>
    </dgm:pt>
    <dgm:pt modelId="{63D56665-7532-4302-AE0E-6A95D9D48F7E}" type="pres">
      <dgm:prSet presAssocID="{734BC78C-CECE-4906-BD9F-5AD45AE8DFFA}" presName="sibTrans" presStyleLbl="sibTrans2D1" presStyleIdx="2" presStyleCnt="5"/>
      <dgm:spPr/>
    </dgm:pt>
    <dgm:pt modelId="{6B877C3D-201B-4E6C-B45A-5F04A92B033B}" type="pres">
      <dgm:prSet presAssocID="{E37D9D4D-8E12-4680-B3B6-F8B243502755}" presName="node" presStyleLbl="node1" presStyleIdx="3" presStyleCnt="5">
        <dgm:presLayoutVars>
          <dgm:bulletEnabled val="1"/>
        </dgm:presLayoutVars>
      </dgm:prSet>
      <dgm:spPr/>
    </dgm:pt>
    <dgm:pt modelId="{A8D77BC7-38D6-4024-967D-C03FECAE0826}" type="pres">
      <dgm:prSet presAssocID="{E37D9D4D-8E12-4680-B3B6-F8B243502755}" presName="dummy" presStyleCnt="0"/>
      <dgm:spPr/>
    </dgm:pt>
    <dgm:pt modelId="{D5DBB5C1-5690-4F91-8523-4EF7D48D912A}" type="pres">
      <dgm:prSet presAssocID="{F8E2C749-F9AA-4B0E-B157-5379655F727E}" presName="sibTrans" presStyleLbl="sibTrans2D1" presStyleIdx="3" presStyleCnt="5"/>
      <dgm:spPr/>
    </dgm:pt>
    <dgm:pt modelId="{FAD925FA-7E4F-44E7-8713-828F4008A344}" type="pres">
      <dgm:prSet presAssocID="{662FF38A-C5CA-49A2-BAE5-C6A773388F07}" presName="node" presStyleLbl="node1" presStyleIdx="4" presStyleCnt="5">
        <dgm:presLayoutVars>
          <dgm:bulletEnabled val="1"/>
        </dgm:presLayoutVars>
      </dgm:prSet>
      <dgm:spPr/>
    </dgm:pt>
    <dgm:pt modelId="{AD5ED772-F802-4AF2-B949-1CE7FB60176B}" type="pres">
      <dgm:prSet presAssocID="{662FF38A-C5CA-49A2-BAE5-C6A773388F07}" presName="dummy" presStyleCnt="0"/>
      <dgm:spPr/>
    </dgm:pt>
    <dgm:pt modelId="{4EE85B18-8685-4369-A13D-EAA08C3945F1}" type="pres">
      <dgm:prSet presAssocID="{30E8C554-ACB2-4C4E-AB42-E41B7A07CED2}" presName="sibTrans" presStyleLbl="sibTrans2D1" presStyleIdx="4" presStyleCnt="5"/>
      <dgm:spPr/>
    </dgm:pt>
  </dgm:ptLst>
  <dgm:cxnLst>
    <dgm:cxn modelId="{28DB770B-7C90-49F2-806A-EB0CE6EEF4F9}" type="presOf" srcId="{662FF38A-C5CA-49A2-BAE5-C6A773388F07}" destId="{FAD925FA-7E4F-44E7-8713-828F4008A344}" srcOrd="0" destOrd="0" presId="urn:microsoft.com/office/officeart/2005/8/layout/radial6"/>
    <dgm:cxn modelId="{FC13DD14-2B42-4ED1-80EE-6540FADD1CAB}" type="presOf" srcId="{E37D9D4D-8E12-4680-B3B6-F8B243502755}" destId="{6B877C3D-201B-4E6C-B45A-5F04A92B033B}" srcOrd="0" destOrd="0" presId="urn:microsoft.com/office/officeart/2005/8/layout/radial6"/>
    <dgm:cxn modelId="{1DB5EA30-DAD8-4B2F-8101-20943452B4FA}" srcId="{F2CD3859-9F1C-42CD-910E-28908A82A9B7}" destId="{87D46653-4024-4BD2-BBD3-E31E77D16E1F}" srcOrd="2" destOrd="0" parTransId="{3D1B32D0-8BCB-4751-9881-1CA303D75AFA}" sibTransId="{734BC78C-CECE-4906-BD9F-5AD45AE8DFFA}"/>
    <dgm:cxn modelId="{04C03A5E-37FF-4040-8724-E67B649508BD}" type="presOf" srcId="{F2CD3859-9F1C-42CD-910E-28908A82A9B7}" destId="{E28326A6-85D1-4995-AA24-6B373931E053}" srcOrd="0" destOrd="0" presId="urn:microsoft.com/office/officeart/2005/8/layout/radial6"/>
    <dgm:cxn modelId="{FB4D7762-6BF8-4BE7-AA9E-AD3B56A13F67}" srcId="{D338A0B7-2096-4008-B2B8-BE5C5AF7EFDE}" destId="{F2CD3859-9F1C-42CD-910E-28908A82A9B7}" srcOrd="0" destOrd="0" parTransId="{7338FDBC-391A-442A-B30E-39418F96468F}" sibTransId="{5A25353E-0D59-4787-9410-E6AA0DCE172D}"/>
    <dgm:cxn modelId="{6F11D964-5619-4916-B615-EBE9DFB12BA0}" srcId="{F2CD3859-9F1C-42CD-910E-28908A82A9B7}" destId="{7F25F271-10DD-4836-8D72-85740ECA4659}" srcOrd="1" destOrd="0" parTransId="{5F2C9A80-3B23-4B23-B888-B9495B628F37}" sibTransId="{CD23A5EC-3867-4EEF-B361-0C5A8BAB9344}"/>
    <dgm:cxn modelId="{B7342B46-E693-48B9-A9AC-3F1D6BB94949}" type="presOf" srcId="{734BC78C-CECE-4906-BD9F-5AD45AE8DFFA}" destId="{63D56665-7532-4302-AE0E-6A95D9D48F7E}" srcOrd="0" destOrd="0" presId="urn:microsoft.com/office/officeart/2005/8/layout/radial6"/>
    <dgm:cxn modelId="{91A4A473-0B19-430F-9FCB-29660A2D65A9}" type="presOf" srcId="{30E8C554-ACB2-4C4E-AB42-E41B7A07CED2}" destId="{4EE85B18-8685-4369-A13D-EAA08C3945F1}" srcOrd="0" destOrd="0" presId="urn:microsoft.com/office/officeart/2005/8/layout/radial6"/>
    <dgm:cxn modelId="{2059A37F-CFE3-4503-A050-CAEDF8E06F12}" type="presOf" srcId="{E929472D-62E4-43E7-807D-87323FAD20CD}" destId="{08E91779-1FE9-49EA-B886-AF39C1CF275F}" srcOrd="0" destOrd="0" presId="urn:microsoft.com/office/officeart/2005/8/layout/radial6"/>
    <dgm:cxn modelId="{2A648C99-9174-4A47-BE79-EB5E9299FC0D}" type="presOf" srcId="{87D46653-4024-4BD2-BBD3-E31E77D16E1F}" destId="{39F34595-E2B3-4779-AA34-525022370CD5}" srcOrd="0" destOrd="0" presId="urn:microsoft.com/office/officeart/2005/8/layout/radial6"/>
    <dgm:cxn modelId="{7C7B0E9C-6439-422E-9AAF-0A28920A679B}" type="presOf" srcId="{7F25F271-10DD-4836-8D72-85740ECA4659}" destId="{7D34CCCE-1DC0-446C-B408-46D55B3505D3}" srcOrd="0" destOrd="0" presId="urn:microsoft.com/office/officeart/2005/8/layout/radial6"/>
    <dgm:cxn modelId="{946EFC9C-EC02-45CF-852D-A6F4A830C05F}" type="presOf" srcId="{D338A0B7-2096-4008-B2B8-BE5C5AF7EFDE}" destId="{076372C6-7F51-4BE7-86B0-052282229D04}" srcOrd="0" destOrd="0" presId="urn:microsoft.com/office/officeart/2005/8/layout/radial6"/>
    <dgm:cxn modelId="{E5806DD3-FDDD-4B7E-8B88-94718D562002}" srcId="{F2CD3859-9F1C-42CD-910E-28908A82A9B7}" destId="{E37D9D4D-8E12-4680-B3B6-F8B243502755}" srcOrd="3" destOrd="0" parTransId="{39451731-69BB-4954-B081-11A9BD3B30AA}" sibTransId="{F8E2C749-F9AA-4B0E-B157-5379655F727E}"/>
    <dgm:cxn modelId="{B9C1D0D4-D59E-4D4F-BCC1-806CB0C205FF}" type="presOf" srcId="{8FE96CD5-60FF-4F65-9243-0A3513D34920}" destId="{D9C34AF0-3840-4505-B5AC-C40F8044ED6E}" srcOrd="0" destOrd="0" presId="urn:microsoft.com/office/officeart/2005/8/layout/radial6"/>
    <dgm:cxn modelId="{95CE33E7-80F0-464B-B501-3D9050447B7D}" type="presOf" srcId="{F8E2C749-F9AA-4B0E-B157-5379655F727E}" destId="{D5DBB5C1-5690-4F91-8523-4EF7D48D912A}" srcOrd="0" destOrd="0" presId="urn:microsoft.com/office/officeart/2005/8/layout/radial6"/>
    <dgm:cxn modelId="{EC12DAE7-1521-41D8-94D0-BBB127AE07E4}" srcId="{F2CD3859-9F1C-42CD-910E-28908A82A9B7}" destId="{662FF38A-C5CA-49A2-BAE5-C6A773388F07}" srcOrd="4" destOrd="0" parTransId="{FF5A534B-D4FE-4189-AEF2-46D63030C61D}" sibTransId="{30E8C554-ACB2-4C4E-AB42-E41B7A07CED2}"/>
    <dgm:cxn modelId="{E2CCD3F5-EC01-4657-B30A-E15EF1D3FC21}" type="presOf" srcId="{CD23A5EC-3867-4EEF-B361-0C5A8BAB9344}" destId="{689454BF-8865-40CC-AA8C-B1B2E603D4ED}" srcOrd="0" destOrd="0" presId="urn:microsoft.com/office/officeart/2005/8/layout/radial6"/>
    <dgm:cxn modelId="{941453F7-A854-4883-B7E0-4FFE53DE5B77}" srcId="{F2CD3859-9F1C-42CD-910E-28908A82A9B7}" destId="{8FE96CD5-60FF-4F65-9243-0A3513D34920}" srcOrd="0" destOrd="0" parTransId="{33B2E3D5-0BB6-41C1-AFA8-DFE338009F3A}" sibTransId="{E929472D-62E4-43E7-807D-87323FAD20CD}"/>
    <dgm:cxn modelId="{DF2F78D2-EA9B-4C80-B1E9-80EC752DF63B}" type="presParOf" srcId="{076372C6-7F51-4BE7-86B0-052282229D04}" destId="{E28326A6-85D1-4995-AA24-6B373931E053}" srcOrd="0" destOrd="0" presId="urn:microsoft.com/office/officeart/2005/8/layout/radial6"/>
    <dgm:cxn modelId="{10F62696-D09E-40CA-8C72-09286FECD5DB}" type="presParOf" srcId="{076372C6-7F51-4BE7-86B0-052282229D04}" destId="{D9C34AF0-3840-4505-B5AC-C40F8044ED6E}" srcOrd="1" destOrd="0" presId="urn:microsoft.com/office/officeart/2005/8/layout/radial6"/>
    <dgm:cxn modelId="{15CC13D6-E398-4A17-84CA-84C76935CC03}" type="presParOf" srcId="{076372C6-7F51-4BE7-86B0-052282229D04}" destId="{EB93BCCA-E6C5-4907-BDB9-0BBCB6E00682}" srcOrd="2" destOrd="0" presId="urn:microsoft.com/office/officeart/2005/8/layout/radial6"/>
    <dgm:cxn modelId="{908AF520-4DA4-4076-96D4-F19D7D027A7C}" type="presParOf" srcId="{076372C6-7F51-4BE7-86B0-052282229D04}" destId="{08E91779-1FE9-49EA-B886-AF39C1CF275F}" srcOrd="3" destOrd="0" presId="urn:microsoft.com/office/officeart/2005/8/layout/radial6"/>
    <dgm:cxn modelId="{93A9E865-7F1F-4908-80A9-C270144DBA12}" type="presParOf" srcId="{076372C6-7F51-4BE7-86B0-052282229D04}" destId="{7D34CCCE-1DC0-446C-B408-46D55B3505D3}" srcOrd="4" destOrd="0" presId="urn:microsoft.com/office/officeart/2005/8/layout/radial6"/>
    <dgm:cxn modelId="{3ED9E492-1F37-4D9E-8337-FD8B8E60C59E}" type="presParOf" srcId="{076372C6-7F51-4BE7-86B0-052282229D04}" destId="{954EF965-E361-4AD3-B9A8-489DA18944A0}" srcOrd="5" destOrd="0" presId="urn:microsoft.com/office/officeart/2005/8/layout/radial6"/>
    <dgm:cxn modelId="{5C4F0221-08D9-4B4F-BDCC-EB9652330D58}" type="presParOf" srcId="{076372C6-7F51-4BE7-86B0-052282229D04}" destId="{689454BF-8865-40CC-AA8C-B1B2E603D4ED}" srcOrd="6" destOrd="0" presId="urn:microsoft.com/office/officeart/2005/8/layout/radial6"/>
    <dgm:cxn modelId="{A29F88AC-C4E1-4564-8297-5738677E4628}" type="presParOf" srcId="{076372C6-7F51-4BE7-86B0-052282229D04}" destId="{39F34595-E2B3-4779-AA34-525022370CD5}" srcOrd="7" destOrd="0" presId="urn:microsoft.com/office/officeart/2005/8/layout/radial6"/>
    <dgm:cxn modelId="{0747B043-AD24-49BD-B521-F1E2B75C1A60}" type="presParOf" srcId="{076372C6-7F51-4BE7-86B0-052282229D04}" destId="{9F724810-8517-4F94-B882-66053D868C9F}" srcOrd="8" destOrd="0" presId="urn:microsoft.com/office/officeart/2005/8/layout/radial6"/>
    <dgm:cxn modelId="{8B345281-23D6-4D4F-A322-905876190EAA}" type="presParOf" srcId="{076372C6-7F51-4BE7-86B0-052282229D04}" destId="{63D56665-7532-4302-AE0E-6A95D9D48F7E}" srcOrd="9" destOrd="0" presId="urn:microsoft.com/office/officeart/2005/8/layout/radial6"/>
    <dgm:cxn modelId="{BD9308FF-52B9-4C79-AC38-8934D91B6622}" type="presParOf" srcId="{076372C6-7F51-4BE7-86B0-052282229D04}" destId="{6B877C3D-201B-4E6C-B45A-5F04A92B033B}" srcOrd="10" destOrd="0" presId="urn:microsoft.com/office/officeart/2005/8/layout/radial6"/>
    <dgm:cxn modelId="{B8F77709-5F30-4AAA-B313-2B297C3BBED6}" type="presParOf" srcId="{076372C6-7F51-4BE7-86B0-052282229D04}" destId="{A8D77BC7-38D6-4024-967D-C03FECAE0826}" srcOrd="11" destOrd="0" presId="urn:microsoft.com/office/officeart/2005/8/layout/radial6"/>
    <dgm:cxn modelId="{B17812FB-DA2F-4D3F-80CC-3AF0AA3AF3F5}" type="presParOf" srcId="{076372C6-7F51-4BE7-86B0-052282229D04}" destId="{D5DBB5C1-5690-4F91-8523-4EF7D48D912A}" srcOrd="12" destOrd="0" presId="urn:microsoft.com/office/officeart/2005/8/layout/radial6"/>
    <dgm:cxn modelId="{F0C3E676-514D-4064-9033-B71278C26FED}" type="presParOf" srcId="{076372C6-7F51-4BE7-86B0-052282229D04}" destId="{FAD925FA-7E4F-44E7-8713-828F4008A344}" srcOrd="13" destOrd="0" presId="urn:microsoft.com/office/officeart/2005/8/layout/radial6"/>
    <dgm:cxn modelId="{29096010-D512-4EB3-B9D5-8C3571CCAAB7}" type="presParOf" srcId="{076372C6-7F51-4BE7-86B0-052282229D04}" destId="{AD5ED772-F802-4AF2-B949-1CE7FB60176B}" srcOrd="14" destOrd="0" presId="urn:microsoft.com/office/officeart/2005/8/layout/radial6"/>
    <dgm:cxn modelId="{2689D1EA-8CED-4223-AE98-04DDF86C20FE}" type="presParOf" srcId="{076372C6-7F51-4BE7-86B0-052282229D04}" destId="{4EE85B18-8685-4369-A13D-EAA08C3945F1}" srcOrd="1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E6E02D-D9BC-47FE-9B2A-EEB5EDA4122B}" type="doc">
      <dgm:prSet loTypeId="urn:microsoft.com/office/officeart/2005/8/layout/vList2" loCatId="list" qsTypeId="urn:microsoft.com/office/officeart/2005/8/quickstyle/simple3" qsCatId="simple" csTypeId="urn:microsoft.com/office/officeart/2005/8/colors/colorful3" csCatId="colorful" phldr="1"/>
      <dgm:spPr/>
      <dgm:t>
        <a:bodyPr/>
        <a:lstStyle/>
        <a:p>
          <a:endParaRPr lang="zh-TW" altLang="en-US"/>
        </a:p>
      </dgm:t>
    </dgm:pt>
    <dgm:pt modelId="{711D9926-EE5F-475D-B549-E3B806AD9DCA}">
      <dgm:prSet phldrT="[文字]" custT="1">
        <dgm:style>
          <a:lnRef idx="2">
            <a:schemeClr val="accent3">
              <a:shade val="50000"/>
            </a:schemeClr>
          </a:lnRef>
          <a:fillRef idx="1">
            <a:schemeClr val="accent3"/>
          </a:fillRef>
          <a:effectRef idx="0">
            <a:schemeClr val="accent3"/>
          </a:effectRef>
          <a:fontRef idx="minor">
            <a:schemeClr val="lt1"/>
          </a:fontRef>
        </dgm:style>
      </dgm:prSet>
      <dgm:spPr>
        <a:solidFill>
          <a:srgbClr val="C5C505">
            <a:alpha val="36000"/>
          </a:srgbClr>
        </a:solidFill>
      </dgm:spPr>
      <dgm:t>
        <a:bodyPr/>
        <a:lstStyle/>
        <a:p>
          <a:pPr algn="ctr"/>
          <a:r>
            <a:rPr lang="zh-TW" altLang="en-US" sz="2800" b="1" dirty="0">
              <a:solidFill>
                <a:schemeClr val="tx1"/>
              </a:solidFill>
              <a:latin typeface="微軟正黑體" pitchFamily="34" charset="-120"/>
              <a:ea typeface="微軟正黑體" pitchFamily="34" charset="-120"/>
            </a:rPr>
            <a:t>家庭社區為基石</a:t>
          </a:r>
        </a:p>
      </dgm:t>
    </dgm:pt>
    <dgm:pt modelId="{15D4C185-F34E-432D-9E31-DE7C41629AA8}" type="sibTrans" cxnId="{1A2CC640-43B9-4412-A428-755182E095CB}">
      <dgm:prSet/>
      <dgm:spPr/>
      <dgm:t>
        <a:bodyPr/>
        <a:lstStyle/>
        <a:p>
          <a:endParaRPr lang="zh-TW" altLang="en-US">
            <a:latin typeface="微軟正黑體" pitchFamily="34" charset="-120"/>
            <a:ea typeface="微軟正黑體" pitchFamily="34" charset="-120"/>
          </a:endParaRPr>
        </a:p>
      </dgm:t>
    </dgm:pt>
    <dgm:pt modelId="{E2131A7B-C8A5-47B1-A475-FB36A7A85A60}" type="parTrans" cxnId="{1A2CC640-43B9-4412-A428-755182E095CB}">
      <dgm:prSet/>
      <dgm:spPr/>
      <dgm:t>
        <a:bodyPr/>
        <a:lstStyle/>
        <a:p>
          <a:endParaRPr lang="zh-TW" altLang="en-US">
            <a:latin typeface="微軟正黑體" pitchFamily="34" charset="-120"/>
            <a:ea typeface="微軟正黑體" pitchFamily="34" charset="-120"/>
          </a:endParaRPr>
        </a:p>
      </dgm:t>
    </dgm:pt>
    <dgm:pt modelId="{6DCB2F0F-18E6-41F7-AABC-901D8F08A85C}" type="pres">
      <dgm:prSet presAssocID="{A8E6E02D-D9BC-47FE-9B2A-EEB5EDA4122B}" presName="linear" presStyleCnt="0">
        <dgm:presLayoutVars>
          <dgm:animLvl val="lvl"/>
          <dgm:resizeHandles val="exact"/>
        </dgm:presLayoutVars>
      </dgm:prSet>
      <dgm:spPr/>
    </dgm:pt>
    <dgm:pt modelId="{5E8F789C-341A-40A8-B35A-647EBA88C785}" type="pres">
      <dgm:prSet presAssocID="{711D9926-EE5F-475D-B549-E3B806AD9DCA}" presName="parentText" presStyleLbl="node1" presStyleIdx="0" presStyleCnt="1" custScaleY="47343">
        <dgm:presLayoutVars>
          <dgm:chMax val="0"/>
          <dgm:bulletEnabled val="1"/>
        </dgm:presLayoutVars>
      </dgm:prSet>
      <dgm:spPr/>
    </dgm:pt>
  </dgm:ptLst>
  <dgm:cxnLst>
    <dgm:cxn modelId="{6AA0DA18-593D-4515-B2E4-924DA8AFECD2}" type="presOf" srcId="{711D9926-EE5F-475D-B549-E3B806AD9DCA}" destId="{5E8F789C-341A-40A8-B35A-647EBA88C785}" srcOrd="0" destOrd="0" presId="urn:microsoft.com/office/officeart/2005/8/layout/vList2"/>
    <dgm:cxn modelId="{22783E19-BB7A-4092-BE9B-3FFB1D896230}" type="presOf" srcId="{A8E6E02D-D9BC-47FE-9B2A-EEB5EDA4122B}" destId="{6DCB2F0F-18E6-41F7-AABC-901D8F08A85C}" srcOrd="0" destOrd="0" presId="urn:microsoft.com/office/officeart/2005/8/layout/vList2"/>
    <dgm:cxn modelId="{1A2CC640-43B9-4412-A428-755182E095CB}" srcId="{A8E6E02D-D9BC-47FE-9B2A-EEB5EDA4122B}" destId="{711D9926-EE5F-475D-B549-E3B806AD9DCA}" srcOrd="0" destOrd="0" parTransId="{E2131A7B-C8A5-47B1-A475-FB36A7A85A60}" sibTransId="{15D4C185-F34E-432D-9E31-DE7C41629AA8}"/>
    <dgm:cxn modelId="{6151CE60-7E2E-4F64-A6BC-5EE25C95E82D}" type="presParOf" srcId="{6DCB2F0F-18E6-41F7-AABC-901D8F08A85C}" destId="{5E8F789C-341A-40A8-B35A-647EBA88C785}"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EEBF8D-7E0C-40DD-8607-5503A6AC01F2}" type="doc">
      <dgm:prSet loTypeId="urn:microsoft.com/office/officeart/2005/8/layout/vList6" loCatId="list" qsTypeId="urn:microsoft.com/office/officeart/2005/8/quickstyle/simple1" qsCatId="simple" csTypeId="urn:microsoft.com/office/officeart/2005/8/colors/accent0_3" csCatId="mainScheme" phldr="1"/>
      <dgm:spPr/>
      <dgm:t>
        <a:bodyPr/>
        <a:lstStyle/>
        <a:p>
          <a:endParaRPr lang="zh-TW" altLang="en-US"/>
        </a:p>
      </dgm:t>
    </dgm:pt>
    <dgm:pt modelId="{3E1215F9-32C3-4C58-90F7-F4EDC99901BD}">
      <dgm:prSet/>
      <dgm:spPr/>
      <dgm:t>
        <a:bodyPr/>
        <a:lstStyle/>
        <a:p>
          <a:r>
            <a:rPr lang="zh-TW" altLang="en-US">
              <a:highlight>
                <a:srgbClr val="800000"/>
              </a:highlight>
            </a:rPr>
            <a:t>以家庭為</a:t>
          </a:r>
          <a:r>
            <a:rPr lang="zh-TW" altLang="en-US">
              <a:highlight>
                <a:srgbClr val="800000"/>
              </a:highlight>
              <a:latin typeface="微軟正黑體" panose="020B0604030504040204" pitchFamily="34" charset="-120"/>
              <a:ea typeface="微軟正黑體" panose="020B0604030504040204" pitchFamily="34" charset="-120"/>
            </a:rPr>
            <a:t>中心</a:t>
          </a:r>
        </a:p>
      </dgm:t>
    </dgm:pt>
    <dgm:pt modelId="{0E285D3D-A5DE-42AA-9011-A3CB1093B62C}" type="parTrans" cxnId="{11FF644C-71DE-4370-808C-7EB0BA597D34}">
      <dgm:prSet/>
      <dgm:spPr/>
      <dgm:t>
        <a:bodyPr/>
        <a:lstStyle/>
        <a:p>
          <a:endParaRPr lang="zh-TW" altLang="en-US" sz="2000"/>
        </a:p>
      </dgm:t>
    </dgm:pt>
    <dgm:pt modelId="{E1583D6F-03DC-4B55-B7DE-31356CFFE291}" type="sibTrans" cxnId="{11FF644C-71DE-4370-808C-7EB0BA597D34}">
      <dgm:prSet/>
      <dgm:spPr/>
      <dgm:t>
        <a:bodyPr/>
        <a:lstStyle/>
        <a:p>
          <a:endParaRPr lang="zh-TW" altLang="en-US"/>
        </a:p>
      </dgm:t>
    </dgm:pt>
    <dgm:pt modelId="{58790CBE-5D3C-4CFD-8F62-22CD3468774D}">
      <dgm:prSet phldrT="[文字]" custT="1"/>
      <dgm:spPr/>
      <dgm:t>
        <a:bodyPr/>
        <a:lstStyle/>
        <a:p>
          <a:r>
            <a:rPr lang="en-US" altLang="zh-TW" sz="2000" b="1" dirty="0">
              <a:solidFill>
                <a:srgbClr val="002060"/>
              </a:solidFill>
              <a:latin typeface="微軟正黑體" panose="020B0604030504040204" pitchFamily="34" charset="-120"/>
              <a:ea typeface="微軟正黑體" panose="020B0604030504040204" pitchFamily="34" charset="-120"/>
            </a:rPr>
            <a:t>VS.</a:t>
          </a:r>
          <a:r>
            <a:rPr lang="zh-TW" altLang="en-US" sz="2000" b="1" dirty="0">
              <a:solidFill>
                <a:srgbClr val="002060"/>
              </a:solidFill>
              <a:latin typeface="微軟正黑體" panose="020B0604030504040204" pitchFamily="34" charset="-120"/>
              <a:ea typeface="微軟正黑體" panose="020B0604030504040204" pitchFamily="34" charset="-120"/>
            </a:rPr>
            <a:t>以專業為中心</a:t>
          </a:r>
        </a:p>
      </dgm:t>
    </dgm:pt>
    <dgm:pt modelId="{E4EBAB7C-CB42-4514-AA36-031963323013}" type="parTrans" cxnId="{783E71B3-F9DD-491E-9D65-F390134964AE}">
      <dgm:prSet/>
      <dgm:spPr/>
      <dgm:t>
        <a:bodyPr/>
        <a:lstStyle/>
        <a:p>
          <a:endParaRPr lang="zh-TW" altLang="en-US" sz="2000"/>
        </a:p>
      </dgm:t>
    </dgm:pt>
    <dgm:pt modelId="{27634C72-6FEE-4AC3-9678-82C33173FF1F}" type="sibTrans" cxnId="{783E71B3-F9DD-491E-9D65-F390134964AE}">
      <dgm:prSet/>
      <dgm:spPr/>
      <dgm:t>
        <a:bodyPr/>
        <a:lstStyle/>
        <a:p>
          <a:endParaRPr lang="zh-TW" altLang="en-US"/>
        </a:p>
      </dgm:t>
    </dgm:pt>
    <dgm:pt modelId="{8D4DDF19-EF6B-4ECC-9426-BA3719E76A4C}">
      <dgm:prSet phldrT="[文字]" custT="1"/>
      <dgm:spPr/>
      <dgm:t>
        <a:bodyPr/>
        <a:lstStyle/>
        <a:p>
          <a:r>
            <a:rPr lang="zh-TW" altLang="en-US" sz="2000" b="1" dirty="0">
              <a:solidFill>
                <a:srgbClr val="002060"/>
              </a:solidFill>
              <a:latin typeface="微軟正黑體" panose="020B0604030504040204" pitchFamily="34" charset="-120"/>
              <a:ea typeface="微軟正黑體" panose="020B0604030504040204" pitchFamily="34" charset="-120"/>
            </a:rPr>
            <a:t>個案家庭的服務：不同需求程度、關係本質或根本原因 或不同服務階段，應有相同的服務目標</a:t>
          </a:r>
        </a:p>
      </dgm:t>
    </dgm:pt>
    <dgm:pt modelId="{3DCA3C91-FA91-452D-8111-F003A886B810}" type="parTrans" cxnId="{C25BC7D2-500B-44DD-B8C8-0BEBE38A9235}">
      <dgm:prSet/>
      <dgm:spPr/>
      <dgm:t>
        <a:bodyPr/>
        <a:lstStyle/>
        <a:p>
          <a:endParaRPr lang="zh-TW" altLang="en-US" sz="2000"/>
        </a:p>
      </dgm:t>
    </dgm:pt>
    <dgm:pt modelId="{8737EDE6-4E32-48E5-B00E-1203A622DDE7}" type="sibTrans" cxnId="{C25BC7D2-500B-44DD-B8C8-0BEBE38A9235}">
      <dgm:prSet/>
      <dgm:spPr/>
      <dgm:t>
        <a:bodyPr/>
        <a:lstStyle/>
        <a:p>
          <a:endParaRPr lang="zh-TW" altLang="en-US"/>
        </a:p>
      </dgm:t>
    </dgm:pt>
    <dgm:pt modelId="{44D6D845-311D-4624-B502-FAAA9A425269}">
      <dgm:prSet phldrT="[文字]"/>
      <dgm:spPr/>
      <dgm:t>
        <a:bodyPr/>
        <a:lstStyle/>
        <a:p>
          <a:r>
            <a:rPr lang="zh-TW" altLang="en-US">
              <a:highlight>
                <a:srgbClr val="800000"/>
              </a:highlight>
            </a:rPr>
            <a:t>以社區為基礎</a:t>
          </a:r>
        </a:p>
      </dgm:t>
    </dgm:pt>
    <dgm:pt modelId="{8B449BE5-057F-4318-887B-8DEDFAE9A4D2}" type="parTrans" cxnId="{D5CDA53D-9C54-4693-BA17-5A102EB7B79B}">
      <dgm:prSet/>
      <dgm:spPr/>
      <dgm:t>
        <a:bodyPr/>
        <a:lstStyle/>
        <a:p>
          <a:endParaRPr lang="zh-TW" altLang="en-US" sz="2000"/>
        </a:p>
      </dgm:t>
    </dgm:pt>
    <dgm:pt modelId="{F28581E8-F5FE-4434-9A44-548207FB800C}" type="sibTrans" cxnId="{D5CDA53D-9C54-4693-BA17-5A102EB7B79B}">
      <dgm:prSet/>
      <dgm:spPr/>
      <dgm:t>
        <a:bodyPr/>
        <a:lstStyle/>
        <a:p>
          <a:endParaRPr lang="zh-TW" altLang="en-US"/>
        </a:p>
      </dgm:t>
    </dgm:pt>
    <dgm:pt modelId="{8FC986D3-A370-4FD8-A049-E78608BE7983}">
      <dgm:prSet phldrT="[文字]" custT="1"/>
      <dgm:spPr/>
      <dgm:t>
        <a:bodyPr/>
        <a:lstStyle/>
        <a:p>
          <a:r>
            <a:rPr lang="zh-TW" altLang="en-US" sz="2400" b="1" dirty="0">
              <a:solidFill>
                <a:srgbClr val="002060"/>
              </a:solidFill>
              <a:latin typeface="微軟正黑體" panose="020B0604030504040204" pitchFamily="34" charset="-120"/>
              <a:ea typeface="微軟正黑體" panose="020B0604030504040204" pitchFamily="34" charset="-120"/>
            </a:rPr>
            <a:t>運用社區資源</a:t>
          </a:r>
        </a:p>
      </dgm:t>
    </dgm:pt>
    <dgm:pt modelId="{3325931B-0668-485F-BCA6-86251C792001}" type="parTrans" cxnId="{C8D168D7-4B15-42F8-88CC-9174F192F7B5}">
      <dgm:prSet/>
      <dgm:spPr/>
      <dgm:t>
        <a:bodyPr/>
        <a:lstStyle/>
        <a:p>
          <a:endParaRPr lang="zh-TW" altLang="en-US" sz="2000"/>
        </a:p>
      </dgm:t>
    </dgm:pt>
    <dgm:pt modelId="{AC64D38A-0F81-4844-9E2F-5584D5D36A85}" type="sibTrans" cxnId="{C8D168D7-4B15-42F8-88CC-9174F192F7B5}">
      <dgm:prSet/>
      <dgm:spPr/>
      <dgm:t>
        <a:bodyPr/>
        <a:lstStyle/>
        <a:p>
          <a:endParaRPr lang="zh-TW" altLang="en-US"/>
        </a:p>
      </dgm:t>
    </dgm:pt>
    <dgm:pt modelId="{F00FFFBA-3A3A-4AA4-A892-3FF491A0352C}">
      <dgm:prSet phldrT="[文字]" custT="1"/>
      <dgm:spPr/>
      <dgm:t>
        <a:bodyPr/>
        <a:lstStyle/>
        <a:p>
          <a:r>
            <a:rPr lang="zh-TW" altLang="en-US" sz="2400" b="1" dirty="0">
              <a:solidFill>
                <a:srgbClr val="002060"/>
              </a:solidFill>
              <a:latin typeface="微軟正黑體" panose="020B0604030504040204" pitchFamily="34" charset="-120"/>
              <a:ea typeface="微軟正黑體" panose="020B0604030504040204" pitchFamily="34" charset="-120"/>
            </a:rPr>
            <a:t>利用個案管理來降低服務的支離破碎</a:t>
          </a:r>
        </a:p>
      </dgm:t>
    </dgm:pt>
    <dgm:pt modelId="{F3664950-1E7A-4988-86A2-8758A5F27F4B}" type="parTrans" cxnId="{10BC292B-FFE2-4D13-9C91-7D551F95F90A}">
      <dgm:prSet/>
      <dgm:spPr/>
      <dgm:t>
        <a:bodyPr/>
        <a:lstStyle/>
        <a:p>
          <a:endParaRPr lang="zh-TW" altLang="en-US" sz="2000"/>
        </a:p>
      </dgm:t>
    </dgm:pt>
    <dgm:pt modelId="{41EB74C4-EDE4-4E4D-BA3F-865DE6567678}" type="sibTrans" cxnId="{10BC292B-FFE2-4D13-9C91-7D551F95F90A}">
      <dgm:prSet/>
      <dgm:spPr/>
      <dgm:t>
        <a:bodyPr/>
        <a:lstStyle/>
        <a:p>
          <a:endParaRPr lang="zh-TW" altLang="en-US"/>
        </a:p>
      </dgm:t>
    </dgm:pt>
    <dgm:pt modelId="{F0F0B23B-552A-4A4E-89CB-5A66DC169402}" type="pres">
      <dgm:prSet presAssocID="{26EEBF8D-7E0C-40DD-8607-5503A6AC01F2}" presName="Name0" presStyleCnt="0">
        <dgm:presLayoutVars>
          <dgm:dir/>
          <dgm:animLvl val="lvl"/>
          <dgm:resizeHandles/>
        </dgm:presLayoutVars>
      </dgm:prSet>
      <dgm:spPr/>
    </dgm:pt>
    <dgm:pt modelId="{0D537DC8-B73F-4C91-BD1C-B83CCA93C2CC}" type="pres">
      <dgm:prSet presAssocID="{3E1215F9-32C3-4C58-90F7-F4EDC99901BD}" presName="linNode" presStyleCnt="0"/>
      <dgm:spPr/>
    </dgm:pt>
    <dgm:pt modelId="{F04223D7-C708-4969-97DE-A8AEE5C788A9}" type="pres">
      <dgm:prSet presAssocID="{3E1215F9-32C3-4C58-90F7-F4EDC99901BD}" presName="parentShp" presStyleLbl="node1" presStyleIdx="0" presStyleCnt="2">
        <dgm:presLayoutVars>
          <dgm:bulletEnabled val="1"/>
        </dgm:presLayoutVars>
      </dgm:prSet>
      <dgm:spPr/>
    </dgm:pt>
    <dgm:pt modelId="{76745D25-4DDC-43DB-B581-520826761E43}" type="pres">
      <dgm:prSet presAssocID="{3E1215F9-32C3-4C58-90F7-F4EDC99901BD}" presName="childShp" presStyleLbl="bgAccFollowNode1" presStyleIdx="0" presStyleCnt="2">
        <dgm:presLayoutVars>
          <dgm:bulletEnabled val="1"/>
        </dgm:presLayoutVars>
      </dgm:prSet>
      <dgm:spPr/>
    </dgm:pt>
    <dgm:pt modelId="{5322C775-4DC7-40A0-9E8B-043091FE246F}" type="pres">
      <dgm:prSet presAssocID="{E1583D6F-03DC-4B55-B7DE-31356CFFE291}" presName="spacing" presStyleCnt="0"/>
      <dgm:spPr/>
    </dgm:pt>
    <dgm:pt modelId="{423DCFD9-82A2-443D-9CF4-8F2B093EDC57}" type="pres">
      <dgm:prSet presAssocID="{44D6D845-311D-4624-B502-FAAA9A425269}" presName="linNode" presStyleCnt="0"/>
      <dgm:spPr/>
    </dgm:pt>
    <dgm:pt modelId="{929E29E2-3046-43D3-BD40-FC9E8DB0341F}" type="pres">
      <dgm:prSet presAssocID="{44D6D845-311D-4624-B502-FAAA9A425269}" presName="parentShp" presStyleLbl="node1" presStyleIdx="1" presStyleCnt="2">
        <dgm:presLayoutVars>
          <dgm:bulletEnabled val="1"/>
        </dgm:presLayoutVars>
      </dgm:prSet>
      <dgm:spPr/>
    </dgm:pt>
    <dgm:pt modelId="{9E57A922-BE2A-4891-A6D5-4AD93B95A5A9}" type="pres">
      <dgm:prSet presAssocID="{44D6D845-311D-4624-B502-FAAA9A425269}" presName="childShp" presStyleLbl="bgAccFollowNode1" presStyleIdx="1" presStyleCnt="2">
        <dgm:presLayoutVars>
          <dgm:bulletEnabled val="1"/>
        </dgm:presLayoutVars>
      </dgm:prSet>
      <dgm:spPr/>
    </dgm:pt>
  </dgm:ptLst>
  <dgm:cxnLst>
    <dgm:cxn modelId="{5DD4A004-E97A-466B-B9FB-7117284EFE6D}" type="presOf" srcId="{F00FFFBA-3A3A-4AA4-A892-3FF491A0352C}" destId="{9E57A922-BE2A-4891-A6D5-4AD93B95A5A9}" srcOrd="0" destOrd="1" presId="urn:microsoft.com/office/officeart/2005/8/layout/vList6"/>
    <dgm:cxn modelId="{A47D5312-5B02-460E-AE37-E2E18E9DEB78}" type="presOf" srcId="{26EEBF8D-7E0C-40DD-8607-5503A6AC01F2}" destId="{F0F0B23B-552A-4A4E-89CB-5A66DC169402}" srcOrd="0" destOrd="0" presId="urn:microsoft.com/office/officeart/2005/8/layout/vList6"/>
    <dgm:cxn modelId="{5D5E261B-2B63-4214-9389-6DFC7B81A040}" type="presOf" srcId="{8D4DDF19-EF6B-4ECC-9426-BA3719E76A4C}" destId="{76745D25-4DDC-43DB-B581-520826761E43}" srcOrd="0" destOrd="1" presId="urn:microsoft.com/office/officeart/2005/8/layout/vList6"/>
    <dgm:cxn modelId="{10BC292B-FFE2-4D13-9C91-7D551F95F90A}" srcId="{44D6D845-311D-4624-B502-FAAA9A425269}" destId="{F00FFFBA-3A3A-4AA4-A892-3FF491A0352C}" srcOrd="1" destOrd="0" parTransId="{F3664950-1E7A-4988-86A2-8758A5F27F4B}" sibTransId="{41EB74C4-EDE4-4E4D-BA3F-865DE6567678}"/>
    <dgm:cxn modelId="{D5CDA53D-9C54-4693-BA17-5A102EB7B79B}" srcId="{26EEBF8D-7E0C-40DD-8607-5503A6AC01F2}" destId="{44D6D845-311D-4624-B502-FAAA9A425269}" srcOrd="1" destOrd="0" parTransId="{8B449BE5-057F-4318-887B-8DEDFAE9A4D2}" sibTransId="{F28581E8-F5FE-4434-9A44-548207FB800C}"/>
    <dgm:cxn modelId="{7BA3B062-2581-4BBC-A9D6-00A4331B17A9}" type="presOf" srcId="{3E1215F9-32C3-4C58-90F7-F4EDC99901BD}" destId="{F04223D7-C708-4969-97DE-A8AEE5C788A9}" srcOrd="0" destOrd="0" presId="urn:microsoft.com/office/officeart/2005/8/layout/vList6"/>
    <dgm:cxn modelId="{94CEC865-1072-4357-8737-D127B66D5198}" type="presOf" srcId="{44D6D845-311D-4624-B502-FAAA9A425269}" destId="{929E29E2-3046-43D3-BD40-FC9E8DB0341F}" srcOrd="0" destOrd="0" presId="urn:microsoft.com/office/officeart/2005/8/layout/vList6"/>
    <dgm:cxn modelId="{11FF644C-71DE-4370-808C-7EB0BA597D34}" srcId="{26EEBF8D-7E0C-40DD-8607-5503A6AC01F2}" destId="{3E1215F9-32C3-4C58-90F7-F4EDC99901BD}" srcOrd="0" destOrd="0" parTransId="{0E285D3D-A5DE-42AA-9011-A3CB1093B62C}" sibTransId="{E1583D6F-03DC-4B55-B7DE-31356CFFE291}"/>
    <dgm:cxn modelId="{0763FE59-2BB8-4445-8105-55D07AF717CC}" type="presOf" srcId="{8FC986D3-A370-4FD8-A049-E78608BE7983}" destId="{9E57A922-BE2A-4891-A6D5-4AD93B95A5A9}" srcOrd="0" destOrd="0" presId="urn:microsoft.com/office/officeart/2005/8/layout/vList6"/>
    <dgm:cxn modelId="{48A0B87D-EEBE-491A-916A-09200B4196F3}" type="presOf" srcId="{58790CBE-5D3C-4CFD-8F62-22CD3468774D}" destId="{76745D25-4DDC-43DB-B581-520826761E43}" srcOrd="0" destOrd="0" presId="urn:microsoft.com/office/officeart/2005/8/layout/vList6"/>
    <dgm:cxn modelId="{783E71B3-F9DD-491E-9D65-F390134964AE}" srcId="{3E1215F9-32C3-4C58-90F7-F4EDC99901BD}" destId="{58790CBE-5D3C-4CFD-8F62-22CD3468774D}" srcOrd="0" destOrd="0" parTransId="{E4EBAB7C-CB42-4514-AA36-031963323013}" sibTransId="{27634C72-6FEE-4AC3-9678-82C33173FF1F}"/>
    <dgm:cxn modelId="{C25BC7D2-500B-44DD-B8C8-0BEBE38A9235}" srcId="{3E1215F9-32C3-4C58-90F7-F4EDC99901BD}" destId="{8D4DDF19-EF6B-4ECC-9426-BA3719E76A4C}" srcOrd="1" destOrd="0" parTransId="{3DCA3C91-FA91-452D-8111-F003A886B810}" sibTransId="{8737EDE6-4E32-48E5-B00E-1203A622DDE7}"/>
    <dgm:cxn modelId="{C8D168D7-4B15-42F8-88CC-9174F192F7B5}" srcId="{44D6D845-311D-4624-B502-FAAA9A425269}" destId="{8FC986D3-A370-4FD8-A049-E78608BE7983}" srcOrd="0" destOrd="0" parTransId="{3325931B-0668-485F-BCA6-86251C792001}" sibTransId="{AC64D38A-0F81-4844-9E2F-5584D5D36A85}"/>
    <dgm:cxn modelId="{EB2885BD-CF12-431E-A67E-F92B5FF86125}" type="presParOf" srcId="{F0F0B23B-552A-4A4E-89CB-5A66DC169402}" destId="{0D537DC8-B73F-4C91-BD1C-B83CCA93C2CC}" srcOrd="0" destOrd="0" presId="urn:microsoft.com/office/officeart/2005/8/layout/vList6"/>
    <dgm:cxn modelId="{84FB1CD5-EFB8-4F3C-8D58-4092607EF061}" type="presParOf" srcId="{0D537DC8-B73F-4C91-BD1C-B83CCA93C2CC}" destId="{F04223D7-C708-4969-97DE-A8AEE5C788A9}" srcOrd="0" destOrd="0" presId="urn:microsoft.com/office/officeart/2005/8/layout/vList6"/>
    <dgm:cxn modelId="{469BCCAC-B8D1-4959-852C-DE7BF45DE504}" type="presParOf" srcId="{0D537DC8-B73F-4C91-BD1C-B83CCA93C2CC}" destId="{76745D25-4DDC-43DB-B581-520826761E43}" srcOrd="1" destOrd="0" presId="urn:microsoft.com/office/officeart/2005/8/layout/vList6"/>
    <dgm:cxn modelId="{5C140E2F-C10C-4795-990D-2329E36F85EA}" type="presParOf" srcId="{F0F0B23B-552A-4A4E-89CB-5A66DC169402}" destId="{5322C775-4DC7-40A0-9E8B-043091FE246F}" srcOrd="1" destOrd="0" presId="urn:microsoft.com/office/officeart/2005/8/layout/vList6"/>
    <dgm:cxn modelId="{B5648DDF-1AB0-43B2-97C2-D77C784739B2}" type="presParOf" srcId="{F0F0B23B-552A-4A4E-89CB-5A66DC169402}" destId="{423DCFD9-82A2-443D-9CF4-8F2B093EDC57}" srcOrd="2" destOrd="0" presId="urn:microsoft.com/office/officeart/2005/8/layout/vList6"/>
    <dgm:cxn modelId="{ACC0175E-C443-40B7-810F-86EEEA6A5F4E}" type="presParOf" srcId="{423DCFD9-82A2-443D-9CF4-8F2B093EDC57}" destId="{929E29E2-3046-43D3-BD40-FC9E8DB0341F}" srcOrd="0" destOrd="0" presId="urn:microsoft.com/office/officeart/2005/8/layout/vList6"/>
    <dgm:cxn modelId="{68B23892-2753-4081-8651-C57548C000A9}" type="presParOf" srcId="{423DCFD9-82A2-443D-9CF4-8F2B093EDC57}" destId="{9E57A922-BE2A-4891-A6D5-4AD93B95A5A9}"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398BBF-5E1B-4BF6-98A1-39AA7A632769}" type="doc">
      <dgm:prSet loTypeId="urn:microsoft.com/office/officeart/2005/8/layout/list1" loCatId="list" qsTypeId="urn:microsoft.com/office/officeart/2005/8/quickstyle/simple1" qsCatId="simple" csTypeId="urn:microsoft.com/office/officeart/2005/8/colors/accent5_1" csCatId="accent5" phldr="1"/>
      <dgm:spPr/>
      <dgm:t>
        <a:bodyPr/>
        <a:lstStyle/>
        <a:p>
          <a:endParaRPr lang="zh-TW" altLang="en-US"/>
        </a:p>
      </dgm:t>
    </dgm:pt>
    <dgm:pt modelId="{EF2B34F7-48EE-46AD-89B7-B57D70ABD4C1}">
      <dgm:prSet phldrT="[文字]" custT="1"/>
      <dgm:spPr/>
      <dgm:t>
        <a:bodyPr/>
        <a:lstStyle/>
        <a:p>
          <a:r>
            <a:rPr lang="zh-TW" altLang="en-US" sz="2000" b="1" dirty="0">
              <a:solidFill>
                <a:srgbClr val="002060"/>
              </a:solidFill>
              <a:latin typeface="微軟正黑體" pitchFamily="34" charset="-120"/>
              <a:ea typeface="微軟正黑體" pitchFamily="34" charset="-120"/>
            </a:rPr>
            <a:t>家庭經濟陷困需要接受協助</a:t>
          </a:r>
          <a:endParaRPr lang="zh-TW" altLang="en-US" sz="2000" b="1" dirty="0">
            <a:solidFill>
              <a:srgbClr val="002060"/>
            </a:solidFill>
          </a:endParaRPr>
        </a:p>
      </dgm:t>
    </dgm:pt>
    <dgm:pt modelId="{C3885941-1938-400C-908F-03734215A820}" type="parTrans" cxnId="{7D28F948-D760-4745-90F7-8762FC7CE056}">
      <dgm:prSet/>
      <dgm:spPr/>
      <dgm:t>
        <a:bodyPr/>
        <a:lstStyle/>
        <a:p>
          <a:endParaRPr lang="zh-TW" altLang="en-US" sz="2000" b="1"/>
        </a:p>
      </dgm:t>
    </dgm:pt>
    <dgm:pt modelId="{64D06AA9-DF11-4B42-B76F-E43CA8DA0FE5}" type="sibTrans" cxnId="{7D28F948-D760-4745-90F7-8762FC7CE056}">
      <dgm:prSet/>
      <dgm:spPr/>
      <dgm:t>
        <a:bodyPr/>
        <a:lstStyle/>
        <a:p>
          <a:endParaRPr lang="zh-TW" altLang="en-US" sz="2000" b="1"/>
        </a:p>
      </dgm:t>
    </dgm:pt>
    <dgm:pt modelId="{CC2850C5-F989-4320-8357-D99938FC064D}">
      <dgm:prSet phldrT="[文字]" custT="1"/>
      <dgm:spPr/>
      <dgm:t>
        <a:bodyPr/>
        <a:lstStyle/>
        <a:p>
          <a:r>
            <a:rPr lang="zh-TW" altLang="en-US" sz="2000" b="1" dirty="0">
              <a:solidFill>
                <a:srgbClr val="002060"/>
              </a:solidFill>
              <a:latin typeface="微軟正黑體" pitchFamily="34" charset="-120"/>
              <a:ea typeface="微軟正黑體" pitchFamily="34" charset="-120"/>
            </a:rPr>
            <a:t>家庭關係衝突或疏離需要接受協助</a:t>
          </a:r>
          <a:endParaRPr lang="zh-TW" altLang="en-US" sz="2000" b="1" dirty="0">
            <a:solidFill>
              <a:srgbClr val="002060"/>
            </a:solidFill>
          </a:endParaRPr>
        </a:p>
      </dgm:t>
    </dgm:pt>
    <dgm:pt modelId="{93B03AD7-B919-43EB-AE42-2ECA91FC11E2}" type="parTrans" cxnId="{1652E819-E510-43BC-A690-ED8A4503D87D}">
      <dgm:prSet/>
      <dgm:spPr/>
      <dgm:t>
        <a:bodyPr/>
        <a:lstStyle/>
        <a:p>
          <a:endParaRPr lang="zh-TW" altLang="en-US" sz="2000" b="1"/>
        </a:p>
      </dgm:t>
    </dgm:pt>
    <dgm:pt modelId="{E9A2570B-A696-4F12-9AA0-4464738FE86E}" type="sibTrans" cxnId="{1652E819-E510-43BC-A690-ED8A4503D87D}">
      <dgm:prSet/>
      <dgm:spPr/>
      <dgm:t>
        <a:bodyPr/>
        <a:lstStyle/>
        <a:p>
          <a:endParaRPr lang="zh-TW" altLang="en-US" sz="2000" b="1"/>
        </a:p>
      </dgm:t>
    </dgm:pt>
    <dgm:pt modelId="{F40FDB24-22AA-443C-BC5B-D115DCF3FF79}">
      <dgm:prSet phldrT="[文字]" custT="1"/>
      <dgm:spPr/>
      <dgm:t>
        <a:bodyPr/>
        <a:lstStyle/>
        <a:p>
          <a:r>
            <a:rPr lang="zh-TW" altLang="en-US" sz="2000" b="1" dirty="0">
              <a:solidFill>
                <a:srgbClr val="002060"/>
              </a:solidFill>
              <a:latin typeface="微軟正黑體" pitchFamily="34" charset="-120"/>
              <a:ea typeface="微軟正黑體" pitchFamily="34" charset="-120"/>
            </a:rPr>
            <a:t>個人生活適應困難需要接受協助</a:t>
          </a:r>
          <a:endParaRPr lang="zh-TW" altLang="en-US" sz="2000" b="1" dirty="0">
            <a:solidFill>
              <a:srgbClr val="002060"/>
            </a:solidFill>
          </a:endParaRPr>
        </a:p>
      </dgm:t>
    </dgm:pt>
    <dgm:pt modelId="{CF8D9D3E-613A-49D8-BED1-22D5AB6FF725}" type="parTrans" cxnId="{A05F72CA-9908-4E95-B48B-AC7EA02B83AC}">
      <dgm:prSet/>
      <dgm:spPr/>
      <dgm:t>
        <a:bodyPr/>
        <a:lstStyle/>
        <a:p>
          <a:endParaRPr lang="zh-TW" altLang="en-US" sz="2000" b="1"/>
        </a:p>
      </dgm:t>
    </dgm:pt>
    <dgm:pt modelId="{E452539C-841D-4EA4-B742-438D2B8D4022}" type="sibTrans" cxnId="{A05F72CA-9908-4E95-B48B-AC7EA02B83AC}">
      <dgm:prSet/>
      <dgm:spPr/>
      <dgm:t>
        <a:bodyPr/>
        <a:lstStyle/>
        <a:p>
          <a:endParaRPr lang="zh-TW" altLang="en-US" sz="2000" b="1"/>
        </a:p>
      </dgm:t>
    </dgm:pt>
    <dgm:pt modelId="{7B6FFE56-B626-41EA-899C-6401C75B9E6F}">
      <dgm:prSet phldrT="[文字]" custT="1"/>
      <dgm:spPr/>
      <dgm:t>
        <a:bodyPr/>
        <a:lstStyle/>
        <a:p>
          <a:r>
            <a:rPr lang="zh-TW" altLang="en-US" sz="2000" b="1" dirty="0">
              <a:solidFill>
                <a:srgbClr val="002060"/>
              </a:solidFill>
              <a:latin typeface="微軟正黑體" pitchFamily="34" charset="-120"/>
              <a:ea typeface="微軟正黑體" pitchFamily="34" charset="-120"/>
            </a:rPr>
            <a:t>兒少發展不利處境需要接受協助</a:t>
          </a:r>
          <a:endParaRPr lang="zh-TW" altLang="en-US" sz="2000" b="1" dirty="0">
            <a:solidFill>
              <a:srgbClr val="002060"/>
            </a:solidFill>
          </a:endParaRPr>
        </a:p>
      </dgm:t>
    </dgm:pt>
    <dgm:pt modelId="{C074BC2D-2F17-40BF-969F-65DA6BA2E680}" type="parTrans" cxnId="{2110444A-E274-4A10-B6D6-855493A6FE30}">
      <dgm:prSet/>
      <dgm:spPr/>
      <dgm:t>
        <a:bodyPr/>
        <a:lstStyle/>
        <a:p>
          <a:endParaRPr lang="zh-TW" altLang="en-US" sz="2000" b="1"/>
        </a:p>
      </dgm:t>
    </dgm:pt>
    <dgm:pt modelId="{AE12FE06-7098-4C39-8D26-0F739B920826}" type="sibTrans" cxnId="{2110444A-E274-4A10-B6D6-855493A6FE30}">
      <dgm:prSet/>
      <dgm:spPr/>
      <dgm:t>
        <a:bodyPr/>
        <a:lstStyle/>
        <a:p>
          <a:endParaRPr lang="zh-TW" altLang="en-US" sz="2000" b="1"/>
        </a:p>
      </dgm:t>
    </dgm:pt>
    <dgm:pt modelId="{583378A5-6FCB-445B-A9BC-B839553CF44F}">
      <dgm:prSet phldrT="[文字]" custT="1"/>
      <dgm:spPr/>
      <dgm:t>
        <a:bodyPr/>
        <a:lstStyle/>
        <a:p>
          <a:r>
            <a:rPr lang="zh-TW" altLang="en-US" sz="2000" b="1" dirty="0">
              <a:solidFill>
                <a:srgbClr val="002060"/>
              </a:solidFill>
              <a:latin typeface="微軟正黑體" pitchFamily="34" charset="-120"/>
              <a:ea typeface="微軟正黑體" pitchFamily="34" charset="-120"/>
            </a:rPr>
            <a:t>家庭成員因傷病致家庭有不利處境需要接受協助</a:t>
          </a:r>
          <a:endParaRPr lang="zh-TW" altLang="en-US" sz="2000" b="1" dirty="0">
            <a:solidFill>
              <a:srgbClr val="002060"/>
            </a:solidFill>
          </a:endParaRPr>
        </a:p>
      </dgm:t>
    </dgm:pt>
    <dgm:pt modelId="{C82A1D44-97E9-4EF1-A9E0-29813716AA65}" type="parTrans" cxnId="{54ABA63A-4F67-42E7-98A8-920708F126F0}">
      <dgm:prSet/>
      <dgm:spPr/>
      <dgm:t>
        <a:bodyPr/>
        <a:lstStyle/>
        <a:p>
          <a:endParaRPr lang="zh-TW" altLang="en-US" sz="2000" b="1"/>
        </a:p>
      </dgm:t>
    </dgm:pt>
    <dgm:pt modelId="{27326FC7-68E8-463E-B27A-4B1D72A64F58}" type="sibTrans" cxnId="{54ABA63A-4F67-42E7-98A8-920708F126F0}">
      <dgm:prSet/>
      <dgm:spPr/>
      <dgm:t>
        <a:bodyPr/>
        <a:lstStyle/>
        <a:p>
          <a:endParaRPr lang="zh-TW" altLang="en-US" sz="2000" b="1"/>
        </a:p>
      </dgm:t>
    </dgm:pt>
    <dgm:pt modelId="{3D1C9319-5503-4D5B-A7D8-B67B72FF6E99}">
      <dgm:prSet phldrT="[文字]" custT="1"/>
      <dgm:spPr/>
      <dgm:t>
        <a:bodyPr/>
        <a:lstStyle/>
        <a:p>
          <a:r>
            <a:rPr lang="zh-TW" altLang="en-US" sz="2000" b="1" dirty="0">
              <a:solidFill>
                <a:srgbClr val="002060"/>
              </a:solidFill>
              <a:latin typeface="微軟正黑體" pitchFamily="34" charset="-120"/>
              <a:ea typeface="微軟正黑體" pitchFamily="34" charset="-120"/>
            </a:rPr>
            <a:t>家庭遭逢變故需要接受協助</a:t>
          </a:r>
          <a:endParaRPr lang="zh-TW" altLang="en-US" sz="2000" b="1" dirty="0">
            <a:solidFill>
              <a:srgbClr val="002060"/>
            </a:solidFill>
          </a:endParaRPr>
        </a:p>
      </dgm:t>
    </dgm:pt>
    <dgm:pt modelId="{438E6E98-C8C6-45B3-AC6A-46F32FE05D28}" type="sibTrans" cxnId="{B16ABAA9-D4DF-44DC-9304-E44D1FE9DD2B}">
      <dgm:prSet/>
      <dgm:spPr/>
      <dgm:t>
        <a:bodyPr/>
        <a:lstStyle/>
        <a:p>
          <a:endParaRPr lang="zh-TW" altLang="en-US" sz="2000" b="1"/>
        </a:p>
      </dgm:t>
    </dgm:pt>
    <dgm:pt modelId="{F7FBA0A4-DA79-4C15-8A50-613A0FCA5ABC}" type="parTrans" cxnId="{B16ABAA9-D4DF-44DC-9304-E44D1FE9DD2B}">
      <dgm:prSet/>
      <dgm:spPr/>
      <dgm:t>
        <a:bodyPr/>
        <a:lstStyle/>
        <a:p>
          <a:endParaRPr lang="zh-TW" altLang="en-US" sz="2000" b="1"/>
        </a:p>
      </dgm:t>
    </dgm:pt>
    <dgm:pt modelId="{3FA50688-4F97-4933-9581-3DB77E495F55}" type="pres">
      <dgm:prSet presAssocID="{C0398BBF-5E1B-4BF6-98A1-39AA7A632769}" presName="linear" presStyleCnt="0">
        <dgm:presLayoutVars>
          <dgm:dir/>
          <dgm:animLvl val="lvl"/>
          <dgm:resizeHandles val="exact"/>
        </dgm:presLayoutVars>
      </dgm:prSet>
      <dgm:spPr/>
    </dgm:pt>
    <dgm:pt modelId="{A2AE3FBA-81F8-4A4F-AAE1-FDB35186C217}" type="pres">
      <dgm:prSet presAssocID="{EF2B34F7-48EE-46AD-89B7-B57D70ABD4C1}" presName="parentLin" presStyleCnt="0"/>
      <dgm:spPr/>
    </dgm:pt>
    <dgm:pt modelId="{3342B520-6CDB-4B09-A557-90016D076F6E}" type="pres">
      <dgm:prSet presAssocID="{EF2B34F7-48EE-46AD-89B7-B57D70ABD4C1}" presName="parentLeftMargin" presStyleLbl="node1" presStyleIdx="0" presStyleCnt="6"/>
      <dgm:spPr/>
    </dgm:pt>
    <dgm:pt modelId="{8D04A7E7-92F9-431D-B0E4-F5587A57EE23}" type="pres">
      <dgm:prSet presAssocID="{EF2B34F7-48EE-46AD-89B7-B57D70ABD4C1}" presName="parentText" presStyleLbl="node1" presStyleIdx="0" presStyleCnt="6" custScaleX="142474">
        <dgm:presLayoutVars>
          <dgm:chMax val="0"/>
          <dgm:bulletEnabled val="1"/>
        </dgm:presLayoutVars>
      </dgm:prSet>
      <dgm:spPr/>
    </dgm:pt>
    <dgm:pt modelId="{277D7EF6-84F1-4D4F-A959-C37303697C24}" type="pres">
      <dgm:prSet presAssocID="{EF2B34F7-48EE-46AD-89B7-B57D70ABD4C1}" presName="negativeSpace" presStyleCnt="0"/>
      <dgm:spPr/>
    </dgm:pt>
    <dgm:pt modelId="{E6A0D3AE-CB92-4EC9-9B29-A08580A574AC}" type="pres">
      <dgm:prSet presAssocID="{EF2B34F7-48EE-46AD-89B7-B57D70ABD4C1}" presName="childText" presStyleLbl="conFgAcc1" presStyleIdx="0" presStyleCnt="6">
        <dgm:presLayoutVars>
          <dgm:bulletEnabled val="1"/>
        </dgm:presLayoutVars>
      </dgm:prSet>
      <dgm:spPr/>
    </dgm:pt>
    <dgm:pt modelId="{CDFE9281-AF38-433F-B0B6-651586FD33B4}" type="pres">
      <dgm:prSet presAssocID="{64D06AA9-DF11-4B42-B76F-E43CA8DA0FE5}" presName="spaceBetweenRectangles" presStyleCnt="0"/>
      <dgm:spPr/>
    </dgm:pt>
    <dgm:pt modelId="{CAA16116-9C18-4281-B2E3-3C2E05D7445A}" type="pres">
      <dgm:prSet presAssocID="{3D1C9319-5503-4D5B-A7D8-B67B72FF6E99}" presName="parentLin" presStyleCnt="0"/>
      <dgm:spPr/>
    </dgm:pt>
    <dgm:pt modelId="{4B27DDCF-C408-4431-94A3-4A68B82D14AA}" type="pres">
      <dgm:prSet presAssocID="{3D1C9319-5503-4D5B-A7D8-B67B72FF6E99}" presName="parentLeftMargin" presStyleLbl="node1" presStyleIdx="0" presStyleCnt="6"/>
      <dgm:spPr/>
    </dgm:pt>
    <dgm:pt modelId="{FC4FDD38-608F-47B3-B724-29876D26033B}" type="pres">
      <dgm:prSet presAssocID="{3D1C9319-5503-4D5B-A7D8-B67B72FF6E99}" presName="parentText" presStyleLbl="node1" presStyleIdx="1" presStyleCnt="6" custScaleX="142474">
        <dgm:presLayoutVars>
          <dgm:chMax val="0"/>
          <dgm:bulletEnabled val="1"/>
        </dgm:presLayoutVars>
      </dgm:prSet>
      <dgm:spPr/>
    </dgm:pt>
    <dgm:pt modelId="{8D2C1FF4-4D61-4BDB-BC7D-2A496DD701B7}" type="pres">
      <dgm:prSet presAssocID="{3D1C9319-5503-4D5B-A7D8-B67B72FF6E99}" presName="negativeSpace" presStyleCnt="0"/>
      <dgm:spPr/>
    </dgm:pt>
    <dgm:pt modelId="{C872B901-901E-44EF-8D38-83D2B0CE59A3}" type="pres">
      <dgm:prSet presAssocID="{3D1C9319-5503-4D5B-A7D8-B67B72FF6E99}" presName="childText" presStyleLbl="conFgAcc1" presStyleIdx="1" presStyleCnt="6">
        <dgm:presLayoutVars>
          <dgm:bulletEnabled val="1"/>
        </dgm:presLayoutVars>
      </dgm:prSet>
      <dgm:spPr/>
    </dgm:pt>
    <dgm:pt modelId="{420E9DC7-B8D7-44D4-9EA8-C6E458E3EAD4}" type="pres">
      <dgm:prSet presAssocID="{438E6E98-C8C6-45B3-AC6A-46F32FE05D28}" presName="spaceBetweenRectangles" presStyleCnt="0"/>
      <dgm:spPr/>
    </dgm:pt>
    <dgm:pt modelId="{BC644F92-A57D-4EC1-9021-D93D69D2AFE3}" type="pres">
      <dgm:prSet presAssocID="{CC2850C5-F989-4320-8357-D99938FC064D}" presName="parentLin" presStyleCnt="0"/>
      <dgm:spPr/>
    </dgm:pt>
    <dgm:pt modelId="{E7C58301-EF46-4C6C-87E9-26F4E8285343}" type="pres">
      <dgm:prSet presAssocID="{CC2850C5-F989-4320-8357-D99938FC064D}" presName="parentLeftMargin" presStyleLbl="node1" presStyleIdx="1" presStyleCnt="6"/>
      <dgm:spPr/>
    </dgm:pt>
    <dgm:pt modelId="{65DA8ABD-7FB7-4659-82F8-E03601781C07}" type="pres">
      <dgm:prSet presAssocID="{CC2850C5-F989-4320-8357-D99938FC064D}" presName="parentText" presStyleLbl="node1" presStyleIdx="2" presStyleCnt="6" custScaleX="142474">
        <dgm:presLayoutVars>
          <dgm:chMax val="0"/>
          <dgm:bulletEnabled val="1"/>
        </dgm:presLayoutVars>
      </dgm:prSet>
      <dgm:spPr/>
    </dgm:pt>
    <dgm:pt modelId="{BB94E152-1095-4D2B-B6F3-5F19949C25E2}" type="pres">
      <dgm:prSet presAssocID="{CC2850C5-F989-4320-8357-D99938FC064D}" presName="negativeSpace" presStyleCnt="0"/>
      <dgm:spPr/>
    </dgm:pt>
    <dgm:pt modelId="{256EFB56-A08C-4896-99F3-E9B44525D5AA}" type="pres">
      <dgm:prSet presAssocID="{CC2850C5-F989-4320-8357-D99938FC064D}" presName="childText" presStyleLbl="conFgAcc1" presStyleIdx="2" presStyleCnt="6">
        <dgm:presLayoutVars>
          <dgm:bulletEnabled val="1"/>
        </dgm:presLayoutVars>
      </dgm:prSet>
      <dgm:spPr/>
    </dgm:pt>
    <dgm:pt modelId="{6A3B54EC-B471-4CC6-901A-74A32BDBA9A2}" type="pres">
      <dgm:prSet presAssocID="{E9A2570B-A696-4F12-9AA0-4464738FE86E}" presName="spaceBetweenRectangles" presStyleCnt="0"/>
      <dgm:spPr/>
    </dgm:pt>
    <dgm:pt modelId="{75A0DFAC-B276-405C-A3D1-59B188BF37B9}" type="pres">
      <dgm:prSet presAssocID="{7B6FFE56-B626-41EA-899C-6401C75B9E6F}" presName="parentLin" presStyleCnt="0"/>
      <dgm:spPr/>
    </dgm:pt>
    <dgm:pt modelId="{D7F45C18-1901-44D0-A480-E16C32BA379B}" type="pres">
      <dgm:prSet presAssocID="{7B6FFE56-B626-41EA-899C-6401C75B9E6F}" presName="parentLeftMargin" presStyleLbl="node1" presStyleIdx="2" presStyleCnt="6"/>
      <dgm:spPr/>
    </dgm:pt>
    <dgm:pt modelId="{26C85BF1-B745-46E8-8E2A-BC7D859A45C9}" type="pres">
      <dgm:prSet presAssocID="{7B6FFE56-B626-41EA-899C-6401C75B9E6F}" presName="parentText" presStyleLbl="node1" presStyleIdx="3" presStyleCnt="6" custScaleX="142474">
        <dgm:presLayoutVars>
          <dgm:chMax val="0"/>
          <dgm:bulletEnabled val="1"/>
        </dgm:presLayoutVars>
      </dgm:prSet>
      <dgm:spPr/>
    </dgm:pt>
    <dgm:pt modelId="{A0704EC8-A57A-40B0-B03C-7ACF6B0570BE}" type="pres">
      <dgm:prSet presAssocID="{7B6FFE56-B626-41EA-899C-6401C75B9E6F}" presName="negativeSpace" presStyleCnt="0"/>
      <dgm:spPr/>
    </dgm:pt>
    <dgm:pt modelId="{4703EC5B-8975-4A21-84F4-B05B7C57DF38}" type="pres">
      <dgm:prSet presAssocID="{7B6FFE56-B626-41EA-899C-6401C75B9E6F}" presName="childText" presStyleLbl="conFgAcc1" presStyleIdx="3" presStyleCnt="6">
        <dgm:presLayoutVars>
          <dgm:bulletEnabled val="1"/>
        </dgm:presLayoutVars>
      </dgm:prSet>
      <dgm:spPr/>
    </dgm:pt>
    <dgm:pt modelId="{A9AD405A-A522-413D-98AB-B4C5BD2048F1}" type="pres">
      <dgm:prSet presAssocID="{AE12FE06-7098-4C39-8D26-0F739B920826}" presName="spaceBetweenRectangles" presStyleCnt="0"/>
      <dgm:spPr/>
    </dgm:pt>
    <dgm:pt modelId="{747B5806-D5A7-4918-B8AC-0C4560847B83}" type="pres">
      <dgm:prSet presAssocID="{583378A5-6FCB-445B-A9BC-B839553CF44F}" presName="parentLin" presStyleCnt="0"/>
      <dgm:spPr/>
    </dgm:pt>
    <dgm:pt modelId="{6B3AFD46-98A7-4A37-9950-8630525EAE21}" type="pres">
      <dgm:prSet presAssocID="{583378A5-6FCB-445B-A9BC-B839553CF44F}" presName="parentLeftMargin" presStyleLbl="node1" presStyleIdx="3" presStyleCnt="6"/>
      <dgm:spPr/>
    </dgm:pt>
    <dgm:pt modelId="{8D97CB89-F294-48C9-A625-F630D00BAE02}" type="pres">
      <dgm:prSet presAssocID="{583378A5-6FCB-445B-A9BC-B839553CF44F}" presName="parentText" presStyleLbl="node1" presStyleIdx="4" presStyleCnt="6" custScaleX="142474">
        <dgm:presLayoutVars>
          <dgm:chMax val="0"/>
          <dgm:bulletEnabled val="1"/>
        </dgm:presLayoutVars>
      </dgm:prSet>
      <dgm:spPr/>
    </dgm:pt>
    <dgm:pt modelId="{AEE4C84E-1B91-4CED-8A26-5A3F936C3AAD}" type="pres">
      <dgm:prSet presAssocID="{583378A5-6FCB-445B-A9BC-B839553CF44F}" presName="negativeSpace" presStyleCnt="0"/>
      <dgm:spPr/>
    </dgm:pt>
    <dgm:pt modelId="{806D75E8-686D-40C7-8433-88CBC061AB21}" type="pres">
      <dgm:prSet presAssocID="{583378A5-6FCB-445B-A9BC-B839553CF44F}" presName="childText" presStyleLbl="conFgAcc1" presStyleIdx="4" presStyleCnt="6">
        <dgm:presLayoutVars>
          <dgm:bulletEnabled val="1"/>
        </dgm:presLayoutVars>
      </dgm:prSet>
      <dgm:spPr/>
    </dgm:pt>
    <dgm:pt modelId="{48391F1C-E6AB-415A-BD17-1AE9805DA549}" type="pres">
      <dgm:prSet presAssocID="{27326FC7-68E8-463E-B27A-4B1D72A64F58}" presName="spaceBetweenRectangles" presStyleCnt="0"/>
      <dgm:spPr/>
    </dgm:pt>
    <dgm:pt modelId="{7D168E45-E55E-49BE-8DA6-F980A0112D3C}" type="pres">
      <dgm:prSet presAssocID="{F40FDB24-22AA-443C-BC5B-D115DCF3FF79}" presName="parentLin" presStyleCnt="0"/>
      <dgm:spPr/>
    </dgm:pt>
    <dgm:pt modelId="{B805799B-559A-4611-82AF-455BB03EEB9B}" type="pres">
      <dgm:prSet presAssocID="{F40FDB24-22AA-443C-BC5B-D115DCF3FF79}" presName="parentLeftMargin" presStyleLbl="node1" presStyleIdx="4" presStyleCnt="6"/>
      <dgm:spPr/>
    </dgm:pt>
    <dgm:pt modelId="{9329CBC4-796B-494C-9512-26557191A315}" type="pres">
      <dgm:prSet presAssocID="{F40FDB24-22AA-443C-BC5B-D115DCF3FF79}" presName="parentText" presStyleLbl="node1" presStyleIdx="5" presStyleCnt="6" custScaleX="142474">
        <dgm:presLayoutVars>
          <dgm:chMax val="0"/>
          <dgm:bulletEnabled val="1"/>
        </dgm:presLayoutVars>
      </dgm:prSet>
      <dgm:spPr/>
    </dgm:pt>
    <dgm:pt modelId="{B4360AAE-41A5-4881-B900-4079CCEAE390}" type="pres">
      <dgm:prSet presAssocID="{F40FDB24-22AA-443C-BC5B-D115DCF3FF79}" presName="negativeSpace" presStyleCnt="0"/>
      <dgm:spPr/>
    </dgm:pt>
    <dgm:pt modelId="{FFF3A9EC-98E9-4945-9AAD-C4350A36B697}" type="pres">
      <dgm:prSet presAssocID="{F40FDB24-22AA-443C-BC5B-D115DCF3FF79}" presName="childText" presStyleLbl="conFgAcc1" presStyleIdx="5" presStyleCnt="6">
        <dgm:presLayoutVars>
          <dgm:bulletEnabled val="1"/>
        </dgm:presLayoutVars>
      </dgm:prSet>
      <dgm:spPr/>
    </dgm:pt>
  </dgm:ptLst>
  <dgm:cxnLst>
    <dgm:cxn modelId="{1652E819-E510-43BC-A690-ED8A4503D87D}" srcId="{C0398BBF-5E1B-4BF6-98A1-39AA7A632769}" destId="{CC2850C5-F989-4320-8357-D99938FC064D}" srcOrd="2" destOrd="0" parTransId="{93B03AD7-B919-43EB-AE42-2ECA91FC11E2}" sibTransId="{E9A2570B-A696-4F12-9AA0-4464738FE86E}"/>
    <dgm:cxn modelId="{469FB01B-D359-491A-B9D6-71D78DB72AAB}" type="presOf" srcId="{583378A5-6FCB-445B-A9BC-B839553CF44F}" destId="{8D97CB89-F294-48C9-A625-F630D00BAE02}" srcOrd="1" destOrd="0" presId="urn:microsoft.com/office/officeart/2005/8/layout/list1"/>
    <dgm:cxn modelId="{54ABA63A-4F67-42E7-98A8-920708F126F0}" srcId="{C0398BBF-5E1B-4BF6-98A1-39AA7A632769}" destId="{583378A5-6FCB-445B-A9BC-B839553CF44F}" srcOrd="4" destOrd="0" parTransId="{C82A1D44-97E9-4EF1-A9E0-29813716AA65}" sibTransId="{27326FC7-68E8-463E-B27A-4B1D72A64F58}"/>
    <dgm:cxn modelId="{7D28F948-D760-4745-90F7-8762FC7CE056}" srcId="{C0398BBF-5E1B-4BF6-98A1-39AA7A632769}" destId="{EF2B34F7-48EE-46AD-89B7-B57D70ABD4C1}" srcOrd="0" destOrd="0" parTransId="{C3885941-1938-400C-908F-03734215A820}" sibTransId="{64D06AA9-DF11-4B42-B76F-E43CA8DA0FE5}"/>
    <dgm:cxn modelId="{2110444A-E274-4A10-B6D6-855493A6FE30}" srcId="{C0398BBF-5E1B-4BF6-98A1-39AA7A632769}" destId="{7B6FFE56-B626-41EA-899C-6401C75B9E6F}" srcOrd="3" destOrd="0" parTransId="{C074BC2D-2F17-40BF-969F-65DA6BA2E680}" sibTransId="{AE12FE06-7098-4C39-8D26-0F739B920826}"/>
    <dgm:cxn modelId="{02E51D70-5C88-40FF-B6AA-DD28817FF264}" type="presOf" srcId="{3D1C9319-5503-4D5B-A7D8-B67B72FF6E99}" destId="{FC4FDD38-608F-47B3-B724-29876D26033B}" srcOrd="1" destOrd="0" presId="urn:microsoft.com/office/officeart/2005/8/layout/list1"/>
    <dgm:cxn modelId="{F5A0B074-1504-4C4E-AE00-8446815712CF}" type="presOf" srcId="{EF2B34F7-48EE-46AD-89B7-B57D70ABD4C1}" destId="{3342B520-6CDB-4B09-A557-90016D076F6E}" srcOrd="0" destOrd="0" presId="urn:microsoft.com/office/officeart/2005/8/layout/list1"/>
    <dgm:cxn modelId="{1509857A-41E3-43A0-985A-8F83A0A7C24E}" type="presOf" srcId="{EF2B34F7-48EE-46AD-89B7-B57D70ABD4C1}" destId="{8D04A7E7-92F9-431D-B0E4-F5587A57EE23}" srcOrd="1" destOrd="0" presId="urn:microsoft.com/office/officeart/2005/8/layout/list1"/>
    <dgm:cxn modelId="{A78C7183-2448-41E8-8883-0DAE9A1851E9}" type="presOf" srcId="{7B6FFE56-B626-41EA-899C-6401C75B9E6F}" destId="{26C85BF1-B745-46E8-8E2A-BC7D859A45C9}" srcOrd="1" destOrd="0" presId="urn:microsoft.com/office/officeart/2005/8/layout/list1"/>
    <dgm:cxn modelId="{2F059886-C9A0-40F4-B8FB-5E85C1DCF4A1}" type="presOf" srcId="{CC2850C5-F989-4320-8357-D99938FC064D}" destId="{E7C58301-EF46-4C6C-87E9-26F4E8285343}" srcOrd="0" destOrd="0" presId="urn:microsoft.com/office/officeart/2005/8/layout/list1"/>
    <dgm:cxn modelId="{5EB2908D-A4B9-421F-819C-8E3BA1035EED}" type="presOf" srcId="{CC2850C5-F989-4320-8357-D99938FC064D}" destId="{65DA8ABD-7FB7-4659-82F8-E03601781C07}" srcOrd="1" destOrd="0" presId="urn:microsoft.com/office/officeart/2005/8/layout/list1"/>
    <dgm:cxn modelId="{B16ABAA9-D4DF-44DC-9304-E44D1FE9DD2B}" srcId="{C0398BBF-5E1B-4BF6-98A1-39AA7A632769}" destId="{3D1C9319-5503-4D5B-A7D8-B67B72FF6E99}" srcOrd="1" destOrd="0" parTransId="{F7FBA0A4-DA79-4C15-8A50-613A0FCA5ABC}" sibTransId="{438E6E98-C8C6-45B3-AC6A-46F32FE05D28}"/>
    <dgm:cxn modelId="{CABA28B4-6038-4586-AD06-DB39B039FCAC}" type="presOf" srcId="{F40FDB24-22AA-443C-BC5B-D115DCF3FF79}" destId="{9329CBC4-796B-494C-9512-26557191A315}" srcOrd="1" destOrd="0" presId="urn:microsoft.com/office/officeart/2005/8/layout/list1"/>
    <dgm:cxn modelId="{A9D36BC0-8898-4B16-A37F-CABEA6F94EAC}" type="presOf" srcId="{7B6FFE56-B626-41EA-899C-6401C75B9E6F}" destId="{D7F45C18-1901-44D0-A480-E16C32BA379B}" srcOrd="0" destOrd="0" presId="urn:microsoft.com/office/officeart/2005/8/layout/list1"/>
    <dgm:cxn modelId="{53CB40C5-D911-4894-93A8-454E9221E9A2}" type="presOf" srcId="{3D1C9319-5503-4D5B-A7D8-B67B72FF6E99}" destId="{4B27DDCF-C408-4431-94A3-4A68B82D14AA}" srcOrd="0" destOrd="0" presId="urn:microsoft.com/office/officeart/2005/8/layout/list1"/>
    <dgm:cxn modelId="{A05F72CA-9908-4E95-B48B-AC7EA02B83AC}" srcId="{C0398BBF-5E1B-4BF6-98A1-39AA7A632769}" destId="{F40FDB24-22AA-443C-BC5B-D115DCF3FF79}" srcOrd="5" destOrd="0" parTransId="{CF8D9D3E-613A-49D8-BED1-22D5AB6FF725}" sibTransId="{E452539C-841D-4EA4-B742-438D2B8D4022}"/>
    <dgm:cxn modelId="{8DC783CC-36E0-49E1-A709-A2717D75A236}" type="presOf" srcId="{583378A5-6FCB-445B-A9BC-B839553CF44F}" destId="{6B3AFD46-98A7-4A37-9950-8630525EAE21}" srcOrd="0" destOrd="0" presId="urn:microsoft.com/office/officeart/2005/8/layout/list1"/>
    <dgm:cxn modelId="{6DF882D8-6169-4785-89F0-8CB4AD5310AE}" type="presOf" srcId="{C0398BBF-5E1B-4BF6-98A1-39AA7A632769}" destId="{3FA50688-4F97-4933-9581-3DB77E495F55}" srcOrd="0" destOrd="0" presId="urn:microsoft.com/office/officeart/2005/8/layout/list1"/>
    <dgm:cxn modelId="{0902DFF4-C588-4022-8641-FDD5A3D2E2F4}" type="presOf" srcId="{F40FDB24-22AA-443C-BC5B-D115DCF3FF79}" destId="{B805799B-559A-4611-82AF-455BB03EEB9B}" srcOrd="0" destOrd="0" presId="urn:microsoft.com/office/officeart/2005/8/layout/list1"/>
    <dgm:cxn modelId="{B3E56C61-E1BF-467A-8C16-A27617D3FD79}" type="presParOf" srcId="{3FA50688-4F97-4933-9581-3DB77E495F55}" destId="{A2AE3FBA-81F8-4A4F-AAE1-FDB35186C217}" srcOrd="0" destOrd="0" presId="urn:microsoft.com/office/officeart/2005/8/layout/list1"/>
    <dgm:cxn modelId="{2BD7A568-81D6-4BBB-8F12-D31714E94F1B}" type="presParOf" srcId="{A2AE3FBA-81F8-4A4F-AAE1-FDB35186C217}" destId="{3342B520-6CDB-4B09-A557-90016D076F6E}" srcOrd="0" destOrd="0" presId="urn:microsoft.com/office/officeart/2005/8/layout/list1"/>
    <dgm:cxn modelId="{6B8CC94F-AAEE-4EE9-B46E-75D4CF59EFB7}" type="presParOf" srcId="{A2AE3FBA-81F8-4A4F-AAE1-FDB35186C217}" destId="{8D04A7E7-92F9-431D-B0E4-F5587A57EE23}" srcOrd="1" destOrd="0" presId="urn:microsoft.com/office/officeart/2005/8/layout/list1"/>
    <dgm:cxn modelId="{A4748959-F0EF-42AD-9506-3BF7537E64E4}" type="presParOf" srcId="{3FA50688-4F97-4933-9581-3DB77E495F55}" destId="{277D7EF6-84F1-4D4F-A959-C37303697C24}" srcOrd="1" destOrd="0" presId="urn:microsoft.com/office/officeart/2005/8/layout/list1"/>
    <dgm:cxn modelId="{687CA1DF-BE0B-421A-9909-92DD2E7D4FA0}" type="presParOf" srcId="{3FA50688-4F97-4933-9581-3DB77E495F55}" destId="{E6A0D3AE-CB92-4EC9-9B29-A08580A574AC}" srcOrd="2" destOrd="0" presId="urn:microsoft.com/office/officeart/2005/8/layout/list1"/>
    <dgm:cxn modelId="{754CB668-897A-491C-A94D-1AA511F6016B}" type="presParOf" srcId="{3FA50688-4F97-4933-9581-3DB77E495F55}" destId="{CDFE9281-AF38-433F-B0B6-651586FD33B4}" srcOrd="3" destOrd="0" presId="urn:microsoft.com/office/officeart/2005/8/layout/list1"/>
    <dgm:cxn modelId="{215B7B00-1706-4424-B260-37DF240198D0}" type="presParOf" srcId="{3FA50688-4F97-4933-9581-3DB77E495F55}" destId="{CAA16116-9C18-4281-B2E3-3C2E05D7445A}" srcOrd="4" destOrd="0" presId="urn:microsoft.com/office/officeart/2005/8/layout/list1"/>
    <dgm:cxn modelId="{CAA29274-591E-4B71-AE12-49D2E5C1C756}" type="presParOf" srcId="{CAA16116-9C18-4281-B2E3-3C2E05D7445A}" destId="{4B27DDCF-C408-4431-94A3-4A68B82D14AA}" srcOrd="0" destOrd="0" presId="urn:microsoft.com/office/officeart/2005/8/layout/list1"/>
    <dgm:cxn modelId="{C76F8903-5E89-407C-9FFF-209EBFBFFF1C}" type="presParOf" srcId="{CAA16116-9C18-4281-B2E3-3C2E05D7445A}" destId="{FC4FDD38-608F-47B3-B724-29876D26033B}" srcOrd="1" destOrd="0" presId="urn:microsoft.com/office/officeart/2005/8/layout/list1"/>
    <dgm:cxn modelId="{F2C67895-7913-48C7-877A-D00F4DC3A892}" type="presParOf" srcId="{3FA50688-4F97-4933-9581-3DB77E495F55}" destId="{8D2C1FF4-4D61-4BDB-BC7D-2A496DD701B7}" srcOrd="5" destOrd="0" presId="urn:microsoft.com/office/officeart/2005/8/layout/list1"/>
    <dgm:cxn modelId="{9E359BC3-BA12-46C2-BE7E-D9C11FFE5F73}" type="presParOf" srcId="{3FA50688-4F97-4933-9581-3DB77E495F55}" destId="{C872B901-901E-44EF-8D38-83D2B0CE59A3}" srcOrd="6" destOrd="0" presId="urn:microsoft.com/office/officeart/2005/8/layout/list1"/>
    <dgm:cxn modelId="{9445CFE2-9CAA-4F76-A4CF-3A6C07F34B4B}" type="presParOf" srcId="{3FA50688-4F97-4933-9581-3DB77E495F55}" destId="{420E9DC7-B8D7-44D4-9EA8-C6E458E3EAD4}" srcOrd="7" destOrd="0" presId="urn:microsoft.com/office/officeart/2005/8/layout/list1"/>
    <dgm:cxn modelId="{57189228-8180-44C5-B935-5835689D604A}" type="presParOf" srcId="{3FA50688-4F97-4933-9581-3DB77E495F55}" destId="{BC644F92-A57D-4EC1-9021-D93D69D2AFE3}" srcOrd="8" destOrd="0" presId="urn:microsoft.com/office/officeart/2005/8/layout/list1"/>
    <dgm:cxn modelId="{CF84E326-695F-411D-A23E-685371F06F8F}" type="presParOf" srcId="{BC644F92-A57D-4EC1-9021-D93D69D2AFE3}" destId="{E7C58301-EF46-4C6C-87E9-26F4E8285343}" srcOrd="0" destOrd="0" presId="urn:microsoft.com/office/officeart/2005/8/layout/list1"/>
    <dgm:cxn modelId="{5271C12A-BE0B-4775-A742-E3EE19BF1FF3}" type="presParOf" srcId="{BC644F92-A57D-4EC1-9021-D93D69D2AFE3}" destId="{65DA8ABD-7FB7-4659-82F8-E03601781C07}" srcOrd="1" destOrd="0" presId="urn:microsoft.com/office/officeart/2005/8/layout/list1"/>
    <dgm:cxn modelId="{D4189291-BE73-4F78-909C-4597DCB0E396}" type="presParOf" srcId="{3FA50688-4F97-4933-9581-3DB77E495F55}" destId="{BB94E152-1095-4D2B-B6F3-5F19949C25E2}" srcOrd="9" destOrd="0" presId="urn:microsoft.com/office/officeart/2005/8/layout/list1"/>
    <dgm:cxn modelId="{9D85C806-70AC-4C38-A34F-90201075E867}" type="presParOf" srcId="{3FA50688-4F97-4933-9581-3DB77E495F55}" destId="{256EFB56-A08C-4896-99F3-E9B44525D5AA}" srcOrd="10" destOrd="0" presId="urn:microsoft.com/office/officeart/2005/8/layout/list1"/>
    <dgm:cxn modelId="{EDCE58EF-D3D1-4544-A644-76928A76F696}" type="presParOf" srcId="{3FA50688-4F97-4933-9581-3DB77E495F55}" destId="{6A3B54EC-B471-4CC6-901A-74A32BDBA9A2}" srcOrd="11" destOrd="0" presId="urn:microsoft.com/office/officeart/2005/8/layout/list1"/>
    <dgm:cxn modelId="{3E1C2FB3-5A6C-451E-96F3-C1454B8AE772}" type="presParOf" srcId="{3FA50688-4F97-4933-9581-3DB77E495F55}" destId="{75A0DFAC-B276-405C-A3D1-59B188BF37B9}" srcOrd="12" destOrd="0" presId="urn:microsoft.com/office/officeart/2005/8/layout/list1"/>
    <dgm:cxn modelId="{24159FE5-2737-44E7-9E91-D38B9A62CD83}" type="presParOf" srcId="{75A0DFAC-B276-405C-A3D1-59B188BF37B9}" destId="{D7F45C18-1901-44D0-A480-E16C32BA379B}" srcOrd="0" destOrd="0" presId="urn:microsoft.com/office/officeart/2005/8/layout/list1"/>
    <dgm:cxn modelId="{1AF6B311-896D-42F8-BDA4-9724CEEB0132}" type="presParOf" srcId="{75A0DFAC-B276-405C-A3D1-59B188BF37B9}" destId="{26C85BF1-B745-46E8-8E2A-BC7D859A45C9}" srcOrd="1" destOrd="0" presId="urn:microsoft.com/office/officeart/2005/8/layout/list1"/>
    <dgm:cxn modelId="{A392E1CE-1C50-483E-8727-5B5583D49A9D}" type="presParOf" srcId="{3FA50688-4F97-4933-9581-3DB77E495F55}" destId="{A0704EC8-A57A-40B0-B03C-7ACF6B0570BE}" srcOrd="13" destOrd="0" presId="urn:microsoft.com/office/officeart/2005/8/layout/list1"/>
    <dgm:cxn modelId="{8A1982C7-B200-410D-B688-5329533DE066}" type="presParOf" srcId="{3FA50688-4F97-4933-9581-3DB77E495F55}" destId="{4703EC5B-8975-4A21-84F4-B05B7C57DF38}" srcOrd="14" destOrd="0" presId="urn:microsoft.com/office/officeart/2005/8/layout/list1"/>
    <dgm:cxn modelId="{5552995B-51A2-44B8-A2D0-89EB171EDD23}" type="presParOf" srcId="{3FA50688-4F97-4933-9581-3DB77E495F55}" destId="{A9AD405A-A522-413D-98AB-B4C5BD2048F1}" srcOrd="15" destOrd="0" presId="urn:microsoft.com/office/officeart/2005/8/layout/list1"/>
    <dgm:cxn modelId="{B4DE0886-FD63-4ADC-830C-100113ED2DAC}" type="presParOf" srcId="{3FA50688-4F97-4933-9581-3DB77E495F55}" destId="{747B5806-D5A7-4918-B8AC-0C4560847B83}" srcOrd="16" destOrd="0" presId="urn:microsoft.com/office/officeart/2005/8/layout/list1"/>
    <dgm:cxn modelId="{036A7746-648C-4675-879B-C7FE4337AA24}" type="presParOf" srcId="{747B5806-D5A7-4918-B8AC-0C4560847B83}" destId="{6B3AFD46-98A7-4A37-9950-8630525EAE21}" srcOrd="0" destOrd="0" presId="urn:microsoft.com/office/officeart/2005/8/layout/list1"/>
    <dgm:cxn modelId="{D326D867-6E3A-48D6-AD5A-74693D8FC260}" type="presParOf" srcId="{747B5806-D5A7-4918-B8AC-0C4560847B83}" destId="{8D97CB89-F294-48C9-A625-F630D00BAE02}" srcOrd="1" destOrd="0" presId="urn:microsoft.com/office/officeart/2005/8/layout/list1"/>
    <dgm:cxn modelId="{BF414E88-F8D9-4BEF-8A8C-31F8BE7FC66B}" type="presParOf" srcId="{3FA50688-4F97-4933-9581-3DB77E495F55}" destId="{AEE4C84E-1B91-4CED-8A26-5A3F936C3AAD}" srcOrd="17" destOrd="0" presId="urn:microsoft.com/office/officeart/2005/8/layout/list1"/>
    <dgm:cxn modelId="{F885F1BA-D9B3-49D2-AF11-E0FEBA921DBA}" type="presParOf" srcId="{3FA50688-4F97-4933-9581-3DB77E495F55}" destId="{806D75E8-686D-40C7-8433-88CBC061AB21}" srcOrd="18" destOrd="0" presId="urn:microsoft.com/office/officeart/2005/8/layout/list1"/>
    <dgm:cxn modelId="{955C60E8-1D00-4DE2-B8D0-6D540130A8B5}" type="presParOf" srcId="{3FA50688-4F97-4933-9581-3DB77E495F55}" destId="{48391F1C-E6AB-415A-BD17-1AE9805DA549}" srcOrd="19" destOrd="0" presId="urn:microsoft.com/office/officeart/2005/8/layout/list1"/>
    <dgm:cxn modelId="{A6926688-9518-4755-BA98-AEEA09A26945}" type="presParOf" srcId="{3FA50688-4F97-4933-9581-3DB77E495F55}" destId="{7D168E45-E55E-49BE-8DA6-F980A0112D3C}" srcOrd="20" destOrd="0" presId="urn:microsoft.com/office/officeart/2005/8/layout/list1"/>
    <dgm:cxn modelId="{DCD9C89E-5C73-45BA-90A1-D328499D54E9}" type="presParOf" srcId="{7D168E45-E55E-49BE-8DA6-F980A0112D3C}" destId="{B805799B-559A-4611-82AF-455BB03EEB9B}" srcOrd="0" destOrd="0" presId="urn:microsoft.com/office/officeart/2005/8/layout/list1"/>
    <dgm:cxn modelId="{66531CBD-634D-4B18-B33B-DB399AB8C3C8}" type="presParOf" srcId="{7D168E45-E55E-49BE-8DA6-F980A0112D3C}" destId="{9329CBC4-796B-494C-9512-26557191A315}" srcOrd="1" destOrd="0" presId="urn:microsoft.com/office/officeart/2005/8/layout/list1"/>
    <dgm:cxn modelId="{926A2B15-0A8F-406A-B7D9-EBA991BAF307}" type="presParOf" srcId="{3FA50688-4F97-4933-9581-3DB77E495F55}" destId="{B4360AAE-41A5-4881-B900-4079CCEAE390}" srcOrd="21" destOrd="0" presId="urn:microsoft.com/office/officeart/2005/8/layout/list1"/>
    <dgm:cxn modelId="{F3E3A1E1-C3CF-4810-AA99-A1865A62A511}" type="presParOf" srcId="{3FA50688-4F97-4933-9581-3DB77E495F55}" destId="{FFF3A9EC-98E9-4945-9AAD-C4350A36B697}"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CF1E055-F5E2-43B8-B131-D2C90DCF2C57}"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zh-TW" altLang="en-US"/>
        </a:p>
      </dgm:t>
    </dgm:pt>
    <dgm:pt modelId="{ACD87AF8-5FAE-48EA-B115-80420EA142B4}">
      <dgm:prSet phldrT="[文字]" custT="1">
        <dgm:style>
          <a:lnRef idx="1">
            <a:schemeClr val="accent3"/>
          </a:lnRef>
          <a:fillRef idx="2">
            <a:schemeClr val="accent3"/>
          </a:fillRef>
          <a:effectRef idx="1">
            <a:schemeClr val="accent3"/>
          </a:effectRef>
          <a:fontRef idx="minor">
            <a:schemeClr val="dk1"/>
          </a:fontRef>
        </dgm:style>
      </dgm:prSet>
      <dgm:spPr/>
      <dgm:t>
        <a:bodyPr/>
        <a:lstStyle/>
        <a:p>
          <a:pPr algn="l">
            <a:lnSpc>
              <a:spcPct val="100000"/>
            </a:lnSpc>
            <a:spcBef>
              <a:spcPts val="0"/>
            </a:spcBef>
            <a:spcAft>
              <a:spcPts val="0"/>
            </a:spcAft>
            <a:buNone/>
          </a:pPr>
          <a:r>
            <a:rPr lang="zh-TW" altLang="en-US" sz="2000" b="1" dirty="0">
              <a:solidFill>
                <a:srgbClr val="002060"/>
              </a:solidFill>
              <a:latin typeface="微軟正黑體" pitchFamily="34" charset="-120"/>
              <a:ea typeface="微軟正黑體" pitchFamily="34" charset="-120"/>
            </a:rPr>
            <a:t>家庭因貧窮、犯罪、失業、物質濫用、未成年親職、有嚴重身心障礙兒童需照顧、家庭照顧功能不足等易受傷害的風險或多重問題，造成物質、生理、心理、環境的脆弱性，而需多重支持與服務介入的家庭。</a:t>
          </a:r>
        </a:p>
      </dgm:t>
    </dgm:pt>
    <dgm:pt modelId="{98511E82-E4DD-4CD7-8E51-EC2C28816203}" type="parTrans" cxnId="{081783EB-3E5D-48D4-90AF-96A68A8A9690}">
      <dgm:prSet/>
      <dgm:spPr/>
      <dgm:t>
        <a:bodyPr/>
        <a:lstStyle/>
        <a:p>
          <a:pPr algn="l">
            <a:lnSpc>
              <a:spcPct val="100000"/>
            </a:lnSpc>
            <a:spcBef>
              <a:spcPts val="0"/>
            </a:spcBef>
            <a:spcAft>
              <a:spcPts val="0"/>
            </a:spcAft>
          </a:pPr>
          <a:endParaRPr lang="zh-TW" altLang="en-US" sz="2000" b="1">
            <a:solidFill>
              <a:schemeClr val="tx1"/>
            </a:solidFill>
            <a:latin typeface="微軟正黑體" pitchFamily="34" charset="-120"/>
            <a:ea typeface="微軟正黑體" pitchFamily="34" charset="-120"/>
          </a:endParaRPr>
        </a:p>
      </dgm:t>
    </dgm:pt>
    <dgm:pt modelId="{387675A7-DD8D-49F3-8591-BB5F883E10D3}" type="sibTrans" cxnId="{081783EB-3E5D-48D4-90AF-96A68A8A9690}">
      <dgm:prSet/>
      <dgm:spPr/>
      <dgm:t>
        <a:bodyPr/>
        <a:lstStyle/>
        <a:p>
          <a:pPr algn="l">
            <a:lnSpc>
              <a:spcPct val="100000"/>
            </a:lnSpc>
            <a:spcBef>
              <a:spcPts val="0"/>
            </a:spcBef>
            <a:spcAft>
              <a:spcPts val="0"/>
            </a:spcAft>
          </a:pPr>
          <a:endParaRPr lang="zh-TW" altLang="en-US" sz="2000" b="1">
            <a:solidFill>
              <a:schemeClr val="tx1"/>
            </a:solidFill>
            <a:latin typeface="微軟正黑體" pitchFamily="34" charset="-120"/>
            <a:ea typeface="微軟正黑體" pitchFamily="34" charset="-120"/>
          </a:endParaRPr>
        </a:p>
      </dgm:t>
    </dgm:pt>
    <dgm:pt modelId="{FE2140A5-0681-480C-A9D9-531CCA83F117}" type="pres">
      <dgm:prSet presAssocID="{DCF1E055-F5E2-43B8-B131-D2C90DCF2C57}" presName="Name0" presStyleCnt="0">
        <dgm:presLayoutVars>
          <dgm:dir/>
          <dgm:animLvl val="lvl"/>
          <dgm:resizeHandles val="exact"/>
        </dgm:presLayoutVars>
      </dgm:prSet>
      <dgm:spPr/>
    </dgm:pt>
    <dgm:pt modelId="{4F509A48-3499-474B-8417-D50D6DAA392D}" type="pres">
      <dgm:prSet presAssocID="{ACD87AF8-5FAE-48EA-B115-80420EA142B4}" presName="linNode" presStyleCnt="0"/>
      <dgm:spPr/>
    </dgm:pt>
    <dgm:pt modelId="{4E2CB086-B7D6-4435-A3F6-ACB0BAEE4AE6}" type="pres">
      <dgm:prSet presAssocID="{ACD87AF8-5FAE-48EA-B115-80420EA142B4}" presName="parentText" presStyleLbl="node1" presStyleIdx="0" presStyleCnt="1" custScaleX="277778">
        <dgm:presLayoutVars>
          <dgm:chMax val="1"/>
          <dgm:bulletEnabled val="1"/>
        </dgm:presLayoutVars>
      </dgm:prSet>
      <dgm:spPr/>
    </dgm:pt>
  </dgm:ptLst>
  <dgm:cxnLst>
    <dgm:cxn modelId="{E3C7711E-CD30-4925-8113-3A893B4A68FC}" type="presOf" srcId="{ACD87AF8-5FAE-48EA-B115-80420EA142B4}" destId="{4E2CB086-B7D6-4435-A3F6-ACB0BAEE4AE6}" srcOrd="0" destOrd="0" presId="urn:microsoft.com/office/officeart/2005/8/layout/vList5"/>
    <dgm:cxn modelId="{9DAF2B95-BBAE-40D9-9D5E-EC424B065D26}" type="presOf" srcId="{DCF1E055-F5E2-43B8-B131-D2C90DCF2C57}" destId="{FE2140A5-0681-480C-A9D9-531CCA83F117}" srcOrd="0" destOrd="0" presId="urn:microsoft.com/office/officeart/2005/8/layout/vList5"/>
    <dgm:cxn modelId="{081783EB-3E5D-48D4-90AF-96A68A8A9690}" srcId="{DCF1E055-F5E2-43B8-B131-D2C90DCF2C57}" destId="{ACD87AF8-5FAE-48EA-B115-80420EA142B4}" srcOrd="0" destOrd="0" parTransId="{98511E82-E4DD-4CD7-8E51-EC2C28816203}" sibTransId="{387675A7-DD8D-49F3-8591-BB5F883E10D3}"/>
    <dgm:cxn modelId="{183E1CC7-1BEF-4FD8-B028-33A4B484AFC5}" type="presParOf" srcId="{FE2140A5-0681-480C-A9D9-531CCA83F117}" destId="{4F509A48-3499-474B-8417-D50D6DAA392D}" srcOrd="0" destOrd="0" presId="urn:microsoft.com/office/officeart/2005/8/layout/vList5"/>
    <dgm:cxn modelId="{64014D4A-42F2-4850-A847-572293FF9BB6}" type="presParOf" srcId="{4F509A48-3499-474B-8417-D50D6DAA392D}" destId="{4E2CB086-B7D6-4435-A3F6-ACB0BAEE4AE6}" srcOrd="0"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C42EE4-4920-4C11-97DA-589DCDB22669}">
      <dsp:nvSpPr>
        <dsp:cNvPr id="0" name=""/>
        <dsp:cNvSpPr/>
      </dsp:nvSpPr>
      <dsp:spPr>
        <a:xfrm rot="2760100">
          <a:off x="980561" y="3681283"/>
          <a:ext cx="473446" cy="65214"/>
        </a:xfrm>
        <a:custGeom>
          <a:avLst/>
          <a:gdLst/>
          <a:ahLst/>
          <a:cxnLst/>
          <a:rect l="0" t="0" r="0" b="0"/>
          <a:pathLst>
            <a:path>
              <a:moveTo>
                <a:pt x="0" y="32607"/>
              </a:moveTo>
              <a:lnTo>
                <a:pt x="473446" y="32607"/>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C13656FB-F5E7-4328-888F-0BD57605C2E1}">
      <dsp:nvSpPr>
        <dsp:cNvPr id="0" name=""/>
        <dsp:cNvSpPr/>
      </dsp:nvSpPr>
      <dsp:spPr>
        <a:xfrm rot="256436">
          <a:off x="1072852" y="2972354"/>
          <a:ext cx="282473" cy="65214"/>
        </a:xfrm>
        <a:custGeom>
          <a:avLst/>
          <a:gdLst/>
          <a:ahLst/>
          <a:cxnLst/>
          <a:rect l="0" t="0" r="0" b="0"/>
          <a:pathLst>
            <a:path>
              <a:moveTo>
                <a:pt x="0" y="32607"/>
              </a:moveTo>
              <a:lnTo>
                <a:pt x="282473" y="32607"/>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DB1E75B-A519-4760-93CB-AE27BD1BDAAB}">
      <dsp:nvSpPr>
        <dsp:cNvPr id="0" name=""/>
        <dsp:cNvSpPr/>
      </dsp:nvSpPr>
      <dsp:spPr>
        <a:xfrm rot="19499527">
          <a:off x="1030134" y="2365065"/>
          <a:ext cx="476558" cy="65214"/>
        </a:xfrm>
        <a:custGeom>
          <a:avLst/>
          <a:gdLst/>
          <a:ahLst/>
          <a:cxnLst/>
          <a:rect l="0" t="0" r="0" b="0"/>
          <a:pathLst>
            <a:path>
              <a:moveTo>
                <a:pt x="0" y="32607"/>
              </a:moveTo>
              <a:lnTo>
                <a:pt x="476558" y="32607"/>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2249031-8E5B-4DBB-A53A-6500FE272E02}">
      <dsp:nvSpPr>
        <dsp:cNvPr id="0" name=""/>
        <dsp:cNvSpPr/>
      </dsp:nvSpPr>
      <dsp:spPr>
        <a:xfrm>
          <a:off x="-279490" y="1754856"/>
          <a:ext cx="1518430" cy="209721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F98290B-6EED-4B73-B940-C8DB6BCF6395}">
      <dsp:nvSpPr>
        <dsp:cNvPr id="0" name=""/>
        <dsp:cNvSpPr/>
      </dsp:nvSpPr>
      <dsp:spPr>
        <a:xfrm>
          <a:off x="1241435" y="870929"/>
          <a:ext cx="1980179" cy="1704334"/>
        </a:xfrm>
        <a:prstGeom prst="ellipse">
          <a:avLst/>
        </a:prstGeom>
        <a:gradFill rotWithShape="0">
          <a:gsLst>
            <a:gs pos="0">
              <a:schemeClr val="accent5">
                <a:hueOff val="-2252848"/>
                <a:satOff val="-5806"/>
                <a:lumOff val="-3922"/>
                <a:alphaOff val="0"/>
                <a:satMod val="103000"/>
                <a:lumMod val="102000"/>
                <a:tint val="94000"/>
              </a:schemeClr>
            </a:gs>
            <a:gs pos="50000">
              <a:schemeClr val="accent5">
                <a:hueOff val="-2252848"/>
                <a:satOff val="-5806"/>
                <a:lumOff val="-3922"/>
                <a:alphaOff val="0"/>
                <a:satMod val="110000"/>
                <a:lumMod val="100000"/>
                <a:shade val="100000"/>
              </a:schemeClr>
            </a:gs>
            <a:gs pos="100000">
              <a:schemeClr val="accent5">
                <a:hueOff val="-2252848"/>
                <a:satOff val="-5806"/>
                <a:lumOff val="-392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TW" altLang="en-US" sz="1700" b="1" kern="1200" dirty="0">
              <a:solidFill>
                <a:schemeClr val="bg1"/>
              </a:solidFill>
              <a:latin typeface="微軟正黑體" pitchFamily="34" charset="-120"/>
              <a:ea typeface="微軟正黑體" pitchFamily="34" charset="-120"/>
            </a:rPr>
            <a:t>隨機殺人案件頻傳</a:t>
          </a:r>
        </a:p>
      </dsp:txBody>
      <dsp:txXfrm>
        <a:off x="1531426" y="1120523"/>
        <a:ext cx="1400197" cy="1205146"/>
      </dsp:txXfrm>
    </dsp:sp>
    <dsp:sp modelId="{C3F0CE98-D52C-4B0E-BFD2-FA169E86D7DC}">
      <dsp:nvSpPr>
        <dsp:cNvPr id="0" name=""/>
        <dsp:cNvSpPr/>
      </dsp:nvSpPr>
      <dsp:spPr>
        <a:xfrm>
          <a:off x="1347955" y="2435665"/>
          <a:ext cx="2056316" cy="1312274"/>
        </a:xfrm>
        <a:prstGeom prst="ellipse">
          <a:avLst/>
        </a:prstGeom>
        <a:gradFill rotWithShape="0">
          <a:gsLst>
            <a:gs pos="0">
              <a:schemeClr val="accent5">
                <a:hueOff val="-4505695"/>
                <a:satOff val="-11613"/>
                <a:lumOff val="-7843"/>
                <a:alphaOff val="0"/>
                <a:satMod val="103000"/>
                <a:lumMod val="102000"/>
                <a:tint val="94000"/>
              </a:schemeClr>
            </a:gs>
            <a:gs pos="50000">
              <a:schemeClr val="accent5">
                <a:hueOff val="-4505695"/>
                <a:satOff val="-11613"/>
                <a:lumOff val="-7843"/>
                <a:alphaOff val="0"/>
                <a:satMod val="110000"/>
                <a:lumMod val="100000"/>
                <a:shade val="100000"/>
              </a:schemeClr>
            </a:gs>
            <a:gs pos="100000">
              <a:schemeClr val="accent5">
                <a:hueOff val="-4505695"/>
                <a:satOff val="-11613"/>
                <a:lumOff val="-784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TW" altLang="en-US" sz="1700" b="1" kern="1200" dirty="0">
              <a:solidFill>
                <a:schemeClr val="bg1"/>
              </a:solidFill>
              <a:latin typeface="微軟正黑體" pitchFamily="34" charset="-120"/>
              <a:ea typeface="微軟正黑體" pitchFamily="34" charset="-120"/>
            </a:rPr>
            <a:t>保護案件漸增</a:t>
          </a:r>
        </a:p>
      </dsp:txBody>
      <dsp:txXfrm>
        <a:off x="1649096" y="2627843"/>
        <a:ext cx="1454034" cy="927918"/>
      </dsp:txXfrm>
    </dsp:sp>
    <dsp:sp modelId="{0907608F-5475-40DA-84D3-FE29F21A9429}">
      <dsp:nvSpPr>
        <dsp:cNvPr id="0" name=""/>
        <dsp:cNvSpPr/>
      </dsp:nvSpPr>
      <dsp:spPr>
        <a:xfrm>
          <a:off x="708897" y="3830301"/>
          <a:ext cx="2339771" cy="1137260"/>
        </a:xfrm>
        <a:prstGeom prst="ellipse">
          <a:avLst/>
        </a:prstGeom>
        <a:solidFill>
          <a:srgbClr val="FFC0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TW" altLang="en-US" sz="1700" b="1" kern="1200" dirty="0">
              <a:solidFill>
                <a:schemeClr val="bg1"/>
              </a:solidFill>
              <a:latin typeface="微軟正黑體" pitchFamily="34" charset="-120"/>
              <a:ea typeface="微軟正黑體" pitchFamily="34" charset="-120"/>
            </a:rPr>
            <a:t>自殺人數未明顯下降</a:t>
          </a:r>
        </a:p>
      </dsp:txBody>
      <dsp:txXfrm>
        <a:off x="1051549" y="3996849"/>
        <a:ext cx="1654467" cy="8041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E85B18-8685-4369-A13D-EAA08C3945F1}">
      <dsp:nvSpPr>
        <dsp:cNvPr id="0" name=""/>
        <dsp:cNvSpPr/>
      </dsp:nvSpPr>
      <dsp:spPr>
        <a:xfrm>
          <a:off x="1374925" y="501235"/>
          <a:ext cx="3346149" cy="3346149"/>
        </a:xfrm>
        <a:prstGeom prst="blockArc">
          <a:avLst>
            <a:gd name="adj1" fmla="val 11880000"/>
            <a:gd name="adj2" fmla="val 16200000"/>
            <a:gd name="adj3" fmla="val 4636"/>
          </a:avLst>
        </a:prstGeom>
        <a:solidFill>
          <a:schemeClr val="accent6">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D5DBB5C1-5690-4F91-8523-4EF7D48D912A}">
      <dsp:nvSpPr>
        <dsp:cNvPr id="0" name=""/>
        <dsp:cNvSpPr/>
      </dsp:nvSpPr>
      <dsp:spPr>
        <a:xfrm>
          <a:off x="1374925" y="501235"/>
          <a:ext cx="3346149" cy="3346149"/>
        </a:xfrm>
        <a:prstGeom prst="blockArc">
          <a:avLst>
            <a:gd name="adj1" fmla="val 7560000"/>
            <a:gd name="adj2" fmla="val 11880000"/>
            <a:gd name="adj3" fmla="val 4636"/>
          </a:avLst>
        </a:prstGeom>
        <a:solidFill>
          <a:schemeClr val="accent5">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63D56665-7532-4302-AE0E-6A95D9D48F7E}">
      <dsp:nvSpPr>
        <dsp:cNvPr id="0" name=""/>
        <dsp:cNvSpPr/>
      </dsp:nvSpPr>
      <dsp:spPr>
        <a:xfrm>
          <a:off x="1374925" y="501235"/>
          <a:ext cx="3346149" cy="3346149"/>
        </a:xfrm>
        <a:prstGeom prst="blockArc">
          <a:avLst>
            <a:gd name="adj1" fmla="val 3240000"/>
            <a:gd name="adj2" fmla="val 7560000"/>
            <a:gd name="adj3" fmla="val 4636"/>
          </a:avLst>
        </a:prstGeom>
        <a:solidFill>
          <a:schemeClr val="accent4">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689454BF-8865-40CC-AA8C-B1B2E603D4ED}">
      <dsp:nvSpPr>
        <dsp:cNvPr id="0" name=""/>
        <dsp:cNvSpPr/>
      </dsp:nvSpPr>
      <dsp:spPr>
        <a:xfrm>
          <a:off x="1374925" y="501235"/>
          <a:ext cx="3346149" cy="3346149"/>
        </a:xfrm>
        <a:prstGeom prst="blockArc">
          <a:avLst>
            <a:gd name="adj1" fmla="val 20520000"/>
            <a:gd name="adj2" fmla="val 3240000"/>
            <a:gd name="adj3" fmla="val 4636"/>
          </a:avLst>
        </a:prstGeom>
        <a:solidFill>
          <a:schemeClr val="accent3">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08E91779-1FE9-49EA-B886-AF39C1CF275F}">
      <dsp:nvSpPr>
        <dsp:cNvPr id="0" name=""/>
        <dsp:cNvSpPr/>
      </dsp:nvSpPr>
      <dsp:spPr>
        <a:xfrm>
          <a:off x="1374925" y="501235"/>
          <a:ext cx="3346149" cy="3346149"/>
        </a:xfrm>
        <a:prstGeom prst="blockArc">
          <a:avLst>
            <a:gd name="adj1" fmla="val 16200000"/>
            <a:gd name="adj2" fmla="val 20520000"/>
            <a:gd name="adj3" fmla="val 4636"/>
          </a:avLst>
        </a:prstGeom>
        <a:solidFill>
          <a:schemeClr val="accent2">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28326A6-85D1-4995-AA24-6B373931E053}">
      <dsp:nvSpPr>
        <dsp:cNvPr id="0" name=""/>
        <dsp:cNvSpPr/>
      </dsp:nvSpPr>
      <dsp:spPr>
        <a:xfrm>
          <a:off x="1974057" y="1224134"/>
          <a:ext cx="2289873" cy="190035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ts val="2000"/>
            </a:lnSpc>
            <a:spcBef>
              <a:spcPct val="0"/>
            </a:spcBef>
            <a:spcAft>
              <a:spcPts val="0"/>
            </a:spcAft>
            <a:buNone/>
          </a:pPr>
          <a:r>
            <a:rPr lang="zh-TW" altLang="en-US" sz="2000" b="1" kern="1200" dirty="0">
              <a:latin typeface="+mj-ea"/>
              <a:ea typeface="+mj-ea"/>
            </a:rPr>
            <a:t>隨機殺人案件</a:t>
          </a:r>
          <a:endParaRPr lang="en-US" altLang="zh-TW" sz="2000" b="1" kern="1200" dirty="0">
            <a:latin typeface="+mj-ea"/>
            <a:ea typeface="+mj-ea"/>
          </a:endParaRPr>
        </a:p>
        <a:p>
          <a:pPr marL="0" lvl="0" indent="0" algn="ctr" defTabSz="889000">
            <a:lnSpc>
              <a:spcPts val="2000"/>
            </a:lnSpc>
            <a:spcBef>
              <a:spcPct val="0"/>
            </a:spcBef>
            <a:spcAft>
              <a:spcPts val="0"/>
            </a:spcAft>
            <a:buNone/>
          </a:pPr>
          <a:r>
            <a:rPr lang="zh-TW" altLang="en-US" sz="2000" b="1" kern="1200" dirty="0">
              <a:latin typeface="+mj-ea"/>
              <a:ea typeface="+mj-ea"/>
            </a:rPr>
            <a:t>保護案件</a:t>
          </a:r>
          <a:endParaRPr lang="en-US" altLang="zh-TW" sz="2000" b="1" kern="1200" dirty="0">
            <a:latin typeface="+mj-ea"/>
            <a:ea typeface="+mj-ea"/>
          </a:endParaRPr>
        </a:p>
        <a:p>
          <a:pPr marL="0" lvl="0" indent="0" algn="ctr" defTabSz="889000">
            <a:lnSpc>
              <a:spcPts val="2000"/>
            </a:lnSpc>
            <a:spcBef>
              <a:spcPct val="0"/>
            </a:spcBef>
            <a:spcAft>
              <a:spcPts val="0"/>
            </a:spcAft>
            <a:buNone/>
          </a:pPr>
          <a:r>
            <a:rPr lang="zh-TW" altLang="en-US" sz="2000" b="1" kern="1200" dirty="0">
              <a:latin typeface="+mj-ea"/>
              <a:ea typeface="+mj-ea"/>
            </a:rPr>
            <a:t>自殺案件</a:t>
          </a:r>
          <a:endParaRPr lang="en-US" altLang="zh-TW" sz="2000" b="1" kern="1200" dirty="0">
            <a:latin typeface="+mj-ea"/>
            <a:ea typeface="+mj-ea"/>
          </a:endParaRPr>
        </a:p>
        <a:p>
          <a:pPr marL="0" lvl="0" indent="0" algn="ctr" defTabSz="889000">
            <a:lnSpc>
              <a:spcPts val="2000"/>
            </a:lnSpc>
            <a:spcBef>
              <a:spcPct val="0"/>
            </a:spcBef>
            <a:spcAft>
              <a:spcPts val="0"/>
            </a:spcAft>
            <a:buNone/>
          </a:pPr>
          <a:r>
            <a:rPr lang="zh-TW" altLang="en-US" sz="2000" b="1" kern="1200" dirty="0">
              <a:latin typeface="+mj-ea"/>
              <a:ea typeface="+mj-ea"/>
            </a:rPr>
            <a:t>之</a:t>
          </a:r>
          <a:r>
            <a:rPr lang="zh-TW" altLang="en-US" sz="2000" b="1" kern="1200" dirty="0">
              <a:solidFill>
                <a:srgbClr val="FF0000"/>
              </a:solidFill>
              <a:latin typeface="+mj-ea"/>
              <a:ea typeface="+mj-ea"/>
            </a:rPr>
            <a:t>成因</a:t>
          </a:r>
        </a:p>
      </dsp:txBody>
      <dsp:txXfrm>
        <a:off x="2309401" y="1502434"/>
        <a:ext cx="1619185" cy="1343750"/>
      </dsp:txXfrm>
    </dsp:sp>
    <dsp:sp modelId="{D9C34AF0-3840-4505-B5AC-C40F8044ED6E}">
      <dsp:nvSpPr>
        <dsp:cNvPr id="0" name=""/>
        <dsp:cNvSpPr/>
      </dsp:nvSpPr>
      <dsp:spPr>
        <a:xfrm>
          <a:off x="2509391" y="1406"/>
          <a:ext cx="1077217" cy="1077217"/>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mj-ea"/>
              <a:ea typeface="+mj-ea"/>
            </a:rPr>
            <a:t>貧窮</a:t>
          </a:r>
        </a:p>
      </dsp:txBody>
      <dsp:txXfrm>
        <a:off x="2667146" y="159161"/>
        <a:ext cx="761707" cy="761707"/>
      </dsp:txXfrm>
    </dsp:sp>
    <dsp:sp modelId="{7D34CCCE-1DC0-446C-B408-46D55B3505D3}">
      <dsp:nvSpPr>
        <dsp:cNvPr id="0" name=""/>
        <dsp:cNvSpPr/>
      </dsp:nvSpPr>
      <dsp:spPr>
        <a:xfrm>
          <a:off x="4063697" y="1130676"/>
          <a:ext cx="1077217" cy="1077217"/>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mj-ea"/>
              <a:ea typeface="+mj-ea"/>
            </a:rPr>
            <a:t>失業</a:t>
          </a:r>
        </a:p>
      </dsp:txBody>
      <dsp:txXfrm>
        <a:off x="4221452" y="1288431"/>
        <a:ext cx="761707" cy="761707"/>
      </dsp:txXfrm>
    </dsp:sp>
    <dsp:sp modelId="{39F34595-E2B3-4779-AA34-525022370CD5}">
      <dsp:nvSpPr>
        <dsp:cNvPr id="0" name=""/>
        <dsp:cNvSpPr/>
      </dsp:nvSpPr>
      <dsp:spPr>
        <a:xfrm>
          <a:off x="3470005" y="2957873"/>
          <a:ext cx="1077217" cy="1077217"/>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TW" altLang="en-US" sz="2000" kern="1200" dirty="0">
              <a:latin typeface="+mj-ea"/>
              <a:ea typeface="+mj-ea"/>
            </a:rPr>
            <a:t>毒品</a:t>
          </a:r>
        </a:p>
      </dsp:txBody>
      <dsp:txXfrm>
        <a:off x="3627760" y="3115628"/>
        <a:ext cx="761707" cy="761707"/>
      </dsp:txXfrm>
    </dsp:sp>
    <dsp:sp modelId="{6B877C3D-201B-4E6C-B45A-5F04A92B033B}">
      <dsp:nvSpPr>
        <dsp:cNvPr id="0" name=""/>
        <dsp:cNvSpPr/>
      </dsp:nvSpPr>
      <dsp:spPr>
        <a:xfrm>
          <a:off x="1548776" y="2957873"/>
          <a:ext cx="1077217" cy="1077217"/>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ts val="2200"/>
            </a:lnSpc>
            <a:spcBef>
              <a:spcPct val="0"/>
            </a:spcBef>
            <a:spcAft>
              <a:spcPts val="0"/>
            </a:spcAft>
            <a:buNone/>
          </a:pPr>
          <a:r>
            <a:rPr lang="zh-TW" altLang="en-US" sz="2000" kern="1200" dirty="0">
              <a:latin typeface="+mj-ea"/>
              <a:ea typeface="+mj-ea"/>
            </a:rPr>
            <a:t>精神</a:t>
          </a:r>
          <a:endParaRPr lang="en-US" altLang="zh-TW" sz="2000" kern="1200" dirty="0">
            <a:latin typeface="+mj-ea"/>
            <a:ea typeface="+mj-ea"/>
          </a:endParaRPr>
        </a:p>
        <a:p>
          <a:pPr marL="0" lvl="0" indent="0" algn="ctr" defTabSz="889000">
            <a:lnSpc>
              <a:spcPts val="2200"/>
            </a:lnSpc>
            <a:spcBef>
              <a:spcPct val="0"/>
            </a:spcBef>
            <a:spcAft>
              <a:spcPts val="0"/>
            </a:spcAft>
            <a:buNone/>
          </a:pPr>
          <a:r>
            <a:rPr lang="zh-TW" altLang="en-US" sz="2000" kern="1200" dirty="0">
              <a:latin typeface="+mj-ea"/>
              <a:ea typeface="+mj-ea"/>
            </a:rPr>
            <a:t>疾病</a:t>
          </a:r>
        </a:p>
      </dsp:txBody>
      <dsp:txXfrm>
        <a:off x="1706531" y="3115628"/>
        <a:ext cx="761707" cy="761707"/>
      </dsp:txXfrm>
    </dsp:sp>
    <dsp:sp modelId="{FAD925FA-7E4F-44E7-8713-828F4008A344}">
      <dsp:nvSpPr>
        <dsp:cNvPr id="0" name=""/>
        <dsp:cNvSpPr/>
      </dsp:nvSpPr>
      <dsp:spPr>
        <a:xfrm>
          <a:off x="955084" y="1130676"/>
          <a:ext cx="1077217" cy="1077217"/>
        </a:xfrm>
        <a:prstGeom prst="ellipse">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ts val="2200"/>
            </a:lnSpc>
            <a:spcBef>
              <a:spcPct val="0"/>
            </a:spcBef>
            <a:spcAft>
              <a:spcPts val="0"/>
            </a:spcAft>
            <a:buNone/>
          </a:pPr>
          <a:r>
            <a:rPr lang="zh-TW" altLang="en-US" sz="2000" kern="1200" dirty="0">
              <a:latin typeface="+mj-ea"/>
              <a:ea typeface="+mj-ea"/>
            </a:rPr>
            <a:t>家庭</a:t>
          </a:r>
          <a:endParaRPr lang="en-US" altLang="zh-TW" sz="2000" kern="1200" dirty="0">
            <a:latin typeface="+mj-ea"/>
            <a:ea typeface="+mj-ea"/>
          </a:endParaRPr>
        </a:p>
        <a:p>
          <a:pPr marL="0" lvl="0" indent="0" algn="ctr" defTabSz="889000">
            <a:lnSpc>
              <a:spcPts val="2200"/>
            </a:lnSpc>
            <a:spcBef>
              <a:spcPct val="0"/>
            </a:spcBef>
            <a:spcAft>
              <a:spcPts val="0"/>
            </a:spcAft>
            <a:buNone/>
          </a:pPr>
          <a:r>
            <a:rPr lang="zh-TW" altLang="en-US" sz="2000" kern="1200" dirty="0">
              <a:latin typeface="+mj-ea"/>
              <a:ea typeface="+mj-ea"/>
            </a:rPr>
            <a:t>結構</a:t>
          </a:r>
        </a:p>
      </dsp:txBody>
      <dsp:txXfrm>
        <a:off x="1112839" y="1288431"/>
        <a:ext cx="761707" cy="7617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F789C-341A-40A8-B35A-647EBA88C785}">
      <dsp:nvSpPr>
        <dsp:cNvPr id="0" name=""/>
        <dsp:cNvSpPr/>
      </dsp:nvSpPr>
      <dsp:spPr>
        <a:xfrm>
          <a:off x="0" y="165658"/>
          <a:ext cx="8496944" cy="567207"/>
        </a:xfrm>
        <a:prstGeom prst="roundRect">
          <a:avLst/>
        </a:prstGeom>
        <a:solidFill>
          <a:srgbClr val="C5C505">
            <a:alpha val="36000"/>
          </a:srgbClr>
        </a:solidFill>
        <a:ln w="12700" cap="flat" cmpd="sng" algn="ctr">
          <a:solidFill>
            <a:schemeClr val="accent3">
              <a:shade val="50000"/>
            </a:schemeClr>
          </a:solidFill>
          <a:prstDash val="solid"/>
          <a:miter lim="800000"/>
        </a:ln>
        <a:effectLst/>
        <a:scene3d>
          <a:camera prst="orthographicFront"/>
          <a:lightRig rig="flat" dir="t"/>
        </a:scene3d>
      </dsp:spPr>
      <dsp:style>
        <a:lnRef idx="2">
          <a:schemeClr val="accent3">
            <a:shade val="50000"/>
          </a:schemeClr>
        </a:lnRef>
        <a:fillRef idx="1">
          <a:schemeClr val="accent3"/>
        </a:fillRef>
        <a:effectRef idx="0">
          <a:schemeClr val="accent3"/>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TW" altLang="en-US" sz="2800" b="1" kern="1200" dirty="0">
              <a:solidFill>
                <a:schemeClr val="tx1"/>
              </a:solidFill>
              <a:latin typeface="微軟正黑體" pitchFamily="34" charset="-120"/>
              <a:ea typeface="微軟正黑體" pitchFamily="34" charset="-120"/>
            </a:rPr>
            <a:t>家庭社區為基石</a:t>
          </a:r>
        </a:p>
      </dsp:txBody>
      <dsp:txXfrm>
        <a:off x="27689" y="193347"/>
        <a:ext cx="8441566" cy="5118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745D25-4DDC-43DB-B581-520826761E43}">
      <dsp:nvSpPr>
        <dsp:cNvPr id="0" name=""/>
        <dsp:cNvSpPr/>
      </dsp:nvSpPr>
      <dsp:spPr>
        <a:xfrm>
          <a:off x="4206240" y="531"/>
          <a:ext cx="6309360" cy="2072133"/>
        </a:xfrm>
        <a:prstGeom prst="rightArrow">
          <a:avLst>
            <a:gd name="adj1" fmla="val 75000"/>
            <a:gd name="adj2" fmla="val 50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altLang="zh-TW" sz="2000" b="1" kern="1200" dirty="0">
              <a:solidFill>
                <a:srgbClr val="002060"/>
              </a:solidFill>
              <a:latin typeface="微軟正黑體" panose="020B0604030504040204" pitchFamily="34" charset="-120"/>
              <a:ea typeface="微軟正黑體" panose="020B0604030504040204" pitchFamily="34" charset="-120"/>
            </a:rPr>
            <a:t>VS.</a:t>
          </a:r>
          <a:r>
            <a:rPr lang="zh-TW" altLang="en-US" sz="2000" b="1" kern="1200" dirty="0">
              <a:solidFill>
                <a:srgbClr val="002060"/>
              </a:solidFill>
              <a:latin typeface="微軟正黑體" panose="020B0604030504040204" pitchFamily="34" charset="-120"/>
              <a:ea typeface="微軟正黑體" panose="020B0604030504040204" pitchFamily="34" charset="-120"/>
            </a:rPr>
            <a:t>以專業為中心</a:t>
          </a:r>
        </a:p>
        <a:p>
          <a:pPr marL="228600" lvl="1" indent="-228600" algn="l" defTabSz="889000">
            <a:lnSpc>
              <a:spcPct val="90000"/>
            </a:lnSpc>
            <a:spcBef>
              <a:spcPct val="0"/>
            </a:spcBef>
            <a:spcAft>
              <a:spcPct val="15000"/>
            </a:spcAft>
            <a:buChar char="•"/>
          </a:pPr>
          <a:r>
            <a:rPr lang="zh-TW" altLang="en-US" sz="2000" b="1" kern="1200" dirty="0">
              <a:solidFill>
                <a:srgbClr val="002060"/>
              </a:solidFill>
              <a:latin typeface="微軟正黑體" panose="020B0604030504040204" pitchFamily="34" charset="-120"/>
              <a:ea typeface="微軟正黑體" panose="020B0604030504040204" pitchFamily="34" charset="-120"/>
            </a:rPr>
            <a:t>個案家庭的服務：不同需求程度、關係本質或根本原因 或不同服務階段，應有相同的服務目標</a:t>
          </a:r>
        </a:p>
      </dsp:txBody>
      <dsp:txXfrm>
        <a:off x="4206240" y="259548"/>
        <a:ext cx="5532310" cy="1554099"/>
      </dsp:txXfrm>
    </dsp:sp>
    <dsp:sp modelId="{F04223D7-C708-4969-97DE-A8AEE5C788A9}">
      <dsp:nvSpPr>
        <dsp:cNvPr id="0" name=""/>
        <dsp:cNvSpPr/>
      </dsp:nvSpPr>
      <dsp:spPr>
        <a:xfrm>
          <a:off x="0" y="531"/>
          <a:ext cx="4206240" cy="207213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zh-TW" altLang="en-US" sz="4700" kern="1200">
              <a:highlight>
                <a:srgbClr val="800000"/>
              </a:highlight>
            </a:rPr>
            <a:t>以家庭為</a:t>
          </a:r>
          <a:r>
            <a:rPr lang="zh-TW" altLang="en-US" sz="4700" kern="1200">
              <a:highlight>
                <a:srgbClr val="800000"/>
              </a:highlight>
              <a:latin typeface="微軟正黑體" panose="020B0604030504040204" pitchFamily="34" charset="-120"/>
              <a:ea typeface="微軟正黑體" panose="020B0604030504040204" pitchFamily="34" charset="-120"/>
            </a:rPr>
            <a:t>中心</a:t>
          </a:r>
        </a:p>
      </dsp:txBody>
      <dsp:txXfrm>
        <a:off x="101153" y="101684"/>
        <a:ext cx="4003934" cy="1869827"/>
      </dsp:txXfrm>
    </dsp:sp>
    <dsp:sp modelId="{9E57A922-BE2A-4891-A6D5-4AD93B95A5A9}">
      <dsp:nvSpPr>
        <dsp:cNvPr id="0" name=""/>
        <dsp:cNvSpPr/>
      </dsp:nvSpPr>
      <dsp:spPr>
        <a:xfrm>
          <a:off x="4206240" y="2279878"/>
          <a:ext cx="6309360" cy="2072133"/>
        </a:xfrm>
        <a:prstGeom prst="rightArrow">
          <a:avLst>
            <a:gd name="adj1" fmla="val 75000"/>
            <a:gd name="adj2" fmla="val 50000"/>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t" anchorCtr="0">
          <a:noAutofit/>
        </a:bodyPr>
        <a:lstStyle/>
        <a:p>
          <a:pPr marL="228600" lvl="1" indent="-228600" algn="l" defTabSz="1066800">
            <a:lnSpc>
              <a:spcPct val="90000"/>
            </a:lnSpc>
            <a:spcBef>
              <a:spcPct val="0"/>
            </a:spcBef>
            <a:spcAft>
              <a:spcPct val="15000"/>
            </a:spcAft>
            <a:buChar char="•"/>
          </a:pPr>
          <a:r>
            <a:rPr lang="zh-TW" altLang="en-US" sz="2400" b="1" kern="1200" dirty="0">
              <a:solidFill>
                <a:srgbClr val="002060"/>
              </a:solidFill>
              <a:latin typeface="微軟正黑體" panose="020B0604030504040204" pitchFamily="34" charset="-120"/>
              <a:ea typeface="微軟正黑體" panose="020B0604030504040204" pitchFamily="34" charset="-120"/>
            </a:rPr>
            <a:t>運用社區資源</a:t>
          </a:r>
        </a:p>
        <a:p>
          <a:pPr marL="228600" lvl="1" indent="-228600" algn="l" defTabSz="1066800">
            <a:lnSpc>
              <a:spcPct val="90000"/>
            </a:lnSpc>
            <a:spcBef>
              <a:spcPct val="0"/>
            </a:spcBef>
            <a:spcAft>
              <a:spcPct val="15000"/>
            </a:spcAft>
            <a:buChar char="•"/>
          </a:pPr>
          <a:r>
            <a:rPr lang="zh-TW" altLang="en-US" sz="2400" b="1" kern="1200" dirty="0">
              <a:solidFill>
                <a:srgbClr val="002060"/>
              </a:solidFill>
              <a:latin typeface="微軟正黑體" panose="020B0604030504040204" pitchFamily="34" charset="-120"/>
              <a:ea typeface="微軟正黑體" panose="020B0604030504040204" pitchFamily="34" charset="-120"/>
            </a:rPr>
            <a:t>利用個案管理來降低服務的支離破碎</a:t>
          </a:r>
        </a:p>
      </dsp:txBody>
      <dsp:txXfrm>
        <a:off x="4206240" y="2538895"/>
        <a:ext cx="5532310" cy="1554099"/>
      </dsp:txXfrm>
    </dsp:sp>
    <dsp:sp modelId="{929E29E2-3046-43D3-BD40-FC9E8DB0341F}">
      <dsp:nvSpPr>
        <dsp:cNvPr id="0" name=""/>
        <dsp:cNvSpPr/>
      </dsp:nvSpPr>
      <dsp:spPr>
        <a:xfrm>
          <a:off x="0" y="2279878"/>
          <a:ext cx="4206240" cy="207213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zh-TW" altLang="en-US" sz="4700" kern="1200">
              <a:highlight>
                <a:srgbClr val="800000"/>
              </a:highlight>
            </a:rPr>
            <a:t>以社區為基礎</a:t>
          </a:r>
        </a:p>
      </dsp:txBody>
      <dsp:txXfrm>
        <a:off x="101153" y="2381031"/>
        <a:ext cx="4003934" cy="18698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A0D3AE-CB92-4EC9-9B29-A08580A574AC}">
      <dsp:nvSpPr>
        <dsp:cNvPr id="0" name=""/>
        <dsp:cNvSpPr/>
      </dsp:nvSpPr>
      <dsp:spPr>
        <a:xfrm>
          <a:off x="0" y="231551"/>
          <a:ext cx="8424936" cy="327600"/>
        </a:xfrm>
        <a:prstGeom prst="rect">
          <a:avLst/>
        </a:prstGeom>
        <a:solidFill>
          <a:schemeClr val="accent5">
            <a:alpha val="90000"/>
            <a:tint val="4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04A7E7-92F9-431D-B0E4-F5587A57EE23}">
      <dsp:nvSpPr>
        <dsp:cNvPr id="0" name=""/>
        <dsp:cNvSpPr/>
      </dsp:nvSpPr>
      <dsp:spPr>
        <a:xfrm>
          <a:off x="401912" y="39671"/>
          <a:ext cx="8016686" cy="383760"/>
        </a:xfrm>
        <a:prstGeom prst="roundRect">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rgbClr val="002060"/>
              </a:solidFill>
              <a:latin typeface="微軟正黑體" pitchFamily="34" charset="-120"/>
              <a:ea typeface="微軟正黑體" pitchFamily="34" charset="-120"/>
            </a:rPr>
            <a:t>家庭經濟陷困需要接受協助</a:t>
          </a:r>
          <a:endParaRPr lang="zh-TW" altLang="en-US" sz="2000" b="1" kern="1200" dirty="0">
            <a:solidFill>
              <a:srgbClr val="002060"/>
            </a:solidFill>
          </a:endParaRPr>
        </a:p>
      </dsp:txBody>
      <dsp:txXfrm>
        <a:off x="420646" y="58405"/>
        <a:ext cx="7979218" cy="346292"/>
      </dsp:txXfrm>
    </dsp:sp>
    <dsp:sp modelId="{C872B901-901E-44EF-8D38-83D2B0CE59A3}">
      <dsp:nvSpPr>
        <dsp:cNvPr id="0" name=""/>
        <dsp:cNvSpPr/>
      </dsp:nvSpPr>
      <dsp:spPr>
        <a:xfrm>
          <a:off x="0" y="821231"/>
          <a:ext cx="8424936" cy="327600"/>
        </a:xfrm>
        <a:prstGeom prst="rect">
          <a:avLst/>
        </a:prstGeom>
        <a:solidFill>
          <a:schemeClr val="accent5">
            <a:alpha val="90000"/>
            <a:tint val="4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4FDD38-608F-47B3-B724-29876D26033B}">
      <dsp:nvSpPr>
        <dsp:cNvPr id="0" name=""/>
        <dsp:cNvSpPr/>
      </dsp:nvSpPr>
      <dsp:spPr>
        <a:xfrm>
          <a:off x="401912" y="629351"/>
          <a:ext cx="8016686" cy="383760"/>
        </a:xfrm>
        <a:prstGeom prst="roundRect">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rgbClr val="002060"/>
              </a:solidFill>
              <a:latin typeface="微軟正黑體" pitchFamily="34" charset="-120"/>
              <a:ea typeface="微軟正黑體" pitchFamily="34" charset="-120"/>
            </a:rPr>
            <a:t>家庭遭逢變故需要接受協助</a:t>
          </a:r>
          <a:endParaRPr lang="zh-TW" altLang="en-US" sz="2000" b="1" kern="1200" dirty="0">
            <a:solidFill>
              <a:srgbClr val="002060"/>
            </a:solidFill>
          </a:endParaRPr>
        </a:p>
      </dsp:txBody>
      <dsp:txXfrm>
        <a:off x="420646" y="648085"/>
        <a:ext cx="7979218" cy="346292"/>
      </dsp:txXfrm>
    </dsp:sp>
    <dsp:sp modelId="{256EFB56-A08C-4896-99F3-E9B44525D5AA}">
      <dsp:nvSpPr>
        <dsp:cNvPr id="0" name=""/>
        <dsp:cNvSpPr/>
      </dsp:nvSpPr>
      <dsp:spPr>
        <a:xfrm>
          <a:off x="0" y="1410911"/>
          <a:ext cx="8424936" cy="327600"/>
        </a:xfrm>
        <a:prstGeom prst="rect">
          <a:avLst/>
        </a:prstGeom>
        <a:solidFill>
          <a:schemeClr val="accent5">
            <a:alpha val="90000"/>
            <a:tint val="4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DA8ABD-7FB7-4659-82F8-E03601781C07}">
      <dsp:nvSpPr>
        <dsp:cNvPr id="0" name=""/>
        <dsp:cNvSpPr/>
      </dsp:nvSpPr>
      <dsp:spPr>
        <a:xfrm>
          <a:off x="401912" y="1219031"/>
          <a:ext cx="8016686" cy="383760"/>
        </a:xfrm>
        <a:prstGeom prst="roundRect">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rgbClr val="002060"/>
              </a:solidFill>
              <a:latin typeface="微軟正黑體" pitchFamily="34" charset="-120"/>
              <a:ea typeface="微軟正黑體" pitchFamily="34" charset="-120"/>
            </a:rPr>
            <a:t>家庭關係衝突或疏離需要接受協助</a:t>
          </a:r>
          <a:endParaRPr lang="zh-TW" altLang="en-US" sz="2000" b="1" kern="1200" dirty="0">
            <a:solidFill>
              <a:srgbClr val="002060"/>
            </a:solidFill>
          </a:endParaRPr>
        </a:p>
      </dsp:txBody>
      <dsp:txXfrm>
        <a:off x="420646" y="1237765"/>
        <a:ext cx="7979218" cy="346292"/>
      </dsp:txXfrm>
    </dsp:sp>
    <dsp:sp modelId="{4703EC5B-8975-4A21-84F4-B05B7C57DF38}">
      <dsp:nvSpPr>
        <dsp:cNvPr id="0" name=""/>
        <dsp:cNvSpPr/>
      </dsp:nvSpPr>
      <dsp:spPr>
        <a:xfrm>
          <a:off x="0" y="2000591"/>
          <a:ext cx="8424936" cy="327600"/>
        </a:xfrm>
        <a:prstGeom prst="rect">
          <a:avLst/>
        </a:prstGeom>
        <a:solidFill>
          <a:schemeClr val="accent5">
            <a:alpha val="90000"/>
            <a:tint val="4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C85BF1-B745-46E8-8E2A-BC7D859A45C9}">
      <dsp:nvSpPr>
        <dsp:cNvPr id="0" name=""/>
        <dsp:cNvSpPr/>
      </dsp:nvSpPr>
      <dsp:spPr>
        <a:xfrm>
          <a:off x="401912" y="1808711"/>
          <a:ext cx="8016686" cy="383760"/>
        </a:xfrm>
        <a:prstGeom prst="roundRect">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rgbClr val="002060"/>
              </a:solidFill>
              <a:latin typeface="微軟正黑體" pitchFamily="34" charset="-120"/>
              <a:ea typeface="微軟正黑體" pitchFamily="34" charset="-120"/>
            </a:rPr>
            <a:t>兒少發展不利處境需要接受協助</a:t>
          </a:r>
          <a:endParaRPr lang="zh-TW" altLang="en-US" sz="2000" b="1" kern="1200" dirty="0">
            <a:solidFill>
              <a:srgbClr val="002060"/>
            </a:solidFill>
          </a:endParaRPr>
        </a:p>
      </dsp:txBody>
      <dsp:txXfrm>
        <a:off x="420646" y="1827445"/>
        <a:ext cx="7979218" cy="346292"/>
      </dsp:txXfrm>
    </dsp:sp>
    <dsp:sp modelId="{806D75E8-686D-40C7-8433-88CBC061AB21}">
      <dsp:nvSpPr>
        <dsp:cNvPr id="0" name=""/>
        <dsp:cNvSpPr/>
      </dsp:nvSpPr>
      <dsp:spPr>
        <a:xfrm>
          <a:off x="0" y="2590271"/>
          <a:ext cx="8424936" cy="327600"/>
        </a:xfrm>
        <a:prstGeom prst="rect">
          <a:avLst/>
        </a:prstGeom>
        <a:solidFill>
          <a:schemeClr val="accent5">
            <a:alpha val="90000"/>
            <a:tint val="4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97CB89-F294-48C9-A625-F630D00BAE02}">
      <dsp:nvSpPr>
        <dsp:cNvPr id="0" name=""/>
        <dsp:cNvSpPr/>
      </dsp:nvSpPr>
      <dsp:spPr>
        <a:xfrm>
          <a:off x="401912" y="2398391"/>
          <a:ext cx="8016686" cy="383760"/>
        </a:xfrm>
        <a:prstGeom prst="roundRect">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rgbClr val="002060"/>
              </a:solidFill>
              <a:latin typeface="微軟正黑體" pitchFamily="34" charset="-120"/>
              <a:ea typeface="微軟正黑體" pitchFamily="34" charset="-120"/>
            </a:rPr>
            <a:t>家庭成員因傷病致家庭有不利處境需要接受協助</a:t>
          </a:r>
          <a:endParaRPr lang="zh-TW" altLang="en-US" sz="2000" b="1" kern="1200" dirty="0">
            <a:solidFill>
              <a:srgbClr val="002060"/>
            </a:solidFill>
          </a:endParaRPr>
        </a:p>
      </dsp:txBody>
      <dsp:txXfrm>
        <a:off x="420646" y="2417125"/>
        <a:ext cx="7979218" cy="346292"/>
      </dsp:txXfrm>
    </dsp:sp>
    <dsp:sp modelId="{FFF3A9EC-98E9-4945-9AAD-C4350A36B697}">
      <dsp:nvSpPr>
        <dsp:cNvPr id="0" name=""/>
        <dsp:cNvSpPr/>
      </dsp:nvSpPr>
      <dsp:spPr>
        <a:xfrm>
          <a:off x="0" y="3179951"/>
          <a:ext cx="8424936" cy="327600"/>
        </a:xfrm>
        <a:prstGeom prst="rect">
          <a:avLst/>
        </a:prstGeom>
        <a:solidFill>
          <a:schemeClr val="accent5">
            <a:alpha val="90000"/>
            <a:tint val="4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29CBC4-796B-494C-9512-26557191A315}">
      <dsp:nvSpPr>
        <dsp:cNvPr id="0" name=""/>
        <dsp:cNvSpPr/>
      </dsp:nvSpPr>
      <dsp:spPr>
        <a:xfrm>
          <a:off x="401912" y="2988071"/>
          <a:ext cx="8016686" cy="383760"/>
        </a:xfrm>
        <a:prstGeom prst="roundRect">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rgbClr val="002060"/>
              </a:solidFill>
              <a:latin typeface="微軟正黑體" pitchFamily="34" charset="-120"/>
              <a:ea typeface="微軟正黑體" pitchFamily="34" charset="-120"/>
            </a:rPr>
            <a:t>個人生活適應困難需要接受協助</a:t>
          </a:r>
          <a:endParaRPr lang="zh-TW" altLang="en-US" sz="2000" b="1" kern="1200" dirty="0">
            <a:solidFill>
              <a:srgbClr val="002060"/>
            </a:solidFill>
          </a:endParaRPr>
        </a:p>
      </dsp:txBody>
      <dsp:txXfrm>
        <a:off x="420646" y="3006805"/>
        <a:ext cx="7979218" cy="3462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2CB086-B7D6-4435-A3F6-ACB0BAEE4AE6}">
      <dsp:nvSpPr>
        <dsp:cNvPr id="0" name=""/>
        <dsp:cNvSpPr/>
      </dsp:nvSpPr>
      <dsp:spPr>
        <a:xfrm>
          <a:off x="4151" y="688"/>
          <a:ext cx="8500679" cy="1408323"/>
        </a:xfrm>
        <a:prstGeom prst="roundRec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76200" tIns="38100" rIns="76200" bIns="38100" numCol="1" spcCol="1270" anchor="ctr" anchorCtr="0">
          <a:noAutofit/>
        </a:bodyPr>
        <a:lstStyle/>
        <a:p>
          <a:pPr marL="0" lvl="0" indent="0" algn="l" defTabSz="889000">
            <a:lnSpc>
              <a:spcPct val="100000"/>
            </a:lnSpc>
            <a:spcBef>
              <a:spcPts val="0"/>
            </a:spcBef>
            <a:spcAft>
              <a:spcPts val="0"/>
            </a:spcAft>
            <a:buNone/>
          </a:pPr>
          <a:r>
            <a:rPr lang="zh-TW" altLang="en-US" sz="2000" b="1" kern="1200" dirty="0">
              <a:solidFill>
                <a:srgbClr val="002060"/>
              </a:solidFill>
              <a:latin typeface="微軟正黑體" pitchFamily="34" charset="-120"/>
              <a:ea typeface="微軟正黑體" pitchFamily="34" charset="-120"/>
            </a:rPr>
            <a:t>家庭因貧窮、犯罪、失業、物質濫用、未成年親職、有嚴重身心障礙兒童需照顧、家庭照顧功能不足等易受傷害的風險或多重問題，造成物質、生理、心理、環境的脆弱性，而需多重支持與服務介入的家庭。</a:t>
          </a:r>
        </a:p>
      </dsp:txBody>
      <dsp:txXfrm>
        <a:off x="72900" y="69437"/>
        <a:ext cx="8363181" cy="1270825"/>
      </dsp:txXfrm>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81589B-626C-4A50-BE73-A7D70097942B}" type="datetimeFigureOut">
              <a:rPr lang="zh-TW" altLang="en-US" smtClean="0"/>
              <a:t>2026/4/29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4AE2A-2404-4387-B531-DFD2B9719CE8}" type="slidenum">
              <a:rPr lang="zh-TW" altLang="en-US" smtClean="0"/>
              <a:t>‹#›</a:t>
            </a:fld>
            <a:endParaRPr lang="zh-TW" altLang="en-US"/>
          </a:p>
        </p:txBody>
      </p:sp>
    </p:spTree>
    <p:extLst>
      <p:ext uri="{BB962C8B-B14F-4D97-AF65-F5344CB8AC3E}">
        <p14:creationId xmlns:p14="http://schemas.microsoft.com/office/powerpoint/2010/main" val="3241735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投影片圖像版面配置區 1">
            <a:extLst>
              <a:ext uri="{FF2B5EF4-FFF2-40B4-BE49-F238E27FC236}">
                <a16:creationId xmlns:a16="http://schemas.microsoft.com/office/drawing/2014/main" id="{DB854393-CF35-4D20-BB75-6CB3182C0F5B}"/>
              </a:ext>
            </a:extLst>
          </p:cNvPr>
          <p:cNvSpPr>
            <a:spLocks noGrp="1" noRot="1" noChangeAspect="1" noChangeArrowheads="1" noTextEdit="1"/>
          </p:cNvSpPr>
          <p:nvPr>
            <p:ph type="sldImg"/>
          </p:nvPr>
        </p:nvSpPr>
        <p:spPr>
          <a:ln/>
        </p:spPr>
      </p:sp>
      <p:sp>
        <p:nvSpPr>
          <p:cNvPr id="62467" name="備忘稿版面配置區 2">
            <a:extLst>
              <a:ext uri="{FF2B5EF4-FFF2-40B4-BE49-F238E27FC236}">
                <a16:creationId xmlns:a16="http://schemas.microsoft.com/office/drawing/2014/main" id="{081B0469-0330-4CB7-BEB5-E20B63832F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
        <p:nvSpPr>
          <p:cNvPr id="62468" name="投影片編號版面配置區 3">
            <a:extLst>
              <a:ext uri="{FF2B5EF4-FFF2-40B4-BE49-F238E27FC236}">
                <a16:creationId xmlns:a16="http://schemas.microsoft.com/office/drawing/2014/main" id="{3AB33556-D682-4C16-8321-BC88FC21FA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fld id="{E487ED45-DBC5-4ED1-A2FB-CECDB8423AEC}" type="slidenum">
              <a:rPr kumimoji="0" lang="zh-TW" altLang="en-US" sz="1200" smtClean="0">
                <a:solidFill>
                  <a:srgbClr val="000000"/>
                </a:solidFill>
                <a:latin typeface="Calibri" panose="020F0502020204030204" pitchFamily="34" charset="0"/>
              </a:rPr>
              <a:pPr/>
              <a:t>9</a:t>
            </a:fld>
            <a:endParaRPr kumimoji="0" lang="zh-TW" altLang="en-US" sz="1200">
              <a:solidFill>
                <a:srgbClr val="000000"/>
              </a:solidFill>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投影片圖像版面配置區 1">
            <a:extLst>
              <a:ext uri="{FF2B5EF4-FFF2-40B4-BE49-F238E27FC236}">
                <a16:creationId xmlns:a16="http://schemas.microsoft.com/office/drawing/2014/main" id="{AE5E2349-4F92-4840-B3E4-37156254D50B}"/>
              </a:ext>
            </a:extLst>
          </p:cNvPr>
          <p:cNvSpPr>
            <a:spLocks noGrp="1" noRot="1" noChangeAspect="1" noChangeArrowheads="1" noTextEdit="1"/>
          </p:cNvSpPr>
          <p:nvPr>
            <p:ph type="sldImg"/>
          </p:nvPr>
        </p:nvSpPr>
        <p:spPr>
          <a:ln/>
        </p:spPr>
      </p:sp>
      <p:sp>
        <p:nvSpPr>
          <p:cNvPr id="64515" name="備忘稿版面配置區 2">
            <a:extLst>
              <a:ext uri="{FF2B5EF4-FFF2-40B4-BE49-F238E27FC236}">
                <a16:creationId xmlns:a16="http://schemas.microsoft.com/office/drawing/2014/main" id="{38B5588C-15B2-4CFC-932A-A4AC1BB8C7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t>.3</a:t>
            </a:r>
            <a:endParaRPr lang="zh-TW" altLang="en-US"/>
          </a:p>
        </p:txBody>
      </p:sp>
      <p:sp>
        <p:nvSpPr>
          <p:cNvPr id="64516" name="投影片編號版面配置區 3">
            <a:extLst>
              <a:ext uri="{FF2B5EF4-FFF2-40B4-BE49-F238E27FC236}">
                <a16:creationId xmlns:a16="http://schemas.microsoft.com/office/drawing/2014/main" id="{C0774F4D-6E40-4165-A4E3-15F16FE395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fld id="{8E43FE41-539B-492F-8D3E-D757E46224D4}" type="slidenum">
              <a:rPr kumimoji="0" lang="zh-TW" altLang="en-US" sz="1200" smtClean="0">
                <a:solidFill>
                  <a:srgbClr val="000000"/>
                </a:solidFill>
                <a:latin typeface="Calibri" panose="020F0502020204030204" pitchFamily="34" charset="0"/>
              </a:rPr>
              <a:pPr/>
              <a:t>10</a:t>
            </a:fld>
            <a:endParaRPr kumimoji="0" lang="zh-TW" altLang="en-US" sz="1200">
              <a:solidFill>
                <a:srgbClr val="000000"/>
              </a:solidFill>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投影片圖像版面配置區 1">
            <a:extLst>
              <a:ext uri="{FF2B5EF4-FFF2-40B4-BE49-F238E27FC236}">
                <a16:creationId xmlns:a16="http://schemas.microsoft.com/office/drawing/2014/main" id="{A8E80951-B4DF-4F95-B14F-86341A443CC6}"/>
              </a:ext>
            </a:extLst>
          </p:cNvPr>
          <p:cNvSpPr>
            <a:spLocks noGrp="1" noRot="1" noChangeAspect="1" noChangeArrowheads="1" noTextEdit="1"/>
          </p:cNvSpPr>
          <p:nvPr>
            <p:ph type="sldImg"/>
          </p:nvPr>
        </p:nvSpPr>
        <p:spPr>
          <a:ln/>
        </p:spPr>
      </p:sp>
      <p:sp>
        <p:nvSpPr>
          <p:cNvPr id="67587" name="備忘稿版面配置區 2">
            <a:extLst>
              <a:ext uri="{FF2B5EF4-FFF2-40B4-BE49-F238E27FC236}">
                <a16:creationId xmlns:a16="http://schemas.microsoft.com/office/drawing/2014/main" id="{817372FD-6C68-4F41-91F1-B6A8DA12FE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
        <p:nvSpPr>
          <p:cNvPr id="67588" name="投影片編號版面配置區 3">
            <a:extLst>
              <a:ext uri="{FF2B5EF4-FFF2-40B4-BE49-F238E27FC236}">
                <a16:creationId xmlns:a16="http://schemas.microsoft.com/office/drawing/2014/main" id="{EF615111-8390-418D-9117-B92869792C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fld id="{F79E2A4C-B7C9-44DD-ABA6-00EDD4BCC3BB}" type="slidenum">
              <a:rPr kumimoji="0" lang="zh-TW" altLang="en-US" sz="1200" smtClean="0">
                <a:solidFill>
                  <a:srgbClr val="000000"/>
                </a:solidFill>
                <a:latin typeface="Calibri" panose="020F0502020204030204" pitchFamily="34" charset="0"/>
              </a:rPr>
              <a:pPr/>
              <a:t>13</a:t>
            </a:fld>
            <a:endParaRPr kumimoji="0" lang="zh-TW" altLang="en-US" sz="1200">
              <a:solidFill>
                <a:srgbClr val="000000"/>
              </a:solidFill>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投影片影像版面配置區 1">
            <a:extLst>
              <a:ext uri="{FF2B5EF4-FFF2-40B4-BE49-F238E27FC236}">
                <a16:creationId xmlns:a16="http://schemas.microsoft.com/office/drawing/2014/main" id="{B5E4C467-A540-4F18-86C5-AABC1443EA0C}"/>
              </a:ext>
            </a:extLst>
          </p:cNvPr>
          <p:cNvSpPr>
            <a:spLocks noGrp="1" noRot="1" noChangeAspect="1" noChangeArrowheads="1" noTextEdit="1"/>
          </p:cNvSpPr>
          <p:nvPr>
            <p:ph type="sldImg"/>
          </p:nvPr>
        </p:nvSpPr>
        <p:spPr>
          <a:ln/>
        </p:spPr>
      </p:sp>
      <p:sp>
        <p:nvSpPr>
          <p:cNvPr id="16387" name="備忘稿版面配置區 2">
            <a:extLst>
              <a:ext uri="{FF2B5EF4-FFF2-40B4-BE49-F238E27FC236}">
                <a16:creationId xmlns:a16="http://schemas.microsoft.com/office/drawing/2014/main" id="{360101FE-B234-47F2-80A6-111DD27182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
        <p:nvSpPr>
          <p:cNvPr id="16388" name="投影片編號版面配置區 3">
            <a:extLst>
              <a:ext uri="{FF2B5EF4-FFF2-40B4-BE49-F238E27FC236}">
                <a16:creationId xmlns:a16="http://schemas.microsoft.com/office/drawing/2014/main" id="{6D0541D3-BE90-4D5A-94FD-BDE2002C03E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新細明體" panose="02020500000000000000" pitchFamily="18" charset="-120"/>
              </a:defRPr>
            </a:lvl1pPr>
            <a:lvl2pPr marL="742950" indent="-285750">
              <a:defRPr kumimoji="1" sz="2400">
                <a:solidFill>
                  <a:schemeClr val="tx1"/>
                </a:solidFill>
                <a:latin typeface="Tahoma" panose="020B0604030504040204" pitchFamily="34" charset="0"/>
                <a:ea typeface="新細明體" panose="02020500000000000000" pitchFamily="18" charset="-120"/>
              </a:defRPr>
            </a:lvl2pPr>
            <a:lvl3pPr marL="1143000" indent="-228600">
              <a:defRPr kumimoji="1" sz="2400">
                <a:solidFill>
                  <a:schemeClr val="tx1"/>
                </a:solidFill>
                <a:latin typeface="Tahoma" panose="020B0604030504040204" pitchFamily="34" charset="0"/>
                <a:ea typeface="新細明體" panose="02020500000000000000" pitchFamily="18" charset="-120"/>
              </a:defRPr>
            </a:lvl3pPr>
            <a:lvl4pPr marL="1600200" indent="-228600">
              <a:defRPr kumimoji="1" sz="2400">
                <a:solidFill>
                  <a:schemeClr val="tx1"/>
                </a:solidFill>
                <a:latin typeface="Tahoma" panose="020B0604030504040204" pitchFamily="34" charset="0"/>
                <a:ea typeface="新細明體" panose="02020500000000000000" pitchFamily="18" charset="-120"/>
              </a:defRPr>
            </a:lvl4pPr>
            <a:lvl5pPr marL="2057400" indent="-228600">
              <a:defRPr kumimoji="1" sz="24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新細明體" panose="02020500000000000000" pitchFamily="18" charset="-120"/>
              </a:defRPr>
            </a:lvl9pPr>
          </a:lstStyle>
          <a:p>
            <a:fld id="{EB35BBAF-F4B5-4894-8417-FEA1AEBA0C52}" type="slidenum">
              <a:rPr lang="en-US" altLang="zh-TW" sz="1200" smtClean="0"/>
              <a:pPr/>
              <a:t>14</a:t>
            </a:fld>
            <a:endParaRPr lang="en-US" altLang="zh-TW"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投影片圖像版面配置區 1">
            <a:extLst>
              <a:ext uri="{FF2B5EF4-FFF2-40B4-BE49-F238E27FC236}">
                <a16:creationId xmlns:a16="http://schemas.microsoft.com/office/drawing/2014/main" id="{44BBB131-7391-4050-9741-5F8FB666F18E}"/>
              </a:ext>
            </a:extLst>
          </p:cNvPr>
          <p:cNvSpPr>
            <a:spLocks noGrp="1" noRot="1" noChangeAspect="1" noChangeArrowheads="1" noTextEdit="1"/>
          </p:cNvSpPr>
          <p:nvPr>
            <p:ph type="sldImg"/>
          </p:nvPr>
        </p:nvSpPr>
        <p:spPr>
          <a:ln/>
        </p:spPr>
      </p:sp>
      <p:sp>
        <p:nvSpPr>
          <p:cNvPr id="69635" name="備忘稿版面配置區 2">
            <a:extLst>
              <a:ext uri="{FF2B5EF4-FFF2-40B4-BE49-F238E27FC236}">
                <a16:creationId xmlns:a16="http://schemas.microsoft.com/office/drawing/2014/main" id="{8B129EEE-DF60-430C-BBF6-946BB7F072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
        <p:nvSpPr>
          <p:cNvPr id="69636" name="投影片編號版面配置區 3">
            <a:extLst>
              <a:ext uri="{FF2B5EF4-FFF2-40B4-BE49-F238E27FC236}">
                <a16:creationId xmlns:a16="http://schemas.microsoft.com/office/drawing/2014/main" id="{48682A98-92A2-4285-ABB4-32D297EA44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fld id="{706DBC75-7390-4C76-990B-48BE2E8F1059}" type="slidenum">
              <a:rPr kumimoji="0" lang="zh-TW" altLang="en-US" sz="1200" smtClean="0">
                <a:solidFill>
                  <a:srgbClr val="000000"/>
                </a:solidFill>
                <a:latin typeface="Calibri" panose="020F0502020204030204" pitchFamily="34" charset="0"/>
              </a:rPr>
              <a:pPr/>
              <a:t>16</a:t>
            </a:fld>
            <a:endParaRPr kumimoji="0" lang="zh-TW" altLang="en-US" sz="1200">
              <a:solidFill>
                <a:srgbClr val="000000"/>
              </a:solidFill>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pPr>
              <a:defRPr/>
            </a:pPr>
            <a:fld id="{3D9DA4AC-0AB8-4A8D-90AB-904F6F828886}" type="slidenum">
              <a:rPr lang="zh-TW" altLang="en-US" smtClean="0"/>
              <a:pPr>
                <a:defRPr/>
              </a:pPr>
              <a:t>20</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ABDA9B-FB64-4429-8671-82AAB98B34F5}"/>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A162F70-1476-4BD9-86F2-A55A953E6B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B5B4F63A-7A9C-4628-ABCE-623DF76AF6D3}"/>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5" name="頁尾版面配置區 4">
            <a:extLst>
              <a:ext uri="{FF2B5EF4-FFF2-40B4-BE49-F238E27FC236}">
                <a16:creationId xmlns:a16="http://schemas.microsoft.com/office/drawing/2014/main" id="{2994E579-4843-4885-B1D4-5E479323147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C80B235-948B-4ADA-A618-7CD7D79516F4}"/>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1116474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5CB858-0972-4C3B-A2C1-28FB538036A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9A45B3F-5646-4CB8-96CB-22BC601E953D}"/>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0AE4294-0AF9-4170-8D90-468A50BF0327}"/>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5" name="頁尾版面配置區 4">
            <a:extLst>
              <a:ext uri="{FF2B5EF4-FFF2-40B4-BE49-F238E27FC236}">
                <a16:creationId xmlns:a16="http://schemas.microsoft.com/office/drawing/2014/main" id="{8FBDB756-988E-4572-BCEF-7003215E4B7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EBE7A70-F28F-4E19-816C-3D89CFAF6043}"/>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227641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28FB2D-35AC-4160-9E49-E78606265FB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1AF0742-5A25-461B-9973-CF7F939D5A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3B2479F2-0705-4BB8-BDCA-BDD398603AAE}"/>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5" name="頁尾版面配置區 4">
            <a:extLst>
              <a:ext uri="{FF2B5EF4-FFF2-40B4-BE49-F238E27FC236}">
                <a16:creationId xmlns:a16="http://schemas.microsoft.com/office/drawing/2014/main" id="{C55A7222-0058-4B85-81FC-2572468B021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DA31BB0-FD36-4377-8AF2-17148CF08135}"/>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1430042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9D0782-0A76-478B-B0D3-000A0D378CF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9351D2E-1857-40E4-BA08-4098EB77CCF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8459F6EB-B7E8-4078-9951-0FFEFB3D0219}"/>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A57DBC2-AFB1-4029-ABA0-ADCAE8FD6E38}"/>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6" name="頁尾版面配置區 5">
            <a:extLst>
              <a:ext uri="{FF2B5EF4-FFF2-40B4-BE49-F238E27FC236}">
                <a16:creationId xmlns:a16="http://schemas.microsoft.com/office/drawing/2014/main" id="{2F1C6030-E38C-4172-B149-C2B6462C04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EF45CBB-B286-4106-A2BF-6804CD4C001D}"/>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1843916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C407FE-BB0F-4B22-BFBC-70E65AE9B70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FC092E1-57A0-4856-8E6B-D4E060E18E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E95EEB0D-7DFE-4DA5-B79C-6DA5D7C108E1}"/>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4AE49CB-7D53-431A-82DB-34FCA45EE6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E796C3C6-AA94-403B-B324-0877FAD7D1CD}"/>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06F2282-261E-4B7B-A8E5-83B8639E21AE}"/>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8" name="頁尾版面配置區 7">
            <a:extLst>
              <a:ext uri="{FF2B5EF4-FFF2-40B4-BE49-F238E27FC236}">
                <a16:creationId xmlns:a16="http://schemas.microsoft.com/office/drawing/2014/main" id="{9CA505B7-6589-422E-A905-A575E92D156D}"/>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6C798F6-CD0E-41C5-81FF-F38AF60F638C}"/>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323537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805BA0-9FD5-4871-A287-BB46C97F9AC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B7067D4-E480-408A-B7B2-52D1C958DD37}"/>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4" name="頁尾版面配置區 3">
            <a:extLst>
              <a:ext uri="{FF2B5EF4-FFF2-40B4-BE49-F238E27FC236}">
                <a16:creationId xmlns:a16="http://schemas.microsoft.com/office/drawing/2014/main" id="{ED45AD55-1024-4CA9-8C9E-591C0A76B00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A779D40-45A4-469E-AB28-362976DEDD16}"/>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345527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6BE9D61-8AC1-41B9-B343-7AECD1AD0A6D}"/>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3" name="頁尾版面配置區 2">
            <a:extLst>
              <a:ext uri="{FF2B5EF4-FFF2-40B4-BE49-F238E27FC236}">
                <a16:creationId xmlns:a16="http://schemas.microsoft.com/office/drawing/2014/main" id="{2092F754-F0AC-493B-9880-95A66B19995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02D8366-08FE-4DEB-BE24-428E76C71812}"/>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2618880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4BEA33-DDB3-4867-8085-687B12824E1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1B1A1C-7EFD-44FC-B029-F877F65696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EBEFEDC-54FC-46FA-8D53-A0945CC03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B54E091-CF3E-46E4-819B-55198DAFE082}"/>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6" name="頁尾版面配置區 5">
            <a:extLst>
              <a:ext uri="{FF2B5EF4-FFF2-40B4-BE49-F238E27FC236}">
                <a16:creationId xmlns:a16="http://schemas.microsoft.com/office/drawing/2014/main" id="{EB5185BD-9719-45C6-A113-F368B291827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2661297-AB92-4A09-AEF6-AD1C2477B970}"/>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857277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205987-8E08-438B-A76F-6786EF7BBDA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C25A266-000B-47E5-8A72-4CBA635934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ABF720D-18FD-41F3-9103-DFA84D9A15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21A4F3C-2A01-4BD0-99E4-2F710B74D894}"/>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6" name="頁尾版面配置區 5">
            <a:extLst>
              <a:ext uri="{FF2B5EF4-FFF2-40B4-BE49-F238E27FC236}">
                <a16:creationId xmlns:a16="http://schemas.microsoft.com/office/drawing/2014/main" id="{D8A4C9A6-4A9F-4456-A0AB-261FF3BCCF7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50A04ED-1D62-4688-8A03-60DC13B73926}"/>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2576758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F77991-B063-4686-B947-22A59503256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0A7290-D4B3-4644-A00B-A520C6D6B867}"/>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57466EC-6D9D-4754-9970-E7FD48052343}"/>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5" name="頁尾版面配置區 4">
            <a:extLst>
              <a:ext uri="{FF2B5EF4-FFF2-40B4-BE49-F238E27FC236}">
                <a16:creationId xmlns:a16="http://schemas.microsoft.com/office/drawing/2014/main" id="{1B8A7E3C-968C-45A8-A70C-35E394E3958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AE39CD1-5DF2-4FA0-A4BC-B1C880A0C7DA}"/>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57144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F7A7E19-A4E6-483C-97CE-EB473635211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B2C1243-AC8E-4D15-98BC-E3FCA5B1091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83195E9-993C-41E0-B7B7-1AC207AE92B6}"/>
              </a:ext>
            </a:extLst>
          </p:cNvPr>
          <p:cNvSpPr>
            <a:spLocks noGrp="1"/>
          </p:cNvSpPr>
          <p:nvPr>
            <p:ph type="dt" sz="half" idx="10"/>
          </p:nvPr>
        </p:nvSpPr>
        <p:spPr/>
        <p:txBody>
          <a:bodyPr/>
          <a:lstStyle/>
          <a:p>
            <a:fld id="{A75901C9-189D-4A9F-8285-F2D1A3045256}" type="datetimeFigureOut">
              <a:rPr lang="zh-TW" altLang="en-US" smtClean="0"/>
              <a:t>2026/4/29</a:t>
            </a:fld>
            <a:endParaRPr lang="zh-TW" altLang="en-US"/>
          </a:p>
        </p:txBody>
      </p:sp>
      <p:sp>
        <p:nvSpPr>
          <p:cNvPr id="5" name="頁尾版面配置區 4">
            <a:extLst>
              <a:ext uri="{FF2B5EF4-FFF2-40B4-BE49-F238E27FC236}">
                <a16:creationId xmlns:a16="http://schemas.microsoft.com/office/drawing/2014/main" id="{0B83E478-457A-489F-BB79-9B6DDFDB8A0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9189888-202F-4D05-BF3A-6E0A08E42B49}"/>
              </a:ext>
            </a:extLst>
          </p:cNvPr>
          <p:cNvSpPr>
            <a:spLocks noGrp="1"/>
          </p:cNvSpPr>
          <p:nvPr>
            <p:ph type="sldNum" sz="quarter" idx="12"/>
          </p:nvPr>
        </p:nvSpPr>
        <p:spPr/>
        <p:txBody>
          <a:body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3919757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802D3E7-DC32-49B9-BD6B-1DA062B951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0F6B6E6-D5DF-4E49-BC64-E1C69348D0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B181B8D-0690-4C51-9C6E-4D4CADA2CD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5901C9-189D-4A9F-8285-F2D1A3045256}" type="datetimeFigureOut">
              <a:rPr lang="zh-TW" altLang="en-US" smtClean="0"/>
              <a:t>2026/4/29</a:t>
            </a:fld>
            <a:endParaRPr lang="zh-TW" altLang="en-US"/>
          </a:p>
        </p:txBody>
      </p:sp>
      <p:sp>
        <p:nvSpPr>
          <p:cNvPr id="5" name="頁尾版面配置區 4">
            <a:extLst>
              <a:ext uri="{FF2B5EF4-FFF2-40B4-BE49-F238E27FC236}">
                <a16:creationId xmlns:a16="http://schemas.microsoft.com/office/drawing/2014/main" id="{E779B42C-A760-47C7-B0DD-BB5C296E2C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A04D09AF-F179-412B-804C-DC30580D00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2AABC-2FF2-40B9-A6CF-E631491EBFC0}" type="slidenum">
              <a:rPr lang="zh-TW" altLang="en-US" smtClean="0"/>
              <a:t>‹#›</a:t>
            </a:fld>
            <a:endParaRPr lang="zh-TW" altLang="en-US"/>
          </a:p>
        </p:txBody>
      </p:sp>
    </p:spTree>
    <p:extLst>
      <p:ext uri="{BB962C8B-B14F-4D97-AF65-F5344CB8AC3E}">
        <p14:creationId xmlns:p14="http://schemas.microsoft.com/office/powerpoint/2010/main" val="1239447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0.jpe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37EA8293-38A0-4B9B-BE0D-D79092F79ED9}"/>
              </a:ext>
            </a:extLst>
          </p:cNvPr>
          <p:cNvSpPr>
            <a:spLocks noGrp="1"/>
          </p:cNvSpPr>
          <p:nvPr>
            <p:ph type="ctrTitle"/>
          </p:nvPr>
        </p:nvSpPr>
        <p:spPr>
          <a:xfrm>
            <a:off x="970908" y="1220919"/>
            <a:ext cx="6029332" cy="1655762"/>
          </a:xfrm>
        </p:spPr>
        <p:txBody>
          <a:bodyPr>
            <a:normAutofit fontScale="90000"/>
          </a:bodyPr>
          <a:lstStyle/>
          <a:p>
            <a:pPr algn="l"/>
            <a:r>
              <a:rPr lang="zh-TW" altLang="en-US" dirty="0">
                <a:solidFill>
                  <a:srgbClr val="C00000"/>
                </a:solidFill>
                <a:latin typeface="微軟正黑體" panose="020B0604030504040204" pitchFamily="34" charset="-120"/>
                <a:ea typeface="微軟正黑體" panose="020B0604030504040204" pitchFamily="34" charset="-120"/>
              </a:rPr>
              <a:t>強化社會安全網</a:t>
            </a:r>
            <a:r>
              <a:rPr lang="en-US" altLang="zh-TW" dirty="0">
                <a:solidFill>
                  <a:srgbClr val="C00000"/>
                </a:solidFill>
                <a:latin typeface="微軟正黑體" panose="020B0604030504040204" pitchFamily="34" charset="-120"/>
                <a:ea typeface="微軟正黑體" panose="020B0604030504040204" pitchFamily="34" charset="-120"/>
              </a:rPr>
              <a:t>2.0-</a:t>
            </a:r>
            <a:r>
              <a:rPr lang="zh-TW" altLang="en-US" dirty="0">
                <a:solidFill>
                  <a:srgbClr val="C00000"/>
                </a:solidFill>
                <a:latin typeface="微軟正黑體" panose="020B0604030504040204" pitchFamily="34" charset="-120"/>
                <a:ea typeface="微軟正黑體" panose="020B0604030504040204" pitchFamily="34" charset="-120"/>
              </a:rPr>
              <a:t>社區第一線</a:t>
            </a:r>
          </a:p>
        </p:txBody>
      </p:sp>
      <p:sp>
        <p:nvSpPr>
          <p:cNvPr id="3" name="副標題 2">
            <a:extLst>
              <a:ext uri="{FF2B5EF4-FFF2-40B4-BE49-F238E27FC236}">
                <a16:creationId xmlns:a16="http://schemas.microsoft.com/office/drawing/2014/main" id="{F99D30FF-1002-4230-80E6-BE8085EFAEC9}"/>
              </a:ext>
            </a:extLst>
          </p:cNvPr>
          <p:cNvSpPr>
            <a:spLocks noGrp="1"/>
          </p:cNvSpPr>
          <p:nvPr>
            <p:ph type="subTitle" idx="1"/>
          </p:nvPr>
        </p:nvSpPr>
        <p:spPr>
          <a:xfrm>
            <a:off x="970908" y="4881388"/>
            <a:ext cx="5425781" cy="1895332"/>
          </a:xfrm>
        </p:spPr>
        <p:txBody>
          <a:bodyPr>
            <a:normAutofit/>
          </a:bodyPr>
          <a:lstStyle/>
          <a:p>
            <a:pPr algn="l"/>
            <a:r>
              <a:rPr lang="zh-TW" altLang="en-US" sz="1100" dirty="0">
                <a:latin typeface="微軟正黑體" panose="020B0604030504040204" pitchFamily="34" charset="-120"/>
                <a:ea typeface="微軟正黑體" panose="020B0604030504040204" pitchFamily="34" charset="-120"/>
              </a:rPr>
              <a:t>許坋妃</a:t>
            </a:r>
            <a:endParaRPr lang="en-US" altLang="zh-TW" sz="1100" dirty="0">
              <a:latin typeface="微軟正黑體" panose="020B0604030504040204" pitchFamily="34" charset="-120"/>
              <a:ea typeface="微軟正黑體" panose="020B0604030504040204" pitchFamily="34" charset="-120"/>
            </a:endParaRPr>
          </a:p>
          <a:p>
            <a:pPr algn="l"/>
            <a:r>
              <a:rPr lang="zh-TW" altLang="en-US" sz="1100" dirty="0">
                <a:latin typeface="微軟正黑體" panose="020B0604030504040204" pitchFamily="34" charset="-120"/>
                <a:ea typeface="微軟正黑體" panose="020B0604030504040204" pitchFamily="34" charset="-120"/>
              </a:rPr>
              <a:t>國立中山大學社會科學博士</a:t>
            </a:r>
            <a:endParaRPr lang="en-US" altLang="zh-TW" sz="1100" dirty="0">
              <a:latin typeface="微軟正黑體" panose="020B0604030504040204" pitchFamily="34" charset="-120"/>
              <a:ea typeface="微軟正黑體" panose="020B0604030504040204" pitchFamily="34" charset="-120"/>
            </a:endParaRPr>
          </a:p>
          <a:p>
            <a:pPr algn="l"/>
            <a:r>
              <a:rPr lang="zh-TW" altLang="en-US" sz="1100" dirty="0">
                <a:latin typeface="微軟正黑體" panose="020B0604030504040204" pitchFamily="34" charset="-120"/>
                <a:ea typeface="微軟正黑體" panose="020B0604030504040204" pitchFamily="34" charset="-120"/>
              </a:rPr>
              <a:t>兒童少年婦女與家庭 專科社工師</a:t>
            </a:r>
            <a:endParaRPr lang="en-US" altLang="zh-TW" sz="1100" dirty="0">
              <a:latin typeface="微軟正黑體" panose="020B0604030504040204" pitchFamily="34" charset="-120"/>
              <a:ea typeface="微軟正黑體" panose="020B0604030504040204" pitchFamily="34" charset="-120"/>
            </a:endParaRPr>
          </a:p>
          <a:p>
            <a:pPr algn="l"/>
            <a:r>
              <a:rPr lang="zh-TW" altLang="en-US" sz="1100" dirty="0">
                <a:latin typeface="微軟正黑體" panose="020B0604030504040204" pitchFamily="34" charset="-120"/>
                <a:ea typeface="微軟正黑體" panose="020B0604030504040204" pitchFamily="34" charset="-120"/>
              </a:rPr>
              <a:t>樹德科大社工學程 兼任助理教授</a:t>
            </a:r>
            <a:endParaRPr lang="en-US" altLang="zh-TW" sz="1100" dirty="0">
              <a:latin typeface="微軟正黑體" panose="020B0604030504040204" pitchFamily="34" charset="-120"/>
              <a:ea typeface="微軟正黑體" panose="020B0604030504040204" pitchFamily="34" charset="-120"/>
            </a:endParaRPr>
          </a:p>
          <a:p>
            <a:pPr algn="l"/>
            <a:r>
              <a:rPr lang="en-US" altLang="zh-TW" sz="1100"/>
              <a:t>115.05</a:t>
            </a:r>
            <a:endParaRPr lang="zh-TW" altLang="en-US" sz="1100" dirty="0"/>
          </a:p>
        </p:txBody>
      </p:sp>
      <p:sp>
        <p:nvSpPr>
          <p:cNvPr id="10" name="Freeform: Shape 9">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8452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標題 1">
            <a:extLst>
              <a:ext uri="{FF2B5EF4-FFF2-40B4-BE49-F238E27FC236}">
                <a16:creationId xmlns:a16="http://schemas.microsoft.com/office/drawing/2014/main" id="{B9FFCBDD-6B00-4511-A0DA-16A7EBB6DBCA}"/>
              </a:ext>
            </a:extLst>
          </p:cNvPr>
          <p:cNvSpPr>
            <a:spLocks noGrp="1" noChangeArrowheads="1"/>
          </p:cNvSpPr>
          <p:nvPr>
            <p:ph type="title"/>
          </p:nvPr>
        </p:nvSpPr>
        <p:spPr>
          <a:xfrm>
            <a:off x="3468688" y="274321"/>
            <a:ext cx="6589712" cy="816294"/>
          </a:xfrm>
        </p:spPr>
        <p:txBody>
          <a:bodyPr/>
          <a:lstStyle/>
          <a:p>
            <a:r>
              <a:rPr lang="zh-TW" altLang="en-US" dirty="0">
                <a:solidFill>
                  <a:srgbClr val="C00000"/>
                </a:solidFill>
              </a:rPr>
              <a:t>小燈泡被隨機殺害案</a:t>
            </a:r>
          </a:p>
        </p:txBody>
      </p:sp>
      <p:pic>
        <p:nvPicPr>
          <p:cNvPr id="27651" name="內容版面配置區 5" descr="一張含有 個人, 年輕, 小孩 的圖片&#10;&#10;描述是以高可信度產生">
            <a:extLst>
              <a:ext uri="{FF2B5EF4-FFF2-40B4-BE49-F238E27FC236}">
                <a16:creationId xmlns:a16="http://schemas.microsoft.com/office/drawing/2014/main" id="{0985B469-7A1D-4CD2-AC42-9D30C1124E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22400" y="1090614"/>
            <a:ext cx="8783638" cy="5362575"/>
          </a:xfrm>
        </p:spPr>
      </p:pic>
      <p:sp>
        <p:nvSpPr>
          <p:cNvPr id="27652" name="投影片編號版面配置區 3">
            <a:extLst>
              <a:ext uri="{FF2B5EF4-FFF2-40B4-BE49-F238E27FC236}">
                <a16:creationId xmlns:a16="http://schemas.microsoft.com/office/drawing/2014/main" id="{B81B4FFD-1D4A-4C17-8D5E-B3C8897BC24C}"/>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fld id="{F8EBE181-5BF3-4B56-84A8-10C4F1781BDD}" type="slidenum">
              <a:rPr lang="zh-TW" altLang="en-US" sz="2000">
                <a:solidFill>
                  <a:srgbClr val="FEFFFF"/>
                </a:solidFill>
              </a:rPr>
              <a:pPr/>
              <a:t>2</a:t>
            </a:fld>
            <a:endParaRPr lang="zh-TW" altLang="en-US" sz="2000">
              <a:solidFill>
                <a:srgbClr val="FEFFFF"/>
              </a:solidFill>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標題 1">
            <a:extLst>
              <a:ext uri="{FF2B5EF4-FFF2-40B4-BE49-F238E27FC236}">
                <a16:creationId xmlns:a16="http://schemas.microsoft.com/office/drawing/2014/main" id="{0EAD394F-9D62-483C-B05A-BD0A79770642}"/>
              </a:ext>
            </a:extLst>
          </p:cNvPr>
          <p:cNvSpPr>
            <a:spLocks noGrp="1" noChangeArrowheads="1"/>
          </p:cNvSpPr>
          <p:nvPr>
            <p:ph type="title"/>
          </p:nvPr>
        </p:nvSpPr>
        <p:spPr>
          <a:xfrm>
            <a:off x="3101340" y="5110480"/>
            <a:ext cx="5987034" cy="1513840"/>
          </a:xfrm>
        </p:spPr>
        <p:txBody>
          <a:bodyPr vert="horz" lIns="91440" tIns="45720" rIns="91440" bIns="45720" rtlCol="0" anchor="ctr">
            <a:normAutofit/>
          </a:bodyPr>
          <a:lstStyle/>
          <a:p>
            <a:pPr algn="ctr"/>
            <a:r>
              <a:rPr lang="zh-TW" altLang="en-US" sz="2700" dirty="0">
                <a:solidFill>
                  <a:srgbClr val="002060"/>
                </a:solidFill>
                <a:latin typeface="微軟正黑體" panose="020B0604030504040204" pitchFamily="34" charset="-120"/>
                <a:ea typeface="微軟正黑體" panose="020B0604030504040204" pitchFamily="34" charset="-120"/>
              </a:rPr>
              <a:t>可愛小生命的殞落</a:t>
            </a:r>
            <a:r>
              <a:rPr lang="en-US" altLang="zh-TW" sz="2700" dirty="0">
                <a:solidFill>
                  <a:srgbClr val="002060"/>
                </a:solidFill>
                <a:latin typeface="微軟正黑體" panose="020B0604030504040204" pitchFamily="34" charset="-120"/>
                <a:ea typeface="微軟正黑體" panose="020B0604030504040204" pitchFamily="34" charset="-120"/>
              </a:rPr>
              <a:t>/</a:t>
            </a:r>
            <a:r>
              <a:rPr lang="zh-TW" altLang="en-US" sz="2700" dirty="0">
                <a:solidFill>
                  <a:srgbClr val="002060"/>
                </a:solidFill>
                <a:latin typeface="微軟正黑體" panose="020B0604030504040204" pitchFamily="34" charset="-120"/>
                <a:ea typeface="微軟正黑體" panose="020B0604030504040204" pitchFamily="34" charset="-120"/>
              </a:rPr>
              <a:t>家庭與社區傷痛</a:t>
            </a:r>
          </a:p>
        </p:txBody>
      </p:sp>
      <p:pic>
        <p:nvPicPr>
          <p:cNvPr id="28675" name="內容版面配置區 4" descr="一張含有 個人, 室外, 地面, 樹 的圖片&#10;&#10;描述是以非常高的可信度產生">
            <a:extLst>
              <a:ext uri="{FF2B5EF4-FFF2-40B4-BE49-F238E27FC236}">
                <a16:creationId xmlns:a16="http://schemas.microsoft.com/office/drawing/2014/main" id="{90934B9C-1D28-4D8C-A713-D3EE78D53A0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97" r="33748" b="1"/>
          <a:stretch/>
        </p:blipFill>
        <p:spPr>
          <a:xfrm>
            <a:off x="680720" y="11"/>
            <a:ext cx="5335270" cy="4727437"/>
          </a:xfrm>
          <a:prstGeom prst="rect">
            <a:avLst/>
          </a:prstGeom>
        </p:spPr>
      </p:pic>
      <p:pic>
        <p:nvPicPr>
          <p:cNvPr id="28676" name="圖片 6" descr="一張含有 小孩, 牆, 坐, 個人 的圖片&#10;&#10;描述是以非常高的可信度產生">
            <a:extLst>
              <a:ext uri="{FF2B5EF4-FFF2-40B4-BE49-F238E27FC236}">
                <a16:creationId xmlns:a16="http://schemas.microsoft.com/office/drawing/2014/main" id="{7FFD7278-BCF2-4A3B-AEC4-3D837B868F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569" r="12686" b="-2"/>
          <a:stretch/>
        </p:blipFill>
        <p:spPr bwMode="auto">
          <a:xfrm>
            <a:off x="6176010" y="11"/>
            <a:ext cx="5142230" cy="47274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標題 1">
            <a:extLst>
              <a:ext uri="{FF2B5EF4-FFF2-40B4-BE49-F238E27FC236}">
                <a16:creationId xmlns:a16="http://schemas.microsoft.com/office/drawing/2014/main" id="{6E3735D0-07A9-45BA-9BEC-A2491F207D80}"/>
              </a:ext>
            </a:extLst>
          </p:cNvPr>
          <p:cNvSpPr>
            <a:spLocks noGrp="1" noChangeArrowheads="1"/>
          </p:cNvSpPr>
          <p:nvPr>
            <p:ph type="title"/>
          </p:nvPr>
        </p:nvSpPr>
        <p:spPr>
          <a:xfrm>
            <a:off x="3101340" y="5110480"/>
            <a:ext cx="5987034" cy="1574800"/>
          </a:xfrm>
        </p:spPr>
        <p:txBody>
          <a:bodyPr vert="horz" lIns="91440" tIns="45720" rIns="91440" bIns="45720" rtlCol="0" anchor="ctr">
            <a:normAutofit/>
          </a:bodyPr>
          <a:lstStyle/>
          <a:p>
            <a:pPr algn="ctr"/>
            <a:r>
              <a:rPr lang="zh-TW" altLang="en-US" sz="3500" dirty="0">
                <a:solidFill>
                  <a:srgbClr val="002060"/>
                </a:solidFill>
                <a:latin typeface="微軟正黑體" panose="020B0604030504040204" pitchFamily="34" charset="-120"/>
                <a:ea typeface="微軟正黑體" panose="020B0604030504040204" pitchFamily="34" charset="-120"/>
              </a:rPr>
              <a:t>北捷隨機殺人案</a:t>
            </a:r>
          </a:p>
        </p:txBody>
      </p:sp>
      <p:pic>
        <p:nvPicPr>
          <p:cNvPr id="29700" name="圖片 6" descr="一張含有 室內, 地板, 行李, 天花板 的圖片&#10;&#10;描述是以非常高的可信度產生">
            <a:extLst>
              <a:ext uri="{FF2B5EF4-FFF2-40B4-BE49-F238E27FC236}">
                <a16:creationId xmlns:a16="http://schemas.microsoft.com/office/drawing/2014/main" id="{802302B6-88CB-434C-8710-BB58530FCE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61" r="-2" b="18737"/>
          <a:stretch/>
        </p:blipFill>
        <p:spPr bwMode="auto">
          <a:xfrm>
            <a:off x="477520" y="172720"/>
            <a:ext cx="5538470" cy="517144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內容版面配置區 4" descr="一張含有 室內, 個人 的圖片&#10;&#10;描述是以非常高的可信度產生">
            <a:extLst>
              <a:ext uri="{FF2B5EF4-FFF2-40B4-BE49-F238E27FC236}">
                <a16:creationId xmlns:a16="http://schemas.microsoft.com/office/drawing/2014/main" id="{23AC6F3D-798F-44C6-B30C-9F00A557867A}"/>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796" r="-1" b="-1"/>
          <a:stretch/>
        </p:blipFill>
        <p:spPr>
          <a:xfrm>
            <a:off x="6176010" y="172720"/>
            <a:ext cx="5457190" cy="5171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標題 1">
            <a:extLst>
              <a:ext uri="{FF2B5EF4-FFF2-40B4-BE49-F238E27FC236}">
                <a16:creationId xmlns:a16="http://schemas.microsoft.com/office/drawing/2014/main" id="{86FB4807-D5CB-4CA5-A60A-2951D501B53C}"/>
              </a:ext>
            </a:extLst>
          </p:cNvPr>
          <p:cNvSpPr>
            <a:spLocks noGrp="1" noChangeArrowheads="1"/>
          </p:cNvSpPr>
          <p:nvPr>
            <p:ph type="title"/>
          </p:nvPr>
        </p:nvSpPr>
        <p:spPr>
          <a:xfrm>
            <a:off x="2927350" y="623888"/>
            <a:ext cx="7740650" cy="1281112"/>
          </a:xfrm>
        </p:spPr>
        <p:txBody>
          <a:bodyPr>
            <a:normAutofit fontScale="90000"/>
          </a:bodyPr>
          <a:lstStyle/>
          <a:p>
            <a:pPr eaLnBrk="1" hangingPunct="1"/>
            <a:r>
              <a:rPr lang="en-US" altLang="zh-TW">
                <a:solidFill>
                  <a:srgbClr val="002060"/>
                </a:solidFill>
                <a:latin typeface="微軟正黑體" panose="020B0604030504040204" pitchFamily="34" charset="-120"/>
              </a:rPr>
              <a:t>5</a:t>
            </a:r>
            <a:r>
              <a:rPr lang="zh-TW" altLang="en-US">
                <a:solidFill>
                  <a:srgbClr val="002060"/>
                </a:solidFill>
                <a:latin typeface="微軟正黑體" panose="020B0604030504040204" pitchFamily="34" charset="-120"/>
              </a:rPr>
              <a:t>個月大男童疑遭虐 送醫急診驗傷</a:t>
            </a:r>
            <a:br>
              <a:rPr lang="en-US" altLang="zh-TW">
                <a:solidFill>
                  <a:srgbClr val="002060"/>
                </a:solidFill>
                <a:latin typeface="微軟正黑體" panose="020B0604030504040204" pitchFamily="34" charset="-120"/>
              </a:rPr>
            </a:br>
            <a:endParaRPr lang="zh-TW" altLang="en-US">
              <a:solidFill>
                <a:srgbClr val="002060"/>
              </a:solidFill>
              <a:latin typeface="微軟正黑體" panose="020B0604030504040204" pitchFamily="34" charset="-120"/>
            </a:endParaRPr>
          </a:p>
        </p:txBody>
      </p:sp>
      <p:pic>
        <p:nvPicPr>
          <p:cNvPr id="30723" name="內容版面配置區 4">
            <a:extLst>
              <a:ext uri="{FF2B5EF4-FFF2-40B4-BE49-F238E27FC236}">
                <a16:creationId xmlns:a16="http://schemas.microsoft.com/office/drawing/2014/main" id="{78D0280A-489E-4C97-914B-EC9E782D3B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2367280" y="1554480"/>
            <a:ext cx="8097519" cy="4622483"/>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Rounded Corners 72">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6" name="標題 1">
            <a:extLst>
              <a:ext uri="{FF2B5EF4-FFF2-40B4-BE49-F238E27FC236}">
                <a16:creationId xmlns:a16="http://schemas.microsoft.com/office/drawing/2014/main" id="{66DDDA9F-7088-4B4F-9600-FA29E1F9E3E0}"/>
              </a:ext>
            </a:extLst>
          </p:cNvPr>
          <p:cNvSpPr>
            <a:spLocks noGrp="1" noChangeArrowheads="1"/>
          </p:cNvSpPr>
          <p:nvPr>
            <p:ph type="title"/>
          </p:nvPr>
        </p:nvSpPr>
        <p:spPr>
          <a:xfrm>
            <a:off x="956826" y="1112969"/>
            <a:ext cx="3937298" cy="4166010"/>
          </a:xfrm>
        </p:spPr>
        <p:txBody>
          <a:bodyPr>
            <a:normAutofit/>
          </a:bodyPr>
          <a:lstStyle/>
          <a:p>
            <a:r>
              <a:rPr lang="zh-TW" altLang="en-US">
                <a:solidFill>
                  <a:srgbClr val="FFFFFF"/>
                </a:solidFill>
                <a:latin typeface="微軟正黑體" panose="020B0604030504040204" pitchFamily="34" charset="-120"/>
                <a:ea typeface="微軟正黑體" panose="020B0604030504040204" pitchFamily="34" charset="-120"/>
              </a:rPr>
              <a:t>傷害不是一天造成的？</a:t>
            </a:r>
          </a:p>
        </p:txBody>
      </p:sp>
      <p:sp>
        <p:nvSpPr>
          <p:cNvPr id="75" name="Freeform: Shape 74">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Shape 76">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內容版面配置區 2">
            <a:extLst>
              <a:ext uri="{FF2B5EF4-FFF2-40B4-BE49-F238E27FC236}">
                <a16:creationId xmlns:a16="http://schemas.microsoft.com/office/drawing/2014/main" id="{96311458-CAE2-4A39-9432-38576EBFED5B}"/>
              </a:ext>
            </a:extLst>
          </p:cNvPr>
          <p:cNvSpPr>
            <a:spLocks noGrp="1"/>
          </p:cNvSpPr>
          <p:nvPr>
            <p:ph idx="1"/>
          </p:nvPr>
        </p:nvSpPr>
        <p:spPr>
          <a:xfrm>
            <a:off x="6096000" y="820880"/>
            <a:ext cx="5257799" cy="4889350"/>
          </a:xfrm>
        </p:spPr>
        <p:txBody>
          <a:bodyPr anchor="t">
            <a:normAutofit/>
          </a:bodyPr>
          <a:lstStyle/>
          <a:p>
            <a:pPr>
              <a:defRPr/>
            </a:pPr>
            <a:r>
              <a:rPr lang="zh-TW" altLang="en-US" dirty="0">
                <a:solidFill>
                  <a:srgbClr val="002060"/>
                </a:solidFill>
                <a:latin typeface="微軟正黑體" panose="020B0604030504040204" pitchFamily="34" charset="-120"/>
                <a:ea typeface="微軟正黑體" panose="020B0604030504040204" pitchFamily="34" charset="-120"/>
              </a:rPr>
              <a:t>尹醫師在紫絲帶獎評選的演說中提到，案發後她和檢警單位到案家蒐證時，訪談鄰居、大樓管理員都說，平日就常聽到那家常傳出孩子的哭聲</a:t>
            </a:r>
            <a:r>
              <a:rPr lang="en-US" altLang="zh-TW" dirty="0">
                <a:solidFill>
                  <a:srgbClr val="002060"/>
                </a:solidFill>
                <a:latin typeface="微軟正黑體" panose="020B0604030504040204" pitchFamily="34" charset="-120"/>
                <a:ea typeface="微軟正黑體" panose="020B0604030504040204" pitchFamily="34" charset="-120"/>
              </a:rPr>
              <a:t>….</a:t>
            </a:r>
          </a:p>
          <a:p>
            <a:pPr>
              <a:defRPr/>
            </a:pPr>
            <a:endParaRPr lang="en-US" altLang="zh-TW" dirty="0">
              <a:solidFill>
                <a:srgbClr val="002060"/>
              </a:solidFill>
              <a:latin typeface="微軟正黑體" panose="020B0604030504040204" pitchFamily="34" charset="-120"/>
              <a:ea typeface="微軟正黑體" panose="020B0604030504040204" pitchFamily="34" charset="-120"/>
            </a:endParaRPr>
          </a:p>
          <a:p>
            <a:pPr>
              <a:defRPr/>
            </a:pPr>
            <a:r>
              <a:rPr lang="zh-TW" altLang="en-US" dirty="0">
                <a:solidFill>
                  <a:srgbClr val="002060"/>
                </a:solidFill>
                <a:latin typeface="微軟正黑體" panose="020B0604030504040204" pitchFamily="34" charset="-120"/>
                <a:ea typeface="微軟正黑體" panose="020B0604030504040204" pitchFamily="34" charset="-120"/>
              </a:rPr>
              <a:t>殺害小燈泡的王姓兇手與北捷殺人鄭捷，平日就疑有精神方面問題，社區鄰里都知道他怪怪的</a:t>
            </a:r>
            <a:r>
              <a:rPr lang="en-US" altLang="zh-TW" dirty="0">
                <a:solidFill>
                  <a:srgbClr val="002060"/>
                </a:solidFill>
                <a:latin typeface="微軟正黑體" panose="020B0604030504040204" pitchFamily="34" charset="-120"/>
                <a:ea typeface="微軟正黑體" panose="020B0604030504040204" pitchFamily="34" charset="-120"/>
              </a:rPr>
              <a:t>…</a:t>
            </a:r>
          </a:p>
          <a:p>
            <a:pPr>
              <a:defRPr/>
            </a:pPr>
            <a:endParaRPr lang="zh-TW" altLang="en-US" dirty="0"/>
          </a:p>
        </p:txBody>
      </p:sp>
      <p:sp>
        <p:nvSpPr>
          <p:cNvPr id="81" name="Freeform: Shape 80">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2B64559A-68EB-42E2-881C-7A5119026C4D}"/>
              </a:ext>
            </a:extLst>
          </p:cNvPr>
          <p:cNvSpPr>
            <a:spLocks noChangeArrowheads="1"/>
          </p:cNvSpPr>
          <p:nvPr/>
        </p:nvSpPr>
        <p:spPr bwMode="auto">
          <a:xfrm>
            <a:off x="2711451" y="3284538"/>
            <a:ext cx="1801813" cy="2144712"/>
          </a:xfrm>
          <a:prstGeom prst="rect">
            <a:avLst/>
          </a:prstGeom>
          <a:solidFill>
            <a:srgbClr val="CCFFCC"/>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endParaRPr kumimoji="0" lang="zh-TW" altLang="zh-TW">
              <a:solidFill>
                <a:srgbClr val="000000"/>
              </a:solidFill>
              <a:latin typeface="Perpetua" panose="02020502060401020303" pitchFamily="18" charset="0"/>
            </a:endParaRPr>
          </a:p>
        </p:txBody>
      </p:sp>
      <p:sp>
        <p:nvSpPr>
          <p:cNvPr id="37891" name="AutoShape 4">
            <a:extLst>
              <a:ext uri="{FF2B5EF4-FFF2-40B4-BE49-F238E27FC236}">
                <a16:creationId xmlns:a16="http://schemas.microsoft.com/office/drawing/2014/main" id="{867D944D-FE9C-495A-99C4-8E24E721688C}"/>
              </a:ext>
            </a:extLst>
          </p:cNvPr>
          <p:cNvSpPr>
            <a:spLocks noChangeArrowheads="1"/>
          </p:cNvSpPr>
          <p:nvPr/>
        </p:nvSpPr>
        <p:spPr bwMode="auto">
          <a:xfrm>
            <a:off x="4511676" y="3932238"/>
            <a:ext cx="720725" cy="576262"/>
          </a:xfrm>
          <a:prstGeom prst="rightArrow">
            <a:avLst>
              <a:gd name="adj1" fmla="val 50000"/>
              <a:gd name="adj2" fmla="val 31267"/>
            </a:avLst>
          </a:prstGeom>
          <a:solidFill>
            <a:srgbClr val="FF9900"/>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endParaRPr kumimoji="0" lang="zh-TW" altLang="zh-TW">
              <a:solidFill>
                <a:srgbClr val="000000"/>
              </a:solidFill>
              <a:latin typeface="Perpetua" panose="02020502060401020303" pitchFamily="18" charset="0"/>
            </a:endParaRPr>
          </a:p>
        </p:txBody>
      </p:sp>
      <p:sp>
        <p:nvSpPr>
          <p:cNvPr id="37892" name="AutoShape 5">
            <a:extLst>
              <a:ext uri="{FF2B5EF4-FFF2-40B4-BE49-F238E27FC236}">
                <a16:creationId xmlns:a16="http://schemas.microsoft.com/office/drawing/2014/main" id="{0A173C3C-91AE-4C29-97FD-A3B2B2CA2C9F}"/>
              </a:ext>
            </a:extLst>
          </p:cNvPr>
          <p:cNvSpPr>
            <a:spLocks noChangeArrowheads="1"/>
          </p:cNvSpPr>
          <p:nvPr/>
        </p:nvSpPr>
        <p:spPr bwMode="auto">
          <a:xfrm>
            <a:off x="7031038" y="4005263"/>
            <a:ext cx="863600" cy="576262"/>
          </a:xfrm>
          <a:prstGeom prst="rightArrow">
            <a:avLst>
              <a:gd name="adj1" fmla="val 50000"/>
              <a:gd name="adj2" fmla="val 37466"/>
            </a:avLst>
          </a:prstGeom>
          <a:solidFill>
            <a:srgbClr val="FF9900"/>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endParaRPr kumimoji="0" lang="zh-TW" altLang="zh-TW">
              <a:solidFill>
                <a:srgbClr val="000000"/>
              </a:solidFill>
              <a:latin typeface="Perpetua" panose="02020502060401020303" pitchFamily="18" charset="0"/>
            </a:endParaRPr>
          </a:p>
        </p:txBody>
      </p:sp>
      <p:sp>
        <p:nvSpPr>
          <p:cNvPr id="37893" name="Rectangle 6">
            <a:extLst>
              <a:ext uri="{FF2B5EF4-FFF2-40B4-BE49-F238E27FC236}">
                <a16:creationId xmlns:a16="http://schemas.microsoft.com/office/drawing/2014/main" id="{92C2353F-B613-423A-B752-33611417774B}"/>
              </a:ext>
            </a:extLst>
          </p:cNvPr>
          <p:cNvSpPr>
            <a:spLocks noChangeArrowheads="1"/>
          </p:cNvSpPr>
          <p:nvPr/>
        </p:nvSpPr>
        <p:spPr bwMode="auto">
          <a:xfrm>
            <a:off x="5230813" y="3284539"/>
            <a:ext cx="1801812" cy="1944687"/>
          </a:xfrm>
          <a:prstGeom prst="rect">
            <a:avLst/>
          </a:prstGeom>
          <a:solidFill>
            <a:srgbClr val="CCFFCC"/>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endParaRPr kumimoji="0" lang="zh-TW" altLang="zh-TW">
              <a:solidFill>
                <a:srgbClr val="000000"/>
              </a:solidFill>
              <a:latin typeface="Perpetua" panose="02020502060401020303" pitchFamily="18" charset="0"/>
            </a:endParaRPr>
          </a:p>
        </p:txBody>
      </p:sp>
      <p:sp>
        <p:nvSpPr>
          <p:cNvPr id="37894" name="Rectangle 7">
            <a:extLst>
              <a:ext uri="{FF2B5EF4-FFF2-40B4-BE49-F238E27FC236}">
                <a16:creationId xmlns:a16="http://schemas.microsoft.com/office/drawing/2014/main" id="{6CC48F6F-2BCD-4CA7-90BA-2663FC9506CE}"/>
              </a:ext>
            </a:extLst>
          </p:cNvPr>
          <p:cNvSpPr>
            <a:spLocks noChangeArrowheads="1"/>
          </p:cNvSpPr>
          <p:nvPr/>
        </p:nvSpPr>
        <p:spPr bwMode="auto">
          <a:xfrm>
            <a:off x="7894638" y="3284539"/>
            <a:ext cx="1801812" cy="1944687"/>
          </a:xfrm>
          <a:prstGeom prst="rect">
            <a:avLst/>
          </a:prstGeom>
          <a:solidFill>
            <a:srgbClr val="CCFFCC"/>
          </a:solidFill>
          <a:ln w="9525">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endParaRPr kumimoji="0" lang="zh-TW" altLang="zh-TW">
              <a:solidFill>
                <a:srgbClr val="000000"/>
              </a:solidFill>
              <a:latin typeface="Perpetua" panose="02020502060401020303" pitchFamily="18" charset="0"/>
            </a:endParaRPr>
          </a:p>
        </p:txBody>
      </p:sp>
      <p:sp>
        <p:nvSpPr>
          <p:cNvPr id="37895" name="Text Box 8">
            <a:extLst>
              <a:ext uri="{FF2B5EF4-FFF2-40B4-BE49-F238E27FC236}">
                <a16:creationId xmlns:a16="http://schemas.microsoft.com/office/drawing/2014/main" id="{17B8E7DD-EDAD-4E5F-BA36-FE5288BBF714}"/>
              </a:ext>
            </a:extLst>
          </p:cNvPr>
          <p:cNvSpPr txBox="1">
            <a:spLocks noChangeArrowheads="1"/>
          </p:cNvSpPr>
          <p:nvPr/>
        </p:nvSpPr>
        <p:spPr bwMode="auto">
          <a:xfrm>
            <a:off x="3143251" y="5589589"/>
            <a:ext cx="1368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r>
              <a:rPr kumimoji="0" lang="zh-TW" altLang="en-US" sz="2000" b="1">
                <a:solidFill>
                  <a:srgbClr val="000000"/>
                </a:solidFill>
                <a:latin typeface="Perpetua" panose="02020502060401020303" pitchFamily="18" charset="0"/>
              </a:rPr>
              <a:t>第一幕</a:t>
            </a:r>
          </a:p>
        </p:txBody>
      </p:sp>
      <p:sp>
        <p:nvSpPr>
          <p:cNvPr id="37896" name="Text Box 9">
            <a:extLst>
              <a:ext uri="{FF2B5EF4-FFF2-40B4-BE49-F238E27FC236}">
                <a16:creationId xmlns:a16="http://schemas.microsoft.com/office/drawing/2014/main" id="{F74CEACF-9AB2-48AC-820B-A394B7156C31}"/>
              </a:ext>
            </a:extLst>
          </p:cNvPr>
          <p:cNvSpPr txBox="1">
            <a:spLocks noChangeArrowheads="1"/>
          </p:cNvSpPr>
          <p:nvPr/>
        </p:nvSpPr>
        <p:spPr bwMode="auto">
          <a:xfrm>
            <a:off x="5664201" y="5589589"/>
            <a:ext cx="1439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r>
              <a:rPr kumimoji="0" lang="zh-TW" altLang="en-US" sz="2000" b="1">
                <a:solidFill>
                  <a:srgbClr val="000000"/>
                </a:solidFill>
                <a:latin typeface="Perpetua" panose="02020502060401020303" pitchFamily="18" charset="0"/>
              </a:rPr>
              <a:t>第二幕</a:t>
            </a:r>
          </a:p>
        </p:txBody>
      </p:sp>
      <p:sp>
        <p:nvSpPr>
          <p:cNvPr id="37897" name="Text Box 10">
            <a:extLst>
              <a:ext uri="{FF2B5EF4-FFF2-40B4-BE49-F238E27FC236}">
                <a16:creationId xmlns:a16="http://schemas.microsoft.com/office/drawing/2014/main" id="{8DD885D6-D00B-4531-889B-342099EB79BE}"/>
              </a:ext>
            </a:extLst>
          </p:cNvPr>
          <p:cNvSpPr txBox="1">
            <a:spLocks noChangeArrowheads="1"/>
          </p:cNvSpPr>
          <p:nvPr/>
        </p:nvSpPr>
        <p:spPr bwMode="auto">
          <a:xfrm>
            <a:off x="8328026" y="5589589"/>
            <a:ext cx="1368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r>
              <a:rPr kumimoji="0" lang="zh-TW" altLang="en-US" sz="2000" b="1">
                <a:solidFill>
                  <a:srgbClr val="000000"/>
                </a:solidFill>
                <a:latin typeface="Perpetua" panose="02020502060401020303" pitchFamily="18" charset="0"/>
              </a:rPr>
              <a:t>第三幕</a:t>
            </a:r>
          </a:p>
        </p:txBody>
      </p:sp>
      <p:sp>
        <p:nvSpPr>
          <p:cNvPr id="37898" name="AutoShape 11">
            <a:extLst>
              <a:ext uri="{FF2B5EF4-FFF2-40B4-BE49-F238E27FC236}">
                <a16:creationId xmlns:a16="http://schemas.microsoft.com/office/drawing/2014/main" id="{099D7C9C-26FE-439A-B26A-622611F62F83}"/>
              </a:ext>
            </a:extLst>
          </p:cNvPr>
          <p:cNvSpPr>
            <a:spLocks noChangeArrowheads="1"/>
          </p:cNvSpPr>
          <p:nvPr/>
        </p:nvSpPr>
        <p:spPr bwMode="auto">
          <a:xfrm rot="5400000">
            <a:off x="4306889" y="3146426"/>
            <a:ext cx="1081087" cy="360363"/>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00"/>
          </a:solidFill>
          <a:ln w="9525">
            <a:solidFill>
              <a:schemeClr val="tx1"/>
            </a:solidFill>
            <a:miter lim="800000"/>
            <a:headEnd/>
            <a:tailEnd/>
          </a:ln>
        </p:spPr>
        <p:txBody>
          <a:bodyPr wrap="none" anchor="ctr"/>
          <a:lstStyle/>
          <a:p>
            <a:endParaRPr lang="zh-TW" altLang="en-US"/>
          </a:p>
        </p:txBody>
      </p:sp>
      <p:sp>
        <p:nvSpPr>
          <p:cNvPr id="37899" name="AutoShape 12">
            <a:extLst>
              <a:ext uri="{FF2B5EF4-FFF2-40B4-BE49-F238E27FC236}">
                <a16:creationId xmlns:a16="http://schemas.microsoft.com/office/drawing/2014/main" id="{89B1CE99-EB0F-4A64-BCDF-5B9C2E47E414}"/>
              </a:ext>
            </a:extLst>
          </p:cNvPr>
          <p:cNvSpPr>
            <a:spLocks noChangeArrowheads="1"/>
          </p:cNvSpPr>
          <p:nvPr/>
        </p:nvSpPr>
        <p:spPr bwMode="auto">
          <a:xfrm rot="5400000">
            <a:off x="6923088" y="3178176"/>
            <a:ext cx="1081088" cy="719137"/>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00"/>
          </a:solidFill>
          <a:ln w="9525">
            <a:solidFill>
              <a:schemeClr val="tx1"/>
            </a:solidFill>
            <a:miter lim="800000"/>
            <a:headEnd/>
            <a:tailEnd/>
          </a:ln>
        </p:spPr>
        <p:txBody>
          <a:bodyPr wrap="none" anchor="ctr"/>
          <a:lstStyle/>
          <a:p>
            <a:endParaRPr lang="zh-TW" altLang="en-US"/>
          </a:p>
        </p:txBody>
      </p:sp>
      <p:sp>
        <p:nvSpPr>
          <p:cNvPr id="37900" name="Text Box 13">
            <a:extLst>
              <a:ext uri="{FF2B5EF4-FFF2-40B4-BE49-F238E27FC236}">
                <a16:creationId xmlns:a16="http://schemas.microsoft.com/office/drawing/2014/main" id="{ABB5ECD5-046E-4BB8-BA53-87BBF0949840}"/>
              </a:ext>
            </a:extLst>
          </p:cNvPr>
          <p:cNvSpPr txBox="1">
            <a:spLocks noChangeArrowheads="1"/>
          </p:cNvSpPr>
          <p:nvPr/>
        </p:nvSpPr>
        <p:spPr bwMode="auto">
          <a:xfrm>
            <a:off x="2855914" y="1484314"/>
            <a:ext cx="23764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endParaRPr kumimoji="0" lang="zh-TW" altLang="zh-TW">
              <a:solidFill>
                <a:srgbClr val="000000"/>
              </a:solidFill>
              <a:latin typeface="Perpetua" panose="02020502060401020303" pitchFamily="18" charset="0"/>
            </a:endParaRPr>
          </a:p>
        </p:txBody>
      </p:sp>
      <p:sp>
        <p:nvSpPr>
          <p:cNvPr id="37901" name="Line 14">
            <a:extLst>
              <a:ext uri="{FF2B5EF4-FFF2-40B4-BE49-F238E27FC236}">
                <a16:creationId xmlns:a16="http://schemas.microsoft.com/office/drawing/2014/main" id="{A8B2F06E-0DFC-478F-9204-CEDFE9288049}"/>
              </a:ext>
            </a:extLst>
          </p:cNvPr>
          <p:cNvSpPr>
            <a:spLocks noChangeShapeType="1"/>
          </p:cNvSpPr>
          <p:nvPr/>
        </p:nvSpPr>
        <p:spPr bwMode="auto">
          <a:xfrm flipH="1">
            <a:off x="3452813" y="2071688"/>
            <a:ext cx="0" cy="1223962"/>
          </a:xfrm>
          <a:prstGeom prst="line">
            <a:avLst/>
          </a:prstGeom>
          <a:noFill/>
          <a:ln w="57150">
            <a:solidFill>
              <a:srgbClr val="0000FF"/>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37902" name="Text Box 15">
            <a:extLst>
              <a:ext uri="{FF2B5EF4-FFF2-40B4-BE49-F238E27FC236}">
                <a16:creationId xmlns:a16="http://schemas.microsoft.com/office/drawing/2014/main" id="{8D43DB7A-959B-4F26-978C-F6FBAD60341F}"/>
              </a:ext>
            </a:extLst>
          </p:cNvPr>
          <p:cNvSpPr txBox="1">
            <a:spLocks noChangeArrowheads="1"/>
          </p:cNvSpPr>
          <p:nvPr/>
        </p:nvSpPr>
        <p:spPr bwMode="auto">
          <a:xfrm>
            <a:off x="2738439" y="3286125"/>
            <a:ext cx="1785937"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r>
              <a:rPr kumimoji="0" lang="en-US" altLang="zh-TW" sz="2800" b="1">
                <a:solidFill>
                  <a:srgbClr val="000000"/>
                </a:solidFill>
                <a:latin typeface="Perpetua" panose="02020502060401020303" pitchFamily="18" charset="0"/>
              </a:rPr>
              <a:t>    </a:t>
            </a:r>
            <a:r>
              <a:rPr kumimoji="0" lang="zh-TW" altLang="en-US" sz="2800" b="1">
                <a:solidFill>
                  <a:srgbClr val="FF0000"/>
                </a:solidFill>
                <a:latin typeface="Perpetua" panose="02020502060401020303" pitchFamily="18" charset="0"/>
                <a:ea typeface="標楷體" panose="03000509000000000000" pitchFamily="65" charset="-120"/>
              </a:rPr>
              <a:t>家變</a:t>
            </a:r>
          </a:p>
          <a:p>
            <a:pPr>
              <a:spcBef>
                <a:spcPct val="50000"/>
              </a:spcBef>
            </a:pPr>
            <a:r>
              <a:rPr kumimoji="0" lang="zh-TW" altLang="en-US" sz="2000" b="1">
                <a:solidFill>
                  <a:srgbClr val="000000"/>
                </a:solidFill>
                <a:latin typeface="Perpetua" panose="02020502060401020303" pitchFamily="18" charset="0"/>
              </a:rPr>
              <a:t> 離婚、失 業</a:t>
            </a:r>
          </a:p>
          <a:p>
            <a:pPr>
              <a:spcBef>
                <a:spcPct val="50000"/>
              </a:spcBef>
            </a:pPr>
            <a:r>
              <a:rPr kumimoji="0" lang="zh-TW" altLang="en-US" sz="2000" b="1">
                <a:solidFill>
                  <a:srgbClr val="000000"/>
                </a:solidFill>
                <a:latin typeface="Perpetua" panose="02020502060401020303" pitchFamily="18" charset="0"/>
              </a:rPr>
              <a:t>意外、重大疾</a:t>
            </a:r>
          </a:p>
          <a:p>
            <a:pPr>
              <a:spcBef>
                <a:spcPct val="50000"/>
              </a:spcBef>
            </a:pPr>
            <a:r>
              <a:rPr kumimoji="0" lang="zh-TW" altLang="en-US" sz="2000" b="1">
                <a:solidFill>
                  <a:srgbClr val="000000"/>
                </a:solidFill>
                <a:latin typeface="Perpetua" panose="02020502060401020303" pitchFamily="18" charset="0"/>
              </a:rPr>
              <a:t>病、入獄服刑等</a:t>
            </a:r>
          </a:p>
        </p:txBody>
      </p:sp>
      <p:sp>
        <p:nvSpPr>
          <p:cNvPr id="37903" name="Text Box 16">
            <a:extLst>
              <a:ext uri="{FF2B5EF4-FFF2-40B4-BE49-F238E27FC236}">
                <a16:creationId xmlns:a16="http://schemas.microsoft.com/office/drawing/2014/main" id="{F0318C11-FCF3-404E-86A1-54D4844023F9}"/>
              </a:ext>
            </a:extLst>
          </p:cNvPr>
          <p:cNvSpPr txBox="1">
            <a:spLocks noChangeArrowheads="1"/>
          </p:cNvSpPr>
          <p:nvPr/>
        </p:nvSpPr>
        <p:spPr bwMode="auto">
          <a:xfrm>
            <a:off x="5303839" y="3284538"/>
            <a:ext cx="1584325" cy="189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r>
              <a:rPr kumimoji="0" lang="en-US" altLang="zh-TW" sz="2800" b="1">
                <a:solidFill>
                  <a:srgbClr val="FF3300"/>
                </a:solidFill>
                <a:latin typeface="Perpetua" panose="02020502060401020303" pitchFamily="18" charset="0"/>
              </a:rPr>
              <a:t>   </a:t>
            </a:r>
            <a:r>
              <a:rPr kumimoji="0" lang="zh-TW" altLang="en-US" sz="2800" b="1">
                <a:solidFill>
                  <a:srgbClr val="FF0000"/>
                </a:solidFill>
                <a:latin typeface="Perpetua" panose="02020502060401020303" pitchFamily="18" charset="0"/>
                <a:ea typeface="標楷體" panose="03000509000000000000" pitchFamily="65" charset="-120"/>
              </a:rPr>
              <a:t>家破</a:t>
            </a:r>
          </a:p>
          <a:p>
            <a:pPr>
              <a:spcBef>
                <a:spcPct val="50000"/>
              </a:spcBef>
            </a:pPr>
            <a:r>
              <a:rPr kumimoji="0" lang="zh-TW" altLang="en-US" sz="2000" b="1">
                <a:solidFill>
                  <a:srgbClr val="000000"/>
                </a:solidFill>
                <a:latin typeface="Perpetua" panose="02020502060401020303" pitchFamily="18" charset="0"/>
              </a:rPr>
              <a:t>  兒少虐待</a:t>
            </a:r>
          </a:p>
          <a:p>
            <a:pPr>
              <a:spcBef>
                <a:spcPct val="50000"/>
              </a:spcBef>
            </a:pPr>
            <a:r>
              <a:rPr kumimoji="0" lang="zh-TW" altLang="en-US" sz="2000" b="1">
                <a:solidFill>
                  <a:srgbClr val="000000"/>
                </a:solidFill>
                <a:latin typeface="Perpetua" panose="02020502060401020303" pitchFamily="18" charset="0"/>
              </a:rPr>
              <a:t>  家庭暴力</a:t>
            </a:r>
          </a:p>
          <a:p>
            <a:pPr>
              <a:spcBef>
                <a:spcPct val="50000"/>
              </a:spcBef>
            </a:pPr>
            <a:r>
              <a:rPr kumimoji="0" lang="zh-TW" altLang="en-US" sz="2000" b="1">
                <a:solidFill>
                  <a:srgbClr val="000000"/>
                </a:solidFill>
                <a:latin typeface="Perpetua" panose="02020502060401020303" pitchFamily="18" charset="0"/>
              </a:rPr>
              <a:t>  性侵害</a:t>
            </a:r>
          </a:p>
        </p:txBody>
      </p:sp>
      <p:sp>
        <p:nvSpPr>
          <p:cNvPr id="37904" name="Text Box 17">
            <a:extLst>
              <a:ext uri="{FF2B5EF4-FFF2-40B4-BE49-F238E27FC236}">
                <a16:creationId xmlns:a16="http://schemas.microsoft.com/office/drawing/2014/main" id="{F45256E0-F6B3-4CDC-92E5-8A3D281B622B}"/>
              </a:ext>
            </a:extLst>
          </p:cNvPr>
          <p:cNvSpPr txBox="1">
            <a:spLocks noChangeArrowheads="1"/>
          </p:cNvSpPr>
          <p:nvPr/>
        </p:nvSpPr>
        <p:spPr bwMode="auto">
          <a:xfrm>
            <a:off x="8040688" y="3357564"/>
            <a:ext cx="1295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endParaRPr kumimoji="0" lang="zh-TW" altLang="zh-TW">
              <a:solidFill>
                <a:srgbClr val="000000"/>
              </a:solidFill>
              <a:latin typeface="Perpetua" panose="02020502060401020303" pitchFamily="18" charset="0"/>
            </a:endParaRPr>
          </a:p>
        </p:txBody>
      </p:sp>
      <p:sp>
        <p:nvSpPr>
          <p:cNvPr id="37905" name="Text Box 18">
            <a:extLst>
              <a:ext uri="{FF2B5EF4-FFF2-40B4-BE49-F238E27FC236}">
                <a16:creationId xmlns:a16="http://schemas.microsoft.com/office/drawing/2014/main" id="{B3A96FF6-E420-41A3-815B-814F4E7E41B3}"/>
              </a:ext>
            </a:extLst>
          </p:cNvPr>
          <p:cNvSpPr txBox="1">
            <a:spLocks noChangeArrowheads="1"/>
          </p:cNvSpPr>
          <p:nvPr/>
        </p:nvSpPr>
        <p:spPr bwMode="auto">
          <a:xfrm>
            <a:off x="7896225" y="3284538"/>
            <a:ext cx="1728788"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r>
              <a:rPr kumimoji="0" lang="en-US" altLang="zh-TW">
                <a:solidFill>
                  <a:srgbClr val="000000"/>
                </a:solidFill>
                <a:latin typeface="Perpetua" panose="02020502060401020303" pitchFamily="18" charset="0"/>
              </a:rPr>
              <a:t>       </a:t>
            </a:r>
            <a:r>
              <a:rPr kumimoji="0" lang="zh-TW" altLang="en-US" sz="2800" b="1">
                <a:solidFill>
                  <a:srgbClr val="FF0000"/>
                </a:solidFill>
                <a:latin typeface="Perpetua" panose="02020502060401020303" pitchFamily="18" charset="0"/>
                <a:ea typeface="標楷體" panose="03000509000000000000" pitchFamily="65" charset="-120"/>
              </a:rPr>
              <a:t>人亡</a:t>
            </a:r>
          </a:p>
          <a:p>
            <a:pPr algn="ctr">
              <a:spcBef>
                <a:spcPct val="50000"/>
              </a:spcBef>
            </a:pPr>
            <a:r>
              <a:rPr kumimoji="0" lang="zh-TW" altLang="en-US" sz="2000" b="1">
                <a:solidFill>
                  <a:srgbClr val="000000"/>
                </a:solidFill>
                <a:latin typeface="Perpetua" panose="02020502060401020303" pitchFamily="18" charset="0"/>
              </a:rPr>
              <a:t> 受暴虐致死      </a:t>
            </a:r>
          </a:p>
          <a:p>
            <a:pPr algn="ctr">
              <a:spcBef>
                <a:spcPct val="50000"/>
              </a:spcBef>
            </a:pPr>
            <a:r>
              <a:rPr kumimoji="0" lang="zh-TW" altLang="en-US" sz="2000" b="1">
                <a:solidFill>
                  <a:srgbClr val="000000"/>
                </a:solidFill>
                <a:latin typeface="Perpetua" panose="02020502060401020303" pitchFamily="18" charset="0"/>
              </a:rPr>
              <a:t> 攜子自殺</a:t>
            </a:r>
          </a:p>
        </p:txBody>
      </p:sp>
      <p:sp>
        <p:nvSpPr>
          <p:cNvPr id="37906" name="Text Box 19">
            <a:extLst>
              <a:ext uri="{FF2B5EF4-FFF2-40B4-BE49-F238E27FC236}">
                <a16:creationId xmlns:a16="http://schemas.microsoft.com/office/drawing/2014/main" id="{14C36F51-0CAA-47B6-86D4-9D6252C68B5F}"/>
              </a:ext>
            </a:extLst>
          </p:cNvPr>
          <p:cNvSpPr txBox="1">
            <a:spLocks noChangeArrowheads="1"/>
          </p:cNvSpPr>
          <p:nvPr/>
        </p:nvSpPr>
        <p:spPr bwMode="auto">
          <a:xfrm>
            <a:off x="4749840" y="1052513"/>
            <a:ext cx="553998"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endParaRPr kumimoji="0" lang="zh-TW" altLang="zh-TW">
              <a:solidFill>
                <a:srgbClr val="000000"/>
              </a:solidFill>
              <a:latin typeface="Perpetua" panose="02020502060401020303" pitchFamily="18" charset="0"/>
            </a:endParaRPr>
          </a:p>
        </p:txBody>
      </p:sp>
      <p:sp>
        <p:nvSpPr>
          <p:cNvPr id="37907" name="Text Box 20">
            <a:extLst>
              <a:ext uri="{FF2B5EF4-FFF2-40B4-BE49-F238E27FC236}">
                <a16:creationId xmlns:a16="http://schemas.microsoft.com/office/drawing/2014/main" id="{2CACA648-4EC8-4A98-88FB-5DF21D41310B}"/>
              </a:ext>
            </a:extLst>
          </p:cNvPr>
          <p:cNvSpPr txBox="1">
            <a:spLocks noChangeArrowheads="1"/>
          </p:cNvSpPr>
          <p:nvPr/>
        </p:nvSpPr>
        <p:spPr bwMode="auto">
          <a:xfrm>
            <a:off x="4560927" y="692150"/>
            <a:ext cx="55399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endParaRPr kumimoji="0" lang="zh-TW" altLang="zh-TW">
              <a:solidFill>
                <a:srgbClr val="000000"/>
              </a:solidFill>
              <a:latin typeface="Perpetua" panose="02020502060401020303" pitchFamily="18" charset="0"/>
            </a:endParaRPr>
          </a:p>
        </p:txBody>
      </p:sp>
      <p:sp>
        <p:nvSpPr>
          <p:cNvPr id="37908" name="Text Box 21">
            <a:extLst>
              <a:ext uri="{FF2B5EF4-FFF2-40B4-BE49-F238E27FC236}">
                <a16:creationId xmlns:a16="http://schemas.microsoft.com/office/drawing/2014/main" id="{ADE7EA91-D693-42E5-9402-E1E459BB54D8}"/>
              </a:ext>
            </a:extLst>
          </p:cNvPr>
          <p:cNvSpPr txBox="1">
            <a:spLocks noChangeArrowheads="1"/>
          </p:cNvSpPr>
          <p:nvPr/>
        </p:nvSpPr>
        <p:spPr bwMode="auto">
          <a:xfrm>
            <a:off x="4487902" y="765175"/>
            <a:ext cx="553998"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endParaRPr kumimoji="0" lang="zh-TW" altLang="zh-TW">
              <a:solidFill>
                <a:srgbClr val="000000"/>
              </a:solidFill>
              <a:latin typeface="Perpetua" panose="02020502060401020303" pitchFamily="18" charset="0"/>
            </a:endParaRPr>
          </a:p>
        </p:txBody>
      </p:sp>
      <p:sp>
        <p:nvSpPr>
          <p:cNvPr id="37909" name="Text Box 22">
            <a:extLst>
              <a:ext uri="{FF2B5EF4-FFF2-40B4-BE49-F238E27FC236}">
                <a16:creationId xmlns:a16="http://schemas.microsoft.com/office/drawing/2014/main" id="{908E3A99-92CD-481B-93C0-2FBF3D61D904}"/>
              </a:ext>
            </a:extLst>
          </p:cNvPr>
          <p:cNvSpPr txBox="1">
            <a:spLocks noChangeArrowheads="1"/>
          </p:cNvSpPr>
          <p:nvPr/>
        </p:nvSpPr>
        <p:spPr bwMode="auto">
          <a:xfrm>
            <a:off x="4119741" y="1484313"/>
            <a:ext cx="1261884"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r>
              <a:rPr kumimoji="0" lang="zh-TW" altLang="en-US" sz="2000" b="1">
                <a:solidFill>
                  <a:srgbClr val="FF0000"/>
                </a:solidFill>
                <a:latin typeface="Perpetua" panose="02020502060401020303" pitchFamily="18" charset="0"/>
              </a:rPr>
              <a:t>預防性服務</a:t>
            </a:r>
          </a:p>
          <a:p>
            <a:pPr>
              <a:spcBef>
                <a:spcPct val="50000"/>
              </a:spcBef>
            </a:pPr>
            <a:r>
              <a:rPr kumimoji="0" lang="zh-TW" altLang="en-US" sz="2000" b="1">
                <a:solidFill>
                  <a:srgbClr val="FF0000"/>
                </a:solidFill>
                <a:latin typeface="Perpetua" panose="02020502060401020303" pitchFamily="18" charset="0"/>
              </a:rPr>
              <a:t>脆弱</a:t>
            </a:r>
            <a:r>
              <a:rPr kumimoji="0" lang="en-US" altLang="zh-TW" sz="2000" b="1">
                <a:solidFill>
                  <a:srgbClr val="FF0000"/>
                </a:solidFill>
                <a:latin typeface="Perpetua" panose="02020502060401020303" pitchFamily="18" charset="0"/>
              </a:rPr>
              <a:t>(</a:t>
            </a:r>
            <a:r>
              <a:rPr kumimoji="0" lang="zh-TW" altLang="en-US" sz="2000" b="1">
                <a:solidFill>
                  <a:srgbClr val="FF0000"/>
                </a:solidFill>
                <a:latin typeface="Perpetua" panose="02020502060401020303" pitchFamily="18" charset="0"/>
              </a:rPr>
              <a:t>高風險</a:t>
            </a:r>
            <a:r>
              <a:rPr kumimoji="0" lang="en-US" altLang="zh-TW" sz="2000" b="1">
                <a:solidFill>
                  <a:srgbClr val="FF0000"/>
                </a:solidFill>
                <a:latin typeface="Perpetua" panose="02020502060401020303" pitchFamily="18" charset="0"/>
              </a:rPr>
              <a:t>)</a:t>
            </a:r>
            <a:r>
              <a:rPr kumimoji="0" lang="zh-TW" altLang="en-US" sz="2000" b="1">
                <a:solidFill>
                  <a:srgbClr val="FF0000"/>
                </a:solidFill>
                <a:latin typeface="Perpetua" panose="02020502060401020303" pitchFamily="18" charset="0"/>
              </a:rPr>
              <a:t>家庭</a:t>
            </a:r>
          </a:p>
        </p:txBody>
      </p:sp>
      <p:sp>
        <p:nvSpPr>
          <p:cNvPr id="37910" name="Text Box 23">
            <a:extLst>
              <a:ext uri="{FF2B5EF4-FFF2-40B4-BE49-F238E27FC236}">
                <a16:creationId xmlns:a16="http://schemas.microsoft.com/office/drawing/2014/main" id="{BDB7D997-A86B-4016-A804-A03DDF2E79AB}"/>
              </a:ext>
            </a:extLst>
          </p:cNvPr>
          <p:cNvSpPr txBox="1">
            <a:spLocks noChangeArrowheads="1"/>
          </p:cNvSpPr>
          <p:nvPr/>
        </p:nvSpPr>
        <p:spPr bwMode="auto">
          <a:xfrm>
            <a:off x="6433127" y="1500188"/>
            <a:ext cx="1877437"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r>
              <a:rPr kumimoji="0" lang="zh-TW" altLang="en-US" sz="2000" b="1">
                <a:solidFill>
                  <a:srgbClr val="000000"/>
                </a:solidFill>
                <a:latin typeface="Perpetua" panose="02020502060401020303" pitchFamily="18" charset="0"/>
              </a:rPr>
              <a:t>一一三救援</a:t>
            </a:r>
          </a:p>
          <a:p>
            <a:pPr>
              <a:spcBef>
                <a:spcPct val="50000"/>
              </a:spcBef>
            </a:pPr>
            <a:r>
              <a:rPr kumimoji="0" lang="zh-TW" altLang="en-US" sz="2000" b="1">
                <a:solidFill>
                  <a:srgbClr val="000000"/>
                </a:solidFill>
                <a:latin typeface="Perpetua" panose="02020502060401020303" pitchFamily="18" charset="0"/>
              </a:rPr>
              <a:t>緊急醫療</a:t>
            </a:r>
          </a:p>
          <a:p>
            <a:pPr>
              <a:spcBef>
                <a:spcPct val="50000"/>
              </a:spcBef>
            </a:pPr>
            <a:r>
              <a:rPr kumimoji="0" lang="zh-TW" altLang="en-US" sz="2000" b="1">
                <a:solidFill>
                  <a:srgbClr val="FF0000"/>
                </a:solidFill>
                <a:latin typeface="Perpetua" panose="02020502060401020303" pitchFamily="18" charset="0"/>
              </a:rPr>
              <a:t>兒少保護</a:t>
            </a:r>
            <a:endParaRPr kumimoji="0" lang="en-US" altLang="zh-TW" sz="2000" b="1">
              <a:solidFill>
                <a:srgbClr val="FF0000"/>
              </a:solidFill>
              <a:latin typeface="Perpetua" panose="02020502060401020303" pitchFamily="18" charset="0"/>
            </a:endParaRPr>
          </a:p>
          <a:p>
            <a:pPr>
              <a:spcBef>
                <a:spcPct val="50000"/>
              </a:spcBef>
            </a:pPr>
            <a:r>
              <a:rPr kumimoji="0" lang="zh-TW" altLang="en-US" sz="2000" b="1">
                <a:solidFill>
                  <a:srgbClr val="FF0000"/>
                </a:solidFill>
                <a:latin typeface="Perpetua" panose="02020502060401020303" pitchFamily="18" charset="0"/>
              </a:rPr>
              <a:t>家庭暴力</a:t>
            </a:r>
          </a:p>
        </p:txBody>
      </p:sp>
      <p:sp>
        <p:nvSpPr>
          <p:cNvPr id="37911" name="Text Box 24">
            <a:extLst>
              <a:ext uri="{FF2B5EF4-FFF2-40B4-BE49-F238E27FC236}">
                <a16:creationId xmlns:a16="http://schemas.microsoft.com/office/drawing/2014/main" id="{32827861-AFF8-4295-8BCF-C8935F1EB8DE}"/>
              </a:ext>
            </a:extLst>
          </p:cNvPr>
          <p:cNvSpPr txBox="1">
            <a:spLocks noChangeArrowheads="1"/>
          </p:cNvSpPr>
          <p:nvPr/>
        </p:nvSpPr>
        <p:spPr bwMode="auto">
          <a:xfrm>
            <a:off x="2714665" y="1000126"/>
            <a:ext cx="553998"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endParaRPr kumimoji="0" lang="zh-TW" altLang="zh-TW">
              <a:solidFill>
                <a:srgbClr val="000000"/>
              </a:solidFill>
              <a:latin typeface="Perpetua" panose="02020502060401020303" pitchFamily="18" charset="0"/>
            </a:endParaRPr>
          </a:p>
        </p:txBody>
      </p:sp>
      <p:sp>
        <p:nvSpPr>
          <p:cNvPr id="37912" name="Text Box 25">
            <a:extLst>
              <a:ext uri="{FF2B5EF4-FFF2-40B4-BE49-F238E27FC236}">
                <a16:creationId xmlns:a16="http://schemas.microsoft.com/office/drawing/2014/main" id="{05E91DB1-9F36-419A-A5EE-C1E8344E9E46}"/>
              </a:ext>
            </a:extLst>
          </p:cNvPr>
          <p:cNvSpPr txBox="1">
            <a:spLocks noChangeArrowheads="1"/>
          </p:cNvSpPr>
          <p:nvPr/>
        </p:nvSpPr>
        <p:spPr bwMode="auto">
          <a:xfrm>
            <a:off x="2141519" y="1428751"/>
            <a:ext cx="954107"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spcBef>
                <a:spcPct val="50000"/>
              </a:spcBef>
            </a:pPr>
            <a:r>
              <a:rPr kumimoji="0" lang="zh-TW" altLang="en-US" sz="2000" b="1">
                <a:solidFill>
                  <a:srgbClr val="000000"/>
                </a:solidFill>
                <a:latin typeface="Perpetua" panose="02020502060401020303" pitchFamily="18" charset="0"/>
              </a:rPr>
              <a:t>初級預防</a:t>
            </a:r>
          </a:p>
          <a:p>
            <a:pPr>
              <a:spcBef>
                <a:spcPct val="50000"/>
              </a:spcBef>
            </a:pPr>
            <a:r>
              <a:rPr kumimoji="0" lang="zh-TW" altLang="en-US" sz="2000" b="1">
                <a:solidFill>
                  <a:srgbClr val="000000"/>
                </a:solidFill>
                <a:latin typeface="Perpetua" panose="02020502060401020303" pitchFamily="18" charset="0"/>
              </a:rPr>
              <a:t>社福體系</a:t>
            </a:r>
          </a:p>
        </p:txBody>
      </p:sp>
      <p:sp>
        <p:nvSpPr>
          <p:cNvPr id="37913" name="Text Box 26">
            <a:extLst>
              <a:ext uri="{FF2B5EF4-FFF2-40B4-BE49-F238E27FC236}">
                <a16:creationId xmlns:a16="http://schemas.microsoft.com/office/drawing/2014/main" id="{11F3F4CB-D7B9-4212-AA97-ADEF10F8FAE4}"/>
              </a:ext>
            </a:extLst>
          </p:cNvPr>
          <p:cNvSpPr txBox="1">
            <a:spLocks noChangeArrowheads="1"/>
          </p:cNvSpPr>
          <p:nvPr/>
        </p:nvSpPr>
        <p:spPr bwMode="auto">
          <a:xfrm>
            <a:off x="2351088" y="476251"/>
            <a:ext cx="73453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gn="ctr">
              <a:spcBef>
                <a:spcPct val="50000"/>
              </a:spcBef>
            </a:pPr>
            <a:r>
              <a:rPr kumimoji="0" lang="zh-TW" altLang="en-US" sz="3600" b="1">
                <a:solidFill>
                  <a:srgbClr val="002060"/>
                </a:solidFill>
                <a:latin typeface="微軟正黑體" panose="020B0604030504040204" pitchFamily="34" charset="-120"/>
                <a:ea typeface="微軟正黑體" panose="020B0604030504040204" pitchFamily="34" charset="-120"/>
              </a:rPr>
              <a:t>風險管理下的家庭悲劇演變過程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AE3C04E-08AA-46B9-931B-69DECD6100A7}"/>
              </a:ext>
            </a:extLst>
          </p:cNvPr>
          <p:cNvSpPr>
            <a:spLocks noGrp="1" noChangeArrowheads="1"/>
          </p:cNvSpPr>
          <p:nvPr>
            <p:ph type="title"/>
          </p:nvPr>
        </p:nvSpPr>
        <p:spPr>
          <a:xfrm>
            <a:off x="1653363" y="365760"/>
            <a:ext cx="9367203" cy="1188720"/>
          </a:xfrm>
        </p:spPr>
        <p:txBody>
          <a:bodyPr>
            <a:normAutofit/>
          </a:bodyPr>
          <a:lstStyle/>
          <a:p>
            <a:pPr eaLnBrk="1" hangingPunct="1"/>
            <a:r>
              <a:rPr lang="zh-TW" altLang="en-US" sz="3700" dirty="0">
                <a:solidFill>
                  <a:srgbClr val="C00000"/>
                </a:solidFill>
                <a:latin typeface="微軟正黑體" panose="020B0604030504040204" pitchFamily="34" charset="-120"/>
                <a:ea typeface="微軟正黑體" panose="020B0604030504040204" pitchFamily="34" charset="-120"/>
              </a:rPr>
              <a:t>跨專業網絡合作的缺失與必要</a:t>
            </a:r>
            <a:br>
              <a:rPr lang="en-US" altLang="zh-TW" sz="3700" dirty="0">
                <a:solidFill>
                  <a:srgbClr val="C00000"/>
                </a:solidFill>
                <a:latin typeface="微軟正黑體" panose="020B0604030504040204" pitchFamily="34" charset="-120"/>
                <a:ea typeface="微軟正黑體" panose="020B0604030504040204" pitchFamily="34" charset="-120"/>
              </a:rPr>
            </a:br>
            <a:r>
              <a:rPr lang="zh-TW" altLang="en-US" sz="3700" dirty="0">
                <a:solidFill>
                  <a:srgbClr val="C00000"/>
                </a:solidFill>
                <a:latin typeface="微軟正黑體" panose="020B0604030504040204" pitchFamily="34" charset="-120"/>
                <a:ea typeface="微軟正黑體" panose="020B0604030504040204" pitchFamily="34" charset="-120"/>
              </a:rPr>
              <a:t>        </a:t>
            </a:r>
            <a:r>
              <a:rPr lang="en-US" altLang="zh-TW" sz="3700" dirty="0">
                <a:solidFill>
                  <a:srgbClr val="C00000"/>
                </a:solidFill>
                <a:latin typeface="微軟正黑體" panose="020B0604030504040204" pitchFamily="34" charset="-120"/>
                <a:ea typeface="微軟正黑體" panose="020B0604030504040204" pitchFamily="34" charset="-120"/>
              </a:rPr>
              <a:t>-</a:t>
            </a:r>
            <a:r>
              <a:rPr lang="zh-TW" altLang="en-US" sz="3700" dirty="0">
                <a:solidFill>
                  <a:srgbClr val="C00000"/>
                </a:solidFill>
                <a:latin typeface="微軟正黑體" panose="020B0604030504040204" pitchFamily="34" charset="-120"/>
                <a:ea typeface="微軟正黑體" panose="020B0604030504040204" pitchFamily="34" charset="-120"/>
              </a:rPr>
              <a:t>訂頒強化社會安全網</a:t>
            </a:r>
          </a:p>
        </p:txBody>
      </p:sp>
      <p:sp>
        <p:nvSpPr>
          <p:cNvPr id="136" name="Freeform: Shape 135">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764099"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8" name="Freeform: Shape 137">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12191999"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0" name="Freeform: Shape 139">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971654"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362" name="Rectangle 3">
            <a:extLst>
              <a:ext uri="{FF2B5EF4-FFF2-40B4-BE49-F238E27FC236}">
                <a16:creationId xmlns:a16="http://schemas.microsoft.com/office/drawing/2014/main" id="{209CBE76-DC10-457E-A530-E052B1AD557A}"/>
              </a:ext>
            </a:extLst>
          </p:cNvPr>
          <p:cNvSpPr>
            <a:spLocks noGrp="1" noChangeArrowheads="1"/>
          </p:cNvSpPr>
          <p:nvPr>
            <p:ph type="body" idx="1"/>
          </p:nvPr>
        </p:nvSpPr>
        <p:spPr>
          <a:xfrm>
            <a:off x="1653363" y="2176272"/>
            <a:ext cx="9367204" cy="4041648"/>
          </a:xfrm>
        </p:spPr>
        <p:txBody>
          <a:bodyPr anchor="t">
            <a:normAutofit/>
          </a:bodyPr>
          <a:lstStyle/>
          <a:p>
            <a:pPr eaLnBrk="1" hangingPunct="1">
              <a:defRPr/>
            </a:pPr>
            <a:r>
              <a:rPr lang="zh-TW" altLang="en-US" dirty="0">
                <a:solidFill>
                  <a:srgbClr val="002060"/>
                </a:solidFill>
                <a:latin typeface="微軟正黑體" pitchFamily="34" charset="-120"/>
                <a:ea typeface="微軟正黑體" pitchFamily="34" charset="-120"/>
              </a:rPr>
              <a:t>因缺乏網絡間整合，造成社會安全網缺漏，個案漏接，服務成效不彰，衛福部針對現有政策再檢討而於</a:t>
            </a:r>
            <a:r>
              <a:rPr lang="en-US" altLang="zh-TW" dirty="0">
                <a:solidFill>
                  <a:srgbClr val="002060"/>
                </a:solidFill>
                <a:latin typeface="微軟正黑體" pitchFamily="34" charset="-120"/>
                <a:ea typeface="微軟正黑體" pitchFamily="34" charset="-120"/>
              </a:rPr>
              <a:t>107.3</a:t>
            </a:r>
            <a:r>
              <a:rPr lang="zh-TW" altLang="en-US" dirty="0">
                <a:solidFill>
                  <a:srgbClr val="002060"/>
                </a:solidFill>
                <a:latin typeface="微軟正黑體" pitchFamily="34" charset="-120"/>
                <a:ea typeface="微軟正黑體" pitchFamily="34" charset="-120"/>
              </a:rPr>
              <a:t>頒訂「強化社會安全網」，強化服務網絡體系的整合。</a:t>
            </a:r>
          </a:p>
          <a:p>
            <a:pPr marL="0" indent="0">
              <a:buNone/>
              <a:defRPr/>
            </a:pPr>
            <a:endParaRPr lang="zh-TW" altLang="en-US" dirty="0">
              <a:solidFill>
                <a:srgbClr val="002060"/>
              </a:solidFill>
              <a:latin typeface="微軟正黑體" pitchFamily="34" charset="-120"/>
              <a:ea typeface="微軟正黑體" pitchFamily="34" charset="-120"/>
            </a:endParaRPr>
          </a:p>
          <a:p>
            <a:pPr eaLnBrk="1" hangingPunct="1">
              <a:defRPr/>
            </a:pPr>
            <a:endParaRPr lang="en-US" altLang="zh-TW" sz="2400" dirty="0">
              <a:latin typeface="微軟正黑體" pitchFamily="34" charset="-120"/>
              <a:ea typeface="微軟正黑體"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標題 1">
            <a:extLst>
              <a:ext uri="{FF2B5EF4-FFF2-40B4-BE49-F238E27FC236}">
                <a16:creationId xmlns:a16="http://schemas.microsoft.com/office/drawing/2014/main" id="{8A296891-9AC0-44D2-8134-F947C12CE3E3}"/>
              </a:ext>
            </a:extLst>
          </p:cNvPr>
          <p:cNvSpPr>
            <a:spLocks noGrp="1" noChangeArrowheads="1"/>
          </p:cNvSpPr>
          <p:nvPr>
            <p:ph type="title"/>
          </p:nvPr>
        </p:nvSpPr>
        <p:spPr>
          <a:xfrm>
            <a:off x="1362075" y="0"/>
            <a:ext cx="10153650" cy="1143000"/>
          </a:xfrm>
        </p:spPr>
        <p:txBody>
          <a:bodyPr>
            <a:normAutofit fontScale="90000"/>
          </a:bodyPr>
          <a:lstStyle/>
          <a:p>
            <a:r>
              <a:rPr lang="zh-TW" altLang="en-US" dirty="0">
                <a:solidFill>
                  <a:srgbClr val="C00000"/>
                </a:solidFill>
                <a:latin typeface="微軟正黑體" panose="020B0604030504040204" pitchFamily="34" charset="-120"/>
                <a:ea typeface="微軟正黑體" panose="020B0604030504040204" pitchFamily="34" charset="-120"/>
              </a:rPr>
              <a:t>行政院為什麼要推動強化社會安全網</a:t>
            </a:r>
            <a:r>
              <a:rPr lang="en-US" altLang="zh-TW" dirty="0">
                <a:solidFill>
                  <a:srgbClr val="C00000"/>
                </a:solidFill>
                <a:latin typeface="微軟正黑體" panose="020B0604030504040204" pitchFamily="34" charset="-120"/>
                <a:ea typeface="微軟正黑體" panose="020B0604030504040204" pitchFamily="34" charset="-120"/>
              </a:rPr>
              <a:t>(1/2)</a:t>
            </a:r>
            <a:endParaRPr lang="zh-TW" altLang="en-US" sz="2800" dirty="0">
              <a:solidFill>
                <a:srgbClr val="C00000"/>
              </a:solidFill>
              <a:latin typeface="微軟正黑體" panose="020B0604030504040204" pitchFamily="34" charset="-120"/>
              <a:ea typeface="微軟正黑體" panose="020B0604030504040204" pitchFamily="34" charset="-120"/>
              <a:cs typeface="Arial" panose="020B0604020202020204" pitchFamily="34" charset="0"/>
            </a:endParaRPr>
          </a:p>
        </p:txBody>
      </p:sp>
      <p:graphicFrame>
        <p:nvGraphicFramePr>
          <p:cNvPr id="5" name="內容版面配置區 4">
            <a:extLst>
              <a:ext uri="{FF2B5EF4-FFF2-40B4-BE49-F238E27FC236}">
                <a16:creationId xmlns:a16="http://schemas.microsoft.com/office/drawing/2014/main" id="{F0540F2F-A54A-4455-A573-A46BF08CC6E3}"/>
              </a:ext>
            </a:extLst>
          </p:cNvPr>
          <p:cNvGraphicFramePr>
            <a:graphicFrameLocks noGrp="1"/>
          </p:cNvGraphicFramePr>
          <p:nvPr>
            <p:ph idx="1"/>
          </p:nvPr>
        </p:nvGraphicFramePr>
        <p:xfrm>
          <a:off x="1991544" y="1052736"/>
          <a:ext cx="4680520" cy="5616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1444" name="投影片編號版面配置區 3">
            <a:extLst>
              <a:ext uri="{FF2B5EF4-FFF2-40B4-BE49-F238E27FC236}">
                <a16:creationId xmlns:a16="http://schemas.microsoft.com/office/drawing/2014/main" id="{475A4A98-68DB-4879-81D7-ADEDE4EC82E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750"/>
              </a:spcBef>
              <a:buClr>
                <a:schemeClr val="accent1"/>
              </a:buClr>
              <a:buFont typeface="Wingdings 3" panose="05040102010807070707" pitchFamily="18" charset="2"/>
              <a:buChar char=""/>
              <a:defRPr>
                <a:solidFill>
                  <a:srgbClr val="404040"/>
                </a:solidFill>
                <a:latin typeface="Century Gothic" panose="020B0502020202020204" pitchFamily="34" charset="0"/>
                <a:ea typeface="微軟正黑體" panose="020B0604030504040204" pitchFamily="34" charset="-120"/>
              </a:defRPr>
            </a:lvl1pPr>
            <a:lvl2pPr marL="742950" indent="-285750">
              <a:spcBef>
                <a:spcPts val="75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微軟正黑體" panose="020B0604030504040204" pitchFamily="34" charset="-120"/>
              </a:defRPr>
            </a:lvl2pPr>
            <a:lvl3pPr marL="1143000" indent="-228600">
              <a:spcBef>
                <a:spcPts val="750"/>
              </a:spcBef>
              <a:buClr>
                <a:schemeClr val="accent1"/>
              </a:buClr>
              <a:buFont typeface="Wingdings 3" panose="05040102010807070707" pitchFamily="18" charset="2"/>
              <a:buChar char=""/>
              <a:defRPr sz="1000">
                <a:solidFill>
                  <a:srgbClr val="404040"/>
                </a:solidFill>
                <a:latin typeface="Century Gothic" panose="020B0502020202020204" pitchFamily="34" charset="0"/>
                <a:ea typeface="微軟正黑體" panose="020B0604030504040204" pitchFamily="34" charset="-120"/>
              </a:defRPr>
            </a:lvl3pPr>
            <a:lvl4pPr marL="1600200" indent="-228600">
              <a:spcBef>
                <a:spcPts val="750"/>
              </a:spcBef>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4pPr>
            <a:lvl5pPr marL="2057400" indent="-228600">
              <a:spcBef>
                <a:spcPts val="750"/>
              </a:spcBef>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5pPr>
            <a:lvl6pPr marL="25146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6pPr>
            <a:lvl7pPr marL="29718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7pPr>
            <a:lvl8pPr marL="34290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8pPr>
            <a:lvl9pPr marL="38862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9pPr>
          </a:lstStyle>
          <a:p>
            <a:pPr eaLnBrk="1" fontAlgn="base" hangingPunct="1">
              <a:spcBef>
                <a:spcPct val="0"/>
              </a:spcBef>
              <a:spcAft>
                <a:spcPct val="0"/>
              </a:spcAft>
              <a:buClrTx/>
              <a:buFontTx/>
              <a:buNone/>
            </a:pPr>
            <a:fld id="{76BB2983-3EAB-4306-A837-428C7C08AA50}" type="slidenum">
              <a:rPr lang="zh-TW" altLang="en-US" sz="1400">
                <a:solidFill>
                  <a:srgbClr val="000000"/>
                </a:solidFill>
                <a:latin typeface="Arial Narrow" panose="020B0606020202030204" pitchFamily="34" charset="0"/>
                <a:ea typeface="新細明體" panose="02020500000000000000" pitchFamily="18" charset="-120"/>
              </a:rPr>
              <a:pPr eaLnBrk="1" fontAlgn="base" hangingPunct="1">
                <a:spcBef>
                  <a:spcPct val="0"/>
                </a:spcBef>
                <a:spcAft>
                  <a:spcPct val="0"/>
                </a:spcAft>
                <a:buClrTx/>
                <a:buFontTx/>
                <a:buNone/>
              </a:pPr>
              <a:t>9</a:t>
            </a:fld>
            <a:endParaRPr lang="zh-TW" altLang="en-US" sz="1400">
              <a:solidFill>
                <a:srgbClr val="000000"/>
              </a:solidFill>
              <a:latin typeface="Arial Narrow" panose="020B0606020202030204" pitchFamily="34" charset="0"/>
              <a:ea typeface="新細明體" panose="02020500000000000000" pitchFamily="18" charset="-120"/>
            </a:endParaRPr>
          </a:p>
        </p:txBody>
      </p:sp>
      <p:sp>
        <p:nvSpPr>
          <p:cNvPr id="8" name="文字方塊 7">
            <a:extLst>
              <a:ext uri="{FF2B5EF4-FFF2-40B4-BE49-F238E27FC236}">
                <a16:creationId xmlns:a16="http://schemas.microsoft.com/office/drawing/2014/main" id="{1179989A-23C0-487E-A732-015F90C0D631}"/>
              </a:ext>
            </a:extLst>
          </p:cNvPr>
          <p:cNvSpPr txBox="1"/>
          <p:nvPr/>
        </p:nvSpPr>
        <p:spPr>
          <a:xfrm>
            <a:off x="5591175" y="3357563"/>
            <a:ext cx="4681538" cy="1117600"/>
          </a:xfrm>
          <a:prstGeom prst="rect">
            <a:avLst/>
          </a:prstGeom>
          <a:ln/>
        </p:spPr>
        <p:style>
          <a:lnRef idx="2">
            <a:schemeClr val="accent5"/>
          </a:lnRef>
          <a:fillRef idx="1">
            <a:schemeClr val="lt1"/>
          </a:fillRef>
          <a:effectRef idx="0">
            <a:schemeClr val="accent5"/>
          </a:effectRef>
          <a:fontRef idx="minor">
            <a:schemeClr val="dk1"/>
          </a:fontRef>
        </p:style>
        <p:txBody>
          <a:bodyPr>
            <a:spAutoFit/>
          </a:bodyPr>
          <a:lstStyle/>
          <a:p>
            <a:pPr marL="285750" indent="-285750" algn="just">
              <a:lnSpc>
                <a:spcPts val="2000"/>
              </a:lnSpc>
              <a:buFont typeface="Arial" panose="020B0604020202020204" pitchFamily="34" charset="0"/>
              <a:buChar char="•"/>
              <a:defRPr/>
            </a:pPr>
            <a:r>
              <a:rPr lang="zh-TW" altLang="zh-TW" sz="1400" dirty="0">
                <a:solidFill>
                  <a:prstClr val="black"/>
                </a:solidFill>
                <a:latin typeface="微軟正黑體" panose="020B0604030504040204" pitchFamily="34" charset="-120"/>
                <a:cs typeface="Arial" pitchFamily="34" charset="0"/>
              </a:rPr>
              <a:t>成人及兒少保護通報案件</a:t>
            </a:r>
            <a:r>
              <a:rPr lang="zh-TW" altLang="en-US" sz="1400" dirty="0">
                <a:solidFill>
                  <a:prstClr val="black"/>
                </a:solidFill>
                <a:latin typeface="微軟正黑體" panose="020B0604030504040204" pitchFamily="34" charset="-120"/>
                <a:cs typeface="Arial" pitchFamily="34" charset="0"/>
              </a:rPr>
              <a:t>由</a:t>
            </a:r>
            <a:r>
              <a:rPr lang="en-US" altLang="zh-TW" sz="1400" dirty="0">
                <a:solidFill>
                  <a:prstClr val="black"/>
                </a:solidFill>
                <a:latin typeface="微軟正黑體" panose="020B0604030504040204" pitchFamily="34" charset="-120"/>
                <a:cs typeface="Arial" pitchFamily="34" charset="0"/>
              </a:rPr>
              <a:t>101</a:t>
            </a:r>
            <a:r>
              <a:rPr lang="zh-TW" altLang="en-US" sz="1400" dirty="0">
                <a:solidFill>
                  <a:prstClr val="black"/>
                </a:solidFill>
                <a:latin typeface="微軟正黑體" panose="020B0604030504040204" pitchFamily="34" charset="-120"/>
                <a:cs typeface="Arial" pitchFamily="34" charset="0"/>
              </a:rPr>
              <a:t>年</a:t>
            </a:r>
            <a:r>
              <a:rPr lang="en-US" altLang="zh-TW" sz="1400" dirty="0">
                <a:solidFill>
                  <a:prstClr val="black"/>
                </a:solidFill>
                <a:latin typeface="微軟正黑體" panose="020B0604030504040204" pitchFamily="34" charset="-120"/>
                <a:cs typeface="Arial" pitchFamily="34" charset="0"/>
              </a:rPr>
              <a:t>13</a:t>
            </a:r>
            <a:r>
              <a:rPr lang="zh-TW" altLang="en-US" sz="1400" dirty="0">
                <a:solidFill>
                  <a:prstClr val="black"/>
                </a:solidFill>
                <a:latin typeface="微軟正黑體" panose="020B0604030504040204" pitchFamily="34" charset="-120"/>
                <a:cs typeface="Arial" pitchFamily="34" charset="0"/>
              </a:rPr>
              <a:t>萬</a:t>
            </a:r>
            <a:r>
              <a:rPr lang="en-US" altLang="zh-TW" sz="1400" dirty="0">
                <a:solidFill>
                  <a:prstClr val="black"/>
                </a:solidFill>
                <a:latin typeface="微軟正黑體" panose="020B0604030504040204" pitchFamily="34" charset="-120"/>
                <a:cs typeface="Arial" pitchFamily="34" charset="0"/>
              </a:rPr>
              <a:t>869</a:t>
            </a:r>
            <a:r>
              <a:rPr lang="zh-TW" altLang="en-US" sz="1400" dirty="0">
                <a:solidFill>
                  <a:prstClr val="black"/>
                </a:solidFill>
                <a:latin typeface="微軟正黑體" panose="020B0604030504040204" pitchFamily="34" charset="-120"/>
                <a:cs typeface="Arial" pitchFamily="34" charset="0"/>
              </a:rPr>
              <a:t>件上升至</a:t>
            </a:r>
            <a:r>
              <a:rPr lang="en-US" altLang="zh-TW" sz="1400" dirty="0">
                <a:solidFill>
                  <a:prstClr val="black"/>
                </a:solidFill>
                <a:latin typeface="微軟正黑體" panose="020B0604030504040204" pitchFamily="34" charset="-120"/>
                <a:cs typeface="Arial" pitchFamily="34" charset="0"/>
              </a:rPr>
              <a:t>105</a:t>
            </a:r>
            <a:r>
              <a:rPr lang="zh-TW" altLang="en-US" sz="1400" dirty="0">
                <a:solidFill>
                  <a:prstClr val="black"/>
                </a:solidFill>
                <a:latin typeface="微軟正黑體" panose="020B0604030504040204" pitchFamily="34" charset="-120"/>
                <a:cs typeface="Arial" pitchFamily="34" charset="0"/>
              </a:rPr>
              <a:t>年</a:t>
            </a:r>
            <a:r>
              <a:rPr lang="en-US" altLang="zh-TW" sz="1400" dirty="0">
                <a:solidFill>
                  <a:prstClr val="black"/>
                </a:solidFill>
                <a:latin typeface="微軟正黑體" panose="020B0604030504040204" pitchFamily="34" charset="-120"/>
                <a:cs typeface="Arial" pitchFamily="34" charset="0"/>
              </a:rPr>
              <a:t>15</a:t>
            </a:r>
            <a:r>
              <a:rPr lang="zh-TW" altLang="en-US" sz="1400" dirty="0">
                <a:solidFill>
                  <a:prstClr val="black"/>
                </a:solidFill>
                <a:latin typeface="微軟正黑體" panose="020B0604030504040204" pitchFamily="34" charset="-120"/>
                <a:cs typeface="Arial" pitchFamily="34" charset="0"/>
              </a:rPr>
              <a:t>萬</a:t>
            </a:r>
            <a:r>
              <a:rPr lang="en-US" altLang="zh-TW" sz="1400" dirty="0">
                <a:solidFill>
                  <a:prstClr val="black"/>
                </a:solidFill>
                <a:latin typeface="微軟正黑體" panose="020B0604030504040204" pitchFamily="34" charset="-120"/>
                <a:cs typeface="Arial" pitchFamily="34" charset="0"/>
              </a:rPr>
              <a:t>4,100</a:t>
            </a:r>
            <a:r>
              <a:rPr lang="zh-TW" altLang="en-US" sz="1400" dirty="0">
                <a:solidFill>
                  <a:prstClr val="black"/>
                </a:solidFill>
                <a:latin typeface="微軟正黑體" panose="020B0604030504040204" pitchFamily="34" charset="-120"/>
                <a:cs typeface="Arial" pitchFamily="34" charset="0"/>
              </a:rPr>
              <a:t>件</a:t>
            </a:r>
            <a:endParaRPr lang="en-US" altLang="zh-TW" sz="1400" dirty="0">
              <a:solidFill>
                <a:prstClr val="black"/>
              </a:solidFill>
              <a:latin typeface="微軟正黑體" panose="020B0604030504040204" pitchFamily="34" charset="-120"/>
              <a:cs typeface="Arial" pitchFamily="34" charset="0"/>
            </a:endParaRPr>
          </a:p>
          <a:p>
            <a:pPr marL="285750" indent="-285750" algn="just">
              <a:lnSpc>
                <a:spcPts val="2000"/>
              </a:lnSpc>
              <a:buFont typeface="Arial" panose="020B0604020202020204" pitchFamily="34" charset="0"/>
              <a:buChar char="•"/>
              <a:defRPr/>
            </a:pPr>
            <a:r>
              <a:rPr lang="zh-TW" altLang="en-US" sz="1400" dirty="0">
                <a:solidFill>
                  <a:prstClr val="black"/>
                </a:solidFill>
                <a:latin typeface="微軟正黑體" panose="020B0604030504040204" pitchFamily="34" charset="-120"/>
                <a:cs typeface="Arial" pitchFamily="34" charset="0"/>
              </a:rPr>
              <a:t>平均每年有</a:t>
            </a:r>
            <a:r>
              <a:rPr lang="en-US" altLang="zh-TW" sz="1400" dirty="0">
                <a:solidFill>
                  <a:prstClr val="black"/>
                </a:solidFill>
                <a:latin typeface="微軟正黑體" panose="020B0604030504040204" pitchFamily="34" charset="-120"/>
                <a:cs typeface="Arial" pitchFamily="34" charset="0"/>
              </a:rPr>
              <a:t>22.6</a:t>
            </a:r>
            <a:r>
              <a:rPr lang="zh-TW" altLang="en-US" sz="1400" dirty="0">
                <a:solidFill>
                  <a:prstClr val="black"/>
                </a:solidFill>
                <a:latin typeface="微軟正黑體" panose="020B0604030504040204" pitchFamily="34" charset="-120"/>
                <a:cs typeface="Arial" pitchFamily="34" charset="0"/>
              </a:rPr>
              <a:t>名兒少因父母等照顧者嚴重虐待或殺子自殺案件而死亡</a:t>
            </a:r>
            <a:endParaRPr lang="en-US" altLang="zh-TW" sz="1400" dirty="0">
              <a:solidFill>
                <a:prstClr val="black"/>
              </a:solidFill>
              <a:latin typeface="微軟正黑體" panose="020B0604030504040204" pitchFamily="34" charset="-120"/>
              <a:cs typeface="Arial" pitchFamily="34" charset="0"/>
            </a:endParaRPr>
          </a:p>
        </p:txBody>
      </p:sp>
      <p:sp>
        <p:nvSpPr>
          <p:cNvPr id="10" name="文字方塊 9">
            <a:extLst>
              <a:ext uri="{FF2B5EF4-FFF2-40B4-BE49-F238E27FC236}">
                <a16:creationId xmlns:a16="http://schemas.microsoft.com/office/drawing/2014/main" id="{34B320A3-8222-4616-9163-3734A341B36D}"/>
              </a:ext>
            </a:extLst>
          </p:cNvPr>
          <p:cNvSpPr txBox="1"/>
          <p:nvPr/>
        </p:nvSpPr>
        <p:spPr>
          <a:xfrm>
            <a:off x="5519738" y="1412876"/>
            <a:ext cx="4608512" cy="1374775"/>
          </a:xfrm>
          <a:prstGeom prst="rect">
            <a:avLst/>
          </a:prstGeom>
          <a:ln/>
        </p:spPr>
        <p:style>
          <a:lnRef idx="2">
            <a:schemeClr val="accent5"/>
          </a:lnRef>
          <a:fillRef idx="1">
            <a:schemeClr val="lt1"/>
          </a:fillRef>
          <a:effectRef idx="0">
            <a:schemeClr val="accent5"/>
          </a:effectRef>
          <a:fontRef idx="minor">
            <a:schemeClr val="dk1"/>
          </a:fontRef>
        </p:style>
        <p:txBody>
          <a:bodyPr>
            <a:spAutoFit/>
          </a:bodyPr>
          <a:lstStyle/>
          <a:p>
            <a:pPr marL="285750" indent="-285750">
              <a:lnSpc>
                <a:spcPts val="2000"/>
              </a:lnSpc>
              <a:buFont typeface="Arial" panose="020B0604020202020204" pitchFamily="34" charset="0"/>
              <a:buChar char="•"/>
              <a:defRPr/>
            </a:pPr>
            <a:r>
              <a:rPr lang="en-US" altLang="zh-TW" sz="1400" dirty="0">
                <a:solidFill>
                  <a:prstClr val="black"/>
                </a:solidFill>
                <a:latin typeface="微軟正黑體" panose="020B0604030504040204" pitchFamily="34" charset="-120"/>
                <a:cs typeface="Arial" pitchFamily="34" charset="0"/>
              </a:rPr>
              <a:t>101</a:t>
            </a:r>
            <a:r>
              <a:rPr lang="zh-TW" altLang="en-US" sz="1400" dirty="0">
                <a:solidFill>
                  <a:prstClr val="black"/>
                </a:solidFill>
                <a:latin typeface="微軟正黑體" panose="020B0604030504040204" pitchFamily="34" charset="-120"/>
                <a:cs typeface="Arial" pitchFamily="34" charset="0"/>
              </a:rPr>
              <a:t>年曾姓失業男臺南湯姆熊誘殺孩童</a:t>
            </a:r>
            <a:endParaRPr lang="en-US" altLang="zh-TW" sz="1400" dirty="0">
              <a:solidFill>
                <a:prstClr val="black"/>
              </a:solidFill>
              <a:latin typeface="微軟正黑體" panose="020B0604030504040204" pitchFamily="34" charset="-120"/>
              <a:cs typeface="Arial" pitchFamily="34" charset="0"/>
            </a:endParaRPr>
          </a:p>
          <a:p>
            <a:pPr marL="285750" indent="-285750">
              <a:lnSpc>
                <a:spcPts val="2000"/>
              </a:lnSpc>
              <a:buFont typeface="Arial" panose="020B0604020202020204" pitchFamily="34" charset="0"/>
              <a:buChar char="•"/>
              <a:defRPr/>
            </a:pPr>
            <a:r>
              <a:rPr lang="en-US" altLang="zh-TW" sz="1400" dirty="0">
                <a:solidFill>
                  <a:prstClr val="black"/>
                </a:solidFill>
                <a:latin typeface="微軟正黑體" panose="020B0604030504040204" pitchFamily="34" charset="-120"/>
                <a:cs typeface="Arial" pitchFamily="34" charset="0"/>
              </a:rPr>
              <a:t>102</a:t>
            </a:r>
            <a:r>
              <a:rPr lang="zh-TW" altLang="en-US" sz="1400" dirty="0">
                <a:solidFill>
                  <a:prstClr val="black"/>
                </a:solidFill>
                <a:latin typeface="微軟正黑體" panose="020B0604030504040204" pitchFamily="34" charset="-120"/>
                <a:cs typeface="Arial" pitchFamily="34" charset="0"/>
              </a:rPr>
              <a:t>年假釋出獄</a:t>
            </a:r>
            <a:r>
              <a:rPr lang="zh-TW" altLang="zh-TW" sz="1400" dirty="0">
                <a:solidFill>
                  <a:prstClr val="black"/>
                </a:solidFill>
                <a:latin typeface="微軟正黑體" panose="020B0604030504040204" pitchFamily="34" charset="-120"/>
                <a:cs typeface="Arial" pitchFamily="34" charset="0"/>
              </a:rPr>
              <a:t>涂男吸食強力膠</a:t>
            </a:r>
            <a:r>
              <a:rPr lang="zh-TW" altLang="en-US" sz="1400" dirty="0">
                <a:solidFill>
                  <a:prstClr val="black"/>
                </a:solidFill>
                <a:latin typeface="微軟正黑體" panose="020B0604030504040204" pitchFamily="34" charset="-120"/>
                <a:cs typeface="Arial" pitchFamily="34" charset="0"/>
              </a:rPr>
              <a:t>隨機砍殺路人</a:t>
            </a:r>
            <a:endParaRPr lang="en-US" altLang="zh-TW" sz="1400" dirty="0">
              <a:solidFill>
                <a:prstClr val="black"/>
              </a:solidFill>
              <a:latin typeface="微軟正黑體" panose="020B0604030504040204" pitchFamily="34" charset="-120"/>
              <a:cs typeface="Arial" pitchFamily="34" charset="0"/>
            </a:endParaRPr>
          </a:p>
          <a:p>
            <a:pPr marL="285750" indent="-285750">
              <a:lnSpc>
                <a:spcPts val="2000"/>
              </a:lnSpc>
              <a:buFont typeface="Arial" panose="020B0604020202020204" pitchFamily="34" charset="0"/>
              <a:buChar char="•"/>
              <a:defRPr/>
            </a:pPr>
            <a:r>
              <a:rPr lang="en-US" altLang="zh-TW" sz="1400" dirty="0">
                <a:solidFill>
                  <a:prstClr val="black"/>
                </a:solidFill>
                <a:latin typeface="微軟正黑體" panose="020B0604030504040204" pitchFamily="34" charset="-120"/>
                <a:cs typeface="Arial" pitchFamily="34" charset="0"/>
              </a:rPr>
              <a:t>103</a:t>
            </a:r>
            <a:r>
              <a:rPr lang="zh-TW" altLang="zh-TW" sz="1400" dirty="0">
                <a:solidFill>
                  <a:prstClr val="black"/>
                </a:solidFill>
                <a:latin typeface="微軟正黑體" panose="020B0604030504040204" pitchFamily="34" charset="-120"/>
                <a:cs typeface="Arial" pitchFamily="34" charset="0"/>
              </a:rPr>
              <a:t>年</a:t>
            </a:r>
            <a:r>
              <a:rPr lang="zh-TW" altLang="en-US" sz="1400" dirty="0">
                <a:solidFill>
                  <a:prstClr val="black"/>
                </a:solidFill>
                <a:latin typeface="微軟正黑體" panose="020B0604030504040204" pitchFamily="34" charset="-120"/>
                <a:cs typeface="Arial" pitchFamily="34" charset="0"/>
              </a:rPr>
              <a:t>鄭姓學生北捷隨機殺人</a:t>
            </a:r>
            <a:endParaRPr lang="zh-TW" altLang="zh-TW" sz="1400" dirty="0">
              <a:solidFill>
                <a:prstClr val="black"/>
              </a:solidFill>
              <a:latin typeface="微軟正黑體" panose="020B0604030504040204" pitchFamily="34" charset="-120"/>
              <a:cs typeface="Arial" pitchFamily="34" charset="0"/>
            </a:endParaRPr>
          </a:p>
          <a:p>
            <a:pPr marL="285750" indent="-285750">
              <a:lnSpc>
                <a:spcPts val="2000"/>
              </a:lnSpc>
              <a:buFont typeface="Arial" panose="020B0604020202020204" pitchFamily="34" charset="0"/>
              <a:buChar char="•"/>
              <a:defRPr/>
            </a:pPr>
            <a:r>
              <a:rPr lang="en-US" altLang="zh-TW" sz="1400" dirty="0">
                <a:solidFill>
                  <a:prstClr val="black"/>
                </a:solidFill>
                <a:latin typeface="微軟正黑體" panose="020B0604030504040204" pitchFamily="34" charset="-120"/>
                <a:cs typeface="Arial" pitchFamily="34" charset="0"/>
              </a:rPr>
              <a:t>104</a:t>
            </a:r>
            <a:r>
              <a:rPr lang="zh-TW" altLang="zh-TW" sz="1400" dirty="0">
                <a:solidFill>
                  <a:prstClr val="black"/>
                </a:solidFill>
                <a:latin typeface="微軟正黑體" panose="020B0604030504040204" pitchFamily="34" charset="-120"/>
                <a:cs typeface="Arial" pitchFamily="34" charset="0"/>
              </a:rPr>
              <a:t>年</a:t>
            </a:r>
            <a:r>
              <a:rPr lang="zh-TW" altLang="en-US" sz="1400" dirty="0">
                <a:solidFill>
                  <a:prstClr val="black"/>
                </a:solidFill>
                <a:latin typeface="微軟正黑體" panose="020B0604030504040204" pitchFamily="34" charset="-120"/>
                <a:cs typeface="Arial" pitchFamily="34" charset="0"/>
              </a:rPr>
              <a:t>龔</a:t>
            </a:r>
            <a:r>
              <a:rPr lang="zh-TW" altLang="zh-TW" sz="1400" dirty="0">
                <a:solidFill>
                  <a:prstClr val="black"/>
                </a:solidFill>
                <a:latin typeface="微軟正黑體" panose="020B0604030504040204" pitchFamily="34" charset="-120"/>
                <a:cs typeface="Arial" pitchFamily="34" charset="0"/>
              </a:rPr>
              <a:t>姓失業男</a:t>
            </a:r>
            <a:r>
              <a:rPr lang="zh-TW" altLang="en-US" sz="1400" dirty="0">
                <a:solidFill>
                  <a:prstClr val="black"/>
                </a:solidFill>
                <a:latin typeface="微軟正黑體" panose="020B0604030504040204" pitchFamily="34" charset="-120"/>
                <a:cs typeface="Arial" pitchFamily="34" charset="0"/>
              </a:rPr>
              <a:t>進入校園</a:t>
            </a:r>
            <a:r>
              <a:rPr lang="zh-TW" altLang="zh-TW" sz="1400" dirty="0">
                <a:solidFill>
                  <a:prstClr val="black"/>
                </a:solidFill>
                <a:latin typeface="微軟正黑體" panose="020B0604030504040204" pitchFamily="34" charset="-120"/>
                <a:cs typeface="Arial" pitchFamily="34" charset="0"/>
              </a:rPr>
              <a:t>隨機割</a:t>
            </a:r>
            <a:r>
              <a:rPr lang="zh-TW" altLang="en-US" sz="1400" dirty="0">
                <a:solidFill>
                  <a:prstClr val="black"/>
                </a:solidFill>
                <a:latin typeface="微軟正黑體" panose="020B0604030504040204" pitchFamily="34" charset="-120"/>
                <a:cs typeface="Arial" pitchFamily="34" charset="0"/>
              </a:rPr>
              <a:t>頸女童</a:t>
            </a:r>
            <a:r>
              <a:rPr lang="zh-TW" altLang="zh-TW" sz="1400" dirty="0">
                <a:solidFill>
                  <a:prstClr val="black"/>
                </a:solidFill>
                <a:latin typeface="微軟正黑體" panose="020B0604030504040204" pitchFamily="34" charset="-120"/>
                <a:cs typeface="Arial" pitchFamily="34" charset="0"/>
              </a:rPr>
              <a:t>致死</a:t>
            </a:r>
            <a:endParaRPr lang="en-US" altLang="zh-TW" sz="1400" dirty="0">
              <a:solidFill>
                <a:prstClr val="black"/>
              </a:solidFill>
              <a:latin typeface="微軟正黑體" panose="020B0604030504040204" pitchFamily="34" charset="-120"/>
              <a:cs typeface="Arial" pitchFamily="34" charset="0"/>
            </a:endParaRPr>
          </a:p>
          <a:p>
            <a:pPr marL="285750" indent="-285750">
              <a:lnSpc>
                <a:spcPts val="2000"/>
              </a:lnSpc>
              <a:buFont typeface="Arial" panose="020B0604020202020204" pitchFamily="34" charset="0"/>
              <a:buChar char="•"/>
              <a:defRPr/>
            </a:pPr>
            <a:r>
              <a:rPr lang="en-US" altLang="zh-TW" sz="1400" dirty="0">
                <a:solidFill>
                  <a:prstClr val="black"/>
                </a:solidFill>
                <a:latin typeface="微軟正黑體" panose="020B0604030504040204" pitchFamily="34" charset="-120"/>
                <a:cs typeface="Arial" pitchFamily="34" charset="0"/>
              </a:rPr>
              <a:t>105</a:t>
            </a:r>
            <a:r>
              <a:rPr lang="zh-TW" altLang="zh-TW" sz="1400" dirty="0">
                <a:solidFill>
                  <a:prstClr val="black"/>
                </a:solidFill>
                <a:latin typeface="微軟正黑體" panose="020B0604030504040204" pitchFamily="34" charset="-120"/>
                <a:cs typeface="Arial" pitchFamily="34" charset="0"/>
              </a:rPr>
              <a:t>年</a:t>
            </a:r>
            <a:r>
              <a:rPr lang="zh-TW" altLang="en-US" sz="1400" dirty="0">
                <a:solidFill>
                  <a:prstClr val="black"/>
                </a:solidFill>
                <a:latin typeface="微軟正黑體" panose="020B0604030504040204" pitchFamily="34" charset="-120"/>
                <a:cs typeface="Arial" pitchFamily="34" charset="0"/>
              </a:rPr>
              <a:t>內湖</a:t>
            </a:r>
            <a:r>
              <a:rPr lang="zh-TW" altLang="zh-TW" sz="1400" dirty="0">
                <a:solidFill>
                  <a:prstClr val="black"/>
                </a:solidFill>
                <a:latin typeface="微軟正黑體" panose="020B0604030504040204" pitchFamily="34" charset="-120"/>
                <a:cs typeface="Arial" pitchFamily="34" charset="0"/>
              </a:rPr>
              <a:t>小燈泡</a:t>
            </a:r>
            <a:r>
              <a:rPr lang="zh-TW" altLang="en-US" sz="1400" dirty="0">
                <a:solidFill>
                  <a:prstClr val="black"/>
                </a:solidFill>
                <a:latin typeface="微軟正黑體" panose="020B0604030504040204" pitchFamily="34" charset="-120"/>
                <a:cs typeface="Arial" pitchFamily="34" charset="0"/>
              </a:rPr>
              <a:t>遭</a:t>
            </a:r>
            <a:r>
              <a:rPr lang="zh-TW" altLang="zh-TW" sz="1400" dirty="0">
                <a:solidFill>
                  <a:prstClr val="black"/>
                </a:solidFill>
                <a:latin typeface="微軟正黑體" panose="020B0604030504040204" pitchFamily="34" charset="-120"/>
                <a:cs typeface="Arial" pitchFamily="34" charset="0"/>
              </a:rPr>
              <a:t>王姓失業男隨機</a:t>
            </a:r>
            <a:r>
              <a:rPr lang="zh-TW" altLang="en-US" sz="1400" dirty="0">
                <a:solidFill>
                  <a:prstClr val="black"/>
                </a:solidFill>
                <a:latin typeface="微軟正黑體" panose="020B0604030504040204" pitchFamily="34" charset="-120"/>
                <a:cs typeface="Arial" pitchFamily="34" charset="0"/>
              </a:rPr>
              <a:t>砍</a:t>
            </a:r>
            <a:r>
              <a:rPr lang="zh-TW" altLang="zh-TW" sz="1400" dirty="0">
                <a:solidFill>
                  <a:prstClr val="black"/>
                </a:solidFill>
                <a:latin typeface="微軟正黑體" panose="020B0604030504040204" pitchFamily="34" charset="-120"/>
                <a:cs typeface="Arial" pitchFamily="34" charset="0"/>
              </a:rPr>
              <a:t>頸</a:t>
            </a:r>
            <a:r>
              <a:rPr lang="zh-TW" altLang="en-US" sz="1400" dirty="0">
                <a:solidFill>
                  <a:prstClr val="black"/>
                </a:solidFill>
                <a:latin typeface="微軟正黑體" panose="020B0604030504040204" pitchFamily="34" charset="-120"/>
                <a:cs typeface="Arial" pitchFamily="34" charset="0"/>
              </a:rPr>
              <a:t>部</a:t>
            </a:r>
            <a:r>
              <a:rPr lang="zh-TW" altLang="zh-TW" sz="1400" dirty="0">
                <a:solidFill>
                  <a:prstClr val="black"/>
                </a:solidFill>
                <a:latin typeface="微軟正黑體" panose="020B0604030504040204" pitchFamily="34" charset="-120"/>
                <a:cs typeface="Arial" pitchFamily="34" charset="0"/>
              </a:rPr>
              <a:t>致死</a:t>
            </a:r>
            <a:endParaRPr lang="en-US" altLang="zh-TW" sz="1400" dirty="0">
              <a:solidFill>
                <a:prstClr val="black"/>
              </a:solidFill>
              <a:latin typeface="微軟正黑體" panose="020B0604030504040204" pitchFamily="34" charset="-120"/>
              <a:cs typeface="Arial" pitchFamily="34" charset="0"/>
            </a:endParaRPr>
          </a:p>
        </p:txBody>
      </p:sp>
      <p:sp>
        <p:nvSpPr>
          <p:cNvPr id="11" name="文字方塊 10">
            <a:extLst>
              <a:ext uri="{FF2B5EF4-FFF2-40B4-BE49-F238E27FC236}">
                <a16:creationId xmlns:a16="http://schemas.microsoft.com/office/drawing/2014/main" id="{5791EBBC-2509-4A76-A09E-95AF3A5804B2}"/>
              </a:ext>
            </a:extLst>
          </p:cNvPr>
          <p:cNvSpPr txBox="1"/>
          <p:nvPr/>
        </p:nvSpPr>
        <p:spPr>
          <a:xfrm>
            <a:off x="5375275" y="5084764"/>
            <a:ext cx="4681538" cy="1119187"/>
          </a:xfrm>
          <a:prstGeom prst="rect">
            <a:avLst/>
          </a:prstGeom>
          <a:ln>
            <a:solidFill>
              <a:srgbClr val="FFC000"/>
            </a:solidFill>
          </a:ln>
        </p:spPr>
        <p:style>
          <a:lnRef idx="2">
            <a:schemeClr val="accent5"/>
          </a:lnRef>
          <a:fillRef idx="1">
            <a:schemeClr val="lt1"/>
          </a:fillRef>
          <a:effectRef idx="0">
            <a:schemeClr val="accent5"/>
          </a:effectRef>
          <a:fontRef idx="minor">
            <a:schemeClr val="dk1"/>
          </a:fontRef>
        </p:style>
        <p:txBody>
          <a:bodyPr>
            <a:spAutoFit/>
          </a:bodyPr>
          <a:lstStyle/>
          <a:p>
            <a:pPr>
              <a:lnSpc>
                <a:spcPts val="2000"/>
              </a:lnSpc>
              <a:defRPr/>
            </a:pPr>
            <a:r>
              <a:rPr lang="zh-TW" altLang="zh-TW" sz="1400" dirty="0">
                <a:solidFill>
                  <a:prstClr val="black"/>
                </a:solidFill>
              </a:rPr>
              <a:t>我國自殺死亡人數於</a:t>
            </a:r>
            <a:r>
              <a:rPr lang="en-US" altLang="zh-TW" sz="1400" dirty="0">
                <a:solidFill>
                  <a:prstClr val="black"/>
                </a:solidFill>
              </a:rPr>
              <a:t>95</a:t>
            </a:r>
            <a:r>
              <a:rPr lang="zh-TW" altLang="zh-TW" sz="1400" dirty="0">
                <a:solidFill>
                  <a:prstClr val="black"/>
                </a:solidFill>
              </a:rPr>
              <a:t>年攀升到高峰</a:t>
            </a:r>
            <a:r>
              <a:rPr lang="en-US" altLang="zh-TW" sz="1400" dirty="0">
                <a:solidFill>
                  <a:prstClr val="black"/>
                </a:solidFill>
              </a:rPr>
              <a:t>4,406</a:t>
            </a:r>
            <a:r>
              <a:rPr lang="zh-TW" altLang="zh-TW" sz="1400" dirty="0">
                <a:solidFill>
                  <a:prstClr val="black"/>
                </a:solidFill>
              </a:rPr>
              <a:t>人（每</a:t>
            </a:r>
            <a:r>
              <a:rPr lang="en-US" altLang="zh-TW" sz="1400" dirty="0">
                <a:solidFill>
                  <a:prstClr val="black"/>
                </a:solidFill>
              </a:rPr>
              <a:t>10</a:t>
            </a:r>
            <a:r>
              <a:rPr lang="zh-TW" altLang="zh-TW" sz="1400" dirty="0">
                <a:solidFill>
                  <a:prstClr val="black"/>
                </a:solidFill>
              </a:rPr>
              <a:t>萬人口</a:t>
            </a:r>
            <a:r>
              <a:rPr lang="en-US" altLang="zh-TW" sz="1400" dirty="0">
                <a:solidFill>
                  <a:prstClr val="black"/>
                </a:solidFill>
              </a:rPr>
              <a:t>19.3</a:t>
            </a:r>
            <a:r>
              <a:rPr lang="zh-TW" altLang="zh-TW" sz="1400" dirty="0">
                <a:solidFill>
                  <a:prstClr val="black"/>
                </a:solidFill>
              </a:rPr>
              <a:t>人），之後逐年緩降到</a:t>
            </a:r>
            <a:r>
              <a:rPr lang="en-US" altLang="zh-TW" sz="1400" dirty="0">
                <a:solidFill>
                  <a:prstClr val="black"/>
                </a:solidFill>
              </a:rPr>
              <a:t>100</a:t>
            </a:r>
            <a:r>
              <a:rPr lang="zh-TW" altLang="zh-TW" sz="1400" dirty="0">
                <a:solidFill>
                  <a:prstClr val="black"/>
                </a:solidFill>
              </a:rPr>
              <a:t>年</a:t>
            </a:r>
            <a:r>
              <a:rPr lang="en-US" altLang="zh-TW" sz="1400" dirty="0">
                <a:solidFill>
                  <a:prstClr val="black"/>
                </a:solidFill>
              </a:rPr>
              <a:t>3,507</a:t>
            </a:r>
            <a:r>
              <a:rPr lang="zh-TW" altLang="zh-TW" sz="1400" dirty="0">
                <a:solidFill>
                  <a:prstClr val="black"/>
                </a:solidFill>
              </a:rPr>
              <a:t>人（每</a:t>
            </a:r>
            <a:r>
              <a:rPr lang="en-US" altLang="zh-TW" sz="1400" dirty="0">
                <a:solidFill>
                  <a:prstClr val="black"/>
                </a:solidFill>
              </a:rPr>
              <a:t>10</a:t>
            </a:r>
            <a:r>
              <a:rPr lang="zh-TW" altLang="zh-TW" sz="1400" dirty="0">
                <a:solidFill>
                  <a:prstClr val="black"/>
                </a:solidFill>
              </a:rPr>
              <a:t>萬人口</a:t>
            </a:r>
            <a:r>
              <a:rPr lang="en-US" altLang="zh-TW" sz="1400" dirty="0">
                <a:solidFill>
                  <a:prstClr val="black"/>
                </a:solidFill>
              </a:rPr>
              <a:t>15.1</a:t>
            </a:r>
            <a:r>
              <a:rPr lang="zh-TW" altLang="zh-TW" sz="1400" dirty="0">
                <a:solidFill>
                  <a:prstClr val="black"/>
                </a:solidFill>
              </a:rPr>
              <a:t>人），但近</a:t>
            </a:r>
            <a:r>
              <a:rPr lang="en-US" altLang="zh-TW" sz="1400" dirty="0">
                <a:solidFill>
                  <a:prstClr val="black"/>
                </a:solidFill>
              </a:rPr>
              <a:t>5</a:t>
            </a:r>
            <a:r>
              <a:rPr lang="zh-TW" altLang="zh-TW" sz="1400" dirty="0">
                <a:solidFill>
                  <a:prstClr val="black"/>
                </a:solidFill>
              </a:rPr>
              <a:t>年來則無明顯再下降趨勢，</a:t>
            </a:r>
            <a:r>
              <a:rPr lang="en-US" altLang="zh-TW" sz="1400" dirty="0">
                <a:solidFill>
                  <a:prstClr val="black"/>
                </a:solidFill>
              </a:rPr>
              <a:t>105</a:t>
            </a:r>
            <a:r>
              <a:rPr lang="zh-TW" altLang="zh-TW" sz="1400" dirty="0">
                <a:solidFill>
                  <a:prstClr val="black"/>
                </a:solidFill>
              </a:rPr>
              <a:t>年為</a:t>
            </a:r>
            <a:r>
              <a:rPr lang="en-US" altLang="zh-TW" sz="1400" dirty="0">
                <a:solidFill>
                  <a:prstClr val="black"/>
                </a:solidFill>
              </a:rPr>
              <a:t>3,765</a:t>
            </a:r>
            <a:r>
              <a:rPr lang="zh-TW" altLang="zh-TW" sz="1400" dirty="0">
                <a:solidFill>
                  <a:prstClr val="black"/>
                </a:solidFill>
              </a:rPr>
              <a:t>人（每</a:t>
            </a:r>
            <a:r>
              <a:rPr lang="en-US" altLang="zh-TW" sz="1400" dirty="0">
                <a:solidFill>
                  <a:prstClr val="black"/>
                </a:solidFill>
              </a:rPr>
              <a:t>10</a:t>
            </a:r>
            <a:r>
              <a:rPr lang="zh-TW" altLang="zh-TW" sz="1400" dirty="0">
                <a:solidFill>
                  <a:prstClr val="black"/>
                </a:solidFill>
              </a:rPr>
              <a:t>萬人口</a:t>
            </a:r>
            <a:r>
              <a:rPr lang="en-US" altLang="zh-TW" sz="1400" dirty="0">
                <a:solidFill>
                  <a:prstClr val="black"/>
                </a:solidFill>
              </a:rPr>
              <a:t>16.0</a:t>
            </a:r>
            <a:r>
              <a:rPr lang="zh-TW" altLang="zh-TW" sz="1400" dirty="0">
                <a:solidFill>
                  <a:prstClr val="black"/>
                </a:solidFill>
              </a:rPr>
              <a:t>人）</a:t>
            </a:r>
            <a:endParaRPr lang="en-US" altLang="zh-TW" sz="1400" dirty="0">
              <a:solidFill>
                <a:prstClr val="black"/>
              </a:solidFill>
              <a:latin typeface="微軟正黑體" panose="020B0604030504040204" pitchFamily="34" charset="-120"/>
              <a:cs typeface="Arial" pitchFamily="34"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標題 1">
            <a:extLst>
              <a:ext uri="{FF2B5EF4-FFF2-40B4-BE49-F238E27FC236}">
                <a16:creationId xmlns:a16="http://schemas.microsoft.com/office/drawing/2014/main" id="{8CA71822-9489-4CD4-948C-3B17517D723C}"/>
              </a:ext>
            </a:extLst>
          </p:cNvPr>
          <p:cNvSpPr>
            <a:spLocks noGrp="1" noChangeArrowheads="1"/>
          </p:cNvSpPr>
          <p:nvPr>
            <p:ph type="title"/>
          </p:nvPr>
        </p:nvSpPr>
        <p:spPr>
          <a:xfrm>
            <a:off x="2181226" y="263526"/>
            <a:ext cx="7877176" cy="714375"/>
          </a:xfrm>
        </p:spPr>
        <p:txBody>
          <a:bodyPr>
            <a:noAutofit/>
          </a:bodyPr>
          <a:lstStyle/>
          <a:p>
            <a:r>
              <a:rPr lang="zh-TW" altLang="en-US" sz="3200" b="1" dirty="0">
                <a:solidFill>
                  <a:srgbClr val="C00000"/>
                </a:solidFill>
                <a:latin typeface="微軟正黑體" panose="020B0604030504040204" pitchFamily="34" charset="-120"/>
                <a:ea typeface="微軟正黑體" panose="020B0604030504040204" pitchFamily="34" charset="-120"/>
              </a:rPr>
              <a:t>行政院為什麼要推動強化社會安全網</a:t>
            </a:r>
            <a:r>
              <a:rPr lang="en-US" altLang="zh-TW" sz="3200" b="1" dirty="0">
                <a:solidFill>
                  <a:srgbClr val="C00000"/>
                </a:solidFill>
                <a:latin typeface="微軟正黑體" panose="020B0604030504040204" pitchFamily="34" charset="-120"/>
                <a:ea typeface="微軟正黑體" panose="020B0604030504040204" pitchFamily="34" charset="-120"/>
              </a:rPr>
              <a:t>(2/2)</a:t>
            </a:r>
            <a:endParaRPr lang="zh-TW" altLang="en-US" sz="3200" b="1" dirty="0">
              <a:solidFill>
                <a:srgbClr val="C00000"/>
              </a:solidFill>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63491" name="投影片編號版面配置區 3">
            <a:extLst>
              <a:ext uri="{FF2B5EF4-FFF2-40B4-BE49-F238E27FC236}">
                <a16:creationId xmlns:a16="http://schemas.microsoft.com/office/drawing/2014/main" id="{AD371833-950A-4313-A616-06A8A3D201E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750"/>
              </a:spcBef>
              <a:buClr>
                <a:schemeClr val="accent1"/>
              </a:buClr>
              <a:buFont typeface="Wingdings 3" panose="05040102010807070707" pitchFamily="18" charset="2"/>
              <a:buChar char=""/>
              <a:defRPr>
                <a:solidFill>
                  <a:srgbClr val="404040"/>
                </a:solidFill>
                <a:latin typeface="Century Gothic" panose="020B0502020202020204" pitchFamily="34" charset="0"/>
                <a:ea typeface="微軟正黑體" panose="020B0604030504040204" pitchFamily="34" charset="-120"/>
              </a:defRPr>
            </a:lvl1pPr>
            <a:lvl2pPr marL="742950" indent="-285750">
              <a:spcBef>
                <a:spcPts val="75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微軟正黑體" panose="020B0604030504040204" pitchFamily="34" charset="-120"/>
              </a:defRPr>
            </a:lvl2pPr>
            <a:lvl3pPr marL="1143000" indent="-228600">
              <a:spcBef>
                <a:spcPts val="750"/>
              </a:spcBef>
              <a:buClr>
                <a:schemeClr val="accent1"/>
              </a:buClr>
              <a:buFont typeface="Wingdings 3" panose="05040102010807070707" pitchFamily="18" charset="2"/>
              <a:buChar char=""/>
              <a:defRPr sz="1000">
                <a:solidFill>
                  <a:srgbClr val="404040"/>
                </a:solidFill>
                <a:latin typeface="Century Gothic" panose="020B0502020202020204" pitchFamily="34" charset="0"/>
                <a:ea typeface="微軟正黑體" panose="020B0604030504040204" pitchFamily="34" charset="-120"/>
              </a:defRPr>
            </a:lvl3pPr>
            <a:lvl4pPr marL="1600200" indent="-228600">
              <a:spcBef>
                <a:spcPts val="750"/>
              </a:spcBef>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4pPr>
            <a:lvl5pPr marL="2057400" indent="-228600">
              <a:spcBef>
                <a:spcPts val="750"/>
              </a:spcBef>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5pPr>
            <a:lvl6pPr marL="25146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6pPr>
            <a:lvl7pPr marL="29718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7pPr>
            <a:lvl8pPr marL="34290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8pPr>
            <a:lvl9pPr marL="38862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9pPr>
          </a:lstStyle>
          <a:p>
            <a:pPr eaLnBrk="1" fontAlgn="base" hangingPunct="1">
              <a:spcBef>
                <a:spcPct val="0"/>
              </a:spcBef>
              <a:spcAft>
                <a:spcPct val="0"/>
              </a:spcAft>
              <a:buClrTx/>
              <a:buFontTx/>
              <a:buNone/>
            </a:pPr>
            <a:fld id="{45E63086-5E1C-4D59-A198-34187993343C}" type="slidenum">
              <a:rPr lang="zh-TW" altLang="en-US" sz="1400">
                <a:solidFill>
                  <a:srgbClr val="000000"/>
                </a:solidFill>
                <a:latin typeface="Arial Narrow" panose="020B0606020202030204" pitchFamily="34" charset="0"/>
                <a:ea typeface="新細明體" panose="02020500000000000000" pitchFamily="18" charset="-120"/>
              </a:rPr>
              <a:pPr eaLnBrk="1" fontAlgn="base" hangingPunct="1">
                <a:spcBef>
                  <a:spcPct val="0"/>
                </a:spcBef>
                <a:spcAft>
                  <a:spcPct val="0"/>
                </a:spcAft>
                <a:buClrTx/>
                <a:buFontTx/>
                <a:buNone/>
              </a:pPr>
              <a:t>10</a:t>
            </a:fld>
            <a:endParaRPr lang="zh-TW" altLang="en-US" sz="1400">
              <a:solidFill>
                <a:srgbClr val="000000"/>
              </a:solidFill>
              <a:latin typeface="Arial Narrow" panose="020B0606020202030204" pitchFamily="34" charset="0"/>
              <a:ea typeface="新細明體" panose="02020500000000000000" pitchFamily="18" charset="-120"/>
            </a:endParaRPr>
          </a:p>
        </p:txBody>
      </p:sp>
      <p:graphicFrame>
        <p:nvGraphicFramePr>
          <p:cNvPr id="55" name="資料庫圖表 54">
            <a:extLst>
              <a:ext uri="{FF2B5EF4-FFF2-40B4-BE49-F238E27FC236}">
                <a16:creationId xmlns:a16="http://schemas.microsoft.com/office/drawing/2014/main" id="{4DDFF02C-47F8-4A97-A786-718E9BE5F482}"/>
              </a:ext>
            </a:extLst>
          </p:cNvPr>
          <p:cNvGraphicFramePr/>
          <p:nvPr/>
        </p:nvGraphicFramePr>
        <p:xfrm>
          <a:off x="2999656" y="1484784"/>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6" name="文字方塊 55">
            <a:extLst>
              <a:ext uri="{FF2B5EF4-FFF2-40B4-BE49-F238E27FC236}">
                <a16:creationId xmlns:a16="http://schemas.microsoft.com/office/drawing/2014/main" id="{976DD202-3379-4F2F-831B-FBCEED7354DC}"/>
              </a:ext>
            </a:extLst>
          </p:cNvPr>
          <p:cNvSpPr txBox="1"/>
          <p:nvPr/>
        </p:nvSpPr>
        <p:spPr>
          <a:xfrm>
            <a:off x="7104063" y="1196975"/>
            <a:ext cx="3384550" cy="1169988"/>
          </a:xfrm>
          <a:prstGeom prst="rect">
            <a:avLst/>
          </a:prstGeom>
          <a:ln/>
        </p:spPr>
        <p:style>
          <a:lnRef idx="2">
            <a:schemeClr val="accent2"/>
          </a:lnRef>
          <a:fillRef idx="1">
            <a:schemeClr val="lt1"/>
          </a:fillRef>
          <a:effectRef idx="0">
            <a:schemeClr val="accent2"/>
          </a:effectRef>
          <a:fontRef idx="minor">
            <a:schemeClr val="dk1"/>
          </a:fontRef>
        </p:style>
        <p:txBody>
          <a:bodyPr>
            <a:spAutoFit/>
          </a:bodyPr>
          <a:lstStyle/>
          <a:p>
            <a:pPr>
              <a:buFont typeface="Wingdings" pitchFamily="2" charset="2"/>
              <a:buChar char="l"/>
              <a:defRPr/>
            </a:pPr>
            <a:r>
              <a:rPr lang="en-US" altLang="zh-TW" sz="1400" dirty="0">
                <a:solidFill>
                  <a:prstClr val="black"/>
                </a:solidFill>
                <a:latin typeface="微軟正黑體" panose="020B0604030504040204" pitchFamily="34" charset="-120"/>
                <a:cs typeface="Arial" pitchFamily="34" charset="0"/>
              </a:rPr>
              <a:t>105</a:t>
            </a:r>
            <a:r>
              <a:rPr lang="zh-TW" altLang="en-US" sz="1400" dirty="0">
                <a:solidFill>
                  <a:prstClr val="black"/>
                </a:solidFill>
                <a:latin typeface="微軟正黑體" panose="020B0604030504040204" pitchFamily="34" charset="-120"/>
                <a:cs typeface="Arial" pitchFamily="34" charset="0"/>
              </a:rPr>
              <a:t>年底列冊低收入戶及中低收入戶，</a:t>
            </a:r>
            <a:endParaRPr lang="en-US" altLang="zh-TW" sz="1400" dirty="0">
              <a:solidFill>
                <a:prstClr val="black"/>
              </a:solidFill>
              <a:latin typeface="微軟正黑體" panose="020B0604030504040204" pitchFamily="34" charset="-120"/>
              <a:cs typeface="Arial" pitchFamily="34" charset="0"/>
            </a:endParaRPr>
          </a:p>
          <a:p>
            <a:pPr>
              <a:defRPr/>
            </a:pPr>
            <a:r>
              <a:rPr lang="en-US" altLang="zh-TW" sz="1400" dirty="0">
                <a:solidFill>
                  <a:prstClr val="black"/>
                </a:solidFill>
                <a:latin typeface="微軟正黑體" panose="020B0604030504040204" pitchFamily="34" charset="-120"/>
                <a:cs typeface="Arial" pitchFamily="34" charset="0"/>
              </a:rPr>
              <a:t>   </a:t>
            </a:r>
            <a:r>
              <a:rPr lang="zh-TW" altLang="en-US" sz="1400" dirty="0">
                <a:solidFill>
                  <a:prstClr val="black"/>
                </a:solidFill>
                <a:latin typeface="微軟正黑體" panose="020B0604030504040204" pitchFamily="34" charset="-120"/>
                <a:cs typeface="Arial" pitchFamily="34" charset="0"/>
              </a:rPr>
              <a:t>計有</a:t>
            </a:r>
            <a:r>
              <a:rPr lang="en-US" altLang="zh-TW" sz="1400" dirty="0">
                <a:solidFill>
                  <a:prstClr val="black"/>
                </a:solidFill>
                <a:latin typeface="微軟正黑體" panose="020B0604030504040204" pitchFamily="34" charset="-120"/>
                <a:cs typeface="Arial" pitchFamily="34" charset="0"/>
              </a:rPr>
              <a:t>26</a:t>
            </a:r>
            <a:r>
              <a:rPr lang="zh-TW" altLang="en-US" sz="1400" dirty="0">
                <a:solidFill>
                  <a:prstClr val="black"/>
                </a:solidFill>
                <a:latin typeface="微軟正黑體" panose="020B0604030504040204" pitchFamily="34" charset="-120"/>
                <a:cs typeface="Arial" pitchFamily="34" charset="0"/>
              </a:rPr>
              <a:t>萬</a:t>
            </a:r>
            <a:r>
              <a:rPr lang="en-US" altLang="zh-TW" sz="1400" dirty="0">
                <a:solidFill>
                  <a:prstClr val="black"/>
                </a:solidFill>
                <a:latin typeface="微軟正黑體" panose="020B0604030504040204" pitchFamily="34" charset="-120"/>
                <a:cs typeface="Arial" pitchFamily="34" charset="0"/>
              </a:rPr>
              <a:t>4,257</a:t>
            </a:r>
            <a:r>
              <a:rPr lang="zh-TW" altLang="en-US" sz="1400" dirty="0">
                <a:solidFill>
                  <a:prstClr val="black"/>
                </a:solidFill>
                <a:latin typeface="微軟正黑體" panose="020B0604030504040204" pitchFamily="34" charset="-120"/>
                <a:cs typeface="Arial" pitchFamily="34" charset="0"/>
              </a:rPr>
              <a:t>戶、</a:t>
            </a:r>
            <a:r>
              <a:rPr lang="en-US" altLang="zh-TW" sz="1400" dirty="0">
                <a:solidFill>
                  <a:prstClr val="black"/>
                </a:solidFill>
                <a:latin typeface="微軟正黑體" panose="020B0604030504040204" pitchFamily="34" charset="-120"/>
                <a:cs typeface="Arial" pitchFamily="34" charset="0"/>
              </a:rPr>
              <a:t>68</a:t>
            </a:r>
            <a:r>
              <a:rPr lang="zh-TW" altLang="en-US" sz="1400" dirty="0">
                <a:solidFill>
                  <a:prstClr val="black"/>
                </a:solidFill>
                <a:latin typeface="微軟正黑體" panose="020B0604030504040204" pitchFamily="34" charset="-120"/>
                <a:cs typeface="Arial" pitchFamily="34" charset="0"/>
              </a:rPr>
              <a:t>萬</a:t>
            </a:r>
            <a:r>
              <a:rPr lang="en-US" altLang="zh-TW" sz="1400" dirty="0">
                <a:solidFill>
                  <a:prstClr val="black"/>
                </a:solidFill>
                <a:latin typeface="微軟正黑體" panose="020B0604030504040204" pitchFamily="34" charset="-120"/>
                <a:cs typeface="Arial" pitchFamily="34" charset="0"/>
              </a:rPr>
              <a:t>9,937</a:t>
            </a:r>
            <a:r>
              <a:rPr lang="zh-TW" altLang="en-US" sz="1400" dirty="0">
                <a:solidFill>
                  <a:prstClr val="black"/>
                </a:solidFill>
                <a:latin typeface="微軟正黑體" panose="020B0604030504040204" pitchFamily="34" charset="-120"/>
                <a:cs typeface="Arial" pitchFamily="34" charset="0"/>
              </a:rPr>
              <a:t>人，其</a:t>
            </a:r>
            <a:endParaRPr lang="en-US" altLang="zh-TW" sz="1400" dirty="0">
              <a:solidFill>
                <a:prstClr val="black"/>
              </a:solidFill>
              <a:latin typeface="微軟正黑體" panose="020B0604030504040204" pitchFamily="34" charset="-120"/>
              <a:cs typeface="Arial" pitchFamily="34" charset="0"/>
            </a:endParaRPr>
          </a:p>
          <a:p>
            <a:pPr>
              <a:defRPr/>
            </a:pPr>
            <a:r>
              <a:rPr lang="en-US" altLang="zh-TW" sz="1400" dirty="0">
                <a:solidFill>
                  <a:prstClr val="black"/>
                </a:solidFill>
                <a:latin typeface="微軟正黑體" panose="020B0604030504040204" pitchFamily="34" charset="-120"/>
                <a:cs typeface="Arial" pitchFamily="34" charset="0"/>
              </a:rPr>
              <a:t>   </a:t>
            </a:r>
            <a:r>
              <a:rPr lang="zh-TW" altLang="en-US" sz="1400" dirty="0">
                <a:solidFill>
                  <a:prstClr val="black"/>
                </a:solidFill>
                <a:latin typeface="微軟正黑體" panose="020B0604030504040204" pitchFamily="34" charset="-120"/>
                <a:cs typeface="Arial" pitchFamily="34" charset="0"/>
              </a:rPr>
              <a:t>中</a:t>
            </a:r>
            <a:r>
              <a:rPr lang="en-US" altLang="zh-TW" sz="1400" dirty="0">
                <a:solidFill>
                  <a:prstClr val="black"/>
                </a:solidFill>
                <a:latin typeface="微軟正黑體" panose="020B0604030504040204" pitchFamily="34" charset="-120"/>
                <a:cs typeface="Arial" pitchFamily="34" charset="0"/>
              </a:rPr>
              <a:t>6</a:t>
            </a:r>
            <a:r>
              <a:rPr lang="zh-TW" altLang="en-US" sz="1400" dirty="0">
                <a:solidFill>
                  <a:prstClr val="black"/>
                </a:solidFill>
                <a:latin typeface="微軟正黑體" panose="020B0604030504040204" pitchFamily="34" charset="-120"/>
                <a:cs typeface="Arial" pitchFamily="34" charset="0"/>
              </a:rPr>
              <a:t>歲以下之兒童計</a:t>
            </a:r>
            <a:r>
              <a:rPr lang="en-US" altLang="zh-TW" sz="1400" dirty="0">
                <a:solidFill>
                  <a:prstClr val="black"/>
                </a:solidFill>
                <a:latin typeface="微軟正黑體" panose="020B0604030504040204" pitchFamily="34" charset="-120"/>
                <a:cs typeface="Arial" pitchFamily="34" charset="0"/>
              </a:rPr>
              <a:t>4</a:t>
            </a:r>
            <a:r>
              <a:rPr lang="zh-TW" altLang="en-US" sz="1400" dirty="0">
                <a:solidFill>
                  <a:prstClr val="black"/>
                </a:solidFill>
                <a:latin typeface="微軟正黑體" panose="020B0604030504040204" pitchFamily="34" charset="-120"/>
                <a:cs typeface="Arial" pitchFamily="34" charset="0"/>
              </a:rPr>
              <a:t>萬</a:t>
            </a:r>
            <a:r>
              <a:rPr lang="en-US" altLang="zh-TW" sz="1400" dirty="0">
                <a:solidFill>
                  <a:prstClr val="black"/>
                </a:solidFill>
                <a:latin typeface="微軟正黑體" panose="020B0604030504040204" pitchFamily="34" charset="-120"/>
                <a:cs typeface="Arial" pitchFamily="34" charset="0"/>
              </a:rPr>
              <a:t>2,627</a:t>
            </a:r>
            <a:r>
              <a:rPr lang="zh-TW" altLang="en-US" sz="1400" dirty="0">
                <a:solidFill>
                  <a:prstClr val="black"/>
                </a:solidFill>
                <a:latin typeface="微軟正黑體" panose="020B0604030504040204" pitchFamily="34" charset="-120"/>
                <a:cs typeface="Arial" pitchFamily="34" charset="0"/>
              </a:rPr>
              <a:t>人</a:t>
            </a:r>
            <a:endParaRPr lang="en-US" altLang="zh-TW" sz="1400" dirty="0">
              <a:solidFill>
                <a:prstClr val="black"/>
              </a:solidFill>
              <a:latin typeface="微軟正黑體" panose="020B0604030504040204" pitchFamily="34" charset="-120"/>
              <a:cs typeface="Arial" pitchFamily="34" charset="0"/>
            </a:endParaRPr>
          </a:p>
          <a:p>
            <a:pPr>
              <a:buFont typeface="Wingdings" pitchFamily="2" charset="2"/>
              <a:buChar char="l"/>
              <a:defRPr/>
            </a:pPr>
            <a:r>
              <a:rPr lang="zh-TW" altLang="en-US" sz="1400" dirty="0">
                <a:solidFill>
                  <a:prstClr val="black"/>
                </a:solidFill>
                <a:latin typeface="微軟正黑體" panose="020B0604030504040204" pitchFamily="34" charset="-120"/>
                <a:cs typeface="Arial" pitchFamily="34" charset="0"/>
              </a:rPr>
              <a:t>每年近</a:t>
            </a:r>
            <a:r>
              <a:rPr lang="en-US" altLang="zh-TW" sz="1400" dirty="0">
                <a:solidFill>
                  <a:prstClr val="black"/>
                </a:solidFill>
                <a:latin typeface="微軟正黑體" panose="020B0604030504040204" pitchFamily="34" charset="-120"/>
                <a:cs typeface="Arial" pitchFamily="34" charset="0"/>
              </a:rPr>
              <a:t>6</a:t>
            </a:r>
            <a:r>
              <a:rPr lang="zh-TW" altLang="en-US" sz="1400" dirty="0">
                <a:solidFill>
                  <a:prstClr val="black"/>
                </a:solidFill>
                <a:latin typeface="微軟正黑體" panose="020B0604030504040204" pitchFamily="34" charset="-120"/>
                <a:cs typeface="Arial" pitchFamily="34" charset="0"/>
              </a:rPr>
              <a:t>萬戶家庭透過急難救助，紓解</a:t>
            </a:r>
            <a:endParaRPr lang="en-US" altLang="zh-TW" sz="1400" dirty="0">
              <a:solidFill>
                <a:prstClr val="black"/>
              </a:solidFill>
              <a:latin typeface="微軟正黑體" panose="020B0604030504040204" pitchFamily="34" charset="-120"/>
              <a:cs typeface="Arial" pitchFamily="34" charset="0"/>
            </a:endParaRPr>
          </a:p>
          <a:p>
            <a:pPr>
              <a:defRPr/>
            </a:pPr>
            <a:r>
              <a:rPr lang="en-US" altLang="zh-TW" sz="1400" dirty="0">
                <a:solidFill>
                  <a:prstClr val="black"/>
                </a:solidFill>
                <a:latin typeface="微軟正黑體" panose="020B0604030504040204" pitchFamily="34" charset="-120"/>
                <a:cs typeface="Arial" pitchFamily="34" charset="0"/>
              </a:rPr>
              <a:t>   </a:t>
            </a:r>
            <a:r>
              <a:rPr lang="zh-TW" altLang="en-US" sz="1400" dirty="0">
                <a:solidFill>
                  <a:prstClr val="black"/>
                </a:solidFill>
                <a:latin typeface="微軟正黑體" panose="020B0604030504040204" pitchFamily="34" charset="-120"/>
                <a:cs typeface="Arial" pitchFamily="34" charset="0"/>
              </a:rPr>
              <a:t>生活急困</a:t>
            </a:r>
            <a:endParaRPr lang="zh-TW" altLang="en-US" sz="1400" dirty="0">
              <a:solidFill>
                <a:srgbClr val="FF0000"/>
              </a:solidFill>
              <a:latin typeface="微軟正黑體" panose="020B0604030504040204" pitchFamily="34" charset="-120"/>
            </a:endParaRPr>
          </a:p>
        </p:txBody>
      </p:sp>
      <p:sp>
        <p:nvSpPr>
          <p:cNvPr id="57" name="文字方塊 56">
            <a:extLst>
              <a:ext uri="{FF2B5EF4-FFF2-40B4-BE49-F238E27FC236}">
                <a16:creationId xmlns:a16="http://schemas.microsoft.com/office/drawing/2014/main" id="{B2FCDA71-95FA-4BF3-950D-7A0263BDCE59}"/>
              </a:ext>
            </a:extLst>
          </p:cNvPr>
          <p:cNvSpPr txBox="1"/>
          <p:nvPr/>
        </p:nvSpPr>
        <p:spPr>
          <a:xfrm>
            <a:off x="8256589" y="3357563"/>
            <a:ext cx="2238375" cy="16303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p>
            <a:pPr marL="285750" indent="-285750">
              <a:lnSpc>
                <a:spcPts val="2000"/>
              </a:lnSpc>
              <a:defRPr/>
            </a:pPr>
            <a:r>
              <a:rPr lang="en-US" altLang="zh-TW" sz="1400" dirty="0">
                <a:solidFill>
                  <a:prstClr val="black"/>
                </a:solidFill>
                <a:latin typeface="微軟正黑體" panose="020B0604030504040204" pitchFamily="34" charset="-120"/>
                <a:cs typeface="Arial" pitchFamily="34" charset="0"/>
              </a:rPr>
              <a:t>15-24</a:t>
            </a:r>
            <a:r>
              <a:rPr lang="zh-TW" altLang="en-US" sz="1400" dirty="0">
                <a:solidFill>
                  <a:prstClr val="black"/>
                </a:solidFill>
                <a:latin typeface="微軟正黑體" panose="020B0604030504040204" pitchFamily="34" charset="-120"/>
                <a:cs typeface="Arial" pitchFamily="34" charset="0"/>
              </a:rPr>
              <a:t>歲青年失業率自</a:t>
            </a:r>
            <a:r>
              <a:rPr lang="en-US" altLang="zh-TW" sz="1400" dirty="0">
                <a:solidFill>
                  <a:prstClr val="black"/>
                </a:solidFill>
                <a:latin typeface="微軟正黑體" panose="020B0604030504040204" pitchFamily="34" charset="-120"/>
                <a:cs typeface="Arial" pitchFamily="34" charset="0"/>
              </a:rPr>
              <a:t>89</a:t>
            </a:r>
          </a:p>
          <a:p>
            <a:pPr marL="285750" indent="-285750">
              <a:lnSpc>
                <a:spcPts val="2000"/>
              </a:lnSpc>
              <a:defRPr/>
            </a:pPr>
            <a:r>
              <a:rPr lang="zh-TW" altLang="en-US" sz="1400" dirty="0">
                <a:solidFill>
                  <a:prstClr val="black"/>
                </a:solidFill>
                <a:latin typeface="微軟正黑體" panose="020B0604030504040204" pitchFamily="34" charset="-120"/>
                <a:cs typeface="Arial" pitchFamily="34" charset="0"/>
              </a:rPr>
              <a:t>年</a:t>
            </a:r>
            <a:r>
              <a:rPr lang="en-US" altLang="zh-TW" sz="1400" dirty="0">
                <a:solidFill>
                  <a:prstClr val="black"/>
                </a:solidFill>
                <a:latin typeface="微軟正黑體" panose="020B0604030504040204" pitchFamily="34" charset="-120"/>
                <a:cs typeface="Arial" pitchFamily="34" charset="0"/>
              </a:rPr>
              <a:t>7.36% </a:t>
            </a:r>
            <a:r>
              <a:rPr lang="zh-TW" altLang="en-US" sz="1400" dirty="0">
                <a:solidFill>
                  <a:prstClr val="black"/>
                </a:solidFill>
                <a:latin typeface="微軟正黑體" panose="020B0604030504040204" pitchFamily="34" charset="-120"/>
                <a:cs typeface="Arial" pitchFamily="34" charset="0"/>
              </a:rPr>
              <a:t>，攀升至</a:t>
            </a:r>
            <a:r>
              <a:rPr lang="en-US" altLang="zh-TW" sz="1400" dirty="0">
                <a:solidFill>
                  <a:prstClr val="black"/>
                </a:solidFill>
                <a:latin typeface="微軟正黑體" panose="020B0604030504040204" pitchFamily="34" charset="-120"/>
                <a:cs typeface="Arial" pitchFamily="34" charset="0"/>
              </a:rPr>
              <a:t>101</a:t>
            </a:r>
            <a:r>
              <a:rPr lang="zh-TW" altLang="en-US" sz="1400" dirty="0">
                <a:solidFill>
                  <a:prstClr val="black"/>
                </a:solidFill>
                <a:latin typeface="微軟正黑體" panose="020B0604030504040204" pitchFamily="34" charset="-120"/>
                <a:cs typeface="Arial" pitchFamily="34" charset="0"/>
              </a:rPr>
              <a:t>年</a:t>
            </a:r>
            <a:endParaRPr lang="en-US" altLang="zh-TW" sz="1400" dirty="0">
              <a:solidFill>
                <a:prstClr val="black"/>
              </a:solidFill>
              <a:latin typeface="微軟正黑體" panose="020B0604030504040204" pitchFamily="34" charset="-120"/>
              <a:cs typeface="Arial" pitchFamily="34" charset="0"/>
            </a:endParaRPr>
          </a:p>
          <a:p>
            <a:pPr marL="285750" indent="-285750">
              <a:lnSpc>
                <a:spcPts val="2000"/>
              </a:lnSpc>
              <a:defRPr/>
            </a:pPr>
            <a:r>
              <a:rPr lang="en-US" altLang="zh-TW" sz="1400">
                <a:solidFill>
                  <a:prstClr val="black"/>
                </a:solidFill>
                <a:latin typeface="微軟正黑體" panose="020B0604030504040204" pitchFamily="34" charset="-120"/>
                <a:cs typeface="Arial" pitchFamily="34" charset="0"/>
              </a:rPr>
              <a:t>12.66</a:t>
            </a:r>
            <a:r>
              <a:rPr lang="en-US" altLang="zh-TW" sz="1400" dirty="0">
                <a:solidFill>
                  <a:prstClr val="black"/>
                </a:solidFill>
                <a:latin typeface="微軟正黑體" panose="020B0604030504040204" pitchFamily="34" charset="-120"/>
                <a:cs typeface="Arial" pitchFamily="34" charset="0"/>
              </a:rPr>
              <a:t>%</a:t>
            </a:r>
            <a:r>
              <a:rPr lang="zh-TW" altLang="en-US" sz="1400" dirty="0">
                <a:solidFill>
                  <a:prstClr val="black"/>
                </a:solidFill>
                <a:latin typeface="微軟正黑體" panose="020B0604030504040204" pitchFamily="34" charset="-120"/>
                <a:cs typeface="Arial" pitchFamily="34" charset="0"/>
              </a:rPr>
              <a:t>，</a:t>
            </a:r>
            <a:r>
              <a:rPr lang="en-US" altLang="zh-TW" sz="1400" dirty="0">
                <a:solidFill>
                  <a:prstClr val="black"/>
                </a:solidFill>
                <a:latin typeface="微軟正黑體" panose="020B0604030504040204" pitchFamily="34" charset="-120"/>
                <a:cs typeface="Arial" pitchFamily="34" charset="0"/>
              </a:rPr>
              <a:t>105 </a:t>
            </a:r>
            <a:r>
              <a:rPr lang="zh-TW" altLang="en-US" sz="1400">
                <a:solidFill>
                  <a:prstClr val="black"/>
                </a:solidFill>
                <a:latin typeface="微軟正黑體" panose="020B0604030504040204" pitchFamily="34" charset="-120"/>
                <a:cs typeface="Arial" pitchFamily="34" charset="0"/>
              </a:rPr>
              <a:t>年為</a:t>
            </a:r>
            <a:endParaRPr lang="en-US" altLang="zh-TW" sz="1400">
              <a:solidFill>
                <a:prstClr val="black"/>
              </a:solidFill>
              <a:latin typeface="微軟正黑體" panose="020B0604030504040204" pitchFamily="34" charset="-120"/>
              <a:cs typeface="Arial" pitchFamily="34" charset="0"/>
            </a:endParaRPr>
          </a:p>
          <a:p>
            <a:pPr marL="285750" indent="-285750">
              <a:lnSpc>
                <a:spcPts val="2000"/>
              </a:lnSpc>
              <a:defRPr/>
            </a:pPr>
            <a:r>
              <a:rPr lang="en-US" altLang="zh-TW" sz="1400">
                <a:solidFill>
                  <a:prstClr val="black"/>
                </a:solidFill>
                <a:latin typeface="微軟正黑體" panose="020B0604030504040204" pitchFamily="34" charset="-120"/>
                <a:cs typeface="Arial" pitchFamily="34" charset="0"/>
              </a:rPr>
              <a:t>12.12%</a:t>
            </a:r>
            <a:r>
              <a:rPr lang="zh-TW" altLang="en-US" sz="1400">
                <a:solidFill>
                  <a:prstClr val="black"/>
                </a:solidFill>
                <a:latin typeface="微軟正黑體" panose="020B0604030504040204" pitchFamily="34" charset="-120"/>
                <a:cs typeface="Arial" pitchFamily="34" charset="0"/>
              </a:rPr>
              <a:t>，過去</a:t>
            </a:r>
            <a:r>
              <a:rPr lang="zh-TW" altLang="en-US" sz="1400" dirty="0">
                <a:solidFill>
                  <a:prstClr val="black"/>
                </a:solidFill>
                <a:latin typeface="微軟正黑體" panose="020B0604030504040204" pitchFamily="34" charset="-120"/>
                <a:cs typeface="Arial" pitchFamily="34" charset="0"/>
              </a:rPr>
              <a:t>五年</a:t>
            </a:r>
            <a:r>
              <a:rPr lang="zh-TW" altLang="en-US" sz="1400">
                <a:solidFill>
                  <a:prstClr val="black"/>
                </a:solidFill>
                <a:latin typeface="微軟正黑體" panose="020B0604030504040204" pitchFamily="34" charset="-120"/>
                <a:cs typeface="Arial" pitchFamily="34" charset="0"/>
              </a:rPr>
              <a:t>都維持</a:t>
            </a:r>
            <a:endParaRPr lang="en-US" altLang="zh-TW" sz="1400">
              <a:solidFill>
                <a:prstClr val="black"/>
              </a:solidFill>
              <a:latin typeface="微軟正黑體" panose="020B0604030504040204" pitchFamily="34" charset="-120"/>
              <a:cs typeface="Arial" pitchFamily="34" charset="0"/>
            </a:endParaRPr>
          </a:p>
          <a:p>
            <a:pPr marL="285750" indent="-285750">
              <a:lnSpc>
                <a:spcPts val="2000"/>
              </a:lnSpc>
              <a:defRPr/>
            </a:pPr>
            <a:r>
              <a:rPr lang="zh-TW" altLang="en-US" sz="1400">
                <a:solidFill>
                  <a:prstClr val="black"/>
                </a:solidFill>
                <a:latin typeface="微軟正黑體" panose="020B0604030504040204" pitchFamily="34" charset="-120"/>
                <a:cs typeface="Arial" pitchFamily="34" charset="0"/>
              </a:rPr>
              <a:t>在</a:t>
            </a:r>
            <a:r>
              <a:rPr lang="en-US" altLang="zh-TW" sz="1400" dirty="0">
                <a:solidFill>
                  <a:prstClr val="black"/>
                </a:solidFill>
                <a:latin typeface="微軟正黑體" panose="020B0604030504040204" pitchFamily="34" charset="-120"/>
                <a:cs typeface="Arial" pitchFamily="34" charset="0"/>
              </a:rPr>
              <a:t>12</a:t>
            </a:r>
            <a:r>
              <a:rPr lang="en-US" altLang="zh-TW" sz="1400">
                <a:solidFill>
                  <a:prstClr val="black"/>
                </a:solidFill>
                <a:latin typeface="微軟正黑體" panose="020B0604030504040204" pitchFamily="34" charset="-120"/>
                <a:cs typeface="Arial" pitchFamily="34" charset="0"/>
              </a:rPr>
              <a:t>%</a:t>
            </a:r>
            <a:r>
              <a:rPr lang="zh-TW" altLang="en-US" sz="1400">
                <a:solidFill>
                  <a:prstClr val="black"/>
                </a:solidFill>
                <a:latin typeface="微軟正黑體" panose="020B0604030504040204" pitchFamily="34" charset="-120"/>
                <a:cs typeface="Arial" pitchFamily="34" charset="0"/>
              </a:rPr>
              <a:t>左右</a:t>
            </a:r>
            <a:r>
              <a:rPr lang="zh-TW" altLang="en-US" sz="1400" dirty="0">
                <a:solidFill>
                  <a:prstClr val="black"/>
                </a:solidFill>
                <a:latin typeface="微軟正黑體" panose="020B0604030504040204" pitchFamily="34" charset="-120"/>
                <a:cs typeface="Arial" pitchFamily="34" charset="0"/>
              </a:rPr>
              <a:t>，遠</a:t>
            </a:r>
            <a:r>
              <a:rPr lang="zh-TW" altLang="en-US" sz="1400">
                <a:solidFill>
                  <a:prstClr val="black"/>
                </a:solidFill>
                <a:latin typeface="微軟正黑體" panose="020B0604030504040204" pitchFamily="34" charset="-120"/>
                <a:cs typeface="Arial" pitchFamily="34" charset="0"/>
              </a:rPr>
              <a:t>高於</a:t>
            </a:r>
            <a:r>
              <a:rPr lang="en-US" altLang="zh-TW" sz="1400">
                <a:solidFill>
                  <a:prstClr val="black"/>
                </a:solidFill>
                <a:latin typeface="微軟正黑體" panose="020B0604030504040204" pitchFamily="34" charset="-120"/>
                <a:cs typeface="Arial" pitchFamily="34" charset="0"/>
              </a:rPr>
              <a:t>25-</a:t>
            </a:r>
          </a:p>
          <a:p>
            <a:pPr marL="285750" indent="-285750">
              <a:lnSpc>
                <a:spcPts val="2000"/>
              </a:lnSpc>
              <a:defRPr/>
            </a:pPr>
            <a:r>
              <a:rPr lang="en-US" altLang="zh-TW" sz="1400">
                <a:solidFill>
                  <a:prstClr val="black"/>
                </a:solidFill>
                <a:latin typeface="微軟正黑體" panose="020B0604030504040204" pitchFamily="34" charset="-120"/>
                <a:cs typeface="Arial" pitchFamily="34" charset="0"/>
              </a:rPr>
              <a:t>44</a:t>
            </a:r>
            <a:r>
              <a:rPr lang="zh-TW" altLang="en-US" sz="1400">
                <a:solidFill>
                  <a:prstClr val="black"/>
                </a:solidFill>
                <a:latin typeface="微軟正黑體" panose="020B0604030504040204" pitchFamily="34" charset="-120"/>
                <a:cs typeface="Arial" pitchFamily="34" charset="0"/>
              </a:rPr>
              <a:t>歲的</a:t>
            </a:r>
            <a:r>
              <a:rPr lang="en-US" altLang="zh-TW" sz="1400">
                <a:solidFill>
                  <a:prstClr val="black"/>
                </a:solidFill>
                <a:latin typeface="微軟正黑體" panose="020B0604030504040204" pitchFamily="34" charset="-120"/>
                <a:cs typeface="Arial" pitchFamily="34" charset="0"/>
              </a:rPr>
              <a:t>4.08</a:t>
            </a:r>
            <a:r>
              <a:rPr lang="en-US" altLang="zh-TW" sz="1400" dirty="0">
                <a:solidFill>
                  <a:prstClr val="black"/>
                </a:solidFill>
                <a:latin typeface="微軟正黑體" panose="020B0604030504040204" pitchFamily="34" charset="-120"/>
                <a:cs typeface="Arial" pitchFamily="34" charset="0"/>
              </a:rPr>
              <a:t>%</a:t>
            </a:r>
          </a:p>
        </p:txBody>
      </p:sp>
      <p:sp>
        <p:nvSpPr>
          <p:cNvPr id="58" name="文字方塊 57">
            <a:extLst>
              <a:ext uri="{FF2B5EF4-FFF2-40B4-BE49-F238E27FC236}">
                <a16:creationId xmlns:a16="http://schemas.microsoft.com/office/drawing/2014/main" id="{4405F14B-1FB7-464F-8027-F68B949D523D}"/>
              </a:ext>
            </a:extLst>
          </p:cNvPr>
          <p:cNvSpPr txBox="1"/>
          <p:nvPr/>
        </p:nvSpPr>
        <p:spPr>
          <a:xfrm>
            <a:off x="6600826" y="5732464"/>
            <a:ext cx="2951163" cy="860425"/>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p>
            <a:pPr marL="360000" indent="-285750">
              <a:lnSpc>
                <a:spcPts val="2000"/>
              </a:lnSpc>
              <a:defRPr/>
            </a:pPr>
            <a:r>
              <a:rPr lang="zh-TW" altLang="en-US" sz="1400" dirty="0">
                <a:solidFill>
                  <a:prstClr val="black"/>
                </a:solidFill>
                <a:latin typeface="微軟正黑體" pitchFamily="34" charset="-120"/>
                <a:cs typeface="Arial" pitchFamily="34" charset="0"/>
              </a:rPr>
              <a:t>檢察及警察機關查獲各級毒品施用</a:t>
            </a:r>
            <a:endParaRPr lang="en-US" altLang="zh-TW" sz="1400" dirty="0">
              <a:solidFill>
                <a:prstClr val="black"/>
              </a:solidFill>
              <a:latin typeface="微軟正黑體" pitchFamily="34" charset="-120"/>
              <a:cs typeface="Arial" pitchFamily="34" charset="0"/>
            </a:endParaRPr>
          </a:p>
          <a:p>
            <a:pPr marL="360000" indent="-285750">
              <a:lnSpc>
                <a:spcPts val="2000"/>
              </a:lnSpc>
              <a:defRPr/>
            </a:pPr>
            <a:r>
              <a:rPr lang="zh-TW" altLang="en-US" sz="1400" dirty="0">
                <a:solidFill>
                  <a:prstClr val="black"/>
                </a:solidFill>
                <a:latin typeface="微軟正黑體" pitchFamily="34" charset="-120"/>
                <a:cs typeface="Arial" pitchFamily="34" charset="0"/>
              </a:rPr>
              <a:t>人數，</a:t>
            </a:r>
            <a:r>
              <a:rPr lang="en-US" altLang="zh-TW" sz="1400" dirty="0">
                <a:solidFill>
                  <a:prstClr val="black"/>
                </a:solidFill>
                <a:latin typeface="微軟正黑體" pitchFamily="34" charset="-120"/>
                <a:cs typeface="Arial" pitchFamily="34" charset="0"/>
              </a:rPr>
              <a:t>101</a:t>
            </a:r>
            <a:r>
              <a:rPr lang="zh-TW" altLang="en-US" sz="1400" dirty="0">
                <a:solidFill>
                  <a:prstClr val="black"/>
                </a:solidFill>
                <a:latin typeface="微軟正黑體" pitchFamily="34" charset="-120"/>
                <a:cs typeface="Arial" pitchFamily="34" charset="0"/>
              </a:rPr>
              <a:t>年</a:t>
            </a:r>
            <a:r>
              <a:rPr lang="en-US" altLang="zh-TW" sz="1400" dirty="0">
                <a:solidFill>
                  <a:prstClr val="black"/>
                </a:solidFill>
                <a:latin typeface="微軟正黑體" pitchFamily="34" charset="-120"/>
                <a:cs typeface="Arial" pitchFamily="34" charset="0"/>
              </a:rPr>
              <a:t>5</a:t>
            </a:r>
            <a:r>
              <a:rPr lang="zh-TW" altLang="en-US" sz="1400" dirty="0">
                <a:solidFill>
                  <a:prstClr val="black"/>
                </a:solidFill>
                <a:latin typeface="微軟正黑體" pitchFamily="34" charset="-120"/>
                <a:cs typeface="Arial" pitchFamily="34" charset="0"/>
              </a:rPr>
              <a:t>萬</a:t>
            </a:r>
            <a:r>
              <a:rPr lang="en-US" altLang="zh-TW" sz="1400" dirty="0">
                <a:solidFill>
                  <a:prstClr val="black"/>
                </a:solidFill>
                <a:latin typeface="微軟正黑體" pitchFamily="34" charset="-120"/>
                <a:cs typeface="Arial" pitchFamily="34" charset="0"/>
              </a:rPr>
              <a:t>3,728</a:t>
            </a:r>
            <a:r>
              <a:rPr lang="zh-TW" altLang="en-US" sz="1400" dirty="0">
                <a:solidFill>
                  <a:prstClr val="black"/>
                </a:solidFill>
                <a:latin typeface="微軟正黑體" pitchFamily="34" charset="-120"/>
                <a:cs typeface="Arial" pitchFamily="34" charset="0"/>
              </a:rPr>
              <a:t>人，</a:t>
            </a:r>
            <a:r>
              <a:rPr lang="en-US" altLang="zh-TW" sz="1400" dirty="0">
                <a:solidFill>
                  <a:prstClr val="black"/>
                </a:solidFill>
                <a:latin typeface="微軟正黑體" pitchFamily="34" charset="-120"/>
                <a:cs typeface="Arial" pitchFamily="34" charset="0"/>
              </a:rPr>
              <a:t>105</a:t>
            </a:r>
            <a:r>
              <a:rPr lang="zh-TW" altLang="en-US" sz="1400" dirty="0">
                <a:solidFill>
                  <a:prstClr val="black"/>
                </a:solidFill>
                <a:latin typeface="微軟正黑體" pitchFamily="34" charset="-120"/>
                <a:cs typeface="Arial" pitchFamily="34" charset="0"/>
              </a:rPr>
              <a:t>年</a:t>
            </a:r>
            <a:endParaRPr lang="en-US" altLang="zh-TW" sz="1400" dirty="0">
              <a:solidFill>
                <a:prstClr val="black"/>
              </a:solidFill>
              <a:latin typeface="微軟正黑體" pitchFamily="34" charset="-120"/>
              <a:cs typeface="Arial" pitchFamily="34" charset="0"/>
            </a:endParaRPr>
          </a:p>
          <a:p>
            <a:pPr marL="360000" indent="-285750">
              <a:lnSpc>
                <a:spcPts val="2000"/>
              </a:lnSpc>
              <a:defRPr/>
            </a:pPr>
            <a:r>
              <a:rPr lang="en-US" altLang="zh-TW" sz="1400" dirty="0">
                <a:solidFill>
                  <a:prstClr val="black"/>
                </a:solidFill>
                <a:latin typeface="微軟正黑體" pitchFamily="34" charset="-120"/>
                <a:cs typeface="Arial" pitchFamily="34" charset="0"/>
              </a:rPr>
              <a:t>6</a:t>
            </a:r>
            <a:r>
              <a:rPr lang="zh-TW" altLang="en-US" sz="1400" dirty="0">
                <a:solidFill>
                  <a:prstClr val="black"/>
                </a:solidFill>
                <a:latin typeface="微軟正黑體" pitchFamily="34" charset="-120"/>
                <a:cs typeface="Arial" pitchFamily="34" charset="0"/>
              </a:rPr>
              <a:t>萬</a:t>
            </a:r>
            <a:r>
              <a:rPr lang="en-US" altLang="zh-TW" sz="1400" dirty="0">
                <a:solidFill>
                  <a:prstClr val="black"/>
                </a:solidFill>
                <a:latin typeface="微軟正黑體" pitchFamily="34" charset="-120"/>
                <a:cs typeface="Arial" pitchFamily="34" charset="0"/>
              </a:rPr>
              <a:t>756</a:t>
            </a:r>
            <a:r>
              <a:rPr lang="zh-TW" altLang="en-US" sz="1400" dirty="0">
                <a:solidFill>
                  <a:prstClr val="black"/>
                </a:solidFill>
                <a:latin typeface="微軟正黑體" pitchFamily="34" charset="-120"/>
                <a:cs typeface="Arial" pitchFamily="34" charset="0"/>
              </a:rPr>
              <a:t>人，成長</a:t>
            </a:r>
            <a:r>
              <a:rPr lang="en-US" altLang="zh-TW" sz="1400" dirty="0">
                <a:solidFill>
                  <a:prstClr val="black"/>
                </a:solidFill>
                <a:latin typeface="微軟正黑體" pitchFamily="34" charset="-120"/>
                <a:cs typeface="Arial" pitchFamily="34" charset="0"/>
              </a:rPr>
              <a:t>13.08%</a:t>
            </a:r>
          </a:p>
        </p:txBody>
      </p:sp>
      <p:sp>
        <p:nvSpPr>
          <p:cNvPr id="59" name="文字方塊 58">
            <a:extLst>
              <a:ext uri="{FF2B5EF4-FFF2-40B4-BE49-F238E27FC236}">
                <a16:creationId xmlns:a16="http://schemas.microsoft.com/office/drawing/2014/main" id="{E95B28E0-84F6-40A9-AD83-E2D68BFCA4E9}"/>
              </a:ext>
            </a:extLst>
          </p:cNvPr>
          <p:cNvSpPr txBox="1"/>
          <p:nvPr/>
        </p:nvSpPr>
        <p:spPr>
          <a:xfrm>
            <a:off x="2711450" y="5732463"/>
            <a:ext cx="2952750" cy="862012"/>
          </a:xfrm>
          <a:prstGeom prst="rect">
            <a:avLst/>
          </a:prstGeom>
          <a:ln/>
        </p:spPr>
        <p:style>
          <a:lnRef idx="2">
            <a:schemeClr val="accent5"/>
          </a:lnRef>
          <a:fillRef idx="1">
            <a:schemeClr val="lt1"/>
          </a:fillRef>
          <a:effectRef idx="0">
            <a:schemeClr val="accent5"/>
          </a:effectRef>
          <a:fontRef idx="minor">
            <a:schemeClr val="dk1"/>
          </a:fontRef>
        </p:style>
        <p:txBody>
          <a:bodyPr>
            <a:spAutoFit/>
          </a:bodyPr>
          <a:lstStyle/>
          <a:p>
            <a:pPr indent="-720000">
              <a:lnSpc>
                <a:spcPts val="2000"/>
              </a:lnSpc>
              <a:defRPr/>
            </a:pPr>
            <a:r>
              <a:rPr lang="zh-TW" altLang="en-US" sz="1400" dirty="0">
                <a:solidFill>
                  <a:prstClr val="black"/>
                </a:solidFill>
                <a:latin typeface="微軟正黑體" pitchFamily="34" charset="-120"/>
                <a:cs typeface="Arial" pitchFamily="34" charset="0"/>
              </a:rPr>
              <a:t>精神照護資訊管理系統關懷訪視社區精神病人數，至</a:t>
            </a:r>
            <a:r>
              <a:rPr lang="en-US" altLang="zh-TW" sz="1400" dirty="0">
                <a:solidFill>
                  <a:prstClr val="black"/>
                </a:solidFill>
                <a:latin typeface="微軟正黑體" pitchFamily="34" charset="-120"/>
                <a:cs typeface="Arial" pitchFamily="34" charset="0"/>
              </a:rPr>
              <a:t>105</a:t>
            </a:r>
            <a:r>
              <a:rPr lang="zh-TW" altLang="en-US" sz="1400" dirty="0">
                <a:solidFill>
                  <a:prstClr val="black"/>
                </a:solidFill>
                <a:latin typeface="微軟正黑體" pitchFamily="34" charset="-120"/>
                <a:cs typeface="Arial" pitchFamily="34" charset="0"/>
              </a:rPr>
              <a:t>年底止，有</a:t>
            </a:r>
            <a:r>
              <a:rPr lang="en-US" altLang="zh-TW" sz="1400" dirty="0">
                <a:solidFill>
                  <a:prstClr val="black"/>
                </a:solidFill>
                <a:latin typeface="微軟正黑體" pitchFamily="34" charset="-120"/>
                <a:cs typeface="Arial" pitchFamily="34" charset="0"/>
              </a:rPr>
              <a:t>14</a:t>
            </a:r>
            <a:r>
              <a:rPr lang="zh-TW" altLang="en-US" sz="1400" dirty="0">
                <a:solidFill>
                  <a:prstClr val="black"/>
                </a:solidFill>
                <a:latin typeface="微軟正黑體" pitchFamily="34" charset="-120"/>
                <a:cs typeface="Arial" pitchFamily="34" charset="0"/>
              </a:rPr>
              <a:t>萬</a:t>
            </a:r>
            <a:r>
              <a:rPr lang="en-US" altLang="zh-TW" sz="1400" dirty="0">
                <a:solidFill>
                  <a:prstClr val="black"/>
                </a:solidFill>
                <a:latin typeface="微軟正黑體" pitchFamily="34" charset="-120"/>
                <a:cs typeface="Arial" pitchFamily="34" charset="0"/>
              </a:rPr>
              <a:t>2,193</a:t>
            </a:r>
            <a:r>
              <a:rPr lang="zh-TW" altLang="en-US" sz="1400" dirty="0">
                <a:solidFill>
                  <a:prstClr val="black"/>
                </a:solidFill>
                <a:latin typeface="微軟正黑體" pitchFamily="34" charset="-120"/>
                <a:cs typeface="Arial" pitchFamily="34" charset="0"/>
              </a:rPr>
              <a:t>人</a:t>
            </a:r>
            <a:endParaRPr lang="en-US" altLang="zh-TW" sz="1400" dirty="0">
              <a:solidFill>
                <a:prstClr val="black"/>
              </a:solidFill>
              <a:latin typeface="微軟正黑體" pitchFamily="34" charset="-120"/>
              <a:cs typeface="Arial" pitchFamily="34" charset="0"/>
            </a:endParaRPr>
          </a:p>
        </p:txBody>
      </p:sp>
      <p:sp>
        <p:nvSpPr>
          <p:cNvPr id="60" name="文字方塊 59">
            <a:extLst>
              <a:ext uri="{FF2B5EF4-FFF2-40B4-BE49-F238E27FC236}">
                <a16:creationId xmlns:a16="http://schemas.microsoft.com/office/drawing/2014/main" id="{AD2BA87A-CB5E-41B5-B105-2ADF9254C25D}"/>
              </a:ext>
            </a:extLst>
          </p:cNvPr>
          <p:cNvSpPr txBox="1"/>
          <p:nvPr/>
        </p:nvSpPr>
        <p:spPr>
          <a:xfrm>
            <a:off x="1703389" y="1844676"/>
            <a:ext cx="2124075" cy="3484563"/>
          </a:xfrm>
          <a:prstGeom prst="rect">
            <a:avLst/>
          </a:prstGeom>
          <a:ln/>
        </p:spPr>
        <p:style>
          <a:lnRef idx="2">
            <a:schemeClr val="accent6"/>
          </a:lnRef>
          <a:fillRef idx="1">
            <a:schemeClr val="lt1"/>
          </a:fillRef>
          <a:effectRef idx="0">
            <a:schemeClr val="accent6"/>
          </a:effectRef>
          <a:fontRef idx="minor">
            <a:schemeClr val="dk1"/>
          </a:fontRef>
        </p:style>
        <p:txBody>
          <a:bodyPr>
            <a:spAutoFit/>
          </a:bodyPr>
          <a:lstStyle/>
          <a:p>
            <a:pPr>
              <a:lnSpc>
                <a:spcPts val="1900"/>
              </a:lnSpc>
              <a:buFont typeface="Wingdings" pitchFamily="2" charset="2"/>
              <a:buChar char="l"/>
              <a:defRPr/>
            </a:pPr>
            <a:r>
              <a:rPr lang="en-US" altLang="zh-TW" sz="1400" dirty="0">
                <a:solidFill>
                  <a:prstClr val="black"/>
                </a:solidFill>
                <a:latin typeface="微軟正黑體" pitchFamily="34" charset="-120"/>
                <a:cs typeface="Arial" pitchFamily="34" charset="0"/>
              </a:rPr>
              <a:t>99</a:t>
            </a:r>
            <a:r>
              <a:rPr lang="zh-TW" altLang="en-US" sz="1400" dirty="0">
                <a:solidFill>
                  <a:prstClr val="black"/>
                </a:solidFill>
                <a:latin typeface="微軟正黑體" pitchFamily="34" charset="-120"/>
                <a:cs typeface="Arial" pitchFamily="34" charset="0"/>
              </a:rPr>
              <a:t>年人口與住宅普查結</a:t>
            </a:r>
            <a:endParaRPr lang="en-US" altLang="zh-TW" sz="1400" dirty="0">
              <a:solidFill>
                <a:prstClr val="black"/>
              </a:solidFill>
              <a:latin typeface="微軟正黑體" pitchFamily="34" charset="-120"/>
              <a:cs typeface="Arial" pitchFamily="34" charset="0"/>
            </a:endParaRPr>
          </a:p>
          <a:p>
            <a:pPr>
              <a:lnSpc>
                <a:spcPts val="1900"/>
              </a:lnSpc>
              <a:defRPr/>
            </a:pPr>
            <a:r>
              <a:rPr lang="en-US" altLang="zh-TW" sz="1400" dirty="0">
                <a:solidFill>
                  <a:prstClr val="black"/>
                </a:solidFill>
                <a:latin typeface="微軟正黑體" pitchFamily="34" charset="-120"/>
                <a:cs typeface="Arial" pitchFamily="34" charset="0"/>
              </a:rPr>
              <a:t>   </a:t>
            </a:r>
            <a:r>
              <a:rPr lang="zh-TW" altLang="en-US" sz="1400" dirty="0">
                <a:solidFill>
                  <a:prstClr val="black"/>
                </a:solidFill>
                <a:latin typeface="微軟正黑體" pitchFamily="34" charset="-120"/>
                <a:cs typeface="Arial" pitchFamily="34" charset="0"/>
              </a:rPr>
              <a:t>果，</a:t>
            </a:r>
            <a:r>
              <a:rPr lang="en-US" altLang="zh-TW" sz="1400" dirty="0">
                <a:solidFill>
                  <a:prstClr val="black"/>
                </a:solidFill>
                <a:latin typeface="微軟正黑體" pitchFamily="34" charset="-120"/>
                <a:cs typeface="Arial" pitchFamily="34" charset="0"/>
              </a:rPr>
              <a:t>99</a:t>
            </a:r>
            <a:r>
              <a:rPr lang="zh-TW" altLang="en-US" sz="1400" dirty="0">
                <a:solidFill>
                  <a:prstClr val="black"/>
                </a:solidFill>
                <a:latin typeface="微軟正黑體" pitchFamily="34" charset="-120"/>
                <a:cs typeface="Arial" pitchFamily="34" charset="0"/>
              </a:rPr>
              <a:t>年夫或婦一方及</a:t>
            </a:r>
            <a:endParaRPr lang="en-US" altLang="zh-TW" sz="1400" dirty="0">
              <a:solidFill>
                <a:prstClr val="black"/>
              </a:solidFill>
              <a:latin typeface="微軟正黑體" pitchFamily="34" charset="-120"/>
              <a:cs typeface="Arial" pitchFamily="34" charset="0"/>
            </a:endParaRPr>
          </a:p>
          <a:p>
            <a:pPr>
              <a:lnSpc>
                <a:spcPts val="1900"/>
              </a:lnSpc>
              <a:defRPr/>
            </a:pPr>
            <a:r>
              <a:rPr lang="en-US" altLang="zh-TW" sz="1400" dirty="0">
                <a:solidFill>
                  <a:prstClr val="black"/>
                </a:solidFill>
                <a:latin typeface="微軟正黑體" pitchFamily="34" charset="-120"/>
                <a:cs typeface="Arial" pitchFamily="34" charset="0"/>
              </a:rPr>
              <a:t>   </a:t>
            </a:r>
            <a:r>
              <a:rPr lang="zh-TW" altLang="en-US" sz="1400" dirty="0">
                <a:solidFill>
                  <a:prstClr val="black"/>
                </a:solidFill>
                <a:latin typeface="微軟正黑體" pitchFamily="34" charset="-120"/>
                <a:cs typeface="Arial" pitchFamily="34" charset="0"/>
              </a:rPr>
              <a:t>未婚子女所組成之家戶</a:t>
            </a:r>
            <a:endParaRPr lang="en-US" altLang="zh-TW" sz="1400" dirty="0">
              <a:solidFill>
                <a:prstClr val="black"/>
              </a:solidFill>
              <a:latin typeface="微軟正黑體" pitchFamily="34" charset="-120"/>
              <a:cs typeface="Arial" pitchFamily="34" charset="0"/>
            </a:endParaRPr>
          </a:p>
          <a:p>
            <a:pPr>
              <a:lnSpc>
                <a:spcPts val="1900"/>
              </a:lnSpc>
              <a:defRPr/>
            </a:pPr>
            <a:r>
              <a:rPr lang="en-US" altLang="zh-TW" sz="1400" dirty="0">
                <a:solidFill>
                  <a:prstClr val="black"/>
                </a:solidFill>
                <a:latin typeface="微軟正黑體" pitchFamily="34" charset="-120"/>
                <a:cs typeface="Arial" pitchFamily="34" charset="0"/>
              </a:rPr>
              <a:t>  (</a:t>
            </a:r>
            <a:r>
              <a:rPr lang="zh-TW" altLang="en-US" sz="1400" dirty="0">
                <a:solidFill>
                  <a:prstClr val="black"/>
                </a:solidFill>
                <a:latin typeface="微軟正黑體" pitchFamily="34" charset="-120"/>
                <a:cs typeface="Arial" pitchFamily="34" charset="0"/>
              </a:rPr>
              <a:t>單親家庭</a:t>
            </a:r>
            <a:r>
              <a:rPr lang="en-US" altLang="zh-TW" sz="1400" dirty="0">
                <a:solidFill>
                  <a:prstClr val="black"/>
                </a:solidFill>
                <a:latin typeface="微軟正黑體" pitchFamily="34" charset="-120"/>
                <a:cs typeface="Arial" pitchFamily="34" charset="0"/>
              </a:rPr>
              <a:t>)</a:t>
            </a:r>
            <a:r>
              <a:rPr lang="zh-TW" altLang="en-US" sz="1400" dirty="0">
                <a:solidFill>
                  <a:prstClr val="black"/>
                </a:solidFill>
                <a:latin typeface="微軟正黑體" pitchFamily="34" charset="-120"/>
                <a:cs typeface="Arial" pitchFamily="34" charset="0"/>
              </a:rPr>
              <a:t>計</a:t>
            </a:r>
            <a:r>
              <a:rPr lang="en-US" altLang="zh-TW" sz="1400" dirty="0">
                <a:solidFill>
                  <a:prstClr val="black"/>
                </a:solidFill>
                <a:latin typeface="微軟正黑體" pitchFamily="34" charset="-120"/>
                <a:cs typeface="Arial" pitchFamily="34" charset="0"/>
              </a:rPr>
              <a:t>55</a:t>
            </a:r>
            <a:r>
              <a:rPr lang="zh-TW" altLang="en-US" sz="1400" dirty="0">
                <a:solidFill>
                  <a:prstClr val="black"/>
                </a:solidFill>
                <a:latin typeface="微軟正黑體" pitchFamily="34" charset="-120"/>
                <a:cs typeface="Arial" pitchFamily="34" charset="0"/>
              </a:rPr>
              <a:t>萬</a:t>
            </a:r>
            <a:r>
              <a:rPr lang="en-US" altLang="zh-TW" sz="1400" dirty="0">
                <a:solidFill>
                  <a:prstClr val="black"/>
                </a:solidFill>
                <a:latin typeface="微軟正黑體" pitchFamily="34" charset="-120"/>
                <a:cs typeface="Arial" pitchFamily="34" charset="0"/>
              </a:rPr>
              <a:t>5,086</a:t>
            </a:r>
          </a:p>
          <a:p>
            <a:pPr>
              <a:lnSpc>
                <a:spcPts val="1900"/>
              </a:lnSpc>
              <a:defRPr/>
            </a:pPr>
            <a:r>
              <a:rPr lang="en-US" altLang="zh-TW" sz="1400" dirty="0">
                <a:solidFill>
                  <a:prstClr val="black"/>
                </a:solidFill>
                <a:latin typeface="微軟正黑體" pitchFamily="34" charset="-120"/>
                <a:cs typeface="Arial" pitchFamily="34" charset="0"/>
              </a:rPr>
              <a:t>  </a:t>
            </a:r>
            <a:r>
              <a:rPr lang="zh-TW" altLang="en-US" sz="1400" dirty="0">
                <a:solidFill>
                  <a:prstClr val="black"/>
                </a:solidFill>
                <a:latin typeface="微軟正黑體" pitchFamily="34" charset="-120"/>
                <a:cs typeface="Arial" pitchFamily="34" charset="0"/>
              </a:rPr>
              <a:t>戶，祖父母及未婚孫子</a:t>
            </a:r>
            <a:endParaRPr lang="en-US" altLang="zh-TW" sz="1400" dirty="0">
              <a:solidFill>
                <a:prstClr val="black"/>
              </a:solidFill>
              <a:latin typeface="微軟正黑體" pitchFamily="34" charset="-120"/>
              <a:cs typeface="Arial" pitchFamily="34" charset="0"/>
            </a:endParaRPr>
          </a:p>
          <a:p>
            <a:pPr>
              <a:lnSpc>
                <a:spcPts val="1900"/>
              </a:lnSpc>
              <a:defRPr/>
            </a:pPr>
            <a:r>
              <a:rPr lang="en-US" altLang="zh-TW" sz="1400" dirty="0">
                <a:solidFill>
                  <a:prstClr val="black"/>
                </a:solidFill>
                <a:latin typeface="微軟正黑體" pitchFamily="34" charset="-120"/>
                <a:cs typeface="Arial" pitchFamily="34" charset="0"/>
              </a:rPr>
              <a:t>  </a:t>
            </a:r>
            <a:r>
              <a:rPr lang="zh-TW" altLang="en-US" sz="1400" dirty="0">
                <a:solidFill>
                  <a:prstClr val="black"/>
                </a:solidFill>
                <a:latin typeface="微軟正黑體" pitchFamily="34" charset="-120"/>
                <a:cs typeface="Arial" pitchFamily="34" charset="0"/>
              </a:rPr>
              <a:t>女所組成之隔代家庭計</a:t>
            </a:r>
            <a:endParaRPr lang="en-US" altLang="zh-TW" sz="1400" dirty="0">
              <a:solidFill>
                <a:prstClr val="black"/>
              </a:solidFill>
              <a:latin typeface="微軟正黑體" pitchFamily="34" charset="-120"/>
              <a:cs typeface="Arial" pitchFamily="34" charset="0"/>
            </a:endParaRPr>
          </a:p>
          <a:p>
            <a:pPr>
              <a:lnSpc>
                <a:spcPts val="1900"/>
              </a:lnSpc>
              <a:defRPr/>
            </a:pPr>
            <a:r>
              <a:rPr lang="en-US" altLang="zh-TW" sz="1400" dirty="0">
                <a:solidFill>
                  <a:prstClr val="black"/>
                </a:solidFill>
                <a:latin typeface="微軟正黑體" pitchFamily="34" charset="-120"/>
                <a:cs typeface="Arial" pitchFamily="34" charset="0"/>
              </a:rPr>
              <a:t>  </a:t>
            </a:r>
            <a:r>
              <a:rPr lang="en-US" altLang="zh-TW" sz="1400" spc="-40" dirty="0">
                <a:solidFill>
                  <a:prstClr val="black"/>
                </a:solidFill>
                <a:latin typeface="微軟正黑體" pitchFamily="34" charset="-120"/>
                <a:cs typeface="Arial" pitchFamily="34" charset="0"/>
              </a:rPr>
              <a:t>10</a:t>
            </a:r>
            <a:r>
              <a:rPr lang="zh-TW" altLang="en-US" sz="1400" spc="-40" dirty="0">
                <a:solidFill>
                  <a:prstClr val="black"/>
                </a:solidFill>
                <a:latin typeface="微軟正黑體" pitchFamily="34" charset="-120"/>
                <a:cs typeface="Arial" pitchFamily="34" charset="0"/>
              </a:rPr>
              <a:t>萬</a:t>
            </a:r>
            <a:r>
              <a:rPr lang="en-US" altLang="zh-TW" sz="1400" spc="-40" dirty="0">
                <a:solidFill>
                  <a:prstClr val="black"/>
                </a:solidFill>
                <a:latin typeface="微軟正黑體" pitchFamily="34" charset="-120"/>
                <a:cs typeface="Arial" pitchFamily="34" charset="0"/>
              </a:rPr>
              <a:t>1,626</a:t>
            </a:r>
            <a:r>
              <a:rPr lang="zh-TW" altLang="en-US" sz="1400" spc="-40" dirty="0">
                <a:solidFill>
                  <a:prstClr val="black"/>
                </a:solidFill>
                <a:latin typeface="微軟正黑體" pitchFamily="34" charset="-120"/>
                <a:cs typeface="Arial" pitchFamily="34" charset="0"/>
              </a:rPr>
              <a:t>戶，較</a:t>
            </a:r>
            <a:r>
              <a:rPr lang="en-US" altLang="zh-TW" sz="1400" spc="-40" dirty="0">
                <a:solidFill>
                  <a:prstClr val="black"/>
                </a:solidFill>
                <a:latin typeface="微軟正黑體" pitchFamily="34" charset="-120"/>
                <a:cs typeface="Arial" pitchFamily="34" charset="0"/>
              </a:rPr>
              <a:t>10</a:t>
            </a:r>
            <a:r>
              <a:rPr lang="zh-TW" altLang="en-US" sz="1400" spc="-40" dirty="0">
                <a:solidFill>
                  <a:prstClr val="black"/>
                </a:solidFill>
                <a:latin typeface="微軟正黑體" pitchFamily="34" charset="-120"/>
                <a:cs typeface="Arial" pitchFamily="34" charset="0"/>
              </a:rPr>
              <a:t>年</a:t>
            </a:r>
            <a:endParaRPr lang="en-US" altLang="zh-TW" sz="1400" spc="-40" dirty="0">
              <a:solidFill>
                <a:prstClr val="black"/>
              </a:solidFill>
              <a:latin typeface="微軟正黑體" pitchFamily="34" charset="-120"/>
              <a:cs typeface="Arial" pitchFamily="34" charset="0"/>
            </a:endParaRPr>
          </a:p>
          <a:p>
            <a:pPr>
              <a:lnSpc>
                <a:spcPts val="1900"/>
              </a:lnSpc>
              <a:defRPr/>
            </a:pPr>
            <a:r>
              <a:rPr lang="en-US" altLang="zh-TW" sz="1400" spc="-40" dirty="0">
                <a:solidFill>
                  <a:prstClr val="black"/>
                </a:solidFill>
                <a:latin typeface="微軟正黑體" pitchFamily="34" charset="-120"/>
                <a:cs typeface="Arial" pitchFamily="34" charset="0"/>
              </a:rPr>
              <a:t>  </a:t>
            </a:r>
            <a:r>
              <a:rPr lang="zh-TW" altLang="en-US" sz="1400" spc="-40" dirty="0">
                <a:solidFill>
                  <a:prstClr val="black"/>
                </a:solidFill>
                <a:latin typeface="微軟正黑體" pitchFamily="34" charset="-120"/>
                <a:cs typeface="Arial" pitchFamily="34" charset="0"/>
              </a:rPr>
              <a:t>前各增加</a:t>
            </a:r>
            <a:r>
              <a:rPr lang="en-US" altLang="zh-TW" sz="1400" spc="-40" dirty="0">
                <a:solidFill>
                  <a:prstClr val="black"/>
                </a:solidFill>
                <a:latin typeface="微軟正黑體" pitchFamily="34" charset="-120"/>
                <a:cs typeface="Arial" pitchFamily="34" charset="0"/>
              </a:rPr>
              <a:t>48.3%</a:t>
            </a:r>
            <a:r>
              <a:rPr lang="zh-TW" altLang="en-US" sz="1400" spc="-40" dirty="0">
                <a:solidFill>
                  <a:prstClr val="black"/>
                </a:solidFill>
                <a:latin typeface="微軟正黑體" pitchFamily="34" charset="-120"/>
                <a:cs typeface="Arial" pitchFamily="34" charset="0"/>
              </a:rPr>
              <a:t>及</a:t>
            </a:r>
            <a:r>
              <a:rPr lang="en-US" altLang="zh-TW" sz="1400" spc="-40" dirty="0">
                <a:solidFill>
                  <a:prstClr val="black"/>
                </a:solidFill>
                <a:latin typeface="微軟正黑體" pitchFamily="34" charset="-120"/>
                <a:cs typeface="Arial" pitchFamily="34" charset="0"/>
              </a:rPr>
              <a:t>35.1%</a:t>
            </a:r>
          </a:p>
          <a:p>
            <a:pPr>
              <a:lnSpc>
                <a:spcPts val="1900"/>
              </a:lnSpc>
              <a:buFont typeface="Wingdings" pitchFamily="2" charset="2"/>
              <a:buChar char="l"/>
              <a:defRPr/>
            </a:pPr>
            <a:r>
              <a:rPr lang="zh-TW" altLang="en-US" sz="1400" dirty="0">
                <a:solidFill>
                  <a:prstClr val="black"/>
                </a:solidFill>
                <a:latin typeface="微軟正黑體" pitchFamily="34" charset="-120"/>
                <a:cs typeface="Arial" pitchFamily="34" charset="0"/>
              </a:rPr>
              <a:t>家庭規模縮小、少子化</a:t>
            </a:r>
            <a:endParaRPr lang="en-US" altLang="zh-TW" sz="1400" dirty="0">
              <a:solidFill>
                <a:prstClr val="black"/>
              </a:solidFill>
              <a:latin typeface="微軟正黑體" pitchFamily="34" charset="-120"/>
              <a:cs typeface="Arial" pitchFamily="34" charset="0"/>
            </a:endParaRPr>
          </a:p>
          <a:p>
            <a:pPr>
              <a:lnSpc>
                <a:spcPts val="1900"/>
              </a:lnSpc>
              <a:defRPr/>
            </a:pPr>
            <a:r>
              <a:rPr lang="en-US" altLang="zh-TW" sz="1400" dirty="0">
                <a:solidFill>
                  <a:prstClr val="black"/>
                </a:solidFill>
                <a:latin typeface="微軟正黑體" pitchFamily="34" charset="-120"/>
                <a:cs typeface="Arial" pitchFamily="34" charset="0"/>
              </a:rPr>
              <a:t>   </a:t>
            </a:r>
            <a:r>
              <a:rPr lang="zh-TW" altLang="en-US" sz="1400" dirty="0">
                <a:solidFill>
                  <a:prstClr val="black"/>
                </a:solidFill>
                <a:latin typeface="微軟正黑體" pitchFamily="34" charset="-120"/>
                <a:cs typeface="Arial" pitchFamily="34" charset="0"/>
              </a:rPr>
              <a:t>及人口老化問題，使得</a:t>
            </a:r>
            <a:endParaRPr lang="en-US" altLang="zh-TW" sz="1400" dirty="0">
              <a:solidFill>
                <a:prstClr val="black"/>
              </a:solidFill>
              <a:latin typeface="微軟正黑體" pitchFamily="34" charset="-120"/>
              <a:cs typeface="Arial" pitchFamily="34" charset="0"/>
            </a:endParaRPr>
          </a:p>
          <a:p>
            <a:pPr>
              <a:lnSpc>
                <a:spcPts val="1900"/>
              </a:lnSpc>
              <a:defRPr/>
            </a:pPr>
            <a:r>
              <a:rPr lang="en-US" altLang="zh-TW" sz="1400" dirty="0">
                <a:solidFill>
                  <a:prstClr val="black"/>
                </a:solidFill>
                <a:latin typeface="微軟正黑體" pitchFamily="34" charset="-120"/>
                <a:cs typeface="Arial" pitchFamily="34" charset="0"/>
              </a:rPr>
              <a:t>   </a:t>
            </a:r>
            <a:r>
              <a:rPr lang="zh-TW" altLang="en-US" sz="1400" dirty="0">
                <a:solidFill>
                  <a:prstClr val="black"/>
                </a:solidFill>
                <a:latin typeface="微軟正黑體" pitchFamily="34" charset="-120"/>
                <a:cs typeface="Arial" pitchFamily="34" charset="0"/>
              </a:rPr>
              <a:t>家庭支持系統變得單薄</a:t>
            </a:r>
            <a:endParaRPr lang="en-US" altLang="zh-TW" sz="1400" dirty="0">
              <a:solidFill>
                <a:prstClr val="black"/>
              </a:solidFill>
              <a:latin typeface="微軟正黑體" pitchFamily="34" charset="-120"/>
              <a:cs typeface="Arial" pitchFamily="34" charset="0"/>
            </a:endParaRPr>
          </a:p>
          <a:p>
            <a:pPr>
              <a:lnSpc>
                <a:spcPts val="1900"/>
              </a:lnSpc>
              <a:defRPr/>
            </a:pPr>
            <a:r>
              <a:rPr lang="en-US" altLang="zh-TW" sz="1400" dirty="0">
                <a:solidFill>
                  <a:prstClr val="black"/>
                </a:solidFill>
                <a:latin typeface="微軟正黑體" pitchFamily="34" charset="-120"/>
                <a:cs typeface="Arial" pitchFamily="34" charset="0"/>
              </a:rPr>
              <a:t>   </a:t>
            </a:r>
            <a:r>
              <a:rPr lang="zh-TW" altLang="en-US" sz="1400" dirty="0">
                <a:solidFill>
                  <a:prstClr val="black"/>
                </a:solidFill>
                <a:latin typeface="微軟正黑體" pitchFamily="34" charset="-120"/>
                <a:cs typeface="Arial" pitchFamily="34" charset="0"/>
              </a:rPr>
              <a:t>與脆弱，脆弱兒童與家</a:t>
            </a:r>
            <a:endParaRPr lang="en-US" altLang="zh-TW" sz="1400" dirty="0">
              <a:solidFill>
                <a:prstClr val="black"/>
              </a:solidFill>
              <a:latin typeface="微軟正黑體" pitchFamily="34" charset="-120"/>
              <a:cs typeface="Arial" pitchFamily="34" charset="0"/>
            </a:endParaRPr>
          </a:p>
          <a:p>
            <a:pPr>
              <a:lnSpc>
                <a:spcPts val="1900"/>
              </a:lnSpc>
              <a:defRPr/>
            </a:pPr>
            <a:r>
              <a:rPr lang="en-US" altLang="zh-TW" sz="1400" dirty="0">
                <a:solidFill>
                  <a:prstClr val="black"/>
                </a:solidFill>
                <a:latin typeface="微軟正黑體" pitchFamily="34" charset="-120"/>
                <a:cs typeface="Arial" pitchFamily="34" charset="0"/>
              </a:rPr>
              <a:t>   </a:t>
            </a:r>
            <a:r>
              <a:rPr lang="zh-TW" altLang="en-US" sz="1400" dirty="0">
                <a:solidFill>
                  <a:prstClr val="black"/>
                </a:solidFill>
                <a:latin typeface="微軟正黑體" pitchFamily="34" charset="-120"/>
                <a:cs typeface="Arial" pitchFamily="34" charset="0"/>
              </a:rPr>
              <a:t>庭，以及高風險青年議</a:t>
            </a:r>
            <a:endParaRPr lang="en-US" altLang="zh-TW" sz="1400" dirty="0">
              <a:solidFill>
                <a:prstClr val="black"/>
              </a:solidFill>
              <a:latin typeface="微軟正黑體" pitchFamily="34" charset="-120"/>
              <a:cs typeface="Arial" pitchFamily="34" charset="0"/>
            </a:endParaRPr>
          </a:p>
          <a:p>
            <a:pPr>
              <a:lnSpc>
                <a:spcPts val="1900"/>
              </a:lnSpc>
              <a:defRPr/>
            </a:pPr>
            <a:r>
              <a:rPr lang="en-US" altLang="zh-TW" sz="1400" dirty="0">
                <a:solidFill>
                  <a:prstClr val="black"/>
                </a:solidFill>
                <a:latin typeface="微軟正黑體" pitchFamily="34" charset="-120"/>
                <a:cs typeface="Arial" pitchFamily="34" charset="0"/>
              </a:rPr>
              <a:t>   </a:t>
            </a:r>
            <a:r>
              <a:rPr lang="zh-TW" altLang="en-US" sz="1400" dirty="0">
                <a:solidFill>
                  <a:prstClr val="black"/>
                </a:solidFill>
                <a:latin typeface="微軟正黑體" pitchFamily="34" charset="-120"/>
                <a:cs typeface="Arial" pitchFamily="34" charset="0"/>
              </a:rPr>
              <a:t>題因而備受關注</a:t>
            </a:r>
            <a:endParaRPr lang="en-US" altLang="zh-TW" sz="1400" dirty="0">
              <a:solidFill>
                <a:prstClr val="black"/>
              </a:solidFill>
              <a:latin typeface="微軟正黑體" pitchFamily="34" charset="-120"/>
              <a:cs typeface="Arial" pitchFamily="34" charset="0"/>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標題 1">
            <a:extLst>
              <a:ext uri="{FF2B5EF4-FFF2-40B4-BE49-F238E27FC236}">
                <a16:creationId xmlns:a16="http://schemas.microsoft.com/office/drawing/2014/main" id="{4E1DF683-B401-4F7E-849D-D304F311B3A0}"/>
              </a:ext>
            </a:extLst>
          </p:cNvPr>
          <p:cNvSpPr>
            <a:spLocks noGrp="1" noChangeArrowheads="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5114AA0-B9A3-47C1-905B-38D8F858814C}"/>
              </a:ext>
            </a:extLst>
          </p:cNvPr>
          <p:cNvSpPr>
            <a:spLocks noGrp="1"/>
          </p:cNvSpPr>
          <p:nvPr>
            <p:ph idx="1"/>
          </p:nvPr>
        </p:nvSpPr>
        <p:spPr/>
        <p:txBody>
          <a:bodyPr>
            <a:normAutofit lnSpcReduction="10000"/>
          </a:bodyPr>
          <a:lstStyle/>
          <a:p>
            <a:pPr>
              <a:defRPr/>
            </a:pPr>
            <a:endParaRPr lang="en-US" altLang="zh-TW" dirty="0"/>
          </a:p>
          <a:p>
            <a:pPr>
              <a:defRPr/>
            </a:pPr>
            <a:endParaRPr lang="en-US" altLang="zh-TW" dirty="0"/>
          </a:p>
          <a:p>
            <a:pPr>
              <a:defRPr/>
            </a:pPr>
            <a:endParaRPr lang="en-US" altLang="zh-TW" dirty="0"/>
          </a:p>
          <a:p>
            <a:pPr>
              <a:defRPr/>
            </a:pPr>
            <a:endParaRPr lang="en-US" altLang="zh-TW" dirty="0"/>
          </a:p>
          <a:p>
            <a:pPr marL="82550" indent="0">
              <a:buNone/>
              <a:defRPr/>
            </a:pPr>
            <a:endParaRPr lang="en-US" altLang="zh-TW" dirty="0"/>
          </a:p>
          <a:p>
            <a:pPr marL="82550" indent="0">
              <a:buNone/>
              <a:defRPr/>
            </a:pPr>
            <a:endParaRPr lang="en-US" altLang="zh-TW" dirty="0"/>
          </a:p>
          <a:p>
            <a:pPr marL="82550" indent="0">
              <a:buNone/>
              <a:defRPr/>
            </a:pPr>
            <a:endParaRPr lang="en-US" altLang="zh-TW" dirty="0"/>
          </a:p>
          <a:p>
            <a:pPr marL="82550" indent="0">
              <a:buNone/>
              <a:defRPr/>
            </a:pPr>
            <a:endParaRPr lang="en-US" altLang="zh-TW" dirty="0"/>
          </a:p>
          <a:p>
            <a:pPr marL="82550" indent="0">
              <a:buNone/>
              <a:defRPr/>
            </a:pPr>
            <a:endParaRPr lang="en-US" altLang="zh-TW" sz="1500" dirty="0"/>
          </a:p>
          <a:p>
            <a:pPr marL="82550" indent="0">
              <a:buNone/>
              <a:defRPr/>
            </a:pPr>
            <a:r>
              <a:rPr lang="zh-TW" altLang="en-US" sz="1500" dirty="0">
                <a:latin typeface="Times New Roman" pitchFamily="18" charset="0"/>
                <a:cs typeface="Times New Roman" pitchFamily="18" charset="0"/>
              </a:rPr>
              <a:t>強化社會安全網計畫</a:t>
            </a:r>
            <a:r>
              <a:rPr lang="en-US" altLang="zh-TW" sz="1500" b="1" dirty="0">
                <a:latin typeface="Times New Roman" pitchFamily="18" charset="0"/>
                <a:cs typeface="Times New Roman" pitchFamily="18" charset="0"/>
              </a:rPr>
              <a:t>(</a:t>
            </a:r>
            <a:r>
              <a:rPr lang="zh-TW" altLang="en-US" sz="1500" dirty="0">
                <a:latin typeface="Times New Roman" pitchFamily="18" charset="0"/>
                <a:cs typeface="Times New Roman" pitchFamily="18" charset="0"/>
              </a:rPr>
              <a:t>核定本</a:t>
            </a:r>
            <a:r>
              <a:rPr lang="en-US" altLang="zh-TW" sz="1500" b="1" dirty="0">
                <a:latin typeface="Times New Roman" pitchFamily="18" charset="0"/>
                <a:cs typeface="Times New Roman" pitchFamily="18" charset="0"/>
              </a:rPr>
              <a:t>) </a:t>
            </a:r>
            <a:r>
              <a:rPr lang="zh-TW" altLang="en-US" sz="1500" b="1" dirty="0">
                <a:latin typeface="Times New Roman" pitchFamily="18" charset="0"/>
                <a:cs typeface="Times New Roman" pitchFamily="18" charset="0"/>
              </a:rPr>
              <a:t>頁</a:t>
            </a:r>
            <a:r>
              <a:rPr lang="en-US" altLang="zh-TW" sz="1500" b="1" dirty="0">
                <a:latin typeface="Times New Roman" pitchFamily="18" charset="0"/>
                <a:cs typeface="Times New Roman" pitchFamily="18" charset="0"/>
              </a:rPr>
              <a:t>8</a:t>
            </a:r>
            <a:endParaRPr lang="zh-TW" altLang="en-US" sz="1500" dirty="0">
              <a:latin typeface="Times New Roman" pitchFamily="18" charset="0"/>
              <a:cs typeface="Times New Roman" pitchFamily="18" charset="0"/>
            </a:endParaRPr>
          </a:p>
        </p:txBody>
      </p:sp>
      <p:pic>
        <p:nvPicPr>
          <p:cNvPr id="15364" name="內容版面配置區 5">
            <a:extLst>
              <a:ext uri="{FF2B5EF4-FFF2-40B4-BE49-F238E27FC236}">
                <a16:creationId xmlns:a16="http://schemas.microsoft.com/office/drawing/2014/main" id="{54C89212-10DA-48F8-87E7-0E1625B5A6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1" y="188914"/>
            <a:ext cx="9466264" cy="576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標題 1">
            <a:extLst>
              <a:ext uri="{FF2B5EF4-FFF2-40B4-BE49-F238E27FC236}">
                <a16:creationId xmlns:a16="http://schemas.microsoft.com/office/drawing/2014/main" id="{1C5C5223-7D2A-40FA-82BF-8D4424FD5330}"/>
              </a:ext>
            </a:extLst>
          </p:cNvPr>
          <p:cNvSpPr>
            <a:spLocks noGrp="1" noChangeArrowheads="1"/>
          </p:cNvSpPr>
          <p:nvPr>
            <p:ph type="title"/>
          </p:nvPr>
        </p:nvSpPr>
        <p:spPr>
          <a:xfrm>
            <a:off x="3468689" y="623888"/>
            <a:ext cx="6683375" cy="1281112"/>
          </a:xfrm>
        </p:spPr>
        <p:txBody>
          <a:bodyPr/>
          <a:lstStyle/>
          <a:p>
            <a:endParaRPr lang="zh-TW" altLang="en-US"/>
          </a:p>
        </p:txBody>
      </p:sp>
      <p:pic>
        <p:nvPicPr>
          <p:cNvPr id="65539" name="內容版面配置區 4" descr="一張含有 螢幕擷取畫面 的圖片&#10;&#10;自動產生的描述">
            <a:extLst>
              <a:ext uri="{FF2B5EF4-FFF2-40B4-BE49-F238E27FC236}">
                <a16:creationId xmlns:a16="http://schemas.microsoft.com/office/drawing/2014/main" id="{363D9499-831F-44CB-943E-5A50C3868F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39938" y="114300"/>
            <a:ext cx="8520112" cy="6627813"/>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圖片 9" descr="簡報1.jpg">
            <a:extLst>
              <a:ext uri="{FF2B5EF4-FFF2-40B4-BE49-F238E27FC236}">
                <a16:creationId xmlns:a16="http://schemas.microsoft.com/office/drawing/2014/main" id="{2F33CCD7-8134-4B73-B16B-E65FA48216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3556"/>
          <a:stretch>
            <a:fillRect/>
          </a:stretch>
        </p:blipFill>
        <p:spPr bwMode="auto">
          <a:xfrm>
            <a:off x="5880101" y="2852738"/>
            <a:ext cx="4537075" cy="39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標題 1">
            <a:extLst>
              <a:ext uri="{FF2B5EF4-FFF2-40B4-BE49-F238E27FC236}">
                <a16:creationId xmlns:a16="http://schemas.microsoft.com/office/drawing/2014/main" id="{2B293CF9-AA88-499B-8E59-037ABA19DB9C}"/>
              </a:ext>
            </a:extLst>
          </p:cNvPr>
          <p:cNvSpPr>
            <a:spLocks noGrp="1" noChangeArrowheads="1"/>
          </p:cNvSpPr>
          <p:nvPr>
            <p:ph type="title"/>
          </p:nvPr>
        </p:nvSpPr>
        <p:spPr>
          <a:xfrm>
            <a:off x="3089275" y="0"/>
            <a:ext cx="7132638" cy="1143000"/>
          </a:xfrm>
        </p:spPr>
        <p:txBody>
          <a:bodyPr/>
          <a:lstStyle/>
          <a:p>
            <a:r>
              <a:rPr lang="zh-TW" altLang="en-US" sz="3600" b="1" dirty="0">
                <a:solidFill>
                  <a:srgbClr val="C00000"/>
                </a:solidFill>
                <a:latin typeface="微軟正黑體" panose="020B0604030504040204" pitchFamily="34" charset="-120"/>
                <a:cs typeface="Arial" panose="020B0604020202020204" pitchFamily="34" charset="0"/>
              </a:rPr>
              <a:t>計畫目標與策略</a:t>
            </a:r>
            <a:r>
              <a:rPr lang="en-US" altLang="zh-TW" sz="3200" b="1" dirty="0">
                <a:solidFill>
                  <a:srgbClr val="C00000"/>
                </a:solidFill>
                <a:latin typeface="微軟正黑體" panose="020B0604030504040204" pitchFamily="34" charset="-120"/>
                <a:cs typeface="Arial" panose="020B0604020202020204" pitchFamily="34" charset="0"/>
              </a:rPr>
              <a:t>(2/6)</a:t>
            </a:r>
            <a:endParaRPr lang="zh-TW" altLang="en-US" sz="3200" b="1" dirty="0">
              <a:solidFill>
                <a:srgbClr val="C00000"/>
              </a:solidFill>
              <a:latin typeface="微軟正黑體" panose="020B0604030504040204" pitchFamily="34" charset="-120"/>
              <a:cs typeface="Arial" panose="020B0604020202020204" pitchFamily="34" charset="0"/>
            </a:endParaRPr>
          </a:p>
        </p:txBody>
      </p:sp>
      <p:sp>
        <p:nvSpPr>
          <p:cNvPr id="66564" name="內容版面配置區 6">
            <a:extLst>
              <a:ext uri="{FF2B5EF4-FFF2-40B4-BE49-F238E27FC236}">
                <a16:creationId xmlns:a16="http://schemas.microsoft.com/office/drawing/2014/main" id="{DB8EBD6A-2C3A-4BE8-AA9C-46DDA04B5FB4}"/>
              </a:ext>
            </a:extLst>
          </p:cNvPr>
          <p:cNvSpPr>
            <a:spLocks noGrp="1" noChangeArrowheads="1"/>
          </p:cNvSpPr>
          <p:nvPr>
            <p:ph idx="1"/>
          </p:nvPr>
        </p:nvSpPr>
        <p:spPr>
          <a:xfrm>
            <a:off x="5951537" y="2060575"/>
            <a:ext cx="4860925" cy="4464050"/>
          </a:xfrm>
        </p:spPr>
        <p:txBody>
          <a:bodyPr>
            <a:normAutofit/>
          </a:bodyPr>
          <a:lstStyle/>
          <a:p>
            <a:pPr algn="ctr">
              <a:buFont typeface="Arial" panose="020B0604020202020204" pitchFamily="34" charset="0"/>
              <a:buNone/>
            </a:pPr>
            <a:r>
              <a:rPr lang="zh-TW" altLang="en-US" sz="1800" b="1" u="sng" dirty="0">
                <a:solidFill>
                  <a:srgbClr val="0000CC"/>
                </a:solidFill>
                <a:latin typeface="微軟正黑體" panose="020B0604030504040204" pitchFamily="34" charset="-120"/>
                <a:ea typeface="微軟正黑體" panose="020B0604030504040204" pitchFamily="34" charset="-120"/>
              </a:rPr>
              <a:t>二、連結社區資源支持家庭</a:t>
            </a:r>
            <a:endParaRPr lang="en-US" altLang="zh-TW" sz="1800" b="1" u="sng" dirty="0">
              <a:solidFill>
                <a:srgbClr val="0000CC"/>
              </a:solidFill>
              <a:latin typeface="微軟正黑體" panose="020B0604030504040204" pitchFamily="34" charset="-120"/>
              <a:ea typeface="微軟正黑體" panose="020B0604030504040204" pitchFamily="34" charset="-120"/>
            </a:endParaRPr>
          </a:p>
          <a:p>
            <a:pPr>
              <a:buFont typeface="Arial" panose="020B0604020202020204" pitchFamily="34" charset="0"/>
              <a:buNone/>
            </a:pPr>
            <a:r>
              <a:rPr lang="zh-TW" altLang="en-US" sz="1800" dirty="0">
                <a:solidFill>
                  <a:srgbClr val="0000CC"/>
                </a:solidFill>
                <a:latin typeface="微軟正黑體" panose="020B0604030504040204" pitchFamily="34" charset="-120"/>
                <a:ea typeface="微軟正黑體" panose="020B0604030504040204" pitchFamily="34" charset="-120"/>
              </a:rPr>
              <a:t>      社會福利服務中心為家庭築起安全防護網，促進</a:t>
            </a:r>
            <a:r>
              <a:rPr lang="zh-TW" altLang="en-US" sz="1800" dirty="0">
                <a:solidFill>
                  <a:srgbClr val="C00000"/>
                </a:solidFill>
                <a:latin typeface="微軟正黑體" panose="020B0604030504040204" pitchFamily="34" charset="-120"/>
                <a:ea typeface="微軟正黑體" panose="020B0604030504040204" pitchFamily="34" charset="-120"/>
              </a:rPr>
              <a:t>社區</a:t>
            </a:r>
            <a:r>
              <a:rPr lang="zh-TW" altLang="en-US" sz="1800" dirty="0">
                <a:solidFill>
                  <a:srgbClr val="0000CC"/>
                </a:solidFill>
                <a:latin typeface="微軟正黑體" panose="020B0604030504040204" pitchFamily="34" charset="-120"/>
                <a:ea typeface="微軟正黑體" panose="020B0604030504040204" pitchFamily="34" charset="-120"/>
              </a:rPr>
              <a:t>成為支持家庭的推手</a:t>
            </a:r>
            <a:endParaRPr lang="zh-TW" altLang="en-US" sz="1800" dirty="0">
              <a:solidFill>
                <a:srgbClr val="0000FF"/>
              </a:solidFill>
              <a:latin typeface="微軟正黑體" panose="020B0604030504040204" pitchFamily="34" charset="-120"/>
              <a:ea typeface="微軟正黑體" panose="020B0604030504040204" pitchFamily="34" charset="-120"/>
            </a:endParaRPr>
          </a:p>
        </p:txBody>
      </p:sp>
      <p:sp>
        <p:nvSpPr>
          <p:cNvPr id="66565" name="投影片編號版面配置區 3">
            <a:extLst>
              <a:ext uri="{FF2B5EF4-FFF2-40B4-BE49-F238E27FC236}">
                <a16:creationId xmlns:a16="http://schemas.microsoft.com/office/drawing/2014/main" id="{CA8EF2D5-645B-4F93-A5D5-DE04F2A2807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750"/>
              </a:spcBef>
              <a:buClr>
                <a:schemeClr val="accent1"/>
              </a:buClr>
              <a:buFont typeface="Wingdings 3" panose="05040102010807070707" pitchFamily="18" charset="2"/>
              <a:buChar char=""/>
              <a:defRPr>
                <a:solidFill>
                  <a:srgbClr val="404040"/>
                </a:solidFill>
                <a:latin typeface="Century Gothic" panose="020B0502020202020204" pitchFamily="34" charset="0"/>
                <a:ea typeface="微軟正黑體" panose="020B0604030504040204" pitchFamily="34" charset="-120"/>
              </a:defRPr>
            </a:lvl1pPr>
            <a:lvl2pPr marL="742950" indent="-285750">
              <a:spcBef>
                <a:spcPts val="75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微軟正黑體" panose="020B0604030504040204" pitchFamily="34" charset="-120"/>
              </a:defRPr>
            </a:lvl2pPr>
            <a:lvl3pPr marL="1143000" indent="-228600">
              <a:spcBef>
                <a:spcPts val="750"/>
              </a:spcBef>
              <a:buClr>
                <a:schemeClr val="accent1"/>
              </a:buClr>
              <a:buFont typeface="Wingdings 3" panose="05040102010807070707" pitchFamily="18" charset="2"/>
              <a:buChar char=""/>
              <a:defRPr sz="1000">
                <a:solidFill>
                  <a:srgbClr val="404040"/>
                </a:solidFill>
                <a:latin typeface="Century Gothic" panose="020B0502020202020204" pitchFamily="34" charset="0"/>
                <a:ea typeface="微軟正黑體" panose="020B0604030504040204" pitchFamily="34" charset="-120"/>
              </a:defRPr>
            </a:lvl3pPr>
            <a:lvl4pPr marL="1600200" indent="-228600">
              <a:spcBef>
                <a:spcPts val="750"/>
              </a:spcBef>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4pPr>
            <a:lvl5pPr marL="2057400" indent="-228600">
              <a:spcBef>
                <a:spcPts val="750"/>
              </a:spcBef>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5pPr>
            <a:lvl6pPr marL="25146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6pPr>
            <a:lvl7pPr marL="29718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7pPr>
            <a:lvl8pPr marL="34290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8pPr>
            <a:lvl9pPr marL="38862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9pPr>
          </a:lstStyle>
          <a:p>
            <a:pPr eaLnBrk="1" fontAlgn="base" hangingPunct="1">
              <a:spcBef>
                <a:spcPct val="0"/>
              </a:spcBef>
              <a:spcAft>
                <a:spcPct val="0"/>
              </a:spcAft>
              <a:buClrTx/>
              <a:buFontTx/>
              <a:buNone/>
            </a:pPr>
            <a:fld id="{18B4AEA3-95DD-4842-AC2D-6974E717D892}" type="slidenum">
              <a:rPr lang="zh-TW" altLang="en-US" sz="1400">
                <a:solidFill>
                  <a:srgbClr val="000000"/>
                </a:solidFill>
                <a:latin typeface="新細明體" panose="02020500000000000000" pitchFamily="18" charset="-120"/>
                <a:ea typeface="新細明體" panose="02020500000000000000" pitchFamily="18" charset="-120"/>
              </a:rPr>
              <a:pPr eaLnBrk="1" fontAlgn="base" hangingPunct="1">
                <a:spcBef>
                  <a:spcPct val="0"/>
                </a:spcBef>
                <a:spcAft>
                  <a:spcPct val="0"/>
                </a:spcAft>
                <a:buClrTx/>
                <a:buFontTx/>
                <a:buNone/>
              </a:pPr>
              <a:t>13</a:t>
            </a:fld>
            <a:endParaRPr lang="zh-TW" altLang="en-US" sz="1400">
              <a:solidFill>
                <a:srgbClr val="000000"/>
              </a:solidFill>
              <a:latin typeface="新細明體" panose="02020500000000000000" pitchFamily="18" charset="-120"/>
              <a:ea typeface="新細明體" panose="02020500000000000000" pitchFamily="18" charset="-120"/>
            </a:endParaRPr>
          </a:p>
        </p:txBody>
      </p:sp>
      <p:sp>
        <p:nvSpPr>
          <p:cNvPr id="66566" name="內容版面配置區 5">
            <a:extLst>
              <a:ext uri="{FF2B5EF4-FFF2-40B4-BE49-F238E27FC236}">
                <a16:creationId xmlns:a16="http://schemas.microsoft.com/office/drawing/2014/main" id="{52A42DA1-094B-4549-9E54-38E05A95837B}"/>
              </a:ext>
            </a:extLst>
          </p:cNvPr>
          <p:cNvSpPr>
            <a:spLocks noGrp="1" noChangeArrowheads="1"/>
          </p:cNvSpPr>
          <p:nvPr>
            <p:ph idx="4294967295"/>
          </p:nvPr>
        </p:nvSpPr>
        <p:spPr>
          <a:xfrm>
            <a:off x="0" y="2060575"/>
            <a:ext cx="4789488" cy="4537075"/>
          </a:xfrm>
        </p:spPr>
        <p:txBody>
          <a:bodyPr/>
          <a:lstStyle/>
          <a:p>
            <a:pPr marL="457200" indent="-457200" algn="ctr">
              <a:spcBef>
                <a:spcPts val="25"/>
              </a:spcBef>
              <a:buNone/>
            </a:pPr>
            <a:r>
              <a:rPr lang="zh-TW" altLang="en-US" sz="1800" b="1" u="sng" dirty="0">
                <a:solidFill>
                  <a:srgbClr val="0000CC"/>
                </a:solidFill>
                <a:latin typeface="微軟正黑體" panose="020B0604030504040204" pitchFamily="34" charset="-120"/>
              </a:rPr>
              <a:t>一、介入焦點從個人到家庭</a:t>
            </a:r>
            <a:endParaRPr lang="en-US" altLang="zh-TW" sz="1800" b="1" u="sng" dirty="0">
              <a:solidFill>
                <a:srgbClr val="0000CC"/>
              </a:solidFill>
              <a:latin typeface="微軟正黑體" panose="020B0604030504040204" pitchFamily="34" charset="-120"/>
            </a:endParaRPr>
          </a:p>
          <a:p>
            <a:pPr marL="457200" indent="-457200" algn="dist">
              <a:spcBef>
                <a:spcPts val="25"/>
              </a:spcBef>
              <a:buNone/>
            </a:pPr>
            <a:r>
              <a:rPr lang="zh-TW" altLang="en-US" sz="1800" dirty="0">
                <a:solidFill>
                  <a:srgbClr val="0000CC"/>
                </a:solidFill>
                <a:latin typeface="微軟正黑體" panose="020B0604030504040204" pitchFamily="34" charset="-120"/>
              </a:rPr>
              <a:t>        兒虐案件合併高風險、家暴、自殺、精神照護等多重議題，應建立以家庭為中心之服務模式</a:t>
            </a:r>
            <a:endParaRPr lang="en-US" altLang="zh-TW" sz="1800" dirty="0">
              <a:solidFill>
                <a:srgbClr val="0000CC"/>
              </a:solidFill>
              <a:latin typeface="微軟正黑體" panose="020B0604030504040204" pitchFamily="34" charset="-120"/>
            </a:endParaRPr>
          </a:p>
        </p:txBody>
      </p:sp>
      <p:graphicFrame>
        <p:nvGraphicFramePr>
          <p:cNvPr id="11" name="資料庫圖表 10">
            <a:extLst>
              <a:ext uri="{FF2B5EF4-FFF2-40B4-BE49-F238E27FC236}">
                <a16:creationId xmlns:a16="http://schemas.microsoft.com/office/drawing/2014/main" id="{C921B79D-5420-44ED-BDAD-34051C006330}"/>
              </a:ext>
            </a:extLst>
          </p:cNvPr>
          <p:cNvGraphicFramePr/>
          <p:nvPr/>
        </p:nvGraphicFramePr>
        <p:xfrm>
          <a:off x="1991544" y="965200"/>
          <a:ext cx="8496944" cy="89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4" name="文字方塊 13">
            <a:extLst>
              <a:ext uri="{FF2B5EF4-FFF2-40B4-BE49-F238E27FC236}">
                <a16:creationId xmlns:a16="http://schemas.microsoft.com/office/drawing/2014/main" id="{49ECCCCE-15D9-4B99-860C-9C990901FD04}"/>
              </a:ext>
            </a:extLst>
          </p:cNvPr>
          <p:cNvSpPr txBox="1"/>
          <p:nvPr/>
        </p:nvSpPr>
        <p:spPr>
          <a:xfrm>
            <a:off x="1270894" y="3257353"/>
            <a:ext cx="4091682" cy="1815882"/>
          </a:xfrm>
          <a:prstGeom prst="rect">
            <a:avLst/>
          </a:prstGeom>
          <a:effectLst>
            <a:glow rad="635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a:spAutoFit/>
          </a:bodyPr>
          <a:lstStyle/>
          <a:p>
            <a:pPr marL="180975" indent="-180975">
              <a:defRPr/>
            </a:pPr>
            <a:r>
              <a:rPr lang="zh-TW" altLang="en-US" sz="1600" dirty="0">
                <a:solidFill>
                  <a:prstClr val="white"/>
                </a:solidFill>
                <a:latin typeface="微軟正黑體" panose="020B0604030504040204" pitchFamily="34" charset="-120"/>
              </a:rPr>
              <a:t>兒虐致死或殺子自殺案件，經檢視：</a:t>
            </a:r>
            <a:endParaRPr lang="en-US" altLang="zh-TW" sz="1600" dirty="0">
              <a:solidFill>
                <a:prstClr val="white"/>
              </a:solidFill>
              <a:latin typeface="微軟正黑體" panose="020B0604030504040204" pitchFamily="34" charset="-120"/>
            </a:endParaRPr>
          </a:p>
          <a:p>
            <a:pPr marL="180975" indent="-180975">
              <a:defRPr/>
            </a:pPr>
            <a:r>
              <a:rPr lang="en-US" altLang="zh-TW" sz="1600" dirty="0">
                <a:solidFill>
                  <a:prstClr val="white"/>
                </a:solidFill>
                <a:latin typeface="微軟正黑體" panose="020B0604030504040204" pitchFamily="34" charset="-120"/>
              </a:rPr>
              <a:t>(</a:t>
            </a:r>
            <a:r>
              <a:rPr lang="zh-TW" altLang="en-US" sz="1600" dirty="0">
                <a:solidFill>
                  <a:prstClr val="white"/>
                </a:solidFill>
                <a:latin typeface="微軟正黑體" panose="020B0604030504040204" pitchFamily="34" charset="-120"/>
              </a:rPr>
              <a:t>一</a:t>
            </a:r>
            <a:r>
              <a:rPr lang="en-US" altLang="zh-TW" sz="1600" dirty="0">
                <a:solidFill>
                  <a:prstClr val="white"/>
                </a:solidFill>
                <a:latin typeface="微軟正黑體" panose="020B0604030504040204" pitchFamily="34" charset="-120"/>
              </a:rPr>
              <a:t>)6</a:t>
            </a:r>
            <a:r>
              <a:rPr lang="zh-TW" altLang="en-US" sz="1600" dirty="0">
                <a:solidFill>
                  <a:prstClr val="white"/>
                </a:solidFill>
                <a:latin typeface="微軟正黑體" panose="020B0604030504040204" pitchFamily="34" charset="-120"/>
              </a:rPr>
              <a:t>成</a:t>
            </a:r>
            <a:r>
              <a:rPr lang="en-US" altLang="zh-TW" sz="1600" dirty="0">
                <a:solidFill>
                  <a:prstClr val="white"/>
                </a:solidFill>
                <a:latin typeface="微軟正黑體" panose="020B0604030504040204" pitchFamily="34" charset="-120"/>
              </a:rPr>
              <a:t>5</a:t>
            </a:r>
            <a:r>
              <a:rPr lang="zh-TW" altLang="en-US" sz="1600" dirty="0">
                <a:solidFill>
                  <a:prstClr val="white"/>
                </a:solidFill>
                <a:latin typeface="微軟正黑體" panose="020B0604030504040204" pitchFamily="34" charset="-120"/>
              </a:rPr>
              <a:t>案件前無相關通報紀錄</a:t>
            </a:r>
            <a:endParaRPr lang="en-US" altLang="zh-TW" sz="1600" dirty="0">
              <a:solidFill>
                <a:prstClr val="white"/>
              </a:solidFill>
              <a:latin typeface="微軟正黑體" panose="020B0604030504040204" pitchFamily="34" charset="-120"/>
            </a:endParaRPr>
          </a:p>
          <a:p>
            <a:pPr marL="180975" indent="-180975">
              <a:defRPr/>
            </a:pPr>
            <a:r>
              <a:rPr lang="en-US" altLang="zh-TW" sz="1600" dirty="0">
                <a:solidFill>
                  <a:prstClr val="white"/>
                </a:solidFill>
                <a:latin typeface="微軟正黑體" panose="020B0604030504040204" pitchFamily="34" charset="-120"/>
              </a:rPr>
              <a:t>(</a:t>
            </a:r>
            <a:r>
              <a:rPr lang="zh-TW" altLang="en-US" sz="1600" dirty="0">
                <a:solidFill>
                  <a:prstClr val="white"/>
                </a:solidFill>
                <a:latin typeface="微軟正黑體" panose="020B0604030504040204" pitchFamily="34" charset="-120"/>
              </a:rPr>
              <a:t>二</a:t>
            </a:r>
            <a:r>
              <a:rPr lang="en-US" altLang="zh-TW" sz="1600" dirty="0">
                <a:solidFill>
                  <a:prstClr val="white"/>
                </a:solidFill>
                <a:latin typeface="微軟正黑體" panose="020B0604030504040204" pitchFamily="34" charset="-120"/>
              </a:rPr>
              <a:t>)3</a:t>
            </a:r>
            <a:r>
              <a:rPr lang="zh-TW" altLang="en-US" sz="1600" dirty="0">
                <a:solidFill>
                  <a:prstClr val="white"/>
                </a:solidFill>
                <a:latin typeface="微軟正黑體" panose="020B0604030504040204" pitchFamily="34" charset="-120"/>
              </a:rPr>
              <a:t>成</a:t>
            </a:r>
            <a:r>
              <a:rPr lang="en-US" altLang="zh-TW" sz="1600" dirty="0">
                <a:solidFill>
                  <a:prstClr val="white"/>
                </a:solidFill>
                <a:latin typeface="微軟正黑體" panose="020B0604030504040204" pitchFamily="34" charset="-120"/>
              </a:rPr>
              <a:t>5</a:t>
            </a:r>
            <a:r>
              <a:rPr lang="zh-TW" altLang="en-US" sz="1600" dirty="0">
                <a:solidFill>
                  <a:prstClr val="white"/>
                </a:solidFill>
                <a:latin typeface="微軟正黑體" panose="020B0604030504040204" pitchFamily="34" charset="-120"/>
              </a:rPr>
              <a:t>案件併有網絡通報紀錄，包含：</a:t>
            </a:r>
            <a:endParaRPr lang="en-US" altLang="zh-TW" sz="1600" dirty="0">
              <a:solidFill>
                <a:prstClr val="white"/>
              </a:solidFill>
              <a:latin typeface="微軟正黑體" panose="020B0604030504040204" pitchFamily="34" charset="-120"/>
            </a:endParaRPr>
          </a:p>
          <a:p>
            <a:pPr>
              <a:defRPr/>
            </a:pPr>
            <a:r>
              <a:rPr lang="zh-TW" altLang="en-US" sz="1600" dirty="0">
                <a:solidFill>
                  <a:prstClr val="white"/>
                </a:solidFill>
                <a:latin typeface="微軟正黑體" panose="020B0604030504040204" pitchFamily="34" charset="-120"/>
                <a:cs typeface="Arial" pitchFamily="34" charset="0"/>
              </a:rPr>
              <a:t>    </a:t>
            </a:r>
            <a:r>
              <a:rPr lang="en-US" altLang="zh-TW" sz="1600" dirty="0">
                <a:solidFill>
                  <a:prstClr val="white"/>
                </a:solidFill>
                <a:latin typeface="微軟正黑體" panose="020B0604030504040204" pitchFamily="34" charset="-120"/>
                <a:cs typeface="Arial" pitchFamily="34" charset="0"/>
              </a:rPr>
              <a:t>1.</a:t>
            </a:r>
            <a:r>
              <a:rPr lang="zh-TW" altLang="en-US" sz="1600" dirty="0">
                <a:solidFill>
                  <a:prstClr val="white"/>
                </a:solidFill>
                <a:latin typeface="微軟正黑體" panose="020B0604030504040204" pitchFamily="34" charset="-120"/>
                <a:cs typeface="Arial" pitchFamily="34" charset="0"/>
              </a:rPr>
              <a:t>高風險家庭通報紀錄</a:t>
            </a:r>
          </a:p>
          <a:p>
            <a:pPr>
              <a:defRPr/>
            </a:pPr>
            <a:r>
              <a:rPr lang="zh-TW" altLang="en-US" sz="1600" dirty="0">
                <a:solidFill>
                  <a:prstClr val="white"/>
                </a:solidFill>
                <a:latin typeface="微軟正黑體" panose="020B0604030504040204" pitchFamily="34" charset="-120"/>
                <a:cs typeface="Arial" pitchFamily="34" charset="0"/>
              </a:rPr>
              <a:t>    </a:t>
            </a:r>
            <a:r>
              <a:rPr lang="en-US" altLang="zh-TW" sz="1600" dirty="0">
                <a:solidFill>
                  <a:prstClr val="white"/>
                </a:solidFill>
                <a:latin typeface="微軟正黑體" panose="020B0604030504040204" pitchFamily="34" charset="-120"/>
                <a:cs typeface="Arial" pitchFamily="34" charset="0"/>
              </a:rPr>
              <a:t>2.</a:t>
            </a:r>
            <a:r>
              <a:rPr lang="zh-TW" altLang="en-US" sz="1600" dirty="0">
                <a:solidFill>
                  <a:prstClr val="white"/>
                </a:solidFill>
                <a:latin typeface="微軟正黑體" panose="020B0604030504040204" pitchFamily="34" charset="-120"/>
                <a:cs typeface="Arial" pitchFamily="34" charset="0"/>
              </a:rPr>
              <a:t>家庭暴力通報紀錄</a:t>
            </a:r>
          </a:p>
          <a:p>
            <a:pPr>
              <a:defRPr/>
            </a:pPr>
            <a:r>
              <a:rPr lang="zh-TW" altLang="en-US" sz="1600" dirty="0">
                <a:solidFill>
                  <a:prstClr val="white"/>
                </a:solidFill>
                <a:latin typeface="微軟正黑體" panose="020B0604030504040204" pitchFamily="34" charset="-120"/>
                <a:cs typeface="Arial" pitchFamily="34" charset="0"/>
              </a:rPr>
              <a:t>    </a:t>
            </a:r>
            <a:r>
              <a:rPr lang="en-US" altLang="zh-TW" sz="1600" dirty="0">
                <a:solidFill>
                  <a:prstClr val="white"/>
                </a:solidFill>
                <a:latin typeface="微軟正黑體" panose="020B0604030504040204" pitchFamily="34" charset="-120"/>
                <a:cs typeface="Arial" pitchFamily="34" charset="0"/>
              </a:rPr>
              <a:t>3.</a:t>
            </a:r>
            <a:r>
              <a:rPr lang="zh-TW" altLang="en-US" sz="1600" dirty="0">
                <a:solidFill>
                  <a:prstClr val="white"/>
                </a:solidFill>
                <a:latin typeface="微軟正黑體" panose="020B0604030504040204" pitchFamily="34" charset="-120"/>
                <a:cs typeface="Arial" pitchFamily="34" charset="0"/>
              </a:rPr>
              <a:t>精神照護列管紀錄</a:t>
            </a:r>
          </a:p>
          <a:p>
            <a:pPr>
              <a:defRPr/>
            </a:pPr>
            <a:r>
              <a:rPr lang="zh-TW" altLang="en-US" sz="1600" dirty="0">
                <a:solidFill>
                  <a:prstClr val="white"/>
                </a:solidFill>
                <a:latin typeface="微軟正黑體" panose="020B0604030504040204" pitchFamily="34" charset="-120"/>
                <a:cs typeface="Arial" pitchFamily="34" charset="0"/>
              </a:rPr>
              <a:t>    </a:t>
            </a:r>
            <a:r>
              <a:rPr lang="en-US" altLang="zh-TW" sz="1600" dirty="0">
                <a:solidFill>
                  <a:prstClr val="white"/>
                </a:solidFill>
                <a:latin typeface="微軟正黑體" panose="020B0604030504040204" pitchFamily="34" charset="-120"/>
                <a:cs typeface="Arial" pitchFamily="34" charset="0"/>
              </a:rPr>
              <a:t>4.</a:t>
            </a:r>
            <a:r>
              <a:rPr lang="zh-TW" altLang="en-US" sz="1600" dirty="0">
                <a:solidFill>
                  <a:prstClr val="white"/>
                </a:solidFill>
                <a:latin typeface="微軟正黑體" panose="020B0604030504040204" pitchFamily="34" charset="-120"/>
                <a:cs typeface="Arial" pitchFamily="34" charset="0"/>
              </a:rPr>
              <a:t>自殺防治通報紀錄</a:t>
            </a:r>
            <a:endParaRPr lang="en-US" altLang="zh-TW" sz="1600" dirty="0">
              <a:solidFill>
                <a:prstClr val="white"/>
              </a:solidFill>
              <a:latin typeface="微軟正黑體" panose="020B0604030504040204" pitchFamily="34" charset="-120"/>
              <a:cs typeface="Arial" pitchFamily="34" charset="0"/>
            </a:endParaRPr>
          </a:p>
        </p:txBody>
      </p:sp>
      <p:sp>
        <p:nvSpPr>
          <p:cNvPr id="9" name="向下箭號 8">
            <a:extLst>
              <a:ext uri="{FF2B5EF4-FFF2-40B4-BE49-F238E27FC236}">
                <a16:creationId xmlns:a16="http://schemas.microsoft.com/office/drawing/2014/main" id="{BEF1E840-1946-404A-B545-E1CEE5EFE7C4}"/>
              </a:ext>
            </a:extLst>
          </p:cNvPr>
          <p:cNvSpPr/>
          <p:nvPr/>
        </p:nvSpPr>
        <p:spPr>
          <a:xfrm>
            <a:off x="2991643" y="5312265"/>
            <a:ext cx="376237" cy="404812"/>
          </a:xfrm>
          <a:prstGeom prst="downArrow">
            <a:avLst/>
          </a:prstGeom>
          <a:noFill/>
          <a:ln>
            <a:solidFill>
              <a:schemeClr val="accent6">
                <a:lumMod val="75000"/>
              </a:schemeClr>
            </a:solidFill>
          </a:ln>
        </p:spPr>
        <p:style>
          <a:lnRef idx="2">
            <a:schemeClr val="accent5"/>
          </a:lnRef>
          <a:fillRef idx="1">
            <a:schemeClr val="lt1"/>
          </a:fillRef>
          <a:effectRef idx="0">
            <a:schemeClr val="accent5"/>
          </a:effectRef>
          <a:fontRef idx="minor">
            <a:schemeClr val="dk1"/>
          </a:fontRef>
        </p:style>
        <p:txBody>
          <a:bodyPr anchor="ctr">
            <a:spAutoFit/>
          </a:bodyPr>
          <a:lstStyle/>
          <a:p>
            <a:pPr algn="r">
              <a:defRPr/>
            </a:pPr>
            <a:endParaRPr lang="zh-TW" altLang="en-US" sz="1400" b="1" dirty="0">
              <a:solidFill>
                <a:srgbClr val="40E0D0"/>
              </a:solidFill>
              <a:latin typeface="微軟正黑體" pitchFamily="34" charset="-120"/>
            </a:endParaRPr>
          </a:p>
        </p:txBody>
      </p:sp>
      <p:sp>
        <p:nvSpPr>
          <p:cNvPr id="15" name="矩形 14">
            <a:extLst>
              <a:ext uri="{FF2B5EF4-FFF2-40B4-BE49-F238E27FC236}">
                <a16:creationId xmlns:a16="http://schemas.microsoft.com/office/drawing/2014/main" id="{F200BFCD-38D2-40BC-9E4C-F7E746A0125F}"/>
              </a:ext>
            </a:extLst>
          </p:cNvPr>
          <p:cNvSpPr/>
          <p:nvPr/>
        </p:nvSpPr>
        <p:spPr>
          <a:xfrm>
            <a:off x="1270894" y="5946165"/>
            <a:ext cx="4467916" cy="584775"/>
          </a:xfrm>
          <a:prstGeom prst="rect">
            <a:avLst/>
          </a:prstGeom>
          <a:solidFill>
            <a:schemeClr val="accent6">
              <a:lumMod val="75000"/>
            </a:schemeClr>
          </a:solidFill>
          <a:ln>
            <a:solidFill>
              <a:schemeClr val="accent6">
                <a:lumMod val="75000"/>
              </a:schemeClr>
            </a:solidFill>
          </a:ln>
          <a:effectLst>
            <a:glow rad="101600">
              <a:schemeClr val="accent6">
                <a:satMod val="175000"/>
                <a:alpha val="40000"/>
              </a:schemeClr>
            </a:glow>
          </a:effectLst>
        </p:spPr>
        <p:style>
          <a:lnRef idx="2">
            <a:schemeClr val="accent5"/>
          </a:lnRef>
          <a:fillRef idx="1">
            <a:schemeClr val="lt1"/>
          </a:fillRef>
          <a:effectRef idx="0">
            <a:schemeClr val="accent5"/>
          </a:effectRef>
          <a:fontRef idx="minor">
            <a:schemeClr val="dk1"/>
          </a:fontRef>
        </p:style>
        <p:txBody>
          <a:bodyPr wrap="square" anchor="ctr">
            <a:spAutoFit/>
          </a:bodyPr>
          <a:lstStyle/>
          <a:p>
            <a:pPr>
              <a:defRPr/>
            </a:pPr>
            <a:r>
              <a:rPr lang="en-US" altLang="zh-TW" sz="1600" dirty="0">
                <a:solidFill>
                  <a:prstClr val="white"/>
                </a:solidFill>
                <a:latin typeface="微軟正黑體" pitchFamily="34" charset="-120"/>
              </a:rPr>
              <a:t>1.</a:t>
            </a:r>
            <a:r>
              <a:rPr lang="zh-TW" altLang="en-US" sz="1600" dirty="0">
                <a:solidFill>
                  <a:prstClr val="white"/>
                </a:solidFill>
                <a:latin typeface="微軟正黑體" pitchFamily="34" charset="-120"/>
              </a:rPr>
              <a:t>及早辨識脆弱或危機家庭之必要性</a:t>
            </a:r>
            <a:endParaRPr lang="en-US" altLang="zh-TW" sz="1600" dirty="0">
              <a:solidFill>
                <a:prstClr val="white"/>
              </a:solidFill>
              <a:latin typeface="微軟正黑體" pitchFamily="34" charset="-120"/>
            </a:endParaRPr>
          </a:p>
          <a:p>
            <a:pPr>
              <a:defRPr/>
            </a:pPr>
            <a:r>
              <a:rPr lang="en-US" altLang="zh-TW" sz="1600" dirty="0">
                <a:solidFill>
                  <a:prstClr val="white"/>
                </a:solidFill>
                <a:latin typeface="微軟正黑體" pitchFamily="34" charset="-120"/>
              </a:rPr>
              <a:t>2.</a:t>
            </a:r>
            <a:r>
              <a:rPr lang="zh-TW" altLang="en-US" sz="1600" dirty="0">
                <a:solidFill>
                  <a:prstClr val="white"/>
                </a:solidFill>
                <a:latin typeface="微軟正黑體" pitchFamily="34" charset="-120"/>
              </a:rPr>
              <a:t>多重議題家庭之整合服務待強化</a:t>
            </a:r>
          </a:p>
        </p:txBody>
      </p:sp>
      <p:sp>
        <p:nvSpPr>
          <p:cNvPr id="3" name="橢圓 2">
            <a:extLst>
              <a:ext uri="{FF2B5EF4-FFF2-40B4-BE49-F238E27FC236}">
                <a16:creationId xmlns:a16="http://schemas.microsoft.com/office/drawing/2014/main" id="{4ED9813B-6B98-467E-93FB-FEBF93BFFEE1}"/>
              </a:ext>
            </a:extLst>
          </p:cNvPr>
          <p:cNvSpPr/>
          <p:nvPr/>
        </p:nvSpPr>
        <p:spPr>
          <a:xfrm>
            <a:off x="3181350" y="5619084"/>
            <a:ext cx="1474788" cy="302955"/>
          </a:xfrm>
          <a:prstGeom prst="ellipse">
            <a:avLst/>
          </a:prstGeom>
          <a:noFill/>
          <a:ln>
            <a:noFill/>
          </a:ln>
        </p:spPr>
        <p:style>
          <a:lnRef idx="2">
            <a:schemeClr val="accent5"/>
          </a:lnRef>
          <a:fillRef idx="1">
            <a:schemeClr val="lt1"/>
          </a:fillRef>
          <a:effectRef idx="0">
            <a:schemeClr val="accent5"/>
          </a:effectRef>
          <a:fontRef idx="minor">
            <a:schemeClr val="dk1"/>
          </a:fontRef>
        </p:style>
        <p:txBody>
          <a:bodyPr wrap="square" lIns="0" tIns="0" rIns="0" bIns="0" anchor="ctr">
            <a:spAutoFit/>
          </a:bodyPr>
          <a:lstStyle/>
          <a:p>
            <a:pPr algn="ctr">
              <a:defRPr/>
            </a:pPr>
            <a:r>
              <a:rPr lang="zh-TW" altLang="en-US" sz="1400" b="1" dirty="0">
                <a:solidFill>
                  <a:srgbClr val="4F81BD">
                    <a:lumMod val="50000"/>
                  </a:srgbClr>
                </a:solidFill>
                <a:latin typeface="微軟正黑體" pitchFamily="34" charset="-120"/>
              </a:rPr>
              <a:t>凸顯</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2" name="標題 1">
            <a:extLst>
              <a:ext uri="{FF2B5EF4-FFF2-40B4-BE49-F238E27FC236}">
                <a16:creationId xmlns:a16="http://schemas.microsoft.com/office/drawing/2014/main" id="{687DE00A-02BA-49A1-B88C-B20E1CD866A1}"/>
              </a:ext>
            </a:extLst>
          </p:cNvPr>
          <p:cNvSpPr>
            <a:spLocks noGrp="1" noChangeArrowheads="1"/>
          </p:cNvSpPr>
          <p:nvPr>
            <p:ph type="title"/>
          </p:nvPr>
        </p:nvSpPr>
        <p:spPr>
          <a:xfrm>
            <a:off x="838200" y="557188"/>
            <a:ext cx="10515600" cy="1133499"/>
          </a:xfrm>
        </p:spPr>
        <p:txBody>
          <a:bodyPr>
            <a:normAutofit/>
          </a:bodyPr>
          <a:lstStyle/>
          <a:p>
            <a:pPr algn="ctr"/>
            <a:r>
              <a:rPr lang="zh-TW" altLang="en-US" sz="4000" dirty="0">
                <a:solidFill>
                  <a:srgbClr val="C00000"/>
                </a:solidFill>
                <a:latin typeface="微軟正黑體" panose="020B0604030504040204" pitchFamily="34" charset="-120"/>
                <a:ea typeface="微軟正黑體" panose="020B0604030504040204" pitchFamily="34" charset="-120"/>
              </a:rPr>
              <a:t>強化社會安全網的服務核心理念</a:t>
            </a:r>
          </a:p>
        </p:txBody>
      </p:sp>
      <p:graphicFrame>
        <p:nvGraphicFramePr>
          <p:cNvPr id="4" name="內容版面配置區 3">
            <a:extLst>
              <a:ext uri="{FF2B5EF4-FFF2-40B4-BE49-F238E27FC236}">
                <a16:creationId xmlns:a16="http://schemas.microsoft.com/office/drawing/2014/main" id="{D542CBD6-E5BC-4CD8-816C-5A9B6A0D5BB5}"/>
              </a:ext>
            </a:extLst>
          </p:cNvPr>
          <p:cNvGraphicFramePr>
            <a:graphicFrameLocks noGrp="1"/>
          </p:cNvGraphicFramePr>
          <p:nvPr>
            <p:ph idx="1"/>
            <p:extLst>
              <p:ext uri="{D42A27DB-BD31-4B8C-83A1-F6EECF244321}">
                <p14:modId xmlns:p14="http://schemas.microsoft.com/office/powerpoint/2010/main" val="42417647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標題 1">
            <a:extLst>
              <a:ext uri="{FF2B5EF4-FFF2-40B4-BE49-F238E27FC236}">
                <a16:creationId xmlns:a16="http://schemas.microsoft.com/office/drawing/2014/main" id="{CBC4B2CD-1CBA-43FD-9E10-3ADD0B3D8E99}"/>
              </a:ext>
            </a:extLst>
          </p:cNvPr>
          <p:cNvSpPr>
            <a:spLocks noGrp="1" noChangeArrowheads="1"/>
          </p:cNvSpPr>
          <p:nvPr>
            <p:ph type="title"/>
          </p:nvPr>
        </p:nvSpPr>
        <p:spPr>
          <a:xfrm>
            <a:off x="3468689" y="623888"/>
            <a:ext cx="6683375" cy="1281112"/>
          </a:xfrm>
        </p:spPr>
        <p:txBody>
          <a:bodyPr/>
          <a:lstStyle/>
          <a:p>
            <a:endParaRPr lang="zh-TW" altLang="en-US"/>
          </a:p>
        </p:txBody>
      </p:sp>
      <p:pic>
        <p:nvPicPr>
          <p:cNvPr id="70659" name="內容版面配置區 4" descr="一張含有 螢幕擷取畫面 的圖片&#10;&#10;自動產生的描述">
            <a:extLst>
              <a:ext uri="{FF2B5EF4-FFF2-40B4-BE49-F238E27FC236}">
                <a16:creationId xmlns:a16="http://schemas.microsoft.com/office/drawing/2014/main" id="{36DEE80E-7648-4CDD-ADF7-3BECC0FEE9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03388" y="1"/>
            <a:ext cx="8856662" cy="6524625"/>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圖片 76" descr="家.jpg">
            <a:extLst>
              <a:ext uri="{FF2B5EF4-FFF2-40B4-BE49-F238E27FC236}">
                <a16:creationId xmlns:a16="http://schemas.microsoft.com/office/drawing/2014/main" id="{FA699E12-5429-46AE-991C-14B445A49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4276" y="3860801"/>
            <a:ext cx="1292225"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1" name="圖片 72" descr="人.jpg">
            <a:extLst>
              <a:ext uri="{FF2B5EF4-FFF2-40B4-BE49-F238E27FC236}">
                <a16:creationId xmlns:a16="http://schemas.microsoft.com/office/drawing/2014/main" id="{6B696711-DE85-4734-9467-12F9699162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8588" y="3857625"/>
            <a:ext cx="1371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標題 1">
            <a:extLst>
              <a:ext uri="{FF2B5EF4-FFF2-40B4-BE49-F238E27FC236}">
                <a16:creationId xmlns:a16="http://schemas.microsoft.com/office/drawing/2014/main" id="{678F5BD7-AA4C-4DC7-9615-C3C5600F1890}"/>
              </a:ext>
            </a:extLst>
          </p:cNvPr>
          <p:cNvSpPr>
            <a:spLocks noGrp="1" noChangeArrowheads="1"/>
          </p:cNvSpPr>
          <p:nvPr>
            <p:ph type="title"/>
          </p:nvPr>
        </p:nvSpPr>
        <p:spPr>
          <a:xfrm>
            <a:off x="2782888" y="-4763"/>
            <a:ext cx="7885112" cy="730251"/>
          </a:xfrm>
        </p:spPr>
        <p:txBody>
          <a:bodyPr/>
          <a:lstStyle/>
          <a:p>
            <a:r>
              <a:rPr lang="zh-TW" altLang="en-US" sz="3600" b="1" dirty="0">
                <a:solidFill>
                  <a:srgbClr val="C00000"/>
                </a:solidFill>
                <a:latin typeface="微軟正黑體" panose="020B0604030504040204" pitchFamily="34" charset="-120"/>
              </a:rPr>
              <a:t>計畫目標與策略</a:t>
            </a:r>
            <a:r>
              <a:rPr lang="en-US" altLang="zh-TW" sz="3200" b="1" dirty="0">
                <a:solidFill>
                  <a:srgbClr val="C00000"/>
                </a:solidFill>
                <a:latin typeface="微軟正黑體" panose="020B0604030504040204" pitchFamily="34" charset="-120"/>
              </a:rPr>
              <a:t>(3/6)</a:t>
            </a:r>
            <a:endParaRPr lang="zh-TW" altLang="en-US" sz="3200" b="1" dirty="0">
              <a:solidFill>
                <a:srgbClr val="C00000"/>
              </a:solidFill>
              <a:latin typeface="微軟正黑體" panose="020B0604030504040204" pitchFamily="34" charset="-120"/>
            </a:endParaRPr>
          </a:p>
        </p:txBody>
      </p:sp>
      <p:sp>
        <p:nvSpPr>
          <p:cNvPr id="68613" name="內容版面配置區 2">
            <a:extLst>
              <a:ext uri="{FF2B5EF4-FFF2-40B4-BE49-F238E27FC236}">
                <a16:creationId xmlns:a16="http://schemas.microsoft.com/office/drawing/2014/main" id="{FA02AA3A-D820-4C40-A16A-C1EAF76C4670}"/>
              </a:ext>
            </a:extLst>
          </p:cNvPr>
          <p:cNvSpPr>
            <a:spLocks noGrp="1" noChangeArrowheads="1"/>
          </p:cNvSpPr>
          <p:nvPr>
            <p:ph idx="1"/>
          </p:nvPr>
        </p:nvSpPr>
        <p:spPr>
          <a:xfrm>
            <a:off x="3465513" y="2133600"/>
            <a:ext cx="6686550" cy="3778250"/>
          </a:xfrm>
        </p:spPr>
        <p:txBody>
          <a:bodyPr/>
          <a:lstStyle/>
          <a:p>
            <a:pPr>
              <a:buFont typeface="Arial" panose="020B0604020202020204" pitchFamily="34" charset="0"/>
              <a:buNone/>
            </a:pPr>
            <a:r>
              <a:rPr lang="zh-TW" altLang="en-US"/>
              <a:t>  </a:t>
            </a:r>
            <a:endParaRPr lang="zh-TW" altLang="en-US" sz="2400"/>
          </a:p>
        </p:txBody>
      </p:sp>
      <p:sp>
        <p:nvSpPr>
          <p:cNvPr id="68614" name="投影片編號版面配置區 3">
            <a:extLst>
              <a:ext uri="{FF2B5EF4-FFF2-40B4-BE49-F238E27FC236}">
                <a16:creationId xmlns:a16="http://schemas.microsoft.com/office/drawing/2014/main" id="{CE0A74A6-FA32-4E95-9C70-0CE5E67670C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750"/>
              </a:spcBef>
              <a:buClr>
                <a:schemeClr val="accent1"/>
              </a:buClr>
              <a:buFont typeface="Wingdings 3" panose="05040102010807070707" pitchFamily="18" charset="2"/>
              <a:buChar char=""/>
              <a:defRPr>
                <a:solidFill>
                  <a:srgbClr val="404040"/>
                </a:solidFill>
                <a:latin typeface="Century Gothic" panose="020B0502020202020204" pitchFamily="34" charset="0"/>
                <a:ea typeface="微軟正黑體" panose="020B0604030504040204" pitchFamily="34" charset="-120"/>
              </a:defRPr>
            </a:lvl1pPr>
            <a:lvl2pPr marL="742950" indent="-285750">
              <a:spcBef>
                <a:spcPts val="75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微軟正黑體" panose="020B0604030504040204" pitchFamily="34" charset="-120"/>
              </a:defRPr>
            </a:lvl2pPr>
            <a:lvl3pPr marL="1143000" indent="-228600">
              <a:spcBef>
                <a:spcPts val="750"/>
              </a:spcBef>
              <a:buClr>
                <a:schemeClr val="accent1"/>
              </a:buClr>
              <a:buFont typeface="Wingdings 3" panose="05040102010807070707" pitchFamily="18" charset="2"/>
              <a:buChar char=""/>
              <a:defRPr sz="1000">
                <a:solidFill>
                  <a:srgbClr val="404040"/>
                </a:solidFill>
                <a:latin typeface="Century Gothic" panose="020B0502020202020204" pitchFamily="34" charset="0"/>
                <a:ea typeface="微軟正黑體" panose="020B0604030504040204" pitchFamily="34" charset="-120"/>
              </a:defRPr>
            </a:lvl3pPr>
            <a:lvl4pPr marL="1600200" indent="-228600">
              <a:spcBef>
                <a:spcPts val="750"/>
              </a:spcBef>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4pPr>
            <a:lvl5pPr marL="2057400" indent="-228600">
              <a:spcBef>
                <a:spcPts val="750"/>
              </a:spcBef>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5pPr>
            <a:lvl6pPr marL="25146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6pPr>
            <a:lvl7pPr marL="29718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7pPr>
            <a:lvl8pPr marL="34290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8pPr>
            <a:lvl9pPr marL="38862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9pPr>
          </a:lstStyle>
          <a:p>
            <a:pPr eaLnBrk="1" fontAlgn="base" hangingPunct="1">
              <a:spcBef>
                <a:spcPct val="0"/>
              </a:spcBef>
              <a:spcAft>
                <a:spcPct val="0"/>
              </a:spcAft>
              <a:buClrTx/>
              <a:buFontTx/>
              <a:buNone/>
            </a:pPr>
            <a:fld id="{5BC48261-336C-4C77-8E43-E1FE38364CD4}" type="slidenum">
              <a:rPr lang="zh-TW" altLang="en-US" sz="1400">
                <a:solidFill>
                  <a:srgbClr val="000000"/>
                </a:solidFill>
                <a:latin typeface="Arial Narrow" panose="020B0606020202030204" pitchFamily="34" charset="0"/>
                <a:ea typeface="新細明體" panose="02020500000000000000" pitchFamily="18" charset="-120"/>
              </a:rPr>
              <a:pPr eaLnBrk="1" fontAlgn="base" hangingPunct="1">
                <a:spcBef>
                  <a:spcPct val="0"/>
                </a:spcBef>
                <a:spcAft>
                  <a:spcPct val="0"/>
                </a:spcAft>
                <a:buClrTx/>
                <a:buFontTx/>
                <a:buNone/>
              </a:pPr>
              <a:t>16</a:t>
            </a:fld>
            <a:endParaRPr lang="zh-TW" altLang="en-US" sz="1400">
              <a:solidFill>
                <a:srgbClr val="000000"/>
              </a:solidFill>
              <a:latin typeface="Arial Narrow" panose="020B0606020202030204" pitchFamily="34" charset="0"/>
              <a:ea typeface="新細明體" panose="02020500000000000000" pitchFamily="18" charset="-120"/>
            </a:endParaRPr>
          </a:p>
        </p:txBody>
      </p:sp>
      <p:sp>
        <p:nvSpPr>
          <p:cNvPr id="12" name="矩形 11">
            <a:extLst>
              <a:ext uri="{FF2B5EF4-FFF2-40B4-BE49-F238E27FC236}">
                <a16:creationId xmlns:a16="http://schemas.microsoft.com/office/drawing/2014/main" id="{E11BE2C4-9ACE-4937-B726-8844F12CD7C7}"/>
              </a:ext>
            </a:extLst>
          </p:cNvPr>
          <p:cNvSpPr/>
          <p:nvPr/>
        </p:nvSpPr>
        <p:spPr>
          <a:xfrm>
            <a:off x="1835150" y="3429001"/>
            <a:ext cx="863600" cy="1655763"/>
          </a:xfrm>
          <a:prstGeom prst="rect">
            <a:avLst/>
          </a:prstGeom>
          <a:ln/>
        </p:spPr>
        <p:style>
          <a:lnRef idx="1">
            <a:schemeClr val="accent3"/>
          </a:lnRef>
          <a:fillRef idx="2">
            <a:schemeClr val="accent3"/>
          </a:fillRef>
          <a:effectRef idx="1">
            <a:schemeClr val="accent3"/>
          </a:effectRef>
          <a:fontRef idx="minor">
            <a:schemeClr val="dk1"/>
          </a:fontRef>
        </p:style>
        <p:txBody>
          <a:bodyPr anchor="ctr"/>
          <a:lstStyle/>
          <a:p>
            <a:pPr algn="ctr">
              <a:defRPr/>
            </a:pPr>
            <a:r>
              <a:rPr lang="zh-TW" altLang="en-US" sz="2000" dirty="0">
                <a:solidFill>
                  <a:srgbClr val="0000FF"/>
                </a:solidFill>
                <a:latin typeface="微軟正黑體" pitchFamily="34" charset="-120"/>
              </a:rPr>
              <a:t>納入社會安全網後</a:t>
            </a:r>
            <a:endParaRPr lang="en-US" altLang="zh-TW" sz="2000" dirty="0">
              <a:solidFill>
                <a:srgbClr val="0000FF"/>
              </a:solidFill>
              <a:latin typeface="微軟正黑體" pitchFamily="34" charset="-120"/>
            </a:endParaRPr>
          </a:p>
        </p:txBody>
      </p:sp>
      <p:sp>
        <p:nvSpPr>
          <p:cNvPr id="13" name="矩形 12">
            <a:extLst>
              <a:ext uri="{FF2B5EF4-FFF2-40B4-BE49-F238E27FC236}">
                <a16:creationId xmlns:a16="http://schemas.microsoft.com/office/drawing/2014/main" id="{FAFE3232-1074-4720-B940-59063F75B4F4}"/>
              </a:ext>
            </a:extLst>
          </p:cNvPr>
          <p:cNvSpPr/>
          <p:nvPr/>
        </p:nvSpPr>
        <p:spPr>
          <a:xfrm>
            <a:off x="1833563" y="5192713"/>
            <a:ext cx="863600" cy="1549400"/>
          </a:xfrm>
          <a:prstGeom prst="rect">
            <a:avLst/>
          </a:prstGeom>
          <a:ln/>
        </p:spPr>
        <p:style>
          <a:lnRef idx="1">
            <a:schemeClr val="accent3"/>
          </a:lnRef>
          <a:fillRef idx="2">
            <a:schemeClr val="accent3"/>
          </a:fillRef>
          <a:effectRef idx="1">
            <a:schemeClr val="accent3"/>
          </a:effectRef>
          <a:fontRef idx="minor">
            <a:schemeClr val="dk1"/>
          </a:fontRef>
        </p:style>
        <p:txBody>
          <a:bodyPr anchor="ctr"/>
          <a:lstStyle/>
          <a:p>
            <a:pPr algn="ctr">
              <a:defRPr/>
            </a:pPr>
            <a:r>
              <a:rPr lang="zh-TW" altLang="en-US" sz="2000" dirty="0">
                <a:solidFill>
                  <a:srgbClr val="0000FF"/>
                </a:solidFill>
                <a:latin typeface="微軟正黑體" pitchFamily="34" charset="-120"/>
              </a:rPr>
              <a:t>辦理事項</a:t>
            </a:r>
          </a:p>
        </p:txBody>
      </p:sp>
      <p:sp>
        <p:nvSpPr>
          <p:cNvPr id="40" name="圓角矩形 39">
            <a:extLst>
              <a:ext uri="{FF2B5EF4-FFF2-40B4-BE49-F238E27FC236}">
                <a16:creationId xmlns:a16="http://schemas.microsoft.com/office/drawing/2014/main" id="{08A387B3-BA43-4FAF-8E66-E156A1CCD3B5}"/>
              </a:ext>
            </a:extLst>
          </p:cNvPr>
          <p:cNvSpPr/>
          <p:nvPr/>
        </p:nvSpPr>
        <p:spPr>
          <a:xfrm>
            <a:off x="4943476" y="3573463"/>
            <a:ext cx="2663825" cy="971550"/>
          </a:xfrm>
          <a:prstGeom prst="roundRect">
            <a:avLst/>
          </a:prstGeom>
          <a:ln/>
        </p:spPr>
        <p:style>
          <a:lnRef idx="1">
            <a:schemeClr val="accent2"/>
          </a:lnRef>
          <a:fillRef idx="2">
            <a:schemeClr val="accent2"/>
          </a:fillRef>
          <a:effectRef idx="1">
            <a:schemeClr val="accent2"/>
          </a:effectRef>
          <a:fontRef idx="minor">
            <a:schemeClr val="dk1"/>
          </a:fontRef>
        </p:style>
        <p:txBody>
          <a:bodyPr anchor="ctr"/>
          <a:lstStyle/>
          <a:p>
            <a:pPr indent="-342900" algn="ctr">
              <a:lnSpc>
                <a:spcPts val="2000"/>
              </a:lnSpc>
              <a:defRPr/>
            </a:pPr>
            <a:r>
              <a:rPr lang="zh-TW" altLang="en-US" sz="2000" b="1" dirty="0">
                <a:solidFill>
                  <a:prstClr val="black"/>
                </a:solidFill>
                <a:latin typeface="微軟正黑體" pitchFamily="34" charset="-120"/>
              </a:rPr>
              <a:t>社會福利服務中心</a:t>
            </a:r>
            <a:endParaRPr lang="en-US" altLang="zh-TW" sz="2000" b="1" dirty="0">
              <a:solidFill>
                <a:prstClr val="black"/>
              </a:solidFill>
              <a:latin typeface="微軟正黑體" pitchFamily="34" charset="-120"/>
            </a:endParaRPr>
          </a:p>
        </p:txBody>
      </p:sp>
      <p:sp>
        <p:nvSpPr>
          <p:cNvPr id="47" name="向右箭號 46">
            <a:extLst>
              <a:ext uri="{FF2B5EF4-FFF2-40B4-BE49-F238E27FC236}">
                <a16:creationId xmlns:a16="http://schemas.microsoft.com/office/drawing/2014/main" id="{36B4A44C-B852-4E75-A160-855953A77F45}"/>
              </a:ext>
            </a:extLst>
          </p:cNvPr>
          <p:cNvSpPr/>
          <p:nvPr/>
        </p:nvSpPr>
        <p:spPr>
          <a:xfrm>
            <a:off x="5016500" y="4581525"/>
            <a:ext cx="935038" cy="503238"/>
          </a:xfrm>
          <a:prstGeom prst="rightArrow">
            <a:avLst/>
          </a:prstGeom>
          <a:ln/>
        </p:spPr>
        <p:style>
          <a:lnRef idx="3">
            <a:schemeClr val="lt1"/>
          </a:lnRef>
          <a:fillRef idx="1">
            <a:schemeClr val="accent6"/>
          </a:fillRef>
          <a:effectRef idx="1">
            <a:schemeClr val="accent6"/>
          </a:effectRef>
          <a:fontRef idx="minor">
            <a:schemeClr val="lt1"/>
          </a:fontRef>
        </p:style>
        <p:txBody>
          <a:bodyPr anchor="ctr"/>
          <a:lstStyle/>
          <a:p>
            <a:pPr algn="ctr">
              <a:defRPr/>
            </a:pPr>
            <a:endParaRPr lang="zh-TW" altLang="en-US" sz="2000">
              <a:solidFill>
                <a:srgbClr val="7030A0"/>
              </a:solidFill>
              <a:latin typeface="標楷體" panose="03000509000000000000" pitchFamily="65" charset="-120"/>
              <a:ea typeface="標楷體" panose="03000509000000000000" pitchFamily="65" charset="-120"/>
            </a:endParaRPr>
          </a:p>
        </p:txBody>
      </p:sp>
      <p:sp>
        <p:nvSpPr>
          <p:cNvPr id="48" name="向左箭號 47">
            <a:extLst>
              <a:ext uri="{FF2B5EF4-FFF2-40B4-BE49-F238E27FC236}">
                <a16:creationId xmlns:a16="http://schemas.microsoft.com/office/drawing/2014/main" id="{88972D8E-8194-42B4-B4C9-A21ACF41DF87}"/>
              </a:ext>
            </a:extLst>
          </p:cNvPr>
          <p:cNvSpPr/>
          <p:nvPr/>
        </p:nvSpPr>
        <p:spPr>
          <a:xfrm>
            <a:off x="6743701" y="4581525"/>
            <a:ext cx="936625" cy="503238"/>
          </a:xfrm>
          <a:prstGeom prst="leftArrow">
            <a:avLst/>
          </a:prstGeom>
          <a:ln/>
        </p:spPr>
        <p:style>
          <a:lnRef idx="3">
            <a:schemeClr val="lt1"/>
          </a:lnRef>
          <a:fillRef idx="1">
            <a:schemeClr val="accent6"/>
          </a:fillRef>
          <a:effectRef idx="1">
            <a:schemeClr val="accent6"/>
          </a:effectRef>
          <a:fontRef idx="minor">
            <a:schemeClr val="lt1"/>
          </a:fontRef>
        </p:style>
        <p:txBody>
          <a:bodyPr anchor="ctr"/>
          <a:lstStyle/>
          <a:p>
            <a:pPr algn="ctr">
              <a:defRPr/>
            </a:pPr>
            <a:endParaRPr lang="zh-TW" altLang="en-US" sz="2000">
              <a:solidFill>
                <a:srgbClr val="7030A0"/>
              </a:solidFill>
              <a:latin typeface="標楷體" panose="03000509000000000000" pitchFamily="65" charset="-120"/>
              <a:ea typeface="標楷體" panose="03000509000000000000" pitchFamily="65" charset="-120"/>
            </a:endParaRPr>
          </a:p>
        </p:txBody>
      </p:sp>
      <p:cxnSp>
        <p:nvCxnSpPr>
          <p:cNvPr id="49" name="直線單箭頭接點 48">
            <a:extLst>
              <a:ext uri="{FF2B5EF4-FFF2-40B4-BE49-F238E27FC236}">
                <a16:creationId xmlns:a16="http://schemas.microsoft.com/office/drawing/2014/main" id="{AD9335D7-A967-48B4-83CA-34F3BD3FCCE0}"/>
              </a:ext>
            </a:extLst>
          </p:cNvPr>
          <p:cNvCxnSpPr/>
          <p:nvPr/>
        </p:nvCxnSpPr>
        <p:spPr>
          <a:xfrm>
            <a:off x="6289675" y="4546601"/>
            <a:ext cx="19050" cy="576263"/>
          </a:xfrm>
          <a:prstGeom prst="straightConnector1">
            <a:avLst/>
          </a:prstGeom>
          <a:ln>
            <a:solidFill>
              <a:schemeClr val="accent6">
                <a:lumMod val="75000"/>
              </a:schemeClr>
            </a:solidFill>
            <a:tailEnd type="arrow"/>
          </a:ln>
        </p:spPr>
        <p:style>
          <a:lnRef idx="3">
            <a:schemeClr val="accent5"/>
          </a:lnRef>
          <a:fillRef idx="0">
            <a:schemeClr val="accent5"/>
          </a:fillRef>
          <a:effectRef idx="2">
            <a:schemeClr val="accent5"/>
          </a:effectRef>
          <a:fontRef idx="minor">
            <a:schemeClr val="tx1"/>
          </a:fontRef>
        </p:style>
      </p:cxnSp>
      <p:sp>
        <p:nvSpPr>
          <p:cNvPr id="51" name="圓角矩形 50">
            <a:extLst>
              <a:ext uri="{FF2B5EF4-FFF2-40B4-BE49-F238E27FC236}">
                <a16:creationId xmlns:a16="http://schemas.microsoft.com/office/drawing/2014/main" id="{7FD462F0-DFB9-42AF-BA4F-086D334B0D20}"/>
              </a:ext>
            </a:extLst>
          </p:cNvPr>
          <p:cNvSpPr/>
          <p:nvPr/>
        </p:nvSpPr>
        <p:spPr>
          <a:xfrm>
            <a:off x="2711451" y="5157789"/>
            <a:ext cx="7777163" cy="1584325"/>
          </a:xfrm>
          <a:prstGeom prst="roundRect">
            <a:avLst/>
          </a:prstGeom>
          <a:ln w="28575"/>
        </p:spPr>
        <p:style>
          <a:lnRef idx="1">
            <a:schemeClr val="accent4"/>
          </a:lnRef>
          <a:fillRef idx="2">
            <a:schemeClr val="accent4"/>
          </a:fillRef>
          <a:effectRef idx="1">
            <a:schemeClr val="accent4"/>
          </a:effectRef>
          <a:fontRef idx="minor">
            <a:schemeClr val="dk1"/>
          </a:fontRef>
        </p:style>
        <p:txBody>
          <a:bodyPr/>
          <a:lstStyle/>
          <a:p>
            <a:pPr indent="-342900">
              <a:lnSpc>
                <a:spcPts val="2000"/>
              </a:lnSpc>
              <a:defRPr/>
            </a:pPr>
            <a:endParaRPr lang="en-US" altLang="zh-TW" sz="1600">
              <a:solidFill>
                <a:prstClr val="black"/>
              </a:solidFill>
              <a:latin typeface="標楷體" panose="03000509000000000000" pitchFamily="65" charset="-120"/>
              <a:ea typeface="標楷體" panose="03000509000000000000" pitchFamily="65" charset="-120"/>
            </a:endParaRPr>
          </a:p>
        </p:txBody>
      </p:sp>
      <p:sp>
        <p:nvSpPr>
          <p:cNvPr id="10" name="圓角矩形 9">
            <a:extLst>
              <a:ext uri="{FF2B5EF4-FFF2-40B4-BE49-F238E27FC236}">
                <a16:creationId xmlns:a16="http://schemas.microsoft.com/office/drawing/2014/main" id="{F910A18F-509F-4503-8725-C6D9C07E84D2}"/>
              </a:ext>
            </a:extLst>
          </p:cNvPr>
          <p:cNvSpPr/>
          <p:nvPr/>
        </p:nvSpPr>
        <p:spPr>
          <a:xfrm>
            <a:off x="4008439" y="1989138"/>
            <a:ext cx="6408737" cy="1079500"/>
          </a:xfrm>
          <a:prstGeom prst="roundRect">
            <a:avLst/>
          </a:prstGeom>
          <a:noFill/>
          <a:ln/>
        </p:spPr>
        <p:style>
          <a:lnRef idx="1">
            <a:schemeClr val="accent6"/>
          </a:lnRef>
          <a:fillRef idx="2">
            <a:schemeClr val="accent6"/>
          </a:fillRef>
          <a:effectRef idx="1">
            <a:schemeClr val="accent6"/>
          </a:effectRef>
          <a:fontRef idx="minor">
            <a:schemeClr val="dk1"/>
          </a:fontRef>
        </p:style>
        <p:txBody>
          <a:bodyPr tIns="108000" anchor="ctr"/>
          <a:lstStyle/>
          <a:p>
            <a:pPr marL="285750" indent="-285750">
              <a:lnSpc>
                <a:spcPts val="1900"/>
              </a:lnSpc>
              <a:buFont typeface="Arial" panose="020B0604020202020204" pitchFamily="34" charset="0"/>
              <a:buChar char="•"/>
              <a:defRPr/>
            </a:pPr>
            <a:r>
              <a:rPr lang="zh-TW" altLang="en-US" sz="1600" spc="-40" dirty="0">
                <a:solidFill>
                  <a:prstClr val="black"/>
                </a:solidFill>
                <a:latin typeface="微軟正黑體" pitchFamily="34" charset="-120"/>
              </a:rPr>
              <a:t>貧窮家庭：側重現金給付，脫貧自立成效有限</a:t>
            </a:r>
            <a:endParaRPr lang="en-US" altLang="zh-TW" sz="1600" spc="-40" dirty="0">
              <a:solidFill>
                <a:prstClr val="black"/>
              </a:solidFill>
              <a:latin typeface="微軟正黑體" pitchFamily="34" charset="-120"/>
            </a:endParaRPr>
          </a:p>
          <a:p>
            <a:pPr marL="285750" indent="-285750">
              <a:lnSpc>
                <a:spcPts val="1900"/>
              </a:lnSpc>
              <a:buFont typeface="Arial" panose="020B0604020202020204" pitchFamily="34" charset="0"/>
              <a:buChar char="•"/>
              <a:defRPr/>
            </a:pPr>
            <a:r>
              <a:rPr lang="zh-TW" altLang="en-US" sz="1600" dirty="0">
                <a:solidFill>
                  <a:prstClr val="black"/>
                </a:solidFill>
                <a:latin typeface="微軟正黑體" pitchFamily="34" charset="-120"/>
              </a:rPr>
              <a:t>脆弱家庭及多重問題家庭：受限公部門人力不足，部分家庭服務委由民間團體辦理，</a:t>
            </a:r>
            <a:r>
              <a:rPr lang="zh-TW" altLang="en-US" sz="1600" spc="-40" dirty="0">
                <a:solidFill>
                  <a:prstClr val="black"/>
                </a:solidFill>
                <a:latin typeface="微軟正黑體" pitchFamily="34" charset="-120"/>
              </a:rPr>
              <a:t>因未具公權力，易遭案家拒絕且協調其他單位不易，</a:t>
            </a:r>
            <a:r>
              <a:rPr lang="zh-TW" altLang="en-US" sz="1600" dirty="0">
                <a:solidFill>
                  <a:prstClr val="black"/>
                </a:solidFill>
                <a:latin typeface="微軟正黑體" pitchFamily="34" charset="-120"/>
              </a:rPr>
              <a:t>導致後續追蹤與關懷難以落實</a:t>
            </a:r>
            <a:endParaRPr lang="zh-TW" altLang="en-US" sz="1600" spc="-40" dirty="0">
              <a:solidFill>
                <a:prstClr val="black"/>
              </a:solidFill>
              <a:latin typeface="微軟正黑體" pitchFamily="34" charset="-120"/>
            </a:endParaRPr>
          </a:p>
        </p:txBody>
      </p:sp>
      <p:sp>
        <p:nvSpPr>
          <p:cNvPr id="11" name="矩形 10">
            <a:extLst>
              <a:ext uri="{FF2B5EF4-FFF2-40B4-BE49-F238E27FC236}">
                <a16:creationId xmlns:a16="http://schemas.microsoft.com/office/drawing/2014/main" id="{EC13B431-55F9-4D39-9062-EB9670F8AC9F}"/>
              </a:ext>
            </a:extLst>
          </p:cNvPr>
          <p:cNvSpPr/>
          <p:nvPr/>
        </p:nvSpPr>
        <p:spPr>
          <a:xfrm>
            <a:off x="1774825" y="1916113"/>
            <a:ext cx="865188" cy="1225550"/>
          </a:xfrm>
          <a:prstGeom prst="rect">
            <a:avLst/>
          </a:prstGeom>
          <a:ln/>
        </p:spPr>
        <p:style>
          <a:lnRef idx="1">
            <a:schemeClr val="accent3"/>
          </a:lnRef>
          <a:fillRef idx="2">
            <a:schemeClr val="accent3"/>
          </a:fillRef>
          <a:effectRef idx="1">
            <a:schemeClr val="accent3"/>
          </a:effectRef>
          <a:fontRef idx="minor">
            <a:schemeClr val="dk1"/>
          </a:fontRef>
        </p:style>
        <p:txBody>
          <a:bodyPr anchor="ctr"/>
          <a:lstStyle/>
          <a:p>
            <a:pPr algn="ctr">
              <a:defRPr/>
            </a:pPr>
            <a:r>
              <a:rPr lang="zh-TW" altLang="en-US" dirty="0">
                <a:solidFill>
                  <a:srgbClr val="0000FF"/>
                </a:solidFill>
                <a:latin typeface="微軟正黑體" pitchFamily="34" charset="-120"/>
              </a:rPr>
              <a:t>現況</a:t>
            </a:r>
            <a:endParaRPr lang="en-US" altLang="zh-TW" dirty="0">
              <a:solidFill>
                <a:srgbClr val="0000FF"/>
              </a:solidFill>
              <a:latin typeface="微軟正黑體" pitchFamily="34" charset="-120"/>
            </a:endParaRPr>
          </a:p>
          <a:p>
            <a:pPr algn="ctr">
              <a:defRPr/>
            </a:pPr>
            <a:r>
              <a:rPr lang="zh-TW" altLang="en-US" dirty="0">
                <a:solidFill>
                  <a:srgbClr val="0000FF"/>
                </a:solidFill>
                <a:latin typeface="微軟正黑體" pitchFamily="34" charset="-120"/>
              </a:rPr>
              <a:t>分析</a:t>
            </a:r>
            <a:endParaRPr lang="en-US" altLang="zh-TW" dirty="0">
              <a:solidFill>
                <a:srgbClr val="0000FF"/>
              </a:solidFill>
              <a:latin typeface="微軟正黑體" pitchFamily="34" charset="-120"/>
            </a:endParaRPr>
          </a:p>
        </p:txBody>
      </p:sp>
      <p:sp>
        <p:nvSpPr>
          <p:cNvPr id="15" name="圓角矩形 14">
            <a:extLst>
              <a:ext uri="{FF2B5EF4-FFF2-40B4-BE49-F238E27FC236}">
                <a16:creationId xmlns:a16="http://schemas.microsoft.com/office/drawing/2014/main" id="{025C3F64-5254-4513-B182-6A9E9489829C}"/>
              </a:ext>
            </a:extLst>
          </p:cNvPr>
          <p:cNvSpPr/>
          <p:nvPr/>
        </p:nvSpPr>
        <p:spPr>
          <a:xfrm>
            <a:off x="4079875" y="1412875"/>
            <a:ext cx="6337300" cy="503238"/>
          </a:xfrm>
          <a:prstGeom prst="roundRect">
            <a:avLst/>
          </a:prstGeom>
          <a:ln/>
        </p:spPr>
        <p:style>
          <a:lnRef idx="3">
            <a:schemeClr val="lt1"/>
          </a:lnRef>
          <a:fillRef idx="1">
            <a:schemeClr val="accent6"/>
          </a:fillRef>
          <a:effectRef idx="1">
            <a:schemeClr val="accent6"/>
          </a:effectRef>
          <a:fontRef idx="minor">
            <a:schemeClr val="lt1"/>
          </a:fontRef>
        </p:style>
        <p:txBody>
          <a:bodyPr anchor="ctr"/>
          <a:lstStyle/>
          <a:p>
            <a:pPr algn="ctr">
              <a:defRPr/>
            </a:pPr>
            <a:r>
              <a:rPr lang="zh-TW" altLang="en-US" sz="1600" dirty="0">
                <a:solidFill>
                  <a:prstClr val="black"/>
                </a:solidFill>
                <a:latin typeface="微軟正黑體" pitchFamily="34" charset="-120"/>
              </a:rPr>
              <a:t>脆弱家庭及多重問題家庭</a:t>
            </a:r>
            <a:endParaRPr lang="en-US" altLang="zh-TW" sz="1600" dirty="0">
              <a:solidFill>
                <a:prstClr val="black"/>
              </a:solidFill>
              <a:latin typeface="微軟正黑體" pitchFamily="34" charset="-120"/>
            </a:endParaRPr>
          </a:p>
        </p:txBody>
      </p:sp>
      <p:cxnSp>
        <p:nvCxnSpPr>
          <p:cNvPr id="53" name="直線接點 52">
            <a:extLst>
              <a:ext uri="{FF2B5EF4-FFF2-40B4-BE49-F238E27FC236}">
                <a16:creationId xmlns:a16="http://schemas.microsoft.com/office/drawing/2014/main" id="{B2D0AF1D-2926-4161-95B3-4AE851682498}"/>
              </a:ext>
            </a:extLst>
          </p:cNvPr>
          <p:cNvCxnSpPr/>
          <p:nvPr/>
        </p:nvCxnSpPr>
        <p:spPr>
          <a:xfrm>
            <a:off x="1774826" y="3249613"/>
            <a:ext cx="8640763" cy="0"/>
          </a:xfrm>
          <a:prstGeom prst="line">
            <a:avLst/>
          </a:prstGeom>
          <a:ln>
            <a:solidFill>
              <a:srgbClr val="FF0000"/>
            </a:solidFill>
            <a:prstDash val="dash"/>
          </a:ln>
        </p:spPr>
        <p:style>
          <a:lnRef idx="3">
            <a:schemeClr val="accent6"/>
          </a:lnRef>
          <a:fillRef idx="0">
            <a:schemeClr val="accent6"/>
          </a:fillRef>
          <a:effectRef idx="2">
            <a:schemeClr val="accent6"/>
          </a:effectRef>
          <a:fontRef idx="minor">
            <a:schemeClr val="tx1"/>
          </a:fontRef>
        </p:style>
      </p:cxnSp>
      <p:cxnSp>
        <p:nvCxnSpPr>
          <p:cNvPr id="56" name="直線單箭頭接點 55">
            <a:extLst>
              <a:ext uri="{FF2B5EF4-FFF2-40B4-BE49-F238E27FC236}">
                <a16:creationId xmlns:a16="http://schemas.microsoft.com/office/drawing/2014/main" id="{E654B9AF-4E82-419E-8A52-2E3003DF5745}"/>
              </a:ext>
            </a:extLst>
          </p:cNvPr>
          <p:cNvCxnSpPr>
            <a:stCxn id="42" idx="2"/>
            <a:endCxn id="40" idx="0"/>
          </p:cNvCxnSpPr>
          <p:nvPr/>
        </p:nvCxnSpPr>
        <p:spPr>
          <a:xfrm>
            <a:off x="3314700" y="3082925"/>
            <a:ext cx="2960688" cy="490538"/>
          </a:xfrm>
          <a:prstGeom prst="straightConnector1">
            <a:avLst/>
          </a:prstGeom>
          <a:ln>
            <a:solidFill>
              <a:schemeClr val="accent6">
                <a:lumMod val="75000"/>
              </a:schemeClr>
            </a:solidFill>
            <a:tailEnd type="arrow"/>
          </a:ln>
        </p:spPr>
        <p:style>
          <a:lnRef idx="3">
            <a:schemeClr val="accent5"/>
          </a:lnRef>
          <a:fillRef idx="0">
            <a:schemeClr val="accent5"/>
          </a:fillRef>
          <a:effectRef idx="2">
            <a:schemeClr val="accent5"/>
          </a:effectRef>
          <a:fontRef idx="minor">
            <a:schemeClr val="tx1"/>
          </a:fontRef>
        </p:style>
      </p:cxnSp>
      <p:sp>
        <p:nvSpPr>
          <p:cNvPr id="80" name="橢圓 79">
            <a:extLst>
              <a:ext uri="{FF2B5EF4-FFF2-40B4-BE49-F238E27FC236}">
                <a16:creationId xmlns:a16="http://schemas.microsoft.com/office/drawing/2014/main" id="{1F125825-6677-46FC-A1B1-1D22B817EB8C}"/>
              </a:ext>
            </a:extLst>
          </p:cNvPr>
          <p:cNvSpPr/>
          <p:nvPr/>
        </p:nvSpPr>
        <p:spPr>
          <a:xfrm>
            <a:off x="9048751" y="3573463"/>
            <a:ext cx="1006475" cy="1511300"/>
          </a:xfrm>
          <a:prstGeom prst="ellipse">
            <a:avLst/>
          </a:prstGeom>
          <a:ln/>
        </p:spPr>
        <p:style>
          <a:lnRef idx="1">
            <a:schemeClr val="accent1"/>
          </a:lnRef>
          <a:fillRef idx="2">
            <a:schemeClr val="accent1"/>
          </a:fillRef>
          <a:effectRef idx="1">
            <a:schemeClr val="accent1"/>
          </a:effectRef>
          <a:fontRef idx="minor">
            <a:schemeClr val="dk1"/>
          </a:fontRef>
        </p:style>
        <p:txBody>
          <a:bodyPr anchor="ctr"/>
          <a:lstStyle/>
          <a:p>
            <a:pPr algn="ctr">
              <a:defRPr/>
            </a:pPr>
            <a:r>
              <a:rPr lang="zh-TW" altLang="en-US" sz="2000" b="1" dirty="0">
                <a:solidFill>
                  <a:srgbClr val="FF0000"/>
                </a:solidFill>
                <a:latin typeface="微軟正黑體" pitchFamily="34" charset="-120"/>
              </a:rPr>
              <a:t>增聘專業社工</a:t>
            </a:r>
          </a:p>
        </p:txBody>
      </p:sp>
      <p:sp>
        <p:nvSpPr>
          <p:cNvPr id="68628" name="Rectangle 3">
            <a:extLst>
              <a:ext uri="{FF2B5EF4-FFF2-40B4-BE49-F238E27FC236}">
                <a16:creationId xmlns:a16="http://schemas.microsoft.com/office/drawing/2014/main" id="{F0863BFA-60E5-4FE5-A366-BF6F8AAEFC73}"/>
              </a:ext>
            </a:extLst>
          </p:cNvPr>
          <p:cNvSpPr>
            <a:spLocks noChangeArrowheads="1"/>
          </p:cNvSpPr>
          <p:nvPr/>
        </p:nvSpPr>
        <p:spPr bwMode="auto">
          <a:xfrm>
            <a:off x="2708276" y="5240339"/>
            <a:ext cx="7777163"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72000" bIns="0" anchor="b">
            <a:spAutoFit/>
          </a:bodyPr>
          <a:lstStyle>
            <a:lvl1pPr indent="381000">
              <a:spcBef>
                <a:spcPts val="750"/>
              </a:spcBef>
              <a:buClr>
                <a:schemeClr val="accent1"/>
              </a:buClr>
              <a:buFont typeface="Wingdings 3" panose="05040102010807070707" pitchFamily="18" charset="2"/>
              <a:buChar char=""/>
              <a:defRPr>
                <a:solidFill>
                  <a:srgbClr val="404040"/>
                </a:solidFill>
                <a:latin typeface="Century Gothic" panose="020B0502020202020204" pitchFamily="34" charset="0"/>
                <a:ea typeface="微軟正黑體" panose="020B0604030504040204" pitchFamily="34" charset="-120"/>
              </a:defRPr>
            </a:lvl1pPr>
            <a:lvl2pPr marL="742950" indent="-285750">
              <a:spcBef>
                <a:spcPts val="750"/>
              </a:spcBef>
              <a:buClr>
                <a:schemeClr val="accent1"/>
              </a:buClr>
              <a:buFont typeface="Wingdings 3" panose="05040102010807070707" pitchFamily="18" charset="2"/>
              <a:buChar char=""/>
              <a:defRPr sz="1200">
                <a:solidFill>
                  <a:srgbClr val="404040"/>
                </a:solidFill>
                <a:latin typeface="Century Gothic" panose="020B0502020202020204" pitchFamily="34" charset="0"/>
                <a:ea typeface="微軟正黑體" panose="020B0604030504040204" pitchFamily="34" charset="-120"/>
              </a:defRPr>
            </a:lvl2pPr>
            <a:lvl3pPr marL="1143000" indent="-228600">
              <a:spcBef>
                <a:spcPts val="750"/>
              </a:spcBef>
              <a:buClr>
                <a:schemeClr val="accent1"/>
              </a:buClr>
              <a:buFont typeface="Wingdings 3" panose="05040102010807070707" pitchFamily="18" charset="2"/>
              <a:buChar char=""/>
              <a:defRPr sz="1000">
                <a:solidFill>
                  <a:srgbClr val="404040"/>
                </a:solidFill>
                <a:latin typeface="Century Gothic" panose="020B0502020202020204" pitchFamily="34" charset="0"/>
                <a:ea typeface="微軟正黑體" panose="020B0604030504040204" pitchFamily="34" charset="-120"/>
              </a:defRPr>
            </a:lvl3pPr>
            <a:lvl4pPr marL="1600200" indent="-228600">
              <a:spcBef>
                <a:spcPts val="750"/>
              </a:spcBef>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4pPr>
            <a:lvl5pPr marL="2057400" indent="-228600">
              <a:spcBef>
                <a:spcPts val="750"/>
              </a:spcBef>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5pPr>
            <a:lvl6pPr marL="25146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6pPr>
            <a:lvl7pPr marL="29718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7pPr>
            <a:lvl8pPr marL="34290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8pPr>
            <a:lvl9pPr marL="3886200" indent="-228600" eaLnBrk="0" fontAlgn="base" hangingPunct="0">
              <a:spcBef>
                <a:spcPts val="750"/>
              </a:spcBef>
              <a:spcAft>
                <a:spcPct val="0"/>
              </a:spcAft>
              <a:buClr>
                <a:schemeClr val="accent1"/>
              </a:buClr>
              <a:buFont typeface="Wingdings 3" panose="05040102010807070707" pitchFamily="18" charset="2"/>
              <a:buChar char=""/>
              <a:defRPr sz="900">
                <a:solidFill>
                  <a:srgbClr val="404040"/>
                </a:solidFill>
                <a:latin typeface="Century Gothic" panose="020B0502020202020204" pitchFamily="34" charset="0"/>
                <a:ea typeface="微軟正黑體" panose="020B0604030504040204" pitchFamily="34" charset="-120"/>
              </a:defRPr>
            </a:lvl9pPr>
          </a:lstStyle>
          <a:p>
            <a:pPr>
              <a:lnSpc>
                <a:spcPts val="2600"/>
              </a:lnSpc>
              <a:spcBef>
                <a:spcPct val="0"/>
              </a:spcBef>
              <a:buClrTx/>
              <a:buFontTx/>
              <a:buChar char="•"/>
            </a:pPr>
            <a:r>
              <a:rPr lang="zh-TW" altLang="zh-TW" sz="2000">
                <a:solidFill>
                  <a:srgbClr val="000000"/>
                </a:solidFill>
                <a:latin typeface="微軟正黑體" panose="020B0604030504040204" pitchFamily="34" charset="-120"/>
              </a:rPr>
              <a:t>對貧窮家庭進行輔導、資源轉介等預防措施</a:t>
            </a:r>
            <a:endParaRPr lang="en-US" altLang="zh-TW" sz="2000">
              <a:solidFill>
                <a:srgbClr val="000000"/>
              </a:solidFill>
              <a:latin typeface="微軟正黑體" panose="020B0604030504040204" pitchFamily="34" charset="-120"/>
            </a:endParaRPr>
          </a:p>
          <a:p>
            <a:pPr>
              <a:lnSpc>
                <a:spcPts val="2600"/>
              </a:lnSpc>
              <a:spcBef>
                <a:spcPct val="0"/>
              </a:spcBef>
              <a:buClrTx/>
              <a:buFontTx/>
              <a:buChar char="•"/>
            </a:pPr>
            <a:r>
              <a:rPr lang="zh-TW" altLang="en-US" sz="2000">
                <a:solidFill>
                  <a:srgbClr val="000000"/>
                </a:solidFill>
                <a:latin typeface="微軟正黑體" panose="020B0604030504040204" pitchFamily="34" charset="-120"/>
                <a:cs typeface="Arial" panose="020B0604020202020204" pitchFamily="34" charset="0"/>
              </a:rPr>
              <a:t>辦理脆弱家庭訪視評估及整合性服務</a:t>
            </a:r>
            <a:endParaRPr lang="zh-TW" altLang="en-US" sz="2000">
              <a:solidFill>
                <a:srgbClr val="000000"/>
              </a:solidFill>
              <a:latin typeface="微軟正黑體" panose="020B0604030504040204" pitchFamily="34" charset="-120"/>
              <a:ea typeface="新細明體" panose="02020500000000000000" pitchFamily="18" charset="-120"/>
            </a:endParaRPr>
          </a:p>
          <a:p>
            <a:pPr>
              <a:lnSpc>
                <a:spcPts val="2600"/>
              </a:lnSpc>
              <a:spcBef>
                <a:spcPct val="0"/>
              </a:spcBef>
              <a:buClrTx/>
              <a:buFontTx/>
              <a:buChar char="•"/>
            </a:pPr>
            <a:r>
              <a:rPr lang="zh-TW" altLang="en-US" sz="2000">
                <a:solidFill>
                  <a:srgbClr val="000000"/>
                </a:solidFill>
                <a:latin typeface="微軟正黑體" panose="020B0604030504040204" pitchFamily="34" charset="-120"/>
                <a:cs typeface="Arial" panose="020B0604020202020204" pitchFamily="34" charset="0"/>
              </a:rPr>
              <a:t>積極辦理脫貧自立措施</a:t>
            </a:r>
            <a:endParaRPr lang="en-US" altLang="zh-TW" sz="2000">
              <a:solidFill>
                <a:srgbClr val="000000"/>
              </a:solidFill>
              <a:latin typeface="微軟正黑體" panose="020B0604030504040204" pitchFamily="34" charset="-120"/>
              <a:cs typeface="Arial" panose="020B0604020202020204" pitchFamily="34" charset="0"/>
            </a:endParaRPr>
          </a:p>
          <a:p>
            <a:pPr>
              <a:lnSpc>
                <a:spcPts val="2600"/>
              </a:lnSpc>
              <a:spcBef>
                <a:spcPct val="0"/>
              </a:spcBef>
              <a:buClrTx/>
              <a:buFontTx/>
              <a:buChar char="•"/>
            </a:pPr>
            <a:r>
              <a:rPr lang="zh-TW" altLang="zh-TW" sz="2000">
                <a:solidFill>
                  <a:srgbClr val="000000"/>
                </a:solidFill>
                <a:latin typeface="微軟正黑體" panose="020B0604030504040204" pitchFamily="34" charset="-120"/>
              </a:rPr>
              <a:t>精進</a:t>
            </a:r>
            <a:r>
              <a:rPr lang="zh-TW" altLang="en-US" sz="2000">
                <a:solidFill>
                  <a:srgbClr val="000000"/>
                </a:solidFill>
                <a:latin typeface="微軟正黑體" panose="020B0604030504040204" pitchFamily="34" charset="-120"/>
              </a:rPr>
              <a:t>社區脆弱家庭</a:t>
            </a:r>
            <a:r>
              <a:rPr lang="zh-TW" altLang="zh-TW" sz="2000">
                <a:solidFill>
                  <a:srgbClr val="000000"/>
                </a:solidFill>
                <a:latin typeface="微軟正黑體" panose="020B0604030504040204" pitchFamily="34" charset="-120"/>
              </a:rPr>
              <a:t>預警機制</a:t>
            </a:r>
          </a:p>
        </p:txBody>
      </p:sp>
      <p:sp>
        <p:nvSpPr>
          <p:cNvPr id="31" name="橢圓 30">
            <a:extLst>
              <a:ext uri="{FF2B5EF4-FFF2-40B4-BE49-F238E27FC236}">
                <a16:creationId xmlns:a16="http://schemas.microsoft.com/office/drawing/2014/main" id="{01C49EF2-5F21-4BFF-BC34-58EA9C1F9FEC}"/>
              </a:ext>
            </a:extLst>
          </p:cNvPr>
          <p:cNvSpPr/>
          <p:nvPr/>
        </p:nvSpPr>
        <p:spPr>
          <a:xfrm>
            <a:off x="2782888" y="3573463"/>
            <a:ext cx="1008062" cy="1511300"/>
          </a:xfrm>
          <a:prstGeom prst="ellipse">
            <a:avLst/>
          </a:prstGeom>
          <a:ln/>
        </p:spPr>
        <p:style>
          <a:lnRef idx="1">
            <a:schemeClr val="accent1"/>
          </a:lnRef>
          <a:fillRef idx="2">
            <a:schemeClr val="accent1"/>
          </a:fillRef>
          <a:effectRef idx="1">
            <a:schemeClr val="accent1"/>
          </a:effectRef>
          <a:fontRef idx="minor">
            <a:schemeClr val="dk1"/>
          </a:fontRef>
        </p:style>
        <p:txBody>
          <a:bodyPr anchor="ctr"/>
          <a:lstStyle/>
          <a:p>
            <a:pPr algn="ctr">
              <a:defRPr/>
            </a:pPr>
            <a:r>
              <a:rPr lang="zh-TW" altLang="en-US" sz="2000" b="1" dirty="0">
                <a:solidFill>
                  <a:srgbClr val="FF0000"/>
                </a:solidFill>
                <a:latin typeface="微軟正黑體" pitchFamily="34" charset="-120"/>
              </a:rPr>
              <a:t>布建中心數量</a:t>
            </a:r>
          </a:p>
        </p:txBody>
      </p:sp>
      <p:sp>
        <p:nvSpPr>
          <p:cNvPr id="41" name="圓角矩形 40">
            <a:extLst>
              <a:ext uri="{FF2B5EF4-FFF2-40B4-BE49-F238E27FC236}">
                <a16:creationId xmlns:a16="http://schemas.microsoft.com/office/drawing/2014/main" id="{D600D25A-FE0F-4946-A8D9-BD838B1F49FC}"/>
              </a:ext>
            </a:extLst>
          </p:cNvPr>
          <p:cNvSpPr/>
          <p:nvPr/>
        </p:nvSpPr>
        <p:spPr>
          <a:xfrm>
            <a:off x="2640013" y="1412875"/>
            <a:ext cx="1439862" cy="503238"/>
          </a:xfrm>
          <a:prstGeom prst="roundRect">
            <a:avLst/>
          </a:prstGeom>
          <a:ln/>
        </p:spPr>
        <p:style>
          <a:lnRef idx="3">
            <a:schemeClr val="lt1"/>
          </a:lnRef>
          <a:fillRef idx="1">
            <a:schemeClr val="accent6"/>
          </a:fillRef>
          <a:effectRef idx="1">
            <a:schemeClr val="accent6"/>
          </a:effectRef>
          <a:fontRef idx="minor">
            <a:schemeClr val="lt1"/>
          </a:fontRef>
        </p:style>
        <p:txBody>
          <a:bodyPr anchor="ctr"/>
          <a:lstStyle/>
          <a:p>
            <a:pPr algn="ctr">
              <a:defRPr/>
            </a:pPr>
            <a:r>
              <a:rPr lang="zh-TW" altLang="en-US" sz="1600" dirty="0">
                <a:solidFill>
                  <a:prstClr val="black"/>
                </a:solidFill>
                <a:latin typeface="微軟正黑體" pitchFamily="34" charset="-120"/>
              </a:rPr>
              <a:t>一般家庭</a:t>
            </a:r>
            <a:endParaRPr lang="en-US" altLang="zh-TW" sz="1600" dirty="0">
              <a:solidFill>
                <a:prstClr val="black"/>
              </a:solidFill>
              <a:latin typeface="微軟正黑體" pitchFamily="34" charset="-120"/>
            </a:endParaRPr>
          </a:p>
        </p:txBody>
      </p:sp>
      <p:sp>
        <p:nvSpPr>
          <p:cNvPr id="42" name="圓角矩形 41">
            <a:extLst>
              <a:ext uri="{FF2B5EF4-FFF2-40B4-BE49-F238E27FC236}">
                <a16:creationId xmlns:a16="http://schemas.microsoft.com/office/drawing/2014/main" id="{94BD58CE-4921-4617-9FA4-273173C0608F}"/>
              </a:ext>
            </a:extLst>
          </p:cNvPr>
          <p:cNvSpPr/>
          <p:nvPr/>
        </p:nvSpPr>
        <p:spPr>
          <a:xfrm>
            <a:off x="2635250" y="2003425"/>
            <a:ext cx="1360488" cy="1079500"/>
          </a:xfrm>
          <a:prstGeom prst="roundRect">
            <a:avLst/>
          </a:prstGeom>
          <a:noFill/>
          <a:ln/>
        </p:spPr>
        <p:style>
          <a:lnRef idx="1">
            <a:schemeClr val="accent6"/>
          </a:lnRef>
          <a:fillRef idx="2">
            <a:schemeClr val="accent6"/>
          </a:fillRef>
          <a:effectRef idx="1">
            <a:schemeClr val="accent6"/>
          </a:effectRef>
          <a:fontRef idx="minor">
            <a:schemeClr val="dk1"/>
          </a:fontRef>
        </p:style>
        <p:txBody>
          <a:bodyPr tIns="36000" bIns="36000" anchor="ctr"/>
          <a:lstStyle/>
          <a:p>
            <a:pPr algn="dist">
              <a:lnSpc>
                <a:spcPts val="2000"/>
              </a:lnSpc>
              <a:defRPr/>
            </a:pPr>
            <a:r>
              <a:rPr lang="zh-TW" altLang="en-US" sz="1600" spc="-160" dirty="0">
                <a:solidFill>
                  <a:prstClr val="black"/>
                </a:solidFill>
                <a:latin typeface="微軟正黑體" panose="020B0604030504040204" pitchFamily="34" charset="-120"/>
                <a:cs typeface="Arial" panose="020B0604020202020204" pitchFamily="34" charset="0"/>
              </a:rPr>
              <a:t>篩檢工作未完備，預警機制待精進</a:t>
            </a:r>
          </a:p>
        </p:txBody>
      </p:sp>
      <p:cxnSp>
        <p:nvCxnSpPr>
          <p:cNvPr id="50" name="直線單箭頭接點 49">
            <a:extLst>
              <a:ext uri="{FF2B5EF4-FFF2-40B4-BE49-F238E27FC236}">
                <a16:creationId xmlns:a16="http://schemas.microsoft.com/office/drawing/2014/main" id="{EFA7A83A-096E-48C1-AA6E-4DC12A34D6A2}"/>
              </a:ext>
            </a:extLst>
          </p:cNvPr>
          <p:cNvCxnSpPr/>
          <p:nvPr/>
        </p:nvCxnSpPr>
        <p:spPr>
          <a:xfrm flipH="1">
            <a:off x="6186488" y="3060701"/>
            <a:ext cx="11112" cy="512763"/>
          </a:xfrm>
          <a:prstGeom prst="straightConnector1">
            <a:avLst/>
          </a:prstGeom>
          <a:ln>
            <a:solidFill>
              <a:schemeClr val="accent6">
                <a:lumMod val="75000"/>
              </a:schemeClr>
            </a:solidFill>
            <a:tailEnd type="arrow"/>
          </a:ln>
        </p:spPr>
        <p:style>
          <a:lnRef idx="3">
            <a:schemeClr val="accent5"/>
          </a:lnRef>
          <a:fillRef idx="0">
            <a:schemeClr val="accent5"/>
          </a:fillRef>
          <a:effectRef idx="2">
            <a:schemeClr val="accent5"/>
          </a:effectRef>
          <a:fontRef idx="minor">
            <a:schemeClr val="tx1"/>
          </a:fontRef>
        </p:style>
      </p:cxnSp>
      <p:sp>
        <p:nvSpPr>
          <p:cNvPr id="52" name="文字方塊 51">
            <a:extLst>
              <a:ext uri="{FF2B5EF4-FFF2-40B4-BE49-F238E27FC236}">
                <a16:creationId xmlns:a16="http://schemas.microsoft.com/office/drawing/2014/main" id="{95CCE630-D73D-4111-8BE5-F590D5F382A3}"/>
              </a:ext>
            </a:extLst>
          </p:cNvPr>
          <p:cNvSpPr txBox="1"/>
          <p:nvPr/>
        </p:nvSpPr>
        <p:spPr>
          <a:xfrm>
            <a:off x="2708276" y="800099"/>
            <a:ext cx="7959725" cy="400110"/>
          </a:xfrm>
          <a:prstGeom prst="rect">
            <a:avLst/>
          </a:prstGeom>
          <a:ln/>
        </p:spPr>
        <p:style>
          <a:lnRef idx="1">
            <a:schemeClr val="accent1"/>
          </a:lnRef>
          <a:fillRef idx="2">
            <a:schemeClr val="accent1"/>
          </a:fillRef>
          <a:effectRef idx="1">
            <a:schemeClr val="accent1"/>
          </a:effectRef>
          <a:fontRef idx="minor">
            <a:schemeClr val="dk1"/>
          </a:fontRef>
        </p:style>
        <p:txBody>
          <a:bodyPr wrap="square">
            <a:spAutoFit/>
          </a:bodyPr>
          <a:lstStyle/>
          <a:p>
            <a:pPr algn="ctr">
              <a:defRPr/>
            </a:pPr>
            <a:r>
              <a:rPr lang="zh-TW" altLang="en-US" sz="2000" b="1" dirty="0">
                <a:solidFill>
                  <a:srgbClr val="FF0000"/>
                </a:solidFill>
                <a:latin typeface="微軟正黑體" pitchFamily="34" charset="-120"/>
              </a:rPr>
              <a:t>策略</a:t>
            </a:r>
            <a:r>
              <a:rPr lang="en-US" altLang="zh-TW" sz="2000" b="1" dirty="0">
                <a:solidFill>
                  <a:srgbClr val="FF0000"/>
                </a:solidFill>
                <a:latin typeface="微軟正黑體" pitchFamily="34" charset="-120"/>
              </a:rPr>
              <a:t>1</a:t>
            </a:r>
            <a:r>
              <a:rPr lang="zh-TW" altLang="en-US" sz="2000" b="1" spc="-30" dirty="0">
                <a:solidFill>
                  <a:prstClr val="black"/>
                </a:solidFill>
                <a:latin typeface="微軟正黑體" pitchFamily="34" charset="-120"/>
              </a:rPr>
              <a:t>布建社會福利服務中心整合社會救助與福利服務</a:t>
            </a:r>
            <a:r>
              <a:rPr lang="en-US" altLang="zh-TW" sz="2000" b="1" spc="-30" dirty="0">
                <a:solidFill>
                  <a:prstClr val="black"/>
                </a:solidFill>
                <a:latin typeface="微軟正黑體" pitchFamily="34" charset="-120"/>
              </a:rPr>
              <a:t>(1/2)</a:t>
            </a:r>
            <a:endParaRPr lang="zh-TW" altLang="en-US" sz="2000" dirty="0">
              <a:solidFill>
                <a:prstClr val="black"/>
              </a:solidFill>
              <a:latin typeface="微軟正黑體" pitchFamily="34" charset="-12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F6F64A5-41DA-4AC5-A641-03CE7232BA05}"/>
              </a:ext>
            </a:extLst>
          </p:cNvPr>
          <p:cNvSpPr>
            <a:spLocks noGrp="1"/>
          </p:cNvSpPr>
          <p:nvPr>
            <p:ph type="title"/>
          </p:nvPr>
        </p:nvSpPr>
        <p:spPr/>
        <p:txBody>
          <a:bodyPr/>
          <a:lstStyle/>
          <a:p>
            <a:endParaRPr lang="zh-TW" altLang="en-US"/>
          </a:p>
        </p:txBody>
      </p:sp>
      <p:pic>
        <p:nvPicPr>
          <p:cNvPr id="4" name="內容版面配置區 3" descr="一張含有 文字 的圖片&#10;&#10;自動產生的描述">
            <a:extLst>
              <a:ext uri="{FF2B5EF4-FFF2-40B4-BE49-F238E27FC236}">
                <a16:creationId xmlns:a16="http://schemas.microsoft.com/office/drawing/2014/main" id="{3B46BAD0-3248-4CD5-BBDC-C16EB0B148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1040" y="-91440"/>
            <a:ext cx="10652760" cy="7223760"/>
          </a:xfrm>
          <a:prstGeom prst="rect">
            <a:avLst/>
          </a:prstGeom>
        </p:spPr>
      </p:pic>
      <p:graphicFrame>
        <p:nvGraphicFramePr>
          <p:cNvPr id="5" name="表格 4">
            <a:extLst>
              <a:ext uri="{FF2B5EF4-FFF2-40B4-BE49-F238E27FC236}">
                <a16:creationId xmlns:a16="http://schemas.microsoft.com/office/drawing/2014/main" id="{65833D39-5773-48B7-BEEB-9C39C2F4EEF8}"/>
              </a:ext>
            </a:extLst>
          </p:cNvPr>
          <p:cNvGraphicFramePr>
            <a:graphicFrameLocks noGrp="1"/>
          </p:cNvGraphicFramePr>
          <p:nvPr/>
        </p:nvGraphicFramePr>
        <p:xfrm>
          <a:off x="2066926" y="190500"/>
          <a:ext cx="4791074" cy="900006"/>
        </p:xfrm>
        <a:graphic>
          <a:graphicData uri="http://schemas.openxmlformats.org/drawingml/2006/table">
            <a:tbl>
              <a:tblPr firstRow="1" bandRow="1">
                <a:tableStyleId>{5C22544A-7EE6-4342-B048-85BDC9FD1C3A}</a:tableStyleId>
              </a:tblPr>
              <a:tblGrid>
                <a:gridCol w="4791074">
                  <a:extLst>
                    <a:ext uri="{9D8B030D-6E8A-4147-A177-3AD203B41FA5}">
                      <a16:colId xmlns:a16="http://schemas.microsoft.com/office/drawing/2014/main" val="1500705580"/>
                    </a:ext>
                  </a:extLst>
                </a:gridCol>
              </a:tblGrid>
              <a:tr h="900006">
                <a:tc>
                  <a:txBody>
                    <a:bodyPr/>
                    <a:lstStyle/>
                    <a:p>
                      <a:r>
                        <a:rPr lang="zh-TW" altLang="en-US" sz="3200" dirty="0">
                          <a:solidFill>
                            <a:schemeClr val="bg1"/>
                          </a:solidFill>
                          <a:latin typeface="微軟正黑體" panose="020B0604030504040204" pitchFamily="34" charset="-120"/>
                          <a:ea typeface="微軟正黑體" panose="020B0604030504040204" pitchFamily="34" charset="-120"/>
                        </a:rPr>
                        <a:t>社會安全網的效能</a:t>
                      </a:r>
                    </a:p>
                  </a:txBody>
                  <a:tcPr/>
                </a:tc>
                <a:extLst>
                  <a:ext uri="{0D108BD9-81ED-4DB2-BD59-A6C34878D82A}">
                    <a16:rowId xmlns:a16="http://schemas.microsoft.com/office/drawing/2014/main" val="2864675593"/>
                  </a:ext>
                </a:extLst>
              </a:tr>
            </a:tbl>
          </a:graphicData>
        </a:graphic>
      </p:graphicFrame>
    </p:spTree>
    <p:extLst>
      <p:ext uri="{BB962C8B-B14F-4D97-AF65-F5344CB8AC3E}">
        <p14:creationId xmlns:p14="http://schemas.microsoft.com/office/powerpoint/2010/main" val="4255083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標題 1">
            <a:extLst>
              <a:ext uri="{FF2B5EF4-FFF2-40B4-BE49-F238E27FC236}">
                <a16:creationId xmlns:a16="http://schemas.microsoft.com/office/drawing/2014/main" id="{5E42D69C-6C6F-4FE0-8362-A183FD0AD814}"/>
              </a:ext>
            </a:extLst>
          </p:cNvPr>
          <p:cNvSpPr>
            <a:spLocks noGrp="1" noChangeArrowheads="1"/>
          </p:cNvSpPr>
          <p:nvPr>
            <p:ph type="title"/>
          </p:nvPr>
        </p:nvSpPr>
        <p:spPr/>
        <p:txBody>
          <a:bodyPr/>
          <a:lstStyle/>
          <a:p>
            <a:endParaRPr lang="zh-TW" altLang="en-US"/>
          </a:p>
        </p:txBody>
      </p:sp>
      <p:sp>
        <p:nvSpPr>
          <p:cNvPr id="20483" name="內容版面配置區 2">
            <a:extLst>
              <a:ext uri="{FF2B5EF4-FFF2-40B4-BE49-F238E27FC236}">
                <a16:creationId xmlns:a16="http://schemas.microsoft.com/office/drawing/2014/main" id="{2D52F876-3115-4C27-B810-C950A34F0773}"/>
              </a:ext>
            </a:extLst>
          </p:cNvPr>
          <p:cNvSpPr>
            <a:spLocks noGrp="1" noChangeArrowheads="1"/>
          </p:cNvSpPr>
          <p:nvPr>
            <p:ph idx="1"/>
          </p:nvPr>
        </p:nvSpPr>
        <p:spPr bwMode="auto"/>
        <p:txBody>
          <a:bodyPr wrap="square" numCol="1" anchor="t" anchorCtr="0" compatLnSpc="1">
            <a:prstTxWarp prst="textNoShape">
              <a:avLst/>
            </a:prstTxWarp>
            <a:normAutofit fontScale="70000" lnSpcReduction="20000"/>
          </a:bodyPr>
          <a:lstStyle/>
          <a:p>
            <a:pPr marL="82550" indent="0">
              <a:buNone/>
            </a:pPr>
            <a:endParaRPr lang="en-US" altLang="zh-TW" dirty="0"/>
          </a:p>
          <a:p>
            <a:pPr marL="82550" indent="0">
              <a:buNone/>
            </a:pPr>
            <a:endParaRPr lang="en-US" altLang="zh-TW" dirty="0"/>
          </a:p>
          <a:p>
            <a:pPr marL="82550" indent="0">
              <a:buNone/>
            </a:pPr>
            <a:endParaRPr lang="en-US" altLang="zh-TW" dirty="0"/>
          </a:p>
          <a:p>
            <a:pPr marL="82550" indent="0">
              <a:buNone/>
            </a:pPr>
            <a:endParaRPr lang="en-US" altLang="zh-TW" dirty="0"/>
          </a:p>
          <a:p>
            <a:pPr marL="82550" indent="0">
              <a:buNone/>
            </a:pPr>
            <a:endParaRPr lang="en-US" altLang="zh-TW" dirty="0"/>
          </a:p>
          <a:p>
            <a:pPr marL="82550" indent="0">
              <a:buNone/>
            </a:pPr>
            <a:endParaRPr lang="en-US" altLang="zh-TW" dirty="0"/>
          </a:p>
          <a:p>
            <a:pPr marL="82550" indent="0">
              <a:buNone/>
            </a:pPr>
            <a:endParaRPr lang="en-US" altLang="zh-TW" dirty="0"/>
          </a:p>
          <a:p>
            <a:pPr marL="82550" indent="0">
              <a:buNone/>
            </a:pPr>
            <a:endParaRPr lang="en-US" altLang="zh-TW" dirty="0"/>
          </a:p>
          <a:p>
            <a:pPr marL="82550" indent="0">
              <a:buNone/>
            </a:pPr>
            <a:endParaRPr lang="en-US" altLang="zh-TW" sz="1500" dirty="0">
              <a:latin typeface="Times New Roman" panose="02020603050405020304" pitchFamily="18" charset="0"/>
              <a:cs typeface="Times New Roman" panose="02020603050405020304" pitchFamily="18" charset="0"/>
            </a:endParaRPr>
          </a:p>
          <a:p>
            <a:pPr marL="82550" indent="0">
              <a:buNone/>
            </a:pPr>
            <a:endParaRPr lang="en-US" altLang="zh-TW" sz="1500" dirty="0">
              <a:latin typeface="Times New Roman" panose="02020603050405020304" pitchFamily="18" charset="0"/>
              <a:cs typeface="Times New Roman" panose="02020603050405020304" pitchFamily="18" charset="0"/>
            </a:endParaRPr>
          </a:p>
          <a:p>
            <a:pPr marL="82550" indent="0">
              <a:buNone/>
            </a:pPr>
            <a:endParaRPr lang="en-US" altLang="zh-TW" sz="1500" dirty="0">
              <a:latin typeface="Times New Roman" panose="02020603050405020304" pitchFamily="18" charset="0"/>
              <a:cs typeface="Times New Roman" panose="02020603050405020304" pitchFamily="18" charset="0"/>
            </a:endParaRPr>
          </a:p>
          <a:p>
            <a:pPr marL="82550" indent="0">
              <a:buNone/>
            </a:pPr>
            <a:endParaRPr lang="en-US" altLang="zh-TW" sz="1500" dirty="0">
              <a:latin typeface="Times New Roman" panose="02020603050405020304" pitchFamily="18" charset="0"/>
              <a:cs typeface="Times New Roman" panose="02020603050405020304" pitchFamily="18" charset="0"/>
            </a:endParaRPr>
          </a:p>
          <a:p>
            <a:pPr marL="82550" indent="0">
              <a:buNone/>
            </a:pPr>
            <a:endParaRPr lang="en-US" altLang="zh-TW" sz="1500" dirty="0">
              <a:latin typeface="Times New Roman" panose="02020603050405020304" pitchFamily="18" charset="0"/>
              <a:cs typeface="Times New Roman" panose="02020603050405020304" pitchFamily="18" charset="0"/>
            </a:endParaRPr>
          </a:p>
          <a:p>
            <a:pPr marL="82550" indent="0">
              <a:buNone/>
            </a:pPr>
            <a:r>
              <a:rPr lang="zh-TW" altLang="en-US" sz="1500" dirty="0">
                <a:latin typeface="Times New Roman" panose="02020603050405020304" pitchFamily="18" charset="0"/>
                <a:cs typeface="Times New Roman" panose="02020603050405020304" pitchFamily="18" charset="0"/>
              </a:rPr>
              <a:t>強化社會安全網計畫</a:t>
            </a:r>
            <a:r>
              <a:rPr lang="en-US" altLang="zh-TW" sz="1500" b="1" dirty="0">
                <a:latin typeface="Times New Roman" panose="02020603050405020304" pitchFamily="18" charset="0"/>
                <a:cs typeface="Times New Roman" panose="02020603050405020304" pitchFamily="18" charset="0"/>
              </a:rPr>
              <a:t>(</a:t>
            </a:r>
            <a:r>
              <a:rPr lang="zh-TW" altLang="en-US" sz="1500" dirty="0">
                <a:latin typeface="Times New Roman" panose="02020603050405020304" pitchFamily="18" charset="0"/>
                <a:cs typeface="Times New Roman" panose="02020603050405020304" pitchFamily="18" charset="0"/>
              </a:rPr>
              <a:t>核定本</a:t>
            </a:r>
            <a:r>
              <a:rPr lang="en-US" altLang="zh-TW" sz="1500" b="1" dirty="0">
                <a:latin typeface="Times New Roman" panose="02020603050405020304" pitchFamily="18" charset="0"/>
                <a:cs typeface="Times New Roman" panose="02020603050405020304" pitchFamily="18" charset="0"/>
              </a:rPr>
              <a:t>) </a:t>
            </a:r>
            <a:r>
              <a:rPr lang="zh-TW" altLang="en-US" sz="1500" b="1" dirty="0">
                <a:latin typeface="Times New Roman" panose="02020603050405020304" pitchFamily="18" charset="0"/>
                <a:cs typeface="Times New Roman" panose="02020603050405020304" pitchFamily="18" charset="0"/>
              </a:rPr>
              <a:t>頁</a:t>
            </a:r>
            <a:r>
              <a:rPr lang="en-US" altLang="zh-TW" sz="1500" b="1" dirty="0">
                <a:latin typeface="Times New Roman" panose="02020603050405020304" pitchFamily="18" charset="0"/>
                <a:cs typeface="Times New Roman" panose="02020603050405020304" pitchFamily="18" charset="0"/>
              </a:rPr>
              <a:t>45</a:t>
            </a:r>
          </a:p>
        </p:txBody>
      </p:sp>
      <p:pic>
        <p:nvPicPr>
          <p:cNvPr id="20484" name="Picture 2">
            <a:extLst>
              <a:ext uri="{FF2B5EF4-FFF2-40B4-BE49-F238E27FC236}">
                <a16:creationId xmlns:a16="http://schemas.microsoft.com/office/drawing/2014/main" id="{93004969-A9A6-441D-BFBC-BBCB904635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 y="260351"/>
            <a:ext cx="10191750" cy="5302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標題 1"/>
          <p:cNvSpPr>
            <a:spLocks noGrp="1"/>
          </p:cNvSpPr>
          <p:nvPr>
            <p:ph type="title"/>
          </p:nvPr>
        </p:nvSpPr>
        <p:spPr>
          <a:xfrm>
            <a:off x="1011465" y="28727"/>
            <a:ext cx="10184190" cy="1143000"/>
          </a:xfrm>
        </p:spPr>
        <p:txBody>
          <a:bodyPr/>
          <a:lstStyle/>
          <a:p>
            <a:pPr>
              <a:defRPr/>
            </a:pPr>
            <a:endParaRPr kumimoji="1" lang="zh-TW" altLang="en-US" sz="4572" b="1" cap="all" dirty="0">
              <a:latin typeface="微軟正黑體" pitchFamily="34" charset="-120"/>
              <a:ea typeface="微軟正黑體" pitchFamily="34" charset="-120"/>
              <a:cs typeface="Times New Roman"/>
            </a:endParaRPr>
          </a:p>
        </p:txBody>
      </p:sp>
      <p:sp>
        <p:nvSpPr>
          <p:cNvPr id="20483" name="投影片編號版面配置區 3"/>
          <p:cNvSpPr>
            <a:spLocks noGrp="1" noChangeArrowheads="1"/>
          </p:cNvSpPr>
          <p:nvPr>
            <p:ph type="sldNum" sz="quarter" idx="12"/>
          </p:nvPr>
        </p:nvSpPr>
        <p:spPr bwMode="auto">
          <a:noFill/>
          <a:ln>
            <a:miter lim="800000"/>
            <a:headEnd/>
            <a:tailEnd/>
          </a:ln>
        </p:spPr>
        <p:txBody>
          <a:bodyPr/>
          <a:lstStyle/>
          <a:p>
            <a:fld id="{3CE68BFB-0B9B-483D-BA6A-9324C76F1BEC}" type="slidenum">
              <a:rPr lang="zh-TW" altLang="en-US" smtClean="0">
                <a:latin typeface="微軟正黑體" pitchFamily="34" charset="-120"/>
                <a:ea typeface="微軟正黑體" pitchFamily="34" charset="-120"/>
              </a:rPr>
              <a:pPr/>
              <a:t>19</a:t>
            </a:fld>
            <a:endParaRPr lang="zh-TW" altLang="en-US">
              <a:latin typeface="微軟正黑體" pitchFamily="34" charset="-120"/>
              <a:ea typeface="微軟正黑體" pitchFamily="34" charset="-120"/>
            </a:endParaRPr>
          </a:p>
        </p:txBody>
      </p:sp>
      <p:sp>
        <p:nvSpPr>
          <p:cNvPr id="7" name="圓角矩形 4"/>
          <p:cNvSpPr/>
          <p:nvPr/>
        </p:nvSpPr>
        <p:spPr bwMode="auto">
          <a:xfrm>
            <a:off x="996345" y="28727"/>
            <a:ext cx="10757203" cy="1384012"/>
          </a:xfrm>
          <a:prstGeom prst="rect">
            <a:avLst/>
          </a:prstGeom>
          <a:solidFill>
            <a:schemeClr val="tx2">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lIns="242551" tIns="0" rIns="242551" bIns="0" spcCol="1514" anchor="ctr"/>
          <a:lstStyle/>
          <a:p>
            <a:pPr algn="ctr" eaLnBrk="0" hangingPunct="0">
              <a:lnSpc>
                <a:spcPts val="3407"/>
              </a:lnSpc>
              <a:defRPr/>
            </a:pPr>
            <a:r>
              <a:rPr lang="zh-TW" altLang="en-US" sz="2800" b="1" dirty="0">
                <a:solidFill>
                  <a:schemeClr val="lt1"/>
                </a:solidFill>
                <a:latin typeface="微軟正黑體" pitchFamily="34" charset="-120"/>
                <a:ea typeface="微軟正黑體" pitchFamily="34" charset="-120"/>
              </a:rPr>
              <a:t>公私部門分工處理原則</a:t>
            </a:r>
            <a:endParaRPr lang="zh-TW" altLang="en-US" sz="2800" dirty="0">
              <a:latin typeface="微軟正黑體" pitchFamily="34" charset="-120"/>
              <a:ea typeface="微軟正黑體" pitchFamily="34" charset="-120"/>
            </a:endParaRPr>
          </a:p>
        </p:txBody>
      </p:sp>
      <p:grpSp>
        <p:nvGrpSpPr>
          <p:cNvPr id="20487" name="群組 25"/>
          <p:cNvGrpSpPr>
            <a:grpSpLocks/>
          </p:cNvGrpSpPr>
          <p:nvPr/>
        </p:nvGrpSpPr>
        <p:grpSpPr bwMode="auto">
          <a:xfrm>
            <a:off x="5253870" y="4800299"/>
            <a:ext cx="1920119" cy="1920119"/>
            <a:chOff x="7668617" y="4221088"/>
            <a:chExt cx="2088232" cy="2086522"/>
          </a:xfrm>
        </p:grpSpPr>
        <p:sp>
          <p:nvSpPr>
            <p:cNvPr id="27" name="矩形 26"/>
            <p:cNvSpPr/>
            <p:nvPr/>
          </p:nvSpPr>
          <p:spPr>
            <a:xfrm>
              <a:off x="7668617" y="4221088"/>
              <a:ext cx="2088232" cy="2086522"/>
            </a:xfrm>
            <a:prstGeom prst="rect">
              <a:avLst/>
            </a:prstGeom>
            <a:ln/>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zh-TW" altLang="en-US" sz="1714" b="1"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28" name="矩形 27"/>
            <p:cNvSpPr/>
            <p:nvPr/>
          </p:nvSpPr>
          <p:spPr>
            <a:xfrm>
              <a:off x="7814957" y="4536531"/>
              <a:ext cx="1885986" cy="437020"/>
            </a:xfrm>
            <a:prstGeom prst="rect">
              <a:avLst/>
            </a:prstGeom>
            <a:noFill/>
            <a:ln w="120650">
              <a:noFill/>
            </a:ln>
            <a:effectLst/>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zh-TW" altLang="en-US"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rPr>
                <a:t>社區家庭</a:t>
              </a:r>
            </a:p>
          </p:txBody>
        </p:sp>
        <p:pic>
          <p:nvPicPr>
            <p:cNvPr id="29" name="圖片 28" descr="黑白圖.png"/>
            <p:cNvPicPr>
              <a:picLocks noChangeAspect="1"/>
            </p:cNvPicPr>
            <p:nvPr/>
          </p:nvPicPr>
          <p:blipFill>
            <a:blip r:embed="rId2" cstate="print"/>
            <a:stretch>
              <a:fillRect/>
            </a:stretch>
          </p:blipFill>
          <p:spPr>
            <a:xfrm>
              <a:off x="7898607" y="5013176"/>
              <a:ext cx="1781228" cy="1007692"/>
            </a:xfrm>
            <a:prstGeom prst="ellipse">
              <a:avLst/>
            </a:prstGeom>
            <a:ln>
              <a:noFill/>
            </a:ln>
            <a:effectLst>
              <a:softEdge rad="112500"/>
            </a:effectLst>
          </p:spPr>
        </p:pic>
      </p:grpSp>
      <p:cxnSp>
        <p:nvCxnSpPr>
          <p:cNvPr id="30" name="直線單箭頭接點 29"/>
          <p:cNvCxnSpPr>
            <a:endCxn id="27" idx="0"/>
          </p:cNvCxnSpPr>
          <p:nvPr/>
        </p:nvCxnSpPr>
        <p:spPr>
          <a:xfrm>
            <a:off x="4773084" y="3772203"/>
            <a:ext cx="1440845" cy="1028095"/>
          </a:xfrm>
          <a:prstGeom prst="straightConnector1">
            <a:avLst/>
          </a:prstGeom>
          <a:ln w="57150">
            <a:solidFill>
              <a:srgbClr val="47CFFF"/>
            </a:solidFill>
            <a:tailEnd type="arrow"/>
          </a:ln>
        </p:spPr>
        <p:style>
          <a:lnRef idx="1">
            <a:schemeClr val="accent2"/>
          </a:lnRef>
          <a:fillRef idx="0">
            <a:schemeClr val="accent2"/>
          </a:fillRef>
          <a:effectRef idx="0">
            <a:schemeClr val="accent2"/>
          </a:effectRef>
          <a:fontRef idx="minor">
            <a:schemeClr val="tx1"/>
          </a:fontRef>
        </p:style>
      </p:cxnSp>
      <p:cxnSp>
        <p:nvCxnSpPr>
          <p:cNvPr id="31" name="直線單箭頭接點 30"/>
          <p:cNvCxnSpPr/>
          <p:nvPr/>
        </p:nvCxnSpPr>
        <p:spPr>
          <a:xfrm flipH="1">
            <a:off x="6213929" y="3772203"/>
            <a:ext cx="1439333" cy="1028095"/>
          </a:xfrm>
          <a:prstGeom prst="straightConnector1">
            <a:avLst/>
          </a:prstGeom>
          <a:ln w="57150">
            <a:solidFill>
              <a:srgbClr val="47CFFF"/>
            </a:solidFill>
            <a:tailEnd type="arrow"/>
          </a:ln>
        </p:spPr>
        <p:style>
          <a:lnRef idx="1">
            <a:schemeClr val="accent2"/>
          </a:lnRef>
          <a:fillRef idx="0">
            <a:schemeClr val="accent2"/>
          </a:fillRef>
          <a:effectRef idx="0">
            <a:schemeClr val="accent2"/>
          </a:effectRef>
          <a:fontRef idx="minor">
            <a:schemeClr val="tx1"/>
          </a:fontRef>
        </p:style>
      </p:cxnSp>
      <p:sp>
        <p:nvSpPr>
          <p:cNvPr id="20490" name="文字方塊 31"/>
          <p:cNvSpPr txBox="1">
            <a:spLocks noChangeArrowheads="1"/>
          </p:cNvSpPr>
          <p:nvPr/>
        </p:nvSpPr>
        <p:spPr bwMode="auto">
          <a:xfrm rot="2194177">
            <a:off x="4702369" y="4119028"/>
            <a:ext cx="966931" cy="326884"/>
          </a:xfrm>
          <a:prstGeom prst="rect">
            <a:avLst/>
          </a:prstGeom>
          <a:solidFill>
            <a:srgbClr val="47CFFF"/>
          </a:solidFill>
          <a:ln w="9525">
            <a:noFill/>
            <a:miter lim="800000"/>
            <a:headEnd/>
            <a:tailEnd/>
          </a:ln>
        </p:spPr>
        <p:txBody>
          <a:bodyPr wrap="none">
            <a:spAutoFit/>
          </a:bodyPr>
          <a:lstStyle/>
          <a:p>
            <a:pPr eaLnBrk="0" hangingPunct="0"/>
            <a:r>
              <a:rPr lang="zh-TW" altLang="en-US" sz="1524">
                <a:latin typeface="微軟正黑體" pitchFamily="34" charset="-120"/>
                <a:ea typeface="微軟正黑體" pitchFamily="34" charset="-120"/>
              </a:rPr>
              <a:t>提供服務</a:t>
            </a:r>
          </a:p>
        </p:txBody>
      </p:sp>
      <p:sp>
        <p:nvSpPr>
          <p:cNvPr id="20491" name="文字方塊 32"/>
          <p:cNvSpPr txBox="1">
            <a:spLocks noChangeArrowheads="1"/>
          </p:cNvSpPr>
          <p:nvPr/>
        </p:nvSpPr>
        <p:spPr bwMode="auto">
          <a:xfrm rot="-2183224">
            <a:off x="6708666" y="4158338"/>
            <a:ext cx="966931" cy="326884"/>
          </a:xfrm>
          <a:prstGeom prst="rect">
            <a:avLst/>
          </a:prstGeom>
          <a:solidFill>
            <a:srgbClr val="47CFFF"/>
          </a:solidFill>
          <a:ln w="9525">
            <a:noFill/>
            <a:miter lim="800000"/>
            <a:headEnd/>
            <a:tailEnd/>
          </a:ln>
        </p:spPr>
        <p:txBody>
          <a:bodyPr wrap="none">
            <a:spAutoFit/>
          </a:bodyPr>
          <a:lstStyle/>
          <a:p>
            <a:pPr eaLnBrk="0" hangingPunct="0"/>
            <a:r>
              <a:rPr lang="zh-TW" altLang="en-US" sz="1524">
                <a:latin typeface="微軟正黑體" pitchFamily="34" charset="-120"/>
                <a:ea typeface="微軟正黑體" pitchFamily="34" charset="-120"/>
              </a:rPr>
              <a:t>提供服務</a:t>
            </a:r>
          </a:p>
        </p:txBody>
      </p:sp>
      <p:cxnSp>
        <p:nvCxnSpPr>
          <p:cNvPr id="36" name="直線單箭頭接點 35"/>
          <p:cNvCxnSpPr/>
          <p:nvPr/>
        </p:nvCxnSpPr>
        <p:spPr>
          <a:xfrm>
            <a:off x="5203976" y="2272393"/>
            <a:ext cx="2057703" cy="0"/>
          </a:xfrm>
          <a:prstGeom prst="straightConnector1">
            <a:avLst/>
          </a:prstGeom>
          <a:ln w="57150">
            <a:solidFill>
              <a:srgbClr val="FFC000"/>
            </a:solidFill>
            <a:tailEnd type="arrow"/>
          </a:ln>
        </p:spPr>
        <p:style>
          <a:lnRef idx="1">
            <a:schemeClr val="accent1"/>
          </a:lnRef>
          <a:fillRef idx="0">
            <a:schemeClr val="accent1"/>
          </a:fillRef>
          <a:effectRef idx="0">
            <a:schemeClr val="accent1"/>
          </a:effectRef>
          <a:fontRef idx="minor">
            <a:schemeClr val="tx1"/>
          </a:fontRef>
        </p:style>
      </p:cxnSp>
      <p:pic>
        <p:nvPicPr>
          <p:cNvPr id="20493" name="Picture 16" descr="Care premium icon"/>
          <p:cNvPicPr>
            <a:picLocks noChangeAspect="1" noChangeArrowheads="1"/>
          </p:cNvPicPr>
          <p:nvPr/>
        </p:nvPicPr>
        <p:blipFill>
          <a:blip r:embed="rId3" cstate="print"/>
          <a:srcRect l="8141" t="48837" r="7750" b="2324"/>
          <a:stretch>
            <a:fillRect/>
          </a:stretch>
        </p:blipFill>
        <p:spPr bwMode="auto">
          <a:xfrm>
            <a:off x="5615215" y="2331357"/>
            <a:ext cx="1167190" cy="677333"/>
          </a:xfrm>
          <a:prstGeom prst="rect">
            <a:avLst/>
          </a:prstGeom>
          <a:noFill/>
          <a:ln w="9525">
            <a:noFill/>
            <a:miter lim="800000"/>
            <a:headEnd/>
            <a:tailEnd/>
          </a:ln>
        </p:spPr>
      </p:pic>
      <p:sp>
        <p:nvSpPr>
          <p:cNvPr id="20494" name="文字方塊 39"/>
          <p:cNvSpPr txBox="1">
            <a:spLocks noChangeArrowheads="1"/>
          </p:cNvSpPr>
          <p:nvPr/>
        </p:nvSpPr>
        <p:spPr bwMode="auto">
          <a:xfrm>
            <a:off x="5752798" y="2134810"/>
            <a:ext cx="892024" cy="356123"/>
          </a:xfrm>
          <a:prstGeom prst="rect">
            <a:avLst/>
          </a:prstGeom>
          <a:solidFill>
            <a:srgbClr val="FFC000"/>
          </a:solidFill>
          <a:ln w="9525">
            <a:noFill/>
            <a:miter lim="800000"/>
            <a:headEnd/>
            <a:tailEnd/>
          </a:ln>
        </p:spPr>
        <p:txBody>
          <a:bodyPr>
            <a:spAutoFit/>
          </a:bodyPr>
          <a:lstStyle/>
          <a:p>
            <a:pPr eaLnBrk="0" hangingPunct="0"/>
            <a:r>
              <a:rPr lang="zh-TW" altLang="en-US" sz="1714" b="1">
                <a:latin typeface="微軟正黑體" pitchFamily="34" charset="-120"/>
                <a:ea typeface="微軟正黑體" pitchFamily="34" charset="-120"/>
              </a:rPr>
              <a:t>結    合</a:t>
            </a:r>
          </a:p>
        </p:txBody>
      </p:sp>
      <p:sp>
        <p:nvSpPr>
          <p:cNvPr id="41" name="向右箭號圖說文字 40"/>
          <p:cNvSpPr/>
          <p:nvPr/>
        </p:nvSpPr>
        <p:spPr>
          <a:xfrm>
            <a:off x="814918" y="1852084"/>
            <a:ext cx="2263321" cy="2948214"/>
          </a:xfrm>
          <a:prstGeom prst="rightArrowCallout">
            <a:avLst>
              <a:gd name="adj1" fmla="val 30659"/>
              <a:gd name="adj2" fmla="val 25566"/>
              <a:gd name="adj3" fmla="val 15663"/>
              <a:gd name="adj4" fmla="val 77427"/>
            </a:avLst>
          </a:prstGeom>
          <a:solidFill>
            <a:schemeClr val="accent5">
              <a:lumMod val="40000"/>
              <a:lumOff val="60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66313" indent="-166313" eaLnBrk="0" hangingPunct="0">
              <a:defRPr/>
            </a:pPr>
            <a:r>
              <a:rPr lang="en-US" altLang="zh-TW" sz="1714" dirty="0">
                <a:solidFill>
                  <a:srgbClr val="7030A0"/>
                </a:solidFill>
                <a:latin typeface="微軟正黑體" pitchFamily="34" charset="-120"/>
                <a:ea typeface="微軟正黑體" pitchFamily="34" charset="-120"/>
              </a:rPr>
              <a:t>1.</a:t>
            </a:r>
            <a:r>
              <a:rPr lang="zh-TW" altLang="en-US" sz="1714" b="1" dirty="0">
                <a:solidFill>
                  <a:srgbClr val="C00000"/>
                </a:solidFill>
                <a:latin typeface="微軟正黑體" pitchFamily="34" charset="-120"/>
                <a:ea typeface="微軟正黑體" pitchFamily="34" charset="-120"/>
              </a:rPr>
              <a:t>個案管理主責單位，整體評估家庭問題與需求</a:t>
            </a:r>
            <a:endParaRPr lang="en-US" altLang="zh-TW" sz="1714" dirty="0">
              <a:solidFill>
                <a:srgbClr val="7030A0"/>
              </a:solidFill>
              <a:latin typeface="微軟正黑體" pitchFamily="34" charset="-120"/>
              <a:ea typeface="微軟正黑體" pitchFamily="34" charset="-120"/>
            </a:endParaRPr>
          </a:p>
          <a:p>
            <a:pPr marL="166313" indent="-166313" eaLnBrk="0" hangingPunct="0">
              <a:defRPr/>
            </a:pPr>
            <a:r>
              <a:rPr lang="en-US" altLang="zh-TW" b="1" dirty="0">
                <a:solidFill>
                  <a:srgbClr val="C00000"/>
                </a:solidFill>
                <a:latin typeface="微軟正黑體" pitchFamily="34" charset="-120"/>
                <a:ea typeface="微軟正黑體" pitchFamily="34" charset="-120"/>
              </a:rPr>
              <a:t>2.</a:t>
            </a:r>
            <a:r>
              <a:rPr lang="zh-TW" altLang="zh-TW" b="1" dirty="0">
                <a:solidFill>
                  <a:srgbClr val="C00000"/>
                </a:solidFill>
                <a:latin typeface="微軟正黑體" pitchFamily="34" charset="-120"/>
                <a:ea typeface="微軟正黑體" pitchFamily="34" charset="-120"/>
              </a:rPr>
              <a:t>資源盤點與開發</a:t>
            </a:r>
            <a:endParaRPr lang="en-US" altLang="zh-TW" b="1" dirty="0">
              <a:solidFill>
                <a:srgbClr val="C00000"/>
              </a:solidFill>
              <a:latin typeface="微軟正黑體" pitchFamily="34" charset="-120"/>
              <a:ea typeface="微軟正黑體" pitchFamily="34" charset="-120"/>
            </a:endParaRPr>
          </a:p>
          <a:p>
            <a:pPr marL="166313" indent="-166313" eaLnBrk="0" hangingPunct="0">
              <a:defRPr/>
            </a:pPr>
            <a:r>
              <a:rPr lang="en-US" altLang="zh-TW" b="1" dirty="0">
                <a:solidFill>
                  <a:srgbClr val="C00000"/>
                </a:solidFill>
                <a:latin typeface="微軟正黑體" pitchFamily="34" charset="-120"/>
                <a:ea typeface="微軟正黑體" pitchFamily="34" charset="-120"/>
              </a:rPr>
              <a:t>3.</a:t>
            </a:r>
            <a:r>
              <a:rPr lang="zh-TW" altLang="zh-TW" b="1" dirty="0">
                <a:solidFill>
                  <a:srgbClr val="C00000"/>
                </a:solidFill>
                <a:latin typeface="微軟正黑體" pitchFamily="34" charset="-120"/>
                <a:ea typeface="微軟正黑體" pitchFamily="34" charset="-120"/>
              </a:rPr>
              <a:t>服務系統整合</a:t>
            </a:r>
            <a:endParaRPr lang="zh-TW" altLang="en-US" b="1" dirty="0">
              <a:solidFill>
                <a:srgbClr val="C00000"/>
              </a:solidFill>
              <a:latin typeface="微軟正黑體" pitchFamily="34" charset="-120"/>
              <a:ea typeface="微軟正黑體" pitchFamily="34" charset="-120"/>
            </a:endParaRPr>
          </a:p>
        </p:txBody>
      </p:sp>
      <p:sp>
        <p:nvSpPr>
          <p:cNvPr id="42" name="向左箭號圖說文字 41"/>
          <p:cNvSpPr/>
          <p:nvPr/>
        </p:nvSpPr>
        <p:spPr>
          <a:xfrm>
            <a:off x="9251346" y="1782536"/>
            <a:ext cx="2331357" cy="3155345"/>
          </a:xfrm>
          <a:prstGeom prst="leftArrowCallout">
            <a:avLst>
              <a:gd name="adj1" fmla="val 23902"/>
              <a:gd name="adj2" fmla="val 25000"/>
              <a:gd name="adj3" fmla="val 17311"/>
              <a:gd name="adj4" fmla="val 74314"/>
            </a:avLst>
          </a:prstGeom>
          <a:solidFill>
            <a:schemeClr val="accent5">
              <a:lumMod val="40000"/>
              <a:lumOff val="60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71432" indent="-171432"/>
            <a:r>
              <a:rPr lang="en-US" altLang="zh-TW" b="1" dirty="0">
                <a:solidFill>
                  <a:srgbClr val="7030A0"/>
                </a:solidFill>
                <a:latin typeface="微軟正黑體" pitchFamily="34" charset="-120"/>
                <a:ea typeface="微軟正黑體" pitchFamily="34" charset="-120"/>
              </a:rPr>
              <a:t>1.</a:t>
            </a:r>
            <a:r>
              <a:rPr lang="zh-TW" altLang="zh-TW" b="1" dirty="0">
                <a:solidFill>
                  <a:srgbClr val="7030A0"/>
                </a:solidFill>
                <a:latin typeface="微軟正黑體" pitchFamily="34" charset="-120"/>
                <a:ea typeface="微軟正黑體" pitchFamily="34" charset="-120"/>
              </a:rPr>
              <a:t>發展多元專精服務</a:t>
            </a:r>
          </a:p>
          <a:p>
            <a:pPr marL="171432" indent="-171432" eaLnBrk="0" hangingPunct="0">
              <a:defRPr/>
            </a:pPr>
            <a:r>
              <a:rPr lang="en-US" altLang="zh-TW" b="1" dirty="0">
                <a:solidFill>
                  <a:srgbClr val="7030A0"/>
                </a:solidFill>
                <a:latin typeface="微軟正黑體" pitchFamily="34" charset="-120"/>
                <a:ea typeface="微軟正黑體" pitchFamily="34" charset="-120"/>
              </a:rPr>
              <a:t>2.</a:t>
            </a:r>
            <a:r>
              <a:rPr lang="zh-TW" altLang="zh-TW" b="1" dirty="0">
                <a:solidFill>
                  <a:srgbClr val="7030A0"/>
                </a:solidFill>
                <a:latin typeface="微軟正黑體" pitchFamily="34" charset="-120"/>
                <a:ea typeface="微軟正黑體" pitchFamily="34" charset="-120"/>
              </a:rPr>
              <a:t>開發創新服務</a:t>
            </a:r>
          </a:p>
          <a:p>
            <a:pPr marL="171432" indent="-171432" eaLnBrk="0" hangingPunct="0">
              <a:defRPr/>
            </a:pPr>
            <a:r>
              <a:rPr lang="en-US" altLang="zh-TW" b="1" dirty="0">
                <a:solidFill>
                  <a:srgbClr val="7030A0"/>
                </a:solidFill>
                <a:latin typeface="微軟正黑體" pitchFamily="34" charset="-120"/>
                <a:ea typeface="微軟正黑體" pitchFamily="34" charset="-120"/>
              </a:rPr>
              <a:t>3.</a:t>
            </a:r>
            <a:r>
              <a:rPr lang="zh-TW" altLang="zh-TW" b="1" dirty="0">
                <a:solidFill>
                  <a:srgbClr val="7030A0"/>
                </a:solidFill>
                <a:latin typeface="微軟正黑體" pitchFamily="34" charset="-120"/>
                <a:ea typeface="微軟正黑體" pitchFamily="34" charset="-120"/>
              </a:rPr>
              <a:t>政策規劃建議</a:t>
            </a:r>
            <a:endParaRPr lang="zh-TW" altLang="en-US" b="1" dirty="0">
              <a:solidFill>
                <a:srgbClr val="7030A0"/>
              </a:solidFill>
              <a:latin typeface="微軟正黑體" pitchFamily="34" charset="-120"/>
              <a:ea typeface="微軟正黑體" pitchFamily="34" charset="-120"/>
            </a:endParaRPr>
          </a:p>
          <a:p>
            <a:pPr marL="205718" indent="-205718" eaLnBrk="0" hangingPunct="0">
              <a:defRPr/>
            </a:pPr>
            <a:endParaRPr lang="en-US" altLang="zh-TW" sz="1714" dirty="0">
              <a:solidFill>
                <a:srgbClr val="7030A0"/>
              </a:solidFill>
              <a:latin typeface="微軟正黑體" pitchFamily="34" charset="-120"/>
              <a:ea typeface="微軟正黑體" pitchFamily="34" charset="-120"/>
            </a:endParaRPr>
          </a:p>
        </p:txBody>
      </p:sp>
      <p:grpSp>
        <p:nvGrpSpPr>
          <p:cNvPr id="20497" name="群組 15"/>
          <p:cNvGrpSpPr>
            <a:grpSpLocks/>
          </p:cNvGrpSpPr>
          <p:nvPr/>
        </p:nvGrpSpPr>
        <p:grpSpPr bwMode="auto">
          <a:xfrm>
            <a:off x="3215822" y="1852084"/>
            <a:ext cx="1880810" cy="1841500"/>
            <a:chOff x="1120773" y="1638345"/>
            <a:chExt cx="1975058" cy="1934671"/>
          </a:xfrm>
        </p:grpSpPr>
        <p:sp>
          <p:nvSpPr>
            <p:cNvPr id="17" name="矩形 16"/>
            <p:cNvSpPr/>
            <p:nvPr/>
          </p:nvSpPr>
          <p:spPr>
            <a:xfrm>
              <a:off x="1120773" y="1638345"/>
              <a:ext cx="1975058" cy="1934671"/>
            </a:xfrm>
            <a:prstGeom prst="rect">
              <a:avLst/>
            </a:prstGeom>
            <a:ln/>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zh-TW" altLang="en-US" sz="1905" b="1" dirty="0">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20506" name="圖片 17"/>
            <p:cNvPicPr>
              <a:picLocks noChangeAspect="1"/>
            </p:cNvPicPr>
            <p:nvPr/>
          </p:nvPicPr>
          <p:blipFill>
            <a:blip r:embed="rId4" cstate="print"/>
            <a:srcRect/>
            <a:stretch>
              <a:fillRect/>
            </a:stretch>
          </p:blipFill>
          <p:spPr bwMode="auto">
            <a:xfrm>
              <a:off x="1388678" y="2231706"/>
              <a:ext cx="1385330" cy="1278535"/>
            </a:xfrm>
            <a:prstGeom prst="rect">
              <a:avLst/>
            </a:prstGeom>
            <a:noFill/>
            <a:ln w="9525">
              <a:noFill/>
              <a:miter lim="800000"/>
              <a:headEnd/>
              <a:tailEnd/>
            </a:ln>
          </p:spPr>
        </p:pic>
        <p:sp>
          <p:nvSpPr>
            <p:cNvPr id="19" name="矩形 18"/>
            <p:cNvSpPr/>
            <p:nvPr/>
          </p:nvSpPr>
          <p:spPr>
            <a:xfrm>
              <a:off x="1471647" y="1846425"/>
              <a:ext cx="1330465" cy="435222"/>
            </a:xfrm>
            <a:prstGeom prst="rect">
              <a:avLst/>
            </a:prstGeom>
            <a:noFill/>
            <a:ln w="120650">
              <a:noFill/>
            </a:ln>
            <a:effectLst/>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zh-TW" altLang="en-US"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rPr>
                <a:t>公部門</a:t>
              </a:r>
              <a:endParaRPr lang="en-US" altLang="zh-TW"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endParaRPr>
            </a:p>
            <a:p>
              <a:pPr algn="ctr" eaLnBrk="0" hangingPunct="0">
                <a:defRPr/>
              </a:pPr>
              <a:r>
                <a:rPr lang="en-US" altLang="zh-TW"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rPr>
                <a:t>社福中心</a:t>
              </a:r>
              <a:r>
                <a:rPr lang="en-US" altLang="zh-TW"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en-US"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pSp>
      <p:grpSp>
        <p:nvGrpSpPr>
          <p:cNvPr id="20498" name="群組 19"/>
          <p:cNvGrpSpPr>
            <a:grpSpLocks/>
          </p:cNvGrpSpPr>
          <p:nvPr/>
        </p:nvGrpSpPr>
        <p:grpSpPr bwMode="auto">
          <a:xfrm>
            <a:off x="7193643" y="1920120"/>
            <a:ext cx="2057703" cy="1920119"/>
            <a:chOff x="4716289" y="1340768"/>
            <a:chExt cx="2160239" cy="2016224"/>
          </a:xfrm>
        </p:grpSpPr>
        <p:sp>
          <p:nvSpPr>
            <p:cNvPr id="21" name="矩形 20"/>
            <p:cNvSpPr/>
            <p:nvPr/>
          </p:nvSpPr>
          <p:spPr>
            <a:xfrm>
              <a:off x="4860729" y="1340768"/>
              <a:ext cx="2015799" cy="2016224"/>
            </a:xfrm>
            <a:prstGeom prst="rect">
              <a:avLst/>
            </a:prstGeom>
            <a:ln/>
          </p:spPr>
          <p:style>
            <a:lnRef idx="3">
              <a:schemeClr val="lt1"/>
            </a:lnRef>
            <a:fillRef idx="1">
              <a:schemeClr val="accent1"/>
            </a:fillRef>
            <a:effectRef idx="1">
              <a:schemeClr val="accent1"/>
            </a:effectRef>
            <a:fontRef idx="minor">
              <a:schemeClr val="lt1"/>
            </a:fontRef>
          </p:style>
          <p:txBody>
            <a:bodyPr anchor="ctr"/>
            <a:lstStyle/>
            <a:p>
              <a:pPr algn="ctr" eaLnBrk="0" hangingPunct="0">
                <a:defRPr/>
              </a:pPr>
              <a:endParaRPr lang="zh-TW" altLang="en-US" sz="1333"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22" name="矩形 21"/>
            <p:cNvSpPr/>
            <p:nvPr/>
          </p:nvSpPr>
          <p:spPr>
            <a:xfrm>
              <a:off x="5176590" y="1340768"/>
              <a:ext cx="1330110" cy="792202"/>
            </a:xfrm>
            <a:prstGeom prst="rect">
              <a:avLst/>
            </a:prstGeom>
            <a:noFill/>
            <a:ln w="120650">
              <a:noFill/>
            </a:ln>
            <a:effectLst/>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r>
                <a:rPr lang="zh-TW" altLang="en-US"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rPr>
                <a:t>私部門</a:t>
              </a:r>
              <a:endParaRPr lang="en-US" altLang="zh-TW"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endParaRPr>
            </a:p>
            <a:p>
              <a:pPr algn="ctr" eaLnBrk="0" hangingPunct="0">
                <a:defRPr/>
              </a:pPr>
              <a:r>
                <a:rPr lang="en-US" altLang="zh-TW"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rPr>
                <a:t>民間團體</a:t>
              </a:r>
              <a:r>
                <a:rPr lang="en-US" altLang="zh-TW"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en-US"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20503" name="圖片 22"/>
            <p:cNvPicPr>
              <a:picLocks noChangeAspect="1"/>
            </p:cNvPicPr>
            <p:nvPr/>
          </p:nvPicPr>
          <p:blipFill>
            <a:blip r:embed="rId5" cstate="print"/>
            <a:srcRect/>
            <a:stretch>
              <a:fillRect/>
            </a:stretch>
          </p:blipFill>
          <p:spPr bwMode="auto">
            <a:xfrm>
              <a:off x="5211998" y="1988840"/>
              <a:ext cx="1259933" cy="1030855"/>
            </a:xfrm>
            <a:prstGeom prst="rect">
              <a:avLst/>
            </a:prstGeom>
            <a:noFill/>
            <a:ln w="9525">
              <a:noFill/>
              <a:miter lim="800000"/>
              <a:headEnd/>
              <a:tailEnd/>
            </a:ln>
          </p:spPr>
        </p:pic>
        <p:sp>
          <p:nvSpPr>
            <p:cNvPr id="24" name="矩形 23"/>
            <p:cNvSpPr/>
            <p:nvPr/>
          </p:nvSpPr>
          <p:spPr>
            <a:xfrm>
              <a:off x="4716289" y="2204410"/>
              <a:ext cx="1330110" cy="436584"/>
            </a:xfrm>
            <a:prstGeom prst="rect">
              <a:avLst/>
            </a:prstGeom>
            <a:noFill/>
            <a:ln w="120650">
              <a:noFill/>
            </a:ln>
            <a:effectLst/>
          </p:spPr>
          <p:style>
            <a:lnRef idx="1">
              <a:schemeClr val="accent1"/>
            </a:lnRef>
            <a:fillRef idx="2">
              <a:schemeClr val="accent1"/>
            </a:fillRef>
            <a:effectRef idx="1">
              <a:schemeClr val="accent1"/>
            </a:effectRef>
            <a:fontRef idx="minor">
              <a:schemeClr val="dk1"/>
            </a:fontRef>
          </p:style>
          <p:txBody>
            <a:bodyPr anchor="ctr"/>
            <a:lstStyle/>
            <a:p>
              <a:pPr algn="ctr" eaLnBrk="0" hangingPunct="0">
                <a:defRPr/>
              </a:pPr>
              <a:endParaRPr lang="zh-TW" altLang="en-US" sz="1714" b="1" dirty="0">
                <a:solidFill>
                  <a:schemeClr val="bg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pSp>
      <p:cxnSp>
        <p:nvCxnSpPr>
          <p:cNvPr id="34" name="直線單箭頭接點 33"/>
          <p:cNvCxnSpPr/>
          <p:nvPr/>
        </p:nvCxnSpPr>
        <p:spPr>
          <a:xfrm flipH="1">
            <a:off x="5135941" y="3214310"/>
            <a:ext cx="2057702" cy="0"/>
          </a:xfrm>
          <a:prstGeom prst="straightConnector1">
            <a:avLst/>
          </a:prstGeom>
          <a:ln w="5715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0500" name="文字方塊 34"/>
          <p:cNvSpPr txBox="1">
            <a:spLocks noChangeArrowheads="1"/>
          </p:cNvSpPr>
          <p:nvPr/>
        </p:nvSpPr>
        <p:spPr bwMode="auto">
          <a:xfrm>
            <a:off x="5752798" y="3076727"/>
            <a:ext cx="892024" cy="356123"/>
          </a:xfrm>
          <a:prstGeom prst="rect">
            <a:avLst/>
          </a:prstGeom>
          <a:solidFill>
            <a:srgbClr val="FFC000"/>
          </a:solidFill>
          <a:ln w="9525">
            <a:noFill/>
            <a:miter lim="800000"/>
            <a:headEnd/>
            <a:tailEnd/>
          </a:ln>
        </p:spPr>
        <p:txBody>
          <a:bodyPr>
            <a:spAutoFit/>
          </a:bodyPr>
          <a:lstStyle/>
          <a:p>
            <a:pPr eaLnBrk="0" hangingPunct="0"/>
            <a:r>
              <a:rPr lang="zh-TW" altLang="en-US" sz="1714" b="1">
                <a:latin typeface="微軟正黑體" pitchFamily="34" charset="-120"/>
                <a:ea typeface="微軟正黑體" pitchFamily="34" charset="-120"/>
              </a:rPr>
              <a:t>回   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投影片編號版面配置區 3"/>
          <p:cNvSpPr>
            <a:spLocks noGrp="1"/>
          </p:cNvSpPr>
          <p:nvPr>
            <p:ph type="sldNum" sz="quarter" idx="12"/>
          </p:nvPr>
        </p:nvSpPr>
        <p:spPr bwMode="auto">
          <a:noFill/>
          <a:ln>
            <a:miter lim="800000"/>
            <a:headEnd/>
            <a:tailEnd/>
          </a:ln>
        </p:spPr>
        <p:txBody>
          <a:bodyPr/>
          <a:lstStyle/>
          <a:p>
            <a:fld id="{9F7B4162-95C5-423B-97B4-A1E0194992DF}" type="slidenum">
              <a:rPr lang="zh-TW" altLang="en-US" smtClean="0">
                <a:latin typeface="微軟正黑體" pitchFamily="34" charset="-120"/>
                <a:ea typeface="微軟正黑體" pitchFamily="34" charset="-120"/>
              </a:rPr>
              <a:pPr/>
              <a:t>20</a:t>
            </a:fld>
            <a:endParaRPr lang="zh-TW" altLang="en-US">
              <a:latin typeface="微軟正黑體" pitchFamily="34" charset="-120"/>
              <a:ea typeface="微軟正黑體" pitchFamily="34" charset="-120"/>
            </a:endParaRPr>
          </a:p>
        </p:txBody>
      </p:sp>
      <p:sp>
        <p:nvSpPr>
          <p:cNvPr id="98" name="圓角矩形 97"/>
          <p:cNvSpPr/>
          <p:nvPr/>
        </p:nvSpPr>
        <p:spPr bwMode="auto">
          <a:xfrm>
            <a:off x="5510894" y="6309179"/>
            <a:ext cx="1820333" cy="432405"/>
          </a:xfrm>
          <a:prstGeom prst="roundRect">
            <a:avLst/>
          </a:prstGeom>
          <a:ln/>
        </p:spPr>
        <p:style>
          <a:lnRef idx="1">
            <a:schemeClr val="accent6"/>
          </a:lnRef>
          <a:fillRef idx="3">
            <a:schemeClr val="accent6"/>
          </a:fillRef>
          <a:effectRef idx="2">
            <a:schemeClr val="accent6"/>
          </a:effectRef>
          <a:fontRef idx="minor">
            <a:schemeClr val="lt1"/>
          </a:fontRef>
        </p:style>
        <p:txBody>
          <a:bodyPr lIns="103841" tIns="51921" rIns="103841" bIns="51921" anchor="ctr"/>
          <a:lstStyle/>
          <a:p>
            <a:pPr algn="ctr" eaLnBrk="0" hangingPunct="0">
              <a:defRPr/>
            </a:pPr>
            <a:r>
              <a:rPr lang="zh-TW" altLang="en-US" sz="1000" b="1" dirty="0">
                <a:solidFill>
                  <a:schemeClr val="tx1"/>
                </a:solidFill>
                <a:latin typeface="微軟正黑體" pitchFamily="34" charset="-120"/>
                <a:ea typeface="微軟正黑體" pitchFamily="34" charset="-120"/>
              </a:rPr>
              <a:t>連結民間團體提供脆弱家庭多元及專精服務</a:t>
            </a:r>
          </a:p>
        </p:txBody>
      </p:sp>
      <p:sp>
        <p:nvSpPr>
          <p:cNvPr id="112" name="圓角矩形 111"/>
          <p:cNvSpPr/>
          <p:nvPr/>
        </p:nvSpPr>
        <p:spPr bwMode="auto">
          <a:xfrm>
            <a:off x="7558013" y="6309179"/>
            <a:ext cx="1212548" cy="405190"/>
          </a:xfrm>
          <a:prstGeom prst="roundRect">
            <a:avLst/>
          </a:prstGeom>
          <a:ln/>
        </p:spPr>
        <p:style>
          <a:lnRef idx="1">
            <a:schemeClr val="accent6"/>
          </a:lnRef>
          <a:fillRef idx="3">
            <a:schemeClr val="accent6"/>
          </a:fillRef>
          <a:effectRef idx="2">
            <a:schemeClr val="accent6"/>
          </a:effectRef>
          <a:fontRef idx="minor">
            <a:schemeClr val="lt1"/>
          </a:fontRef>
        </p:style>
        <p:txBody>
          <a:bodyPr lIns="103841" tIns="51921" rIns="103841" bIns="51921" anchor="ctr"/>
          <a:lstStyle/>
          <a:p>
            <a:pPr algn="ctr" eaLnBrk="0" hangingPunct="0">
              <a:defRPr/>
            </a:pPr>
            <a:r>
              <a:rPr lang="zh-TW" altLang="en-US" sz="1000" b="1" dirty="0">
                <a:solidFill>
                  <a:schemeClr val="tx1"/>
                </a:solidFill>
                <a:latin typeface="微軟正黑體" pitchFamily="34" charset="-120"/>
                <a:ea typeface="微軟正黑體" pitchFamily="34" charset="-120"/>
              </a:rPr>
              <a:t>社福中心自行提供服務</a:t>
            </a:r>
          </a:p>
        </p:txBody>
      </p:sp>
      <p:grpSp>
        <p:nvGrpSpPr>
          <p:cNvPr id="21509" name="群組 54"/>
          <p:cNvGrpSpPr>
            <a:grpSpLocks/>
          </p:cNvGrpSpPr>
          <p:nvPr/>
        </p:nvGrpSpPr>
        <p:grpSpPr bwMode="auto">
          <a:xfrm>
            <a:off x="2216453" y="1628323"/>
            <a:ext cx="4700512" cy="359833"/>
            <a:chOff x="1907704" y="1628800"/>
            <a:chExt cx="4464496" cy="360040"/>
          </a:xfrm>
        </p:grpSpPr>
        <p:sp>
          <p:nvSpPr>
            <p:cNvPr id="51" name="圓角矩形 50"/>
            <p:cNvSpPr/>
            <p:nvPr/>
          </p:nvSpPr>
          <p:spPr>
            <a:xfrm>
              <a:off x="1907704" y="1628800"/>
              <a:ext cx="1008066" cy="360040"/>
            </a:xfrm>
            <a:prstGeom prst="roundRect">
              <a:avLst/>
            </a:prstGeom>
            <a:solidFill>
              <a:srgbClr val="00B0F0"/>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TW" sz="1333" b="1" dirty="0">
                  <a:solidFill>
                    <a:schemeClr val="bg1"/>
                  </a:solidFill>
                  <a:latin typeface="微軟正黑體" pitchFamily="34" charset="-120"/>
                  <a:ea typeface="微軟正黑體" pitchFamily="34" charset="-120"/>
                </a:rPr>
                <a:t>113</a:t>
              </a:r>
              <a:r>
                <a:rPr lang="zh-TW" altLang="en-US" sz="1333" b="1" dirty="0">
                  <a:solidFill>
                    <a:schemeClr val="bg1"/>
                  </a:solidFill>
                  <a:latin typeface="微軟正黑體" pitchFamily="34" charset="-120"/>
                  <a:ea typeface="微軟正黑體" pitchFamily="34" charset="-120"/>
                </a:rPr>
                <a:t>專線</a:t>
              </a:r>
            </a:p>
          </p:txBody>
        </p:sp>
        <p:sp>
          <p:nvSpPr>
            <p:cNvPr id="52" name="圓角矩形 51"/>
            <p:cNvSpPr/>
            <p:nvPr/>
          </p:nvSpPr>
          <p:spPr>
            <a:xfrm>
              <a:off x="2987569" y="1628800"/>
              <a:ext cx="1008066" cy="360040"/>
            </a:xfrm>
            <a:prstGeom prst="roundRect">
              <a:avLst/>
            </a:prstGeom>
            <a:solidFill>
              <a:srgbClr val="00B0F0"/>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TW" sz="1333" b="1" dirty="0">
                  <a:solidFill>
                    <a:schemeClr val="bg1"/>
                  </a:solidFill>
                  <a:latin typeface="微軟正黑體" pitchFamily="34" charset="-120"/>
                  <a:ea typeface="微軟正黑體" pitchFamily="34" charset="-120"/>
                </a:rPr>
                <a:t>1957</a:t>
              </a:r>
              <a:r>
                <a:rPr lang="zh-TW" altLang="en-US" sz="1333" b="1" dirty="0">
                  <a:solidFill>
                    <a:schemeClr val="bg1"/>
                  </a:solidFill>
                  <a:latin typeface="微軟正黑體" pitchFamily="34" charset="-120"/>
                  <a:ea typeface="微軟正黑體" pitchFamily="34" charset="-120"/>
                </a:rPr>
                <a:t>專線</a:t>
              </a:r>
            </a:p>
          </p:txBody>
        </p:sp>
        <p:sp>
          <p:nvSpPr>
            <p:cNvPr id="53" name="圓角矩形 52"/>
            <p:cNvSpPr/>
            <p:nvPr/>
          </p:nvSpPr>
          <p:spPr>
            <a:xfrm>
              <a:off x="4067434" y="1628800"/>
              <a:ext cx="1008066" cy="360040"/>
            </a:xfrm>
            <a:prstGeom prst="roundRect">
              <a:avLst/>
            </a:prstGeom>
            <a:solidFill>
              <a:srgbClr val="00B0F0"/>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zh-TW" altLang="en-US" sz="1048" b="1" dirty="0">
                  <a:solidFill>
                    <a:schemeClr val="bg1"/>
                  </a:solidFill>
                  <a:latin typeface="微軟正黑體" pitchFamily="34" charset="-120"/>
                  <a:ea typeface="微軟正黑體" pitchFamily="34" charset="-120"/>
                </a:rPr>
                <a:t>男性關懷</a:t>
              </a:r>
              <a:endParaRPr lang="en-US" altLang="zh-TW" sz="1048" b="1" dirty="0">
                <a:solidFill>
                  <a:schemeClr val="bg1"/>
                </a:solidFill>
                <a:latin typeface="微軟正黑體" pitchFamily="34" charset="-120"/>
                <a:ea typeface="微軟正黑體" pitchFamily="34" charset="-120"/>
              </a:endParaRPr>
            </a:p>
            <a:p>
              <a:pPr algn="ctr" eaLnBrk="0" hangingPunct="0">
                <a:defRPr/>
              </a:pPr>
              <a:r>
                <a:rPr lang="zh-TW" altLang="en-US" sz="1048" b="1" dirty="0">
                  <a:solidFill>
                    <a:schemeClr val="bg1"/>
                  </a:solidFill>
                  <a:latin typeface="微軟正黑體" pitchFamily="34" charset="-120"/>
                  <a:ea typeface="微軟正黑體" pitchFamily="34" charset="-120"/>
                </a:rPr>
                <a:t>專線</a:t>
              </a:r>
            </a:p>
          </p:txBody>
        </p:sp>
        <p:sp>
          <p:nvSpPr>
            <p:cNvPr id="54" name="圓角矩形 53"/>
            <p:cNvSpPr/>
            <p:nvPr/>
          </p:nvSpPr>
          <p:spPr>
            <a:xfrm>
              <a:off x="5220535" y="1628800"/>
              <a:ext cx="1151665" cy="360040"/>
            </a:xfrm>
            <a:prstGeom prst="roundRect">
              <a:avLst/>
            </a:prstGeom>
            <a:solidFill>
              <a:srgbClr val="00B0F0"/>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zh-TW" altLang="en-US" sz="1048" b="1" dirty="0">
                  <a:solidFill>
                    <a:schemeClr val="bg1"/>
                  </a:solidFill>
                  <a:latin typeface="微軟正黑體" pitchFamily="34" charset="-120"/>
                  <a:ea typeface="微軟正黑體" pitchFamily="34" charset="-120"/>
                </a:rPr>
                <a:t>社安網線上</a:t>
              </a:r>
              <a:endParaRPr lang="en-US" altLang="zh-TW" sz="1048" b="1" dirty="0">
                <a:solidFill>
                  <a:schemeClr val="bg1"/>
                </a:solidFill>
                <a:latin typeface="微軟正黑體" pitchFamily="34" charset="-120"/>
                <a:ea typeface="微軟正黑體" pitchFamily="34" charset="-120"/>
              </a:endParaRPr>
            </a:p>
            <a:p>
              <a:pPr algn="ctr" eaLnBrk="0" hangingPunct="0">
                <a:defRPr/>
              </a:pPr>
              <a:r>
                <a:rPr lang="zh-TW" altLang="en-US" sz="1048" b="1" dirty="0">
                  <a:solidFill>
                    <a:schemeClr val="bg1"/>
                  </a:solidFill>
                  <a:latin typeface="微軟正黑體" pitchFamily="34" charset="-120"/>
                  <a:ea typeface="微軟正黑體" pitchFamily="34" charset="-120"/>
                </a:rPr>
                <a:t>求助平台</a:t>
              </a:r>
            </a:p>
          </p:txBody>
        </p:sp>
      </p:grpSp>
      <p:sp>
        <p:nvSpPr>
          <p:cNvPr id="56" name="矩形 55"/>
          <p:cNvSpPr/>
          <p:nvPr/>
        </p:nvSpPr>
        <p:spPr>
          <a:xfrm>
            <a:off x="2822727" y="2204358"/>
            <a:ext cx="3565071" cy="288774"/>
          </a:xfrm>
          <a:prstGeom prst="rect">
            <a:avLst/>
          </a:prstGeom>
          <a:solidFill>
            <a:srgbClr val="002060"/>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zh-TW" altLang="en-US" sz="1333" b="1" dirty="0">
                <a:solidFill>
                  <a:schemeClr val="bg1"/>
                </a:solidFill>
                <a:latin typeface="微軟正黑體" pitchFamily="34" charset="-120"/>
                <a:ea typeface="微軟正黑體" pitchFamily="34" charset="-120"/>
              </a:rPr>
              <a:t>受理疑似保護性及脆弱家庭案件</a:t>
            </a:r>
          </a:p>
        </p:txBody>
      </p:sp>
      <p:sp>
        <p:nvSpPr>
          <p:cNvPr id="57" name="矩形 56"/>
          <p:cNvSpPr/>
          <p:nvPr/>
        </p:nvSpPr>
        <p:spPr>
          <a:xfrm>
            <a:off x="2822727" y="2709333"/>
            <a:ext cx="3565071" cy="503465"/>
          </a:xfrm>
          <a:prstGeom prst="rect">
            <a:avLst/>
          </a:prstGeom>
          <a:solidFill>
            <a:srgbClr val="002060"/>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zh-TW" altLang="en-US" sz="1333" b="1" dirty="0">
                <a:solidFill>
                  <a:schemeClr val="bg1"/>
                </a:solidFill>
                <a:latin typeface="微軟正黑體" pitchFamily="34" charset="-120"/>
                <a:ea typeface="微軟正黑體" pitchFamily="34" charset="-120"/>
              </a:rPr>
              <a:t>集中篩派案中心</a:t>
            </a:r>
            <a:endParaRPr lang="en-US" altLang="zh-TW" sz="1333" b="1" dirty="0">
              <a:solidFill>
                <a:schemeClr val="bg1"/>
              </a:solidFill>
              <a:latin typeface="微軟正黑體" pitchFamily="34" charset="-120"/>
              <a:ea typeface="微軟正黑體" pitchFamily="34" charset="-120"/>
            </a:endParaRPr>
          </a:p>
          <a:p>
            <a:pPr algn="ctr" eaLnBrk="0" hangingPunct="0">
              <a:defRPr/>
            </a:pPr>
            <a:r>
              <a:rPr lang="zh-TW" altLang="en-US" sz="1333" b="1" dirty="0">
                <a:solidFill>
                  <a:schemeClr val="bg1"/>
                </a:solidFill>
                <a:latin typeface="微軟正黑體" pitchFamily="34" charset="-120"/>
                <a:ea typeface="微軟正黑體" pitchFamily="34" charset="-120"/>
              </a:rPr>
              <a:t>分級分類、緊急處理、風險及需求研判</a:t>
            </a:r>
          </a:p>
        </p:txBody>
      </p:sp>
      <p:sp>
        <p:nvSpPr>
          <p:cNvPr id="58" name="菱形 57"/>
          <p:cNvSpPr/>
          <p:nvPr/>
        </p:nvSpPr>
        <p:spPr>
          <a:xfrm>
            <a:off x="3581703" y="3429000"/>
            <a:ext cx="1971524" cy="409727"/>
          </a:xfrm>
          <a:prstGeom prst="diamond">
            <a:avLst/>
          </a:prstGeom>
          <a:solidFill>
            <a:schemeClr val="accent6">
              <a:lumMod val="7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zh-TW" altLang="en-US" sz="1333" b="1" dirty="0">
                <a:solidFill>
                  <a:schemeClr val="bg1"/>
                </a:solidFill>
                <a:latin typeface="微軟正黑體" pitchFamily="34" charset="-120"/>
                <a:ea typeface="微軟正黑體" pitchFamily="34" charset="-120"/>
              </a:rPr>
              <a:t>派案評估</a:t>
            </a:r>
          </a:p>
        </p:txBody>
      </p:sp>
      <p:sp>
        <p:nvSpPr>
          <p:cNvPr id="59" name="矩形 58"/>
          <p:cNvSpPr/>
          <p:nvPr/>
        </p:nvSpPr>
        <p:spPr>
          <a:xfrm>
            <a:off x="1230690" y="4364870"/>
            <a:ext cx="1440846" cy="432405"/>
          </a:xfrm>
          <a:prstGeom prst="rect">
            <a:avLst/>
          </a:prstGeom>
          <a:solidFill>
            <a:srgbClr val="C00000"/>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zh-TW" altLang="en-US" sz="1048" b="1" dirty="0">
                <a:solidFill>
                  <a:schemeClr val="bg1"/>
                </a:solidFill>
                <a:latin typeface="微軟正黑體" pitchFamily="34" charset="-120"/>
                <a:ea typeface="微軟正黑體" pitchFamily="34" charset="-120"/>
              </a:rPr>
              <a:t>案主有急迫危險、重傷、死亡等情事</a:t>
            </a:r>
          </a:p>
        </p:txBody>
      </p:sp>
      <p:sp>
        <p:nvSpPr>
          <p:cNvPr id="60" name="矩形 59"/>
          <p:cNvSpPr/>
          <p:nvPr/>
        </p:nvSpPr>
        <p:spPr>
          <a:xfrm>
            <a:off x="2747132" y="4364870"/>
            <a:ext cx="2122714" cy="432405"/>
          </a:xfrm>
          <a:prstGeom prst="rect">
            <a:avLst/>
          </a:prstGeom>
          <a:solidFill>
            <a:schemeClr val="tx2">
              <a:lumMod val="60000"/>
              <a:lumOff val="40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lnSpc>
                <a:spcPts val="1431"/>
              </a:lnSpc>
              <a:defRPr/>
            </a:pPr>
            <a:r>
              <a:rPr lang="zh-TW" altLang="en-US" sz="1048" b="1" dirty="0">
                <a:solidFill>
                  <a:schemeClr val="tx1"/>
                </a:solidFill>
                <a:latin typeface="微軟正黑體" pitchFamily="34" charset="-120"/>
                <a:ea typeface="微軟正黑體" pitchFamily="34" charset="-120"/>
              </a:rPr>
              <a:t>性侵害、兒少保護、脆家</a:t>
            </a:r>
            <a:r>
              <a:rPr lang="en-US" altLang="zh-TW" sz="1048" b="1" dirty="0">
                <a:solidFill>
                  <a:schemeClr val="tx1"/>
                </a:solidFill>
                <a:latin typeface="微軟正黑體" pitchFamily="34" charset="-120"/>
                <a:ea typeface="微軟正黑體" pitchFamily="34" charset="-120"/>
              </a:rPr>
              <a:t>(</a:t>
            </a:r>
            <a:r>
              <a:rPr lang="zh-TW" altLang="en-US" sz="1048" b="1" dirty="0">
                <a:solidFill>
                  <a:schemeClr val="tx1"/>
                </a:solidFill>
                <a:latin typeface="微軟正黑體" pitchFamily="34" charset="-120"/>
                <a:ea typeface="微軟正黑體" pitchFamily="34" charset="-120"/>
              </a:rPr>
              <a:t>兒少</a:t>
            </a:r>
            <a:r>
              <a:rPr lang="en-US" altLang="zh-TW" sz="1048" b="1" dirty="0">
                <a:solidFill>
                  <a:schemeClr val="tx1"/>
                </a:solidFill>
                <a:latin typeface="微軟正黑體" pitchFamily="34" charset="-120"/>
                <a:ea typeface="微軟正黑體" pitchFamily="34" charset="-120"/>
              </a:rPr>
              <a:t>)</a:t>
            </a:r>
            <a:r>
              <a:rPr lang="zh-TW" altLang="en-US" sz="1048" b="1" dirty="0">
                <a:solidFill>
                  <a:schemeClr val="tx1"/>
                </a:solidFill>
                <a:latin typeface="微軟正黑體" pitchFamily="34" charset="-120"/>
                <a:ea typeface="微軟正黑體" pitchFamily="34" charset="-120"/>
              </a:rPr>
              <a:t>、成保</a:t>
            </a:r>
            <a:r>
              <a:rPr lang="en-US" altLang="zh-TW" sz="1048" b="1" dirty="0">
                <a:solidFill>
                  <a:schemeClr val="tx1"/>
                </a:solidFill>
                <a:latin typeface="微軟正黑體" pitchFamily="34" charset="-120"/>
                <a:ea typeface="微軟正黑體" pitchFamily="34" charset="-120"/>
              </a:rPr>
              <a:t>(</a:t>
            </a:r>
            <a:r>
              <a:rPr lang="zh-TW" altLang="en-US" sz="1048" b="1" dirty="0">
                <a:solidFill>
                  <a:schemeClr val="tx1"/>
                </a:solidFill>
                <a:latin typeface="微軟正黑體" pitchFamily="34" charset="-120"/>
                <a:ea typeface="微軟正黑體" pitchFamily="34" charset="-120"/>
              </a:rPr>
              <a:t>親密高危機、身障者</a:t>
            </a:r>
            <a:r>
              <a:rPr lang="en-US" altLang="zh-TW" sz="1048" b="1" dirty="0">
                <a:solidFill>
                  <a:schemeClr val="tx1"/>
                </a:solidFill>
                <a:latin typeface="微軟正黑體" pitchFamily="34" charset="-120"/>
                <a:ea typeface="微軟正黑體" pitchFamily="34" charset="-120"/>
              </a:rPr>
              <a:t>)</a:t>
            </a:r>
            <a:endParaRPr lang="zh-TW" altLang="en-US" sz="1048" b="1" dirty="0">
              <a:solidFill>
                <a:schemeClr val="tx1"/>
              </a:solidFill>
              <a:latin typeface="微軟正黑體" pitchFamily="34" charset="-120"/>
              <a:ea typeface="微軟正黑體" pitchFamily="34" charset="-120"/>
            </a:endParaRPr>
          </a:p>
        </p:txBody>
      </p:sp>
      <p:sp>
        <p:nvSpPr>
          <p:cNvPr id="61" name="矩形 60"/>
          <p:cNvSpPr/>
          <p:nvPr/>
        </p:nvSpPr>
        <p:spPr>
          <a:xfrm>
            <a:off x="4945441" y="4364870"/>
            <a:ext cx="1593548" cy="432405"/>
          </a:xfrm>
          <a:prstGeom prst="rect">
            <a:avLst/>
          </a:prstGeom>
          <a:solidFill>
            <a:srgbClr val="92D050"/>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zh-TW" altLang="en-US" sz="1048" b="1" dirty="0">
                <a:solidFill>
                  <a:schemeClr val="tx1"/>
                </a:solidFill>
                <a:latin typeface="微軟正黑體" pitchFamily="34" charset="-120"/>
                <a:ea typeface="微軟正黑體" pitchFamily="34" charset="-120"/>
              </a:rPr>
              <a:t>分屬左列之成人保護及脆家案件</a:t>
            </a:r>
            <a:r>
              <a:rPr lang="en-US" altLang="zh-TW" sz="1048" b="1" dirty="0">
                <a:solidFill>
                  <a:schemeClr val="tx1"/>
                </a:solidFill>
                <a:latin typeface="微軟正黑體" pitchFamily="34" charset="-120"/>
                <a:ea typeface="微軟正黑體" pitchFamily="34" charset="-120"/>
              </a:rPr>
              <a:t>(18</a:t>
            </a:r>
            <a:r>
              <a:rPr lang="zh-TW" altLang="en-US" sz="1048" b="1" dirty="0">
                <a:solidFill>
                  <a:schemeClr val="tx1"/>
                </a:solidFill>
                <a:latin typeface="微軟正黑體" pitchFamily="34" charset="-120"/>
                <a:ea typeface="微軟正黑體" pitchFamily="34" charset="-120"/>
              </a:rPr>
              <a:t>歲以上</a:t>
            </a:r>
            <a:r>
              <a:rPr lang="en-US" altLang="zh-TW" sz="1048" b="1" dirty="0">
                <a:solidFill>
                  <a:schemeClr val="tx1"/>
                </a:solidFill>
                <a:latin typeface="微軟正黑體" pitchFamily="34" charset="-120"/>
                <a:ea typeface="微軟正黑體" pitchFamily="34" charset="-120"/>
              </a:rPr>
              <a:t>)</a:t>
            </a:r>
            <a:endParaRPr lang="zh-TW" altLang="en-US" sz="1048" b="1" dirty="0">
              <a:solidFill>
                <a:schemeClr val="tx1"/>
              </a:solidFill>
              <a:latin typeface="微軟正黑體" pitchFamily="34" charset="-120"/>
              <a:ea typeface="微軟正黑體" pitchFamily="34" charset="-120"/>
            </a:endParaRPr>
          </a:p>
        </p:txBody>
      </p:sp>
      <p:sp>
        <p:nvSpPr>
          <p:cNvPr id="65" name="圓角矩形 64"/>
          <p:cNvSpPr/>
          <p:nvPr/>
        </p:nvSpPr>
        <p:spPr>
          <a:xfrm>
            <a:off x="6767286" y="4364870"/>
            <a:ext cx="833060" cy="359833"/>
          </a:xfrm>
          <a:prstGeom prst="roundRect">
            <a:avLst/>
          </a:prstGeom>
          <a:ln/>
        </p:spPr>
        <p:style>
          <a:lnRef idx="2">
            <a:schemeClr val="accent2"/>
          </a:lnRef>
          <a:fillRef idx="1">
            <a:schemeClr val="lt1"/>
          </a:fillRef>
          <a:effectRef idx="0">
            <a:schemeClr val="accent2"/>
          </a:effectRef>
          <a:fontRef idx="minor">
            <a:schemeClr val="dk1"/>
          </a:fontRef>
        </p:style>
        <p:txBody>
          <a:bodyPr lIns="103841" tIns="51921" rIns="103841" bIns="51921" anchor="ctr"/>
          <a:lstStyle/>
          <a:p>
            <a:pPr algn="ctr" eaLnBrk="0" hangingPunct="0">
              <a:defRPr/>
            </a:pPr>
            <a:r>
              <a:rPr lang="zh-TW" altLang="en-US" sz="1048" dirty="0">
                <a:solidFill>
                  <a:srgbClr val="7030A0"/>
                </a:solidFill>
                <a:latin typeface="微軟正黑體" pitchFamily="34" charset="-120"/>
                <a:ea typeface="微軟正黑體" pitchFamily="34" charset="-120"/>
              </a:rPr>
              <a:t>不派案</a:t>
            </a:r>
          </a:p>
        </p:txBody>
      </p:sp>
      <p:sp>
        <p:nvSpPr>
          <p:cNvPr id="66" name="圓角矩形 65"/>
          <p:cNvSpPr/>
          <p:nvPr/>
        </p:nvSpPr>
        <p:spPr>
          <a:xfrm>
            <a:off x="7751536" y="4364870"/>
            <a:ext cx="834571" cy="359833"/>
          </a:xfrm>
          <a:prstGeom prst="roundRect">
            <a:avLst/>
          </a:prstGeom>
          <a:ln/>
        </p:spPr>
        <p:style>
          <a:lnRef idx="2">
            <a:schemeClr val="accent2"/>
          </a:lnRef>
          <a:fillRef idx="1">
            <a:schemeClr val="lt1"/>
          </a:fillRef>
          <a:effectRef idx="0">
            <a:schemeClr val="accent2"/>
          </a:effectRef>
          <a:fontRef idx="minor">
            <a:schemeClr val="dk1"/>
          </a:fontRef>
        </p:style>
        <p:txBody>
          <a:bodyPr lIns="103841" tIns="51921" rIns="103841" bIns="51921" anchor="ctr"/>
          <a:lstStyle/>
          <a:p>
            <a:pPr algn="ctr" eaLnBrk="0" hangingPunct="0">
              <a:defRPr/>
            </a:pPr>
            <a:r>
              <a:rPr lang="zh-TW" altLang="en-US" sz="1048" dirty="0">
                <a:solidFill>
                  <a:srgbClr val="7030A0"/>
                </a:solidFill>
                <a:latin typeface="微軟正黑體" pitchFamily="34" charset="-120"/>
                <a:ea typeface="微軟正黑體" pitchFamily="34" charset="-120"/>
              </a:rPr>
              <a:t>轉介其他單位</a:t>
            </a:r>
          </a:p>
        </p:txBody>
      </p:sp>
      <p:sp>
        <p:nvSpPr>
          <p:cNvPr id="67" name="菱形 66"/>
          <p:cNvSpPr/>
          <p:nvPr/>
        </p:nvSpPr>
        <p:spPr>
          <a:xfrm>
            <a:off x="3504595" y="5250846"/>
            <a:ext cx="1973036" cy="409726"/>
          </a:xfrm>
          <a:prstGeom prst="diamond">
            <a:avLst/>
          </a:prstGeom>
          <a:solidFill>
            <a:schemeClr val="accent6">
              <a:lumMod val="7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zh-TW" altLang="en-US" sz="1333" b="1" dirty="0">
                <a:solidFill>
                  <a:schemeClr val="bg1"/>
                </a:solidFill>
                <a:latin typeface="微軟正黑體" pitchFamily="34" charset="-120"/>
                <a:ea typeface="微軟正黑體" pitchFamily="34" charset="-120"/>
              </a:rPr>
              <a:t>分流評估</a:t>
            </a:r>
          </a:p>
        </p:txBody>
      </p:sp>
      <p:sp>
        <p:nvSpPr>
          <p:cNvPr id="68" name="矩形 67"/>
          <p:cNvSpPr/>
          <p:nvPr/>
        </p:nvSpPr>
        <p:spPr>
          <a:xfrm>
            <a:off x="1685774" y="5660572"/>
            <a:ext cx="1516440" cy="288774"/>
          </a:xfrm>
          <a:prstGeom prst="rect">
            <a:avLst/>
          </a:prstGeom>
          <a:solidFill>
            <a:srgbClr val="0070C0"/>
          </a:solidFill>
          <a:ln>
            <a:noFill/>
          </a:ln>
        </p:spPr>
        <p:style>
          <a:lnRef idx="2">
            <a:schemeClr val="accent1"/>
          </a:lnRef>
          <a:fillRef idx="1">
            <a:schemeClr val="lt1"/>
          </a:fillRef>
          <a:effectRef idx="0">
            <a:schemeClr val="accent1"/>
          </a:effectRef>
          <a:fontRef idx="minor">
            <a:schemeClr val="dk1"/>
          </a:fontRef>
        </p:style>
        <p:txBody>
          <a:bodyPr lIns="103841" tIns="51921" rIns="103841" bIns="51921" anchor="ctr"/>
          <a:lstStyle/>
          <a:p>
            <a:pPr algn="ctr" eaLnBrk="0" hangingPunct="0">
              <a:defRPr/>
            </a:pPr>
            <a:r>
              <a:rPr lang="zh-TW" altLang="en-US" sz="1048" b="1" dirty="0">
                <a:solidFill>
                  <a:schemeClr val="bg1"/>
                </a:solidFill>
                <a:latin typeface="微軟正黑體" pitchFamily="34" charset="-120"/>
                <a:ea typeface="微軟正黑體" pitchFamily="34" charset="-120"/>
              </a:rPr>
              <a:t>家防中心</a:t>
            </a:r>
          </a:p>
        </p:txBody>
      </p:sp>
      <p:sp>
        <p:nvSpPr>
          <p:cNvPr id="69" name="矩形 68"/>
          <p:cNvSpPr/>
          <p:nvPr/>
        </p:nvSpPr>
        <p:spPr>
          <a:xfrm>
            <a:off x="6008310" y="5660572"/>
            <a:ext cx="1516441" cy="288774"/>
          </a:xfrm>
          <a:prstGeom prst="rect">
            <a:avLst/>
          </a:prstGeom>
          <a:solidFill>
            <a:srgbClr val="0070C0"/>
          </a:solidFill>
          <a:ln>
            <a:noFill/>
          </a:ln>
        </p:spPr>
        <p:style>
          <a:lnRef idx="2">
            <a:schemeClr val="accent1"/>
          </a:lnRef>
          <a:fillRef idx="1">
            <a:schemeClr val="lt1"/>
          </a:fillRef>
          <a:effectRef idx="0">
            <a:schemeClr val="accent1"/>
          </a:effectRef>
          <a:fontRef idx="minor">
            <a:schemeClr val="dk1"/>
          </a:fontRef>
        </p:style>
        <p:txBody>
          <a:bodyPr lIns="103841" tIns="51921" rIns="103841" bIns="51921" anchor="ctr"/>
          <a:lstStyle/>
          <a:p>
            <a:pPr algn="ctr" eaLnBrk="0" hangingPunct="0">
              <a:defRPr/>
            </a:pPr>
            <a:r>
              <a:rPr lang="zh-TW" altLang="en-US" sz="1048" b="1" dirty="0">
                <a:solidFill>
                  <a:schemeClr val="bg1"/>
                </a:solidFill>
                <a:latin typeface="微軟正黑體" pitchFamily="34" charset="-120"/>
                <a:ea typeface="微軟正黑體" pitchFamily="34" charset="-120"/>
              </a:rPr>
              <a:t>社福中心</a:t>
            </a:r>
          </a:p>
        </p:txBody>
      </p:sp>
      <p:sp>
        <p:nvSpPr>
          <p:cNvPr id="70" name="矩形 69"/>
          <p:cNvSpPr/>
          <p:nvPr/>
        </p:nvSpPr>
        <p:spPr>
          <a:xfrm>
            <a:off x="2467429" y="5229679"/>
            <a:ext cx="961571" cy="287262"/>
          </a:xfrm>
          <a:prstGeom prst="rect">
            <a:avLst/>
          </a:prstGeom>
          <a:no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zh-TW" altLang="en-US" sz="1048" b="1" dirty="0">
                <a:solidFill>
                  <a:schemeClr val="tx1"/>
                </a:solidFill>
                <a:latin typeface="微軟正黑體" pitchFamily="34" charset="-120"/>
                <a:ea typeface="微軟正黑體" pitchFamily="34" charset="-120"/>
              </a:rPr>
              <a:t>保護流</a:t>
            </a:r>
          </a:p>
        </p:txBody>
      </p:sp>
      <p:sp>
        <p:nvSpPr>
          <p:cNvPr id="71" name="矩形 70"/>
          <p:cNvSpPr/>
          <p:nvPr/>
        </p:nvSpPr>
        <p:spPr>
          <a:xfrm>
            <a:off x="5553227" y="5229679"/>
            <a:ext cx="963083" cy="287262"/>
          </a:xfrm>
          <a:prstGeom prst="rect">
            <a:avLst/>
          </a:prstGeom>
          <a:no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zh-TW" altLang="en-US" sz="1048" b="1" dirty="0">
                <a:solidFill>
                  <a:schemeClr val="tx1"/>
                </a:solidFill>
                <a:latin typeface="微軟正黑體" pitchFamily="34" charset="-120"/>
                <a:ea typeface="微軟正黑體" pitchFamily="34" charset="-120"/>
              </a:rPr>
              <a:t>福利流</a:t>
            </a:r>
          </a:p>
        </p:txBody>
      </p:sp>
      <p:sp>
        <p:nvSpPr>
          <p:cNvPr id="72" name="流程圖: 直接存取儲存裝置 71"/>
          <p:cNvSpPr/>
          <p:nvPr/>
        </p:nvSpPr>
        <p:spPr>
          <a:xfrm>
            <a:off x="8206619" y="5589513"/>
            <a:ext cx="1592036" cy="432405"/>
          </a:xfrm>
          <a:prstGeom prst="flowChartMagneticDrum">
            <a:avLst/>
          </a:prstGeom>
          <a:solidFill>
            <a:schemeClr val="accent6">
              <a:lumMod val="60000"/>
              <a:lumOff val="40000"/>
            </a:schemeClr>
          </a:solidFill>
          <a:ln w="9525">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lIns="103841" tIns="51921" rIns="103841" bIns="51921" anchor="ctr"/>
          <a:lstStyle/>
          <a:p>
            <a:pPr algn="ctr" eaLnBrk="0" hangingPunct="0">
              <a:defRPr/>
            </a:pPr>
            <a:r>
              <a:rPr lang="zh-TW" altLang="en-US" sz="1048" b="1" dirty="0">
                <a:solidFill>
                  <a:schemeClr val="tx1"/>
                </a:solidFill>
                <a:latin typeface="微軟正黑體" pitchFamily="34" charset="-120"/>
                <a:ea typeface="微軟正黑體" pitchFamily="34" charset="-120"/>
              </a:rPr>
              <a:t>脆弱家庭個管系統</a:t>
            </a:r>
          </a:p>
        </p:txBody>
      </p:sp>
      <p:sp>
        <p:nvSpPr>
          <p:cNvPr id="73" name="流程圖: 文件 72"/>
          <p:cNvSpPr/>
          <p:nvPr/>
        </p:nvSpPr>
        <p:spPr>
          <a:xfrm>
            <a:off x="8131025" y="4869846"/>
            <a:ext cx="1667631" cy="503464"/>
          </a:xfrm>
          <a:prstGeom prst="flowChartDocument">
            <a:avLst/>
          </a:prstGeom>
          <a:ln/>
        </p:spPr>
        <p:style>
          <a:lnRef idx="2">
            <a:schemeClr val="accent1"/>
          </a:lnRef>
          <a:fillRef idx="1">
            <a:schemeClr val="lt1"/>
          </a:fillRef>
          <a:effectRef idx="0">
            <a:schemeClr val="accent1"/>
          </a:effectRef>
          <a:fontRef idx="minor">
            <a:schemeClr val="dk1"/>
          </a:fontRef>
        </p:style>
        <p:txBody>
          <a:bodyPr lIns="103841" tIns="51921" rIns="103841" bIns="51921" anchor="ctr"/>
          <a:lstStyle/>
          <a:p>
            <a:pPr algn="ctr" eaLnBrk="0" hangingPunct="0">
              <a:defRPr/>
            </a:pPr>
            <a:r>
              <a:rPr lang="zh-TW" altLang="en-US" sz="1048" b="1" dirty="0">
                <a:solidFill>
                  <a:schemeClr val="tx1"/>
                </a:solidFill>
                <a:latin typeface="微軟正黑體" pitchFamily="34" charset="-120"/>
                <a:ea typeface="微軟正黑體" pitchFamily="34" charset="-120"/>
              </a:rPr>
              <a:t>兒少案件統一用兒少分流指引分流</a:t>
            </a:r>
          </a:p>
        </p:txBody>
      </p:sp>
      <p:sp>
        <p:nvSpPr>
          <p:cNvPr id="74" name="流程圖: 直接存取儲存裝置 73"/>
          <p:cNvSpPr/>
          <p:nvPr/>
        </p:nvSpPr>
        <p:spPr>
          <a:xfrm>
            <a:off x="473227" y="2780394"/>
            <a:ext cx="1592035" cy="432405"/>
          </a:xfrm>
          <a:prstGeom prst="flowChartMagneticDrum">
            <a:avLst/>
          </a:prstGeom>
          <a:solidFill>
            <a:schemeClr val="accent4">
              <a:lumMod val="60000"/>
              <a:lumOff val="40000"/>
            </a:schemeClr>
          </a:solidFill>
          <a:ln w="9525">
            <a:solidFill>
              <a:schemeClr val="tx1"/>
            </a:solidFill>
          </a:ln>
        </p:spPr>
        <p:style>
          <a:lnRef idx="2">
            <a:schemeClr val="accent2"/>
          </a:lnRef>
          <a:fillRef idx="1">
            <a:schemeClr val="lt1"/>
          </a:fillRef>
          <a:effectRef idx="0">
            <a:schemeClr val="accent2"/>
          </a:effectRef>
          <a:fontRef idx="minor">
            <a:schemeClr val="dk1"/>
          </a:fontRef>
        </p:style>
        <p:txBody>
          <a:bodyPr lIns="103841" tIns="51921" rIns="103841" bIns="51921" anchor="ctr"/>
          <a:lstStyle/>
          <a:p>
            <a:pPr algn="ctr" eaLnBrk="0" hangingPunct="0">
              <a:defRPr/>
            </a:pPr>
            <a:r>
              <a:rPr lang="zh-TW" altLang="en-US" sz="1048" b="1" dirty="0">
                <a:solidFill>
                  <a:schemeClr val="tx1"/>
                </a:solidFill>
                <a:latin typeface="微軟正黑體" pitchFamily="34" charset="-120"/>
                <a:ea typeface="微軟正黑體" pitchFamily="34" charset="-120"/>
              </a:rPr>
              <a:t>保護資</a:t>
            </a:r>
            <a:endParaRPr lang="en-US" altLang="zh-TW" sz="1048" b="1" dirty="0">
              <a:solidFill>
                <a:schemeClr val="tx1"/>
              </a:solidFill>
              <a:latin typeface="微軟正黑體" pitchFamily="34" charset="-120"/>
              <a:ea typeface="微軟正黑體" pitchFamily="34" charset="-120"/>
            </a:endParaRPr>
          </a:p>
          <a:p>
            <a:pPr algn="ctr" eaLnBrk="0" hangingPunct="0">
              <a:defRPr/>
            </a:pPr>
            <a:r>
              <a:rPr lang="zh-TW" altLang="en-US" sz="1048" b="1" dirty="0">
                <a:solidFill>
                  <a:schemeClr val="tx1"/>
                </a:solidFill>
                <a:latin typeface="微軟正黑體" pitchFamily="34" charset="-120"/>
                <a:ea typeface="微軟正黑體" pitchFamily="34" charset="-120"/>
              </a:rPr>
              <a:t>訊系統</a:t>
            </a:r>
          </a:p>
        </p:txBody>
      </p:sp>
      <p:sp>
        <p:nvSpPr>
          <p:cNvPr id="75" name="流程圖: 文件 74"/>
          <p:cNvSpPr/>
          <p:nvPr/>
        </p:nvSpPr>
        <p:spPr>
          <a:xfrm>
            <a:off x="7069667" y="2060727"/>
            <a:ext cx="1820333" cy="576035"/>
          </a:xfrm>
          <a:prstGeom prst="flowChartDocument">
            <a:avLst/>
          </a:prstGeom>
          <a:ln/>
        </p:spPr>
        <p:style>
          <a:lnRef idx="2">
            <a:schemeClr val="accent1"/>
          </a:lnRef>
          <a:fillRef idx="1">
            <a:schemeClr val="lt1"/>
          </a:fillRef>
          <a:effectRef idx="0">
            <a:schemeClr val="accent1"/>
          </a:effectRef>
          <a:fontRef idx="minor">
            <a:schemeClr val="dk1"/>
          </a:fontRef>
        </p:style>
        <p:txBody>
          <a:bodyPr lIns="103841" tIns="51921" rIns="103841" bIns="51921" anchor="ctr"/>
          <a:lstStyle/>
          <a:p>
            <a:pPr algn="ctr" eaLnBrk="0" hangingPunct="0">
              <a:defRPr/>
            </a:pPr>
            <a:r>
              <a:rPr lang="zh-TW" altLang="en-US" sz="1048" b="1" dirty="0">
                <a:solidFill>
                  <a:schemeClr val="tx1"/>
                </a:solidFill>
                <a:latin typeface="微軟正黑體" pitchFamily="34" charset="-120"/>
                <a:ea typeface="微軟正黑體" pitchFamily="34" charset="-120"/>
              </a:rPr>
              <a:t>成保</a:t>
            </a:r>
            <a:r>
              <a:rPr lang="en-US" altLang="zh-TW" sz="1048" b="1" dirty="0">
                <a:solidFill>
                  <a:schemeClr val="tx1"/>
                </a:solidFill>
                <a:latin typeface="微軟正黑體" pitchFamily="34" charset="-120"/>
                <a:ea typeface="微軟正黑體" pitchFamily="34" charset="-120"/>
              </a:rPr>
              <a:t>/</a:t>
            </a:r>
            <a:r>
              <a:rPr lang="zh-TW" altLang="en-US" sz="1048" b="1" dirty="0">
                <a:solidFill>
                  <a:schemeClr val="tx1"/>
                </a:solidFill>
                <a:latin typeface="微軟正黑體" pitchFamily="34" charset="-120"/>
                <a:ea typeface="微軟正黑體" pitchFamily="34" charset="-120"/>
              </a:rPr>
              <a:t>兒少保</a:t>
            </a:r>
            <a:r>
              <a:rPr lang="en-US" altLang="zh-TW" sz="1048" b="1" dirty="0">
                <a:solidFill>
                  <a:schemeClr val="tx1"/>
                </a:solidFill>
                <a:latin typeface="微軟正黑體" pitchFamily="34" charset="-120"/>
                <a:ea typeface="微軟正黑體" pitchFamily="34" charset="-120"/>
              </a:rPr>
              <a:t>/</a:t>
            </a:r>
            <a:r>
              <a:rPr lang="zh-TW" altLang="en-US" sz="1048" b="1" dirty="0">
                <a:solidFill>
                  <a:schemeClr val="tx1"/>
                </a:solidFill>
                <a:latin typeface="微軟正黑體" pitchFamily="34" charset="-120"/>
                <a:ea typeface="微軟正黑體" pitchFamily="34" charset="-120"/>
              </a:rPr>
              <a:t>性侵通報表</a:t>
            </a:r>
            <a:r>
              <a:rPr lang="en-US" altLang="zh-TW" sz="1048" b="1" dirty="0">
                <a:solidFill>
                  <a:schemeClr val="tx1"/>
                </a:solidFill>
                <a:latin typeface="微軟正黑體" pitchFamily="34" charset="-120"/>
                <a:ea typeface="微軟正黑體" pitchFamily="34" charset="-120"/>
              </a:rPr>
              <a:t>/</a:t>
            </a:r>
            <a:r>
              <a:rPr lang="zh-TW" altLang="en-US" sz="1048" b="1" dirty="0">
                <a:solidFill>
                  <a:schemeClr val="tx1"/>
                </a:solidFill>
                <a:latin typeface="微軟正黑體" pitchFamily="34" charset="-120"/>
                <a:ea typeface="微軟正黑體" pitchFamily="34" charset="-120"/>
              </a:rPr>
              <a:t>社安網事件諮詢表</a:t>
            </a:r>
          </a:p>
        </p:txBody>
      </p:sp>
      <p:cxnSp>
        <p:nvCxnSpPr>
          <p:cNvPr id="79" name="直線單箭頭接點 78"/>
          <p:cNvCxnSpPr>
            <a:stCxn id="51" idx="2"/>
          </p:cNvCxnSpPr>
          <p:nvPr/>
        </p:nvCxnSpPr>
        <p:spPr>
          <a:xfrm>
            <a:off x="2747131" y="1988155"/>
            <a:ext cx="530678" cy="2162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1" name="直線單箭頭接點 80"/>
          <p:cNvCxnSpPr>
            <a:stCxn id="52" idx="2"/>
          </p:cNvCxnSpPr>
          <p:nvPr/>
        </p:nvCxnSpPr>
        <p:spPr>
          <a:xfrm>
            <a:off x="3884084" y="1988155"/>
            <a:ext cx="0" cy="2162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2" name="直線單箭頭接點 81"/>
          <p:cNvCxnSpPr/>
          <p:nvPr/>
        </p:nvCxnSpPr>
        <p:spPr>
          <a:xfrm>
            <a:off x="5098143" y="1988155"/>
            <a:ext cx="0" cy="2162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3" name="直線單箭頭接點 82"/>
          <p:cNvCxnSpPr/>
          <p:nvPr/>
        </p:nvCxnSpPr>
        <p:spPr>
          <a:xfrm flipH="1">
            <a:off x="6008310" y="1988155"/>
            <a:ext cx="530679" cy="2162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4" name="直線單箭頭接點 83"/>
          <p:cNvCxnSpPr/>
          <p:nvPr/>
        </p:nvCxnSpPr>
        <p:spPr>
          <a:xfrm>
            <a:off x="4565952" y="2493131"/>
            <a:ext cx="0" cy="2162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9" name="直線單箭頭接點 128"/>
          <p:cNvCxnSpPr/>
          <p:nvPr/>
        </p:nvCxnSpPr>
        <p:spPr>
          <a:xfrm>
            <a:off x="4565952" y="3212798"/>
            <a:ext cx="0" cy="2162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7" name="肘形接點 136"/>
          <p:cNvCxnSpPr/>
          <p:nvPr/>
        </p:nvCxnSpPr>
        <p:spPr>
          <a:xfrm rot="5400000">
            <a:off x="3067655" y="2816679"/>
            <a:ext cx="597202" cy="2399392"/>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9" name="肘形接點 138"/>
          <p:cNvCxnSpPr/>
          <p:nvPr/>
        </p:nvCxnSpPr>
        <p:spPr>
          <a:xfrm rot="5400000">
            <a:off x="3875012" y="3624036"/>
            <a:ext cx="597202" cy="78467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1" name="肘形接點 140"/>
          <p:cNvCxnSpPr/>
          <p:nvPr/>
        </p:nvCxnSpPr>
        <p:spPr>
          <a:xfrm rot="16200000" flipH="1">
            <a:off x="4823732" y="3459994"/>
            <a:ext cx="597202" cy="1112762"/>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3" name="肘形接點 142"/>
          <p:cNvCxnSpPr/>
          <p:nvPr/>
        </p:nvCxnSpPr>
        <p:spPr>
          <a:xfrm rot="16200000" flipH="1">
            <a:off x="5575906" y="2707821"/>
            <a:ext cx="597202" cy="261710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9" name="肘形接點 148"/>
          <p:cNvCxnSpPr/>
          <p:nvPr/>
        </p:nvCxnSpPr>
        <p:spPr>
          <a:xfrm rot="16200000" flipH="1">
            <a:off x="6068787" y="2214940"/>
            <a:ext cx="597202" cy="360287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150" name="矩形 149"/>
          <p:cNvSpPr/>
          <p:nvPr/>
        </p:nvSpPr>
        <p:spPr>
          <a:xfrm>
            <a:off x="1230690" y="4077608"/>
            <a:ext cx="963084" cy="287262"/>
          </a:xfrm>
          <a:prstGeom prst="rect">
            <a:avLst/>
          </a:prstGeom>
          <a:no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zh-TW" altLang="en-US" sz="1048" b="1" dirty="0">
                <a:solidFill>
                  <a:schemeClr val="tx1"/>
                </a:solidFill>
                <a:latin typeface="微軟正黑體" pitchFamily="34" charset="-120"/>
                <a:ea typeface="微軟正黑體" pitchFamily="34" charset="-120"/>
              </a:rPr>
              <a:t>立即處理</a:t>
            </a:r>
          </a:p>
        </p:txBody>
      </p:sp>
      <p:sp>
        <p:nvSpPr>
          <p:cNvPr id="151" name="矩形 150"/>
          <p:cNvSpPr/>
          <p:nvPr/>
        </p:nvSpPr>
        <p:spPr>
          <a:xfrm>
            <a:off x="2822727" y="4077608"/>
            <a:ext cx="963083" cy="287262"/>
          </a:xfrm>
          <a:prstGeom prst="rect">
            <a:avLst/>
          </a:prstGeom>
          <a:no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en-US" altLang="zh-TW" sz="1048" b="1" dirty="0">
                <a:solidFill>
                  <a:schemeClr val="tx1"/>
                </a:solidFill>
                <a:latin typeface="微軟正黑體" pitchFamily="34" charset="-120"/>
                <a:ea typeface="微軟正黑體" pitchFamily="34" charset="-120"/>
              </a:rPr>
              <a:t>24</a:t>
            </a:r>
            <a:r>
              <a:rPr lang="zh-TW" altLang="en-US" sz="1048" b="1" dirty="0">
                <a:solidFill>
                  <a:schemeClr val="tx1"/>
                </a:solidFill>
                <a:latin typeface="微軟正黑體" pitchFamily="34" charset="-120"/>
                <a:ea typeface="微軟正黑體" pitchFamily="34" charset="-120"/>
              </a:rPr>
              <a:t>小時內</a:t>
            </a:r>
          </a:p>
        </p:txBody>
      </p:sp>
      <p:sp>
        <p:nvSpPr>
          <p:cNvPr id="152" name="矩形 151"/>
          <p:cNvSpPr/>
          <p:nvPr/>
        </p:nvSpPr>
        <p:spPr>
          <a:xfrm>
            <a:off x="4894036" y="4077608"/>
            <a:ext cx="961571" cy="287262"/>
          </a:xfrm>
          <a:prstGeom prst="rect">
            <a:avLst/>
          </a:prstGeom>
          <a:no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103841" tIns="51921" rIns="103841" bIns="51921" anchor="ctr"/>
          <a:lstStyle/>
          <a:p>
            <a:pPr algn="ctr" eaLnBrk="0" hangingPunct="0">
              <a:defRPr/>
            </a:pPr>
            <a:r>
              <a:rPr lang="en-US" altLang="zh-TW" sz="1048" b="1" dirty="0">
                <a:solidFill>
                  <a:schemeClr val="tx1"/>
                </a:solidFill>
                <a:latin typeface="微軟正黑體" pitchFamily="34" charset="-120"/>
                <a:ea typeface="微軟正黑體" pitchFamily="34" charset="-120"/>
              </a:rPr>
              <a:t>3</a:t>
            </a:r>
            <a:r>
              <a:rPr lang="zh-TW" altLang="en-US" sz="1048" b="1" dirty="0">
                <a:solidFill>
                  <a:schemeClr val="tx1"/>
                </a:solidFill>
                <a:latin typeface="微軟正黑體" pitchFamily="34" charset="-120"/>
                <a:ea typeface="微軟正黑體" pitchFamily="34" charset="-120"/>
              </a:rPr>
              <a:t>日內</a:t>
            </a:r>
          </a:p>
        </p:txBody>
      </p:sp>
      <p:cxnSp>
        <p:nvCxnSpPr>
          <p:cNvPr id="154" name="肘形接點 153"/>
          <p:cNvCxnSpPr>
            <a:stCxn id="59" idx="2"/>
            <a:endCxn id="61" idx="2"/>
          </p:cNvCxnSpPr>
          <p:nvPr/>
        </p:nvCxnSpPr>
        <p:spPr>
          <a:xfrm rot="16200000" flipH="1">
            <a:off x="3847042" y="2902102"/>
            <a:ext cx="12095" cy="3790345"/>
          </a:xfrm>
          <a:prstGeom prst="bentConnector3">
            <a:avLst>
              <a:gd name="adj1" fmla="val 1800000"/>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5" name="直線單箭頭接點 154"/>
          <p:cNvCxnSpPr/>
          <p:nvPr/>
        </p:nvCxnSpPr>
        <p:spPr>
          <a:xfrm>
            <a:off x="3732893" y="4797274"/>
            <a:ext cx="0" cy="216202"/>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6" name="直線單箭頭接點 155"/>
          <p:cNvCxnSpPr/>
          <p:nvPr/>
        </p:nvCxnSpPr>
        <p:spPr>
          <a:xfrm>
            <a:off x="4490357" y="5013477"/>
            <a:ext cx="0" cy="21620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0" name="圖案 159"/>
          <p:cNvCxnSpPr>
            <a:stCxn id="67" idx="1"/>
            <a:endCxn id="68" idx="0"/>
          </p:cNvCxnSpPr>
          <p:nvPr/>
        </p:nvCxnSpPr>
        <p:spPr>
          <a:xfrm rot="10800000" flipV="1">
            <a:off x="2443239" y="5456465"/>
            <a:ext cx="1061357" cy="20410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2" name="圖案 161"/>
          <p:cNvCxnSpPr>
            <a:stCxn id="67" idx="3"/>
            <a:endCxn id="69" idx="0"/>
          </p:cNvCxnSpPr>
          <p:nvPr/>
        </p:nvCxnSpPr>
        <p:spPr>
          <a:xfrm>
            <a:off x="5477632" y="5456465"/>
            <a:ext cx="1289654" cy="20410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4" name="肘形接點 163"/>
          <p:cNvCxnSpPr>
            <a:stCxn id="69" idx="2"/>
            <a:endCxn id="98" idx="0"/>
          </p:cNvCxnSpPr>
          <p:nvPr/>
        </p:nvCxnSpPr>
        <p:spPr>
          <a:xfrm rot="5400000">
            <a:off x="6413501" y="5956906"/>
            <a:ext cx="359833" cy="344714"/>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6" name="肘形接點 165"/>
          <p:cNvCxnSpPr>
            <a:stCxn id="69" idx="2"/>
            <a:endCxn id="112" idx="0"/>
          </p:cNvCxnSpPr>
          <p:nvPr/>
        </p:nvCxnSpPr>
        <p:spPr>
          <a:xfrm rot="16200000" flipH="1">
            <a:off x="7285114" y="5430007"/>
            <a:ext cx="359833" cy="1398511"/>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6" name="直線接點 185"/>
          <p:cNvCxnSpPr/>
          <p:nvPr/>
        </p:nvCxnSpPr>
        <p:spPr>
          <a:xfrm>
            <a:off x="4565953" y="5157108"/>
            <a:ext cx="3565071" cy="0"/>
          </a:xfrm>
          <a:prstGeom prst="line">
            <a:avLst/>
          </a:prstGeom>
          <a:ln w="9525">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7" name="直線接點 186"/>
          <p:cNvCxnSpPr>
            <a:stCxn id="69" idx="3"/>
            <a:endCxn id="72" idx="1"/>
          </p:cNvCxnSpPr>
          <p:nvPr/>
        </p:nvCxnSpPr>
        <p:spPr>
          <a:xfrm>
            <a:off x="7524750" y="5805714"/>
            <a:ext cx="681869" cy="0"/>
          </a:xfrm>
          <a:prstGeom prst="line">
            <a:avLst/>
          </a:prstGeom>
          <a:ln w="9525">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1" name="直線接點 190"/>
          <p:cNvCxnSpPr/>
          <p:nvPr/>
        </p:nvCxnSpPr>
        <p:spPr>
          <a:xfrm>
            <a:off x="2065262" y="2925536"/>
            <a:ext cx="681870" cy="0"/>
          </a:xfrm>
          <a:prstGeom prst="line">
            <a:avLst/>
          </a:prstGeom>
          <a:ln w="9525">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2" name="直線接點 191"/>
          <p:cNvCxnSpPr/>
          <p:nvPr/>
        </p:nvCxnSpPr>
        <p:spPr>
          <a:xfrm>
            <a:off x="6387798" y="2349500"/>
            <a:ext cx="681869" cy="0"/>
          </a:xfrm>
          <a:prstGeom prst="line">
            <a:avLst/>
          </a:prstGeom>
          <a:ln w="9525">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3" name="直線接點 192"/>
          <p:cNvCxnSpPr/>
          <p:nvPr/>
        </p:nvCxnSpPr>
        <p:spPr>
          <a:xfrm>
            <a:off x="1002393" y="5805714"/>
            <a:ext cx="683381" cy="0"/>
          </a:xfrm>
          <a:prstGeom prst="line">
            <a:avLst/>
          </a:prstGeom>
          <a:ln w="9525">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4" name="直線接點 193"/>
          <p:cNvCxnSpPr/>
          <p:nvPr/>
        </p:nvCxnSpPr>
        <p:spPr>
          <a:xfrm>
            <a:off x="1002393" y="3212798"/>
            <a:ext cx="0" cy="2592916"/>
          </a:xfrm>
          <a:prstGeom prst="line">
            <a:avLst/>
          </a:prstGeom>
          <a:ln w="9525">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3" name="標題 1"/>
          <p:cNvSpPr>
            <a:spLocks noGrp="1"/>
          </p:cNvSpPr>
          <p:nvPr>
            <p:ph type="title"/>
          </p:nvPr>
        </p:nvSpPr>
        <p:spPr>
          <a:xfrm>
            <a:off x="1011465" y="28727"/>
            <a:ext cx="10184190" cy="1143000"/>
          </a:xfrm>
        </p:spPr>
        <p:txBody>
          <a:bodyPr/>
          <a:lstStyle/>
          <a:p>
            <a:pPr>
              <a:defRPr/>
            </a:pPr>
            <a:endParaRPr kumimoji="1" lang="zh-TW" altLang="en-US" sz="4572" b="1" cap="all" dirty="0">
              <a:latin typeface="微軟正黑體" pitchFamily="34" charset="-120"/>
              <a:ea typeface="微軟正黑體" pitchFamily="34" charset="-120"/>
              <a:cs typeface="Times New Roman"/>
            </a:endParaRPr>
          </a:p>
        </p:txBody>
      </p:sp>
      <p:sp>
        <p:nvSpPr>
          <p:cNvPr id="64" name="圓角矩形 4"/>
          <p:cNvSpPr/>
          <p:nvPr/>
        </p:nvSpPr>
        <p:spPr bwMode="auto">
          <a:xfrm>
            <a:off x="887506" y="-7108"/>
            <a:ext cx="10866041" cy="1419847"/>
          </a:xfrm>
          <a:prstGeom prst="rect">
            <a:avLst/>
          </a:prstGeom>
          <a:solidFill>
            <a:schemeClr val="tx2">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lIns="242551" tIns="0" rIns="242551" bIns="0" spcCol="1514" anchor="ctr"/>
          <a:lstStyle/>
          <a:p>
            <a:pPr algn="ctr" eaLnBrk="0" hangingPunct="0">
              <a:lnSpc>
                <a:spcPts val="3407"/>
              </a:lnSpc>
              <a:defRPr/>
            </a:pPr>
            <a:r>
              <a:rPr lang="zh-TW" altLang="en-US" sz="2800" b="1" dirty="0">
                <a:solidFill>
                  <a:schemeClr val="lt1"/>
                </a:solidFill>
                <a:latin typeface="微軟正黑體" pitchFamily="34" charset="-120"/>
                <a:ea typeface="微軟正黑體" pitchFamily="34" charset="-120"/>
              </a:rPr>
              <a:t>工作流程</a:t>
            </a:r>
            <a:endParaRPr lang="zh-TW" altLang="en-US" sz="2800" dirty="0">
              <a:latin typeface="微軟正黑體" pitchFamily="34" charset="-120"/>
              <a:ea typeface="微軟正黑體" pitchFamily="34" charset="-120"/>
            </a:endParaRPr>
          </a:p>
        </p:txBody>
      </p:sp>
      <p:cxnSp>
        <p:nvCxnSpPr>
          <p:cNvPr id="90" name="直線單箭頭接點 89"/>
          <p:cNvCxnSpPr>
            <a:stCxn id="69" idx="1"/>
            <a:endCxn id="68" idx="3"/>
          </p:cNvCxnSpPr>
          <p:nvPr/>
        </p:nvCxnSpPr>
        <p:spPr>
          <a:xfrm flipH="1">
            <a:off x="3202214" y="5805714"/>
            <a:ext cx="280609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2" name="直線接點 91"/>
          <p:cNvCxnSpPr/>
          <p:nvPr/>
        </p:nvCxnSpPr>
        <p:spPr>
          <a:xfrm flipH="1">
            <a:off x="4175881" y="5829905"/>
            <a:ext cx="1512" cy="341690"/>
          </a:xfrm>
          <a:prstGeom prst="line">
            <a:avLst/>
          </a:prstGeom>
          <a:ln w="9525">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6" name="流程圖: 文件 95"/>
          <p:cNvSpPr/>
          <p:nvPr/>
        </p:nvSpPr>
        <p:spPr>
          <a:xfrm>
            <a:off x="1295703" y="6171595"/>
            <a:ext cx="3314095" cy="503465"/>
          </a:xfrm>
          <a:prstGeom prst="flowChartDocument">
            <a:avLst/>
          </a:prstGeom>
          <a:ln/>
        </p:spPr>
        <p:style>
          <a:lnRef idx="2">
            <a:schemeClr val="accent1"/>
          </a:lnRef>
          <a:fillRef idx="1">
            <a:schemeClr val="lt1"/>
          </a:fillRef>
          <a:effectRef idx="0">
            <a:schemeClr val="accent1"/>
          </a:effectRef>
          <a:fontRef idx="minor">
            <a:schemeClr val="dk1"/>
          </a:fontRef>
        </p:style>
        <p:txBody>
          <a:bodyPr lIns="103841" tIns="51921" rIns="103841" bIns="51921" anchor="ctr"/>
          <a:lstStyle/>
          <a:p>
            <a:pPr algn="ctr" eaLnBrk="0" hangingPunct="0">
              <a:defRPr/>
            </a:pPr>
            <a:r>
              <a:rPr lang="zh-TW" altLang="en-US" sz="1048" b="1" dirty="0">
                <a:solidFill>
                  <a:schemeClr val="tx1"/>
                </a:solidFill>
                <a:latin typeface="微軟正黑體" pitchFamily="34" charset="-120"/>
                <a:ea typeface="微軟正黑體" pitchFamily="34" charset="-120"/>
              </a:rPr>
              <a:t>如有疑義或有保護情事，應於完成訪視評估後，再轉回家防中心服務</a:t>
            </a:r>
          </a:p>
        </p:txBody>
      </p:sp>
      <p:sp>
        <p:nvSpPr>
          <p:cNvPr id="62" name="矩形 61"/>
          <p:cNvSpPr/>
          <p:nvPr/>
        </p:nvSpPr>
        <p:spPr>
          <a:xfrm>
            <a:off x="541097" y="2606051"/>
            <a:ext cx="9258171" cy="2674583"/>
          </a:xfrm>
          <a:prstGeom prst="rect">
            <a:avLst/>
          </a:prstGeom>
          <a:noFill/>
          <a:ln w="762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905" dirty="0">
              <a:solidFill>
                <a:srgbClr val="7030A0"/>
              </a:solidFill>
              <a:latin typeface="微軟正黑體" pitchFamily="34" charset="-120"/>
              <a:ea typeface="微軟正黑體" pitchFamily="34" charset="-120"/>
            </a:endParaRPr>
          </a:p>
        </p:txBody>
      </p:sp>
      <p:sp>
        <p:nvSpPr>
          <p:cNvPr id="76" name="矩形 75"/>
          <p:cNvSpPr/>
          <p:nvPr/>
        </p:nvSpPr>
        <p:spPr>
          <a:xfrm>
            <a:off x="1089729" y="5966425"/>
            <a:ext cx="3771848" cy="754370"/>
          </a:xfrm>
          <a:prstGeom prst="rect">
            <a:avLst/>
          </a:prstGeom>
          <a:noFill/>
          <a:ln w="762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905" dirty="0">
              <a:solidFill>
                <a:srgbClr val="7030A0"/>
              </a:solidFill>
              <a:latin typeface="微軟正黑體" pitchFamily="34" charset="-120"/>
              <a:ea typeface="微軟正黑體" pitchFamily="34" charset="-12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ight Triangle 35">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8D95F4D8-73D2-4AF1-89F3-8A69F6BD49EC}"/>
              </a:ext>
            </a:extLst>
          </p:cNvPr>
          <p:cNvSpPr>
            <a:spLocks noGrp="1"/>
          </p:cNvSpPr>
          <p:nvPr>
            <p:ph type="title"/>
          </p:nvPr>
        </p:nvSpPr>
        <p:spPr>
          <a:xfrm>
            <a:off x="1075767" y="1188637"/>
            <a:ext cx="2988234" cy="4480726"/>
          </a:xfrm>
        </p:spPr>
        <p:txBody>
          <a:bodyPr>
            <a:normAutofit/>
          </a:bodyPr>
          <a:lstStyle/>
          <a:p>
            <a:pPr algn="r"/>
            <a:r>
              <a:rPr lang="zh-TW" altLang="en-US" dirty="0">
                <a:solidFill>
                  <a:srgbClr val="C00000"/>
                </a:solidFill>
                <a:latin typeface="微軟正黑體" panose="020B0604030504040204" pitchFamily="34" charset="-120"/>
                <a:ea typeface="微軟正黑體" panose="020B0604030504040204" pitchFamily="34" charset="-120"/>
              </a:rPr>
              <a:t>危機家庭</a:t>
            </a:r>
          </a:p>
        </p:txBody>
      </p:sp>
      <p:cxnSp>
        <p:nvCxnSpPr>
          <p:cNvPr id="40" name="Straight Connector 39">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內容版面配置區 2">
            <a:extLst>
              <a:ext uri="{FF2B5EF4-FFF2-40B4-BE49-F238E27FC236}">
                <a16:creationId xmlns:a16="http://schemas.microsoft.com/office/drawing/2014/main" id="{76273AA7-2343-4FA6-90B4-C874B458A2E9}"/>
              </a:ext>
            </a:extLst>
          </p:cNvPr>
          <p:cNvSpPr>
            <a:spLocks noGrp="1"/>
          </p:cNvSpPr>
          <p:nvPr>
            <p:ph idx="1"/>
          </p:nvPr>
        </p:nvSpPr>
        <p:spPr>
          <a:xfrm>
            <a:off x="5255260" y="1648870"/>
            <a:ext cx="4702848" cy="3560260"/>
          </a:xfrm>
        </p:spPr>
        <p:txBody>
          <a:bodyPr anchor="ctr">
            <a:normAutofit/>
          </a:bodyPr>
          <a:lstStyle/>
          <a:p>
            <a:r>
              <a:rPr lang="zh-TW" altLang="en-US" sz="3200" dirty="0">
                <a:solidFill>
                  <a:srgbClr val="002060"/>
                </a:solidFill>
                <a:latin typeface="微軟正黑體" panose="020B0604030504040204" pitchFamily="34" charset="-120"/>
                <a:ea typeface="微軟正黑體" panose="020B0604030504040204" pitchFamily="34" charset="-120"/>
              </a:rPr>
              <a:t>家庭暴力</a:t>
            </a:r>
            <a:endParaRPr lang="en-US" altLang="zh-TW" sz="3200" dirty="0">
              <a:solidFill>
                <a:srgbClr val="002060"/>
              </a:solidFill>
              <a:latin typeface="微軟正黑體" panose="020B0604030504040204" pitchFamily="34" charset="-120"/>
              <a:ea typeface="微軟正黑體" panose="020B0604030504040204" pitchFamily="34" charset="-120"/>
            </a:endParaRPr>
          </a:p>
          <a:p>
            <a:r>
              <a:rPr lang="zh-TW" altLang="en-US" sz="3200" dirty="0">
                <a:solidFill>
                  <a:srgbClr val="002060"/>
                </a:solidFill>
                <a:latin typeface="微軟正黑體" panose="020B0604030504040204" pitchFamily="34" charset="-120"/>
                <a:ea typeface="微軟正黑體" panose="020B0604030504040204" pitchFamily="34" charset="-120"/>
              </a:rPr>
              <a:t>兒少保護</a:t>
            </a:r>
            <a:endParaRPr lang="en-US" altLang="zh-TW" sz="3200" dirty="0">
              <a:solidFill>
                <a:srgbClr val="002060"/>
              </a:solidFill>
              <a:latin typeface="微軟正黑體" panose="020B0604030504040204" pitchFamily="34" charset="-120"/>
              <a:ea typeface="微軟正黑體" panose="020B0604030504040204" pitchFamily="34" charset="-120"/>
            </a:endParaRPr>
          </a:p>
          <a:p>
            <a:r>
              <a:rPr lang="zh-TW" altLang="en-US" sz="3200" dirty="0">
                <a:solidFill>
                  <a:srgbClr val="002060"/>
                </a:solidFill>
                <a:latin typeface="微軟正黑體" panose="020B0604030504040204" pitchFamily="34" charset="-120"/>
                <a:ea typeface="微軟正黑體" panose="020B0604030504040204" pitchFamily="34" charset="-120"/>
              </a:rPr>
              <a:t>性侵害</a:t>
            </a:r>
            <a:endParaRPr lang="en-US" altLang="zh-TW" sz="3200" dirty="0">
              <a:solidFill>
                <a:srgbClr val="002060"/>
              </a:solidFill>
              <a:latin typeface="微軟正黑體" panose="020B0604030504040204" pitchFamily="34" charset="-120"/>
              <a:ea typeface="微軟正黑體" panose="020B0604030504040204" pitchFamily="34" charset="-120"/>
            </a:endParaRPr>
          </a:p>
          <a:p>
            <a:r>
              <a:rPr lang="zh-TW" altLang="en-US" sz="3200" dirty="0">
                <a:solidFill>
                  <a:srgbClr val="002060"/>
                </a:solidFill>
                <a:latin typeface="微軟正黑體" panose="020B0604030504040204" pitchFamily="34" charset="-120"/>
                <a:ea typeface="微軟正黑體" panose="020B0604030504040204" pitchFamily="34" charset="-120"/>
              </a:rPr>
              <a:t>性騷擾</a:t>
            </a:r>
            <a:endParaRPr lang="en-US" altLang="zh-TW" sz="3200" dirty="0">
              <a:solidFill>
                <a:srgbClr val="002060"/>
              </a:solidFill>
              <a:latin typeface="微軟正黑體" panose="020B0604030504040204" pitchFamily="34" charset="-120"/>
              <a:ea typeface="微軟正黑體" panose="020B0604030504040204" pitchFamily="34" charset="-120"/>
            </a:endParaRPr>
          </a:p>
          <a:p>
            <a:r>
              <a:rPr lang="zh-TW" altLang="en-US" sz="3200" dirty="0">
                <a:solidFill>
                  <a:srgbClr val="002060"/>
                </a:solidFill>
                <a:latin typeface="微軟正黑體" panose="020B0604030504040204" pitchFamily="34" charset="-120"/>
                <a:ea typeface="微軟正黑體" panose="020B0604030504040204" pitchFamily="34" charset="-120"/>
              </a:rPr>
              <a:t>性剝削</a:t>
            </a:r>
          </a:p>
        </p:txBody>
      </p:sp>
    </p:spTree>
    <p:extLst>
      <p:ext uri="{BB962C8B-B14F-4D97-AF65-F5344CB8AC3E}">
        <p14:creationId xmlns:p14="http://schemas.microsoft.com/office/powerpoint/2010/main" val="3041981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標題 1">
            <a:extLst>
              <a:ext uri="{FF2B5EF4-FFF2-40B4-BE49-F238E27FC236}">
                <a16:creationId xmlns:a16="http://schemas.microsoft.com/office/drawing/2014/main" id="{EEABE4FF-930A-45CE-95DE-0C2816DE0D66}"/>
              </a:ext>
            </a:extLst>
          </p:cNvPr>
          <p:cNvSpPr>
            <a:spLocks noGrp="1"/>
          </p:cNvSpPr>
          <p:nvPr>
            <p:ph type="title"/>
          </p:nvPr>
        </p:nvSpPr>
        <p:spPr>
          <a:xfrm>
            <a:off x="2457449" y="28575"/>
            <a:ext cx="8139113" cy="1143000"/>
          </a:xfrm>
        </p:spPr>
        <p:txBody>
          <a:bodyPr/>
          <a:lstStyle/>
          <a:p>
            <a:endParaRPr lang="zh-TW" altLang="zh-TW" sz="3200" dirty="0">
              <a:solidFill>
                <a:srgbClr val="C00000"/>
              </a:solidFill>
              <a:latin typeface="微軟正黑體" panose="020B0604030504040204" pitchFamily="34" charset="-120"/>
              <a:ea typeface="微軟正黑體" panose="020B0604030504040204" pitchFamily="34" charset="-120"/>
            </a:endParaRPr>
          </a:p>
        </p:txBody>
      </p:sp>
      <p:sp>
        <p:nvSpPr>
          <p:cNvPr id="14338" name="投影片編號版面配置區 3">
            <a:extLst>
              <a:ext uri="{FF2B5EF4-FFF2-40B4-BE49-F238E27FC236}">
                <a16:creationId xmlns:a16="http://schemas.microsoft.com/office/drawing/2014/main" id="{13A115A8-5EE0-46A2-81B7-5D994D6EC7CA}"/>
              </a:ext>
            </a:extLst>
          </p:cNvPr>
          <p:cNvSpPr>
            <a:spLocks noGrp="1"/>
          </p:cNvSpPr>
          <p:nvPr>
            <p:ph type="sldNum" sz="quarter" idx="12"/>
          </p:nvPr>
        </p:nvSpPr>
        <p:spPr bwMode="auto">
          <a:xfrm>
            <a:off x="8534400" y="6597650"/>
            <a:ext cx="2133600" cy="260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標楷體" panose="03000509000000000000" pitchFamily="65" charset="-120"/>
                <a:ea typeface="標楷體" panose="03000509000000000000" pitchFamily="65" charset="-120"/>
              </a:defRPr>
            </a:lvl1pPr>
            <a:lvl2pPr marL="742950" indent="-285750">
              <a:spcBef>
                <a:spcPct val="20000"/>
              </a:spcBef>
              <a:buFont typeface="Arial" panose="020B0604020202020204" pitchFamily="34" charset="0"/>
              <a:buChar char="–"/>
              <a:defRPr sz="2800">
                <a:solidFill>
                  <a:schemeClr val="tx1"/>
                </a:solidFill>
                <a:latin typeface="標楷體" panose="03000509000000000000" pitchFamily="65" charset="-120"/>
                <a:ea typeface="標楷體" panose="03000509000000000000" pitchFamily="65" charset="-120"/>
              </a:defRPr>
            </a:lvl2pPr>
            <a:lvl3pPr marL="1143000" indent="-228600">
              <a:spcBef>
                <a:spcPct val="20000"/>
              </a:spcBef>
              <a:buFont typeface="Arial" panose="020B0604020202020204" pitchFamily="34" charset="0"/>
              <a:buChar char="•"/>
              <a:defRPr sz="2400">
                <a:solidFill>
                  <a:schemeClr val="tx1"/>
                </a:solidFill>
                <a:latin typeface="標楷體" panose="03000509000000000000" pitchFamily="65" charset="-120"/>
                <a:ea typeface="標楷體" panose="03000509000000000000" pitchFamily="65" charset="-120"/>
              </a:defRPr>
            </a:lvl3pPr>
            <a:lvl4pPr marL="1600200" indent="-228600">
              <a:spcBef>
                <a:spcPct val="20000"/>
              </a:spcBef>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4pPr>
            <a:lvl5pPr marL="2057400" indent="-228600">
              <a:spcBef>
                <a:spcPct val="20000"/>
              </a:spcBef>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9pPr>
          </a:lstStyle>
          <a:p>
            <a:pPr>
              <a:spcBef>
                <a:spcPct val="0"/>
              </a:spcBef>
              <a:buFontTx/>
              <a:buNone/>
            </a:pPr>
            <a:fld id="{141AA6DF-B18D-4542-A35D-FADCA7B0D604}" type="slidenum">
              <a:rPr lang="zh-TW" altLang="en-US" sz="1200">
                <a:latin typeface="微軟正黑體" panose="020B0604030504040204" pitchFamily="34" charset="-120"/>
                <a:ea typeface="微軟正黑體" panose="020B0604030504040204" pitchFamily="34" charset="-120"/>
              </a:rPr>
              <a:pPr>
                <a:spcBef>
                  <a:spcPct val="0"/>
                </a:spcBef>
                <a:buFontTx/>
                <a:buNone/>
              </a:pPr>
              <a:t>22</a:t>
            </a:fld>
            <a:endParaRPr lang="en-US" altLang="zh-TW" sz="1200">
              <a:latin typeface="微軟正黑體" panose="020B0604030504040204" pitchFamily="34" charset="-120"/>
              <a:ea typeface="微軟正黑體" panose="020B0604030504040204" pitchFamily="34" charset="-120"/>
            </a:endParaRPr>
          </a:p>
        </p:txBody>
      </p:sp>
      <p:sp>
        <p:nvSpPr>
          <p:cNvPr id="14340" name="文字方塊 6">
            <a:extLst>
              <a:ext uri="{FF2B5EF4-FFF2-40B4-BE49-F238E27FC236}">
                <a16:creationId xmlns:a16="http://schemas.microsoft.com/office/drawing/2014/main" id="{B1651F48-D4F8-462A-9FDC-8EA26408F467}"/>
              </a:ext>
            </a:extLst>
          </p:cNvPr>
          <p:cNvSpPr txBox="1">
            <a:spLocks noChangeArrowheads="1"/>
          </p:cNvSpPr>
          <p:nvPr/>
        </p:nvSpPr>
        <p:spPr bwMode="auto">
          <a:xfrm>
            <a:off x="2457448" y="304800"/>
            <a:ext cx="8210553" cy="46166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標楷體" panose="03000509000000000000" pitchFamily="65" charset="-120"/>
                <a:ea typeface="標楷體" panose="03000509000000000000" pitchFamily="65" charset="-120"/>
              </a:defRPr>
            </a:lvl1pPr>
            <a:lvl2pPr marL="742950" indent="-285750">
              <a:spcBef>
                <a:spcPct val="20000"/>
              </a:spcBef>
              <a:buFont typeface="Arial" panose="020B0604020202020204" pitchFamily="34" charset="0"/>
              <a:buChar char="–"/>
              <a:defRPr sz="2800">
                <a:solidFill>
                  <a:schemeClr val="tx1"/>
                </a:solidFill>
                <a:latin typeface="標楷體" panose="03000509000000000000" pitchFamily="65" charset="-120"/>
                <a:ea typeface="標楷體" panose="03000509000000000000" pitchFamily="65" charset="-120"/>
              </a:defRPr>
            </a:lvl2pPr>
            <a:lvl3pPr marL="1143000" indent="-228600">
              <a:spcBef>
                <a:spcPct val="20000"/>
              </a:spcBef>
              <a:buFont typeface="Arial" panose="020B0604020202020204" pitchFamily="34" charset="0"/>
              <a:buChar char="•"/>
              <a:defRPr sz="2400">
                <a:solidFill>
                  <a:schemeClr val="tx1"/>
                </a:solidFill>
                <a:latin typeface="標楷體" panose="03000509000000000000" pitchFamily="65" charset="-120"/>
                <a:ea typeface="標楷體" panose="03000509000000000000" pitchFamily="65" charset="-120"/>
              </a:defRPr>
            </a:lvl3pPr>
            <a:lvl4pPr marL="1600200" indent="-228600">
              <a:spcBef>
                <a:spcPct val="20000"/>
              </a:spcBef>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4pPr>
            <a:lvl5pPr marL="2057400" indent="-228600">
              <a:spcBef>
                <a:spcPct val="20000"/>
              </a:spcBef>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9pPr>
          </a:lstStyle>
          <a:p>
            <a:pPr algn="ctr">
              <a:spcBef>
                <a:spcPct val="0"/>
              </a:spcBef>
              <a:buFontTx/>
              <a:buNone/>
            </a:pPr>
            <a:r>
              <a:rPr lang="zh-TW" altLang="en-US" sz="2400" dirty="0">
                <a:latin typeface="微軟正黑體" panose="020B0604030504040204" pitchFamily="34" charset="-120"/>
                <a:ea typeface="微軟正黑體" panose="020B0604030504040204" pitchFamily="34" charset="-120"/>
              </a:rPr>
              <a:t>脆弱家庭</a:t>
            </a:r>
            <a:r>
              <a:rPr lang="en-US" altLang="zh-TW" sz="2400" dirty="0">
                <a:latin typeface="微軟正黑體" panose="020B0604030504040204" pitchFamily="34" charset="-120"/>
                <a:ea typeface="微軟正黑體" panose="020B0604030504040204" pitchFamily="34" charset="-120"/>
              </a:rPr>
              <a:t>1/3</a:t>
            </a:r>
            <a:endParaRPr lang="zh-TW" altLang="en-US" sz="2400" dirty="0">
              <a:latin typeface="微軟正黑體" panose="020B0604030504040204" pitchFamily="34" charset="-120"/>
              <a:ea typeface="微軟正黑體" panose="020B0604030504040204" pitchFamily="34" charset="-120"/>
            </a:endParaRPr>
          </a:p>
        </p:txBody>
      </p:sp>
      <p:sp>
        <p:nvSpPr>
          <p:cNvPr id="11" name="矩形 10">
            <a:extLst>
              <a:ext uri="{FF2B5EF4-FFF2-40B4-BE49-F238E27FC236}">
                <a16:creationId xmlns:a16="http://schemas.microsoft.com/office/drawing/2014/main" id="{BD7B7B79-7E16-493A-AF3C-C180334AA710}"/>
              </a:ext>
            </a:extLst>
          </p:cNvPr>
          <p:cNvSpPr/>
          <p:nvPr/>
        </p:nvSpPr>
        <p:spPr>
          <a:xfrm>
            <a:off x="2135188" y="4861575"/>
            <a:ext cx="8371447"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eaLnBrk="1" hangingPunct="1">
              <a:defRPr/>
            </a:pPr>
            <a:r>
              <a:rPr lang="zh-TW" altLang="zh-TW" dirty="0">
                <a:solidFill>
                  <a:srgbClr val="002060"/>
                </a:solidFill>
                <a:latin typeface="微軟正黑體" pitchFamily="34" charset="-120"/>
                <a:ea typeface="微軟正黑體" pitchFamily="34" charset="-120"/>
              </a:rPr>
              <a:t>指家庭中的兒童有以下情況者：家庭中有兒童須照顧、低社經地位的年輕夫妻、不同少數族裔結合的年輕夫妻、年輕的家庭照顧者、年輕的母親、變換照顧者的兒童、難民或遊民家庭、家中有身心障礙的兒童、兒童有受傷害的高風險之虞者、兒童與脆弱的成人同住、接受家庭服務中的兒童、國語不流暢的學童、居住條件不佳的兒童家庭（</a:t>
            </a:r>
            <a:r>
              <a:rPr lang="en-US" altLang="zh-TW" dirty="0">
                <a:solidFill>
                  <a:srgbClr val="002060"/>
                </a:solidFill>
                <a:latin typeface="微軟正黑體" pitchFamily="34" charset="-120"/>
                <a:ea typeface="微軟正黑體" pitchFamily="34" charset="-120"/>
              </a:rPr>
              <a:t>Waldman, 2007</a:t>
            </a:r>
            <a:r>
              <a:rPr lang="zh-TW" altLang="zh-TW" dirty="0">
                <a:solidFill>
                  <a:srgbClr val="002060"/>
                </a:solidFill>
                <a:latin typeface="微軟正黑體" pitchFamily="34" charset="-120"/>
                <a:ea typeface="微軟正黑體" pitchFamily="34" charset="-120"/>
              </a:rPr>
              <a:t>）</a:t>
            </a:r>
            <a:endParaRPr lang="zh-TW" altLang="en-US" dirty="0">
              <a:solidFill>
                <a:srgbClr val="002060"/>
              </a:solidFill>
              <a:latin typeface="微軟正黑體" panose="020B0604030504040204" pitchFamily="34" charset="-120"/>
              <a:ea typeface="微軟正黑體" panose="020B0604030504040204" pitchFamily="34" charset="-120"/>
            </a:endParaRPr>
          </a:p>
        </p:txBody>
      </p:sp>
      <p:sp>
        <p:nvSpPr>
          <p:cNvPr id="12" name="圓角矩形 9">
            <a:extLst>
              <a:ext uri="{FF2B5EF4-FFF2-40B4-BE49-F238E27FC236}">
                <a16:creationId xmlns:a16="http://schemas.microsoft.com/office/drawing/2014/main" id="{F822EC13-FB18-4D5B-94AC-2C3DD473AB8A}"/>
              </a:ext>
            </a:extLst>
          </p:cNvPr>
          <p:cNvSpPr/>
          <p:nvPr/>
        </p:nvSpPr>
        <p:spPr>
          <a:xfrm>
            <a:off x="2135188" y="4123765"/>
            <a:ext cx="6161087" cy="584859"/>
          </a:xfrm>
          <a:prstGeom prst="roundRect">
            <a:avLst>
              <a:gd name="adj" fmla="val 16667"/>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eaLnBrk="1" hangingPunct="1">
              <a:defRPr/>
            </a:pPr>
            <a:r>
              <a:rPr lang="zh-TW" altLang="en-US" sz="2000" dirty="0">
                <a:latin typeface="微軟正黑體" pitchFamily="34" charset="-120"/>
                <a:ea typeface="微軟正黑體" pitchFamily="34" charset="-120"/>
              </a:rPr>
              <a:t>脆弱兒童與家庭</a:t>
            </a:r>
            <a:r>
              <a:rPr lang="en-US" altLang="zh-TW" sz="2000" dirty="0">
                <a:latin typeface="微軟正黑體" pitchFamily="34" charset="-120"/>
                <a:ea typeface="微軟正黑體" pitchFamily="34" charset="-120"/>
              </a:rPr>
              <a:t>(vulnerable  children and families)</a:t>
            </a:r>
            <a:endParaRPr lang="zh-TW" altLang="en-US" sz="2000" dirty="0">
              <a:latin typeface="微軟正黑體" pitchFamily="34" charset="-120"/>
              <a:ea typeface="微軟正黑體" pitchFamily="34" charset="-120"/>
            </a:endParaRPr>
          </a:p>
        </p:txBody>
      </p:sp>
      <p:sp>
        <p:nvSpPr>
          <p:cNvPr id="13" name="圓角矩形 4">
            <a:extLst>
              <a:ext uri="{FF2B5EF4-FFF2-40B4-BE49-F238E27FC236}">
                <a16:creationId xmlns:a16="http://schemas.microsoft.com/office/drawing/2014/main" id="{0FDE32FB-B6D1-42C4-807D-C29AD54A9915}"/>
              </a:ext>
            </a:extLst>
          </p:cNvPr>
          <p:cNvSpPr/>
          <p:nvPr/>
        </p:nvSpPr>
        <p:spPr bwMode="auto">
          <a:xfrm>
            <a:off x="5163671" y="919416"/>
            <a:ext cx="1780624" cy="405110"/>
          </a:xfrm>
          <a:prstGeom prst="rect">
            <a:avLst/>
          </a:prstGeom>
          <a:solidFill>
            <a:schemeClr val="accent3">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lIns="213585" tIns="0" rIns="213585" bIns="0" spcCol="1270" anchor="ctr"/>
          <a:lstStyle/>
          <a:p>
            <a:pPr algn="ctr">
              <a:defRPr/>
            </a:pPr>
            <a:r>
              <a:rPr lang="zh-TW" altLang="en-US" sz="1600" dirty="0">
                <a:solidFill>
                  <a:srgbClr val="FFFF00"/>
                </a:solidFill>
                <a:latin typeface="微軟正黑體" panose="020B0604030504040204" pitchFamily="34" charset="-120"/>
                <a:ea typeface="微軟正黑體" panose="020B0604030504040204" pitchFamily="34" charset="-120"/>
              </a:rPr>
              <a:t>文獻資料定義</a:t>
            </a:r>
          </a:p>
        </p:txBody>
      </p:sp>
      <p:sp>
        <p:nvSpPr>
          <p:cNvPr id="14" name="內容版面配置區 2">
            <a:extLst>
              <a:ext uri="{FF2B5EF4-FFF2-40B4-BE49-F238E27FC236}">
                <a16:creationId xmlns:a16="http://schemas.microsoft.com/office/drawing/2014/main" id="{87F9D797-B065-411C-9C70-076641CAC6FB}"/>
              </a:ext>
            </a:extLst>
          </p:cNvPr>
          <p:cNvSpPr txBox="1">
            <a:spLocks/>
          </p:cNvSpPr>
          <p:nvPr/>
        </p:nvSpPr>
        <p:spPr bwMode="auto">
          <a:xfrm>
            <a:off x="2139950" y="1991765"/>
            <a:ext cx="8255000" cy="2049620"/>
          </a:xfrm>
          <a:prstGeom prst="rect">
            <a:avLst/>
          </a:prstGeom>
          <a:ln w="25400" cap="flat" cmpd="sng" algn="ctr">
            <a:solidFill>
              <a:schemeClr val="accent1"/>
            </a:solidFill>
            <a:prstDash val="solid"/>
            <a:miter lim="800000"/>
            <a:headEnd/>
            <a:tailEnd/>
          </a:ln>
        </p:spPr>
        <p:style>
          <a:lnRef idx="2">
            <a:schemeClr val="accent1"/>
          </a:lnRef>
          <a:fillRef idx="1">
            <a:schemeClr val="lt1"/>
          </a:fillRef>
          <a:effectRef idx="0">
            <a:schemeClr val="accent1"/>
          </a:effectRef>
          <a:fontRef idx="minor">
            <a:schemeClr val="dk1"/>
          </a:fontRef>
        </p:style>
        <p:txBody>
          <a:bodyPr>
            <a:norm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defRPr/>
            </a:pPr>
            <a:r>
              <a:rPr kumimoji="0" lang="zh-TW" altLang="zh-TW" sz="2000" dirty="0">
                <a:solidFill>
                  <a:srgbClr val="002060"/>
                </a:solidFill>
                <a:latin typeface="微軟正黑體" panose="020B0604030504040204" pitchFamily="34" charset="-120"/>
                <a:ea typeface="微軟正黑體" panose="020B0604030504040204" pitchFamily="34" charset="-120"/>
                <a:cs typeface="Times New Roman" panose="02020603050405020304" pitchFamily="18" charset="0"/>
              </a:rPr>
              <a:t>家庭的脆弱性是一個多面向的概念，是由許多相互關連之因素，如持續性財務不安全、失業、低教育程度、家庭暴力、不良親職功能、不安全或不良住宅、以及身心健康問題等因素交織形成。</a:t>
            </a:r>
            <a:endParaRPr kumimoji="0" lang="en-US" altLang="zh-TW" sz="2000" dirty="0">
              <a:solidFill>
                <a:srgbClr val="002060"/>
              </a:solidFill>
              <a:latin typeface="微軟正黑體" panose="020B0604030504040204" pitchFamily="34" charset="-120"/>
              <a:ea typeface="微軟正黑體" panose="020B0604030504040204" pitchFamily="34" charset="-120"/>
              <a:cs typeface="Times New Roman" panose="02020603050405020304" pitchFamily="18" charset="0"/>
            </a:endParaRPr>
          </a:p>
          <a:p>
            <a:pPr>
              <a:defRPr/>
            </a:pPr>
            <a:r>
              <a:rPr kumimoji="0" lang="zh-TW" altLang="zh-TW" sz="2000" dirty="0">
                <a:solidFill>
                  <a:srgbClr val="002060"/>
                </a:solidFill>
                <a:latin typeface="微軟正黑體" panose="020B0604030504040204" pitchFamily="34" charset="-120"/>
                <a:ea typeface="微軟正黑體" panose="020B0604030504040204" pitchFamily="34" charset="-120"/>
                <a:cs typeface="Times New Roman" panose="02020603050405020304" pitchFamily="18" charset="0"/>
              </a:rPr>
              <a:t>家庭的脆弱性影響整個家戶，並進而讓家庭處於犯罪、中輟、長期失業或不安定等負面環境或風險中，造成家庭被邊緣化，進而被社會排除（</a:t>
            </a:r>
            <a:r>
              <a:rPr kumimoji="0" lang="en-US" altLang="zh-TW" sz="2000" dirty="0">
                <a:solidFill>
                  <a:srgbClr val="002060"/>
                </a:solidFill>
                <a:latin typeface="微軟正黑體" panose="020B0604030504040204" pitchFamily="34" charset="-120"/>
                <a:ea typeface="微軟正黑體" panose="020B0604030504040204" pitchFamily="34" charset="-120"/>
                <a:cs typeface="Times New Roman" panose="02020603050405020304" pitchFamily="18" charset="0"/>
              </a:rPr>
              <a:t>social exclusion</a:t>
            </a:r>
            <a:r>
              <a:rPr kumimoji="0" lang="zh-TW" altLang="zh-TW" sz="2000" dirty="0">
                <a:solidFill>
                  <a:srgbClr val="002060"/>
                </a:solidFill>
                <a:latin typeface="微軟正黑體" panose="020B0604030504040204" pitchFamily="34" charset="-120"/>
                <a:ea typeface="微軟正黑體" panose="020B0604030504040204" pitchFamily="34" charset="-120"/>
                <a:cs typeface="Times New Roman" panose="02020603050405020304" pitchFamily="18" charset="0"/>
              </a:rPr>
              <a:t>）</a:t>
            </a:r>
            <a:r>
              <a:rPr kumimoji="0" lang="en-US" altLang="zh-TW" sz="2000" dirty="0">
                <a:solidFill>
                  <a:srgbClr val="002060"/>
                </a:solidFill>
                <a:latin typeface="微軟正黑體" panose="020B0604030504040204" pitchFamily="34" charset="-120"/>
                <a:ea typeface="微軟正黑體" panose="020B0604030504040204" pitchFamily="34" charset="-120"/>
                <a:cs typeface="Times New Roman" panose="02020603050405020304" pitchFamily="18" charset="0"/>
              </a:rPr>
              <a:t>(OECD,2015)</a:t>
            </a:r>
            <a:endParaRPr kumimoji="0" lang="zh-TW" altLang="en-US" sz="3200" dirty="0">
              <a:solidFill>
                <a:srgbClr val="002060"/>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15" name="圓角矩形 4">
            <a:extLst>
              <a:ext uri="{FF2B5EF4-FFF2-40B4-BE49-F238E27FC236}">
                <a16:creationId xmlns:a16="http://schemas.microsoft.com/office/drawing/2014/main" id="{0D72A8E5-EB15-492C-BB74-AA7ACCA1F241}"/>
              </a:ext>
            </a:extLst>
          </p:cNvPr>
          <p:cNvSpPr/>
          <p:nvPr/>
        </p:nvSpPr>
        <p:spPr bwMode="auto">
          <a:xfrm>
            <a:off x="2457448" y="1321838"/>
            <a:ext cx="3575799" cy="519663"/>
          </a:xfrm>
          <a:prstGeom prst="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minor">
            <a:schemeClr val="lt1"/>
          </a:fontRef>
        </p:style>
        <p:txBody>
          <a:bodyPr lIns="213585" tIns="0" rIns="213585" bIns="0" spcCol="1270" anchor="ctr"/>
          <a:lstStyle/>
          <a:p>
            <a:pPr defTabSz="622300">
              <a:lnSpc>
                <a:spcPct val="90000"/>
              </a:lnSpc>
              <a:spcAft>
                <a:spcPct val="35000"/>
              </a:spcAft>
              <a:defRPr/>
            </a:pPr>
            <a:r>
              <a:rPr lang="zh-TW" altLang="en-US" sz="2000" dirty="0">
                <a:latin typeface="微軟正黑體" pitchFamily="34" charset="-120"/>
                <a:ea typeface="微軟正黑體" pitchFamily="34" charset="-120"/>
              </a:rPr>
              <a:t>經濟合作暨發展組織</a:t>
            </a:r>
            <a:r>
              <a:rPr lang="en-US" altLang="zh-TW" sz="2000" dirty="0">
                <a:latin typeface="微軟正黑體" pitchFamily="34" charset="-120"/>
                <a:ea typeface="微軟正黑體" pitchFamily="34" charset="-120"/>
              </a:rPr>
              <a:t>(OECD) </a:t>
            </a:r>
            <a:endParaRPr lang="zh-TW" altLang="en-US" sz="2000" dirty="0">
              <a:latin typeface="微軟正黑體" pitchFamily="34" charset="-120"/>
              <a:ea typeface="微軟正黑體" pitchFamily="34" charset="-12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標題 1">
            <a:extLst>
              <a:ext uri="{FF2B5EF4-FFF2-40B4-BE49-F238E27FC236}">
                <a16:creationId xmlns:a16="http://schemas.microsoft.com/office/drawing/2014/main" id="{CA6ABB62-FA77-48C1-A5BD-4044F26035AB}"/>
              </a:ext>
            </a:extLst>
          </p:cNvPr>
          <p:cNvSpPr>
            <a:spLocks noGrp="1"/>
          </p:cNvSpPr>
          <p:nvPr>
            <p:ph type="title"/>
          </p:nvPr>
        </p:nvSpPr>
        <p:spPr>
          <a:xfrm>
            <a:off x="2064956" y="47625"/>
            <a:ext cx="8243888" cy="1143000"/>
          </a:xfrm>
        </p:spPr>
        <p:txBody>
          <a:bodyPr/>
          <a:lstStyle/>
          <a:p>
            <a:endParaRPr lang="zh-TW" altLang="zh-TW" sz="3200" dirty="0">
              <a:solidFill>
                <a:srgbClr val="C00000"/>
              </a:solidFill>
              <a:latin typeface="微軟正黑體" panose="020B0604030504040204" pitchFamily="34" charset="-120"/>
              <a:ea typeface="微軟正黑體" panose="020B0604030504040204" pitchFamily="34" charset="-120"/>
            </a:endParaRPr>
          </a:p>
        </p:txBody>
      </p:sp>
      <p:graphicFrame>
        <p:nvGraphicFramePr>
          <p:cNvPr id="8" name="內容版面配置區 6">
            <a:extLst>
              <a:ext uri="{FF2B5EF4-FFF2-40B4-BE49-F238E27FC236}">
                <a16:creationId xmlns:a16="http://schemas.microsoft.com/office/drawing/2014/main" id="{D71DC219-EF32-4845-AE5B-71E60B9D0869}"/>
              </a:ext>
            </a:extLst>
          </p:cNvPr>
          <p:cNvGraphicFramePr>
            <a:graphicFrameLocks noGrp="1"/>
          </p:cNvGraphicFramePr>
          <p:nvPr>
            <p:ph idx="1"/>
            <p:extLst>
              <p:ext uri="{D42A27DB-BD31-4B8C-83A1-F6EECF244321}">
                <p14:modId xmlns:p14="http://schemas.microsoft.com/office/powerpoint/2010/main" val="198379308"/>
              </p:ext>
            </p:extLst>
          </p:nvPr>
        </p:nvGraphicFramePr>
        <p:xfrm>
          <a:off x="1967070" y="3143250"/>
          <a:ext cx="8424936" cy="35472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362" name="投影片編號版面配置區 3">
            <a:extLst>
              <a:ext uri="{FF2B5EF4-FFF2-40B4-BE49-F238E27FC236}">
                <a16:creationId xmlns:a16="http://schemas.microsoft.com/office/drawing/2014/main" id="{ECB14A99-935A-40E2-8779-6EB90F32D6D6}"/>
              </a:ext>
            </a:extLst>
          </p:cNvPr>
          <p:cNvSpPr>
            <a:spLocks noGrp="1"/>
          </p:cNvSpPr>
          <p:nvPr>
            <p:ph type="sldNum" sz="quarter" idx="12"/>
          </p:nvPr>
        </p:nvSpPr>
        <p:spPr bwMode="auto">
          <a:xfrm>
            <a:off x="8534400" y="6597650"/>
            <a:ext cx="2133600" cy="260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標楷體" panose="03000509000000000000" pitchFamily="65" charset="-120"/>
                <a:ea typeface="標楷體" panose="03000509000000000000" pitchFamily="65" charset="-120"/>
              </a:defRPr>
            </a:lvl1pPr>
            <a:lvl2pPr marL="742950" indent="-285750">
              <a:spcBef>
                <a:spcPct val="20000"/>
              </a:spcBef>
              <a:buFont typeface="Arial" panose="020B0604020202020204" pitchFamily="34" charset="0"/>
              <a:buChar char="–"/>
              <a:defRPr sz="2800">
                <a:solidFill>
                  <a:schemeClr val="tx1"/>
                </a:solidFill>
                <a:latin typeface="標楷體" panose="03000509000000000000" pitchFamily="65" charset="-120"/>
                <a:ea typeface="標楷體" panose="03000509000000000000" pitchFamily="65" charset="-120"/>
              </a:defRPr>
            </a:lvl2pPr>
            <a:lvl3pPr marL="1143000" indent="-228600">
              <a:spcBef>
                <a:spcPct val="20000"/>
              </a:spcBef>
              <a:buFont typeface="Arial" panose="020B0604020202020204" pitchFamily="34" charset="0"/>
              <a:buChar char="•"/>
              <a:defRPr sz="2400">
                <a:solidFill>
                  <a:schemeClr val="tx1"/>
                </a:solidFill>
                <a:latin typeface="標楷體" panose="03000509000000000000" pitchFamily="65" charset="-120"/>
                <a:ea typeface="標楷體" panose="03000509000000000000" pitchFamily="65" charset="-120"/>
              </a:defRPr>
            </a:lvl3pPr>
            <a:lvl4pPr marL="1600200" indent="-228600">
              <a:spcBef>
                <a:spcPct val="20000"/>
              </a:spcBef>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4pPr>
            <a:lvl5pPr marL="2057400" indent="-228600">
              <a:spcBef>
                <a:spcPct val="20000"/>
              </a:spcBef>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9pPr>
          </a:lstStyle>
          <a:p>
            <a:pPr>
              <a:spcBef>
                <a:spcPct val="0"/>
              </a:spcBef>
              <a:buFontTx/>
              <a:buNone/>
            </a:pPr>
            <a:fld id="{ED2D777E-5FFA-4DB4-9ED7-1E6F4B80CCD0}" type="slidenum">
              <a:rPr lang="zh-TW" altLang="en-US" sz="1200">
                <a:latin typeface="微軟正黑體" panose="020B0604030504040204" pitchFamily="34" charset="-120"/>
                <a:ea typeface="微軟正黑體" panose="020B0604030504040204" pitchFamily="34" charset="-120"/>
              </a:rPr>
              <a:pPr>
                <a:spcBef>
                  <a:spcPct val="0"/>
                </a:spcBef>
                <a:buFontTx/>
                <a:buNone/>
              </a:pPr>
              <a:t>23</a:t>
            </a:fld>
            <a:endParaRPr lang="en-US" altLang="zh-TW" sz="1200">
              <a:latin typeface="微軟正黑體" panose="020B0604030504040204" pitchFamily="34" charset="-120"/>
              <a:ea typeface="微軟正黑體" panose="020B0604030504040204" pitchFamily="34" charset="-120"/>
            </a:endParaRPr>
          </a:p>
        </p:txBody>
      </p:sp>
      <p:graphicFrame>
        <p:nvGraphicFramePr>
          <p:cNvPr id="7" name="資料庫圖表 6">
            <a:extLst>
              <a:ext uri="{FF2B5EF4-FFF2-40B4-BE49-F238E27FC236}">
                <a16:creationId xmlns:a16="http://schemas.microsoft.com/office/drawing/2014/main" id="{F350A4D7-C258-4801-9772-43C50A9F22E4}"/>
              </a:ext>
            </a:extLst>
          </p:cNvPr>
          <p:cNvGraphicFramePr/>
          <p:nvPr/>
        </p:nvGraphicFramePr>
        <p:xfrm>
          <a:off x="1932409" y="1371600"/>
          <a:ext cx="8508982" cy="14097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5366" name="文字方塊 6">
            <a:extLst>
              <a:ext uri="{FF2B5EF4-FFF2-40B4-BE49-F238E27FC236}">
                <a16:creationId xmlns:a16="http://schemas.microsoft.com/office/drawing/2014/main" id="{C0CCB824-81B3-4308-BB13-83C38D99D932}"/>
              </a:ext>
            </a:extLst>
          </p:cNvPr>
          <p:cNvSpPr txBox="1">
            <a:spLocks noChangeArrowheads="1"/>
          </p:cNvSpPr>
          <p:nvPr/>
        </p:nvSpPr>
        <p:spPr bwMode="auto">
          <a:xfrm>
            <a:off x="2064956" y="167528"/>
            <a:ext cx="8603046" cy="461665"/>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標楷體" panose="03000509000000000000" pitchFamily="65" charset="-120"/>
                <a:ea typeface="標楷體" panose="03000509000000000000" pitchFamily="65" charset="-120"/>
              </a:defRPr>
            </a:lvl1pPr>
            <a:lvl2pPr marL="742950" indent="-285750">
              <a:spcBef>
                <a:spcPct val="20000"/>
              </a:spcBef>
              <a:buFont typeface="Arial" panose="020B0604020202020204" pitchFamily="34" charset="0"/>
              <a:buChar char="–"/>
              <a:defRPr sz="2800">
                <a:solidFill>
                  <a:schemeClr val="tx1"/>
                </a:solidFill>
                <a:latin typeface="標楷體" panose="03000509000000000000" pitchFamily="65" charset="-120"/>
                <a:ea typeface="標楷體" panose="03000509000000000000" pitchFamily="65" charset="-120"/>
              </a:defRPr>
            </a:lvl2pPr>
            <a:lvl3pPr marL="1143000" indent="-228600">
              <a:spcBef>
                <a:spcPct val="20000"/>
              </a:spcBef>
              <a:buFont typeface="Arial" panose="020B0604020202020204" pitchFamily="34" charset="0"/>
              <a:buChar char="•"/>
              <a:defRPr sz="2400">
                <a:solidFill>
                  <a:schemeClr val="tx1"/>
                </a:solidFill>
                <a:latin typeface="標楷體" panose="03000509000000000000" pitchFamily="65" charset="-120"/>
                <a:ea typeface="標楷體" panose="03000509000000000000" pitchFamily="65" charset="-120"/>
              </a:defRPr>
            </a:lvl3pPr>
            <a:lvl4pPr marL="1600200" indent="-228600">
              <a:spcBef>
                <a:spcPct val="20000"/>
              </a:spcBef>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4pPr>
            <a:lvl5pPr marL="2057400" indent="-228600">
              <a:spcBef>
                <a:spcPct val="20000"/>
              </a:spcBef>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標楷體" panose="03000509000000000000" pitchFamily="65" charset="-120"/>
                <a:ea typeface="標楷體" panose="03000509000000000000" pitchFamily="65" charset="-120"/>
              </a:defRPr>
            </a:lvl9pPr>
          </a:lstStyle>
          <a:p>
            <a:pPr algn="ctr">
              <a:spcBef>
                <a:spcPct val="0"/>
              </a:spcBef>
              <a:buFontTx/>
              <a:buNone/>
            </a:pPr>
            <a:r>
              <a:rPr lang="zh-TW" altLang="en-US" sz="2400" dirty="0">
                <a:latin typeface="微軟正黑體" panose="020B0604030504040204" pitchFamily="34" charset="-120"/>
                <a:ea typeface="微軟正黑體" panose="020B0604030504040204" pitchFamily="34" charset="-120"/>
              </a:rPr>
              <a:t>脆弱家庭</a:t>
            </a:r>
            <a:r>
              <a:rPr lang="en-US" altLang="zh-TW" sz="2400" dirty="0">
                <a:latin typeface="微軟正黑體" panose="020B0604030504040204" pitchFamily="34" charset="-120"/>
                <a:ea typeface="微軟正黑體" panose="020B0604030504040204" pitchFamily="34" charset="-120"/>
              </a:rPr>
              <a:t>2/3</a:t>
            </a:r>
            <a:endParaRPr lang="zh-TW" altLang="en-US" sz="24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3E50A2-DC22-4C85-B792-EBA4CDBEDBA5}"/>
              </a:ext>
            </a:extLst>
          </p:cNvPr>
          <p:cNvSpPr>
            <a:spLocks noGrp="1"/>
          </p:cNvSpPr>
          <p:nvPr>
            <p:ph type="title"/>
          </p:nvPr>
        </p:nvSpPr>
        <p:spPr>
          <a:xfrm>
            <a:off x="1295400" y="115042"/>
            <a:ext cx="9601200" cy="1589567"/>
          </a:xfrm>
        </p:spPr>
        <p:txBody>
          <a:bodyPr>
            <a:normAutofit/>
          </a:bodyPr>
          <a:lstStyle/>
          <a:p>
            <a:r>
              <a:rPr lang="zh-TW" altLang="en-US" dirty="0">
                <a:solidFill>
                  <a:srgbClr val="C00000"/>
                </a:solidFill>
              </a:rPr>
              <a:t>脆弱家庭</a:t>
            </a:r>
            <a:r>
              <a:rPr lang="zh-TW" altLang="zh-TW" dirty="0">
                <a:solidFill>
                  <a:srgbClr val="C00000"/>
                </a:solidFill>
              </a:rPr>
              <a:t>需求面向與脆弱性因子</a:t>
            </a:r>
            <a:r>
              <a:rPr lang="en-US" altLang="zh-TW" dirty="0">
                <a:solidFill>
                  <a:srgbClr val="C00000"/>
                </a:solidFill>
              </a:rPr>
              <a:t>1</a:t>
            </a:r>
            <a:br>
              <a:rPr lang="zh-TW" altLang="zh-TW" dirty="0"/>
            </a:br>
            <a:endParaRPr lang="zh-TW" altLang="en-US" dirty="0">
              <a:solidFill>
                <a:srgbClr val="C00000"/>
              </a:solidFill>
            </a:endParaRPr>
          </a:p>
        </p:txBody>
      </p:sp>
      <p:graphicFrame>
        <p:nvGraphicFramePr>
          <p:cNvPr id="8" name="表格 8">
            <a:extLst>
              <a:ext uri="{FF2B5EF4-FFF2-40B4-BE49-F238E27FC236}">
                <a16:creationId xmlns:a16="http://schemas.microsoft.com/office/drawing/2014/main" id="{3CA1A690-6E56-4C72-A0B5-803FFFE7CEC3}"/>
              </a:ext>
            </a:extLst>
          </p:cNvPr>
          <p:cNvGraphicFramePr>
            <a:graphicFrameLocks noGrp="1"/>
          </p:cNvGraphicFramePr>
          <p:nvPr/>
        </p:nvGraphicFramePr>
        <p:xfrm>
          <a:off x="335280" y="909825"/>
          <a:ext cx="11729130" cy="5743499"/>
        </p:xfrm>
        <a:graphic>
          <a:graphicData uri="http://schemas.openxmlformats.org/drawingml/2006/table">
            <a:tbl>
              <a:tblPr firstRow="1" bandRow="1">
                <a:tableStyleId>{7DF18680-E054-41AD-8BC1-D1AEF772440D}</a:tableStyleId>
              </a:tblPr>
              <a:tblGrid>
                <a:gridCol w="604514">
                  <a:extLst>
                    <a:ext uri="{9D8B030D-6E8A-4147-A177-3AD203B41FA5}">
                      <a16:colId xmlns:a16="http://schemas.microsoft.com/office/drawing/2014/main" val="1638113567"/>
                    </a:ext>
                  </a:extLst>
                </a:gridCol>
                <a:gridCol w="1666242">
                  <a:extLst>
                    <a:ext uri="{9D8B030D-6E8A-4147-A177-3AD203B41FA5}">
                      <a16:colId xmlns:a16="http://schemas.microsoft.com/office/drawing/2014/main" val="2878880668"/>
                    </a:ext>
                  </a:extLst>
                </a:gridCol>
                <a:gridCol w="2665988">
                  <a:extLst>
                    <a:ext uri="{9D8B030D-6E8A-4147-A177-3AD203B41FA5}">
                      <a16:colId xmlns:a16="http://schemas.microsoft.com/office/drawing/2014/main" val="3799684449"/>
                    </a:ext>
                  </a:extLst>
                </a:gridCol>
                <a:gridCol w="6792386">
                  <a:extLst>
                    <a:ext uri="{9D8B030D-6E8A-4147-A177-3AD203B41FA5}">
                      <a16:colId xmlns:a16="http://schemas.microsoft.com/office/drawing/2014/main" val="83651683"/>
                    </a:ext>
                  </a:extLst>
                </a:gridCol>
              </a:tblGrid>
              <a:tr h="661898">
                <a:tc>
                  <a:txBody>
                    <a:bodyPr/>
                    <a:lstStyle/>
                    <a:p>
                      <a:pPr algn="l"/>
                      <a:r>
                        <a:rPr lang="zh-TW" altLang="zh-TW" sz="2000" b="0" kern="1200" dirty="0">
                          <a:solidFill>
                            <a:schemeClr val="lt1"/>
                          </a:solidFill>
                          <a:effectLst/>
                          <a:latin typeface="+mn-lt"/>
                          <a:ea typeface="+mn-ea"/>
                          <a:cs typeface="+mn-cs"/>
                        </a:rPr>
                        <a:t>項次</a:t>
                      </a:r>
                      <a:endParaRPr lang="zh-TW" altLang="en-US" sz="2000" b="0" dirty="0"/>
                    </a:p>
                  </a:txBody>
                  <a:tcPr vert="eaVert"/>
                </a:tc>
                <a:tc>
                  <a:txBody>
                    <a:bodyPr/>
                    <a:lstStyle/>
                    <a:p>
                      <a:r>
                        <a:rPr lang="zh-TW" altLang="zh-TW" sz="2000" b="0" kern="1200" dirty="0">
                          <a:solidFill>
                            <a:schemeClr val="lt1"/>
                          </a:solidFill>
                          <a:effectLst/>
                          <a:latin typeface="+mn-lt"/>
                          <a:ea typeface="+mn-ea"/>
                          <a:cs typeface="+mn-cs"/>
                        </a:rPr>
                        <a:t>需求面向</a:t>
                      </a:r>
                      <a:endParaRPr lang="zh-TW" altLang="en-US" sz="2000" b="0" dirty="0"/>
                    </a:p>
                  </a:txBody>
                  <a:tcPr/>
                </a:tc>
                <a:tc>
                  <a:txBody>
                    <a:bodyPr/>
                    <a:lstStyle/>
                    <a:p>
                      <a:r>
                        <a:rPr lang="zh-TW" altLang="zh-TW" sz="2000" b="0" kern="1200" dirty="0">
                          <a:solidFill>
                            <a:schemeClr val="lt1"/>
                          </a:solidFill>
                          <a:effectLst/>
                          <a:latin typeface="+mn-lt"/>
                          <a:ea typeface="+mn-ea"/>
                          <a:cs typeface="+mn-cs"/>
                        </a:rPr>
                        <a:t>脆弱性因子</a:t>
                      </a:r>
                      <a:endParaRPr lang="zh-TW" altLang="en-US" sz="2000" b="0" dirty="0"/>
                    </a:p>
                  </a:txBody>
                  <a:tcPr/>
                </a:tc>
                <a:tc>
                  <a:txBody>
                    <a:bodyPr/>
                    <a:lstStyle/>
                    <a:p>
                      <a:r>
                        <a:rPr lang="zh-TW" altLang="zh-TW" sz="2000" b="0" kern="1200" dirty="0">
                          <a:solidFill>
                            <a:schemeClr val="lt1"/>
                          </a:solidFill>
                          <a:effectLst/>
                          <a:latin typeface="+mn-lt"/>
                          <a:ea typeface="+mn-ea"/>
                          <a:cs typeface="+mn-cs"/>
                        </a:rPr>
                        <a:t>參考樣態</a:t>
                      </a:r>
                      <a:endParaRPr lang="zh-TW" altLang="en-US" sz="2000" b="0" dirty="0"/>
                    </a:p>
                  </a:txBody>
                  <a:tcPr/>
                </a:tc>
                <a:extLst>
                  <a:ext uri="{0D108BD9-81ED-4DB2-BD59-A6C34878D82A}">
                    <a16:rowId xmlns:a16="http://schemas.microsoft.com/office/drawing/2014/main" val="4194034937"/>
                  </a:ext>
                </a:extLst>
              </a:tr>
              <a:tr h="1020961">
                <a:tc rowSpan="4">
                  <a:txBody>
                    <a:bodyPr/>
                    <a:lstStyle/>
                    <a:p>
                      <a:pPr algn="ctr"/>
                      <a:endParaRPr lang="en-US" altLang="zh-TW" sz="2000" dirty="0">
                        <a:solidFill>
                          <a:srgbClr val="002060"/>
                        </a:solidFill>
                        <a:latin typeface="+mn-ea"/>
                        <a:ea typeface="+mn-ea"/>
                      </a:endParaRPr>
                    </a:p>
                    <a:p>
                      <a:pPr algn="ctr"/>
                      <a:endParaRPr lang="en-US" altLang="zh-TW" sz="2000" dirty="0">
                        <a:solidFill>
                          <a:srgbClr val="002060"/>
                        </a:solidFill>
                        <a:latin typeface="+mn-ea"/>
                        <a:ea typeface="+mn-ea"/>
                      </a:endParaRPr>
                    </a:p>
                    <a:p>
                      <a:pPr algn="ctr"/>
                      <a:endParaRPr lang="en-US" altLang="zh-TW" sz="2000" dirty="0">
                        <a:solidFill>
                          <a:srgbClr val="002060"/>
                        </a:solidFill>
                        <a:latin typeface="+mn-ea"/>
                        <a:ea typeface="+mn-ea"/>
                      </a:endParaRPr>
                    </a:p>
                    <a:p>
                      <a:pPr algn="ctr"/>
                      <a:endParaRPr lang="en-US" altLang="zh-TW" sz="2000" dirty="0">
                        <a:solidFill>
                          <a:srgbClr val="002060"/>
                        </a:solidFill>
                        <a:latin typeface="+mn-ea"/>
                        <a:ea typeface="+mn-ea"/>
                      </a:endParaRPr>
                    </a:p>
                    <a:p>
                      <a:pPr algn="ctr"/>
                      <a:endParaRPr lang="en-US" altLang="zh-TW" sz="2000" dirty="0">
                        <a:solidFill>
                          <a:srgbClr val="002060"/>
                        </a:solidFill>
                        <a:latin typeface="+mn-ea"/>
                        <a:ea typeface="+mn-ea"/>
                      </a:endParaRPr>
                    </a:p>
                    <a:p>
                      <a:pPr algn="ctr"/>
                      <a:endParaRPr lang="en-US" altLang="zh-TW" sz="2000" dirty="0">
                        <a:solidFill>
                          <a:srgbClr val="002060"/>
                        </a:solidFill>
                        <a:latin typeface="+mn-ea"/>
                        <a:ea typeface="+mn-ea"/>
                      </a:endParaRPr>
                    </a:p>
                    <a:p>
                      <a:pPr algn="ctr"/>
                      <a:r>
                        <a:rPr lang="zh-TW" altLang="en-US" sz="2000" b="1" dirty="0">
                          <a:solidFill>
                            <a:srgbClr val="002060"/>
                          </a:solidFill>
                          <a:latin typeface="+mn-ea"/>
                          <a:ea typeface="+mn-ea"/>
                        </a:rPr>
                        <a:t>一</a:t>
                      </a:r>
                    </a:p>
                  </a:txBody>
                  <a:tcPr/>
                </a:tc>
                <a:tc rowSpan="4">
                  <a:txBody>
                    <a:bodyPr/>
                    <a:lstStyle/>
                    <a:p>
                      <a:pPr algn="ctr"/>
                      <a:endParaRPr lang="en-US" altLang="zh-TW" sz="2000" kern="1200" dirty="0">
                        <a:solidFill>
                          <a:srgbClr val="002060"/>
                        </a:solidFill>
                        <a:effectLst/>
                        <a:latin typeface="+mn-ea"/>
                        <a:ea typeface="+mn-ea"/>
                        <a:cs typeface="+mn-cs"/>
                      </a:endParaRPr>
                    </a:p>
                    <a:p>
                      <a:pPr algn="ctr"/>
                      <a:endParaRPr lang="en-US" altLang="zh-TW" sz="2000" kern="1200" dirty="0">
                        <a:solidFill>
                          <a:srgbClr val="002060"/>
                        </a:solidFill>
                        <a:effectLst/>
                        <a:latin typeface="+mn-ea"/>
                        <a:ea typeface="+mn-ea"/>
                        <a:cs typeface="+mn-cs"/>
                      </a:endParaRPr>
                    </a:p>
                    <a:p>
                      <a:pPr algn="ctr"/>
                      <a:endParaRPr lang="en-US" altLang="zh-TW" sz="2000" kern="1200" dirty="0">
                        <a:solidFill>
                          <a:srgbClr val="002060"/>
                        </a:solidFill>
                        <a:effectLst/>
                        <a:latin typeface="+mn-ea"/>
                        <a:ea typeface="+mn-ea"/>
                        <a:cs typeface="+mn-cs"/>
                      </a:endParaRPr>
                    </a:p>
                    <a:p>
                      <a:pPr algn="ctr"/>
                      <a:endParaRPr lang="en-US" altLang="zh-TW" sz="2000" kern="1200" dirty="0">
                        <a:solidFill>
                          <a:srgbClr val="002060"/>
                        </a:solidFill>
                        <a:effectLst/>
                        <a:latin typeface="+mn-ea"/>
                        <a:ea typeface="+mn-ea"/>
                        <a:cs typeface="+mn-cs"/>
                      </a:endParaRPr>
                    </a:p>
                    <a:p>
                      <a:pPr algn="ctr"/>
                      <a:endParaRPr lang="en-US" altLang="zh-TW" sz="2000" kern="1200" dirty="0">
                        <a:solidFill>
                          <a:srgbClr val="002060"/>
                        </a:solidFill>
                        <a:effectLst/>
                        <a:latin typeface="+mn-ea"/>
                        <a:ea typeface="+mn-ea"/>
                        <a:cs typeface="+mn-cs"/>
                      </a:endParaRPr>
                    </a:p>
                    <a:p>
                      <a:pPr algn="ctr"/>
                      <a:endParaRPr lang="en-US" altLang="zh-TW" sz="2000" kern="1200" dirty="0">
                        <a:solidFill>
                          <a:srgbClr val="002060"/>
                        </a:solidFill>
                        <a:effectLst/>
                        <a:latin typeface="+mn-ea"/>
                        <a:ea typeface="+mn-ea"/>
                        <a:cs typeface="+mn-cs"/>
                      </a:endParaRPr>
                    </a:p>
                    <a:p>
                      <a:pPr algn="l"/>
                      <a:r>
                        <a:rPr lang="zh-TW" altLang="zh-TW" sz="2000" b="1" kern="1200" dirty="0">
                          <a:solidFill>
                            <a:srgbClr val="002060"/>
                          </a:solidFill>
                          <a:effectLst/>
                          <a:latin typeface="+mn-ea"/>
                          <a:ea typeface="+mn-ea"/>
                          <a:cs typeface="+mn-cs"/>
                        </a:rPr>
                        <a:t>家庭經濟陷困需要接受協助</a:t>
                      </a:r>
                      <a:endParaRPr lang="zh-TW" altLang="en-US" sz="2000" b="1" dirty="0">
                        <a:solidFill>
                          <a:srgbClr val="002060"/>
                        </a:solidFill>
                        <a:latin typeface="+mn-ea"/>
                        <a:ea typeface="+mn-ea"/>
                      </a:endParaRPr>
                    </a:p>
                  </a:txBody>
                  <a:tcPr/>
                </a:tc>
                <a:tc>
                  <a:txBody>
                    <a:bodyPr/>
                    <a:lstStyle/>
                    <a:p>
                      <a:pPr marL="0" lvl="0" indent="0" algn="l">
                        <a:lnSpc>
                          <a:spcPct val="200000"/>
                        </a:lnSpc>
                        <a:spcAft>
                          <a:spcPts val="0"/>
                        </a:spcAft>
                        <a:buFont typeface="+mj-ea"/>
                        <a:buNone/>
                      </a:pPr>
                      <a:r>
                        <a:rPr lang="en-US" altLang="zh-TW" sz="2000" kern="100" dirty="0">
                          <a:solidFill>
                            <a:srgbClr val="002060"/>
                          </a:solidFill>
                          <a:effectLst/>
                          <a:latin typeface="+mn-ea"/>
                          <a:ea typeface="+mn-ea"/>
                          <a:cs typeface="Times New Roman" panose="02020603050405020304" pitchFamily="18" charset="0"/>
                        </a:rPr>
                        <a:t>(</a:t>
                      </a:r>
                      <a:r>
                        <a:rPr lang="zh-TW" altLang="en-US" sz="2000" kern="100" dirty="0">
                          <a:solidFill>
                            <a:srgbClr val="002060"/>
                          </a:solidFill>
                          <a:effectLst/>
                          <a:latin typeface="+mn-ea"/>
                          <a:ea typeface="+mn-ea"/>
                          <a:cs typeface="Times New Roman" panose="02020603050405020304" pitchFamily="18" charset="0"/>
                        </a:rPr>
                        <a:t>一</a:t>
                      </a:r>
                      <a:r>
                        <a:rPr lang="en-US" altLang="zh-TW" sz="2000" kern="100" dirty="0">
                          <a:solidFill>
                            <a:srgbClr val="002060"/>
                          </a:solidFill>
                          <a:effectLst/>
                          <a:latin typeface="+mn-ea"/>
                          <a:ea typeface="+mn-ea"/>
                          <a:cs typeface="Times New Roman" panose="02020603050405020304" pitchFamily="18" charset="0"/>
                        </a:rPr>
                        <a:t>)</a:t>
                      </a:r>
                      <a:r>
                        <a:rPr lang="zh-TW" altLang="en-US" sz="2000" kern="100" dirty="0">
                          <a:solidFill>
                            <a:srgbClr val="002060"/>
                          </a:solidFill>
                          <a:effectLst/>
                          <a:latin typeface="+mn-ea"/>
                          <a:ea typeface="+mn-ea"/>
                          <a:cs typeface="Times New Roman" panose="02020603050405020304" pitchFamily="18" charset="0"/>
                        </a:rPr>
                        <a:t>工作不穩定或失業</a:t>
                      </a:r>
                      <a:endParaRPr lang="zh-TW" sz="2000" kern="100" dirty="0">
                        <a:solidFill>
                          <a:srgbClr val="002060"/>
                        </a:solidFill>
                        <a:effectLst/>
                        <a:latin typeface="+mn-ea"/>
                        <a:ea typeface="+mn-ea"/>
                        <a:cs typeface="Times New Roman" panose="02020603050405020304" pitchFamily="18" charset="0"/>
                      </a:endParaRPr>
                    </a:p>
                  </a:txBody>
                  <a:tcPr marL="68580" marR="68580" marT="0" marB="0" anchor="ctr"/>
                </a:tc>
                <a:tc>
                  <a:txBody>
                    <a:bodyPr/>
                    <a:lstStyle/>
                    <a:p>
                      <a:r>
                        <a:rPr lang="en-US" altLang="zh-TW" sz="2000" kern="1200" dirty="0">
                          <a:solidFill>
                            <a:srgbClr val="002060"/>
                          </a:solidFill>
                          <a:effectLst/>
                          <a:latin typeface="+mn-ea"/>
                          <a:ea typeface="+mn-ea"/>
                          <a:cs typeface="+mn-cs"/>
                        </a:rPr>
                        <a:t>1.</a:t>
                      </a:r>
                      <a:r>
                        <a:rPr lang="zh-TW" altLang="zh-TW" sz="2000" kern="1200" dirty="0">
                          <a:solidFill>
                            <a:srgbClr val="002060"/>
                          </a:solidFill>
                          <a:effectLst/>
                          <a:latin typeface="+mn-ea"/>
                          <a:ea typeface="+mn-ea"/>
                          <a:cs typeface="+mn-cs"/>
                        </a:rPr>
                        <a:t>家中主要生計者連續失業</a:t>
                      </a:r>
                      <a:r>
                        <a:rPr lang="en-US" altLang="zh-TW" sz="2000" kern="1200" dirty="0">
                          <a:solidFill>
                            <a:srgbClr val="002060"/>
                          </a:solidFill>
                          <a:effectLst/>
                          <a:latin typeface="+mn-ea"/>
                          <a:ea typeface="+mn-ea"/>
                          <a:cs typeface="+mn-cs"/>
                        </a:rPr>
                        <a:t>6</a:t>
                      </a:r>
                      <a:r>
                        <a:rPr lang="zh-TW" altLang="zh-TW" sz="2000" kern="1200" dirty="0">
                          <a:solidFill>
                            <a:srgbClr val="002060"/>
                          </a:solidFill>
                          <a:effectLst/>
                          <a:latin typeface="+mn-ea"/>
                          <a:ea typeface="+mn-ea"/>
                          <a:cs typeface="+mn-cs"/>
                        </a:rPr>
                        <a:t>個月以上。</a:t>
                      </a:r>
                    </a:p>
                    <a:p>
                      <a:r>
                        <a:rPr lang="en-US" altLang="zh-TW" sz="2000" kern="1200" dirty="0">
                          <a:solidFill>
                            <a:srgbClr val="002060"/>
                          </a:solidFill>
                          <a:effectLst/>
                          <a:latin typeface="+mn-ea"/>
                          <a:ea typeface="+mn-ea"/>
                          <a:cs typeface="+mn-cs"/>
                        </a:rPr>
                        <a:t>2.</a:t>
                      </a:r>
                      <a:r>
                        <a:rPr lang="zh-TW" altLang="zh-TW" sz="2000" kern="1200" dirty="0">
                          <a:solidFill>
                            <a:srgbClr val="002060"/>
                          </a:solidFill>
                          <a:effectLst/>
                          <a:latin typeface="+mn-ea"/>
                          <a:ea typeface="+mn-ea"/>
                          <a:cs typeface="+mn-cs"/>
                        </a:rPr>
                        <a:t>家中主要生計者突發性遭受資遣或非自願性失業。</a:t>
                      </a:r>
                    </a:p>
                    <a:p>
                      <a:r>
                        <a:rPr lang="en-US" altLang="zh-TW" sz="2000" kern="1200" dirty="0">
                          <a:solidFill>
                            <a:srgbClr val="002060"/>
                          </a:solidFill>
                          <a:effectLst/>
                          <a:latin typeface="+mn-ea"/>
                          <a:ea typeface="+mn-ea"/>
                          <a:cs typeface="+mn-cs"/>
                        </a:rPr>
                        <a:t>3.</a:t>
                      </a:r>
                      <a:r>
                        <a:rPr lang="zh-TW" altLang="zh-TW" sz="2000" kern="1200" dirty="0">
                          <a:solidFill>
                            <a:srgbClr val="002060"/>
                          </a:solidFill>
                          <a:effectLst/>
                          <a:latin typeface="+mn-ea"/>
                          <a:ea typeface="+mn-ea"/>
                          <a:cs typeface="+mn-cs"/>
                        </a:rPr>
                        <a:t>家中主要生計者為低薪非典型就業型態。</a:t>
                      </a:r>
                      <a:endParaRPr lang="zh-TW" altLang="en-US" sz="2000" dirty="0">
                        <a:solidFill>
                          <a:srgbClr val="002060"/>
                        </a:solidFill>
                        <a:latin typeface="+mn-ea"/>
                        <a:ea typeface="+mn-ea"/>
                      </a:endParaRPr>
                    </a:p>
                  </a:txBody>
                  <a:tcPr/>
                </a:tc>
                <a:extLst>
                  <a:ext uri="{0D108BD9-81ED-4DB2-BD59-A6C34878D82A}">
                    <a16:rowId xmlns:a16="http://schemas.microsoft.com/office/drawing/2014/main" val="378104747"/>
                  </a:ext>
                </a:extLst>
              </a:tr>
              <a:tr h="972234">
                <a:tc vMerge="1">
                  <a:txBody>
                    <a:bodyPr/>
                    <a:lstStyle/>
                    <a:p>
                      <a:endParaRPr lang="zh-TW" altLang="en-US" dirty="0"/>
                    </a:p>
                  </a:txBody>
                  <a:tcPr/>
                </a:tc>
                <a:tc vMerge="1">
                  <a:txBody>
                    <a:bodyPr/>
                    <a:lstStyle/>
                    <a:p>
                      <a:endParaRPr lang="zh-TW" altLang="en-US" dirty="0"/>
                    </a:p>
                  </a:txBody>
                  <a:tcPr/>
                </a:tc>
                <a:tc>
                  <a:txBody>
                    <a:bodyPr/>
                    <a:lstStyle/>
                    <a:p>
                      <a:pPr algn="l">
                        <a:lnSpc>
                          <a:spcPct val="200000"/>
                        </a:lnSpc>
                      </a:pPr>
                      <a:r>
                        <a:rPr lang="en-US" altLang="zh-TW" sz="2000" dirty="0">
                          <a:solidFill>
                            <a:srgbClr val="002060"/>
                          </a:solidFill>
                          <a:latin typeface="+mn-ea"/>
                          <a:ea typeface="+mn-ea"/>
                        </a:rPr>
                        <a:t>(</a:t>
                      </a:r>
                      <a:r>
                        <a:rPr lang="zh-TW" altLang="en-US" sz="2000" dirty="0">
                          <a:solidFill>
                            <a:srgbClr val="002060"/>
                          </a:solidFill>
                          <a:latin typeface="+mn-ea"/>
                          <a:ea typeface="+mn-ea"/>
                        </a:rPr>
                        <a:t>二</a:t>
                      </a:r>
                      <a:r>
                        <a:rPr lang="en-US" altLang="zh-TW" sz="2000" dirty="0">
                          <a:solidFill>
                            <a:srgbClr val="002060"/>
                          </a:solidFill>
                          <a:latin typeface="+mn-ea"/>
                          <a:ea typeface="+mn-ea"/>
                        </a:rPr>
                        <a:t>)</a:t>
                      </a:r>
                      <a:r>
                        <a:rPr lang="zh-TW" altLang="en-US" sz="2000" dirty="0">
                          <a:solidFill>
                            <a:srgbClr val="002060"/>
                          </a:solidFill>
                          <a:latin typeface="+mn-ea"/>
                          <a:ea typeface="+mn-ea"/>
                        </a:rPr>
                        <a:t>急難變故</a:t>
                      </a:r>
                    </a:p>
                  </a:txBody>
                  <a:tcPr/>
                </a:tc>
                <a:tc>
                  <a:txBody>
                    <a:bodyPr/>
                    <a:lstStyle/>
                    <a:p>
                      <a:pPr>
                        <a:lnSpc>
                          <a:spcPct val="150000"/>
                        </a:lnSpc>
                      </a:pPr>
                      <a:r>
                        <a:rPr lang="zh-TW" altLang="zh-TW" sz="2000" kern="1200" dirty="0">
                          <a:solidFill>
                            <a:srgbClr val="002060"/>
                          </a:solidFill>
                          <a:effectLst/>
                          <a:latin typeface="+mn-ea"/>
                          <a:ea typeface="+mn-ea"/>
                          <a:cs typeface="+mn-cs"/>
                        </a:rPr>
                        <a:t>因天災、意外或非個人因素致家庭經濟陷困，且影響家庭成員日常生活。</a:t>
                      </a:r>
                      <a:endParaRPr lang="zh-TW" altLang="en-US" sz="2000" dirty="0">
                        <a:solidFill>
                          <a:srgbClr val="002060"/>
                        </a:solidFill>
                        <a:latin typeface="+mn-ea"/>
                        <a:ea typeface="+mn-ea"/>
                      </a:endParaRPr>
                    </a:p>
                  </a:txBody>
                  <a:tcPr/>
                </a:tc>
                <a:extLst>
                  <a:ext uri="{0D108BD9-81ED-4DB2-BD59-A6C34878D82A}">
                    <a16:rowId xmlns:a16="http://schemas.microsoft.com/office/drawing/2014/main" val="1013739305"/>
                  </a:ext>
                </a:extLst>
              </a:tr>
              <a:tr h="1853585">
                <a:tc vMerge="1">
                  <a:txBody>
                    <a:bodyPr/>
                    <a:lstStyle/>
                    <a:p>
                      <a:endParaRPr lang="zh-TW" altLang="en-US" dirty="0"/>
                    </a:p>
                  </a:txBody>
                  <a:tcPr/>
                </a:tc>
                <a:tc vMerge="1">
                  <a:txBody>
                    <a:bodyPr/>
                    <a:lstStyle/>
                    <a:p>
                      <a:endParaRPr lang="zh-TW" altLang="en-US" dirty="0"/>
                    </a:p>
                  </a:txBody>
                  <a:tcPr/>
                </a:tc>
                <a:tc>
                  <a:txBody>
                    <a:bodyPr/>
                    <a:lstStyle/>
                    <a:p>
                      <a:pPr algn="l">
                        <a:lnSpc>
                          <a:spcPct val="200000"/>
                        </a:lnSpc>
                      </a:pPr>
                      <a:r>
                        <a:rPr lang="en-US" altLang="zh-TW" sz="2000" dirty="0">
                          <a:solidFill>
                            <a:srgbClr val="002060"/>
                          </a:solidFill>
                          <a:latin typeface="+mn-ea"/>
                          <a:ea typeface="+mn-ea"/>
                        </a:rPr>
                        <a:t>(</a:t>
                      </a:r>
                      <a:r>
                        <a:rPr lang="zh-TW" altLang="en-US" sz="2000" dirty="0">
                          <a:solidFill>
                            <a:srgbClr val="002060"/>
                          </a:solidFill>
                          <a:latin typeface="+mn-ea"/>
                          <a:ea typeface="+mn-ea"/>
                        </a:rPr>
                        <a:t>三</a:t>
                      </a:r>
                      <a:r>
                        <a:rPr lang="en-US" altLang="zh-TW" sz="2000" dirty="0">
                          <a:solidFill>
                            <a:srgbClr val="002060"/>
                          </a:solidFill>
                          <a:latin typeface="+mn-ea"/>
                          <a:ea typeface="+mn-ea"/>
                        </a:rPr>
                        <a:t>)</a:t>
                      </a:r>
                      <a:r>
                        <a:rPr lang="zh-TW" altLang="en-US" sz="2000" dirty="0">
                          <a:solidFill>
                            <a:srgbClr val="002060"/>
                          </a:solidFill>
                          <a:latin typeface="+mn-ea"/>
                          <a:ea typeface="+mn-ea"/>
                        </a:rPr>
                        <a:t>家庭成員因傷、病有醫療或生活費用需求</a:t>
                      </a:r>
                    </a:p>
                  </a:txBody>
                  <a:tcPr/>
                </a:tc>
                <a:tc>
                  <a:txBody>
                    <a:bodyPr/>
                    <a:lstStyle/>
                    <a:p>
                      <a:pPr>
                        <a:lnSpc>
                          <a:spcPct val="200000"/>
                        </a:lnSpc>
                      </a:pPr>
                      <a:r>
                        <a:rPr lang="zh-TW" altLang="zh-TW" sz="2000" kern="1200" dirty="0">
                          <a:solidFill>
                            <a:srgbClr val="002060"/>
                          </a:solidFill>
                          <a:effectLst/>
                          <a:latin typeface="+mn-ea"/>
                          <a:ea typeface="+mn-ea"/>
                          <a:cs typeface="+mn-cs"/>
                        </a:rPr>
                        <a:t>因疾病、傷害事故就醫所生全民健康保險之部分負擔醫療費用或健康保險給付未涵蓋之醫療費用以最近三個月之醫療費用累計達新臺幣</a:t>
                      </a:r>
                      <a:r>
                        <a:rPr lang="en-US" altLang="zh-TW" sz="2000" kern="1200" dirty="0">
                          <a:solidFill>
                            <a:srgbClr val="002060"/>
                          </a:solidFill>
                          <a:effectLst/>
                          <a:latin typeface="+mn-ea"/>
                          <a:ea typeface="+mn-ea"/>
                          <a:cs typeface="+mn-cs"/>
                        </a:rPr>
                        <a:t>3</a:t>
                      </a:r>
                      <a:r>
                        <a:rPr lang="zh-TW" altLang="zh-TW" sz="2000" kern="1200" dirty="0">
                          <a:solidFill>
                            <a:srgbClr val="002060"/>
                          </a:solidFill>
                          <a:effectLst/>
                          <a:latin typeface="+mn-ea"/>
                          <a:ea typeface="+mn-ea"/>
                          <a:cs typeface="+mn-cs"/>
                        </a:rPr>
                        <a:t>萬元以上，且影響家庭成員日常生活。</a:t>
                      </a:r>
                      <a:endParaRPr lang="zh-TW" altLang="en-US" sz="2000" dirty="0">
                        <a:solidFill>
                          <a:srgbClr val="002060"/>
                        </a:solidFill>
                        <a:latin typeface="+mn-ea"/>
                        <a:ea typeface="+mn-ea"/>
                      </a:endParaRPr>
                    </a:p>
                  </a:txBody>
                  <a:tcPr/>
                </a:tc>
                <a:extLst>
                  <a:ext uri="{0D108BD9-81ED-4DB2-BD59-A6C34878D82A}">
                    <a16:rowId xmlns:a16="http://schemas.microsoft.com/office/drawing/2014/main" val="3832321019"/>
                  </a:ext>
                </a:extLst>
              </a:tr>
              <a:tr h="1234821">
                <a:tc vMerge="1">
                  <a:txBody>
                    <a:bodyPr/>
                    <a:lstStyle/>
                    <a:p>
                      <a:endParaRPr lang="zh-TW" altLang="en-US" dirty="0"/>
                    </a:p>
                  </a:txBody>
                  <a:tcPr/>
                </a:tc>
                <a:tc vMerge="1">
                  <a:txBody>
                    <a:bodyPr/>
                    <a:lstStyle/>
                    <a:p>
                      <a:endParaRPr lang="zh-TW" altLang="en-US" dirty="0"/>
                    </a:p>
                  </a:txBody>
                  <a:tcPr/>
                </a:tc>
                <a:tc>
                  <a:txBody>
                    <a:bodyPr/>
                    <a:lstStyle/>
                    <a:p>
                      <a:pPr algn="l">
                        <a:lnSpc>
                          <a:spcPct val="200000"/>
                        </a:lnSpc>
                      </a:pPr>
                      <a:r>
                        <a:rPr lang="en-US" altLang="zh-TW" sz="2000" dirty="0">
                          <a:solidFill>
                            <a:srgbClr val="002060"/>
                          </a:solidFill>
                          <a:latin typeface="+mn-ea"/>
                          <a:ea typeface="+mn-ea"/>
                        </a:rPr>
                        <a:t>(</a:t>
                      </a:r>
                      <a:r>
                        <a:rPr lang="zh-TW" altLang="en-US" sz="2000" dirty="0">
                          <a:solidFill>
                            <a:srgbClr val="002060"/>
                          </a:solidFill>
                          <a:latin typeface="+mn-ea"/>
                          <a:ea typeface="+mn-ea"/>
                        </a:rPr>
                        <a:t>四</a:t>
                      </a:r>
                      <a:r>
                        <a:rPr lang="en-US" altLang="zh-TW" sz="2000" dirty="0">
                          <a:solidFill>
                            <a:srgbClr val="002060"/>
                          </a:solidFill>
                          <a:latin typeface="+mn-ea"/>
                          <a:ea typeface="+mn-ea"/>
                        </a:rPr>
                        <a:t>)</a:t>
                      </a:r>
                      <a:r>
                        <a:rPr lang="zh-TW" altLang="en-US" sz="2000" dirty="0">
                          <a:solidFill>
                            <a:srgbClr val="002060"/>
                          </a:solidFill>
                          <a:latin typeface="+mn-ea"/>
                          <a:ea typeface="+mn-ea"/>
                        </a:rPr>
                        <a:t>家庭因債務、財務凍結或具急迫性需求</a:t>
                      </a:r>
                    </a:p>
                  </a:txBody>
                  <a:tcPr/>
                </a:tc>
                <a:tc>
                  <a:txBody>
                    <a:bodyPr/>
                    <a:lstStyle/>
                    <a:p>
                      <a:pPr>
                        <a:lnSpc>
                          <a:spcPct val="200000"/>
                        </a:lnSpc>
                      </a:pPr>
                      <a:r>
                        <a:rPr lang="zh-TW" altLang="zh-TW" sz="2000" kern="1200" dirty="0">
                          <a:solidFill>
                            <a:srgbClr val="002060"/>
                          </a:solidFill>
                          <a:effectLst/>
                          <a:latin typeface="+mn-ea"/>
                          <a:ea typeface="+mn-ea"/>
                          <a:cs typeface="+mn-cs"/>
                        </a:rPr>
                        <a:t>財產或存款帳戶因遭強制執行、凍結或其他原因未能及時運用，致生活陷於困境。</a:t>
                      </a:r>
                      <a:endParaRPr lang="zh-TW" altLang="en-US" sz="2000" dirty="0">
                        <a:solidFill>
                          <a:srgbClr val="002060"/>
                        </a:solidFill>
                        <a:latin typeface="+mn-ea"/>
                        <a:ea typeface="+mn-ea"/>
                      </a:endParaRPr>
                    </a:p>
                  </a:txBody>
                  <a:tcPr/>
                </a:tc>
                <a:extLst>
                  <a:ext uri="{0D108BD9-81ED-4DB2-BD59-A6C34878D82A}">
                    <a16:rowId xmlns:a16="http://schemas.microsoft.com/office/drawing/2014/main" val="3530312500"/>
                  </a:ext>
                </a:extLst>
              </a:tr>
            </a:tbl>
          </a:graphicData>
        </a:graphic>
      </p:graphicFrame>
    </p:spTree>
    <p:extLst>
      <p:ext uri="{BB962C8B-B14F-4D97-AF65-F5344CB8AC3E}">
        <p14:creationId xmlns:p14="http://schemas.microsoft.com/office/powerpoint/2010/main" val="3071410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3E50A2-DC22-4C85-B792-EBA4CDBEDBA5}"/>
              </a:ext>
            </a:extLst>
          </p:cNvPr>
          <p:cNvSpPr>
            <a:spLocks noGrp="1"/>
          </p:cNvSpPr>
          <p:nvPr>
            <p:ph type="title"/>
          </p:nvPr>
        </p:nvSpPr>
        <p:spPr>
          <a:xfrm>
            <a:off x="1295400" y="115042"/>
            <a:ext cx="9601200" cy="1589567"/>
          </a:xfrm>
        </p:spPr>
        <p:txBody>
          <a:bodyPr>
            <a:normAutofit/>
          </a:bodyPr>
          <a:lstStyle/>
          <a:p>
            <a:r>
              <a:rPr lang="zh-TW" altLang="en-US" dirty="0">
                <a:solidFill>
                  <a:srgbClr val="C00000"/>
                </a:solidFill>
              </a:rPr>
              <a:t>脆弱家庭</a:t>
            </a:r>
            <a:r>
              <a:rPr lang="zh-TW" altLang="zh-TW" dirty="0">
                <a:solidFill>
                  <a:srgbClr val="C00000"/>
                </a:solidFill>
              </a:rPr>
              <a:t>需求面向與脆弱性因子</a:t>
            </a:r>
            <a:r>
              <a:rPr lang="en-US" altLang="zh-TW" dirty="0">
                <a:solidFill>
                  <a:srgbClr val="C00000"/>
                </a:solidFill>
              </a:rPr>
              <a:t>2</a:t>
            </a:r>
            <a:br>
              <a:rPr lang="zh-TW" altLang="zh-TW" dirty="0"/>
            </a:br>
            <a:endParaRPr lang="zh-TW" altLang="en-US" dirty="0">
              <a:solidFill>
                <a:srgbClr val="C00000"/>
              </a:solidFill>
            </a:endParaRPr>
          </a:p>
        </p:txBody>
      </p:sp>
      <p:graphicFrame>
        <p:nvGraphicFramePr>
          <p:cNvPr id="8" name="表格 8">
            <a:extLst>
              <a:ext uri="{FF2B5EF4-FFF2-40B4-BE49-F238E27FC236}">
                <a16:creationId xmlns:a16="http://schemas.microsoft.com/office/drawing/2014/main" id="{3CA1A690-6E56-4C72-A0B5-803FFFE7CEC3}"/>
              </a:ext>
            </a:extLst>
          </p:cNvPr>
          <p:cNvGraphicFramePr>
            <a:graphicFrameLocks noGrp="1"/>
          </p:cNvGraphicFramePr>
          <p:nvPr/>
        </p:nvGraphicFramePr>
        <p:xfrm>
          <a:off x="318978" y="824765"/>
          <a:ext cx="11702902" cy="6166391"/>
        </p:xfrm>
        <a:graphic>
          <a:graphicData uri="http://schemas.openxmlformats.org/drawingml/2006/table">
            <a:tbl>
              <a:tblPr firstRow="1" bandRow="1">
                <a:tableStyleId>{7DF18680-E054-41AD-8BC1-D1AEF772440D}</a:tableStyleId>
              </a:tblPr>
              <a:tblGrid>
                <a:gridCol w="890062">
                  <a:extLst>
                    <a:ext uri="{9D8B030D-6E8A-4147-A177-3AD203B41FA5}">
                      <a16:colId xmlns:a16="http://schemas.microsoft.com/office/drawing/2014/main" val="1638113567"/>
                    </a:ext>
                  </a:extLst>
                </a:gridCol>
                <a:gridCol w="1249680">
                  <a:extLst>
                    <a:ext uri="{9D8B030D-6E8A-4147-A177-3AD203B41FA5}">
                      <a16:colId xmlns:a16="http://schemas.microsoft.com/office/drawing/2014/main" val="2878880668"/>
                    </a:ext>
                  </a:extLst>
                </a:gridCol>
                <a:gridCol w="2770774">
                  <a:extLst>
                    <a:ext uri="{9D8B030D-6E8A-4147-A177-3AD203B41FA5}">
                      <a16:colId xmlns:a16="http://schemas.microsoft.com/office/drawing/2014/main" val="3799684449"/>
                    </a:ext>
                  </a:extLst>
                </a:gridCol>
                <a:gridCol w="6792386">
                  <a:extLst>
                    <a:ext uri="{9D8B030D-6E8A-4147-A177-3AD203B41FA5}">
                      <a16:colId xmlns:a16="http://schemas.microsoft.com/office/drawing/2014/main" val="83651683"/>
                    </a:ext>
                  </a:extLst>
                </a:gridCol>
              </a:tblGrid>
              <a:tr h="588805">
                <a:tc>
                  <a:txBody>
                    <a:bodyPr/>
                    <a:lstStyle/>
                    <a:p>
                      <a:pPr algn="l"/>
                      <a:r>
                        <a:rPr lang="zh-TW" altLang="zh-TW" sz="2000" b="0" kern="1200" dirty="0">
                          <a:solidFill>
                            <a:schemeClr val="lt1"/>
                          </a:solidFill>
                          <a:effectLst/>
                          <a:latin typeface="+mn-lt"/>
                          <a:ea typeface="+mn-ea"/>
                          <a:cs typeface="+mn-cs"/>
                        </a:rPr>
                        <a:t>項次</a:t>
                      </a:r>
                      <a:endParaRPr lang="zh-TW" altLang="en-US" sz="2000" b="0" dirty="0"/>
                    </a:p>
                  </a:txBody>
                  <a:tcPr vert="eaVert"/>
                </a:tc>
                <a:tc>
                  <a:txBody>
                    <a:bodyPr/>
                    <a:lstStyle/>
                    <a:p>
                      <a:r>
                        <a:rPr lang="zh-TW" altLang="zh-TW" sz="2000" b="0" kern="1200" dirty="0">
                          <a:solidFill>
                            <a:schemeClr val="lt1"/>
                          </a:solidFill>
                          <a:effectLst/>
                          <a:latin typeface="+mn-lt"/>
                          <a:ea typeface="+mn-ea"/>
                          <a:cs typeface="+mn-cs"/>
                        </a:rPr>
                        <a:t>需求面向</a:t>
                      </a:r>
                      <a:endParaRPr lang="zh-TW" altLang="en-US" sz="2000" b="0" dirty="0"/>
                    </a:p>
                  </a:txBody>
                  <a:tcPr/>
                </a:tc>
                <a:tc>
                  <a:txBody>
                    <a:bodyPr/>
                    <a:lstStyle/>
                    <a:p>
                      <a:r>
                        <a:rPr lang="zh-TW" altLang="zh-TW" sz="2000" b="0" kern="1200" dirty="0">
                          <a:solidFill>
                            <a:schemeClr val="lt1"/>
                          </a:solidFill>
                          <a:effectLst/>
                          <a:latin typeface="+mn-lt"/>
                          <a:ea typeface="+mn-ea"/>
                          <a:cs typeface="+mn-cs"/>
                        </a:rPr>
                        <a:t>脆弱性因子</a:t>
                      </a:r>
                      <a:endParaRPr lang="zh-TW" altLang="en-US" sz="2000" b="0" dirty="0"/>
                    </a:p>
                  </a:txBody>
                  <a:tcPr/>
                </a:tc>
                <a:tc>
                  <a:txBody>
                    <a:bodyPr/>
                    <a:lstStyle/>
                    <a:p>
                      <a:r>
                        <a:rPr lang="zh-TW" altLang="zh-TW" sz="2000" b="0" kern="1200" dirty="0">
                          <a:solidFill>
                            <a:schemeClr val="lt1"/>
                          </a:solidFill>
                          <a:effectLst/>
                          <a:latin typeface="+mn-lt"/>
                          <a:ea typeface="+mn-ea"/>
                          <a:cs typeface="+mn-cs"/>
                        </a:rPr>
                        <a:t>參考樣態</a:t>
                      </a:r>
                      <a:endParaRPr lang="zh-TW" altLang="en-US" sz="2000" b="0" dirty="0"/>
                    </a:p>
                  </a:txBody>
                  <a:tcPr/>
                </a:tc>
                <a:extLst>
                  <a:ext uri="{0D108BD9-81ED-4DB2-BD59-A6C34878D82A}">
                    <a16:rowId xmlns:a16="http://schemas.microsoft.com/office/drawing/2014/main" val="4194034937"/>
                  </a:ext>
                </a:extLst>
              </a:tr>
              <a:tr h="3661122">
                <a:tc rowSpan="2">
                  <a:txBody>
                    <a:bodyPr/>
                    <a:lstStyle/>
                    <a:p>
                      <a:pPr algn="ctr"/>
                      <a:endParaRPr lang="en-US" altLang="zh-TW" sz="2000" dirty="0">
                        <a:solidFill>
                          <a:srgbClr val="002060"/>
                        </a:solidFill>
                        <a:latin typeface="+mn-ea"/>
                        <a:ea typeface="+mn-ea"/>
                      </a:endParaRPr>
                    </a:p>
                    <a:p>
                      <a:pPr algn="ctr"/>
                      <a:endParaRPr lang="en-US" altLang="zh-TW" sz="2000" dirty="0">
                        <a:solidFill>
                          <a:srgbClr val="002060"/>
                        </a:solidFill>
                        <a:latin typeface="+mn-ea"/>
                        <a:ea typeface="+mn-ea"/>
                      </a:endParaRPr>
                    </a:p>
                    <a:p>
                      <a:pPr algn="ctr"/>
                      <a:endParaRPr lang="en-US" altLang="zh-TW" sz="2000" dirty="0">
                        <a:solidFill>
                          <a:srgbClr val="002060"/>
                        </a:solidFill>
                        <a:latin typeface="+mn-ea"/>
                        <a:ea typeface="+mn-ea"/>
                      </a:endParaRPr>
                    </a:p>
                    <a:p>
                      <a:pPr algn="ctr"/>
                      <a:endParaRPr lang="en-US" altLang="zh-TW" sz="2000" dirty="0">
                        <a:solidFill>
                          <a:srgbClr val="002060"/>
                        </a:solidFill>
                        <a:latin typeface="+mn-ea"/>
                        <a:ea typeface="+mn-ea"/>
                      </a:endParaRPr>
                    </a:p>
                    <a:p>
                      <a:pPr algn="ctr"/>
                      <a:endParaRPr lang="en-US" altLang="zh-TW" sz="2000" dirty="0">
                        <a:solidFill>
                          <a:srgbClr val="002060"/>
                        </a:solidFill>
                        <a:latin typeface="+mn-ea"/>
                        <a:ea typeface="+mn-ea"/>
                      </a:endParaRPr>
                    </a:p>
                    <a:p>
                      <a:pPr algn="ctr"/>
                      <a:endParaRPr lang="en-US" altLang="zh-TW" sz="2000" dirty="0">
                        <a:solidFill>
                          <a:srgbClr val="002060"/>
                        </a:solidFill>
                        <a:latin typeface="+mn-ea"/>
                        <a:ea typeface="+mn-ea"/>
                      </a:endParaRPr>
                    </a:p>
                    <a:p>
                      <a:pPr algn="ctr"/>
                      <a:r>
                        <a:rPr lang="zh-TW" altLang="en-US" sz="2000" b="1" dirty="0">
                          <a:solidFill>
                            <a:srgbClr val="002060"/>
                          </a:solidFill>
                          <a:latin typeface="+mn-ea"/>
                          <a:ea typeface="+mn-ea"/>
                        </a:rPr>
                        <a:t>二</a:t>
                      </a:r>
                    </a:p>
                  </a:txBody>
                  <a:tcPr/>
                </a:tc>
                <a:tc rowSpan="2">
                  <a:txBody>
                    <a:bodyPr/>
                    <a:lstStyle/>
                    <a:p>
                      <a:pPr algn="l"/>
                      <a:endParaRPr lang="en-US" altLang="zh-TW" sz="2000" kern="1200" dirty="0">
                        <a:solidFill>
                          <a:srgbClr val="002060"/>
                        </a:solidFill>
                        <a:effectLst/>
                        <a:latin typeface="+mn-ea"/>
                        <a:ea typeface="+mn-ea"/>
                        <a:cs typeface="+mn-cs"/>
                      </a:endParaRPr>
                    </a:p>
                    <a:p>
                      <a:pPr algn="l"/>
                      <a:endParaRPr lang="en-US" altLang="zh-TW" sz="2000" kern="1200" dirty="0">
                        <a:solidFill>
                          <a:srgbClr val="002060"/>
                        </a:solidFill>
                        <a:effectLst/>
                        <a:latin typeface="+mn-ea"/>
                        <a:ea typeface="+mn-ea"/>
                        <a:cs typeface="+mn-cs"/>
                      </a:endParaRPr>
                    </a:p>
                    <a:p>
                      <a:pPr algn="l"/>
                      <a:endParaRPr lang="en-US" altLang="zh-TW" sz="2000" kern="1200" dirty="0">
                        <a:solidFill>
                          <a:srgbClr val="002060"/>
                        </a:solidFill>
                        <a:effectLst/>
                        <a:latin typeface="+mn-ea"/>
                        <a:ea typeface="+mn-ea"/>
                        <a:cs typeface="+mn-cs"/>
                      </a:endParaRPr>
                    </a:p>
                    <a:p>
                      <a:pPr algn="l"/>
                      <a:endParaRPr lang="en-US" altLang="zh-TW" sz="2000" kern="1200" dirty="0">
                        <a:solidFill>
                          <a:srgbClr val="002060"/>
                        </a:solidFill>
                        <a:effectLst/>
                        <a:latin typeface="+mn-ea"/>
                        <a:ea typeface="+mn-ea"/>
                        <a:cs typeface="+mn-cs"/>
                      </a:endParaRPr>
                    </a:p>
                    <a:p>
                      <a:pPr algn="l"/>
                      <a:endParaRPr lang="en-US" altLang="zh-TW" sz="2000" kern="1200" dirty="0">
                        <a:solidFill>
                          <a:srgbClr val="002060"/>
                        </a:solidFill>
                        <a:effectLst/>
                        <a:latin typeface="+mn-ea"/>
                        <a:ea typeface="+mn-ea"/>
                        <a:cs typeface="+mn-cs"/>
                      </a:endParaRPr>
                    </a:p>
                    <a:p>
                      <a:pPr algn="l"/>
                      <a:endParaRPr lang="en-US" altLang="zh-TW" sz="2000" kern="1200" dirty="0">
                        <a:solidFill>
                          <a:srgbClr val="002060"/>
                        </a:solidFill>
                        <a:effectLst/>
                        <a:latin typeface="+mn-ea"/>
                        <a:ea typeface="+mn-ea"/>
                        <a:cs typeface="+mn-cs"/>
                      </a:endParaRPr>
                    </a:p>
                    <a:p>
                      <a:pPr algn="l"/>
                      <a:r>
                        <a:rPr lang="zh-TW" altLang="zh-TW" sz="2000" b="1" kern="1200" dirty="0">
                          <a:solidFill>
                            <a:srgbClr val="002060"/>
                          </a:solidFill>
                          <a:effectLst/>
                          <a:latin typeface="+mn-ea"/>
                          <a:ea typeface="+mn-ea"/>
                          <a:cs typeface="+mn-cs"/>
                        </a:rPr>
                        <a:t>家庭支持系統變化需要接受協助</a:t>
                      </a:r>
                      <a:endParaRPr lang="zh-TW" altLang="en-US" sz="2000" b="1" dirty="0">
                        <a:solidFill>
                          <a:srgbClr val="002060"/>
                        </a:solidFill>
                        <a:latin typeface="+mn-ea"/>
                        <a:ea typeface="+mn-ea"/>
                      </a:endParaRPr>
                    </a:p>
                  </a:txBody>
                  <a:tcPr/>
                </a:tc>
                <a:tc>
                  <a:txBody>
                    <a:bodyPr/>
                    <a:lstStyle/>
                    <a:p>
                      <a:pPr marL="0" lvl="0" indent="0" algn="l">
                        <a:lnSpc>
                          <a:spcPct val="200000"/>
                        </a:lnSpc>
                        <a:spcAft>
                          <a:spcPts val="0"/>
                        </a:spcAft>
                        <a:buFont typeface="+mj-ea"/>
                        <a:buNone/>
                      </a:pPr>
                      <a:r>
                        <a:rPr lang="en-US" altLang="zh-TW" sz="2000" kern="100" dirty="0">
                          <a:solidFill>
                            <a:srgbClr val="002060"/>
                          </a:solidFill>
                          <a:effectLst/>
                          <a:latin typeface="+mn-ea"/>
                          <a:ea typeface="+mn-ea"/>
                          <a:cs typeface="Times New Roman" panose="02020603050405020304" pitchFamily="18" charset="0"/>
                        </a:rPr>
                        <a:t>(</a:t>
                      </a:r>
                      <a:r>
                        <a:rPr lang="zh-TW" altLang="en-US" sz="2000" kern="100" dirty="0">
                          <a:solidFill>
                            <a:srgbClr val="002060"/>
                          </a:solidFill>
                          <a:effectLst/>
                          <a:latin typeface="+mn-ea"/>
                          <a:ea typeface="+mn-ea"/>
                          <a:cs typeface="Times New Roman" panose="02020603050405020304" pitchFamily="18" charset="0"/>
                        </a:rPr>
                        <a:t>一</a:t>
                      </a:r>
                      <a:r>
                        <a:rPr lang="en-US" altLang="zh-TW" sz="2000" kern="100" dirty="0">
                          <a:solidFill>
                            <a:srgbClr val="002060"/>
                          </a:solidFill>
                          <a:effectLst/>
                          <a:latin typeface="+mn-ea"/>
                          <a:ea typeface="+mn-ea"/>
                          <a:cs typeface="Times New Roman" panose="02020603050405020304" pitchFamily="18" charset="0"/>
                        </a:rPr>
                        <a:t>)</a:t>
                      </a:r>
                      <a:r>
                        <a:rPr lang="zh-TW" altLang="zh-TW" sz="2000" kern="1200" dirty="0">
                          <a:solidFill>
                            <a:srgbClr val="002060"/>
                          </a:solidFill>
                          <a:effectLst/>
                          <a:latin typeface="+mn-ea"/>
                          <a:ea typeface="+mn-ea"/>
                          <a:cs typeface="+mn-cs"/>
                        </a:rPr>
                        <a:t>天然災害或意外事故等突發性事件致家庭支持功能受損</a:t>
                      </a:r>
                      <a:endParaRPr lang="zh-TW" sz="2000" kern="100" dirty="0">
                        <a:solidFill>
                          <a:srgbClr val="002060"/>
                        </a:solidFill>
                        <a:effectLst/>
                        <a:latin typeface="+mn-ea"/>
                        <a:ea typeface="+mn-ea"/>
                        <a:cs typeface="Times New Roman" panose="02020603050405020304" pitchFamily="18" charset="0"/>
                      </a:endParaRPr>
                    </a:p>
                  </a:txBody>
                  <a:tcPr marL="68580" marR="68580" marT="0" marB="0" anchor="ctr"/>
                </a:tc>
                <a:tc>
                  <a:txBody>
                    <a:bodyPr/>
                    <a:lstStyle/>
                    <a:p>
                      <a:r>
                        <a:rPr lang="en-US" altLang="zh-TW" sz="2000" kern="1200" dirty="0">
                          <a:solidFill>
                            <a:srgbClr val="002060"/>
                          </a:solidFill>
                          <a:effectLst/>
                          <a:latin typeface="+mn-ea"/>
                          <a:ea typeface="+mn-ea"/>
                          <a:cs typeface="+mn-cs"/>
                        </a:rPr>
                        <a:t>1.</a:t>
                      </a:r>
                      <a:r>
                        <a:rPr lang="zh-TW" altLang="zh-TW" sz="2000" kern="1200" dirty="0">
                          <a:solidFill>
                            <a:srgbClr val="002060"/>
                          </a:solidFill>
                          <a:effectLst/>
                          <a:latin typeface="+mn-ea"/>
                          <a:ea typeface="+mn-ea"/>
                          <a:cs typeface="+mn-cs"/>
                        </a:rPr>
                        <a:t>天然災害</a:t>
                      </a:r>
                    </a:p>
                    <a:p>
                      <a:r>
                        <a:rPr lang="zh-TW" altLang="zh-TW" sz="2000" kern="1200" dirty="0">
                          <a:solidFill>
                            <a:srgbClr val="002060"/>
                          </a:solidFill>
                          <a:effectLst/>
                          <a:latin typeface="+mn-ea"/>
                          <a:ea typeface="+mn-ea"/>
                          <a:cs typeface="+mn-cs"/>
                        </a:rPr>
                        <a:t>風災、水災、震災（含土壤液化）、旱災、寒害、土石流災害、火山災害等。</a:t>
                      </a:r>
                      <a:endParaRPr lang="en-US" altLang="zh-TW" sz="2000" kern="1200" dirty="0">
                        <a:solidFill>
                          <a:srgbClr val="002060"/>
                        </a:solidFill>
                        <a:effectLst/>
                        <a:latin typeface="+mn-ea"/>
                        <a:ea typeface="+mn-ea"/>
                        <a:cs typeface="+mn-cs"/>
                      </a:endParaRPr>
                    </a:p>
                    <a:p>
                      <a:endParaRPr lang="en-US" altLang="zh-TW" sz="2000" kern="1200" dirty="0">
                        <a:solidFill>
                          <a:srgbClr val="002060"/>
                        </a:solidFill>
                        <a:effectLst/>
                        <a:latin typeface="+mn-ea"/>
                        <a:ea typeface="+mn-ea"/>
                        <a:cs typeface="+mn-cs"/>
                      </a:endParaRPr>
                    </a:p>
                    <a:p>
                      <a:r>
                        <a:rPr lang="zh-TW" altLang="zh-TW" sz="2000" dirty="0">
                          <a:solidFill>
                            <a:srgbClr val="002060"/>
                          </a:solidFill>
                          <a:effectLst/>
                          <a:latin typeface="+mn-ea"/>
                          <a:ea typeface="+mn-ea"/>
                        </a:rPr>
                        <a:t> </a:t>
                      </a:r>
                      <a:r>
                        <a:rPr lang="en-US" altLang="zh-TW" sz="2000" kern="1200" dirty="0">
                          <a:solidFill>
                            <a:srgbClr val="002060"/>
                          </a:solidFill>
                          <a:effectLst/>
                          <a:latin typeface="+mn-ea"/>
                          <a:ea typeface="+mn-ea"/>
                          <a:cs typeface="+mn-cs"/>
                        </a:rPr>
                        <a:t>2.</a:t>
                      </a:r>
                      <a:r>
                        <a:rPr lang="zh-TW" altLang="zh-TW" sz="2000" kern="1200" dirty="0">
                          <a:solidFill>
                            <a:srgbClr val="002060"/>
                          </a:solidFill>
                          <a:effectLst/>
                          <a:latin typeface="+mn-ea"/>
                          <a:ea typeface="+mn-ea"/>
                          <a:cs typeface="+mn-cs"/>
                        </a:rPr>
                        <a:t>其他意外災害</a:t>
                      </a:r>
                    </a:p>
                    <a:p>
                      <a:r>
                        <a:rPr lang="zh-TW" altLang="zh-TW" sz="2000" kern="1200" dirty="0">
                          <a:solidFill>
                            <a:srgbClr val="002060"/>
                          </a:solidFill>
                          <a:effectLst/>
                          <a:latin typeface="+mn-ea"/>
                          <a:ea typeface="+mn-ea"/>
                          <a:cs typeface="+mn-cs"/>
                        </a:rPr>
                        <a:t>火災、爆炸、公用氣體與油料管線、輸電線路災害、礦災、空難、海難、陸上交通事故、森林火災、毒性化學物質災害、生物病原災害、動植物疫災、輻射災害、工業管線災害、懸浮微粒物質災害等災害。</a:t>
                      </a:r>
                      <a:endParaRPr lang="en-US" altLang="zh-TW" sz="2000" kern="1200" dirty="0">
                        <a:solidFill>
                          <a:srgbClr val="002060"/>
                        </a:solidFill>
                        <a:effectLst/>
                        <a:latin typeface="+mn-ea"/>
                        <a:ea typeface="+mn-ea"/>
                        <a:cs typeface="+mn-cs"/>
                      </a:endParaRPr>
                    </a:p>
                    <a:p>
                      <a:endParaRPr lang="en-US" altLang="zh-TW" sz="2000" kern="1200" dirty="0">
                        <a:solidFill>
                          <a:srgbClr val="002060"/>
                        </a:solidFill>
                        <a:effectLst/>
                        <a:latin typeface="+mn-ea"/>
                        <a:ea typeface="+mn-ea"/>
                        <a:cs typeface="+mn-cs"/>
                      </a:endParaRPr>
                    </a:p>
                    <a:p>
                      <a:r>
                        <a:rPr lang="en-US" altLang="zh-TW" sz="2000" kern="1200" dirty="0">
                          <a:solidFill>
                            <a:srgbClr val="002060"/>
                          </a:solidFill>
                          <a:effectLst/>
                          <a:latin typeface="+mn-ea"/>
                          <a:ea typeface="+mn-ea"/>
                          <a:cs typeface="+mn-cs"/>
                        </a:rPr>
                        <a:t>3.</a:t>
                      </a:r>
                      <a:r>
                        <a:rPr lang="zh-TW" altLang="zh-TW" sz="2000" kern="1200" dirty="0">
                          <a:solidFill>
                            <a:srgbClr val="002060"/>
                          </a:solidFill>
                          <a:effectLst/>
                          <a:latin typeface="+mn-ea"/>
                          <a:ea typeface="+mn-ea"/>
                          <a:cs typeface="+mn-cs"/>
                        </a:rPr>
                        <a:t>因上述災害致家庭成員生命、財產嚴重受損，影響家庭基本生活功能。</a:t>
                      </a:r>
                      <a:endParaRPr lang="zh-TW" altLang="en-US" sz="2000" dirty="0">
                        <a:solidFill>
                          <a:srgbClr val="002060"/>
                        </a:solidFill>
                        <a:latin typeface="+mn-ea"/>
                        <a:ea typeface="+mn-ea"/>
                      </a:endParaRPr>
                    </a:p>
                  </a:txBody>
                  <a:tcPr/>
                </a:tc>
                <a:extLst>
                  <a:ext uri="{0D108BD9-81ED-4DB2-BD59-A6C34878D82A}">
                    <a16:rowId xmlns:a16="http://schemas.microsoft.com/office/drawing/2014/main" val="378104747"/>
                  </a:ext>
                </a:extLst>
              </a:tr>
              <a:tr h="1783309">
                <a:tc vMerge="1">
                  <a:txBody>
                    <a:bodyPr/>
                    <a:lstStyle/>
                    <a:p>
                      <a:endParaRPr lang="zh-TW" altLang="en-US" dirty="0"/>
                    </a:p>
                  </a:txBody>
                  <a:tcPr/>
                </a:tc>
                <a:tc vMerge="1">
                  <a:txBody>
                    <a:bodyPr/>
                    <a:lstStyle/>
                    <a:p>
                      <a:endParaRPr lang="zh-TW" altLang="en-US" dirty="0"/>
                    </a:p>
                  </a:txBody>
                  <a:tcPr/>
                </a:tc>
                <a:tc>
                  <a:txBody>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lang="en-US" altLang="zh-TW" sz="2000" dirty="0">
                          <a:solidFill>
                            <a:srgbClr val="002060"/>
                          </a:solidFill>
                          <a:latin typeface="+mn-ea"/>
                          <a:ea typeface="+mn-ea"/>
                        </a:rPr>
                        <a:t>(</a:t>
                      </a:r>
                      <a:r>
                        <a:rPr lang="zh-TW" altLang="en-US" sz="2000" dirty="0">
                          <a:solidFill>
                            <a:srgbClr val="002060"/>
                          </a:solidFill>
                          <a:latin typeface="+mn-ea"/>
                          <a:ea typeface="+mn-ea"/>
                        </a:rPr>
                        <a:t>二</a:t>
                      </a:r>
                      <a:r>
                        <a:rPr lang="en-US" altLang="zh-TW" sz="2000" dirty="0">
                          <a:solidFill>
                            <a:srgbClr val="002060"/>
                          </a:solidFill>
                          <a:latin typeface="+mn-ea"/>
                          <a:ea typeface="+mn-ea"/>
                        </a:rPr>
                        <a:t>)</a:t>
                      </a:r>
                      <a:r>
                        <a:rPr lang="zh-TW" altLang="zh-TW" sz="2000" kern="1200" dirty="0">
                          <a:solidFill>
                            <a:srgbClr val="002060"/>
                          </a:solidFill>
                          <a:effectLst/>
                          <a:latin typeface="+mn-ea"/>
                          <a:ea typeface="+mn-ea"/>
                          <a:cs typeface="+mn-cs"/>
                        </a:rPr>
                        <a:t>家庭成員突發性變故致家庭支持功能受損</a:t>
                      </a:r>
                      <a:endParaRPr lang="zh-TW" altLang="en-US" sz="2000" dirty="0">
                        <a:solidFill>
                          <a:srgbClr val="002060"/>
                        </a:solidFill>
                        <a:latin typeface="+mn-ea"/>
                        <a:ea typeface="+mn-ea"/>
                      </a:endParaRPr>
                    </a:p>
                    <a:p>
                      <a:pPr algn="l">
                        <a:lnSpc>
                          <a:spcPct val="200000"/>
                        </a:lnSpc>
                      </a:pPr>
                      <a:endParaRPr lang="zh-TW" altLang="en-US" sz="2000" dirty="0">
                        <a:solidFill>
                          <a:srgbClr val="002060"/>
                        </a:solidFill>
                        <a:latin typeface="+mn-ea"/>
                        <a:ea typeface="+mn-ea"/>
                      </a:endParaRPr>
                    </a:p>
                  </a:txBody>
                  <a:tcPr/>
                </a:tc>
                <a:tc>
                  <a:txBody>
                    <a:bodyPr/>
                    <a:lstStyle/>
                    <a:p>
                      <a:r>
                        <a:rPr lang="en-US" altLang="zh-TW" sz="2000" kern="1200" dirty="0">
                          <a:solidFill>
                            <a:srgbClr val="002060"/>
                          </a:solidFill>
                          <a:effectLst/>
                          <a:latin typeface="+mn-ea"/>
                          <a:ea typeface="+mn-ea"/>
                          <a:cs typeface="+mn-cs"/>
                        </a:rPr>
                        <a:t>1.</a:t>
                      </a:r>
                      <a:r>
                        <a:rPr lang="zh-TW" altLang="zh-TW" sz="2000" kern="1200" dirty="0">
                          <a:solidFill>
                            <a:srgbClr val="002060"/>
                          </a:solidFill>
                          <a:effectLst/>
                          <a:latin typeface="+mn-ea"/>
                          <a:ea typeface="+mn-ea"/>
                          <a:cs typeface="+mn-cs"/>
                        </a:rPr>
                        <a:t>家庭成員死亡或失蹤。</a:t>
                      </a:r>
                    </a:p>
                    <a:p>
                      <a:endParaRPr lang="en-US" altLang="zh-TW" sz="2000" kern="1200" dirty="0">
                        <a:solidFill>
                          <a:srgbClr val="002060"/>
                        </a:solidFill>
                        <a:effectLst/>
                        <a:latin typeface="+mn-ea"/>
                        <a:ea typeface="+mn-ea"/>
                        <a:cs typeface="+mn-cs"/>
                      </a:endParaRPr>
                    </a:p>
                    <a:p>
                      <a:r>
                        <a:rPr lang="en-US" altLang="zh-TW" sz="2000" kern="1200" dirty="0">
                          <a:solidFill>
                            <a:srgbClr val="002060"/>
                          </a:solidFill>
                          <a:effectLst/>
                          <a:latin typeface="+mn-ea"/>
                          <a:ea typeface="+mn-ea"/>
                          <a:cs typeface="+mn-cs"/>
                        </a:rPr>
                        <a:t>2.</a:t>
                      </a:r>
                      <a:r>
                        <a:rPr lang="zh-TW" altLang="zh-TW" sz="2000" kern="1200" dirty="0">
                          <a:solidFill>
                            <a:srgbClr val="002060"/>
                          </a:solidFill>
                          <a:effectLst/>
                          <a:latin typeface="+mn-ea"/>
                          <a:ea typeface="+mn-ea"/>
                          <a:cs typeface="+mn-cs"/>
                        </a:rPr>
                        <a:t>家庭成員入獄服刑。</a:t>
                      </a:r>
                    </a:p>
                    <a:p>
                      <a:endParaRPr lang="en-US" altLang="zh-TW" sz="2000" kern="1200" dirty="0">
                        <a:solidFill>
                          <a:srgbClr val="002060"/>
                        </a:solidFill>
                        <a:effectLst/>
                        <a:latin typeface="+mn-ea"/>
                        <a:ea typeface="+mn-ea"/>
                        <a:cs typeface="+mn-cs"/>
                      </a:endParaRPr>
                    </a:p>
                    <a:p>
                      <a:r>
                        <a:rPr lang="en-US" altLang="zh-TW" sz="2000" kern="1200" dirty="0">
                          <a:solidFill>
                            <a:srgbClr val="002060"/>
                          </a:solidFill>
                          <a:effectLst/>
                          <a:latin typeface="+mn-ea"/>
                          <a:ea typeface="+mn-ea"/>
                          <a:cs typeface="+mn-cs"/>
                        </a:rPr>
                        <a:t>3.</a:t>
                      </a:r>
                      <a:r>
                        <a:rPr lang="zh-TW" altLang="zh-TW" sz="2000" kern="1200" dirty="0">
                          <a:solidFill>
                            <a:srgbClr val="002060"/>
                          </a:solidFill>
                          <a:effectLst/>
                          <a:latin typeface="+mn-ea"/>
                          <a:ea typeface="+mn-ea"/>
                          <a:cs typeface="+mn-cs"/>
                        </a:rPr>
                        <a:t>家庭成員突患重大傷病。</a:t>
                      </a:r>
                      <a:endParaRPr lang="zh-TW" altLang="en-US" sz="2000" dirty="0">
                        <a:solidFill>
                          <a:srgbClr val="002060"/>
                        </a:solidFill>
                        <a:latin typeface="+mn-ea"/>
                        <a:ea typeface="+mn-ea"/>
                      </a:endParaRPr>
                    </a:p>
                  </a:txBody>
                  <a:tcPr/>
                </a:tc>
                <a:extLst>
                  <a:ext uri="{0D108BD9-81ED-4DB2-BD59-A6C34878D82A}">
                    <a16:rowId xmlns:a16="http://schemas.microsoft.com/office/drawing/2014/main" val="3530312500"/>
                  </a:ext>
                </a:extLst>
              </a:tr>
            </a:tbl>
          </a:graphicData>
        </a:graphic>
      </p:graphicFrame>
    </p:spTree>
    <p:extLst>
      <p:ext uri="{BB962C8B-B14F-4D97-AF65-F5344CB8AC3E}">
        <p14:creationId xmlns:p14="http://schemas.microsoft.com/office/powerpoint/2010/main" val="3215859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3E50A2-DC22-4C85-B792-EBA4CDBEDBA5}"/>
              </a:ext>
            </a:extLst>
          </p:cNvPr>
          <p:cNvSpPr>
            <a:spLocks noGrp="1"/>
          </p:cNvSpPr>
          <p:nvPr>
            <p:ph type="title"/>
          </p:nvPr>
        </p:nvSpPr>
        <p:spPr>
          <a:xfrm>
            <a:off x="1295400" y="115042"/>
            <a:ext cx="9601200" cy="1589567"/>
          </a:xfrm>
        </p:spPr>
        <p:txBody>
          <a:bodyPr>
            <a:normAutofit/>
          </a:bodyPr>
          <a:lstStyle/>
          <a:p>
            <a:r>
              <a:rPr lang="zh-TW" altLang="en-US" dirty="0">
                <a:solidFill>
                  <a:srgbClr val="C00000"/>
                </a:solidFill>
              </a:rPr>
              <a:t>脆弱家庭</a:t>
            </a:r>
            <a:r>
              <a:rPr lang="zh-TW" altLang="zh-TW" dirty="0">
                <a:solidFill>
                  <a:srgbClr val="C00000"/>
                </a:solidFill>
              </a:rPr>
              <a:t>需求面向與脆弱性因子</a:t>
            </a:r>
            <a:r>
              <a:rPr lang="en-US" altLang="zh-TW" dirty="0">
                <a:solidFill>
                  <a:srgbClr val="C00000"/>
                </a:solidFill>
              </a:rPr>
              <a:t>3</a:t>
            </a:r>
            <a:br>
              <a:rPr lang="zh-TW" altLang="zh-TW" dirty="0"/>
            </a:br>
            <a:endParaRPr lang="zh-TW" altLang="en-US" dirty="0">
              <a:solidFill>
                <a:srgbClr val="C00000"/>
              </a:solidFill>
            </a:endParaRPr>
          </a:p>
        </p:txBody>
      </p:sp>
      <p:graphicFrame>
        <p:nvGraphicFramePr>
          <p:cNvPr id="8" name="表格 8">
            <a:extLst>
              <a:ext uri="{FF2B5EF4-FFF2-40B4-BE49-F238E27FC236}">
                <a16:creationId xmlns:a16="http://schemas.microsoft.com/office/drawing/2014/main" id="{3CA1A690-6E56-4C72-A0B5-803FFFE7CEC3}"/>
              </a:ext>
            </a:extLst>
          </p:cNvPr>
          <p:cNvGraphicFramePr>
            <a:graphicFrameLocks noGrp="1"/>
          </p:cNvGraphicFramePr>
          <p:nvPr/>
        </p:nvGraphicFramePr>
        <p:xfrm>
          <a:off x="318978" y="824764"/>
          <a:ext cx="11702902" cy="5918194"/>
        </p:xfrm>
        <a:graphic>
          <a:graphicData uri="http://schemas.openxmlformats.org/drawingml/2006/table">
            <a:tbl>
              <a:tblPr firstRow="1" bandRow="1">
                <a:tableStyleId>{7DF18680-E054-41AD-8BC1-D1AEF772440D}</a:tableStyleId>
              </a:tblPr>
              <a:tblGrid>
                <a:gridCol w="578286">
                  <a:extLst>
                    <a:ext uri="{9D8B030D-6E8A-4147-A177-3AD203B41FA5}">
                      <a16:colId xmlns:a16="http://schemas.microsoft.com/office/drawing/2014/main" val="1638113567"/>
                    </a:ext>
                  </a:extLst>
                </a:gridCol>
                <a:gridCol w="1505694">
                  <a:extLst>
                    <a:ext uri="{9D8B030D-6E8A-4147-A177-3AD203B41FA5}">
                      <a16:colId xmlns:a16="http://schemas.microsoft.com/office/drawing/2014/main" val="2878880668"/>
                    </a:ext>
                  </a:extLst>
                </a:gridCol>
                <a:gridCol w="2826536">
                  <a:extLst>
                    <a:ext uri="{9D8B030D-6E8A-4147-A177-3AD203B41FA5}">
                      <a16:colId xmlns:a16="http://schemas.microsoft.com/office/drawing/2014/main" val="3799684449"/>
                    </a:ext>
                  </a:extLst>
                </a:gridCol>
                <a:gridCol w="6792386">
                  <a:extLst>
                    <a:ext uri="{9D8B030D-6E8A-4147-A177-3AD203B41FA5}">
                      <a16:colId xmlns:a16="http://schemas.microsoft.com/office/drawing/2014/main" val="83651683"/>
                    </a:ext>
                  </a:extLst>
                </a:gridCol>
              </a:tblGrid>
              <a:tr h="631624">
                <a:tc>
                  <a:txBody>
                    <a:bodyPr/>
                    <a:lstStyle/>
                    <a:p>
                      <a:pPr algn="l"/>
                      <a:r>
                        <a:rPr lang="zh-TW" altLang="zh-TW" sz="2000" b="0" kern="1200" dirty="0">
                          <a:solidFill>
                            <a:schemeClr val="lt1"/>
                          </a:solidFill>
                          <a:effectLst/>
                          <a:latin typeface="+mn-lt"/>
                          <a:ea typeface="+mn-ea"/>
                          <a:cs typeface="+mn-cs"/>
                        </a:rPr>
                        <a:t>項次</a:t>
                      </a:r>
                      <a:endParaRPr lang="zh-TW" altLang="en-US" sz="2000" b="0" dirty="0"/>
                    </a:p>
                  </a:txBody>
                  <a:tcPr vert="eaVert"/>
                </a:tc>
                <a:tc>
                  <a:txBody>
                    <a:bodyPr/>
                    <a:lstStyle/>
                    <a:p>
                      <a:r>
                        <a:rPr lang="zh-TW" altLang="zh-TW" sz="2000" b="0" kern="1200" dirty="0">
                          <a:solidFill>
                            <a:schemeClr val="lt1"/>
                          </a:solidFill>
                          <a:effectLst/>
                          <a:latin typeface="+mn-lt"/>
                          <a:ea typeface="+mn-ea"/>
                          <a:cs typeface="+mn-cs"/>
                        </a:rPr>
                        <a:t>需求面向</a:t>
                      </a:r>
                      <a:endParaRPr lang="zh-TW" altLang="en-US" sz="2000" b="0" dirty="0"/>
                    </a:p>
                  </a:txBody>
                  <a:tcPr/>
                </a:tc>
                <a:tc>
                  <a:txBody>
                    <a:bodyPr/>
                    <a:lstStyle/>
                    <a:p>
                      <a:r>
                        <a:rPr lang="zh-TW" altLang="zh-TW" sz="2000" b="0" kern="1200" dirty="0">
                          <a:solidFill>
                            <a:schemeClr val="lt1"/>
                          </a:solidFill>
                          <a:effectLst/>
                          <a:latin typeface="+mn-lt"/>
                          <a:ea typeface="+mn-ea"/>
                          <a:cs typeface="+mn-cs"/>
                        </a:rPr>
                        <a:t>脆弱性因子</a:t>
                      </a:r>
                      <a:endParaRPr lang="zh-TW" altLang="en-US" sz="2000" b="0" dirty="0"/>
                    </a:p>
                  </a:txBody>
                  <a:tcPr/>
                </a:tc>
                <a:tc>
                  <a:txBody>
                    <a:bodyPr/>
                    <a:lstStyle/>
                    <a:p>
                      <a:r>
                        <a:rPr lang="zh-TW" altLang="zh-TW" sz="2000" b="0" kern="1200" dirty="0">
                          <a:solidFill>
                            <a:schemeClr val="lt1"/>
                          </a:solidFill>
                          <a:effectLst/>
                          <a:latin typeface="+mn-lt"/>
                          <a:ea typeface="+mn-ea"/>
                          <a:cs typeface="+mn-cs"/>
                        </a:rPr>
                        <a:t>參考樣態</a:t>
                      </a:r>
                      <a:endParaRPr lang="zh-TW" altLang="en-US" sz="2000" b="0" dirty="0"/>
                    </a:p>
                  </a:txBody>
                  <a:tcPr/>
                </a:tc>
                <a:extLst>
                  <a:ext uri="{0D108BD9-81ED-4DB2-BD59-A6C34878D82A}">
                    <a16:rowId xmlns:a16="http://schemas.microsoft.com/office/drawing/2014/main" val="4194034937"/>
                  </a:ext>
                </a:extLst>
              </a:tr>
              <a:tr h="2801285">
                <a:tc rowSpan="2">
                  <a:txBody>
                    <a:bodyPr/>
                    <a:lstStyle/>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r>
                        <a:rPr lang="zh-TW" altLang="en-US" sz="2000" b="1" dirty="0">
                          <a:solidFill>
                            <a:srgbClr val="002060"/>
                          </a:solidFill>
                          <a:latin typeface="+mn-ea"/>
                          <a:ea typeface="+mn-ea"/>
                        </a:rPr>
                        <a:t>三</a:t>
                      </a:r>
                    </a:p>
                  </a:txBody>
                  <a:tcPr/>
                </a:tc>
                <a:tc rowSpan="2">
                  <a:txBody>
                    <a:bodyPr/>
                    <a:lstStyle/>
                    <a:p>
                      <a:pPr algn="l"/>
                      <a:endParaRPr lang="en-US" altLang="zh-TW" sz="2000" b="1" kern="1200" dirty="0">
                        <a:solidFill>
                          <a:srgbClr val="002060"/>
                        </a:solidFill>
                        <a:effectLst/>
                        <a:latin typeface="+mn-ea"/>
                        <a:ea typeface="+mn-ea"/>
                        <a:cs typeface="+mn-cs"/>
                      </a:endParaRPr>
                    </a:p>
                    <a:p>
                      <a:pPr algn="l"/>
                      <a:endParaRPr lang="en-US" altLang="zh-TW" sz="2000" b="1" kern="1200" dirty="0">
                        <a:solidFill>
                          <a:srgbClr val="002060"/>
                        </a:solidFill>
                        <a:effectLst/>
                        <a:latin typeface="+mn-ea"/>
                        <a:ea typeface="+mn-ea"/>
                        <a:cs typeface="+mn-cs"/>
                      </a:endParaRPr>
                    </a:p>
                    <a:p>
                      <a:pPr algn="l"/>
                      <a:endParaRPr lang="en-US" altLang="zh-TW" sz="2000" b="1" kern="1200" dirty="0">
                        <a:solidFill>
                          <a:srgbClr val="002060"/>
                        </a:solidFill>
                        <a:effectLst/>
                        <a:latin typeface="+mn-ea"/>
                        <a:ea typeface="+mn-ea"/>
                        <a:cs typeface="+mn-cs"/>
                      </a:endParaRPr>
                    </a:p>
                    <a:p>
                      <a:pPr algn="l"/>
                      <a:endParaRPr lang="en-US" altLang="zh-TW" sz="2000" b="1" kern="1200" dirty="0">
                        <a:solidFill>
                          <a:srgbClr val="002060"/>
                        </a:solidFill>
                        <a:effectLst/>
                        <a:latin typeface="+mn-ea"/>
                        <a:ea typeface="+mn-ea"/>
                        <a:cs typeface="+mn-cs"/>
                      </a:endParaRPr>
                    </a:p>
                    <a:p>
                      <a:pPr algn="l"/>
                      <a:endParaRPr lang="en-US" altLang="zh-TW" sz="2000" b="1" kern="1200" dirty="0">
                        <a:solidFill>
                          <a:srgbClr val="002060"/>
                        </a:solidFill>
                        <a:effectLst/>
                        <a:latin typeface="+mn-ea"/>
                        <a:ea typeface="+mn-ea"/>
                        <a:cs typeface="+mn-cs"/>
                      </a:endParaRPr>
                    </a:p>
                    <a:p>
                      <a:pPr algn="l"/>
                      <a:endParaRPr lang="en-US" altLang="zh-TW" sz="2000" b="1" kern="1200" dirty="0">
                        <a:solidFill>
                          <a:srgbClr val="002060"/>
                        </a:solidFill>
                        <a:effectLst/>
                        <a:latin typeface="+mn-ea"/>
                        <a:ea typeface="+mn-ea"/>
                        <a:cs typeface="+mn-cs"/>
                      </a:endParaRPr>
                    </a:p>
                    <a:p>
                      <a:pPr algn="l"/>
                      <a:r>
                        <a:rPr lang="zh-TW" altLang="zh-TW" sz="2000" b="1" kern="1200" dirty="0">
                          <a:solidFill>
                            <a:srgbClr val="002060"/>
                          </a:solidFill>
                          <a:effectLst/>
                          <a:latin typeface="+mn-lt"/>
                          <a:ea typeface="+mn-ea"/>
                          <a:cs typeface="+mn-cs"/>
                        </a:rPr>
                        <a:t>家庭關係衝突或疏離需要接受協助</a:t>
                      </a:r>
                      <a:endParaRPr lang="zh-TW" altLang="en-US" sz="2000" b="1" dirty="0">
                        <a:solidFill>
                          <a:srgbClr val="002060"/>
                        </a:solidFill>
                        <a:latin typeface="+mn-ea"/>
                        <a:ea typeface="+mn-ea"/>
                      </a:endParaRPr>
                    </a:p>
                  </a:txBody>
                  <a:tcPr/>
                </a:tc>
                <a:tc>
                  <a:txBody>
                    <a:bodyPr/>
                    <a:lstStyle/>
                    <a:p>
                      <a:pPr marL="0" lvl="0" indent="0" algn="l">
                        <a:lnSpc>
                          <a:spcPct val="200000"/>
                        </a:lnSpc>
                        <a:spcAft>
                          <a:spcPts val="0"/>
                        </a:spcAft>
                        <a:buFont typeface="+mj-ea"/>
                        <a:buNone/>
                      </a:pPr>
                      <a:r>
                        <a:rPr lang="en-US" altLang="zh-TW" sz="2000" kern="1200" dirty="0">
                          <a:solidFill>
                            <a:srgbClr val="002060"/>
                          </a:solidFill>
                          <a:effectLst/>
                          <a:latin typeface="+mn-ea"/>
                          <a:ea typeface="+mn-ea"/>
                          <a:cs typeface="+mn-cs"/>
                        </a:rPr>
                        <a:t>(</a:t>
                      </a:r>
                      <a:r>
                        <a:rPr lang="zh-TW" altLang="en-US" sz="2000" kern="1200" dirty="0">
                          <a:solidFill>
                            <a:srgbClr val="002060"/>
                          </a:solidFill>
                          <a:effectLst/>
                          <a:latin typeface="+mn-ea"/>
                          <a:ea typeface="+mn-ea"/>
                          <a:cs typeface="+mn-cs"/>
                        </a:rPr>
                        <a:t>一</a:t>
                      </a:r>
                      <a:r>
                        <a:rPr lang="en-US" altLang="zh-TW" sz="2000" kern="1200" dirty="0">
                          <a:solidFill>
                            <a:srgbClr val="002060"/>
                          </a:solidFill>
                          <a:effectLst/>
                          <a:latin typeface="+mn-ea"/>
                          <a:ea typeface="+mn-ea"/>
                          <a:cs typeface="+mn-cs"/>
                        </a:rPr>
                        <a:t>)</a:t>
                      </a:r>
                      <a:r>
                        <a:rPr lang="zh-TW" altLang="en-US" sz="2000" kern="1200" dirty="0">
                          <a:solidFill>
                            <a:srgbClr val="002060"/>
                          </a:solidFill>
                          <a:effectLst/>
                          <a:latin typeface="+mn-ea"/>
                          <a:ea typeface="+mn-ea"/>
                          <a:cs typeface="+mn-cs"/>
                        </a:rPr>
                        <a:t>親密關係衝突</a:t>
                      </a:r>
                      <a:r>
                        <a:rPr lang="en-US" altLang="zh-TW" sz="2000" kern="1200" dirty="0">
                          <a:solidFill>
                            <a:srgbClr val="002060"/>
                          </a:solidFill>
                          <a:effectLst/>
                          <a:latin typeface="+mn-ea"/>
                          <a:ea typeface="+mn-ea"/>
                          <a:cs typeface="+mn-cs"/>
                        </a:rPr>
                        <a:t>(</a:t>
                      </a:r>
                      <a:r>
                        <a:rPr lang="zh-TW" altLang="en-US" sz="2000" kern="1200" dirty="0">
                          <a:solidFill>
                            <a:srgbClr val="002060"/>
                          </a:solidFill>
                          <a:effectLst/>
                          <a:latin typeface="+mn-ea"/>
                          <a:ea typeface="+mn-ea"/>
                          <a:cs typeface="+mn-cs"/>
                        </a:rPr>
                        <a:t>未達家庭暴力程度</a:t>
                      </a:r>
                      <a:r>
                        <a:rPr lang="en-US" altLang="zh-TW" sz="2000" kern="1200" dirty="0">
                          <a:solidFill>
                            <a:srgbClr val="002060"/>
                          </a:solidFill>
                          <a:effectLst/>
                          <a:latin typeface="+mn-ea"/>
                          <a:ea typeface="+mn-ea"/>
                          <a:cs typeface="+mn-cs"/>
                        </a:rPr>
                        <a:t>)</a:t>
                      </a:r>
                      <a:r>
                        <a:rPr lang="zh-TW" altLang="en-US" sz="2000" kern="1200" dirty="0">
                          <a:solidFill>
                            <a:srgbClr val="002060"/>
                          </a:solidFill>
                          <a:effectLst/>
                          <a:latin typeface="+mn-ea"/>
                          <a:ea typeface="+mn-ea"/>
                          <a:cs typeface="+mn-cs"/>
                        </a:rPr>
                        <a:t>或疏離致家庭成員身心健康堪慮</a:t>
                      </a:r>
                      <a:endParaRPr lang="zh-TW" sz="2000" kern="100" dirty="0">
                        <a:solidFill>
                          <a:srgbClr val="002060"/>
                        </a:solidFill>
                        <a:effectLst/>
                        <a:latin typeface="+mn-ea"/>
                        <a:ea typeface="+mn-ea"/>
                        <a:cs typeface="Times New Roman" panose="02020603050405020304" pitchFamily="18" charset="0"/>
                      </a:endParaRPr>
                    </a:p>
                  </a:txBody>
                  <a:tcPr marL="68580" marR="68580" marT="0" marB="0" anchor="ctr"/>
                </a:tc>
                <a:tc>
                  <a:txBody>
                    <a:bodyPr/>
                    <a:lstStyle/>
                    <a:p>
                      <a:endParaRPr lang="en-US" altLang="zh-TW" sz="2000" kern="1200" dirty="0">
                        <a:solidFill>
                          <a:srgbClr val="002060"/>
                        </a:solidFill>
                        <a:effectLst/>
                        <a:latin typeface="+mn-lt"/>
                        <a:ea typeface="+mn-ea"/>
                        <a:cs typeface="+mn-cs"/>
                      </a:endParaRPr>
                    </a:p>
                    <a:p>
                      <a:endParaRPr lang="en-US" altLang="zh-TW" sz="2000" kern="1200" dirty="0">
                        <a:solidFill>
                          <a:srgbClr val="002060"/>
                        </a:solidFill>
                        <a:effectLst/>
                        <a:latin typeface="+mn-lt"/>
                        <a:ea typeface="+mn-ea"/>
                        <a:cs typeface="+mn-cs"/>
                      </a:endParaRPr>
                    </a:p>
                    <a:p>
                      <a:r>
                        <a:rPr lang="en-US" altLang="zh-TW" sz="2000" kern="1200" dirty="0">
                          <a:solidFill>
                            <a:srgbClr val="002060"/>
                          </a:solidFill>
                          <a:effectLst/>
                          <a:latin typeface="+mn-lt"/>
                          <a:ea typeface="+mn-ea"/>
                          <a:cs typeface="+mn-cs"/>
                        </a:rPr>
                        <a:t>1.</a:t>
                      </a:r>
                      <a:r>
                        <a:rPr lang="zh-TW" altLang="zh-TW" sz="2000" kern="1200" dirty="0">
                          <a:solidFill>
                            <a:srgbClr val="002060"/>
                          </a:solidFill>
                          <a:effectLst/>
                          <a:latin typeface="+mn-lt"/>
                          <a:ea typeface="+mn-ea"/>
                          <a:cs typeface="+mn-cs"/>
                        </a:rPr>
                        <a:t>主要照顧者與夫妻、同居人、伴侶間經常發生口語衝突、冷戰或其他事件，致影響家庭成員日常生活。 </a:t>
                      </a:r>
                    </a:p>
                    <a:p>
                      <a:endParaRPr lang="en-US" altLang="zh-TW" sz="2000" kern="1200" dirty="0">
                        <a:solidFill>
                          <a:srgbClr val="002060"/>
                        </a:solidFill>
                        <a:effectLst/>
                        <a:latin typeface="+mn-lt"/>
                        <a:ea typeface="+mn-ea"/>
                        <a:cs typeface="+mn-cs"/>
                      </a:endParaRPr>
                    </a:p>
                    <a:p>
                      <a:r>
                        <a:rPr lang="en-US" altLang="zh-TW" sz="2000" kern="1200" dirty="0">
                          <a:solidFill>
                            <a:srgbClr val="002060"/>
                          </a:solidFill>
                          <a:effectLst/>
                          <a:latin typeface="+mn-lt"/>
                          <a:ea typeface="+mn-ea"/>
                          <a:cs typeface="+mn-cs"/>
                        </a:rPr>
                        <a:t>2.</a:t>
                      </a:r>
                      <a:r>
                        <a:rPr lang="zh-TW" altLang="zh-TW" sz="2000" kern="1200" dirty="0">
                          <a:solidFill>
                            <a:srgbClr val="002060"/>
                          </a:solidFill>
                          <a:effectLst/>
                          <a:latin typeface="+mn-lt"/>
                          <a:ea typeface="+mn-ea"/>
                          <a:cs typeface="+mn-cs"/>
                        </a:rPr>
                        <a:t>主要照顧者離婚、失婚後與他人同居，且頻繁更換同居人，致影響家庭成員日常生活。</a:t>
                      </a:r>
                      <a:endParaRPr lang="zh-TW" altLang="en-US" sz="2000" dirty="0">
                        <a:solidFill>
                          <a:srgbClr val="002060"/>
                        </a:solidFill>
                        <a:latin typeface="+mn-ea"/>
                        <a:ea typeface="+mn-ea"/>
                      </a:endParaRPr>
                    </a:p>
                  </a:txBody>
                  <a:tcPr/>
                </a:tc>
                <a:extLst>
                  <a:ext uri="{0D108BD9-81ED-4DB2-BD59-A6C34878D82A}">
                    <a16:rowId xmlns:a16="http://schemas.microsoft.com/office/drawing/2014/main" val="378104747"/>
                  </a:ext>
                </a:extLst>
              </a:tr>
              <a:tr h="2485285">
                <a:tc vMerge="1">
                  <a:txBody>
                    <a:bodyPr/>
                    <a:lstStyle/>
                    <a:p>
                      <a:endParaRPr lang="zh-TW" altLang="en-US" dirty="0"/>
                    </a:p>
                  </a:txBody>
                  <a:tcPr/>
                </a:tc>
                <a:tc vMerge="1">
                  <a:txBody>
                    <a:bodyPr/>
                    <a:lstStyle/>
                    <a:p>
                      <a:endParaRPr lang="zh-TW" altLang="en-US" dirty="0"/>
                    </a:p>
                  </a:txBody>
                  <a:tcPr/>
                </a:tc>
                <a:tc>
                  <a:txBody>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lang="en-US" altLang="zh-TW" sz="2000" dirty="0">
                          <a:solidFill>
                            <a:srgbClr val="002060"/>
                          </a:solidFill>
                          <a:latin typeface="+mn-ea"/>
                          <a:ea typeface="+mn-ea"/>
                        </a:rPr>
                        <a:t>(</a:t>
                      </a:r>
                      <a:r>
                        <a:rPr lang="zh-TW" altLang="en-US" sz="2000" dirty="0">
                          <a:solidFill>
                            <a:srgbClr val="002060"/>
                          </a:solidFill>
                          <a:latin typeface="+mn-ea"/>
                          <a:ea typeface="+mn-ea"/>
                        </a:rPr>
                        <a:t>二</a:t>
                      </a:r>
                      <a:r>
                        <a:rPr lang="en-US" altLang="zh-TW" sz="2000" dirty="0">
                          <a:solidFill>
                            <a:srgbClr val="002060"/>
                          </a:solidFill>
                          <a:latin typeface="+mn-ea"/>
                          <a:ea typeface="+mn-ea"/>
                        </a:rPr>
                        <a:t>)</a:t>
                      </a:r>
                      <a:r>
                        <a:rPr lang="zh-TW" altLang="en-US" sz="2000" dirty="0">
                          <a:solidFill>
                            <a:srgbClr val="002060"/>
                          </a:solidFill>
                          <a:latin typeface="+mn-ea"/>
                          <a:ea typeface="+mn-ea"/>
                        </a:rPr>
                        <a:t>家庭成員關係衝突</a:t>
                      </a:r>
                      <a:r>
                        <a:rPr lang="en-US" altLang="zh-TW" sz="2000" dirty="0">
                          <a:solidFill>
                            <a:srgbClr val="002060"/>
                          </a:solidFill>
                          <a:latin typeface="+mn-ea"/>
                          <a:ea typeface="+mn-ea"/>
                        </a:rPr>
                        <a:t>(</a:t>
                      </a:r>
                      <a:r>
                        <a:rPr lang="zh-TW" altLang="en-US" sz="2000" dirty="0">
                          <a:solidFill>
                            <a:srgbClr val="002060"/>
                          </a:solidFill>
                          <a:latin typeface="+mn-ea"/>
                          <a:ea typeface="+mn-ea"/>
                        </a:rPr>
                        <a:t>未達家庭暴力程度</a:t>
                      </a:r>
                      <a:r>
                        <a:rPr lang="en-US" altLang="zh-TW" sz="2000" dirty="0">
                          <a:solidFill>
                            <a:srgbClr val="002060"/>
                          </a:solidFill>
                          <a:latin typeface="+mn-ea"/>
                          <a:ea typeface="+mn-ea"/>
                        </a:rPr>
                        <a:t>)</a:t>
                      </a:r>
                      <a:r>
                        <a:rPr lang="zh-TW" altLang="en-US" sz="2000" dirty="0">
                          <a:solidFill>
                            <a:srgbClr val="002060"/>
                          </a:solidFill>
                          <a:latin typeface="+mn-ea"/>
                          <a:ea typeface="+mn-ea"/>
                        </a:rPr>
                        <a:t>或疏離致家庭成員身心健康堪慮</a:t>
                      </a:r>
                    </a:p>
                  </a:txBody>
                  <a:tcPr/>
                </a:tc>
                <a:tc>
                  <a:txBody>
                    <a:bodyPr/>
                    <a:lstStyle/>
                    <a:p>
                      <a:endParaRPr lang="en-US" altLang="zh-TW" sz="2000" kern="1200" dirty="0">
                        <a:solidFill>
                          <a:srgbClr val="002060"/>
                        </a:solidFill>
                        <a:effectLst/>
                        <a:latin typeface="+mn-lt"/>
                        <a:ea typeface="+mn-ea"/>
                        <a:cs typeface="+mn-cs"/>
                      </a:endParaRPr>
                    </a:p>
                    <a:p>
                      <a:r>
                        <a:rPr lang="en-US" altLang="zh-TW" sz="2000" kern="1200" dirty="0">
                          <a:solidFill>
                            <a:srgbClr val="002060"/>
                          </a:solidFill>
                          <a:effectLst/>
                          <a:latin typeface="+mn-lt"/>
                          <a:ea typeface="+mn-ea"/>
                          <a:cs typeface="+mn-cs"/>
                        </a:rPr>
                        <a:t>1.</a:t>
                      </a:r>
                      <a:r>
                        <a:rPr lang="zh-TW" altLang="zh-TW" sz="2000" kern="1200" dirty="0">
                          <a:solidFill>
                            <a:srgbClr val="002060"/>
                          </a:solidFill>
                          <a:effectLst/>
                          <a:latin typeface="+mn-lt"/>
                          <a:ea typeface="+mn-ea"/>
                          <a:cs typeface="+mn-cs"/>
                        </a:rPr>
                        <a:t>家庭成員</a:t>
                      </a:r>
                      <a:r>
                        <a:rPr lang="en-US" altLang="zh-TW" sz="2000" kern="1200" dirty="0">
                          <a:solidFill>
                            <a:srgbClr val="002060"/>
                          </a:solidFill>
                          <a:effectLst/>
                          <a:latin typeface="+mn-lt"/>
                          <a:ea typeface="+mn-ea"/>
                          <a:cs typeface="+mn-cs"/>
                        </a:rPr>
                        <a:t>(</a:t>
                      </a:r>
                      <a:r>
                        <a:rPr lang="zh-TW" altLang="zh-TW" sz="2000" kern="1200" dirty="0">
                          <a:solidFill>
                            <a:srgbClr val="002060"/>
                          </a:solidFill>
                          <a:effectLst/>
                          <a:latin typeface="+mn-lt"/>
                          <a:ea typeface="+mn-ea"/>
                          <a:cs typeface="+mn-cs"/>
                        </a:rPr>
                        <a:t>如親子、手足、代間關係</a:t>
                      </a:r>
                      <a:r>
                        <a:rPr lang="en-US" altLang="zh-TW" sz="2000" kern="1200" dirty="0">
                          <a:solidFill>
                            <a:srgbClr val="002060"/>
                          </a:solidFill>
                          <a:effectLst/>
                          <a:latin typeface="+mn-lt"/>
                          <a:ea typeface="+mn-ea"/>
                          <a:cs typeface="+mn-cs"/>
                        </a:rPr>
                        <a:t>)</a:t>
                      </a:r>
                      <a:r>
                        <a:rPr lang="zh-TW" altLang="zh-TW" sz="2000" kern="1200" dirty="0">
                          <a:solidFill>
                            <a:srgbClr val="002060"/>
                          </a:solidFill>
                          <a:effectLst/>
                          <a:latin typeface="+mn-lt"/>
                          <a:ea typeface="+mn-ea"/>
                          <a:cs typeface="+mn-cs"/>
                        </a:rPr>
                        <a:t>中時常爭吵、有帶年幼子女與人同居、或有離家出走之念頭，致影響家庭成員日常生活。</a:t>
                      </a:r>
                    </a:p>
                    <a:p>
                      <a:endParaRPr lang="en-US" altLang="zh-TW" sz="2000" kern="1200" dirty="0">
                        <a:solidFill>
                          <a:srgbClr val="002060"/>
                        </a:solidFill>
                        <a:effectLst/>
                        <a:latin typeface="+mn-lt"/>
                        <a:ea typeface="+mn-ea"/>
                        <a:cs typeface="+mn-cs"/>
                      </a:endParaRPr>
                    </a:p>
                    <a:p>
                      <a:r>
                        <a:rPr lang="en-US" altLang="zh-TW" sz="2000" kern="1200" dirty="0">
                          <a:solidFill>
                            <a:srgbClr val="002060"/>
                          </a:solidFill>
                          <a:effectLst/>
                          <a:latin typeface="+mn-lt"/>
                          <a:ea typeface="+mn-ea"/>
                          <a:cs typeface="+mn-cs"/>
                        </a:rPr>
                        <a:t>2.</a:t>
                      </a:r>
                      <a:r>
                        <a:rPr lang="zh-TW" altLang="zh-TW" sz="2000" kern="1200" dirty="0">
                          <a:solidFill>
                            <a:srgbClr val="002060"/>
                          </a:solidFill>
                          <a:effectLst/>
                          <a:latin typeface="+mn-lt"/>
                          <a:ea typeface="+mn-ea"/>
                          <a:cs typeface="+mn-cs"/>
                        </a:rPr>
                        <a:t>非親屬關係同住人口眾多，家庭關係衝突或疏離，致影響家庭成員日常生活。</a:t>
                      </a:r>
                      <a:endParaRPr lang="zh-TW" altLang="en-US" sz="2000" dirty="0">
                        <a:solidFill>
                          <a:srgbClr val="002060"/>
                        </a:solidFill>
                        <a:latin typeface="+mn-ea"/>
                        <a:ea typeface="+mn-ea"/>
                      </a:endParaRPr>
                    </a:p>
                  </a:txBody>
                  <a:tcPr/>
                </a:tc>
                <a:extLst>
                  <a:ext uri="{0D108BD9-81ED-4DB2-BD59-A6C34878D82A}">
                    <a16:rowId xmlns:a16="http://schemas.microsoft.com/office/drawing/2014/main" val="3530312500"/>
                  </a:ext>
                </a:extLst>
              </a:tr>
            </a:tbl>
          </a:graphicData>
        </a:graphic>
      </p:graphicFrame>
    </p:spTree>
    <p:extLst>
      <p:ext uri="{BB962C8B-B14F-4D97-AF65-F5344CB8AC3E}">
        <p14:creationId xmlns:p14="http://schemas.microsoft.com/office/powerpoint/2010/main" val="2948103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3E50A2-DC22-4C85-B792-EBA4CDBEDBA5}"/>
              </a:ext>
            </a:extLst>
          </p:cNvPr>
          <p:cNvSpPr>
            <a:spLocks noGrp="1"/>
          </p:cNvSpPr>
          <p:nvPr>
            <p:ph type="title"/>
          </p:nvPr>
        </p:nvSpPr>
        <p:spPr>
          <a:xfrm>
            <a:off x="1295400" y="115042"/>
            <a:ext cx="9601200" cy="1589567"/>
          </a:xfrm>
        </p:spPr>
        <p:txBody>
          <a:bodyPr>
            <a:normAutofit/>
          </a:bodyPr>
          <a:lstStyle/>
          <a:p>
            <a:r>
              <a:rPr lang="zh-TW" altLang="en-US" dirty="0">
                <a:solidFill>
                  <a:srgbClr val="C00000"/>
                </a:solidFill>
              </a:rPr>
              <a:t>脆弱家庭</a:t>
            </a:r>
            <a:r>
              <a:rPr lang="zh-TW" altLang="zh-TW" dirty="0">
                <a:solidFill>
                  <a:srgbClr val="C00000"/>
                </a:solidFill>
              </a:rPr>
              <a:t>需求面向與脆弱性因子</a:t>
            </a:r>
            <a:r>
              <a:rPr lang="en-US" altLang="zh-TW" dirty="0">
                <a:solidFill>
                  <a:srgbClr val="C00000"/>
                </a:solidFill>
              </a:rPr>
              <a:t>4</a:t>
            </a:r>
            <a:br>
              <a:rPr lang="zh-TW" altLang="zh-TW" dirty="0"/>
            </a:br>
            <a:endParaRPr lang="zh-TW" altLang="en-US" dirty="0">
              <a:solidFill>
                <a:srgbClr val="C00000"/>
              </a:solidFill>
            </a:endParaRPr>
          </a:p>
        </p:txBody>
      </p:sp>
      <p:graphicFrame>
        <p:nvGraphicFramePr>
          <p:cNvPr id="8" name="表格 8">
            <a:extLst>
              <a:ext uri="{FF2B5EF4-FFF2-40B4-BE49-F238E27FC236}">
                <a16:creationId xmlns:a16="http://schemas.microsoft.com/office/drawing/2014/main" id="{3CA1A690-6E56-4C72-A0B5-803FFFE7CEC3}"/>
              </a:ext>
            </a:extLst>
          </p:cNvPr>
          <p:cNvGraphicFramePr>
            <a:graphicFrameLocks noGrp="1"/>
          </p:cNvGraphicFramePr>
          <p:nvPr/>
        </p:nvGraphicFramePr>
        <p:xfrm>
          <a:off x="361508" y="909825"/>
          <a:ext cx="11702902" cy="5948175"/>
        </p:xfrm>
        <a:graphic>
          <a:graphicData uri="http://schemas.openxmlformats.org/drawingml/2006/table">
            <a:tbl>
              <a:tblPr firstRow="1" bandRow="1">
                <a:tableStyleId>{7DF18680-E054-41AD-8BC1-D1AEF772440D}</a:tableStyleId>
              </a:tblPr>
              <a:tblGrid>
                <a:gridCol w="578286">
                  <a:extLst>
                    <a:ext uri="{9D8B030D-6E8A-4147-A177-3AD203B41FA5}">
                      <a16:colId xmlns:a16="http://schemas.microsoft.com/office/drawing/2014/main" val="1638113567"/>
                    </a:ext>
                  </a:extLst>
                </a:gridCol>
                <a:gridCol w="1666242">
                  <a:extLst>
                    <a:ext uri="{9D8B030D-6E8A-4147-A177-3AD203B41FA5}">
                      <a16:colId xmlns:a16="http://schemas.microsoft.com/office/drawing/2014/main" val="2878880668"/>
                    </a:ext>
                  </a:extLst>
                </a:gridCol>
                <a:gridCol w="3720336">
                  <a:extLst>
                    <a:ext uri="{9D8B030D-6E8A-4147-A177-3AD203B41FA5}">
                      <a16:colId xmlns:a16="http://schemas.microsoft.com/office/drawing/2014/main" val="3799684449"/>
                    </a:ext>
                  </a:extLst>
                </a:gridCol>
                <a:gridCol w="5738038">
                  <a:extLst>
                    <a:ext uri="{9D8B030D-6E8A-4147-A177-3AD203B41FA5}">
                      <a16:colId xmlns:a16="http://schemas.microsoft.com/office/drawing/2014/main" val="83651683"/>
                    </a:ext>
                  </a:extLst>
                </a:gridCol>
              </a:tblGrid>
              <a:tr h="653769">
                <a:tc>
                  <a:txBody>
                    <a:bodyPr/>
                    <a:lstStyle/>
                    <a:p>
                      <a:pPr algn="l"/>
                      <a:r>
                        <a:rPr lang="zh-TW" altLang="zh-TW" sz="2000" b="0" kern="1200" dirty="0">
                          <a:solidFill>
                            <a:schemeClr val="lt1"/>
                          </a:solidFill>
                          <a:effectLst/>
                          <a:latin typeface="+mn-lt"/>
                          <a:ea typeface="+mn-ea"/>
                          <a:cs typeface="+mn-cs"/>
                        </a:rPr>
                        <a:t>項次</a:t>
                      </a:r>
                      <a:endParaRPr lang="zh-TW" altLang="en-US" sz="2000" b="0" dirty="0"/>
                    </a:p>
                  </a:txBody>
                  <a:tcPr vert="eaVert"/>
                </a:tc>
                <a:tc>
                  <a:txBody>
                    <a:bodyPr/>
                    <a:lstStyle/>
                    <a:p>
                      <a:r>
                        <a:rPr lang="zh-TW" altLang="zh-TW" sz="2000" b="0" kern="1200" dirty="0">
                          <a:solidFill>
                            <a:schemeClr val="lt1"/>
                          </a:solidFill>
                          <a:effectLst/>
                          <a:latin typeface="+mn-lt"/>
                          <a:ea typeface="+mn-ea"/>
                          <a:cs typeface="+mn-cs"/>
                        </a:rPr>
                        <a:t>需求面向</a:t>
                      </a:r>
                      <a:endParaRPr lang="zh-TW" altLang="en-US" sz="2000" b="0" dirty="0"/>
                    </a:p>
                  </a:txBody>
                  <a:tcPr/>
                </a:tc>
                <a:tc>
                  <a:txBody>
                    <a:bodyPr/>
                    <a:lstStyle/>
                    <a:p>
                      <a:r>
                        <a:rPr lang="zh-TW" altLang="zh-TW" sz="2000" b="0" kern="1200" dirty="0">
                          <a:solidFill>
                            <a:schemeClr val="lt1"/>
                          </a:solidFill>
                          <a:effectLst/>
                          <a:latin typeface="+mn-lt"/>
                          <a:ea typeface="+mn-ea"/>
                          <a:cs typeface="+mn-cs"/>
                        </a:rPr>
                        <a:t>脆弱性因子</a:t>
                      </a:r>
                      <a:endParaRPr lang="zh-TW" altLang="en-US" sz="2000" b="0" dirty="0"/>
                    </a:p>
                  </a:txBody>
                  <a:tcPr/>
                </a:tc>
                <a:tc>
                  <a:txBody>
                    <a:bodyPr/>
                    <a:lstStyle/>
                    <a:p>
                      <a:r>
                        <a:rPr lang="zh-TW" altLang="zh-TW" sz="2000" b="0" kern="1200" dirty="0">
                          <a:solidFill>
                            <a:schemeClr val="lt1"/>
                          </a:solidFill>
                          <a:effectLst/>
                          <a:latin typeface="+mn-lt"/>
                          <a:ea typeface="+mn-ea"/>
                          <a:cs typeface="+mn-cs"/>
                        </a:rPr>
                        <a:t>參考樣態</a:t>
                      </a:r>
                      <a:endParaRPr lang="zh-TW" altLang="en-US" sz="2000" b="0" dirty="0"/>
                    </a:p>
                  </a:txBody>
                  <a:tcPr/>
                </a:tc>
                <a:extLst>
                  <a:ext uri="{0D108BD9-81ED-4DB2-BD59-A6C34878D82A}">
                    <a16:rowId xmlns:a16="http://schemas.microsoft.com/office/drawing/2014/main" val="4194034937"/>
                  </a:ext>
                </a:extLst>
              </a:tr>
              <a:tr h="1774285">
                <a:tc rowSpan="3">
                  <a:txBody>
                    <a:bodyPr/>
                    <a:lstStyle/>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r>
                        <a:rPr lang="zh-TW" altLang="en-US" sz="2000" b="1" dirty="0">
                          <a:solidFill>
                            <a:srgbClr val="002060"/>
                          </a:solidFill>
                          <a:latin typeface="+mn-ea"/>
                          <a:ea typeface="+mn-ea"/>
                        </a:rPr>
                        <a:t>四</a:t>
                      </a:r>
                    </a:p>
                  </a:txBody>
                  <a:tcPr/>
                </a:tc>
                <a:tc rowSpan="3">
                  <a:txBody>
                    <a:bodyPr/>
                    <a:lstStyle/>
                    <a:p>
                      <a:pPr algn="ctr"/>
                      <a:endParaRPr lang="en-US" altLang="zh-TW" sz="2000" b="1" kern="1200" dirty="0">
                        <a:solidFill>
                          <a:srgbClr val="002060"/>
                        </a:solidFill>
                        <a:effectLst/>
                        <a:latin typeface="+mn-ea"/>
                        <a:ea typeface="+mn-ea"/>
                        <a:cs typeface="+mn-cs"/>
                      </a:endParaRPr>
                    </a:p>
                    <a:p>
                      <a:pPr algn="ctr"/>
                      <a:endParaRPr lang="en-US" altLang="zh-TW" sz="2000" b="1" kern="1200" dirty="0">
                        <a:solidFill>
                          <a:srgbClr val="002060"/>
                        </a:solidFill>
                        <a:effectLst/>
                        <a:latin typeface="+mn-ea"/>
                        <a:ea typeface="+mn-ea"/>
                        <a:cs typeface="+mn-cs"/>
                      </a:endParaRPr>
                    </a:p>
                    <a:p>
                      <a:pPr algn="ctr"/>
                      <a:endParaRPr lang="en-US" altLang="zh-TW" sz="2000" b="1" kern="1200" dirty="0">
                        <a:solidFill>
                          <a:srgbClr val="002060"/>
                        </a:solidFill>
                        <a:effectLst/>
                        <a:latin typeface="+mn-ea"/>
                        <a:ea typeface="+mn-ea"/>
                        <a:cs typeface="+mn-cs"/>
                      </a:endParaRPr>
                    </a:p>
                    <a:p>
                      <a:pPr algn="ctr"/>
                      <a:endParaRPr lang="en-US" altLang="zh-TW" sz="2000" b="1" kern="1200" dirty="0">
                        <a:solidFill>
                          <a:srgbClr val="002060"/>
                        </a:solidFill>
                        <a:effectLst/>
                        <a:latin typeface="+mn-ea"/>
                        <a:ea typeface="+mn-ea"/>
                        <a:cs typeface="+mn-cs"/>
                      </a:endParaRPr>
                    </a:p>
                    <a:p>
                      <a:pPr algn="ctr"/>
                      <a:endParaRPr lang="en-US" altLang="zh-TW" sz="2000" b="1" kern="1200" dirty="0">
                        <a:solidFill>
                          <a:srgbClr val="002060"/>
                        </a:solidFill>
                        <a:effectLst/>
                        <a:latin typeface="+mn-ea"/>
                        <a:ea typeface="+mn-ea"/>
                        <a:cs typeface="+mn-cs"/>
                      </a:endParaRPr>
                    </a:p>
                    <a:p>
                      <a:pPr algn="ctr"/>
                      <a:endParaRPr lang="en-US" altLang="zh-TW" sz="2000" b="1" kern="1200" dirty="0">
                        <a:solidFill>
                          <a:srgbClr val="002060"/>
                        </a:solidFill>
                        <a:effectLst/>
                        <a:latin typeface="+mn-ea"/>
                        <a:ea typeface="+mn-ea"/>
                        <a:cs typeface="+mn-cs"/>
                      </a:endParaRPr>
                    </a:p>
                    <a:p>
                      <a:pPr algn="l"/>
                      <a:r>
                        <a:rPr lang="zh-TW" altLang="zh-TW" sz="2000" b="1" kern="1200" dirty="0">
                          <a:solidFill>
                            <a:srgbClr val="002060"/>
                          </a:solidFill>
                          <a:effectLst/>
                          <a:latin typeface="+mn-ea"/>
                          <a:ea typeface="+mn-ea"/>
                          <a:cs typeface="+mn-cs"/>
                        </a:rPr>
                        <a:t>兒少發展不利處境需要接受協助</a:t>
                      </a:r>
                      <a:endParaRPr lang="zh-TW" altLang="en-US" sz="2000" b="1" dirty="0">
                        <a:solidFill>
                          <a:srgbClr val="002060"/>
                        </a:solidFill>
                        <a:latin typeface="+mn-ea"/>
                        <a:ea typeface="+mn-ea"/>
                      </a:endParaRPr>
                    </a:p>
                  </a:txBody>
                  <a:tcPr/>
                </a:tc>
                <a:tc>
                  <a:txBody>
                    <a:bodyPr/>
                    <a:lstStyle/>
                    <a:p>
                      <a:pPr marL="0" lvl="0" indent="0" algn="l">
                        <a:lnSpc>
                          <a:spcPct val="200000"/>
                        </a:lnSpc>
                        <a:spcAft>
                          <a:spcPts val="0"/>
                        </a:spcAft>
                        <a:buFont typeface="+mj-ea"/>
                        <a:buNone/>
                      </a:pPr>
                      <a:r>
                        <a:rPr lang="zh-TW" altLang="en-US" sz="2000" kern="100" dirty="0">
                          <a:solidFill>
                            <a:srgbClr val="002060"/>
                          </a:solidFill>
                          <a:effectLst/>
                          <a:latin typeface="+mn-ea"/>
                          <a:ea typeface="+mn-ea"/>
                          <a:cs typeface="Times New Roman" panose="02020603050405020304" pitchFamily="18" charset="0"/>
                        </a:rPr>
                        <a:t>一</a:t>
                      </a:r>
                      <a:r>
                        <a:rPr lang="en-US" altLang="zh-TW" sz="2000" kern="100" dirty="0">
                          <a:solidFill>
                            <a:srgbClr val="002060"/>
                          </a:solidFill>
                          <a:effectLst/>
                          <a:latin typeface="+mn-ea"/>
                          <a:ea typeface="+mn-ea"/>
                          <a:cs typeface="Times New Roman" panose="02020603050405020304" pitchFamily="18" charset="0"/>
                        </a:rPr>
                        <a:t>)</a:t>
                      </a:r>
                      <a:r>
                        <a:rPr lang="zh-TW" altLang="en-US" sz="2000" kern="100" dirty="0">
                          <a:solidFill>
                            <a:srgbClr val="002060"/>
                          </a:solidFill>
                          <a:effectLst/>
                          <a:latin typeface="+mn-ea"/>
                          <a:ea typeface="+mn-ea"/>
                          <a:cs typeface="Times New Roman" panose="02020603050405020304" pitchFamily="18" charset="0"/>
                        </a:rPr>
                        <a:t>具有特殊照顧需求之兒少，致主要照顧者難以負荷或照顧困難有疏忽之虞</a:t>
                      </a:r>
                      <a:endParaRPr lang="zh-TW" sz="2000" kern="100" dirty="0">
                        <a:solidFill>
                          <a:srgbClr val="002060"/>
                        </a:solidFill>
                        <a:effectLst/>
                        <a:latin typeface="+mn-ea"/>
                        <a:ea typeface="+mn-ea"/>
                        <a:cs typeface="Times New Roman" panose="02020603050405020304" pitchFamily="18" charset="0"/>
                      </a:endParaRPr>
                    </a:p>
                  </a:txBody>
                  <a:tcPr marL="68580" marR="68580" marT="0" marB="0" anchor="ctr"/>
                </a:tc>
                <a:tc>
                  <a:txBody>
                    <a:bodyPr/>
                    <a:lstStyle/>
                    <a:p>
                      <a:r>
                        <a:rPr lang="en-US" altLang="zh-TW" sz="2000" kern="1200" dirty="0">
                          <a:solidFill>
                            <a:srgbClr val="002060"/>
                          </a:solidFill>
                          <a:effectLst/>
                          <a:latin typeface="+mn-ea"/>
                          <a:ea typeface="+mn-ea"/>
                          <a:cs typeface="+mn-cs"/>
                        </a:rPr>
                        <a:t>1.</a:t>
                      </a:r>
                      <a:r>
                        <a:rPr lang="zh-TW" altLang="zh-TW" sz="2000" kern="1200" dirty="0">
                          <a:solidFill>
                            <a:srgbClr val="002060"/>
                          </a:solidFill>
                          <a:effectLst/>
                          <a:latin typeface="+mn-ea"/>
                          <a:ea typeface="+mn-ea"/>
                          <a:cs typeface="+mn-cs"/>
                        </a:rPr>
                        <a:t>發展遲緩兒童。</a:t>
                      </a:r>
                    </a:p>
                    <a:p>
                      <a:endParaRPr lang="en-US" altLang="zh-TW" sz="2000" kern="1200" dirty="0">
                        <a:solidFill>
                          <a:srgbClr val="002060"/>
                        </a:solidFill>
                        <a:effectLst/>
                        <a:latin typeface="+mn-ea"/>
                        <a:ea typeface="+mn-ea"/>
                        <a:cs typeface="+mn-cs"/>
                      </a:endParaRPr>
                    </a:p>
                    <a:p>
                      <a:r>
                        <a:rPr lang="en-US" altLang="zh-TW" sz="2000" kern="1200" dirty="0">
                          <a:solidFill>
                            <a:srgbClr val="002060"/>
                          </a:solidFill>
                          <a:effectLst/>
                          <a:latin typeface="+mn-ea"/>
                          <a:ea typeface="+mn-ea"/>
                          <a:cs typeface="+mn-cs"/>
                        </a:rPr>
                        <a:t>2.</a:t>
                      </a:r>
                      <a:r>
                        <a:rPr lang="zh-TW" altLang="zh-TW" sz="2000" kern="1200" dirty="0">
                          <a:solidFill>
                            <a:srgbClr val="002060"/>
                          </a:solidFill>
                          <a:effectLst/>
                          <a:latin typeface="+mn-ea"/>
                          <a:ea typeface="+mn-ea"/>
                          <a:cs typeface="+mn-cs"/>
                        </a:rPr>
                        <a:t>身心障礙兒少。</a:t>
                      </a:r>
                    </a:p>
                    <a:p>
                      <a:endParaRPr lang="en-US" altLang="zh-TW" sz="2000" kern="1200" dirty="0">
                        <a:solidFill>
                          <a:srgbClr val="002060"/>
                        </a:solidFill>
                        <a:effectLst/>
                        <a:latin typeface="+mn-ea"/>
                        <a:ea typeface="+mn-ea"/>
                        <a:cs typeface="+mn-cs"/>
                      </a:endParaRPr>
                    </a:p>
                    <a:p>
                      <a:r>
                        <a:rPr lang="en-US" altLang="zh-TW" sz="2000" kern="1200" dirty="0">
                          <a:solidFill>
                            <a:srgbClr val="002060"/>
                          </a:solidFill>
                          <a:effectLst/>
                          <a:latin typeface="+mn-ea"/>
                          <a:ea typeface="+mn-ea"/>
                          <a:cs typeface="+mn-cs"/>
                        </a:rPr>
                        <a:t>3.</a:t>
                      </a:r>
                      <a:r>
                        <a:rPr lang="zh-TW" altLang="zh-TW" sz="2000" kern="1200" dirty="0">
                          <a:solidFill>
                            <a:srgbClr val="002060"/>
                          </a:solidFill>
                          <a:effectLst/>
                          <a:latin typeface="+mn-ea"/>
                          <a:ea typeface="+mn-ea"/>
                          <a:cs typeface="+mn-cs"/>
                        </a:rPr>
                        <a:t>罹患重大疾病兒少。</a:t>
                      </a:r>
                      <a:endParaRPr lang="zh-TW" altLang="en-US" sz="2000" dirty="0">
                        <a:solidFill>
                          <a:srgbClr val="002060"/>
                        </a:solidFill>
                        <a:latin typeface="+mn-ea"/>
                        <a:ea typeface="+mn-ea"/>
                      </a:endParaRPr>
                    </a:p>
                  </a:txBody>
                  <a:tcPr/>
                </a:tc>
                <a:extLst>
                  <a:ext uri="{0D108BD9-81ED-4DB2-BD59-A6C34878D82A}">
                    <a16:rowId xmlns:a16="http://schemas.microsoft.com/office/drawing/2014/main" val="378104747"/>
                  </a:ext>
                </a:extLst>
              </a:tr>
              <a:tr h="2275823">
                <a:tc vMerge="1">
                  <a:txBody>
                    <a:bodyPr/>
                    <a:lstStyle/>
                    <a:p>
                      <a:endParaRPr lang="zh-TW" altLang="en-US" dirty="0"/>
                    </a:p>
                  </a:txBody>
                  <a:tcPr/>
                </a:tc>
                <a:tc vMerge="1">
                  <a:txBody>
                    <a:bodyPr/>
                    <a:lstStyle/>
                    <a:p>
                      <a:endParaRPr lang="zh-TW" altLang="en-US" dirty="0"/>
                    </a:p>
                  </a:txBody>
                  <a:tcPr/>
                </a:tc>
                <a:tc>
                  <a:txBody>
                    <a:bodyPr/>
                    <a:lstStyle/>
                    <a:p>
                      <a:pPr algn="l">
                        <a:lnSpc>
                          <a:spcPct val="200000"/>
                        </a:lnSpc>
                      </a:pPr>
                      <a:r>
                        <a:rPr lang="en-US" altLang="zh-TW" sz="2000" dirty="0">
                          <a:solidFill>
                            <a:srgbClr val="002060"/>
                          </a:solidFill>
                          <a:latin typeface="+mn-ea"/>
                          <a:ea typeface="+mn-ea"/>
                        </a:rPr>
                        <a:t>(</a:t>
                      </a:r>
                      <a:r>
                        <a:rPr lang="zh-TW" altLang="en-US" sz="2000" dirty="0">
                          <a:solidFill>
                            <a:srgbClr val="002060"/>
                          </a:solidFill>
                          <a:latin typeface="+mn-ea"/>
                          <a:ea typeface="+mn-ea"/>
                        </a:rPr>
                        <a:t>二</a:t>
                      </a:r>
                      <a:r>
                        <a:rPr lang="en-US" altLang="zh-TW" sz="2000" dirty="0">
                          <a:solidFill>
                            <a:srgbClr val="002060"/>
                          </a:solidFill>
                          <a:latin typeface="+mn-ea"/>
                          <a:ea typeface="+mn-ea"/>
                        </a:rPr>
                        <a:t>)</a:t>
                      </a:r>
                      <a:r>
                        <a:rPr lang="zh-TW" altLang="en-US" sz="2000" dirty="0">
                          <a:solidFill>
                            <a:srgbClr val="002060"/>
                          </a:solidFill>
                          <a:latin typeface="+mn-ea"/>
                          <a:ea typeface="+mn-ea"/>
                        </a:rPr>
                        <a:t>主要照顧者資源或教養知能不足，且無合適替代性照顧者或輔佐人</a:t>
                      </a:r>
                    </a:p>
                  </a:txBody>
                  <a:tcPr/>
                </a:tc>
                <a:tc>
                  <a:txBody>
                    <a:bodyPr/>
                    <a:lstStyle/>
                    <a:p>
                      <a:r>
                        <a:rPr lang="en-US" altLang="zh-TW" sz="2000" kern="1200" dirty="0">
                          <a:solidFill>
                            <a:srgbClr val="002060"/>
                          </a:solidFill>
                          <a:effectLst/>
                          <a:latin typeface="+mn-ea"/>
                          <a:ea typeface="+mn-ea"/>
                          <a:cs typeface="+mn-cs"/>
                        </a:rPr>
                        <a:t>1.</a:t>
                      </a:r>
                      <a:r>
                        <a:rPr lang="zh-TW" altLang="zh-TW" sz="2000" kern="1200" dirty="0">
                          <a:solidFill>
                            <a:srgbClr val="002060"/>
                          </a:solidFill>
                          <a:effectLst/>
                          <a:latin typeface="+mn-ea"/>
                          <a:ea typeface="+mn-ea"/>
                          <a:cs typeface="+mn-cs"/>
                        </a:rPr>
                        <a:t>主要照顧者失蹤或失聯，且無合適替代性照顧者或輔佐人。</a:t>
                      </a:r>
                    </a:p>
                    <a:p>
                      <a:r>
                        <a:rPr lang="en-US" altLang="zh-TW" sz="2000" kern="1200" dirty="0">
                          <a:solidFill>
                            <a:srgbClr val="002060"/>
                          </a:solidFill>
                          <a:effectLst/>
                          <a:latin typeface="+mn-ea"/>
                          <a:ea typeface="+mn-ea"/>
                          <a:cs typeface="+mn-cs"/>
                        </a:rPr>
                        <a:t>2.</a:t>
                      </a:r>
                      <a:r>
                        <a:rPr lang="zh-TW" altLang="zh-TW" sz="2000" kern="1200" dirty="0">
                          <a:solidFill>
                            <a:srgbClr val="002060"/>
                          </a:solidFill>
                          <a:effectLst/>
                          <a:latin typeface="+mn-ea"/>
                          <a:ea typeface="+mn-ea"/>
                          <a:cs typeface="+mn-cs"/>
                        </a:rPr>
                        <a:t>主要照顧者因資源匱乏或資源不足，無力提供兒少基本生活所需或無法協助兒少發展所需資源。</a:t>
                      </a:r>
                    </a:p>
                    <a:p>
                      <a:r>
                        <a:rPr lang="en-US" altLang="zh-TW" sz="2000" kern="1200" dirty="0">
                          <a:solidFill>
                            <a:srgbClr val="002060"/>
                          </a:solidFill>
                          <a:effectLst/>
                          <a:latin typeface="+mn-ea"/>
                          <a:ea typeface="+mn-ea"/>
                          <a:cs typeface="+mn-cs"/>
                        </a:rPr>
                        <a:t>3.</a:t>
                      </a:r>
                      <a:r>
                        <a:rPr lang="zh-TW" altLang="zh-TW" sz="2000" kern="1200" dirty="0">
                          <a:solidFill>
                            <a:srgbClr val="002060"/>
                          </a:solidFill>
                          <a:effectLst/>
                          <a:latin typeface="+mn-ea"/>
                          <a:ea typeface="+mn-ea"/>
                          <a:cs typeface="+mn-cs"/>
                        </a:rPr>
                        <a:t>未成年父母且親職功能不足。</a:t>
                      </a:r>
                    </a:p>
                    <a:p>
                      <a:r>
                        <a:rPr lang="en-US" altLang="zh-TW" sz="2000" kern="1200" dirty="0">
                          <a:solidFill>
                            <a:srgbClr val="002060"/>
                          </a:solidFill>
                          <a:effectLst/>
                          <a:latin typeface="+mn-ea"/>
                          <a:ea typeface="+mn-ea"/>
                          <a:cs typeface="+mn-cs"/>
                        </a:rPr>
                        <a:t>4.</a:t>
                      </a:r>
                      <a:r>
                        <a:rPr lang="zh-TW" altLang="zh-TW" sz="2000" kern="1200" dirty="0">
                          <a:solidFill>
                            <a:srgbClr val="002060"/>
                          </a:solidFill>
                          <a:effectLst/>
                          <a:latin typeface="+mn-ea"/>
                          <a:ea typeface="+mn-ea"/>
                          <a:cs typeface="+mn-cs"/>
                        </a:rPr>
                        <a:t>學齡前子女數</a:t>
                      </a:r>
                      <a:r>
                        <a:rPr lang="en-US" altLang="zh-TW" sz="2000" kern="1200" dirty="0">
                          <a:solidFill>
                            <a:srgbClr val="002060"/>
                          </a:solidFill>
                          <a:effectLst/>
                          <a:latin typeface="+mn-ea"/>
                          <a:ea typeface="+mn-ea"/>
                          <a:cs typeface="+mn-cs"/>
                        </a:rPr>
                        <a:t>3</a:t>
                      </a:r>
                      <a:r>
                        <a:rPr lang="zh-TW" altLang="zh-TW" sz="2000" kern="1200" dirty="0">
                          <a:solidFill>
                            <a:srgbClr val="002060"/>
                          </a:solidFill>
                          <a:effectLst/>
                          <a:latin typeface="+mn-ea"/>
                          <a:ea typeface="+mn-ea"/>
                          <a:cs typeface="+mn-cs"/>
                        </a:rPr>
                        <a:t>個以上之家庭且家庭功能不足。</a:t>
                      </a:r>
                    </a:p>
                    <a:p>
                      <a:r>
                        <a:rPr lang="en-US" altLang="zh-TW" sz="2000" kern="1200" dirty="0">
                          <a:solidFill>
                            <a:srgbClr val="002060"/>
                          </a:solidFill>
                          <a:effectLst/>
                          <a:latin typeface="+mn-ea"/>
                          <a:ea typeface="+mn-ea"/>
                          <a:cs typeface="+mn-cs"/>
                        </a:rPr>
                        <a:t>5.</a:t>
                      </a:r>
                      <a:r>
                        <a:rPr lang="zh-TW" altLang="zh-TW" sz="2000" kern="1200" dirty="0">
                          <a:solidFill>
                            <a:srgbClr val="002060"/>
                          </a:solidFill>
                          <a:effectLst/>
                          <a:latin typeface="+mn-ea"/>
                          <a:ea typeface="+mn-ea"/>
                          <a:cs typeface="+mn-cs"/>
                        </a:rPr>
                        <a:t>居住不穩定，一年搬遷</a:t>
                      </a:r>
                      <a:r>
                        <a:rPr lang="en-US" altLang="zh-TW" sz="2000" kern="1200" dirty="0">
                          <a:solidFill>
                            <a:srgbClr val="002060"/>
                          </a:solidFill>
                          <a:effectLst/>
                          <a:latin typeface="+mn-ea"/>
                          <a:ea typeface="+mn-ea"/>
                          <a:cs typeface="+mn-cs"/>
                        </a:rPr>
                        <a:t>3</a:t>
                      </a:r>
                      <a:r>
                        <a:rPr lang="zh-TW" altLang="zh-TW" sz="2000" kern="1200" dirty="0">
                          <a:solidFill>
                            <a:srgbClr val="002060"/>
                          </a:solidFill>
                          <a:effectLst/>
                          <a:latin typeface="+mn-ea"/>
                          <a:ea typeface="+mn-ea"/>
                          <a:cs typeface="+mn-cs"/>
                        </a:rPr>
                        <a:t>次以上。</a:t>
                      </a:r>
                      <a:endParaRPr lang="zh-TW" altLang="en-US" sz="2000" dirty="0">
                        <a:solidFill>
                          <a:srgbClr val="002060"/>
                        </a:solidFill>
                        <a:latin typeface="+mn-ea"/>
                        <a:ea typeface="+mn-ea"/>
                      </a:endParaRPr>
                    </a:p>
                  </a:txBody>
                  <a:tcPr/>
                </a:tc>
                <a:extLst>
                  <a:ext uri="{0D108BD9-81ED-4DB2-BD59-A6C34878D82A}">
                    <a16:rowId xmlns:a16="http://schemas.microsoft.com/office/drawing/2014/main" val="1013739305"/>
                  </a:ext>
                </a:extLst>
              </a:tr>
              <a:tr h="1244298">
                <a:tc vMerge="1">
                  <a:txBody>
                    <a:bodyPr/>
                    <a:lstStyle/>
                    <a:p>
                      <a:endParaRPr lang="zh-TW" altLang="en-US" dirty="0"/>
                    </a:p>
                  </a:txBody>
                  <a:tcPr/>
                </a:tc>
                <a:tc vMerge="1">
                  <a:txBody>
                    <a:bodyPr/>
                    <a:lstStyle/>
                    <a:p>
                      <a:endParaRPr lang="zh-TW" altLang="en-US" dirty="0"/>
                    </a:p>
                  </a:txBody>
                  <a:tcPr/>
                </a:tc>
                <a:tc>
                  <a:txBody>
                    <a:bodyPr/>
                    <a:lstStyle/>
                    <a:p>
                      <a:pPr algn="l">
                        <a:lnSpc>
                          <a:spcPct val="200000"/>
                        </a:lnSpc>
                      </a:pPr>
                      <a:r>
                        <a:rPr lang="en-US" altLang="zh-TW" sz="2000" dirty="0">
                          <a:solidFill>
                            <a:srgbClr val="002060"/>
                          </a:solidFill>
                          <a:latin typeface="+mn-ea"/>
                          <a:ea typeface="+mn-ea"/>
                        </a:rPr>
                        <a:t>(</a:t>
                      </a:r>
                      <a:r>
                        <a:rPr lang="zh-TW" altLang="en-US" sz="2000" dirty="0">
                          <a:solidFill>
                            <a:srgbClr val="002060"/>
                          </a:solidFill>
                          <a:latin typeface="+mn-ea"/>
                          <a:ea typeface="+mn-ea"/>
                        </a:rPr>
                        <a:t>三</a:t>
                      </a:r>
                      <a:r>
                        <a:rPr lang="en-US" altLang="zh-TW" sz="2000" dirty="0">
                          <a:solidFill>
                            <a:srgbClr val="002060"/>
                          </a:solidFill>
                          <a:latin typeface="+mn-ea"/>
                          <a:ea typeface="+mn-ea"/>
                        </a:rPr>
                        <a:t>)</a:t>
                      </a:r>
                      <a:r>
                        <a:rPr lang="zh-TW" altLang="en-US" sz="2000" dirty="0">
                          <a:solidFill>
                            <a:srgbClr val="002060"/>
                          </a:solidFill>
                          <a:latin typeface="+mn-ea"/>
                          <a:ea typeface="+mn-ea"/>
                        </a:rPr>
                        <a:t>兒少不適應行為，係因家庭功能薄弱致有照顧問題</a:t>
                      </a:r>
                    </a:p>
                  </a:txBody>
                  <a:tcPr/>
                </a:tc>
                <a:tc>
                  <a:txBody>
                    <a:bodyPr/>
                    <a:lstStyle/>
                    <a:p>
                      <a:pPr>
                        <a:lnSpc>
                          <a:spcPct val="200000"/>
                        </a:lnSpc>
                      </a:pPr>
                      <a:r>
                        <a:rPr lang="zh-TW" altLang="zh-TW" sz="2000" kern="1200" dirty="0">
                          <a:solidFill>
                            <a:srgbClr val="002060"/>
                          </a:solidFill>
                          <a:effectLst/>
                          <a:latin typeface="+mn-ea"/>
                          <a:ea typeface="+mn-ea"/>
                          <a:cs typeface="+mn-cs"/>
                        </a:rPr>
                        <a:t>因兒少個人或家庭功能薄弱，致有擅自離家、遊蕩或自我傷害等不適應行為。</a:t>
                      </a:r>
                      <a:endParaRPr lang="zh-TW" altLang="en-US" sz="2000" dirty="0">
                        <a:solidFill>
                          <a:srgbClr val="002060"/>
                        </a:solidFill>
                        <a:latin typeface="+mn-ea"/>
                        <a:ea typeface="+mn-ea"/>
                      </a:endParaRPr>
                    </a:p>
                  </a:txBody>
                  <a:tcPr/>
                </a:tc>
                <a:extLst>
                  <a:ext uri="{0D108BD9-81ED-4DB2-BD59-A6C34878D82A}">
                    <a16:rowId xmlns:a16="http://schemas.microsoft.com/office/drawing/2014/main" val="3530312500"/>
                  </a:ext>
                </a:extLst>
              </a:tr>
            </a:tbl>
          </a:graphicData>
        </a:graphic>
      </p:graphicFrame>
    </p:spTree>
    <p:extLst>
      <p:ext uri="{BB962C8B-B14F-4D97-AF65-F5344CB8AC3E}">
        <p14:creationId xmlns:p14="http://schemas.microsoft.com/office/powerpoint/2010/main" val="3302219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3E50A2-DC22-4C85-B792-EBA4CDBEDBA5}"/>
              </a:ext>
            </a:extLst>
          </p:cNvPr>
          <p:cNvSpPr>
            <a:spLocks noGrp="1"/>
          </p:cNvSpPr>
          <p:nvPr>
            <p:ph type="title"/>
          </p:nvPr>
        </p:nvSpPr>
        <p:spPr>
          <a:xfrm>
            <a:off x="1295400" y="115042"/>
            <a:ext cx="9601200" cy="1589567"/>
          </a:xfrm>
        </p:spPr>
        <p:txBody>
          <a:bodyPr>
            <a:normAutofit/>
          </a:bodyPr>
          <a:lstStyle/>
          <a:p>
            <a:r>
              <a:rPr lang="zh-TW" altLang="en-US" dirty="0">
                <a:solidFill>
                  <a:srgbClr val="C00000"/>
                </a:solidFill>
              </a:rPr>
              <a:t>脆弱家庭</a:t>
            </a:r>
            <a:r>
              <a:rPr lang="zh-TW" altLang="zh-TW" dirty="0">
                <a:solidFill>
                  <a:srgbClr val="C00000"/>
                </a:solidFill>
              </a:rPr>
              <a:t>需求面向與脆弱性因子</a:t>
            </a:r>
            <a:r>
              <a:rPr lang="en-US" altLang="zh-TW" dirty="0">
                <a:solidFill>
                  <a:srgbClr val="C00000"/>
                </a:solidFill>
              </a:rPr>
              <a:t>5</a:t>
            </a:r>
            <a:br>
              <a:rPr lang="zh-TW" altLang="zh-TW" dirty="0"/>
            </a:br>
            <a:endParaRPr lang="zh-TW" altLang="en-US" dirty="0">
              <a:solidFill>
                <a:srgbClr val="C00000"/>
              </a:solidFill>
            </a:endParaRPr>
          </a:p>
        </p:txBody>
      </p:sp>
      <p:graphicFrame>
        <p:nvGraphicFramePr>
          <p:cNvPr id="8" name="表格 8">
            <a:extLst>
              <a:ext uri="{FF2B5EF4-FFF2-40B4-BE49-F238E27FC236}">
                <a16:creationId xmlns:a16="http://schemas.microsoft.com/office/drawing/2014/main" id="{3CA1A690-6E56-4C72-A0B5-803FFFE7CEC3}"/>
              </a:ext>
            </a:extLst>
          </p:cNvPr>
          <p:cNvGraphicFramePr>
            <a:graphicFrameLocks noGrp="1"/>
          </p:cNvGraphicFramePr>
          <p:nvPr/>
        </p:nvGraphicFramePr>
        <p:xfrm>
          <a:off x="361508" y="909825"/>
          <a:ext cx="11702902" cy="6378726"/>
        </p:xfrm>
        <a:graphic>
          <a:graphicData uri="http://schemas.openxmlformats.org/drawingml/2006/table">
            <a:tbl>
              <a:tblPr firstRow="1" bandRow="1">
                <a:tableStyleId>{7DF18680-E054-41AD-8BC1-D1AEF772440D}</a:tableStyleId>
              </a:tblPr>
              <a:tblGrid>
                <a:gridCol w="578286">
                  <a:extLst>
                    <a:ext uri="{9D8B030D-6E8A-4147-A177-3AD203B41FA5}">
                      <a16:colId xmlns:a16="http://schemas.microsoft.com/office/drawing/2014/main" val="1638113567"/>
                    </a:ext>
                  </a:extLst>
                </a:gridCol>
                <a:gridCol w="1666242">
                  <a:extLst>
                    <a:ext uri="{9D8B030D-6E8A-4147-A177-3AD203B41FA5}">
                      <a16:colId xmlns:a16="http://schemas.microsoft.com/office/drawing/2014/main" val="2878880668"/>
                    </a:ext>
                  </a:extLst>
                </a:gridCol>
                <a:gridCol w="3720336">
                  <a:extLst>
                    <a:ext uri="{9D8B030D-6E8A-4147-A177-3AD203B41FA5}">
                      <a16:colId xmlns:a16="http://schemas.microsoft.com/office/drawing/2014/main" val="3799684449"/>
                    </a:ext>
                  </a:extLst>
                </a:gridCol>
                <a:gridCol w="5738038">
                  <a:extLst>
                    <a:ext uri="{9D8B030D-6E8A-4147-A177-3AD203B41FA5}">
                      <a16:colId xmlns:a16="http://schemas.microsoft.com/office/drawing/2014/main" val="83651683"/>
                    </a:ext>
                  </a:extLst>
                </a:gridCol>
              </a:tblGrid>
              <a:tr h="639181">
                <a:tc>
                  <a:txBody>
                    <a:bodyPr/>
                    <a:lstStyle/>
                    <a:p>
                      <a:pPr algn="l"/>
                      <a:r>
                        <a:rPr lang="zh-TW" altLang="zh-TW" sz="2000" b="0" kern="1200" dirty="0">
                          <a:solidFill>
                            <a:schemeClr val="lt1"/>
                          </a:solidFill>
                          <a:effectLst/>
                          <a:latin typeface="+mn-lt"/>
                          <a:ea typeface="+mn-ea"/>
                          <a:cs typeface="+mn-cs"/>
                        </a:rPr>
                        <a:t>項次</a:t>
                      </a:r>
                      <a:endParaRPr lang="zh-TW" altLang="en-US" sz="2000" b="0" dirty="0"/>
                    </a:p>
                  </a:txBody>
                  <a:tcPr vert="eaVert"/>
                </a:tc>
                <a:tc>
                  <a:txBody>
                    <a:bodyPr/>
                    <a:lstStyle/>
                    <a:p>
                      <a:r>
                        <a:rPr lang="zh-TW" altLang="zh-TW" sz="2000" b="0" kern="1200" dirty="0">
                          <a:solidFill>
                            <a:schemeClr val="lt1"/>
                          </a:solidFill>
                          <a:effectLst/>
                          <a:latin typeface="+mn-lt"/>
                          <a:ea typeface="+mn-ea"/>
                          <a:cs typeface="+mn-cs"/>
                        </a:rPr>
                        <a:t>需求面向</a:t>
                      </a:r>
                      <a:endParaRPr lang="zh-TW" altLang="en-US" sz="2000" b="0" dirty="0"/>
                    </a:p>
                  </a:txBody>
                  <a:tcPr/>
                </a:tc>
                <a:tc>
                  <a:txBody>
                    <a:bodyPr/>
                    <a:lstStyle/>
                    <a:p>
                      <a:r>
                        <a:rPr lang="zh-TW" altLang="zh-TW" sz="2000" b="0" kern="1200" dirty="0">
                          <a:solidFill>
                            <a:schemeClr val="lt1"/>
                          </a:solidFill>
                          <a:effectLst/>
                          <a:latin typeface="+mn-lt"/>
                          <a:ea typeface="+mn-ea"/>
                          <a:cs typeface="+mn-cs"/>
                        </a:rPr>
                        <a:t>脆弱性因子</a:t>
                      </a:r>
                      <a:endParaRPr lang="zh-TW" altLang="en-US" sz="2000" b="0" dirty="0"/>
                    </a:p>
                  </a:txBody>
                  <a:tcPr/>
                </a:tc>
                <a:tc>
                  <a:txBody>
                    <a:bodyPr/>
                    <a:lstStyle/>
                    <a:p>
                      <a:r>
                        <a:rPr lang="zh-TW" altLang="zh-TW" sz="2000" b="0" kern="1200" dirty="0">
                          <a:solidFill>
                            <a:schemeClr val="lt1"/>
                          </a:solidFill>
                          <a:effectLst/>
                          <a:latin typeface="+mn-lt"/>
                          <a:ea typeface="+mn-ea"/>
                          <a:cs typeface="+mn-cs"/>
                        </a:rPr>
                        <a:t>參考樣態</a:t>
                      </a:r>
                      <a:endParaRPr lang="zh-TW" altLang="en-US" sz="2000" b="0" dirty="0"/>
                    </a:p>
                  </a:txBody>
                  <a:tcPr/>
                </a:tc>
                <a:extLst>
                  <a:ext uri="{0D108BD9-81ED-4DB2-BD59-A6C34878D82A}">
                    <a16:rowId xmlns:a16="http://schemas.microsoft.com/office/drawing/2014/main" val="4194034937"/>
                  </a:ext>
                </a:extLst>
              </a:tr>
              <a:tr h="1675158">
                <a:tc rowSpan="3">
                  <a:txBody>
                    <a:bodyPr/>
                    <a:lstStyle/>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r>
                        <a:rPr lang="zh-TW" altLang="en-US" sz="2000" b="1" dirty="0">
                          <a:solidFill>
                            <a:srgbClr val="002060"/>
                          </a:solidFill>
                          <a:latin typeface="+mn-ea"/>
                          <a:ea typeface="+mn-ea"/>
                        </a:rPr>
                        <a:t>五</a:t>
                      </a:r>
                    </a:p>
                  </a:txBody>
                  <a:tcPr/>
                </a:tc>
                <a:tc rowSpan="3">
                  <a:txBody>
                    <a:bodyPr/>
                    <a:lstStyle/>
                    <a:p>
                      <a:pPr algn="ctr"/>
                      <a:endParaRPr lang="en-US" altLang="zh-TW" sz="2000" b="1" kern="1200" dirty="0">
                        <a:solidFill>
                          <a:srgbClr val="002060"/>
                        </a:solidFill>
                        <a:effectLst/>
                        <a:latin typeface="+mn-ea"/>
                        <a:ea typeface="+mn-ea"/>
                        <a:cs typeface="+mn-cs"/>
                      </a:endParaRPr>
                    </a:p>
                    <a:p>
                      <a:pPr algn="ctr"/>
                      <a:endParaRPr lang="en-US" altLang="zh-TW" sz="2000" b="1" kern="1200" dirty="0">
                        <a:solidFill>
                          <a:srgbClr val="002060"/>
                        </a:solidFill>
                        <a:effectLst/>
                        <a:latin typeface="+mn-ea"/>
                        <a:ea typeface="+mn-ea"/>
                        <a:cs typeface="+mn-cs"/>
                      </a:endParaRPr>
                    </a:p>
                    <a:p>
                      <a:pPr algn="ctr"/>
                      <a:endParaRPr lang="en-US" altLang="zh-TW" sz="2000" b="1" kern="1200" dirty="0">
                        <a:solidFill>
                          <a:srgbClr val="002060"/>
                        </a:solidFill>
                        <a:effectLst/>
                        <a:latin typeface="+mn-ea"/>
                        <a:ea typeface="+mn-ea"/>
                        <a:cs typeface="+mn-cs"/>
                      </a:endParaRPr>
                    </a:p>
                    <a:p>
                      <a:pPr algn="ctr"/>
                      <a:endParaRPr lang="en-US" altLang="zh-TW" sz="2000" b="1" kern="1200" dirty="0">
                        <a:solidFill>
                          <a:srgbClr val="002060"/>
                        </a:solidFill>
                        <a:effectLst/>
                        <a:latin typeface="+mn-ea"/>
                        <a:ea typeface="+mn-ea"/>
                        <a:cs typeface="+mn-cs"/>
                      </a:endParaRPr>
                    </a:p>
                    <a:p>
                      <a:pPr algn="ctr"/>
                      <a:endParaRPr lang="en-US" altLang="zh-TW" sz="2000" b="1" kern="1200" dirty="0">
                        <a:solidFill>
                          <a:srgbClr val="002060"/>
                        </a:solidFill>
                        <a:effectLst/>
                        <a:latin typeface="+mn-ea"/>
                        <a:ea typeface="+mn-ea"/>
                        <a:cs typeface="+mn-cs"/>
                      </a:endParaRPr>
                    </a:p>
                    <a:p>
                      <a:pPr algn="ctr"/>
                      <a:endParaRPr lang="en-US" altLang="zh-TW" sz="2000" b="1" kern="1200" dirty="0">
                        <a:solidFill>
                          <a:srgbClr val="002060"/>
                        </a:solidFill>
                        <a:effectLst/>
                        <a:latin typeface="+mn-ea"/>
                        <a:ea typeface="+mn-ea"/>
                        <a:cs typeface="+mn-cs"/>
                      </a:endParaRPr>
                    </a:p>
                    <a:p>
                      <a:pPr algn="ctr"/>
                      <a:r>
                        <a:rPr lang="zh-TW" altLang="zh-TW" sz="2000" b="1" kern="1200" dirty="0">
                          <a:solidFill>
                            <a:srgbClr val="002060"/>
                          </a:solidFill>
                          <a:effectLst/>
                          <a:latin typeface="+mn-ea"/>
                          <a:ea typeface="+mn-ea"/>
                          <a:cs typeface="+mn-cs"/>
                        </a:rPr>
                        <a:t>家庭成員有不利處境需要接受協助</a:t>
                      </a:r>
                      <a:endParaRPr lang="zh-TW" altLang="en-US" sz="2000" b="1" dirty="0">
                        <a:solidFill>
                          <a:srgbClr val="002060"/>
                        </a:solidFill>
                        <a:latin typeface="+mn-ea"/>
                        <a:ea typeface="+mn-ea"/>
                      </a:endParaRPr>
                    </a:p>
                  </a:txBody>
                  <a:tcPr/>
                </a:tc>
                <a:tc>
                  <a:txBody>
                    <a:bodyPr/>
                    <a:lstStyle/>
                    <a:p>
                      <a:pPr marL="0" marR="0" lvl="0" indent="0" algn="l" defTabSz="914400" rtl="0" eaLnBrk="1" fontAlgn="auto" latinLnBrk="0" hangingPunct="1">
                        <a:lnSpc>
                          <a:spcPct val="200000"/>
                        </a:lnSpc>
                        <a:spcBef>
                          <a:spcPts val="0"/>
                        </a:spcBef>
                        <a:spcAft>
                          <a:spcPts val="0"/>
                        </a:spcAft>
                        <a:buClrTx/>
                        <a:buSzTx/>
                        <a:buFont typeface="+mj-ea"/>
                        <a:buNone/>
                        <a:tabLst/>
                        <a:defRPr/>
                      </a:pPr>
                      <a:r>
                        <a:rPr lang="en-US" altLang="zh-TW" sz="2000" kern="100" dirty="0">
                          <a:solidFill>
                            <a:srgbClr val="002060"/>
                          </a:solidFill>
                          <a:effectLst/>
                          <a:latin typeface="+mn-ea"/>
                          <a:ea typeface="+mn-ea"/>
                          <a:cs typeface="Times New Roman" panose="02020603050405020304" pitchFamily="18" charset="0"/>
                        </a:rPr>
                        <a:t>(</a:t>
                      </a:r>
                      <a:r>
                        <a:rPr lang="zh-TW" altLang="en-US" sz="2000" kern="100" dirty="0">
                          <a:solidFill>
                            <a:srgbClr val="002060"/>
                          </a:solidFill>
                          <a:effectLst/>
                          <a:latin typeface="+mn-ea"/>
                          <a:ea typeface="+mn-ea"/>
                          <a:cs typeface="Times New Roman" panose="02020603050405020304" pitchFamily="18" charset="0"/>
                        </a:rPr>
                        <a:t>一</a:t>
                      </a:r>
                      <a:r>
                        <a:rPr lang="en-US" altLang="zh-TW" sz="2000" kern="100" dirty="0">
                          <a:solidFill>
                            <a:srgbClr val="002060"/>
                          </a:solidFill>
                          <a:effectLst/>
                          <a:latin typeface="+mn-ea"/>
                          <a:ea typeface="+mn-ea"/>
                          <a:cs typeface="Times New Roman" panose="02020603050405020304" pitchFamily="18" charset="0"/>
                        </a:rPr>
                        <a:t>)</a:t>
                      </a:r>
                      <a:r>
                        <a:rPr lang="zh-TW" altLang="en-US" sz="2000" kern="100" dirty="0">
                          <a:solidFill>
                            <a:srgbClr val="002060"/>
                          </a:solidFill>
                          <a:effectLst/>
                          <a:latin typeface="+mn-ea"/>
                          <a:ea typeface="+mn-ea"/>
                          <a:cs typeface="Times New Roman" panose="02020603050405020304" pitchFamily="18" charset="0"/>
                        </a:rPr>
                        <a:t>家庭成員生活自理能力薄弱或其他不利因素，致有特殊照顧或服務需求</a:t>
                      </a:r>
                      <a:endParaRPr lang="zh-TW" altLang="zh-TW" sz="2000" kern="100" dirty="0">
                        <a:solidFill>
                          <a:srgbClr val="002060"/>
                        </a:solidFill>
                        <a:effectLst/>
                        <a:latin typeface="+mn-ea"/>
                        <a:ea typeface="+mn-ea"/>
                        <a:cs typeface="Times New Roman" panose="02020603050405020304" pitchFamily="18" charset="0"/>
                      </a:endParaRPr>
                    </a:p>
                    <a:p>
                      <a:pPr marL="0" lvl="0" indent="0" algn="l">
                        <a:lnSpc>
                          <a:spcPct val="200000"/>
                        </a:lnSpc>
                        <a:spcAft>
                          <a:spcPts val="0"/>
                        </a:spcAft>
                        <a:buFont typeface="+mj-ea"/>
                        <a:buNone/>
                      </a:pPr>
                      <a:r>
                        <a:rPr lang="en-US" altLang="zh-TW" sz="2000" kern="100" dirty="0">
                          <a:solidFill>
                            <a:srgbClr val="002060"/>
                          </a:solidFill>
                          <a:effectLst/>
                          <a:latin typeface="+mn-ea"/>
                          <a:ea typeface="+mn-ea"/>
                          <a:cs typeface="Times New Roman" panose="02020603050405020304" pitchFamily="18" charset="0"/>
                        </a:rPr>
                        <a:t>(</a:t>
                      </a:r>
                      <a:endParaRPr lang="zh-TW" sz="2000" kern="100" dirty="0">
                        <a:solidFill>
                          <a:srgbClr val="002060"/>
                        </a:solidFill>
                        <a:effectLst/>
                        <a:latin typeface="+mn-ea"/>
                        <a:ea typeface="+mn-ea"/>
                        <a:cs typeface="Times New Roman" panose="02020603050405020304" pitchFamily="18" charset="0"/>
                      </a:endParaRPr>
                    </a:p>
                  </a:txBody>
                  <a:tcPr marL="68580" marR="68580" marT="0" marB="0" anchor="ctr"/>
                </a:tc>
                <a:tc>
                  <a:txBody>
                    <a:bodyPr/>
                    <a:lstStyle/>
                    <a:p>
                      <a:endParaRPr lang="en-US" altLang="zh-TW" sz="2000" kern="1200" dirty="0">
                        <a:solidFill>
                          <a:srgbClr val="002060"/>
                        </a:solidFill>
                        <a:effectLst/>
                        <a:latin typeface="+mn-ea"/>
                        <a:ea typeface="+mn-ea"/>
                        <a:cs typeface="+mn-cs"/>
                      </a:endParaRPr>
                    </a:p>
                    <a:p>
                      <a:r>
                        <a:rPr lang="zh-TW" altLang="zh-TW" sz="2000" kern="1200" dirty="0">
                          <a:solidFill>
                            <a:srgbClr val="002060"/>
                          </a:solidFill>
                          <a:effectLst/>
                          <a:latin typeface="+mn-ea"/>
                          <a:ea typeface="+mn-ea"/>
                          <a:cs typeface="+mn-cs"/>
                        </a:rPr>
                        <a:t>有關失能、失智或身心障礙，應優先由長照管理系統及身心障礙服務系統服務。其餘有生活自理能力薄弱或其他不利因素，致有特殊照顧或服務需求。</a:t>
                      </a:r>
                      <a:endParaRPr lang="zh-TW" altLang="en-US" sz="2000" dirty="0">
                        <a:solidFill>
                          <a:srgbClr val="002060"/>
                        </a:solidFill>
                        <a:latin typeface="+mn-ea"/>
                        <a:ea typeface="+mn-ea"/>
                      </a:endParaRPr>
                    </a:p>
                  </a:txBody>
                  <a:tcPr/>
                </a:tc>
                <a:extLst>
                  <a:ext uri="{0D108BD9-81ED-4DB2-BD59-A6C34878D82A}">
                    <a16:rowId xmlns:a16="http://schemas.microsoft.com/office/drawing/2014/main" val="378104747"/>
                  </a:ext>
                </a:extLst>
              </a:tr>
              <a:tr h="1777399">
                <a:tc vMerge="1">
                  <a:txBody>
                    <a:bodyPr/>
                    <a:lstStyle/>
                    <a:p>
                      <a:endParaRPr lang="zh-TW" altLang="en-US" dirty="0"/>
                    </a:p>
                  </a:txBody>
                  <a:tcPr/>
                </a:tc>
                <a:tc vMerge="1">
                  <a:txBody>
                    <a:bodyPr/>
                    <a:lstStyle/>
                    <a:p>
                      <a:endParaRPr lang="zh-TW" altLang="en-US" dirty="0"/>
                    </a:p>
                  </a:txBody>
                  <a:tcPr/>
                </a:tc>
                <a:tc>
                  <a:txBody>
                    <a:bodyPr/>
                    <a:lstStyle/>
                    <a:p>
                      <a:pPr algn="l">
                        <a:lnSpc>
                          <a:spcPct val="200000"/>
                        </a:lnSpc>
                      </a:pPr>
                      <a:r>
                        <a:rPr lang="en-US" altLang="zh-TW" sz="2000" dirty="0">
                          <a:solidFill>
                            <a:srgbClr val="002060"/>
                          </a:solidFill>
                          <a:latin typeface="+mn-ea"/>
                          <a:ea typeface="+mn-ea"/>
                        </a:rPr>
                        <a:t>(</a:t>
                      </a:r>
                      <a:r>
                        <a:rPr lang="zh-TW" altLang="en-US" sz="2000" dirty="0">
                          <a:solidFill>
                            <a:srgbClr val="002060"/>
                          </a:solidFill>
                          <a:latin typeface="+mn-ea"/>
                          <a:ea typeface="+mn-ea"/>
                        </a:rPr>
                        <a:t>二</a:t>
                      </a:r>
                      <a:r>
                        <a:rPr lang="en-US" altLang="zh-TW" sz="2000" dirty="0">
                          <a:solidFill>
                            <a:srgbClr val="002060"/>
                          </a:solidFill>
                          <a:latin typeface="+mn-ea"/>
                          <a:ea typeface="+mn-ea"/>
                        </a:rPr>
                        <a:t>)</a:t>
                      </a:r>
                      <a:r>
                        <a:rPr lang="zh-TW" altLang="en-US" sz="2000" dirty="0">
                          <a:solidFill>
                            <a:srgbClr val="002060"/>
                          </a:solidFill>
                          <a:latin typeface="+mn-ea"/>
                          <a:ea typeface="+mn-ea"/>
                        </a:rPr>
                        <a:t>疑似或罹患精神疾病致有特殊照顧或服務需求</a:t>
                      </a:r>
                    </a:p>
                  </a:txBody>
                  <a:tcPr/>
                </a:tc>
                <a:tc>
                  <a:txBody>
                    <a:bodyPr/>
                    <a:lstStyle/>
                    <a:p>
                      <a:r>
                        <a:rPr lang="en-US" altLang="zh-TW" sz="2000" kern="1200" dirty="0">
                          <a:solidFill>
                            <a:srgbClr val="002060"/>
                          </a:solidFill>
                          <a:effectLst/>
                          <a:latin typeface="+mn-ea"/>
                          <a:ea typeface="+mn-ea"/>
                          <a:cs typeface="+mn-cs"/>
                        </a:rPr>
                        <a:t>1.</a:t>
                      </a:r>
                      <a:r>
                        <a:rPr lang="zh-TW" altLang="en-US" sz="2000" kern="1200" dirty="0">
                          <a:solidFill>
                            <a:srgbClr val="002060"/>
                          </a:solidFill>
                          <a:effectLst/>
                          <a:latin typeface="+mn-ea"/>
                          <a:ea typeface="+mn-ea"/>
                          <a:cs typeface="+mn-cs"/>
                        </a:rPr>
                        <a:t>疑似或罹患精神疾病致家庭成員無力照顧，或影響家庭成員日常生活。</a:t>
                      </a:r>
                    </a:p>
                    <a:p>
                      <a:endParaRPr lang="en-US" altLang="zh-TW" sz="2000" kern="1200" dirty="0">
                        <a:solidFill>
                          <a:srgbClr val="002060"/>
                        </a:solidFill>
                        <a:effectLst/>
                        <a:latin typeface="+mn-ea"/>
                        <a:ea typeface="+mn-ea"/>
                        <a:cs typeface="+mn-cs"/>
                      </a:endParaRPr>
                    </a:p>
                    <a:p>
                      <a:r>
                        <a:rPr lang="en-US" altLang="zh-TW" sz="2000" kern="1200" dirty="0">
                          <a:solidFill>
                            <a:srgbClr val="002060"/>
                          </a:solidFill>
                          <a:effectLst/>
                          <a:latin typeface="+mn-ea"/>
                          <a:ea typeface="+mn-ea"/>
                          <a:cs typeface="+mn-cs"/>
                        </a:rPr>
                        <a:t>2.</a:t>
                      </a:r>
                      <a:r>
                        <a:rPr lang="zh-TW" altLang="en-US" sz="2000" kern="1200" dirty="0">
                          <a:solidFill>
                            <a:srgbClr val="002060"/>
                          </a:solidFill>
                          <a:effectLst/>
                          <a:latin typeface="+mn-ea"/>
                          <a:ea typeface="+mn-ea"/>
                          <a:cs typeface="+mn-cs"/>
                        </a:rPr>
                        <a:t>有醫療照顧需求，應同步連結或轉介各地衛生單位。</a:t>
                      </a:r>
                    </a:p>
                  </a:txBody>
                  <a:tcPr/>
                </a:tc>
                <a:extLst>
                  <a:ext uri="{0D108BD9-81ED-4DB2-BD59-A6C34878D82A}">
                    <a16:rowId xmlns:a16="http://schemas.microsoft.com/office/drawing/2014/main" val="1013739305"/>
                  </a:ext>
                </a:extLst>
              </a:tr>
              <a:tr h="1192442">
                <a:tc vMerge="1">
                  <a:txBody>
                    <a:bodyPr/>
                    <a:lstStyle/>
                    <a:p>
                      <a:endParaRPr lang="zh-TW" altLang="en-US" dirty="0"/>
                    </a:p>
                  </a:txBody>
                  <a:tcPr/>
                </a:tc>
                <a:tc vMerge="1">
                  <a:txBody>
                    <a:bodyPr/>
                    <a:lstStyle/>
                    <a:p>
                      <a:endParaRPr lang="zh-TW" altLang="en-US" dirty="0"/>
                    </a:p>
                  </a:txBody>
                  <a:tcPr/>
                </a:tc>
                <a:tc>
                  <a:txBody>
                    <a:bodyPr/>
                    <a:lstStyle/>
                    <a:p>
                      <a:pPr algn="l">
                        <a:lnSpc>
                          <a:spcPct val="200000"/>
                        </a:lnSpc>
                      </a:pPr>
                      <a:r>
                        <a:rPr lang="en-US" altLang="zh-TW" sz="2000" dirty="0">
                          <a:solidFill>
                            <a:srgbClr val="002060"/>
                          </a:solidFill>
                          <a:latin typeface="+mn-ea"/>
                          <a:ea typeface="+mn-ea"/>
                        </a:rPr>
                        <a:t>(</a:t>
                      </a:r>
                      <a:r>
                        <a:rPr lang="zh-TW" altLang="en-US" sz="2000" dirty="0">
                          <a:solidFill>
                            <a:srgbClr val="002060"/>
                          </a:solidFill>
                          <a:latin typeface="+mn-ea"/>
                          <a:ea typeface="+mn-ea"/>
                        </a:rPr>
                        <a:t>三</a:t>
                      </a:r>
                      <a:r>
                        <a:rPr lang="en-US" altLang="zh-TW" sz="2000" dirty="0">
                          <a:solidFill>
                            <a:srgbClr val="002060"/>
                          </a:solidFill>
                          <a:latin typeface="+mn-ea"/>
                          <a:ea typeface="+mn-ea"/>
                        </a:rPr>
                        <a:t>)</a:t>
                      </a:r>
                      <a:r>
                        <a:rPr lang="zh-TW" altLang="en-US" sz="2000" dirty="0">
                          <a:solidFill>
                            <a:srgbClr val="002060"/>
                          </a:solidFill>
                          <a:latin typeface="+mn-ea"/>
                          <a:ea typeface="+mn-ea"/>
                        </a:rPr>
                        <a:t>酒癮、藥癮等成癮性行為致有特殊照顧或服務需求</a:t>
                      </a:r>
                    </a:p>
                  </a:txBody>
                  <a:tcPr/>
                </a:tc>
                <a:tc>
                  <a:txBody>
                    <a:bodyPr/>
                    <a:lstStyle/>
                    <a:p>
                      <a:r>
                        <a:rPr lang="en-US" altLang="zh-TW" sz="2000" kern="1200" dirty="0">
                          <a:solidFill>
                            <a:srgbClr val="002060"/>
                          </a:solidFill>
                          <a:effectLst/>
                          <a:latin typeface="+mn-ea"/>
                          <a:ea typeface="+mn-ea"/>
                          <a:cs typeface="+mn-cs"/>
                        </a:rPr>
                        <a:t>1.</a:t>
                      </a:r>
                      <a:r>
                        <a:rPr lang="zh-TW" altLang="zh-TW" sz="2000" kern="1200" dirty="0">
                          <a:solidFill>
                            <a:srgbClr val="002060"/>
                          </a:solidFill>
                          <a:effectLst/>
                          <a:latin typeface="+mn-ea"/>
                          <a:ea typeface="+mn-ea"/>
                          <a:cs typeface="+mn-cs"/>
                        </a:rPr>
                        <a:t>使用具成癮性、濫用性等麻醉藥品或酒精致家庭成員無力照顧、未獲適當照顧，或影響家庭成員之日常生活。</a:t>
                      </a:r>
                    </a:p>
                    <a:p>
                      <a:r>
                        <a:rPr lang="en-US" altLang="zh-TW" sz="2000" kern="1200" dirty="0">
                          <a:solidFill>
                            <a:srgbClr val="002060"/>
                          </a:solidFill>
                          <a:effectLst/>
                          <a:latin typeface="+mn-ea"/>
                          <a:ea typeface="+mn-ea"/>
                          <a:cs typeface="+mn-cs"/>
                        </a:rPr>
                        <a:t>2.</a:t>
                      </a:r>
                      <a:r>
                        <a:rPr lang="zh-TW" altLang="zh-TW" sz="2000" kern="1200" dirty="0">
                          <a:solidFill>
                            <a:srgbClr val="002060"/>
                          </a:solidFill>
                          <a:effectLst/>
                          <a:latin typeface="+mn-ea"/>
                          <a:ea typeface="+mn-ea"/>
                          <a:cs typeface="+mn-cs"/>
                        </a:rPr>
                        <a:t>有醫療照顧或戒癮服務需求，應同步連結或轉介各地衛生單位。</a:t>
                      </a:r>
                      <a:endParaRPr lang="zh-TW" altLang="en-US" sz="2000" dirty="0">
                        <a:solidFill>
                          <a:srgbClr val="002060"/>
                        </a:solidFill>
                        <a:latin typeface="+mn-ea"/>
                        <a:ea typeface="+mn-ea"/>
                      </a:endParaRPr>
                    </a:p>
                  </a:txBody>
                  <a:tcPr/>
                </a:tc>
                <a:extLst>
                  <a:ext uri="{0D108BD9-81ED-4DB2-BD59-A6C34878D82A}">
                    <a16:rowId xmlns:a16="http://schemas.microsoft.com/office/drawing/2014/main" val="3530312500"/>
                  </a:ext>
                </a:extLst>
              </a:tr>
            </a:tbl>
          </a:graphicData>
        </a:graphic>
      </p:graphicFrame>
    </p:spTree>
    <p:extLst>
      <p:ext uri="{BB962C8B-B14F-4D97-AF65-F5344CB8AC3E}">
        <p14:creationId xmlns:p14="http://schemas.microsoft.com/office/powerpoint/2010/main" val="17730205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3E50A2-DC22-4C85-B792-EBA4CDBEDBA5}"/>
              </a:ext>
            </a:extLst>
          </p:cNvPr>
          <p:cNvSpPr>
            <a:spLocks noGrp="1"/>
          </p:cNvSpPr>
          <p:nvPr>
            <p:ph type="title"/>
          </p:nvPr>
        </p:nvSpPr>
        <p:spPr>
          <a:xfrm>
            <a:off x="1295400" y="115042"/>
            <a:ext cx="9601200" cy="1589567"/>
          </a:xfrm>
        </p:spPr>
        <p:txBody>
          <a:bodyPr>
            <a:normAutofit/>
          </a:bodyPr>
          <a:lstStyle/>
          <a:p>
            <a:r>
              <a:rPr lang="zh-TW" altLang="en-US" dirty="0">
                <a:solidFill>
                  <a:srgbClr val="C00000"/>
                </a:solidFill>
              </a:rPr>
              <a:t>脆弱家庭</a:t>
            </a:r>
            <a:r>
              <a:rPr lang="zh-TW" altLang="zh-TW" dirty="0">
                <a:solidFill>
                  <a:srgbClr val="C00000"/>
                </a:solidFill>
              </a:rPr>
              <a:t>需求面向與脆弱性因子</a:t>
            </a:r>
            <a:r>
              <a:rPr lang="en-US" altLang="zh-TW" dirty="0">
                <a:solidFill>
                  <a:srgbClr val="C00000"/>
                </a:solidFill>
              </a:rPr>
              <a:t>6</a:t>
            </a:r>
            <a:br>
              <a:rPr lang="zh-TW" altLang="zh-TW" dirty="0"/>
            </a:br>
            <a:endParaRPr lang="zh-TW" altLang="en-US" dirty="0">
              <a:solidFill>
                <a:srgbClr val="C00000"/>
              </a:solidFill>
            </a:endParaRPr>
          </a:p>
        </p:txBody>
      </p:sp>
      <p:graphicFrame>
        <p:nvGraphicFramePr>
          <p:cNvPr id="8" name="表格 8">
            <a:extLst>
              <a:ext uri="{FF2B5EF4-FFF2-40B4-BE49-F238E27FC236}">
                <a16:creationId xmlns:a16="http://schemas.microsoft.com/office/drawing/2014/main" id="{3CA1A690-6E56-4C72-A0B5-803FFFE7CEC3}"/>
              </a:ext>
            </a:extLst>
          </p:cNvPr>
          <p:cNvGraphicFramePr>
            <a:graphicFrameLocks noGrp="1"/>
          </p:cNvGraphicFramePr>
          <p:nvPr/>
        </p:nvGraphicFramePr>
        <p:xfrm>
          <a:off x="318978" y="824764"/>
          <a:ext cx="11727711" cy="5894304"/>
        </p:xfrm>
        <a:graphic>
          <a:graphicData uri="http://schemas.openxmlformats.org/drawingml/2006/table">
            <a:tbl>
              <a:tblPr firstRow="1" bandRow="1">
                <a:tableStyleId>{7DF18680-E054-41AD-8BC1-D1AEF772440D}</a:tableStyleId>
              </a:tblPr>
              <a:tblGrid>
                <a:gridCol w="579513">
                  <a:extLst>
                    <a:ext uri="{9D8B030D-6E8A-4147-A177-3AD203B41FA5}">
                      <a16:colId xmlns:a16="http://schemas.microsoft.com/office/drawing/2014/main" val="1638113567"/>
                    </a:ext>
                  </a:extLst>
                </a:gridCol>
                <a:gridCol w="1508887">
                  <a:extLst>
                    <a:ext uri="{9D8B030D-6E8A-4147-A177-3AD203B41FA5}">
                      <a16:colId xmlns:a16="http://schemas.microsoft.com/office/drawing/2014/main" val="2878880668"/>
                    </a:ext>
                  </a:extLst>
                </a:gridCol>
                <a:gridCol w="2206550">
                  <a:extLst>
                    <a:ext uri="{9D8B030D-6E8A-4147-A177-3AD203B41FA5}">
                      <a16:colId xmlns:a16="http://schemas.microsoft.com/office/drawing/2014/main" val="3799684449"/>
                    </a:ext>
                  </a:extLst>
                </a:gridCol>
                <a:gridCol w="7432761">
                  <a:extLst>
                    <a:ext uri="{9D8B030D-6E8A-4147-A177-3AD203B41FA5}">
                      <a16:colId xmlns:a16="http://schemas.microsoft.com/office/drawing/2014/main" val="83651683"/>
                    </a:ext>
                  </a:extLst>
                </a:gridCol>
              </a:tblGrid>
              <a:tr h="619031">
                <a:tc>
                  <a:txBody>
                    <a:bodyPr/>
                    <a:lstStyle/>
                    <a:p>
                      <a:pPr algn="l"/>
                      <a:r>
                        <a:rPr lang="zh-TW" altLang="zh-TW" sz="2000" b="0" kern="1200" dirty="0">
                          <a:solidFill>
                            <a:schemeClr val="lt1"/>
                          </a:solidFill>
                          <a:effectLst/>
                          <a:latin typeface="+mn-lt"/>
                          <a:ea typeface="+mn-ea"/>
                          <a:cs typeface="+mn-cs"/>
                        </a:rPr>
                        <a:t>項次</a:t>
                      </a:r>
                      <a:endParaRPr lang="zh-TW" altLang="en-US" sz="2000" b="0" dirty="0"/>
                    </a:p>
                  </a:txBody>
                  <a:tcPr vert="eaVert"/>
                </a:tc>
                <a:tc>
                  <a:txBody>
                    <a:bodyPr/>
                    <a:lstStyle/>
                    <a:p>
                      <a:r>
                        <a:rPr lang="zh-TW" altLang="zh-TW" sz="2000" b="0" kern="1200" dirty="0">
                          <a:solidFill>
                            <a:schemeClr val="lt1"/>
                          </a:solidFill>
                          <a:effectLst/>
                          <a:latin typeface="+mn-lt"/>
                          <a:ea typeface="+mn-ea"/>
                          <a:cs typeface="+mn-cs"/>
                        </a:rPr>
                        <a:t>需求面向</a:t>
                      </a:r>
                      <a:endParaRPr lang="zh-TW" altLang="en-US" sz="2000" b="0" dirty="0"/>
                    </a:p>
                  </a:txBody>
                  <a:tcPr/>
                </a:tc>
                <a:tc>
                  <a:txBody>
                    <a:bodyPr/>
                    <a:lstStyle/>
                    <a:p>
                      <a:r>
                        <a:rPr lang="zh-TW" altLang="zh-TW" sz="2000" b="0" kern="1200" dirty="0">
                          <a:solidFill>
                            <a:schemeClr val="lt1"/>
                          </a:solidFill>
                          <a:effectLst/>
                          <a:latin typeface="+mn-lt"/>
                          <a:ea typeface="+mn-ea"/>
                          <a:cs typeface="+mn-cs"/>
                        </a:rPr>
                        <a:t>脆弱性因子</a:t>
                      </a:r>
                      <a:endParaRPr lang="zh-TW" altLang="en-US" sz="2000" b="0" dirty="0"/>
                    </a:p>
                  </a:txBody>
                  <a:tcPr/>
                </a:tc>
                <a:tc>
                  <a:txBody>
                    <a:bodyPr/>
                    <a:lstStyle/>
                    <a:p>
                      <a:r>
                        <a:rPr lang="zh-TW" altLang="zh-TW" sz="2000" b="0" kern="1200" dirty="0">
                          <a:solidFill>
                            <a:schemeClr val="lt1"/>
                          </a:solidFill>
                          <a:effectLst/>
                          <a:latin typeface="+mn-lt"/>
                          <a:ea typeface="+mn-ea"/>
                          <a:cs typeface="+mn-cs"/>
                        </a:rPr>
                        <a:t>參考樣態</a:t>
                      </a:r>
                      <a:endParaRPr lang="zh-TW" altLang="en-US" sz="2000" b="0" dirty="0"/>
                    </a:p>
                  </a:txBody>
                  <a:tcPr/>
                </a:tc>
                <a:extLst>
                  <a:ext uri="{0D108BD9-81ED-4DB2-BD59-A6C34878D82A}">
                    <a16:rowId xmlns:a16="http://schemas.microsoft.com/office/drawing/2014/main" val="4194034937"/>
                  </a:ext>
                </a:extLst>
              </a:tr>
              <a:tr h="2745433">
                <a:tc rowSpan="2">
                  <a:txBody>
                    <a:bodyPr/>
                    <a:lstStyle/>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endParaRPr lang="en-US" altLang="zh-TW" sz="2000" b="1" dirty="0">
                        <a:solidFill>
                          <a:srgbClr val="002060"/>
                        </a:solidFill>
                        <a:latin typeface="+mn-ea"/>
                        <a:ea typeface="+mn-ea"/>
                      </a:endParaRPr>
                    </a:p>
                    <a:p>
                      <a:pPr algn="ctr"/>
                      <a:r>
                        <a:rPr lang="zh-TW" altLang="en-US" sz="2000" b="1" dirty="0">
                          <a:solidFill>
                            <a:srgbClr val="002060"/>
                          </a:solidFill>
                          <a:latin typeface="+mn-ea"/>
                          <a:ea typeface="+mn-ea"/>
                        </a:rPr>
                        <a:t>六</a:t>
                      </a:r>
                    </a:p>
                  </a:txBody>
                  <a:tcPr/>
                </a:tc>
                <a:tc rowSpan="2">
                  <a:txBody>
                    <a:bodyPr/>
                    <a:lstStyle/>
                    <a:p>
                      <a:pPr algn="l"/>
                      <a:endParaRPr lang="en-US" altLang="zh-TW" sz="2000" b="1" kern="1200" dirty="0">
                        <a:solidFill>
                          <a:srgbClr val="002060"/>
                        </a:solidFill>
                        <a:effectLst/>
                        <a:latin typeface="+mn-ea"/>
                        <a:ea typeface="+mn-ea"/>
                        <a:cs typeface="+mn-cs"/>
                      </a:endParaRPr>
                    </a:p>
                    <a:p>
                      <a:pPr algn="l"/>
                      <a:endParaRPr lang="en-US" altLang="zh-TW" sz="2000" b="1" kern="1200" dirty="0">
                        <a:solidFill>
                          <a:srgbClr val="002060"/>
                        </a:solidFill>
                        <a:effectLst/>
                        <a:latin typeface="+mn-ea"/>
                        <a:ea typeface="+mn-ea"/>
                        <a:cs typeface="+mn-cs"/>
                      </a:endParaRPr>
                    </a:p>
                    <a:p>
                      <a:pPr algn="l"/>
                      <a:endParaRPr lang="en-US" altLang="zh-TW" sz="2000" b="1" kern="1200" dirty="0">
                        <a:solidFill>
                          <a:srgbClr val="002060"/>
                        </a:solidFill>
                        <a:effectLst/>
                        <a:latin typeface="+mn-ea"/>
                        <a:ea typeface="+mn-ea"/>
                        <a:cs typeface="+mn-cs"/>
                      </a:endParaRPr>
                    </a:p>
                    <a:p>
                      <a:pPr algn="l"/>
                      <a:endParaRPr lang="en-US" altLang="zh-TW" sz="2000" b="1" kern="1200" dirty="0">
                        <a:solidFill>
                          <a:srgbClr val="002060"/>
                        </a:solidFill>
                        <a:effectLst/>
                        <a:latin typeface="+mn-ea"/>
                        <a:ea typeface="+mn-ea"/>
                        <a:cs typeface="+mn-cs"/>
                      </a:endParaRPr>
                    </a:p>
                    <a:p>
                      <a:pPr algn="l"/>
                      <a:endParaRPr lang="en-US" altLang="zh-TW" sz="2000" b="1" kern="1200" dirty="0">
                        <a:solidFill>
                          <a:srgbClr val="002060"/>
                        </a:solidFill>
                        <a:effectLst/>
                        <a:latin typeface="+mn-ea"/>
                        <a:ea typeface="+mn-ea"/>
                        <a:cs typeface="+mn-cs"/>
                      </a:endParaRPr>
                    </a:p>
                    <a:p>
                      <a:pPr algn="l"/>
                      <a:endParaRPr lang="en-US" altLang="zh-TW" sz="2000" b="1" kern="1200" dirty="0">
                        <a:solidFill>
                          <a:srgbClr val="002060"/>
                        </a:solidFill>
                        <a:effectLst/>
                        <a:latin typeface="+mn-ea"/>
                        <a:ea typeface="+mn-ea"/>
                        <a:cs typeface="+mn-cs"/>
                      </a:endParaRPr>
                    </a:p>
                    <a:p>
                      <a:pPr algn="l"/>
                      <a:r>
                        <a:rPr lang="zh-TW" altLang="zh-TW" sz="2000" b="1" kern="1200" dirty="0">
                          <a:solidFill>
                            <a:srgbClr val="002060"/>
                          </a:solidFill>
                          <a:effectLst/>
                          <a:latin typeface="+mn-lt"/>
                          <a:ea typeface="+mn-ea"/>
                          <a:cs typeface="+mn-cs"/>
                        </a:rPr>
                        <a:t>因個人生活適應困難需要接受協助</a:t>
                      </a:r>
                      <a:endParaRPr lang="zh-TW" altLang="en-US" sz="2000" b="1" dirty="0">
                        <a:solidFill>
                          <a:srgbClr val="002060"/>
                        </a:solidFill>
                        <a:latin typeface="+mn-ea"/>
                        <a:ea typeface="+mn-ea"/>
                      </a:endParaRPr>
                    </a:p>
                  </a:txBody>
                  <a:tcPr/>
                </a:tc>
                <a:tc>
                  <a:txBody>
                    <a:bodyPr/>
                    <a:lstStyle/>
                    <a:p>
                      <a:pPr marL="0" lvl="0" indent="0" algn="l">
                        <a:lnSpc>
                          <a:spcPct val="200000"/>
                        </a:lnSpc>
                        <a:spcAft>
                          <a:spcPts val="0"/>
                        </a:spcAft>
                        <a:buFont typeface="+mj-ea"/>
                        <a:buNone/>
                      </a:pPr>
                      <a:r>
                        <a:rPr lang="en-US" altLang="zh-TW" sz="2000" kern="1200" dirty="0">
                          <a:solidFill>
                            <a:srgbClr val="002060"/>
                          </a:solidFill>
                          <a:effectLst/>
                          <a:latin typeface="+mn-ea"/>
                          <a:ea typeface="+mn-ea"/>
                          <a:cs typeface="+mn-cs"/>
                        </a:rPr>
                        <a:t>(</a:t>
                      </a:r>
                      <a:r>
                        <a:rPr lang="zh-TW" altLang="en-US" sz="2000" kern="1200" dirty="0">
                          <a:solidFill>
                            <a:srgbClr val="002060"/>
                          </a:solidFill>
                          <a:effectLst/>
                          <a:latin typeface="+mn-ea"/>
                          <a:ea typeface="+mn-ea"/>
                          <a:cs typeface="+mn-cs"/>
                        </a:rPr>
                        <a:t>一</a:t>
                      </a:r>
                      <a:r>
                        <a:rPr lang="en-US" altLang="zh-TW" sz="2000" kern="1200" dirty="0">
                          <a:solidFill>
                            <a:srgbClr val="002060"/>
                          </a:solidFill>
                          <a:effectLst/>
                          <a:latin typeface="+mn-ea"/>
                          <a:ea typeface="+mn-ea"/>
                          <a:cs typeface="+mn-cs"/>
                        </a:rPr>
                        <a:t>)</a:t>
                      </a:r>
                      <a:r>
                        <a:rPr lang="zh-TW" altLang="en-US" sz="2000" kern="1200" dirty="0">
                          <a:solidFill>
                            <a:srgbClr val="002060"/>
                          </a:solidFill>
                          <a:effectLst/>
                          <a:latin typeface="+mn-ea"/>
                          <a:ea typeface="+mn-ea"/>
                          <a:cs typeface="+mn-cs"/>
                        </a:rPr>
                        <a:t>自殺</a:t>
                      </a:r>
                      <a:r>
                        <a:rPr lang="en-US" altLang="zh-TW" sz="2000" kern="1200" dirty="0">
                          <a:solidFill>
                            <a:srgbClr val="002060"/>
                          </a:solidFill>
                          <a:effectLst/>
                          <a:latin typeface="+mn-ea"/>
                          <a:ea typeface="+mn-ea"/>
                          <a:cs typeface="+mn-cs"/>
                        </a:rPr>
                        <a:t>/</a:t>
                      </a:r>
                      <a:r>
                        <a:rPr lang="zh-TW" altLang="en-US" sz="2000" kern="1200" dirty="0">
                          <a:solidFill>
                            <a:srgbClr val="002060"/>
                          </a:solidFill>
                          <a:effectLst/>
                          <a:latin typeface="+mn-ea"/>
                          <a:ea typeface="+mn-ea"/>
                          <a:cs typeface="+mn-cs"/>
                        </a:rPr>
                        <a:t>自傷行為致有服務需求</a:t>
                      </a:r>
                      <a:endParaRPr lang="zh-TW" sz="2000" kern="100" dirty="0">
                        <a:solidFill>
                          <a:srgbClr val="002060"/>
                        </a:solidFill>
                        <a:effectLst/>
                        <a:latin typeface="+mn-ea"/>
                        <a:ea typeface="+mn-ea"/>
                        <a:cs typeface="Times New Roman" panose="02020603050405020304" pitchFamily="18" charset="0"/>
                      </a:endParaRPr>
                    </a:p>
                  </a:txBody>
                  <a:tcPr marL="68580" marR="68580" marT="0" marB="0" anchor="ctr"/>
                </a:tc>
                <a:tc>
                  <a:txBody>
                    <a:bodyPr/>
                    <a:lstStyle/>
                    <a:p>
                      <a:endParaRPr lang="en-US" altLang="zh-TW" sz="2000" kern="1200" dirty="0">
                        <a:solidFill>
                          <a:srgbClr val="002060"/>
                        </a:solidFill>
                        <a:effectLst/>
                        <a:latin typeface="+mn-lt"/>
                        <a:ea typeface="+mn-ea"/>
                        <a:cs typeface="+mn-cs"/>
                      </a:endParaRPr>
                    </a:p>
                    <a:p>
                      <a:r>
                        <a:rPr lang="en-US" altLang="zh-TW" sz="2000" kern="1200" dirty="0">
                          <a:solidFill>
                            <a:srgbClr val="002060"/>
                          </a:solidFill>
                          <a:effectLst/>
                          <a:latin typeface="+mn-lt"/>
                          <a:ea typeface="+mn-ea"/>
                          <a:cs typeface="+mn-cs"/>
                        </a:rPr>
                        <a:t>1.</a:t>
                      </a:r>
                      <a:r>
                        <a:rPr lang="zh-TW" altLang="en-US" sz="2000" kern="1200" dirty="0">
                          <a:solidFill>
                            <a:srgbClr val="002060"/>
                          </a:solidFill>
                          <a:effectLst/>
                          <a:latin typeface="+mn-lt"/>
                          <a:ea typeface="+mn-ea"/>
                          <a:cs typeface="+mn-cs"/>
                        </a:rPr>
                        <a:t>自殺或自傷行為致家庭成員無力照顧、未獲適當照顧，或影響家庭成員之日常生活。</a:t>
                      </a:r>
                    </a:p>
                    <a:p>
                      <a:endParaRPr lang="en-US" altLang="zh-TW" sz="2000" kern="1200" dirty="0">
                        <a:solidFill>
                          <a:srgbClr val="002060"/>
                        </a:solidFill>
                        <a:effectLst/>
                        <a:latin typeface="+mn-lt"/>
                        <a:ea typeface="+mn-ea"/>
                        <a:cs typeface="+mn-cs"/>
                      </a:endParaRPr>
                    </a:p>
                    <a:p>
                      <a:r>
                        <a:rPr lang="en-US" altLang="zh-TW" sz="2000" kern="1200" dirty="0">
                          <a:solidFill>
                            <a:srgbClr val="002060"/>
                          </a:solidFill>
                          <a:effectLst/>
                          <a:latin typeface="+mn-lt"/>
                          <a:ea typeface="+mn-ea"/>
                          <a:cs typeface="+mn-cs"/>
                        </a:rPr>
                        <a:t>2.</a:t>
                      </a:r>
                      <a:r>
                        <a:rPr lang="zh-TW" altLang="en-US" sz="2000" kern="1200" dirty="0">
                          <a:solidFill>
                            <a:srgbClr val="002060"/>
                          </a:solidFill>
                          <a:effectLst/>
                          <a:latin typeface="+mn-lt"/>
                          <a:ea typeface="+mn-ea"/>
                          <a:cs typeface="+mn-cs"/>
                        </a:rPr>
                        <a:t>有自傷行為，且依自殺通報之簡式健康量表</a:t>
                      </a:r>
                      <a:r>
                        <a:rPr lang="en-US" altLang="zh-TW" sz="2000" kern="1200" dirty="0">
                          <a:solidFill>
                            <a:srgbClr val="002060"/>
                          </a:solidFill>
                          <a:effectLst/>
                          <a:latin typeface="+mn-lt"/>
                          <a:ea typeface="+mn-ea"/>
                          <a:cs typeface="+mn-cs"/>
                        </a:rPr>
                        <a:t>(</a:t>
                      </a:r>
                      <a:r>
                        <a:rPr lang="zh-TW" altLang="en-US" sz="2000" kern="1200" dirty="0">
                          <a:solidFill>
                            <a:srgbClr val="002060"/>
                          </a:solidFill>
                          <a:effectLst/>
                          <a:latin typeface="+mn-lt"/>
                          <a:ea typeface="+mn-ea"/>
                          <a:cs typeface="+mn-cs"/>
                        </a:rPr>
                        <a:t>俗稱心情溫度計</a:t>
                      </a:r>
                      <a:r>
                        <a:rPr lang="en-US" altLang="zh-TW" sz="2000" kern="1200" dirty="0">
                          <a:solidFill>
                            <a:srgbClr val="002060"/>
                          </a:solidFill>
                          <a:effectLst/>
                          <a:latin typeface="+mn-lt"/>
                          <a:ea typeface="+mn-ea"/>
                          <a:cs typeface="+mn-cs"/>
                        </a:rPr>
                        <a:t>)</a:t>
                      </a:r>
                      <a:r>
                        <a:rPr lang="zh-TW" altLang="en-US" sz="2000" kern="1200" dirty="0">
                          <a:solidFill>
                            <a:srgbClr val="002060"/>
                          </a:solidFill>
                          <a:effectLst/>
                          <a:latin typeface="+mn-lt"/>
                          <a:ea typeface="+mn-ea"/>
                          <a:cs typeface="+mn-cs"/>
                        </a:rPr>
                        <a:t>分數</a:t>
                      </a:r>
                      <a:r>
                        <a:rPr lang="en-US" altLang="zh-TW" sz="2000" kern="1200" dirty="0">
                          <a:solidFill>
                            <a:srgbClr val="002060"/>
                          </a:solidFill>
                          <a:effectLst/>
                          <a:latin typeface="+mn-lt"/>
                          <a:ea typeface="+mn-ea"/>
                          <a:cs typeface="+mn-cs"/>
                        </a:rPr>
                        <a:t>10</a:t>
                      </a:r>
                      <a:r>
                        <a:rPr lang="zh-TW" altLang="en-US" sz="2000" kern="1200" dirty="0">
                          <a:solidFill>
                            <a:srgbClr val="002060"/>
                          </a:solidFill>
                          <a:effectLst/>
                          <a:latin typeface="+mn-lt"/>
                          <a:ea typeface="+mn-ea"/>
                          <a:cs typeface="+mn-cs"/>
                        </a:rPr>
                        <a:t>分以上</a:t>
                      </a:r>
                      <a:r>
                        <a:rPr lang="en-US" altLang="zh-TW" sz="2000" kern="1200" dirty="0">
                          <a:solidFill>
                            <a:srgbClr val="002060"/>
                          </a:solidFill>
                          <a:effectLst/>
                          <a:latin typeface="+mn-lt"/>
                          <a:ea typeface="+mn-ea"/>
                          <a:cs typeface="+mn-cs"/>
                        </a:rPr>
                        <a:t>(</a:t>
                      </a:r>
                      <a:r>
                        <a:rPr lang="zh-TW" altLang="en-US" sz="2000" kern="1200" dirty="0">
                          <a:solidFill>
                            <a:srgbClr val="002060"/>
                          </a:solidFill>
                          <a:effectLst/>
                          <a:latin typeface="+mn-lt"/>
                          <a:ea typeface="+mn-ea"/>
                          <a:cs typeface="+mn-cs"/>
                        </a:rPr>
                        <a:t>中重度情緒困擾</a:t>
                      </a:r>
                      <a:r>
                        <a:rPr lang="en-US" altLang="zh-TW" sz="2000" kern="1200" dirty="0">
                          <a:solidFill>
                            <a:srgbClr val="002060"/>
                          </a:solidFill>
                          <a:effectLst/>
                          <a:latin typeface="+mn-lt"/>
                          <a:ea typeface="+mn-ea"/>
                          <a:cs typeface="+mn-cs"/>
                        </a:rPr>
                        <a:t>)</a:t>
                      </a:r>
                      <a:r>
                        <a:rPr lang="zh-TW" altLang="en-US" sz="2000" kern="1200" dirty="0">
                          <a:solidFill>
                            <a:srgbClr val="002060"/>
                          </a:solidFill>
                          <a:effectLst/>
                          <a:latin typeface="+mn-lt"/>
                          <a:ea typeface="+mn-ea"/>
                          <a:cs typeface="+mn-cs"/>
                        </a:rPr>
                        <a:t>或自殺想法</a:t>
                      </a:r>
                      <a:r>
                        <a:rPr lang="en-US" altLang="zh-TW" sz="2000" kern="1200" dirty="0">
                          <a:solidFill>
                            <a:srgbClr val="002060"/>
                          </a:solidFill>
                          <a:effectLst/>
                          <a:latin typeface="+mn-lt"/>
                          <a:ea typeface="+mn-ea"/>
                          <a:cs typeface="+mn-cs"/>
                        </a:rPr>
                        <a:t>2</a:t>
                      </a:r>
                      <a:r>
                        <a:rPr lang="zh-TW" altLang="en-US" sz="2000" kern="1200" dirty="0">
                          <a:solidFill>
                            <a:srgbClr val="002060"/>
                          </a:solidFill>
                          <a:effectLst/>
                          <a:latin typeface="+mn-lt"/>
                          <a:ea typeface="+mn-ea"/>
                          <a:cs typeface="+mn-cs"/>
                        </a:rPr>
                        <a:t>分以上</a:t>
                      </a:r>
                      <a:r>
                        <a:rPr lang="en-US" altLang="zh-TW" sz="2000" kern="1200" dirty="0">
                          <a:solidFill>
                            <a:srgbClr val="002060"/>
                          </a:solidFill>
                          <a:effectLst/>
                          <a:latin typeface="+mn-lt"/>
                          <a:ea typeface="+mn-ea"/>
                          <a:cs typeface="+mn-cs"/>
                        </a:rPr>
                        <a:t>(</a:t>
                      </a:r>
                      <a:r>
                        <a:rPr lang="zh-TW" altLang="en-US" sz="2000" kern="1200" dirty="0">
                          <a:solidFill>
                            <a:srgbClr val="002060"/>
                          </a:solidFill>
                          <a:effectLst/>
                          <a:latin typeface="+mn-lt"/>
                          <a:ea typeface="+mn-ea"/>
                          <a:cs typeface="+mn-cs"/>
                        </a:rPr>
                        <a:t>中等程度</a:t>
                      </a:r>
                      <a:r>
                        <a:rPr lang="en-US" altLang="zh-TW" sz="2000" kern="1200" dirty="0">
                          <a:solidFill>
                            <a:srgbClr val="002060"/>
                          </a:solidFill>
                          <a:effectLst/>
                          <a:latin typeface="+mn-lt"/>
                          <a:ea typeface="+mn-ea"/>
                          <a:cs typeface="+mn-cs"/>
                        </a:rPr>
                        <a:t>)</a:t>
                      </a:r>
                      <a:r>
                        <a:rPr lang="zh-TW" altLang="en-US" sz="2000" kern="1200" dirty="0">
                          <a:solidFill>
                            <a:srgbClr val="002060"/>
                          </a:solidFill>
                          <a:effectLst/>
                          <a:latin typeface="+mn-lt"/>
                          <a:ea typeface="+mn-ea"/>
                          <a:cs typeface="+mn-cs"/>
                        </a:rPr>
                        <a:t>者。</a:t>
                      </a:r>
                    </a:p>
                    <a:p>
                      <a:endParaRPr lang="en-US" altLang="zh-TW" sz="2000" kern="1200" dirty="0">
                        <a:solidFill>
                          <a:srgbClr val="002060"/>
                        </a:solidFill>
                        <a:effectLst/>
                        <a:latin typeface="+mn-lt"/>
                        <a:ea typeface="+mn-ea"/>
                        <a:cs typeface="+mn-cs"/>
                      </a:endParaRPr>
                    </a:p>
                    <a:p>
                      <a:r>
                        <a:rPr lang="en-US" altLang="zh-TW" sz="2000" kern="1200" dirty="0">
                          <a:solidFill>
                            <a:srgbClr val="002060"/>
                          </a:solidFill>
                          <a:effectLst/>
                          <a:latin typeface="+mn-lt"/>
                          <a:ea typeface="+mn-ea"/>
                          <a:cs typeface="+mn-cs"/>
                        </a:rPr>
                        <a:t>3.</a:t>
                      </a:r>
                      <a:r>
                        <a:rPr lang="zh-TW" altLang="en-US" sz="2000" kern="1200" dirty="0">
                          <a:solidFill>
                            <a:srgbClr val="002060"/>
                          </a:solidFill>
                          <a:effectLst/>
                          <a:latin typeface="+mn-lt"/>
                          <a:ea typeface="+mn-ea"/>
                          <a:cs typeface="+mn-cs"/>
                        </a:rPr>
                        <a:t>於知悉有自殺行為情事時，進行自殺防治通報作業。</a:t>
                      </a:r>
                    </a:p>
                  </a:txBody>
                  <a:tcPr/>
                </a:tc>
                <a:extLst>
                  <a:ext uri="{0D108BD9-81ED-4DB2-BD59-A6C34878D82A}">
                    <a16:rowId xmlns:a16="http://schemas.microsoft.com/office/drawing/2014/main" val="378104747"/>
                  </a:ext>
                </a:extLst>
              </a:tr>
              <a:tr h="1707865">
                <a:tc vMerge="1">
                  <a:txBody>
                    <a:bodyPr/>
                    <a:lstStyle/>
                    <a:p>
                      <a:endParaRPr lang="zh-TW" altLang="en-US" dirty="0"/>
                    </a:p>
                  </a:txBody>
                  <a:tcPr/>
                </a:tc>
                <a:tc vMerge="1">
                  <a:txBody>
                    <a:bodyPr/>
                    <a:lstStyle/>
                    <a:p>
                      <a:endParaRPr lang="zh-TW" altLang="en-US" dirty="0"/>
                    </a:p>
                  </a:txBody>
                  <a:tcPr/>
                </a:tc>
                <a:tc>
                  <a:txBody>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lang="en-US" altLang="zh-TW" sz="2000" dirty="0">
                          <a:solidFill>
                            <a:srgbClr val="002060"/>
                          </a:solidFill>
                          <a:latin typeface="+mn-ea"/>
                          <a:ea typeface="+mn-ea"/>
                        </a:rPr>
                        <a:t>(</a:t>
                      </a:r>
                      <a:r>
                        <a:rPr lang="zh-TW" altLang="en-US" sz="2000" dirty="0">
                          <a:solidFill>
                            <a:srgbClr val="002060"/>
                          </a:solidFill>
                          <a:latin typeface="+mn-ea"/>
                          <a:ea typeface="+mn-ea"/>
                        </a:rPr>
                        <a:t>二</a:t>
                      </a:r>
                      <a:r>
                        <a:rPr lang="en-US" altLang="zh-TW" sz="2000" dirty="0">
                          <a:solidFill>
                            <a:srgbClr val="002060"/>
                          </a:solidFill>
                          <a:latin typeface="+mn-ea"/>
                          <a:ea typeface="+mn-ea"/>
                        </a:rPr>
                        <a:t>)</a:t>
                      </a:r>
                      <a:r>
                        <a:rPr lang="zh-TW" altLang="en-US" sz="2000" dirty="0">
                          <a:solidFill>
                            <a:srgbClr val="002060"/>
                          </a:solidFill>
                          <a:latin typeface="+mn-ea"/>
                          <a:ea typeface="+mn-ea"/>
                        </a:rPr>
                        <a:t>因社會孤立或排除的個人致有服務需求</a:t>
                      </a:r>
                    </a:p>
                  </a:txBody>
                  <a:tcPr/>
                </a:tc>
                <a:tc>
                  <a:txBody>
                    <a:bodyPr/>
                    <a:lstStyle/>
                    <a:p>
                      <a:r>
                        <a:rPr lang="en-US" altLang="zh-TW" sz="2000" kern="1200" dirty="0">
                          <a:solidFill>
                            <a:srgbClr val="002060"/>
                          </a:solidFill>
                          <a:effectLst/>
                          <a:latin typeface="+mn-lt"/>
                          <a:ea typeface="+mn-ea"/>
                          <a:cs typeface="+mn-cs"/>
                        </a:rPr>
                        <a:t>1.</a:t>
                      </a:r>
                      <a:r>
                        <a:rPr lang="zh-TW" altLang="en-US" sz="2000" kern="1200" dirty="0">
                          <a:solidFill>
                            <a:srgbClr val="002060"/>
                          </a:solidFill>
                          <a:effectLst/>
                          <a:latin typeface="+mn-lt"/>
                          <a:ea typeface="+mn-ea"/>
                          <a:cs typeface="+mn-cs"/>
                        </a:rPr>
                        <a:t>社會孤立：與他人缺乏相同的網絡或得到社會支持。</a:t>
                      </a:r>
                    </a:p>
                    <a:p>
                      <a:endParaRPr lang="en-US" altLang="zh-TW" sz="2000" kern="1200" dirty="0">
                        <a:solidFill>
                          <a:srgbClr val="002060"/>
                        </a:solidFill>
                        <a:effectLst/>
                        <a:latin typeface="+mn-lt"/>
                        <a:ea typeface="+mn-ea"/>
                        <a:cs typeface="+mn-cs"/>
                      </a:endParaRPr>
                    </a:p>
                    <a:p>
                      <a:r>
                        <a:rPr lang="en-US" altLang="zh-TW" sz="2000" kern="1200" dirty="0">
                          <a:solidFill>
                            <a:srgbClr val="002060"/>
                          </a:solidFill>
                          <a:effectLst/>
                          <a:latin typeface="+mn-lt"/>
                          <a:ea typeface="+mn-ea"/>
                          <a:cs typeface="+mn-cs"/>
                        </a:rPr>
                        <a:t>2.</a:t>
                      </a:r>
                      <a:r>
                        <a:rPr lang="zh-TW" altLang="en-US" sz="2000" kern="1200" dirty="0">
                          <a:solidFill>
                            <a:srgbClr val="002060"/>
                          </a:solidFill>
                          <a:effectLst/>
                          <a:latin typeface="+mn-lt"/>
                          <a:ea typeface="+mn-ea"/>
                          <a:cs typeface="+mn-cs"/>
                        </a:rPr>
                        <a:t>非正式資源連結薄弱：係指被社會排除的家庭或個人，缺乏和社會的接觸或溝通包含身體、社會或心理因素的排除。</a:t>
                      </a:r>
                    </a:p>
                    <a:p>
                      <a:endParaRPr lang="en-US" altLang="zh-TW" sz="2000" kern="1200" dirty="0">
                        <a:solidFill>
                          <a:srgbClr val="002060"/>
                        </a:solidFill>
                        <a:effectLst/>
                        <a:latin typeface="+mn-lt"/>
                        <a:ea typeface="+mn-ea"/>
                        <a:cs typeface="+mn-cs"/>
                      </a:endParaRPr>
                    </a:p>
                    <a:p>
                      <a:r>
                        <a:rPr lang="en-US" altLang="zh-TW" sz="2000" kern="1200" dirty="0">
                          <a:solidFill>
                            <a:srgbClr val="002060"/>
                          </a:solidFill>
                          <a:effectLst/>
                          <a:latin typeface="+mn-lt"/>
                          <a:ea typeface="+mn-ea"/>
                          <a:cs typeface="+mn-cs"/>
                        </a:rPr>
                        <a:t>3.</a:t>
                      </a:r>
                      <a:r>
                        <a:rPr lang="zh-TW" altLang="en-US" sz="2000" kern="1200" dirty="0">
                          <a:solidFill>
                            <a:srgbClr val="002060"/>
                          </a:solidFill>
                          <a:effectLst/>
                          <a:latin typeface="+mn-lt"/>
                          <a:ea typeface="+mn-ea"/>
                          <a:cs typeface="+mn-cs"/>
                        </a:rPr>
                        <a:t>缺乏親屬、朋友、社群、職場、鄰居、宗教團體、學校、</a:t>
                      </a:r>
                      <a:endParaRPr lang="en-US" altLang="zh-TW" sz="2000" kern="1200" dirty="0">
                        <a:solidFill>
                          <a:srgbClr val="002060"/>
                        </a:solidFill>
                        <a:effectLst/>
                        <a:latin typeface="+mn-lt"/>
                        <a:ea typeface="+mn-ea"/>
                        <a:cs typeface="+mn-cs"/>
                      </a:endParaRPr>
                    </a:p>
                    <a:p>
                      <a:r>
                        <a:rPr lang="zh-TW" altLang="en-US" sz="2000" kern="1200" dirty="0">
                          <a:solidFill>
                            <a:srgbClr val="002060"/>
                          </a:solidFill>
                          <a:effectLst/>
                          <a:latin typeface="+mn-lt"/>
                          <a:ea typeface="+mn-ea"/>
                          <a:cs typeface="+mn-cs"/>
                        </a:rPr>
                        <a:t>醫師、社區機構、醫療機構和其他醫療照顧及社會服務資源。</a:t>
                      </a:r>
                    </a:p>
                    <a:p>
                      <a:r>
                        <a:rPr lang="en-US" altLang="zh-TW" sz="2000" kern="1200" dirty="0">
                          <a:solidFill>
                            <a:srgbClr val="002060"/>
                          </a:solidFill>
                          <a:effectLst/>
                          <a:latin typeface="+mn-lt"/>
                          <a:ea typeface="+mn-ea"/>
                          <a:cs typeface="+mn-cs"/>
                        </a:rPr>
                        <a:t>4.</a:t>
                      </a:r>
                      <a:r>
                        <a:rPr lang="zh-TW" altLang="en-US" sz="2000" kern="1200" dirty="0">
                          <a:solidFill>
                            <a:srgbClr val="002060"/>
                          </a:solidFill>
                          <a:effectLst/>
                          <a:latin typeface="+mn-lt"/>
                          <a:ea typeface="+mn-ea"/>
                          <a:cs typeface="+mn-cs"/>
                        </a:rPr>
                        <a:t>非屬社會救助法第</a:t>
                      </a:r>
                      <a:r>
                        <a:rPr lang="en-US" altLang="zh-TW" sz="2000" kern="1200" dirty="0">
                          <a:solidFill>
                            <a:srgbClr val="002060"/>
                          </a:solidFill>
                          <a:effectLst/>
                          <a:latin typeface="+mn-lt"/>
                          <a:ea typeface="+mn-ea"/>
                          <a:cs typeface="+mn-cs"/>
                        </a:rPr>
                        <a:t>17</a:t>
                      </a:r>
                      <a:r>
                        <a:rPr lang="zh-TW" altLang="en-US" sz="2000" kern="1200" dirty="0">
                          <a:solidFill>
                            <a:srgbClr val="002060"/>
                          </a:solidFill>
                          <a:effectLst/>
                          <a:latin typeface="+mn-lt"/>
                          <a:ea typeface="+mn-ea"/>
                          <a:cs typeface="+mn-cs"/>
                        </a:rPr>
                        <a:t>條所定對象。</a:t>
                      </a:r>
                    </a:p>
                  </a:txBody>
                  <a:tcPr/>
                </a:tc>
                <a:extLst>
                  <a:ext uri="{0D108BD9-81ED-4DB2-BD59-A6C34878D82A}">
                    <a16:rowId xmlns:a16="http://schemas.microsoft.com/office/drawing/2014/main" val="3530312500"/>
                  </a:ext>
                </a:extLst>
              </a:tr>
            </a:tbl>
          </a:graphicData>
        </a:graphic>
      </p:graphicFrame>
    </p:spTree>
    <p:extLst>
      <p:ext uri="{BB962C8B-B14F-4D97-AF65-F5344CB8AC3E}">
        <p14:creationId xmlns:p14="http://schemas.microsoft.com/office/powerpoint/2010/main" val="37209571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標題 1"/>
          <p:cNvSpPr>
            <a:spLocks noGrp="1"/>
          </p:cNvSpPr>
          <p:nvPr>
            <p:ph type="title"/>
          </p:nvPr>
        </p:nvSpPr>
        <p:spPr>
          <a:xfrm>
            <a:off x="1011465" y="28727"/>
            <a:ext cx="10184190" cy="1143000"/>
          </a:xfrm>
        </p:spPr>
        <p:txBody>
          <a:bodyPr/>
          <a:lstStyle/>
          <a:p>
            <a:pPr>
              <a:defRPr/>
            </a:pPr>
            <a:endParaRPr kumimoji="1" lang="zh-TW" altLang="en-US" sz="4572" b="1" cap="all" dirty="0">
              <a:latin typeface="微軟正黑體" pitchFamily="34" charset="-120"/>
              <a:ea typeface="微軟正黑體" pitchFamily="34" charset="-120"/>
              <a:cs typeface="Times New Roman"/>
            </a:endParaRPr>
          </a:p>
        </p:txBody>
      </p:sp>
      <p:sp>
        <p:nvSpPr>
          <p:cNvPr id="19459" name="投影片編號版面配置區 3"/>
          <p:cNvSpPr>
            <a:spLocks noGrp="1" noChangeArrowheads="1"/>
          </p:cNvSpPr>
          <p:nvPr>
            <p:ph type="sldNum" sz="quarter" idx="12"/>
          </p:nvPr>
        </p:nvSpPr>
        <p:spPr bwMode="auto">
          <a:noFill/>
          <a:ln>
            <a:miter lim="800000"/>
            <a:headEnd/>
            <a:tailEnd/>
          </a:ln>
        </p:spPr>
        <p:txBody>
          <a:bodyPr/>
          <a:lstStyle/>
          <a:p>
            <a:fld id="{1CACBBEA-DAE2-45B1-9D2D-E5C9F23578C2}" type="slidenum">
              <a:rPr lang="zh-TW" altLang="en-US" smtClean="0">
                <a:latin typeface="微軟正黑體" pitchFamily="34" charset="-120"/>
                <a:ea typeface="微軟正黑體" pitchFamily="34" charset="-120"/>
              </a:rPr>
              <a:pPr/>
              <a:t>30</a:t>
            </a:fld>
            <a:endParaRPr lang="zh-TW" altLang="en-US">
              <a:latin typeface="微軟正黑體" pitchFamily="34" charset="-120"/>
              <a:ea typeface="微軟正黑體" pitchFamily="34" charset="-120"/>
            </a:endParaRPr>
          </a:p>
        </p:txBody>
      </p:sp>
      <p:sp>
        <p:nvSpPr>
          <p:cNvPr id="7" name="圓角矩形 4"/>
          <p:cNvSpPr/>
          <p:nvPr/>
        </p:nvSpPr>
        <p:spPr bwMode="auto">
          <a:xfrm>
            <a:off x="1183341" y="136525"/>
            <a:ext cx="10570206" cy="1035202"/>
          </a:xfrm>
          <a:prstGeom prst="rect">
            <a:avLst/>
          </a:prstGeom>
          <a:solidFill>
            <a:schemeClr val="tx2">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lIns="242551" tIns="0" rIns="242551" bIns="0" spcCol="1514" anchor="ctr"/>
          <a:lstStyle/>
          <a:p>
            <a:pPr algn="ctr" eaLnBrk="0" hangingPunct="0">
              <a:lnSpc>
                <a:spcPts val="3407"/>
              </a:lnSpc>
              <a:defRPr/>
            </a:pPr>
            <a:r>
              <a:rPr lang="zh-TW" altLang="en-US" sz="3200" b="1" dirty="0">
                <a:solidFill>
                  <a:schemeClr val="lt1"/>
                </a:solidFill>
                <a:latin typeface="微軟正黑體" pitchFamily="34" charset="-120"/>
                <a:ea typeface="微軟正黑體" pitchFamily="34" charset="-120"/>
              </a:rPr>
              <a:t>服務項目</a:t>
            </a:r>
            <a:endParaRPr lang="zh-TW" altLang="en-US" sz="3200" dirty="0">
              <a:latin typeface="微軟正黑體" pitchFamily="34" charset="-120"/>
              <a:ea typeface="微軟正黑體" pitchFamily="34" charset="-120"/>
            </a:endParaRPr>
          </a:p>
        </p:txBody>
      </p:sp>
      <p:graphicFrame>
        <p:nvGraphicFramePr>
          <p:cNvPr id="10" name="表格 9"/>
          <p:cNvGraphicFramePr>
            <a:graphicFrameLocks noGrp="1"/>
          </p:cNvGraphicFramePr>
          <p:nvPr>
            <p:extLst>
              <p:ext uri="{D42A27DB-BD31-4B8C-83A1-F6EECF244321}">
                <p14:modId xmlns:p14="http://schemas.microsoft.com/office/powerpoint/2010/main" val="2641661923"/>
              </p:ext>
            </p:extLst>
          </p:nvPr>
        </p:nvGraphicFramePr>
        <p:xfrm>
          <a:off x="335280" y="1279525"/>
          <a:ext cx="11418269" cy="4903497"/>
        </p:xfrm>
        <a:graphic>
          <a:graphicData uri="http://schemas.openxmlformats.org/drawingml/2006/table">
            <a:tbl>
              <a:tblPr firstRow="1" bandRow="1">
                <a:tableStyleId>{F5AB1C69-6EDB-4FF4-983F-18BD219EF322}</a:tableStyleId>
              </a:tblPr>
              <a:tblGrid>
                <a:gridCol w="1903045">
                  <a:extLst>
                    <a:ext uri="{9D8B030D-6E8A-4147-A177-3AD203B41FA5}">
                      <a16:colId xmlns:a16="http://schemas.microsoft.com/office/drawing/2014/main" val="20000"/>
                    </a:ext>
                  </a:extLst>
                </a:gridCol>
                <a:gridCol w="1706146">
                  <a:extLst>
                    <a:ext uri="{9D8B030D-6E8A-4147-A177-3AD203B41FA5}">
                      <a16:colId xmlns:a16="http://schemas.microsoft.com/office/drawing/2014/main" val="20001"/>
                    </a:ext>
                  </a:extLst>
                </a:gridCol>
                <a:gridCol w="1855694">
                  <a:extLst>
                    <a:ext uri="{9D8B030D-6E8A-4147-A177-3AD203B41FA5}">
                      <a16:colId xmlns:a16="http://schemas.microsoft.com/office/drawing/2014/main" val="20002"/>
                    </a:ext>
                  </a:extLst>
                </a:gridCol>
                <a:gridCol w="2402541">
                  <a:extLst>
                    <a:ext uri="{9D8B030D-6E8A-4147-A177-3AD203B41FA5}">
                      <a16:colId xmlns:a16="http://schemas.microsoft.com/office/drawing/2014/main" val="20003"/>
                    </a:ext>
                  </a:extLst>
                </a:gridCol>
                <a:gridCol w="1774414">
                  <a:extLst>
                    <a:ext uri="{9D8B030D-6E8A-4147-A177-3AD203B41FA5}">
                      <a16:colId xmlns:a16="http://schemas.microsoft.com/office/drawing/2014/main" val="20004"/>
                    </a:ext>
                  </a:extLst>
                </a:gridCol>
                <a:gridCol w="1776429">
                  <a:extLst>
                    <a:ext uri="{9D8B030D-6E8A-4147-A177-3AD203B41FA5}">
                      <a16:colId xmlns:a16="http://schemas.microsoft.com/office/drawing/2014/main" val="20005"/>
                    </a:ext>
                  </a:extLst>
                </a:gridCol>
              </a:tblGrid>
              <a:tr h="427291">
                <a:tc>
                  <a:txBody>
                    <a:bodyPr/>
                    <a:lstStyle/>
                    <a:p>
                      <a:r>
                        <a:rPr lang="zh-TW" altLang="en-US" sz="1900" dirty="0">
                          <a:latin typeface="微軟正黑體" pitchFamily="34" charset="-120"/>
                          <a:ea typeface="微軟正黑體" pitchFamily="34" charset="-120"/>
                        </a:rPr>
                        <a:t>經濟支持</a:t>
                      </a:r>
                    </a:p>
                  </a:txBody>
                  <a:tcPr marL="87086" marR="87086" marT="43543" marB="43543"/>
                </a:tc>
                <a:tc>
                  <a:txBody>
                    <a:bodyPr/>
                    <a:lstStyle/>
                    <a:p>
                      <a:r>
                        <a:rPr lang="zh-TW" altLang="en-US" sz="1900" dirty="0">
                          <a:latin typeface="微軟正黑體" pitchFamily="34" charset="-120"/>
                          <a:ea typeface="微軟正黑體" pitchFamily="34" charset="-120"/>
                        </a:rPr>
                        <a:t>生活支持</a:t>
                      </a:r>
                    </a:p>
                  </a:txBody>
                  <a:tcPr marL="87086" marR="87086" marT="43543" marB="43543"/>
                </a:tc>
                <a:tc>
                  <a:txBody>
                    <a:bodyPr/>
                    <a:lstStyle/>
                    <a:p>
                      <a:r>
                        <a:rPr lang="zh-TW" altLang="en-US" sz="1900" dirty="0">
                          <a:latin typeface="微軟正黑體" pitchFamily="34" charset="-120"/>
                          <a:ea typeface="微軟正黑體" pitchFamily="34" charset="-120"/>
                        </a:rPr>
                        <a:t>家庭互動</a:t>
                      </a:r>
                    </a:p>
                  </a:txBody>
                  <a:tcPr marL="87086" marR="87086" marT="43543" marB="43543"/>
                </a:tc>
                <a:tc>
                  <a:txBody>
                    <a:bodyPr/>
                    <a:lstStyle/>
                    <a:p>
                      <a:r>
                        <a:rPr lang="zh-TW" altLang="en-US" sz="1900" dirty="0">
                          <a:latin typeface="微軟正黑體" pitchFamily="34" charset="-120"/>
                          <a:ea typeface="微軟正黑體" pitchFamily="34" charset="-120"/>
                        </a:rPr>
                        <a:t>兒少照顧</a:t>
                      </a:r>
                    </a:p>
                  </a:txBody>
                  <a:tcPr marL="87086" marR="87086" marT="43543" marB="43543"/>
                </a:tc>
                <a:tc>
                  <a:txBody>
                    <a:bodyPr/>
                    <a:lstStyle/>
                    <a:p>
                      <a:r>
                        <a:rPr lang="zh-TW" altLang="en-US" sz="1900" dirty="0">
                          <a:latin typeface="微軟正黑體" pitchFamily="34" charset="-120"/>
                          <a:ea typeface="微軟正黑體" pitchFamily="34" charset="-120"/>
                        </a:rPr>
                        <a:t>成人照顧</a:t>
                      </a:r>
                    </a:p>
                  </a:txBody>
                  <a:tcPr marL="87086" marR="87086" marT="43543" marB="43543"/>
                </a:tc>
                <a:tc>
                  <a:txBody>
                    <a:bodyPr/>
                    <a:lstStyle/>
                    <a:p>
                      <a:r>
                        <a:rPr lang="zh-TW" altLang="en-US" sz="1900" dirty="0">
                          <a:latin typeface="微軟正黑體" pitchFamily="34" charset="-120"/>
                          <a:ea typeface="微軟正黑體" pitchFamily="34" charset="-120"/>
                        </a:rPr>
                        <a:t>個人適應</a:t>
                      </a:r>
                    </a:p>
                  </a:txBody>
                  <a:tcPr marL="87086" marR="87086" marT="43543" marB="43543"/>
                </a:tc>
                <a:extLst>
                  <a:ext uri="{0D108BD9-81ED-4DB2-BD59-A6C34878D82A}">
                    <a16:rowId xmlns:a16="http://schemas.microsoft.com/office/drawing/2014/main" val="10000"/>
                  </a:ext>
                </a:extLst>
              </a:tr>
              <a:tr h="4470124">
                <a:tc>
                  <a:txBody>
                    <a:bodyPr/>
                    <a:lstStyle/>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協助申請福利身分及津貼補助</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急難救助</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喪葬協助</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醫療費用</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教育費用</a:t>
                      </a: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房屋租賃費用</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輔具費用</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機構</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照顧</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費用</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社會保險補助</a:t>
                      </a: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失業津貼</a:t>
                      </a:r>
                    </a:p>
                    <a:p>
                      <a:pPr marL="180000" indent="-180000">
                        <a:buFont typeface="Arial" pitchFamily="34" charset="0"/>
                        <a:buNone/>
                      </a:pPr>
                      <a:endParaRPr lang="zh-TW" altLang="zh-TW" sz="1600" u="none" kern="1200" dirty="0">
                        <a:solidFill>
                          <a:srgbClr val="002060"/>
                        </a:solidFill>
                        <a:latin typeface="微軟正黑體" pitchFamily="34" charset="-120"/>
                        <a:ea typeface="微軟正黑體" pitchFamily="34" charset="-120"/>
                        <a:cs typeface="+mn-cs"/>
                      </a:endParaRPr>
                    </a:p>
                    <a:p>
                      <a:pPr marL="180000" indent="-180000">
                        <a:buFont typeface="Arial" pitchFamily="34" charset="0"/>
                        <a:buChar char="•"/>
                      </a:pPr>
                      <a:endParaRPr lang="zh-TW" altLang="en-US" sz="1600" u="none" dirty="0">
                        <a:solidFill>
                          <a:srgbClr val="002060"/>
                        </a:solidFill>
                        <a:latin typeface="微軟正黑體" pitchFamily="34" charset="-120"/>
                        <a:ea typeface="微軟正黑體" pitchFamily="34" charset="-120"/>
                      </a:endParaRPr>
                    </a:p>
                  </a:txBody>
                  <a:tcPr marL="87086" marR="87086" marT="43543" marB="43543"/>
                </a:tc>
                <a:tc>
                  <a:txBody>
                    <a:bodyPr/>
                    <a:lstStyle/>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心理</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情緒支持</a:t>
                      </a: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物資協助</a:t>
                      </a: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居住協助</a:t>
                      </a:r>
                    </a:p>
                    <a:p>
                      <a:pPr marL="180000" marR="0" indent="-180000" algn="l" defTabSz="1090331" rtl="0" eaLnBrk="1" fontAlgn="auto" latinLnBrk="0" hangingPunct="1">
                        <a:lnSpc>
                          <a:spcPct val="100000"/>
                        </a:lnSpc>
                        <a:spcBef>
                          <a:spcPts val="0"/>
                        </a:spcBef>
                        <a:spcAft>
                          <a:spcPts val="0"/>
                        </a:spcAft>
                        <a:buClrTx/>
                        <a:buSzTx/>
                        <a:buFont typeface="Arial" pitchFamily="34" charset="0"/>
                        <a:buChar char="•"/>
                        <a:tabLst/>
                        <a:defRPr/>
                      </a:pPr>
                      <a:r>
                        <a:rPr lang="zh-TW" altLang="zh-TW" sz="1600" u="none" kern="1200" dirty="0">
                          <a:solidFill>
                            <a:srgbClr val="002060"/>
                          </a:solidFill>
                          <a:latin typeface="微軟正黑體" pitchFamily="34" charset="-120"/>
                          <a:ea typeface="微軟正黑體" pitchFamily="34" charset="-120"/>
                          <a:cs typeface="+mn-cs"/>
                        </a:rPr>
                        <a:t>就業諮詢及職業輔導</a:t>
                      </a:r>
                    </a:p>
                    <a:p>
                      <a:pPr marL="180000" marR="0" indent="-180000" algn="l" defTabSz="1090331" rtl="0" eaLnBrk="1" fontAlgn="auto" latinLnBrk="0" hangingPunct="1">
                        <a:lnSpc>
                          <a:spcPct val="100000"/>
                        </a:lnSpc>
                        <a:spcBef>
                          <a:spcPts val="0"/>
                        </a:spcBef>
                        <a:spcAft>
                          <a:spcPts val="0"/>
                        </a:spcAft>
                        <a:buClrTx/>
                        <a:buSzTx/>
                        <a:buFont typeface="Arial" pitchFamily="34" charset="0"/>
                        <a:buChar char="•"/>
                        <a:tabLst/>
                        <a:defRPr/>
                      </a:pPr>
                      <a:r>
                        <a:rPr lang="zh-TW" altLang="zh-TW" sz="1600" u="none" kern="1200" dirty="0">
                          <a:solidFill>
                            <a:srgbClr val="002060"/>
                          </a:solidFill>
                          <a:latin typeface="微軟正黑體" pitchFamily="34" charset="-120"/>
                          <a:ea typeface="微軟正黑體" pitchFamily="34" charset="-120"/>
                          <a:cs typeface="+mn-cs"/>
                        </a:rPr>
                        <a:t>醫療復健</a:t>
                      </a:r>
                    </a:p>
                    <a:p>
                      <a:pPr marL="180000" marR="0" indent="-180000" algn="l" defTabSz="1090331" rtl="0" eaLnBrk="1" fontAlgn="auto" latinLnBrk="0" hangingPunct="1">
                        <a:lnSpc>
                          <a:spcPct val="100000"/>
                        </a:lnSpc>
                        <a:spcBef>
                          <a:spcPts val="0"/>
                        </a:spcBef>
                        <a:spcAft>
                          <a:spcPts val="0"/>
                        </a:spcAft>
                        <a:buClrTx/>
                        <a:buSzTx/>
                        <a:buFont typeface="Arial" pitchFamily="34" charset="0"/>
                        <a:buChar char="•"/>
                        <a:tabLst/>
                        <a:defRPr/>
                      </a:pPr>
                      <a:r>
                        <a:rPr lang="zh-TW" altLang="zh-TW" sz="1600" u="none" kern="1200" dirty="0">
                          <a:solidFill>
                            <a:srgbClr val="002060"/>
                          </a:solidFill>
                          <a:latin typeface="微軟正黑體" pitchFamily="34" charset="-120"/>
                          <a:ea typeface="微軟正黑體" pitchFamily="34" charset="-120"/>
                          <a:cs typeface="+mn-cs"/>
                        </a:rPr>
                        <a:t>法律權益</a:t>
                      </a:r>
                    </a:p>
                    <a:p>
                      <a:pPr marL="180000" indent="-180000">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通譯服務</a:t>
                      </a:r>
                      <a:endParaRPr lang="en-US" altLang="zh-TW" sz="1600" u="none" kern="1200" dirty="0">
                        <a:solidFill>
                          <a:srgbClr val="002060"/>
                        </a:solidFill>
                        <a:latin typeface="微軟正黑體" pitchFamily="34" charset="-120"/>
                        <a:ea typeface="微軟正黑體" pitchFamily="34" charset="-120"/>
                        <a:cs typeface="+mn-cs"/>
                      </a:endParaRPr>
                    </a:p>
                  </a:txBody>
                  <a:tcPr marL="87086" marR="87086" marT="43543" marB="43543"/>
                </a:tc>
                <a:tc>
                  <a:txBody>
                    <a:bodyPr/>
                    <a:lstStyle/>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一般性家庭教育</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諮詢及服務</a:t>
                      </a:r>
                      <a:r>
                        <a:rPr lang="en-US" altLang="zh-TW" sz="1600" u="none" kern="1200" dirty="0">
                          <a:solidFill>
                            <a:srgbClr val="002060"/>
                          </a:solidFill>
                          <a:latin typeface="微軟正黑體" pitchFamily="34" charset="-120"/>
                          <a:ea typeface="微軟正黑體" pitchFamily="34" charset="-120"/>
                          <a:cs typeface="+mn-cs"/>
                        </a:rPr>
                        <a:t>)</a:t>
                      </a:r>
                    </a:p>
                    <a:p>
                      <a:pPr marL="180000" marR="0" indent="-180000" algn="l" defTabSz="1090331" rtl="0" eaLnBrk="1" fontAlgn="auto" latinLnBrk="0" hangingPunct="1">
                        <a:lnSpc>
                          <a:spcPct val="100000"/>
                        </a:lnSpc>
                        <a:spcBef>
                          <a:spcPts val="0"/>
                        </a:spcBef>
                        <a:spcAft>
                          <a:spcPts val="0"/>
                        </a:spcAft>
                        <a:buClrTx/>
                        <a:buSzTx/>
                        <a:buFont typeface="Arial" pitchFamily="34" charset="0"/>
                        <a:buChar char="•"/>
                        <a:tabLst/>
                        <a:defRPr/>
                      </a:pPr>
                      <a:r>
                        <a:rPr lang="zh-TW" altLang="zh-TW" sz="1600" u="none" kern="1200" dirty="0">
                          <a:solidFill>
                            <a:srgbClr val="002060"/>
                          </a:solidFill>
                          <a:latin typeface="微軟正黑體" pitchFamily="34" charset="-120"/>
                          <a:ea typeface="微軟正黑體" pitchFamily="34" charset="-120"/>
                          <a:cs typeface="+mn-cs"/>
                        </a:rPr>
                        <a:t>未成年子女離婚家事商談</a:t>
                      </a: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婚姻</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含離婚</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調解</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夫妻婚姻協商</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家庭會談</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支持</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培力</a:t>
                      </a:r>
                      <a:r>
                        <a:rPr lang="en-US" altLang="zh-TW" sz="1600" u="none" kern="1200" dirty="0">
                          <a:solidFill>
                            <a:srgbClr val="002060"/>
                          </a:solidFill>
                          <a:latin typeface="微軟正黑體" pitchFamily="34" charset="-120"/>
                          <a:ea typeface="微軟正黑體" pitchFamily="34" charset="-120"/>
                          <a:cs typeface="+mn-cs"/>
                        </a:rPr>
                        <a:t>)</a:t>
                      </a: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家庭會議</a:t>
                      </a:r>
                    </a:p>
                  </a:txBody>
                  <a:tcPr marL="87086" marR="87086" marT="43543" marB="43543"/>
                </a:tc>
                <a:tc>
                  <a:txBody>
                    <a:bodyPr/>
                    <a:lstStyle/>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育兒指導</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家務指導</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教育與就學</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原生活支持</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托育服務、</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早期療育</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特殊照顧</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托育</a:t>
                      </a:r>
                      <a:r>
                        <a:rPr lang="en-US" altLang="zh-TW" sz="1600" u="none" kern="1200" dirty="0">
                          <a:solidFill>
                            <a:srgbClr val="002060"/>
                          </a:solidFill>
                          <a:latin typeface="微軟正黑體" pitchFamily="34" charset="-120"/>
                          <a:ea typeface="微軟正黑體" pitchFamily="34" charset="-120"/>
                          <a:cs typeface="+mn-cs"/>
                        </a:rPr>
                        <a:t>)</a:t>
                      </a: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課後照顧</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親子團體</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活動</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兒少及親子諮商輔導</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休閒活動</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方案</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體適能活動</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喘息服務</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未成年懷孕輔導</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兒少家外安置服務</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收出養服務</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生活照顧能力</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少年行為輔導</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兒少拒毒</a:t>
                      </a:r>
                      <a:r>
                        <a:rPr lang="en-US" altLang="zh-TW" sz="1600" u="none" kern="1200" dirty="0">
                          <a:solidFill>
                            <a:srgbClr val="002060"/>
                          </a:solidFill>
                          <a:latin typeface="微軟正黑體" pitchFamily="34" charset="-120"/>
                          <a:ea typeface="微軟正黑體" pitchFamily="34" charset="-120"/>
                          <a:cs typeface="+mn-cs"/>
                        </a:rPr>
                        <a:t>)</a:t>
                      </a:r>
                    </a:p>
                  </a:txBody>
                  <a:tcPr marL="87086" marR="87086" marT="43543" marB="43543"/>
                </a:tc>
                <a:tc>
                  <a:txBody>
                    <a:bodyPr/>
                    <a:lstStyle/>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家庭照顧者喘息服務</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安置服務</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社區照顧關懷服務</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據點</a:t>
                      </a:r>
                      <a:r>
                        <a:rPr lang="en-US" altLang="zh-TW" sz="1600" u="none" kern="1200" dirty="0">
                          <a:solidFill>
                            <a:srgbClr val="002060"/>
                          </a:solidFill>
                          <a:latin typeface="微軟正黑體" pitchFamily="34" charset="-120"/>
                          <a:ea typeface="微軟正黑體" pitchFamily="34" charset="-120"/>
                          <a:cs typeface="+mn-cs"/>
                        </a:rPr>
                        <a:t>)</a:t>
                      </a:r>
                      <a:endParaRPr lang="zh-TW"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長期照顧服務</a:t>
                      </a:r>
                      <a:r>
                        <a:rPr lang="en-US" altLang="zh-TW" sz="1600" u="none" kern="1200" dirty="0">
                          <a:solidFill>
                            <a:srgbClr val="002060"/>
                          </a:solidFill>
                          <a:latin typeface="微軟正黑體" pitchFamily="34" charset="-120"/>
                          <a:ea typeface="微軟正黑體" pitchFamily="34" charset="-120"/>
                          <a:cs typeface="+mn-cs"/>
                        </a:rPr>
                        <a:t>(</a:t>
                      </a:r>
                      <a:r>
                        <a:rPr lang="zh-TW" altLang="zh-TW" sz="1600" u="none" kern="1200" dirty="0">
                          <a:solidFill>
                            <a:srgbClr val="002060"/>
                          </a:solidFill>
                          <a:latin typeface="微軟正黑體" pitchFamily="34" charset="-120"/>
                          <a:ea typeface="微軟正黑體" pitchFamily="34" charset="-120"/>
                          <a:cs typeface="+mn-cs"/>
                        </a:rPr>
                        <a:t>含身心障礙者服務</a:t>
                      </a:r>
                      <a:r>
                        <a:rPr lang="en-US" altLang="zh-TW" sz="1600" u="none" kern="1200" dirty="0">
                          <a:solidFill>
                            <a:srgbClr val="002060"/>
                          </a:solidFill>
                          <a:latin typeface="微軟正黑體" pitchFamily="34" charset="-120"/>
                          <a:ea typeface="微軟正黑體" pitchFamily="34" charset="-120"/>
                          <a:cs typeface="+mn-cs"/>
                        </a:rPr>
                        <a:t>)</a:t>
                      </a:r>
                      <a:endParaRPr lang="zh-TW"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藥酒癮服務其他</a:t>
                      </a:r>
                      <a:endParaRPr lang="zh-TW" altLang="en-US" sz="1600" u="none" kern="1200" dirty="0">
                        <a:solidFill>
                          <a:srgbClr val="002060"/>
                        </a:solidFill>
                        <a:latin typeface="微軟正黑體" pitchFamily="34" charset="-120"/>
                        <a:ea typeface="微軟正黑體" pitchFamily="34" charset="-120"/>
                        <a:cs typeface="+mn-cs"/>
                      </a:endParaRPr>
                    </a:p>
                  </a:txBody>
                  <a:tcPr marL="87086" marR="87086" marT="43543" marB="43543"/>
                </a:tc>
                <a:tc>
                  <a:txBody>
                    <a:bodyPr/>
                    <a:lstStyle/>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自殺防治</a:t>
                      </a:r>
                      <a:endParaRPr lang="en-US" altLang="zh-TW" sz="1600" u="none" kern="1200" dirty="0">
                        <a:solidFill>
                          <a:srgbClr val="002060"/>
                        </a:solidFill>
                        <a:latin typeface="微軟正黑體" pitchFamily="34" charset="-120"/>
                        <a:ea typeface="微軟正黑體" pitchFamily="34" charset="-120"/>
                        <a:cs typeface="+mn-cs"/>
                      </a:endParaRP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個人諮商或心理治療</a:t>
                      </a: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社會參與</a:t>
                      </a:r>
                    </a:p>
                    <a:p>
                      <a:pPr marL="180000" indent="-180000" algn="l" defTabSz="1090331" rtl="0" eaLnBrk="1" latinLnBrk="0" hangingPunct="1">
                        <a:buFont typeface="Arial" pitchFamily="34" charset="0"/>
                        <a:buChar char="•"/>
                      </a:pPr>
                      <a:r>
                        <a:rPr lang="zh-TW" altLang="zh-TW" sz="1600" u="none" kern="1200" dirty="0">
                          <a:solidFill>
                            <a:srgbClr val="002060"/>
                          </a:solidFill>
                          <a:latin typeface="微軟正黑體" pitchFamily="34" charset="-120"/>
                          <a:ea typeface="微軟正黑體" pitchFamily="34" charset="-120"/>
                          <a:cs typeface="+mn-cs"/>
                        </a:rPr>
                        <a:t>其他</a:t>
                      </a:r>
                      <a:endParaRPr lang="zh-TW" altLang="en-US" sz="1600" u="none" kern="1200" dirty="0">
                        <a:solidFill>
                          <a:srgbClr val="002060"/>
                        </a:solidFill>
                        <a:latin typeface="微軟正黑體" pitchFamily="34" charset="-120"/>
                        <a:ea typeface="微軟正黑體" pitchFamily="34" charset="-120"/>
                        <a:cs typeface="+mn-cs"/>
                      </a:endParaRPr>
                    </a:p>
                  </a:txBody>
                  <a:tcPr marL="87086" marR="87086" marT="43543" marB="43543"/>
                </a:tc>
                <a:extLst>
                  <a:ext uri="{0D108BD9-81ED-4DB2-BD59-A6C34878D82A}">
                    <a16:rowId xmlns:a16="http://schemas.microsoft.com/office/drawing/2014/main" val="1000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665E90-4449-4414-AC0F-2E44C2D890EA}"/>
              </a:ext>
            </a:extLst>
          </p:cNvPr>
          <p:cNvSpPr>
            <a:spLocks noGrp="1"/>
          </p:cNvSpPr>
          <p:nvPr>
            <p:ph type="title"/>
          </p:nvPr>
        </p:nvSpPr>
        <p:spPr>
          <a:xfrm>
            <a:off x="2640013" y="9525"/>
            <a:ext cx="7499350" cy="1143000"/>
          </a:xfrm>
        </p:spPr>
        <p:txBody>
          <a:bodyPr rtlCol="0">
            <a:normAutofit/>
          </a:bodyPr>
          <a:lstStyle/>
          <a:p>
            <a:pPr>
              <a:defRPr/>
            </a:pPr>
            <a:r>
              <a:rPr lang="zh-TW" altLang="en-US" sz="4000" b="1" dirty="0">
                <a:solidFill>
                  <a:schemeClr val="accent5">
                    <a:lumMod val="50000"/>
                  </a:schemeClr>
                </a:solidFill>
                <a:latin typeface="標楷體" panose="03000509000000000000" pitchFamily="65" charset="-120"/>
                <a:ea typeface="標楷體" panose="03000509000000000000" pitchFamily="65" charset="-120"/>
              </a:rPr>
              <a:t>社會安全網的通報操作實務</a:t>
            </a:r>
          </a:p>
        </p:txBody>
      </p:sp>
      <p:sp>
        <p:nvSpPr>
          <p:cNvPr id="5123" name="內容版面配置區 2">
            <a:extLst>
              <a:ext uri="{FF2B5EF4-FFF2-40B4-BE49-F238E27FC236}">
                <a16:creationId xmlns:a16="http://schemas.microsoft.com/office/drawing/2014/main" id="{A776B00E-DF46-430E-A5ED-245B2B8AA838}"/>
              </a:ext>
            </a:extLst>
          </p:cNvPr>
          <p:cNvSpPr>
            <a:spLocks noGrp="1" noChangeArrowheads="1"/>
          </p:cNvSpPr>
          <p:nvPr>
            <p:ph idx="1"/>
          </p:nvPr>
        </p:nvSpPr>
        <p:spPr bwMode="auto">
          <a:xfrm>
            <a:off x="2959100" y="981076"/>
            <a:ext cx="7499350" cy="5267325"/>
          </a:xfrm>
        </p:spPr>
        <p:txBody>
          <a:bodyPr wrap="square" numCol="1" anchor="t" anchorCtr="0" compatLnSpc="1">
            <a:prstTxWarp prst="textNoShape">
              <a:avLst/>
            </a:prstTxWarp>
          </a:bodyPr>
          <a:lstStyle/>
          <a:p>
            <a:r>
              <a:rPr lang="zh-TW" altLang="en-US">
                <a:latin typeface="Times New Roman" panose="02020603050405020304" pitchFamily="18" charset="0"/>
                <a:cs typeface="Times New Roman" panose="02020603050405020304" pitchFamily="18" charset="0"/>
              </a:rPr>
              <a:t>關懷</a:t>
            </a:r>
            <a:r>
              <a:rPr lang="en-US" altLang="zh-TW">
                <a:latin typeface="Times New Roman" panose="02020603050405020304" pitchFamily="18" charset="0"/>
                <a:cs typeface="Times New Roman" panose="02020603050405020304" pitchFamily="18" charset="0"/>
              </a:rPr>
              <a:t>e</a:t>
            </a:r>
            <a:r>
              <a:rPr lang="zh-TW" altLang="en-US">
                <a:latin typeface="Times New Roman" panose="02020603050405020304" pitchFamily="18" charset="0"/>
                <a:cs typeface="Times New Roman" panose="02020603050405020304" pitchFamily="18" charset="0"/>
              </a:rPr>
              <a:t>起來</a:t>
            </a:r>
            <a:r>
              <a:rPr lang="en-US" altLang="zh-TW">
                <a:latin typeface="Times New Roman" panose="02020603050405020304" pitchFamily="18" charset="0"/>
                <a:cs typeface="Times New Roman" panose="02020603050405020304" pitchFamily="18" charset="0"/>
              </a:rPr>
              <a:t>https://ecare.mohw.gov.tw/</a:t>
            </a:r>
            <a:endParaRPr lang="zh-TW" altLang="en-US">
              <a:latin typeface="Times New Roman" panose="02020603050405020304" pitchFamily="18" charset="0"/>
              <a:cs typeface="Times New Roman" panose="02020603050405020304" pitchFamily="18" charset="0"/>
            </a:endParaRPr>
          </a:p>
        </p:txBody>
      </p:sp>
      <p:pic>
        <p:nvPicPr>
          <p:cNvPr id="75779" name="Picture 3">
            <a:extLst>
              <a:ext uri="{FF2B5EF4-FFF2-40B4-BE49-F238E27FC236}">
                <a16:creationId xmlns:a16="http://schemas.microsoft.com/office/drawing/2014/main" id="{8A06E408-66AD-4779-B78A-A660CF762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501" t="12190" r="14925" b="9348"/>
          <a:stretch>
            <a:fillRect/>
          </a:stretch>
        </p:blipFill>
        <p:spPr bwMode="auto">
          <a:xfrm>
            <a:off x="2279651" y="1557339"/>
            <a:ext cx="7967663" cy="5138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5779"/>
                                        </p:tgtEl>
                                        <p:attrNameLst>
                                          <p:attrName>style.visibility</p:attrName>
                                        </p:attrNameLst>
                                      </p:cBhvr>
                                      <p:to>
                                        <p:strVal val="visible"/>
                                      </p:to>
                                    </p:set>
                                    <p:anim calcmode="lin" valueType="num">
                                      <p:cBhvr additive="base">
                                        <p:cTn id="7" dur="500" fill="hold"/>
                                        <p:tgtEl>
                                          <p:spTgt spid="75779"/>
                                        </p:tgtEl>
                                        <p:attrNameLst>
                                          <p:attrName>ppt_x</p:attrName>
                                        </p:attrNameLst>
                                      </p:cBhvr>
                                      <p:tavLst>
                                        <p:tav tm="0">
                                          <p:val>
                                            <p:strVal val="#ppt_x"/>
                                          </p:val>
                                        </p:tav>
                                        <p:tav tm="100000">
                                          <p:val>
                                            <p:strVal val="#ppt_x"/>
                                          </p:val>
                                        </p:tav>
                                      </p:tavLst>
                                    </p:anim>
                                    <p:anim calcmode="lin" valueType="num">
                                      <p:cBhvr additive="base">
                                        <p:cTn id="8" dur="500" fill="hold"/>
                                        <p:tgtEl>
                                          <p:spTgt spid="757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標題 1">
            <a:extLst>
              <a:ext uri="{FF2B5EF4-FFF2-40B4-BE49-F238E27FC236}">
                <a16:creationId xmlns:a16="http://schemas.microsoft.com/office/drawing/2014/main" id="{BB7AD0E9-F299-4A7B-B557-0DB044D1944F}"/>
              </a:ext>
            </a:extLst>
          </p:cNvPr>
          <p:cNvSpPr>
            <a:spLocks noGrp="1" noChangeArrowheads="1"/>
          </p:cNvSpPr>
          <p:nvPr>
            <p:ph type="title"/>
          </p:nvPr>
        </p:nvSpPr>
        <p:spPr/>
        <p:txBody>
          <a:bodyPr/>
          <a:lstStyle/>
          <a:p>
            <a:endParaRPr lang="zh-TW" altLang="en-US"/>
          </a:p>
        </p:txBody>
      </p:sp>
      <p:sp>
        <p:nvSpPr>
          <p:cNvPr id="6147" name="內容版面配置區 2">
            <a:extLst>
              <a:ext uri="{FF2B5EF4-FFF2-40B4-BE49-F238E27FC236}">
                <a16:creationId xmlns:a16="http://schemas.microsoft.com/office/drawing/2014/main" id="{42ACC785-6287-447B-B26A-8E0EDF078192}"/>
              </a:ext>
            </a:extLst>
          </p:cNvPr>
          <p:cNvSpPr>
            <a:spLocks noGrp="1" noChangeArrowheads="1"/>
          </p:cNvSpPr>
          <p:nvPr>
            <p:ph idx="1"/>
          </p:nvPr>
        </p:nvSpPr>
        <p:spPr bwMode="auto"/>
        <p:txBody>
          <a:bodyPr wrap="square" numCol="1" anchor="t" anchorCtr="0" compatLnSpc="1">
            <a:prstTxWarp prst="textNoShape">
              <a:avLst/>
            </a:prstTxWarp>
          </a:bodyPr>
          <a:lstStyle/>
          <a:p>
            <a:endParaRPr lang="zh-TW" altLang="en-US"/>
          </a:p>
        </p:txBody>
      </p:sp>
      <p:pic>
        <p:nvPicPr>
          <p:cNvPr id="6148" name="Picture 2">
            <a:extLst>
              <a:ext uri="{FF2B5EF4-FFF2-40B4-BE49-F238E27FC236}">
                <a16:creationId xmlns:a16="http://schemas.microsoft.com/office/drawing/2014/main" id="{7FCF1694-C4DC-4382-8313-CA5B6825F4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031" t="12074" r="12199" b="10428"/>
          <a:stretch>
            <a:fillRect/>
          </a:stretch>
        </p:blipFill>
        <p:spPr bwMode="auto">
          <a:xfrm>
            <a:off x="1631950" y="115888"/>
            <a:ext cx="8928100" cy="674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標題 1">
            <a:extLst>
              <a:ext uri="{FF2B5EF4-FFF2-40B4-BE49-F238E27FC236}">
                <a16:creationId xmlns:a16="http://schemas.microsoft.com/office/drawing/2014/main" id="{5F382262-8585-4CD9-A4BD-B16EF37E66DC}"/>
              </a:ext>
            </a:extLst>
          </p:cNvPr>
          <p:cNvSpPr>
            <a:spLocks noGrp="1" noChangeArrowheads="1"/>
          </p:cNvSpPr>
          <p:nvPr>
            <p:ph type="title"/>
          </p:nvPr>
        </p:nvSpPr>
        <p:spPr>
          <a:xfrm>
            <a:off x="1653363" y="365760"/>
            <a:ext cx="9367203" cy="1188720"/>
          </a:xfrm>
        </p:spPr>
        <p:txBody>
          <a:bodyPr>
            <a:normAutofit/>
          </a:bodyPr>
          <a:lstStyle/>
          <a:p>
            <a:endParaRPr lang="zh-TW" altLang="en-US"/>
          </a:p>
        </p:txBody>
      </p:sp>
      <p:sp>
        <p:nvSpPr>
          <p:cNvPr id="72" name="Freeform: Shape 71">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764099"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Freeform: Shape 73">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12191999"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Freeform: Shape 75">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971654"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267" name="內容版面配置區 2">
            <a:extLst>
              <a:ext uri="{FF2B5EF4-FFF2-40B4-BE49-F238E27FC236}">
                <a16:creationId xmlns:a16="http://schemas.microsoft.com/office/drawing/2014/main" id="{DC895F4A-C04E-4963-B9D0-AF9FF82C87D8}"/>
              </a:ext>
            </a:extLst>
          </p:cNvPr>
          <p:cNvSpPr>
            <a:spLocks noGrp="1" noChangeArrowheads="1"/>
          </p:cNvSpPr>
          <p:nvPr>
            <p:ph idx="1"/>
          </p:nvPr>
        </p:nvSpPr>
        <p:spPr bwMode="auto">
          <a:xfrm>
            <a:off x="1653363" y="2176272"/>
            <a:ext cx="9367204" cy="4041648"/>
          </a:xfrm>
        </p:spPr>
        <p:txBody>
          <a:bodyPr numCol="1" anchor="t" anchorCtr="0" compatLnSpc="1">
            <a:prstTxWarp prst="textNoShape">
              <a:avLst/>
            </a:prstTxWarp>
            <a:normAutofit/>
          </a:bodyPr>
          <a:lstStyle/>
          <a:p>
            <a:r>
              <a:rPr lang="zh-TW" altLang="en-US" dirty="0">
                <a:solidFill>
                  <a:srgbClr val="002060"/>
                </a:solidFill>
                <a:latin typeface="微軟正黑體" panose="020B0604030504040204" pitchFamily="34" charset="-120"/>
                <a:ea typeface="微軟正黑體" panose="020B0604030504040204" pitchFamily="34" charset="-120"/>
              </a:rPr>
              <a:t>填寫完「</a:t>
            </a:r>
            <a:r>
              <a:rPr lang="zh-TW" altLang="zh-TW" dirty="0">
                <a:solidFill>
                  <a:srgbClr val="002060"/>
                </a:solidFill>
                <a:latin typeface="微軟正黑體" panose="020B0604030504040204" pitchFamily="34" charset="-120"/>
                <a:ea typeface="微軟正黑體" panose="020B0604030504040204" pitchFamily="34" charset="-120"/>
              </a:rPr>
              <a:t>社會安全網事件諮詢表</a:t>
            </a:r>
            <a:r>
              <a:rPr lang="zh-TW" altLang="en-US" dirty="0">
                <a:solidFill>
                  <a:srgbClr val="002060"/>
                </a:solidFill>
                <a:latin typeface="微軟正黑體" panose="020B0604030504040204" pitchFamily="34" charset="-120"/>
                <a:ea typeface="微軟正黑體" panose="020B0604030504040204" pitchFamily="34" charset="-120"/>
              </a:rPr>
              <a:t>」後，就完成「疑似脆弱</a:t>
            </a: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危機家庭事件通報」</a:t>
            </a:r>
            <a:endParaRPr lang="en-US" altLang="zh-TW" dirty="0">
              <a:solidFill>
                <a:srgbClr val="002060"/>
              </a:solidFill>
              <a:latin typeface="微軟正黑體" panose="020B0604030504040204" pitchFamily="34" charset="-120"/>
              <a:ea typeface="微軟正黑體" panose="020B0604030504040204" pitchFamily="34" charset="-120"/>
            </a:endParaRPr>
          </a:p>
          <a:p>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之後就會由在地的「社會福利服務中心」／家防中心來進行受案評估與提供處遇</a:t>
            </a:r>
            <a:endParaRPr lang="en-US" altLang="zh-TW" dirty="0">
              <a:solidFill>
                <a:srgbClr val="002060"/>
              </a:solidFill>
              <a:latin typeface="微軟正黑體" panose="020B0604030504040204" pitchFamily="34" charset="-120"/>
              <a:ea typeface="微軟正黑體" panose="020B0604030504040204" pitchFamily="34" charset="-120"/>
            </a:endParaRPr>
          </a:p>
          <a:p>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社區仍可以持續以在地化的支持與資源來關懷脆弱家庭</a:t>
            </a:r>
            <a:endParaRPr lang="en-US" altLang="zh-TW" dirty="0">
              <a:solidFill>
                <a:srgbClr val="002060"/>
              </a:solidFill>
              <a:latin typeface="微軟正黑體" panose="020B0604030504040204" pitchFamily="34" charset="-120"/>
              <a:ea typeface="微軟正黑體" panose="020B0604030504040204" pitchFamily="34" charset="-120"/>
            </a:endParaRPr>
          </a:p>
          <a:p>
            <a:endParaRPr lang="en-US" altLang="zh-TW" dirty="0">
              <a:solidFill>
                <a:srgbClr val="002060"/>
              </a:solidFill>
              <a:latin typeface="微軟正黑體" panose="020B0604030504040204" pitchFamily="34" charset="-120"/>
              <a:ea typeface="微軟正黑體" panose="020B0604030504040204" pitchFamily="34" charset="-120"/>
            </a:endParaRPr>
          </a:p>
          <a:p>
            <a:endParaRPr lang="en-US" altLang="zh-TW" sz="2400" dirty="0">
              <a:latin typeface="新細明體" panose="02020500000000000000" pitchFamily="18" charset="-12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539967-C501-4BFB-9A68-7A67A5830C5B}"/>
              </a:ext>
            </a:extLst>
          </p:cNvPr>
          <p:cNvSpPr>
            <a:spLocks noGrp="1"/>
          </p:cNvSpPr>
          <p:nvPr>
            <p:ph type="title"/>
          </p:nvPr>
        </p:nvSpPr>
        <p:spPr>
          <a:xfrm>
            <a:off x="1653363" y="365760"/>
            <a:ext cx="9367203" cy="1188720"/>
          </a:xfrm>
        </p:spPr>
        <p:txBody>
          <a:bodyPr>
            <a:normAutofit/>
          </a:bodyPr>
          <a:lstStyle/>
          <a:p>
            <a:r>
              <a:rPr lang="zh-TW" altLang="en-US" dirty="0">
                <a:solidFill>
                  <a:srgbClr val="C00000"/>
                </a:solidFill>
                <a:latin typeface="微軟正黑體" panose="020B0604030504040204" pitchFamily="34" charset="-120"/>
                <a:ea typeface="微軟正黑體" panose="020B0604030504040204" pitchFamily="34" charset="-120"/>
              </a:rPr>
              <a:t>社區優勢在社安網推動</a:t>
            </a:r>
          </a:p>
        </p:txBody>
      </p:sp>
      <p:sp>
        <p:nvSpPr>
          <p:cNvPr id="8" name="Freeform: Shape 7">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764099"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12191999"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971654"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內容版面配置區 2">
            <a:extLst>
              <a:ext uri="{FF2B5EF4-FFF2-40B4-BE49-F238E27FC236}">
                <a16:creationId xmlns:a16="http://schemas.microsoft.com/office/drawing/2014/main" id="{9C614763-A932-426F-8FC5-121EFB21F3B2}"/>
              </a:ext>
            </a:extLst>
          </p:cNvPr>
          <p:cNvSpPr>
            <a:spLocks noGrp="1"/>
          </p:cNvSpPr>
          <p:nvPr>
            <p:ph idx="1"/>
          </p:nvPr>
        </p:nvSpPr>
        <p:spPr>
          <a:xfrm>
            <a:off x="1138518" y="1810871"/>
            <a:ext cx="9882049" cy="4407049"/>
          </a:xfrm>
        </p:spPr>
        <p:txBody>
          <a:bodyPr anchor="t">
            <a:normAutofit lnSpcReduction="10000"/>
          </a:bodyPr>
          <a:lstStyle/>
          <a:p>
            <a:r>
              <a:rPr lang="zh-TW" altLang="en-US" dirty="0">
                <a:solidFill>
                  <a:srgbClr val="002060"/>
                </a:solidFill>
                <a:latin typeface="微軟正黑體" panose="020B0604030504040204" pitchFamily="34" charset="-120"/>
                <a:ea typeface="微軟正黑體" panose="020B0604030504040204" pitchFamily="34" charset="-120"/>
              </a:rPr>
              <a:t>社區居民共同生活圈的熟悉度，作為友善家庭實踐處所</a:t>
            </a:r>
            <a:endParaRPr lang="en-US" altLang="zh-TW" dirty="0">
              <a:solidFill>
                <a:srgbClr val="002060"/>
              </a:solidFill>
              <a:latin typeface="微軟正黑體" panose="020B0604030504040204" pitchFamily="34" charset="-120"/>
              <a:ea typeface="微軟正黑體" panose="020B0604030504040204" pitchFamily="34" charset="-120"/>
            </a:endParaRPr>
          </a:p>
          <a:p>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社區可以發展支持家庭預防性方案</a:t>
            </a:r>
            <a:endParaRPr lang="en-US" altLang="zh-TW" dirty="0">
              <a:solidFill>
                <a:srgbClr val="002060"/>
              </a:solidFill>
              <a:latin typeface="微軟正黑體" panose="020B0604030504040204" pitchFamily="34" charset="-120"/>
              <a:ea typeface="微軟正黑體" panose="020B0604030504040204" pitchFamily="34" charset="-120"/>
            </a:endParaRPr>
          </a:p>
          <a:p>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社區可以發掘潛在脆弱家庭和危機家庭並預警</a:t>
            </a:r>
            <a:endParaRPr lang="en-US" altLang="zh-TW" dirty="0">
              <a:solidFill>
                <a:srgbClr val="002060"/>
              </a:solidFill>
              <a:latin typeface="微軟正黑體" panose="020B0604030504040204" pitchFamily="34" charset="-120"/>
              <a:ea typeface="微軟正黑體" panose="020B0604030504040204" pitchFamily="34" charset="-120"/>
            </a:endParaRPr>
          </a:p>
          <a:p>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社區可整合資源及特色成為可近性的服務據點</a:t>
            </a:r>
            <a:endParaRPr lang="en-US" altLang="zh-TW" dirty="0">
              <a:solidFill>
                <a:srgbClr val="002060"/>
              </a:solidFill>
              <a:latin typeface="微軟正黑體" panose="020B0604030504040204" pitchFamily="34" charset="-120"/>
              <a:ea typeface="微軟正黑體" panose="020B0604030504040204" pitchFamily="34" charset="-120"/>
            </a:endParaRPr>
          </a:p>
          <a:p>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社區成為社安網的基礎的服務資源</a:t>
            </a:r>
          </a:p>
        </p:txBody>
      </p:sp>
    </p:spTree>
    <p:extLst>
      <p:ext uri="{BB962C8B-B14F-4D97-AF65-F5344CB8AC3E}">
        <p14:creationId xmlns:p14="http://schemas.microsoft.com/office/powerpoint/2010/main" val="18287736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DEA5DD-8141-4E42-8EEE-9FF47315D53C}"/>
              </a:ext>
            </a:extLst>
          </p:cNvPr>
          <p:cNvSpPr>
            <a:spLocks noGrp="1"/>
          </p:cNvSpPr>
          <p:nvPr>
            <p:ph type="title"/>
          </p:nvPr>
        </p:nvSpPr>
        <p:spPr>
          <a:xfrm>
            <a:off x="1653363" y="365760"/>
            <a:ext cx="9367203" cy="1188720"/>
          </a:xfrm>
        </p:spPr>
        <p:txBody>
          <a:bodyPr>
            <a:normAutofit/>
          </a:bodyPr>
          <a:lstStyle/>
          <a:p>
            <a:r>
              <a:rPr lang="zh-TW" altLang="en-US" dirty="0">
                <a:solidFill>
                  <a:srgbClr val="C00000"/>
                </a:solidFill>
                <a:latin typeface="微軟正黑體" panose="020B0604030504040204" pitchFamily="34" charset="-120"/>
                <a:ea typeface="微軟正黑體" panose="020B0604030504040204" pitchFamily="34" charset="-120"/>
              </a:rPr>
              <a:t>貴社區轄區有哪個社會福利中心？</a:t>
            </a:r>
          </a:p>
        </p:txBody>
      </p:sp>
      <p:sp>
        <p:nvSpPr>
          <p:cNvPr id="8" name="Freeform: Shape 7">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764099"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12191999"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971654"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內容版面配置區 2">
            <a:extLst>
              <a:ext uri="{FF2B5EF4-FFF2-40B4-BE49-F238E27FC236}">
                <a16:creationId xmlns:a16="http://schemas.microsoft.com/office/drawing/2014/main" id="{4F01EA65-F629-4DBB-87C7-EC641DE69ABC}"/>
              </a:ext>
            </a:extLst>
          </p:cNvPr>
          <p:cNvSpPr>
            <a:spLocks noGrp="1"/>
          </p:cNvSpPr>
          <p:nvPr>
            <p:ph idx="1"/>
          </p:nvPr>
        </p:nvSpPr>
        <p:spPr>
          <a:xfrm>
            <a:off x="1653363" y="1920240"/>
            <a:ext cx="9367204" cy="4297680"/>
          </a:xfrm>
        </p:spPr>
        <p:txBody>
          <a:bodyPr anchor="t">
            <a:normAutofit/>
          </a:bodyPr>
          <a:lstStyle/>
          <a:p>
            <a:r>
              <a:rPr lang="zh-TW" altLang="en-US" dirty="0">
                <a:solidFill>
                  <a:srgbClr val="002060"/>
                </a:solidFill>
                <a:latin typeface="微軟正黑體" panose="020B0604030504040204" pitchFamily="34" charset="-120"/>
                <a:ea typeface="微軟正黑體" panose="020B0604030504040204" pitchFamily="34" charset="-120"/>
              </a:rPr>
              <a:t>社福中心與社區是互為資源</a:t>
            </a:r>
            <a:endParaRPr lang="en-US" altLang="zh-TW" dirty="0">
              <a:solidFill>
                <a:srgbClr val="002060"/>
              </a:solidFill>
              <a:latin typeface="微軟正黑體" panose="020B0604030504040204" pitchFamily="34" charset="-120"/>
              <a:ea typeface="微軟正黑體" panose="020B0604030504040204" pitchFamily="34" charset="-120"/>
            </a:endParaRPr>
          </a:p>
          <a:p>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社區：宣導社區安全意識、發掘潛在脆弱、危機家庭，進行通報？提供危機或脆弱家庭關懷訪視、社區支持服務</a:t>
            </a:r>
            <a:endParaRPr lang="en-US" altLang="zh-TW" dirty="0">
              <a:solidFill>
                <a:srgbClr val="002060"/>
              </a:solidFill>
              <a:latin typeface="微軟正黑體" panose="020B0604030504040204" pitchFamily="34" charset="-120"/>
              <a:ea typeface="微軟正黑體" panose="020B0604030504040204" pitchFamily="34" charset="-120"/>
            </a:endParaRPr>
          </a:p>
          <a:p>
            <a:endParaRPr lang="en-US" altLang="zh-TW" dirty="0">
              <a:solidFill>
                <a:srgbClr val="002060"/>
              </a:solidFill>
              <a:latin typeface="微軟正黑體" panose="020B0604030504040204" pitchFamily="34" charset="-120"/>
              <a:ea typeface="微軟正黑體" panose="020B0604030504040204" pitchFamily="34" charset="-120"/>
            </a:endParaRPr>
          </a:p>
          <a:p>
            <a:r>
              <a:rPr lang="zh-TW" altLang="en-US" dirty="0">
                <a:solidFill>
                  <a:srgbClr val="002060"/>
                </a:solidFill>
                <a:latin typeface="微軟正黑體" panose="020B0604030504040204" pitchFamily="34" charset="-120"/>
                <a:ea typeface="微軟正黑體" panose="020B0604030504040204" pitchFamily="34" charset="-120"/>
              </a:rPr>
              <a:t>社福中心：提供專業服務：進行家庭訪視評估、提出服務計畫、連結資源介入案家，例如協助申請社會救助、家務指導、親職功能提升、</a:t>
            </a:r>
            <a:r>
              <a:rPr lang="en-US" altLang="zh-TW" dirty="0">
                <a:solidFill>
                  <a:srgbClr val="002060"/>
                </a:solidFill>
                <a:latin typeface="微軟正黑體" panose="020B0604030504040204" pitchFamily="34" charset="-120"/>
                <a:ea typeface="微軟正黑體" panose="020B0604030504040204" pitchFamily="34" charset="-120"/>
              </a:rPr>
              <a:t>…….</a:t>
            </a:r>
          </a:p>
          <a:p>
            <a:endParaRPr lang="zh-TW" altLang="en-US" sz="2400" dirty="0"/>
          </a:p>
        </p:txBody>
      </p:sp>
    </p:spTree>
    <p:extLst>
      <p:ext uri="{BB962C8B-B14F-4D97-AF65-F5344CB8AC3E}">
        <p14:creationId xmlns:p14="http://schemas.microsoft.com/office/powerpoint/2010/main" val="10033400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425954-CD9E-4FDC-B4DE-4D4A778A6DDD}"/>
              </a:ext>
            </a:extLst>
          </p:cNvPr>
          <p:cNvSpPr>
            <a:spLocks noGrp="1"/>
          </p:cNvSpPr>
          <p:nvPr>
            <p:ph type="title"/>
          </p:nvPr>
        </p:nvSpPr>
        <p:spPr>
          <a:xfrm>
            <a:off x="1653363" y="365760"/>
            <a:ext cx="9367203" cy="1188720"/>
          </a:xfrm>
        </p:spPr>
        <p:txBody>
          <a:bodyPr>
            <a:normAutofit/>
          </a:bodyPr>
          <a:lstStyle/>
          <a:p>
            <a:r>
              <a:rPr lang="zh-TW" altLang="en-US" sz="4000" dirty="0">
                <a:solidFill>
                  <a:srgbClr val="C00000"/>
                </a:solidFill>
                <a:latin typeface="微軟正黑體" panose="020B0604030504040204" pitchFamily="34" charset="-120"/>
                <a:ea typeface="微軟正黑體" panose="020B0604030504040204" pitchFamily="34" charset="-120"/>
              </a:rPr>
              <a:t>社區成為社安網堅定支持的服務資源</a:t>
            </a:r>
          </a:p>
        </p:txBody>
      </p:sp>
      <p:sp>
        <p:nvSpPr>
          <p:cNvPr id="8" name="Freeform: Shape 7">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764099"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12191999"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971654"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內容版面配置區 2">
            <a:extLst>
              <a:ext uri="{FF2B5EF4-FFF2-40B4-BE49-F238E27FC236}">
                <a16:creationId xmlns:a16="http://schemas.microsoft.com/office/drawing/2014/main" id="{28471AB0-96F5-4C91-9257-64052D8DA25F}"/>
              </a:ext>
            </a:extLst>
          </p:cNvPr>
          <p:cNvSpPr>
            <a:spLocks noGrp="1"/>
          </p:cNvSpPr>
          <p:nvPr>
            <p:ph idx="1"/>
          </p:nvPr>
        </p:nvSpPr>
        <p:spPr>
          <a:xfrm>
            <a:off x="1290320" y="1849120"/>
            <a:ext cx="9730247" cy="4368800"/>
          </a:xfrm>
        </p:spPr>
        <p:txBody>
          <a:bodyPr anchor="t">
            <a:normAutofit lnSpcReduction="10000"/>
          </a:bodyPr>
          <a:lstStyle/>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1.</a:t>
            </a:r>
            <a:r>
              <a:rPr lang="zh-TW" altLang="en-US" dirty="0">
                <a:solidFill>
                  <a:srgbClr val="002060"/>
                </a:solidFill>
                <a:latin typeface="微軟正黑體" panose="020B0604030504040204" pitchFamily="34" charset="-120"/>
                <a:ea typeface="微軟正黑體" panose="020B0604030504040204" pitchFamily="34" charset="-120"/>
              </a:rPr>
              <a:t>設置食</a:t>
            </a: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實</a:t>
            </a: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物銀行</a:t>
            </a: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社區據點</a:t>
            </a:r>
            <a:r>
              <a:rPr lang="en-US" altLang="zh-TW" dirty="0">
                <a:solidFill>
                  <a:srgbClr val="002060"/>
                </a:solidFill>
                <a:latin typeface="微軟正黑體" panose="020B0604030504040204" pitchFamily="34" charset="-120"/>
                <a:ea typeface="微軟正黑體" panose="020B0604030504040204" pitchFamily="34" charset="-120"/>
              </a:rPr>
              <a:t>)</a:t>
            </a:r>
          </a:p>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2.</a:t>
            </a:r>
            <a:r>
              <a:rPr lang="zh-TW" altLang="en-US" dirty="0">
                <a:solidFill>
                  <a:srgbClr val="002060"/>
                </a:solidFill>
                <a:latin typeface="微軟正黑體" panose="020B0604030504040204" pitchFamily="34" charset="-120"/>
                <a:ea typeface="微軟正黑體" panose="020B0604030504040204" pitchFamily="34" charset="-120"/>
              </a:rPr>
              <a:t>弱勢家庭支持</a:t>
            </a: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餐食、關懷、陪伴</a:t>
            </a:r>
            <a:r>
              <a:rPr lang="en-US" altLang="zh-TW" dirty="0">
                <a:solidFill>
                  <a:srgbClr val="002060"/>
                </a:solidFill>
                <a:latin typeface="微軟正黑體" panose="020B0604030504040204" pitchFamily="34" charset="-120"/>
                <a:ea typeface="微軟正黑體" panose="020B0604030504040204" pitchFamily="34" charset="-120"/>
              </a:rPr>
              <a:t>…)</a:t>
            </a:r>
          </a:p>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3.</a:t>
            </a:r>
            <a:r>
              <a:rPr lang="zh-TW" altLang="en-US" dirty="0">
                <a:solidFill>
                  <a:srgbClr val="002060"/>
                </a:solidFill>
                <a:latin typeface="微軟正黑體" panose="020B0604030504040204" pitchFamily="34" charset="-120"/>
                <a:ea typeface="微軟正黑體" panose="020B0604030504040204" pitchFamily="34" charset="-120"/>
              </a:rPr>
              <a:t>兒少課後照顧、臨托</a:t>
            </a: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小衛星</a:t>
            </a:r>
            <a:r>
              <a:rPr lang="en-US" altLang="zh-TW" dirty="0">
                <a:solidFill>
                  <a:srgbClr val="002060"/>
                </a:solidFill>
                <a:latin typeface="微軟正黑體" panose="020B0604030504040204" pitchFamily="34" charset="-120"/>
                <a:ea typeface="微軟正黑體" panose="020B0604030504040204" pitchFamily="34" charset="-120"/>
              </a:rPr>
              <a:t>)</a:t>
            </a:r>
          </a:p>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4.</a:t>
            </a:r>
            <a:r>
              <a:rPr lang="zh-TW" altLang="en-US" dirty="0">
                <a:solidFill>
                  <a:srgbClr val="002060"/>
                </a:solidFill>
                <a:latin typeface="微軟正黑體" panose="020B0604030504040204" pitchFamily="34" charset="-120"/>
                <a:ea typeface="微軟正黑體" panose="020B0604030504040204" pitchFamily="34" charset="-120"/>
              </a:rPr>
              <a:t>親職教育、育兒指導、健康促進</a:t>
            </a:r>
            <a:endParaRPr lang="en-US" altLang="zh-TW" dirty="0">
              <a:solidFill>
                <a:srgbClr val="002060"/>
              </a:solidFill>
              <a:latin typeface="微軟正黑體" panose="020B0604030504040204" pitchFamily="34" charset="-120"/>
              <a:ea typeface="微軟正黑體" panose="020B0604030504040204" pitchFamily="34" charset="-120"/>
            </a:endParaRPr>
          </a:p>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5.</a:t>
            </a:r>
            <a:r>
              <a:rPr lang="zh-TW" altLang="en-US" dirty="0">
                <a:solidFill>
                  <a:srgbClr val="002060"/>
                </a:solidFill>
                <a:latin typeface="微軟正黑體" panose="020B0604030504040204" pitchFamily="34" charset="-120"/>
                <a:ea typeface="微軟正黑體" panose="020B0604030504040204" pitchFamily="34" charset="-120"/>
              </a:rPr>
              <a:t>成立團社、促進參與：青少年、兒童、老人、婦女團社</a:t>
            </a:r>
            <a:endParaRPr lang="en-US" altLang="zh-TW" dirty="0">
              <a:solidFill>
                <a:srgbClr val="002060"/>
              </a:solidFill>
              <a:latin typeface="微軟正黑體" panose="020B0604030504040204" pitchFamily="34" charset="-120"/>
              <a:ea typeface="微軟正黑體" panose="020B0604030504040204" pitchFamily="34" charset="-120"/>
            </a:endParaRPr>
          </a:p>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6.</a:t>
            </a:r>
            <a:r>
              <a:rPr lang="zh-TW" altLang="en-US" dirty="0">
                <a:solidFill>
                  <a:srgbClr val="002060"/>
                </a:solidFill>
                <a:latin typeface="微軟正黑體" panose="020B0604030504040204" pitchFamily="34" charset="-120"/>
                <a:ea typeface="微軟正黑體" panose="020B0604030504040204" pitchFamily="34" charset="-120"/>
              </a:rPr>
              <a:t>社區心理復健者友善據點</a:t>
            </a:r>
            <a:endParaRPr lang="en-US" altLang="zh-TW" dirty="0">
              <a:solidFill>
                <a:srgbClr val="002060"/>
              </a:solidFill>
              <a:latin typeface="微軟正黑體" panose="020B0604030504040204" pitchFamily="34" charset="-120"/>
              <a:ea typeface="微軟正黑體" panose="020B0604030504040204" pitchFamily="34" charset="-120"/>
            </a:endParaRPr>
          </a:p>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7.</a:t>
            </a:r>
            <a:r>
              <a:rPr lang="zh-TW" altLang="en-US" dirty="0">
                <a:solidFill>
                  <a:srgbClr val="002060"/>
                </a:solidFill>
                <a:latin typeface="微軟正黑體" panose="020B0604030504040204" pitchFamily="34" charset="-120"/>
                <a:ea typeface="微軟正黑體" panose="020B0604030504040204" pitchFamily="34" charset="-120"/>
              </a:rPr>
              <a:t>愛心商店、友善房東、安全社區</a:t>
            </a:r>
            <a:endParaRPr lang="en-US" altLang="zh-TW" dirty="0">
              <a:solidFill>
                <a:srgbClr val="002060"/>
              </a:solidFill>
              <a:latin typeface="微軟正黑體" panose="020B0604030504040204" pitchFamily="34" charset="-120"/>
              <a:ea typeface="微軟正黑體" panose="020B0604030504040204" pitchFamily="34" charset="-120"/>
            </a:endParaRPr>
          </a:p>
          <a:p>
            <a:pPr marL="0" indent="0">
              <a:buNone/>
            </a:pPr>
            <a:r>
              <a:rPr lang="en-US" altLang="zh-TW" dirty="0">
                <a:solidFill>
                  <a:srgbClr val="002060"/>
                </a:solidFill>
                <a:latin typeface="微軟正黑體" panose="020B0604030504040204" pitchFamily="34" charset="-120"/>
                <a:ea typeface="微軟正黑體" panose="020B0604030504040204" pitchFamily="34" charset="-120"/>
              </a:rPr>
              <a:t>8.</a:t>
            </a:r>
            <a:r>
              <a:rPr lang="zh-TW" altLang="en-US" dirty="0">
                <a:solidFill>
                  <a:srgbClr val="002060"/>
                </a:solidFill>
                <a:latin typeface="微軟正黑體" panose="020B0604030504040204" pitchFamily="34" charset="-120"/>
                <a:ea typeface="微軟正黑體" panose="020B0604030504040204" pitchFamily="34" charset="-120"/>
              </a:rPr>
              <a:t>邀請參與社區親子活動、參與社區活動</a:t>
            </a: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促進互動交流</a:t>
            </a:r>
            <a:r>
              <a:rPr lang="en-US" altLang="zh-TW" dirty="0">
                <a:solidFill>
                  <a:srgbClr val="002060"/>
                </a:solidFill>
                <a:latin typeface="微軟正黑體" panose="020B0604030504040204" pitchFamily="34" charset="-120"/>
                <a:ea typeface="微軟正黑體" panose="020B0604030504040204" pitchFamily="34" charset="-120"/>
              </a:rPr>
              <a:t>)</a:t>
            </a:r>
            <a:r>
              <a:rPr lang="zh-TW" altLang="en-US" dirty="0">
                <a:solidFill>
                  <a:srgbClr val="002060"/>
                </a:solidFill>
                <a:latin typeface="微軟正黑體" panose="020B0604030504040204" pitchFamily="34" charset="-120"/>
                <a:ea typeface="微軟正黑體" panose="020B0604030504040204" pitchFamily="34" charset="-120"/>
              </a:rPr>
              <a:t>、中秋烤肉、節慶活動、</a:t>
            </a:r>
            <a:r>
              <a:rPr lang="en-US" altLang="zh-TW" dirty="0">
                <a:solidFill>
                  <a:srgbClr val="002060"/>
                </a:solidFill>
                <a:latin typeface="微軟正黑體" panose="020B0604030504040204" pitchFamily="34" charset="-120"/>
                <a:ea typeface="微軟正黑體" panose="020B0604030504040204" pitchFamily="34" charset="-120"/>
              </a:rPr>
              <a:t>……… </a:t>
            </a:r>
            <a:endParaRPr lang="zh-TW" altLang="en-US" dirty="0">
              <a:solidFill>
                <a:srgbClr val="00206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2326197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91545" y="260351"/>
            <a:ext cx="8424935" cy="836613"/>
          </a:xfrm>
        </p:spPr>
        <p:txBody>
          <a:bodyPr/>
          <a:lstStyle/>
          <a:p>
            <a:pPr algn="l"/>
            <a:r>
              <a:rPr lang="zh-TW" altLang="en-US" dirty="0">
                <a:solidFill>
                  <a:srgbClr val="C00000"/>
                </a:solidFill>
                <a:latin typeface="微軟正黑體" panose="020B0604030504040204" pitchFamily="34" charset="-120"/>
                <a:ea typeface="微軟正黑體" panose="020B0604030504040204" pitchFamily="34" charset="-120"/>
              </a:rPr>
              <a:t>協助的目的</a:t>
            </a:r>
            <a:r>
              <a:rPr lang="en-US" altLang="zh-TW" dirty="0">
                <a:solidFill>
                  <a:srgbClr val="C00000"/>
                </a:solidFill>
                <a:latin typeface="微軟正黑體" panose="020B0604030504040204" pitchFamily="34" charset="-120"/>
                <a:ea typeface="微軟正黑體" panose="020B0604030504040204" pitchFamily="34" charset="-120"/>
              </a:rPr>
              <a:t>-</a:t>
            </a:r>
            <a:r>
              <a:rPr lang="zh-TW" altLang="en-US" dirty="0">
                <a:solidFill>
                  <a:srgbClr val="C00000"/>
                </a:solidFill>
                <a:latin typeface="微軟正黑體" panose="020B0604030504040204" pitchFamily="34" charset="-120"/>
                <a:ea typeface="微軟正黑體" panose="020B0604030504040204" pitchFamily="34" charset="-120"/>
              </a:rPr>
              <a:t>增強家庭功能</a:t>
            </a:r>
          </a:p>
        </p:txBody>
      </p:sp>
      <p:pic>
        <p:nvPicPr>
          <p:cNvPr id="7" name="內容版面配置區 15"/>
          <p:cNvPicPr>
            <a:picLocks noChangeAspect="1"/>
          </p:cNvPicPr>
          <p:nvPr/>
        </p:nvPicPr>
        <p:blipFill rotWithShape="1">
          <a:blip r:embed="rId2" cstate="print">
            <a:extLst>
              <a:ext uri="{28A0092B-C50C-407E-A947-70E740481C1C}">
                <a14:useLocalDpi xmlns:a14="http://schemas.microsoft.com/office/drawing/2010/main" val="0"/>
              </a:ext>
            </a:extLst>
          </a:blip>
          <a:srcRect l="-8021" t="-9318" r="8021" b="34315"/>
          <a:stretch/>
        </p:blipFill>
        <p:spPr bwMode="gray">
          <a:xfrm>
            <a:off x="6213428" y="1989120"/>
            <a:ext cx="2690884" cy="2520000"/>
          </a:xfrm>
          <a:prstGeom prst="rect">
            <a:avLst/>
          </a:prstGeom>
          <a:noFill/>
          <a:ln w="9525">
            <a:noFill/>
            <a:miter lim="800000"/>
            <a:headEnd/>
            <a:tailEnd/>
          </a:ln>
        </p:spPr>
      </p:pic>
      <p:sp>
        <p:nvSpPr>
          <p:cNvPr id="8" name="向右箭號 7"/>
          <p:cNvSpPr/>
          <p:nvPr/>
        </p:nvSpPr>
        <p:spPr>
          <a:xfrm rot="1611053">
            <a:off x="4560450" y="2344316"/>
            <a:ext cx="716087" cy="432048"/>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向右箭號 8"/>
          <p:cNvSpPr/>
          <p:nvPr/>
        </p:nvSpPr>
        <p:spPr>
          <a:xfrm rot="20525965">
            <a:off x="4718780" y="4870755"/>
            <a:ext cx="716087" cy="432048"/>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2100537" y="4267600"/>
            <a:ext cx="2720454" cy="1569660"/>
          </a:xfrm>
          <a:prstGeom prst="rect">
            <a:avLst/>
          </a:prstGeom>
          <a:noFill/>
        </p:spPr>
        <p:txBody>
          <a:bodyPr wrap="square" lIns="91440" tIns="45720" rIns="91440" bIns="45720">
            <a:spAutoFit/>
          </a:bodyPr>
          <a:lstStyle/>
          <a:p>
            <a:pPr algn="ctr"/>
            <a:r>
              <a:rPr lang="zh-TW" altLang="en-US" sz="9600" b="1" dirty="0">
                <a:ln w="22225">
                  <a:solidFill>
                    <a:schemeClr val="accent2"/>
                  </a:solidFill>
                  <a:prstDash val="solid"/>
                </a:ln>
                <a:solidFill>
                  <a:srgbClr val="002060"/>
                </a:solidFill>
                <a:effectLst>
                  <a:glow rad="139700">
                    <a:schemeClr val="accent2">
                      <a:satMod val="175000"/>
                      <a:alpha val="40000"/>
                    </a:schemeClr>
                  </a:glow>
                </a:effectLst>
                <a:latin typeface="微軟正黑體" panose="020B0604030504040204" pitchFamily="34" charset="-120"/>
                <a:ea typeface="微軟正黑體" panose="020B0604030504040204" pitchFamily="34" charset="-120"/>
              </a:rPr>
              <a:t>社區</a:t>
            </a:r>
          </a:p>
        </p:txBody>
      </p:sp>
      <p:grpSp>
        <p:nvGrpSpPr>
          <p:cNvPr id="11" name="群組 23"/>
          <p:cNvGrpSpPr>
            <a:grpSpLocks noGrp="1"/>
          </p:cNvGrpSpPr>
          <p:nvPr/>
        </p:nvGrpSpPr>
        <p:grpSpPr>
          <a:xfrm>
            <a:off x="5159896" y="1412776"/>
            <a:ext cx="5233020" cy="4200872"/>
            <a:chOff x="2123728" y="1412776"/>
            <a:chExt cx="5256584" cy="4752528"/>
          </a:xfrm>
        </p:grpSpPr>
        <p:sp>
          <p:nvSpPr>
            <p:cNvPr id="12" name="橢圓 11"/>
            <p:cNvSpPr/>
            <p:nvPr/>
          </p:nvSpPr>
          <p:spPr>
            <a:xfrm>
              <a:off x="2771800" y="1919263"/>
              <a:ext cx="3816240" cy="4032448"/>
            </a:xfrm>
            <a:prstGeom prst="ellipse">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 name="群組 22"/>
            <p:cNvGrpSpPr/>
            <p:nvPr/>
          </p:nvGrpSpPr>
          <p:grpSpPr>
            <a:xfrm>
              <a:off x="2123728" y="1412776"/>
              <a:ext cx="5256584" cy="4752528"/>
              <a:chOff x="2123728" y="1412776"/>
              <a:chExt cx="5256584" cy="4752528"/>
            </a:xfrm>
          </p:grpSpPr>
          <p:sp>
            <p:nvSpPr>
              <p:cNvPr id="14" name="橢圓 13"/>
              <p:cNvSpPr/>
              <p:nvPr/>
            </p:nvSpPr>
            <p:spPr>
              <a:xfrm>
                <a:off x="2123728" y="2852936"/>
                <a:ext cx="1512168" cy="1440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TW" altLang="en-US" sz="3200" dirty="0">
                    <a:latin typeface="微軟正黑體" pitchFamily="34" charset="-120"/>
                    <a:ea typeface="微軟正黑體" pitchFamily="34" charset="-120"/>
                  </a:rPr>
                  <a:t>照顧功能</a:t>
                </a:r>
              </a:p>
            </p:txBody>
          </p:sp>
          <p:sp>
            <p:nvSpPr>
              <p:cNvPr id="15" name="橢圓 14"/>
              <p:cNvSpPr/>
              <p:nvPr/>
            </p:nvSpPr>
            <p:spPr>
              <a:xfrm>
                <a:off x="2555776" y="4653136"/>
                <a:ext cx="1512168" cy="1440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TW" altLang="en-US" sz="3200" dirty="0">
                    <a:latin typeface="微軟正黑體" pitchFamily="34" charset="-120"/>
                    <a:ea typeface="微軟正黑體" pitchFamily="34" charset="-120"/>
                  </a:rPr>
                  <a:t>教育功能</a:t>
                </a:r>
              </a:p>
            </p:txBody>
          </p:sp>
          <p:sp>
            <p:nvSpPr>
              <p:cNvPr id="16" name="橢圓 15"/>
              <p:cNvSpPr/>
              <p:nvPr/>
            </p:nvSpPr>
            <p:spPr>
              <a:xfrm>
                <a:off x="3995936" y="1412776"/>
                <a:ext cx="1512168" cy="1440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TW" altLang="en-US" sz="3200" dirty="0">
                    <a:latin typeface="微軟正黑體" pitchFamily="34" charset="-120"/>
                    <a:ea typeface="微軟正黑體" pitchFamily="34" charset="-120"/>
                  </a:rPr>
                  <a:t>保護功能</a:t>
                </a:r>
              </a:p>
            </p:txBody>
          </p:sp>
          <p:sp>
            <p:nvSpPr>
              <p:cNvPr id="17" name="橢圓 16"/>
              <p:cNvSpPr/>
              <p:nvPr/>
            </p:nvSpPr>
            <p:spPr>
              <a:xfrm>
                <a:off x="5868144" y="2852936"/>
                <a:ext cx="1512168" cy="1440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TW" altLang="en-US" sz="3200" dirty="0">
                    <a:latin typeface="微軟正黑體" pitchFamily="34" charset="-120"/>
                    <a:ea typeface="微軟正黑體" pitchFamily="34" charset="-120"/>
                  </a:rPr>
                  <a:t>情感功能</a:t>
                </a:r>
              </a:p>
            </p:txBody>
          </p:sp>
          <p:sp>
            <p:nvSpPr>
              <p:cNvPr id="18" name="橢圓 17"/>
              <p:cNvSpPr/>
              <p:nvPr/>
            </p:nvSpPr>
            <p:spPr>
              <a:xfrm>
                <a:off x="5292080" y="4725144"/>
                <a:ext cx="1512168" cy="1440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TW" altLang="en-US" sz="3200" dirty="0">
                    <a:latin typeface="微軟正黑體" pitchFamily="34" charset="-120"/>
                    <a:ea typeface="微軟正黑體" pitchFamily="34" charset="-120"/>
                  </a:rPr>
                  <a:t>經濟功能</a:t>
                </a:r>
              </a:p>
            </p:txBody>
          </p:sp>
        </p:grpSp>
      </p:grpSp>
      <p:sp>
        <p:nvSpPr>
          <p:cNvPr id="19" name="圓角矩形 13"/>
          <p:cNvSpPr>
            <a:spLocks noChangeArrowheads="1"/>
          </p:cNvSpPr>
          <p:nvPr/>
        </p:nvSpPr>
        <p:spPr bwMode="auto">
          <a:xfrm>
            <a:off x="2783632" y="6092825"/>
            <a:ext cx="2880000" cy="720000"/>
          </a:xfrm>
          <a:prstGeom prst="roundRect">
            <a:avLst>
              <a:gd name="adj" fmla="val 16667"/>
            </a:avLst>
          </a:prstGeom>
          <a:ln>
            <a:headEnd/>
            <a:tailEnd/>
          </a:ln>
        </p:spPr>
        <p:style>
          <a:lnRef idx="2">
            <a:schemeClr val="accent5"/>
          </a:lnRef>
          <a:fillRef idx="1">
            <a:schemeClr val="lt1"/>
          </a:fillRef>
          <a:effectRef idx="0">
            <a:schemeClr val="accent5"/>
          </a:effectRef>
          <a:fontRef idx="minor">
            <a:schemeClr val="dk1"/>
          </a:fontRef>
        </p:style>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ctr">
              <a:spcBef>
                <a:spcPct val="0"/>
              </a:spcBef>
              <a:buClr>
                <a:schemeClr val="bg2"/>
              </a:buClr>
              <a:buSzPct val="75000"/>
              <a:buFontTx/>
              <a:buNone/>
            </a:pPr>
            <a:r>
              <a:rPr lang="zh-TW" altLang="en-US" sz="2400" dirty="0">
                <a:solidFill>
                  <a:srgbClr val="002060"/>
                </a:solidFill>
                <a:latin typeface="微軟正黑體" panose="020B0604030504040204" pitchFamily="34" charset="-120"/>
                <a:ea typeface="微軟正黑體" panose="020B0604030504040204" pitchFamily="34" charset="-120"/>
              </a:rPr>
              <a:t>建置家庭支持網絡</a:t>
            </a:r>
            <a:endParaRPr lang="zh-TW" altLang="en-US" sz="2400" b="1" dirty="0">
              <a:solidFill>
                <a:srgbClr val="002060"/>
              </a:solidFill>
              <a:latin typeface="微軟正黑體" panose="020B0604030504040204" pitchFamily="34" charset="-120"/>
              <a:ea typeface="微軟正黑體" panose="020B0604030504040204" pitchFamily="34" charset="-120"/>
            </a:endParaRPr>
          </a:p>
        </p:txBody>
      </p:sp>
      <p:sp>
        <p:nvSpPr>
          <p:cNvPr id="20" name="圓角矩形 19"/>
          <p:cNvSpPr>
            <a:spLocks noChangeArrowheads="1"/>
          </p:cNvSpPr>
          <p:nvPr/>
        </p:nvSpPr>
        <p:spPr bwMode="auto">
          <a:xfrm>
            <a:off x="6563732" y="6092825"/>
            <a:ext cx="2880000" cy="720000"/>
          </a:xfrm>
          <a:prstGeom prst="roundRect">
            <a:avLst>
              <a:gd name="adj" fmla="val 16667"/>
            </a:avLst>
          </a:prstGeom>
          <a:ln>
            <a:headEnd/>
            <a:tailEnd/>
          </a:ln>
        </p:spPr>
        <p:style>
          <a:lnRef idx="2">
            <a:schemeClr val="accent5"/>
          </a:lnRef>
          <a:fillRef idx="1">
            <a:schemeClr val="lt1"/>
          </a:fillRef>
          <a:effectRef idx="0">
            <a:schemeClr val="accent5"/>
          </a:effectRef>
          <a:fontRef idx="minor">
            <a:schemeClr val="dk1"/>
          </a:fontRef>
        </p:style>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algn="ctr">
              <a:spcBef>
                <a:spcPct val="0"/>
              </a:spcBef>
              <a:buClr>
                <a:schemeClr val="bg2"/>
              </a:buClr>
              <a:buSzPct val="75000"/>
              <a:buFontTx/>
              <a:buNone/>
            </a:pPr>
            <a:r>
              <a:rPr lang="zh-TW" altLang="en-US" sz="2400" dirty="0">
                <a:solidFill>
                  <a:srgbClr val="002060"/>
                </a:solidFill>
                <a:latin typeface="微軟正黑體" panose="020B0604030504040204" pitchFamily="34" charset="-120"/>
                <a:ea typeface="微軟正黑體" panose="020B0604030504040204" pitchFamily="34" charset="-120"/>
              </a:rPr>
              <a:t>增強家庭功能</a:t>
            </a:r>
          </a:p>
        </p:txBody>
      </p:sp>
      <p:sp>
        <p:nvSpPr>
          <p:cNvPr id="3" name="文字方塊 2">
            <a:extLst>
              <a:ext uri="{FF2B5EF4-FFF2-40B4-BE49-F238E27FC236}">
                <a16:creationId xmlns:a16="http://schemas.microsoft.com/office/drawing/2014/main" id="{277C91F7-FD19-4B26-BF11-EF00F638327D}"/>
              </a:ext>
            </a:extLst>
          </p:cNvPr>
          <p:cNvSpPr txBox="1"/>
          <p:nvPr/>
        </p:nvSpPr>
        <p:spPr>
          <a:xfrm>
            <a:off x="2423712" y="1787392"/>
            <a:ext cx="1947464" cy="1077218"/>
          </a:xfrm>
          <a:prstGeom prst="rect">
            <a:avLst/>
          </a:prstGeom>
          <a:noFill/>
        </p:spPr>
        <p:txBody>
          <a:bodyPr wrap="square" rtlCol="0">
            <a:spAutoFit/>
          </a:bodyPr>
          <a:lstStyle/>
          <a:p>
            <a:r>
              <a:rPr lang="zh-TW" altLang="en-US" sz="3200" b="1" dirty="0">
                <a:solidFill>
                  <a:srgbClr val="002060"/>
                </a:solidFill>
              </a:rPr>
              <a:t>社福團體組織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7F411A-CCB1-4819-A48A-836B24576868}"/>
              </a:ext>
            </a:extLst>
          </p:cNvPr>
          <p:cNvSpPr>
            <a:spLocks noGrp="1"/>
          </p:cNvSpPr>
          <p:nvPr>
            <p:ph type="title"/>
          </p:nvPr>
        </p:nvSpPr>
        <p:spPr>
          <a:xfrm>
            <a:off x="838200" y="365126"/>
            <a:ext cx="10515600" cy="863600"/>
          </a:xfrm>
        </p:spPr>
        <p:txBody>
          <a:bodyPr>
            <a:normAutofit/>
          </a:bodyPr>
          <a:lstStyle/>
          <a:p>
            <a:r>
              <a:rPr lang="zh-TW" altLang="en-US" sz="3600" dirty="0">
                <a:solidFill>
                  <a:srgbClr val="C00000"/>
                </a:solidFill>
                <a:latin typeface="微軟正黑體" panose="020B0604030504040204" pitchFamily="34" charset="-120"/>
                <a:ea typeface="微軟正黑體" panose="020B0604030504040204" pitchFamily="34" charset="-120"/>
              </a:rPr>
              <a:t>案例</a:t>
            </a:r>
            <a:r>
              <a:rPr lang="en-US" altLang="zh-TW" sz="3600" dirty="0">
                <a:solidFill>
                  <a:srgbClr val="C00000"/>
                </a:solidFill>
                <a:latin typeface="微軟正黑體" panose="020B0604030504040204" pitchFamily="34" charset="-120"/>
                <a:ea typeface="微軟正黑體" panose="020B0604030504040204" pitchFamily="34" charset="-120"/>
              </a:rPr>
              <a:t>1</a:t>
            </a:r>
            <a:endParaRPr lang="zh-TW" altLang="en-US" sz="3600" dirty="0">
              <a:solidFill>
                <a:srgbClr val="C00000"/>
              </a:solidFill>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DCFB8902-AABB-4B39-B2B4-39CA8F95172A}"/>
              </a:ext>
            </a:extLst>
          </p:cNvPr>
          <p:cNvSpPr>
            <a:spLocks noGrp="1"/>
          </p:cNvSpPr>
          <p:nvPr>
            <p:ph idx="1"/>
          </p:nvPr>
        </p:nvSpPr>
        <p:spPr>
          <a:xfrm>
            <a:off x="838200" y="1228726"/>
            <a:ext cx="10515600" cy="4948237"/>
          </a:xfrm>
        </p:spPr>
        <p:txBody>
          <a:bodyPr>
            <a:normAutofit/>
          </a:bodyPr>
          <a:lstStyle/>
          <a:p>
            <a:r>
              <a:rPr lang="zh-TW" altLang="en-US" sz="3200" dirty="0">
                <a:solidFill>
                  <a:srgbClr val="002060"/>
                </a:solidFill>
                <a:latin typeface="微軟正黑體" panose="020B0604030504040204" pitchFamily="34" charset="-120"/>
                <a:ea typeface="微軟正黑體" panose="020B0604030504040204" pitchFamily="34" charset="-120"/>
              </a:rPr>
              <a:t>案父母同居生下</a:t>
            </a:r>
            <a:r>
              <a:rPr lang="en-US" altLang="zh-TW" sz="3200" dirty="0">
                <a:solidFill>
                  <a:srgbClr val="002060"/>
                </a:solidFill>
                <a:latin typeface="微軟正黑體" panose="020B0604030504040204" pitchFamily="34" charset="-120"/>
                <a:ea typeface="微軟正黑體" panose="020B0604030504040204" pitchFamily="34" charset="-120"/>
              </a:rPr>
              <a:t>5</a:t>
            </a:r>
            <a:r>
              <a:rPr lang="zh-TW" altLang="en-US" sz="3200" dirty="0">
                <a:solidFill>
                  <a:srgbClr val="002060"/>
                </a:solidFill>
                <a:latin typeface="微軟正黑體" panose="020B0604030504040204" pitchFamily="34" charset="-120"/>
                <a:ea typeface="微軟正黑體" panose="020B0604030504040204" pitchFamily="34" charset="-120"/>
              </a:rPr>
              <a:t>名子女，分別為</a:t>
            </a:r>
            <a:r>
              <a:rPr lang="en-US" altLang="zh-TW" sz="3200" dirty="0">
                <a:solidFill>
                  <a:srgbClr val="002060"/>
                </a:solidFill>
                <a:latin typeface="微軟正黑體" panose="020B0604030504040204" pitchFamily="34" charset="-120"/>
                <a:ea typeface="微軟正黑體" panose="020B0604030504040204" pitchFamily="34" charset="-120"/>
              </a:rPr>
              <a:t>8.6.5.4.2.</a:t>
            </a:r>
            <a:r>
              <a:rPr lang="zh-TW" altLang="en-US" sz="3200" dirty="0">
                <a:solidFill>
                  <a:srgbClr val="002060"/>
                </a:solidFill>
                <a:latin typeface="微軟正黑體" panose="020B0604030504040204" pitchFamily="34" charset="-120"/>
                <a:ea typeface="微軟正黑體" panose="020B0604030504040204" pitchFamily="34" charset="-120"/>
              </a:rPr>
              <a:t>歲，其中</a:t>
            </a:r>
            <a:r>
              <a:rPr lang="en-US" altLang="zh-TW" sz="3200" dirty="0">
                <a:solidFill>
                  <a:srgbClr val="002060"/>
                </a:solidFill>
                <a:latin typeface="微軟正黑體" panose="020B0604030504040204" pitchFamily="34" charset="-120"/>
                <a:ea typeface="微軟正黑體" panose="020B0604030504040204" pitchFamily="34" charset="-120"/>
              </a:rPr>
              <a:t>8</a:t>
            </a:r>
            <a:r>
              <a:rPr lang="zh-TW" altLang="en-US" sz="3200" dirty="0">
                <a:solidFill>
                  <a:srgbClr val="002060"/>
                </a:solidFill>
                <a:latin typeface="微軟正黑體" panose="020B0604030504040204" pitchFamily="34" charset="-120"/>
                <a:ea typeface="微軟正黑體" panose="020B0604030504040204" pitchFamily="34" charset="-120"/>
              </a:rPr>
              <a:t>、</a:t>
            </a:r>
            <a:r>
              <a:rPr lang="en-US" altLang="zh-TW" sz="3200" dirty="0">
                <a:solidFill>
                  <a:srgbClr val="002060"/>
                </a:solidFill>
                <a:latin typeface="微軟正黑體" panose="020B0604030504040204" pitchFamily="34" charset="-120"/>
                <a:ea typeface="微軟正黑體" panose="020B0604030504040204" pitchFamily="34" charset="-120"/>
              </a:rPr>
              <a:t>6</a:t>
            </a:r>
            <a:r>
              <a:rPr lang="zh-TW" altLang="en-US" sz="3200" dirty="0">
                <a:solidFill>
                  <a:srgbClr val="002060"/>
                </a:solidFill>
                <a:latin typeface="微軟正黑體" panose="020B0604030504040204" pitchFamily="34" charset="-120"/>
                <a:ea typeface="微軟正黑體" panose="020B0604030504040204" pitchFamily="34" charset="-120"/>
              </a:rPr>
              <a:t>歲與</a:t>
            </a:r>
            <a:r>
              <a:rPr lang="en-US" altLang="zh-TW" sz="3200" dirty="0">
                <a:solidFill>
                  <a:srgbClr val="002060"/>
                </a:solidFill>
                <a:latin typeface="微軟正黑體" panose="020B0604030504040204" pitchFamily="34" charset="-120"/>
                <a:ea typeface="微軟正黑體" panose="020B0604030504040204" pitchFamily="34" charset="-120"/>
              </a:rPr>
              <a:t>3</a:t>
            </a:r>
            <a:r>
              <a:rPr lang="zh-TW" altLang="en-US" sz="3200" dirty="0">
                <a:solidFill>
                  <a:srgbClr val="002060"/>
                </a:solidFill>
                <a:latin typeface="微軟正黑體" panose="020B0604030504040204" pitchFamily="34" charset="-120"/>
                <a:ea typeface="微軟正黑體" panose="020B0604030504040204" pitchFamily="34" charset="-120"/>
              </a:rPr>
              <a:t>歲兒子已出養，案住家是祖厝，老破昏暗，案父長期失業且經常酗酒，亦經常對案母施暴，對孩子管教都以三字經罵小孩，案母疑似弱智，案子女中亦有疑似發展遲緩或弱智情事，案母凡事聽從案父的，案家髒亂，常有吃剩便當、雜物堆滿屋內，房內昏暗有異味，</a:t>
            </a:r>
          </a:p>
          <a:p>
            <a:r>
              <a:rPr lang="zh-TW" altLang="en-US" sz="3200" b="1" dirty="0">
                <a:solidFill>
                  <a:srgbClr val="C00000"/>
                </a:solidFill>
                <a:latin typeface="微軟正黑體" panose="020B0604030504040204" pitchFamily="34" charset="-120"/>
                <a:ea typeface="微軟正黑體" panose="020B0604030504040204" pitchFamily="34" charset="-120"/>
              </a:rPr>
              <a:t>議題討論</a:t>
            </a:r>
          </a:p>
          <a:p>
            <a:pPr marL="0" indent="0">
              <a:buNone/>
            </a:pPr>
            <a:r>
              <a:rPr lang="en-US" altLang="zh-TW" dirty="0">
                <a:solidFill>
                  <a:srgbClr val="C00000"/>
                </a:solidFill>
                <a:latin typeface="微軟正黑體" panose="020B0604030504040204" pitchFamily="34" charset="-120"/>
                <a:ea typeface="微軟正黑體" panose="020B0604030504040204" pitchFamily="34" charset="-120"/>
              </a:rPr>
              <a:t>1.</a:t>
            </a:r>
            <a:r>
              <a:rPr lang="zh-TW" altLang="en-US" dirty="0">
                <a:solidFill>
                  <a:srgbClr val="C00000"/>
                </a:solidFill>
                <a:latin typeface="微軟正黑體" panose="020B0604030504040204" pitchFamily="34" charset="-120"/>
                <a:ea typeface="微軟正黑體" panose="020B0604030504040204" pitchFamily="34" charset="-120"/>
              </a:rPr>
              <a:t>案家符合脆弱家庭脆弱指標的哪幾項？案家需求有哪些？</a:t>
            </a:r>
          </a:p>
          <a:p>
            <a:pPr marL="0" indent="0">
              <a:buNone/>
            </a:pPr>
            <a:r>
              <a:rPr lang="en-US" altLang="zh-TW" dirty="0">
                <a:solidFill>
                  <a:srgbClr val="C00000"/>
                </a:solidFill>
                <a:latin typeface="微軟正黑體" panose="020B0604030504040204" pitchFamily="34" charset="-120"/>
                <a:ea typeface="微軟正黑體" panose="020B0604030504040204" pitchFamily="34" charset="-120"/>
              </a:rPr>
              <a:t>2.</a:t>
            </a:r>
            <a:r>
              <a:rPr lang="zh-TW" altLang="en-US" dirty="0">
                <a:solidFill>
                  <a:srgbClr val="C00000"/>
                </a:solidFill>
                <a:latin typeface="微軟正黑體" panose="020B0604030504040204" pitchFamily="34" charset="-120"/>
                <a:ea typeface="微軟正黑體" panose="020B0604030504040204" pitchFamily="34" charset="-120"/>
              </a:rPr>
              <a:t>要如何協助案家？社區可以提供哪些協助？</a:t>
            </a:r>
            <a:endParaRPr lang="en-US" altLang="zh-TW" dirty="0">
              <a:solidFill>
                <a:srgbClr val="C00000"/>
              </a:solidFill>
              <a:latin typeface="微軟正黑體" panose="020B0604030504040204" pitchFamily="34" charset="-120"/>
              <a:ea typeface="微軟正黑體" panose="020B0604030504040204" pitchFamily="34" charset="-120"/>
            </a:endParaRPr>
          </a:p>
          <a:p>
            <a:pPr marL="0" indent="0">
              <a:buNone/>
            </a:pPr>
            <a:r>
              <a:rPr lang="en-US" altLang="zh-TW" dirty="0">
                <a:solidFill>
                  <a:srgbClr val="C00000"/>
                </a:solidFill>
                <a:latin typeface="微軟正黑體" panose="020B0604030504040204" pitchFamily="34" charset="-120"/>
                <a:ea typeface="微軟正黑體" panose="020B0604030504040204" pitchFamily="34" charset="-120"/>
              </a:rPr>
              <a:t>3.</a:t>
            </a:r>
            <a:r>
              <a:rPr lang="zh-TW" altLang="en-US" dirty="0">
                <a:solidFill>
                  <a:srgbClr val="C00000"/>
                </a:solidFill>
                <a:latin typeface="微軟正黑體" panose="020B0604030504040204" pitchFamily="34" charset="-120"/>
                <a:ea typeface="微軟正黑體" panose="020B0604030504040204" pitchFamily="34" charset="-120"/>
              </a:rPr>
              <a:t>案家的服務目標？</a:t>
            </a:r>
          </a:p>
          <a:p>
            <a:endParaRPr lang="zh-TW" altLang="en-US" dirty="0"/>
          </a:p>
        </p:txBody>
      </p:sp>
    </p:spTree>
    <p:extLst>
      <p:ext uri="{BB962C8B-B14F-4D97-AF65-F5344CB8AC3E}">
        <p14:creationId xmlns:p14="http://schemas.microsoft.com/office/powerpoint/2010/main" val="4078549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7F5CF1-5C03-4312-9B65-4B6844949FB3}"/>
              </a:ext>
            </a:extLst>
          </p:cNvPr>
          <p:cNvSpPr>
            <a:spLocks noGrp="1"/>
          </p:cNvSpPr>
          <p:nvPr>
            <p:ph type="title"/>
          </p:nvPr>
        </p:nvSpPr>
        <p:spPr>
          <a:xfrm>
            <a:off x="804673" y="3320859"/>
            <a:ext cx="4524973" cy="2076333"/>
          </a:xfrm>
        </p:spPr>
        <p:txBody>
          <a:bodyPr vert="horz" lIns="91440" tIns="45720" rIns="91440" bIns="45720" rtlCol="0" anchor="t">
            <a:normAutofit/>
          </a:bodyPr>
          <a:lstStyle/>
          <a:p>
            <a:r>
              <a:rPr lang="zh-TW" altLang="en-US" sz="4800"/>
              <a:t>守護社區安全</a:t>
            </a:r>
            <a:br>
              <a:rPr lang="en-US" altLang="zh-TW" sz="4800"/>
            </a:br>
            <a:r>
              <a:rPr lang="zh-TW" altLang="en-US" sz="4800"/>
              <a:t>我們一起來</a:t>
            </a:r>
          </a:p>
        </p:txBody>
      </p:sp>
      <p:sp>
        <p:nvSpPr>
          <p:cNvPr id="20" name="Freeform: Shape 19">
            <a:extLst>
              <a:ext uri="{FF2B5EF4-FFF2-40B4-BE49-F238E27FC236}">
                <a16:creationId xmlns:a16="http://schemas.microsoft.com/office/drawing/2014/main" id="{BCC55ACC-A2F6-403C-A3A4-D59B3734D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57312" y="381000"/>
            <a:ext cx="6334689" cy="6477000"/>
          </a:xfrm>
          <a:custGeom>
            <a:avLst/>
            <a:gdLst>
              <a:gd name="connsiteX0" fmla="*/ 3561588 w 6334689"/>
              <a:gd name="connsiteY0" fmla="*/ 0 h 6477000"/>
              <a:gd name="connsiteX1" fmla="*/ 6309883 w 6334689"/>
              <a:gd name="connsiteY1" fmla="*/ 1296087 h 6477000"/>
              <a:gd name="connsiteX2" fmla="*/ 6334689 w 6334689"/>
              <a:gd name="connsiteY2" fmla="*/ 1329261 h 6477000"/>
              <a:gd name="connsiteX3" fmla="*/ 6334689 w 6334689"/>
              <a:gd name="connsiteY3" fmla="*/ 5793916 h 6477000"/>
              <a:gd name="connsiteX4" fmla="*/ 6309883 w 6334689"/>
              <a:gd name="connsiteY4" fmla="*/ 5827089 h 6477000"/>
              <a:gd name="connsiteX5" fmla="*/ 5760467 w 6334689"/>
              <a:gd name="connsiteY5" fmla="*/ 6363539 h 6477000"/>
              <a:gd name="connsiteX6" fmla="*/ 5607796 w 6334689"/>
              <a:gd name="connsiteY6" fmla="*/ 6477000 h 6477000"/>
              <a:gd name="connsiteX7" fmla="*/ 1519571 w 6334689"/>
              <a:gd name="connsiteY7" fmla="*/ 6477000 h 6477000"/>
              <a:gd name="connsiteX8" fmla="*/ 1296088 w 6334689"/>
              <a:gd name="connsiteY8" fmla="*/ 6309883 h 6477000"/>
              <a:gd name="connsiteX9" fmla="*/ 0 w 6334689"/>
              <a:gd name="connsiteY9" fmla="*/ 3561588 h 6477000"/>
              <a:gd name="connsiteX10" fmla="*/ 3561588 w 6334689"/>
              <a:gd name="connsiteY10" fmla="*/ 0 h 647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4689" h="6477000">
                <a:moveTo>
                  <a:pt x="3561588" y="0"/>
                </a:moveTo>
                <a:cubicBezTo>
                  <a:pt x="4668032" y="0"/>
                  <a:pt x="5656635" y="504534"/>
                  <a:pt x="6309883" y="1296087"/>
                </a:cubicBezTo>
                <a:lnTo>
                  <a:pt x="6334689" y="1329261"/>
                </a:lnTo>
                <a:lnTo>
                  <a:pt x="6334689" y="5793916"/>
                </a:lnTo>
                <a:lnTo>
                  <a:pt x="6309883" y="5827089"/>
                </a:lnTo>
                <a:cubicBezTo>
                  <a:pt x="6146571" y="6024977"/>
                  <a:pt x="5962299" y="6204927"/>
                  <a:pt x="5760467" y="6363539"/>
                </a:cubicBezTo>
                <a:lnTo>
                  <a:pt x="5607796" y="6477000"/>
                </a:lnTo>
                <a:lnTo>
                  <a:pt x="1519571" y="6477000"/>
                </a:lnTo>
                <a:lnTo>
                  <a:pt x="1296088" y="6309883"/>
                </a:lnTo>
                <a:cubicBezTo>
                  <a:pt x="504535" y="5656635"/>
                  <a:pt x="0" y="4668032"/>
                  <a:pt x="0" y="3561588"/>
                </a:cubicBezTo>
                <a:cubicBezTo>
                  <a:pt x="0" y="1594577"/>
                  <a:pt x="1594577" y="0"/>
                  <a:pt x="3561588"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2" descr="ãç¤¾æå®å¨ç¶²ãçåçæå°çµæ">
            <a:extLst>
              <a:ext uri="{FF2B5EF4-FFF2-40B4-BE49-F238E27FC236}">
                <a16:creationId xmlns:a16="http://schemas.microsoft.com/office/drawing/2014/main" id="{C9B34511-6AB6-436D-AC4C-CB962BEA7E6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254" r="1" b="1"/>
          <a:stretch/>
        </p:blipFill>
        <p:spPr bwMode="auto">
          <a:xfrm>
            <a:off x="6021086" y="544775"/>
            <a:ext cx="6170914" cy="6313225"/>
          </a:xfrm>
          <a:custGeom>
            <a:avLst/>
            <a:gdLst/>
            <a:ahLst/>
            <a:cxnLst/>
            <a:rect l="l" t="t" r="r" b="b"/>
            <a:pathLst>
              <a:path w="6170914" h="6313225">
                <a:moveTo>
                  <a:pt x="3397813" y="0"/>
                </a:moveTo>
                <a:cubicBezTo>
                  <a:pt x="4453378" y="0"/>
                  <a:pt x="5396522" y="481334"/>
                  <a:pt x="6019731" y="1236489"/>
                </a:cubicBezTo>
                <a:lnTo>
                  <a:pt x="6170914" y="1438663"/>
                </a:lnTo>
                <a:lnTo>
                  <a:pt x="6170914" y="5356963"/>
                </a:lnTo>
                <a:lnTo>
                  <a:pt x="6019731" y="5559138"/>
                </a:lnTo>
                <a:cubicBezTo>
                  <a:pt x="5786028" y="5842321"/>
                  <a:pt x="5507333" y="6086998"/>
                  <a:pt x="5194591" y="6282226"/>
                </a:cubicBezTo>
                <a:lnTo>
                  <a:pt x="5141791" y="6313225"/>
                </a:lnTo>
                <a:lnTo>
                  <a:pt x="1659199" y="6313225"/>
                </a:lnTo>
                <a:lnTo>
                  <a:pt x="1498064" y="6215333"/>
                </a:lnTo>
                <a:cubicBezTo>
                  <a:pt x="594240" y="5604721"/>
                  <a:pt x="0" y="4570663"/>
                  <a:pt x="0" y="3397813"/>
                </a:cubicBezTo>
                <a:cubicBezTo>
                  <a:pt x="0" y="1521253"/>
                  <a:pt x="1521253" y="0"/>
                  <a:pt x="3397813" y="0"/>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949693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3814</Words>
  <Application>Microsoft Office PowerPoint</Application>
  <PresentationFormat>寬螢幕</PresentationFormat>
  <Paragraphs>538</Paragraphs>
  <Slides>39</Slides>
  <Notes>6</Notes>
  <HiddenSlides>0</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39</vt:i4>
      </vt:variant>
    </vt:vector>
  </HeadingPairs>
  <TitlesOfParts>
    <vt:vector size="50" baseType="lpstr">
      <vt:lpstr>微軟正黑體</vt:lpstr>
      <vt:lpstr>新細明體</vt:lpstr>
      <vt:lpstr>標楷體</vt:lpstr>
      <vt:lpstr>Arial</vt:lpstr>
      <vt:lpstr>Arial Narrow</vt:lpstr>
      <vt:lpstr>Calibri</vt:lpstr>
      <vt:lpstr>Calibri Light</vt:lpstr>
      <vt:lpstr>Perpetua</vt:lpstr>
      <vt:lpstr>Times New Roman</vt:lpstr>
      <vt:lpstr>Wingdings</vt:lpstr>
      <vt:lpstr>Office 佈景主題</vt:lpstr>
      <vt:lpstr>強化社會安全網2.0-社區第一線</vt:lpstr>
      <vt:lpstr>小燈泡被隨機殺害案</vt:lpstr>
      <vt:lpstr>可愛小生命的殞落/家庭與社區傷痛</vt:lpstr>
      <vt:lpstr>北捷隨機殺人案</vt:lpstr>
      <vt:lpstr>5個月大男童疑遭虐 送醫急診驗傷 </vt:lpstr>
      <vt:lpstr>傷害不是一天造成的？</vt:lpstr>
      <vt:lpstr>PowerPoint 簡報</vt:lpstr>
      <vt:lpstr>跨專業網絡合作的缺失與必要         -訂頒強化社會安全網</vt:lpstr>
      <vt:lpstr>行政院為什麼要推動強化社會安全網(1/2)</vt:lpstr>
      <vt:lpstr>行政院為什麼要推動強化社會安全網(2/2)</vt:lpstr>
      <vt:lpstr>PowerPoint 簡報</vt:lpstr>
      <vt:lpstr>PowerPoint 簡報</vt:lpstr>
      <vt:lpstr>計畫目標與策略(2/6)</vt:lpstr>
      <vt:lpstr>強化社會安全網的服務核心理念</vt:lpstr>
      <vt:lpstr>PowerPoint 簡報</vt:lpstr>
      <vt:lpstr>計畫目標與策略(3/6)</vt:lpstr>
      <vt:lpstr>PowerPoint 簡報</vt:lpstr>
      <vt:lpstr>PowerPoint 簡報</vt:lpstr>
      <vt:lpstr>PowerPoint 簡報</vt:lpstr>
      <vt:lpstr>PowerPoint 簡報</vt:lpstr>
      <vt:lpstr>危機家庭</vt:lpstr>
      <vt:lpstr>PowerPoint 簡報</vt:lpstr>
      <vt:lpstr>PowerPoint 簡報</vt:lpstr>
      <vt:lpstr>脆弱家庭需求面向與脆弱性因子1 </vt:lpstr>
      <vt:lpstr>脆弱家庭需求面向與脆弱性因子2 </vt:lpstr>
      <vt:lpstr>脆弱家庭需求面向與脆弱性因子3 </vt:lpstr>
      <vt:lpstr>脆弱家庭需求面向與脆弱性因子4 </vt:lpstr>
      <vt:lpstr>脆弱家庭需求面向與脆弱性因子5 </vt:lpstr>
      <vt:lpstr>脆弱家庭需求面向與脆弱性因子6 </vt:lpstr>
      <vt:lpstr>PowerPoint 簡報</vt:lpstr>
      <vt:lpstr>社會安全網的通報操作實務</vt:lpstr>
      <vt:lpstr>PowerPoint 簡報</vt:lpstr>
      <vt:lpstr>PowerPoint 簡報</vt:lpstr>
      <vt:lpstr>社區優勢在社安網推動</vt:lpstr>
      <vt:lpstr>貴社區轄區有哪個社會福利中心？</vt:lpstr>
      <vt:lpstr>社區成為社安網堅定支持的服務資源</vt:lpstr>
      <vt:lpstr>協助的目的-增強家庭功能</vt:lpstr>
      <vt:lpstr>案例1</vt:lpstr>
      <vt:lpstr>守護社區安全 我們一起來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社會安全網概述</dc:title>
  <dc:creator>坋妃 許</dc:creator>
  <cp:lastModifiedBy>坋妃 許</cp:lastModifiedBy>
  <cp:revision>9</cp:revision>
  <dcterms:created xsi:type="dcterms:W3CDTF">2020-08-28T23:54:27Z</dcterms:created>
  <dcterms:modified xsi:type="dcterms:W3CDTF">2026-04-29T00:17:56Z</dcterms:modified>
</cp:coreProperties>
</file>