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36576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POLARIS AI MASTERCLASS · 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Microsoft JhengHei"/>
              </a:defRPr>
            </a:pPr>
            <a:r>
              <a:t>NotebookLM 深度應用與</a:t>
            </a:r>
          </a:p>
          <a:p>
            <a:pPr>
              <a:spcBef>
                <a:spcPts val="600"/>
              </a:spcBef>
              <a:defRPr sz="4400" b="1">
                <a:solidFill>
                  <a:srgbClr val="FBBF24"/>
                </a:solidFill>
                <a:latin typeface="Microsoft JhengHei"/>
              </a:defRPr>
            </a:pPr>
            <a:r>
              <a:t>「漏斗式三層深挖」提示法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告別「一上來就亮底牌問出罐頭廢話」的直覺誤區 ｜ 現場手把手鍛造專屬私密智囊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👑 主講人：陳品碩（闆仔） ＆ 雪 (CEO)  ｜  🏫 地點：生活管家 · 家宅總部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</a:defRPr>
            </a:pPr>
            <a:r>
              <a:t>⏱️ 上課節奏：14:00 - 15:00 觀念拆解與實機示範  ｜  15:00 - 16:00 現場巡桌排錯，做完成果才下課！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💎 專屬方案：單堂 NT$ 500 元  ｜  老學員享專屬回娘家禮遇 · 免費參加複訓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TIME &amp; FLOW · 雙核閉環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今日 120 分鐘學習路線圖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拒絕「講師台上炫技、學員回家卡死」；前半段拆透原理，後半段直接巡桌把成果做出來！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🧭 上半場：核心精講 (60 Mins)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🔸 第 1 節 (20m)：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NotebookLM 核心原理與資料接地 (Grounding)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🔸 第 2 節 (25m)：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靈魂心法——「漏斗式三層深挖提問法」全解析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🔸 第 3 節 (15m)：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現場實況對照組直擊 ＆ Audio Overview 音訊生成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🛠️ 下半場：實機闖關 ＆ 排錯 (60 Mins)</a:t>
            </a:r>
          </a:p>
          <a:p>
            <a:pPr>
              <a:spcBef>
                <a:spcPts val="1200"/>
              </a:spcBef>
              <a:defRPr b="1" sz="1300">
                <a:solidFill>
                  <a:srgbClr val="38BDF8"/>
                </a:solidFill>
              </a:defRPr>
            </a:pPr>
            <a:r>
              <a:t>🔹 實戰關卡 1 (15m)：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裝載手邊 3~5 份資料，建立個人專屬知識庫</a:t>
            </a:r>
          </a:p>
          <a:p>
            <a:pPr>
              <a:spcBef>
                <a:spcPts val="1200"/>
              </a:spcBef>
              <a:defRPr b="1" sz="1300">
                <a:solidFill>
                  <a:srgbClr val="38BDF8"/>
                </a:solidFill>
              </a:defRPr>
            </a:pPr>
            <a:r>
              <a:t>🔹 實戰關卡 2 (30m)：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三層漏斗提問闖關（解決真實痛點，現場產出）</a:t>
            </a:r>
          </a:p>
          <a:p>
            <a:pPr>
              <a:spcBef>
                <a:spcPts val="1200"/>
              </a:spcBef>
              <a:defRPr b="1" sz="1300">
                <a:solidFill>
                  <a:srgbClr val="38BDF8"/>
                </a:solidFill>
              </a:defRPr>
            </a:pPr>
            <a:r>
              <a:t>🔹 實戰關卡 3 (15m)：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生成雙人音訊 Podcast，一對一巡桌除錯驗收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43F5E"/>
                </a:solidFill>
                <a:latin typeface="Microsoft JhengHei"/>
              </a:defRPr>
            </a:pPr>
            <a:r>
              <a:t>THE FATAL TRAP · 痛點直擊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為什麼你問 AI，永遠只得到「官腔廢話」？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大家常常把厚厚的文件丟給 AI，敲下一行：『請幫我看看這份資料，給我最落地的行銷破局解法！』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43F5E"/>
                </a:solidFill>
                <a:latin typeface="Microsoft JhengHei"/>
              </a:defRPr>
            </a:pPr>
            <a:r>
              <a:t>❌ AI 回敬你的「罐頭公文」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要加強社群宣傳、提升品牌形象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精準鎖定核心客群、擴大曝光渠道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優化客戶服務流程、定期舉辦優惠活動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建立數據監控機制、持續優化營運策略</a:t>
            </a:r>
          </a:p>
          <a:p>
            <a:pPr>
              <a:spcBef>
                <a:spcPts val="2000"/>
              </a:spcBef>
              <a:defRPr sz="1300" b="1">
                <a:solidFill>
                  <a:srgbClr val="F43F5E"/>
                </a:solidFill>
              </a:defRPr>
            </a:pPr>
            <a:r>
              <a:t>👉 說了等於沒說，挑不出毛病但完全無法落地！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💡 真正的死因到底在哪？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不是 AI 笨，而是我們犯了「太心急、一開始就直接亮底牌單刀直入」的錯誤！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就像你剛走進老診所，連坐都還沒坐下、醫生連病歷表都還沒翻開，你就逼著他開特效藥。</a:t>
            </a:r>
          </a:p>
          <a:p>
            <a:pPr>
              <a:spcBef>
                <a:spcPts val="1400"/>
              </a:spcBef>
              <a:defRPr sz="1300">
                <a:solidFill>
                  <a:srgbClr val="FBBF24"/>
                </a:solidFill>
              </a:defRPr>
            </a:pPr>
            <a:r>
              <a:t>AI 的上下文記憶 (Context) 根本還沒「預熱」，在這種狀態下，它除了在表面關鍵字瞎猜、吐出官僚公文，別無選擇！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ZERO-HALLUCINATION · 核心工具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什麼是 NotebookLM？零幻覺的企業第二大腦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Google 專為知識工作者打造的私密接地智庫，從根源徹底消滅傳統 LLM 瞎掰的毛病！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🔒 100% 資料接地 (Grounding)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資料沒寫的，它絕對不瞎掰！回答嚴格鎖定在你上傳的知識邊界內，杜絕 ChatGPT 的胡言亂語。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📑 即時來源標註 (Citations)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回答末端附帶引用數字，點擊直接跳轉高亮原文段落。所有商業決策有憑有據、100% 憑據可靠。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📂 多來源混合裝載 (Multi-Source)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單一筆記本可裝載多達 50 份資料，支援 PDF、Google Docs、網頁 URL、音訊轉逐字稿與 YouTube。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250">
                <a:solidFill>
                  <a:srgbClr val="38BDF8"/>
                </a:solidFill>
              </a:defRPr>
            </a:pPr>
            <a:r>
              <a:t>🛡️ 商業級隱私承諾：你上傳的所有專屬文件與對話，絕不會被 Google 拿去訓練公共模型，資料主權 100% 屬於你！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THE CORE METHODOLOGY · 靈魂心法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「漏斗式三層深挖提問法」架構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將 AI 提問從「單次碰運氣」升級為「三階步步逼近的精密手術」！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第一層：廣角鋪陳 · 全景掃描 (Macro Context)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不急著切入主題、絕不亮底牌！先引導 AI 通讀全文，客觀畫出全域框架與 3 大核心支柱。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474720"/>
            <a:ext cx="9784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第二層：層層堆疊 · 垂直深挖 (Meso Probing)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以子之矛，反向逼問！抓著第一層整理出的骨幹節點，逼問具體客觀數據、底層因果與失敗教訓。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937760"/>
            <a:ext cx="88696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第三層：圖窮匕見 · 微觀求解 (Micro Resolution)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此時上下文已極度高溫預熱！拋出你個人最真實的產品、預算與人手限制，收穫一擊必殺的破局方案。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LAYER 1 · 宏觀掃描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第一層【廣義全景 · 鋪開地圖】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心法原則：先別告訴 AI 你想幹嘛！不帶任何個人主觀預設立場，先讓 AI 把全域地圖鋪開。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🎯 為什麼要這樣做？建立「全域注意力索引」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LLM 就像一個需要暖機的大腦。先要求 AI 做宏觀梳理，是為了逼它建立全域注意力索引 (Global Attention Map)。當它先對全局建立完整概念，後續的思考才不會狹隘偏頗或斷章取義！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📋 第一層示範 PROMPT（現場可直接套用）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「請先不要給我任何業務建議或下結論。</a:t>
            </a:r>
            <a:br/>
            <a:r>
              <a:t>請全面閱讀我上傳的這幾份資料，用中立客觀的視角幫我梳理：</a:t>
            </a:r>
            <a:br/>
            <a:r>
              <a:t>這幾份文件最核心探討的 3 個主要面向是什麼？各自的核心論點與架構框架為何？」</a:t>
            </a:r>
          </a:p>
          <a:p>
            <a:pPr>
              <a:spcBef>
                <a:spcPts val="1000"/>
              </a:spcBef>
              <a:defRPr sz="1200">
                <a:solidFill>
                  <a:srgbClr val="38BDF8"/>
                </a:solidFill>
              </a:defRPr>
            </a:pPr>
            <a:r>
              <a:t>👉 成果檢核：AI 應該會條列出清晰的 3 大面向骨幹，這就是我們下一步垂直深挖的基石！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LAYER 2 · 垂直深挖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第二層【層層堆疊 · 垂直深挖】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心法原則：檢視 AI 第一層整理出來的架構節點，挑選最要害的章節，要求它提供「數據」與「因果」。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⛏️ 逼出資料裡的「隱性知識」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很多報告最精華的其實是「客觀摩擦成本」與「曾嘗試過但失敗的教訓」。我們要逼 AI 把藏在字裡行間的真實障礙翻出來！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🔥 上下文完全預熱 (Context Saturation)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此時 AI 已經從表面文章通讀，深入到具體條款與因果細節，它的神經元狀態已經調整至「專案專家」模式！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📋 第二層示範 PROMPT（以子之矛反向逼問）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「在剛剛提到的第 2 點（例如：顧客回流率偏低與配送摩擦成本）之中：</a:t>
            </a:r>
            <a:br/>
            <a:r>
              <a:t>1. 原文中具體提到了哪些客觀數據或案例？</a:t>
            </a:r>
            <a:br/>
            <a:r>
              <a:t>2. 造成這些現象的底層因果鏈是什麼？</a:t>
            </a:r>
            <a:br/>
            <a:r>
              <a:t>3. 資料中是否有提及過去曾嘗試過、但成效不彰的解法？」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LAYER 3 · 終極求解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第三層【圖窮匕見 · 微觀求解】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心法原則：在深厚脈絡完全飽和後，這時才把你的「真實限制」與「私人困局」拋出來！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📋 第三層示範 PROMPT（圖窮匕見 · 直擊痛點）</a:t>
            </a:r>
          </a:p>
          <a:p>
            <a:pPr>
              <a:spcBef>
                <a:spcPts val="600"/>
              </a:spcBef>
              <a:defRPr sz="1350">
                <a:solidFill>
                  <a:srgbClr val="F8FAFC"/>
                </a:solidFill>
              </a:defRPr>
            </a:pPr>
            <a:r>
              <a:t>「很好！現在完全立足於前面梳理出的全域框架，以及第 2 層深挖到的失敗教訓與摩擦成本：</a:t>
            </a:r>
            <a:br/>
            <a:br/>
            <a:r>
              <a:t>我目前正遇到［具體描述我的產品 / 現有預算 / 時間與人手限制］，</a:t>
            </a:r>
            <a:br/>
            <a:r>
              <a:t>請站在這份資料的角度，為我量身制定一套最可執行的 3 步破局方案，並說明為何能避開剛剛提到的坑。」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🌟 產出答案的降維升級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不再是空泛的「加強宣傳」，而是運用資料裡的具體工具</a:t>
            </a:r>
            <a:br/>
            <a:r>
              <a:t>• 主動提醒你避開過去踩過的失敗路徑</a:t>
            </a:r>
            <a:br/>
            <a:r>
              <a:t>• 精確吻合你的時間與資源預算限制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57200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⚡ 關鍵心智躍遷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你不再是向一個「無知機器人」碰運氣問路，而是向一位「已經通讀你全部機密、又了解你限制的頂級顧問」做閉門諮詢！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43F5E"/>
                </a:solidFill>
                <a:latin typeface="Microsoft JhengHei"/>
              </a:defRPr>
            </a:pPr>
            <a:r>
              <a:t>SHOWCASE · 現場實況對照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實機對照：兩種問法的天壤之別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以「生活管家 5D 報價單與客服談判」為例，現場投影實測對比：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43F5E"/>
                </a:solidFill>
                <a:latin typeface="Microsoft JhengHei"/>
              </a:defRPr>
            </a:pPr>
            <a:r>
              <a:t>❌ 傳統直覺問法 (單刀直入)</a:t>
            </a:r>
          </a:p>
          <a:p>
            <a:pPr>
              <a:spcBef>
                <a:spcPts val="600"/>
              </a:spcBef>
              <a:defRPr sz="1300">
                <a:solidFill>
                  <a:srgbClr val="FBBF24"/>
                </a:solidFill>
              </a:defRPr>
            </a:pPr>
            <a:r>
              <a:t>提問：「我客戶嫌貴想砍價，我該怎麼回？」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【AI 典型回覆】：</a:t>
            </a:r>
            <a:br/>
            <a:r>
              <a:t>您好，您可以向客戶強調服務品質好、技術專業，或者適度給予 9 折優惠維持長期合作關係，並提供售後服務保障……</a:t>
            </a:r>
            <a:br/>
            <a:br/>
            <a:r>
              <a:t>👉 毫無防禦力的退讓廢話！除了教你割肉打折，毫無實戰價值。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✅ 漏斗三層深挖法 (層層堆疊)</a:t>
            </a:r>
          </a:p>
          <a:p>
            <a:pPr>
              <a:spcBef>
                <a:spcPts val="600"/>
              </a:spcBef>
              <a:defRPr sz="1300">
                <a:solidFill>
                  <a:srgbClr val="38BDF8"/>
                </a:solidFill>
              </a:defRPr>
            </a:pPr>
            <a:r>
              <a:t>提問：通讀 5D 憲綱 ➔ 追問 D1 隱形工時 ➔ 求解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【AI 犀利回覆】：</a:t>
            </a:r>
            <a:br/>
            <a:r>
              <a:t>依據您的 5D 憲綱：</a:t>
            </a:r>
            <a:br/>
            <a:r>
              <a:t>1. 堅持「勞務與採買分離」，堅決拒絕打折！</a:t>
            </a:r>
            <a:br/>
            <a:r>
              <a:t>2. 調出 D1 採買隱形工時清單禮貌展示給客戶。</a:t>
            </a:r>
            <a:br/>
            <a:r>
              <a:t>3. 提供選擇：若預算有限，可刪減 D5 隨行安心項目，絕不委屈降價！</a:t>
            </a:r>
            <a:br/>
            <a:br/>
            <a:r>
              <a:t>👉 刀刀見血的高情商防禦話術，守住利潤與尊嚴！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BONUS FEATURE · 黑科技加碼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Audio Overview：生硬報告變雙人 Podcast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開車通勤、做家事沒空讀長篇資料？讓兩位美式幽默 AI 主持人「聊」給你聽！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943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🎙️ 什麼是 Audio Overview？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• 一鍵生成對談：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NotebookLM 獨家語音功能，自動把所有筆記轉成 8~15 分鐘雙人廣播。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• 語氣極致逼真：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兩位主持人會互相吐槽、開玩笑、抓出最有趣的對比與核心痛點。</a:t>
            </a:r>
          </a:p>
          <a:p>
            <a:pPr>
              <a:spcBef>
                <a:spcPts val="1200"/>
              </a:spcBef>
              <a:defRPr b="1" sz="1300">
                <a:solidFill>
                  <a:srgbClr val="FBBF24"/>
                </a:solidFill>
              </a:defRPr>
            </a:pPr>
            <a:r>
              <a:t>• 通勤無痛吸收：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開車戴耳機，像聽知名 Podcast 一樣輕鬆聽完一整份幾萬字的報告！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011680"/>
            <a:ext cx="42976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🎧 現場體驗任務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現場戴耳機試聽！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下半場實作時，每個人都會現場點擊「Generate」按鈕！</a:t>
            </a:r>
            <a:br/>
            <a:br/>
            <a:r>
              <a:t>當你戴上耳機，聽見兩位專業主持人幽默討論「你自己的公司與商品」時，那種震撼感只有親身體會才能懂！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HANDS-ON DRILL · 下半場實作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下半場：60 分鐘現場闖關實戰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請打開你的筆記型電腦！創辦人與幕僚現場巡桌排錯，保證帶著成果下課！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🎯 關卡一：建立智庫 (15m)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挑選 3~5 份個人現有文件（產品型錄、企劃案、客戶對話紀錄），匯入 NotebookLM 建立索引，點擊確認 Citation 跳轉正常。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🎯 關卡二：三層漏斗提問 (30m)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套用講義 Prompt：</a:t>
            </a:r>
            <a:br/>
            <a:r>
              <a:t>1. 輸入第 1 層鋪開全貌</a:t>
            </a:r>
            <a:br/>
            <a:r>
              <a:t>2. 輸入第 2 層追問因果</a:t>
            </a:r>
            <a:br/>
            <a:r>
              <a:t>3. 輸入自己最頭痛的難題，取得落地解法並截圖存檔！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🎯 關卡三：生成播客 ＆ 驗收 (15m)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點擊生成 Audio Overview，戴耳機試聽專屬廣播；現場巡桌一對一排錯，邀請 2 位學員投影分享！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108960" cy="329184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Microsoft JhengHei"/>
              </a:defRPr>
            </a:pPr>
            <a:r>
              <a:t>今日收穫回顧 ＆ 下週預告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Microsoft JhengHei"/>
              </a:defRPr>
            </a:pPr>
            <a:r>
              <a:t>恭喜各位！你今天已經正式告別了「AI 幻覺與被動找資料」的時代。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  <a:latin typeface="Microsoft JhengHei"/>
              </a:defRPr>
            </a:pPr>
            <a:r>
              <a:t>✅ 今日帶走的 3 大資產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一套專屬於你企業/業務的 NotebookLM 零幻覺私密智庫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一套終生受用的「漏斗式三層深挖提問法」心智模型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一支可以直接通勤收聽的專屬 Audio Overview 雙人廣播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Microsoft JhengHei"/>
              </a:defRPr>
            </a:pPr>
            <a:r>
              <a:t>🚀 下週三 (11/04) 第 2 講預告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Antigravity 操作與 Meta 自動發文串接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掌握 Google Antigravity 終端代理操作；</a:t>
            </a:r>
            <a:br/>
            <a:r>
              <a:t>串接 Facebook Graph API 與 Threads 官方排程，</a:t>
            </a:r>
            <a:br/>
            <a:r>
              <a:t>打造 24/7 自動發布社群的「全自動數位印鈔機」！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